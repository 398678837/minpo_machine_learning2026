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机器学习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第1章：机器学习概述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Microsoft YaHei"/>
              </a:defRPr>
            </a:pPr>
            <a:r>
              <a:t>Introduction to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icrosoft YaHei"/>
              </a:defRPr>
            </a:pPr>
            <a:r>
              <a:t>[ 扩展详细版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核心关键词：ML定义 · 学习类型 · 偏差-方差权衡 · NFL定理 · 交叉验证 · ML流水线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2026年第1学期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(Contents) - 1/2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什么是机器学习 - 定义、传统编程 vs ML、案例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机器学习的历史 - 里程碑、AI寒冬与复兴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学习类型 - 监督学习、无监督学习、强化学习详解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ML vs DL vs AI - 层次结构、比较、选择指南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偏差-方差权衡 - 概念、公式推导、各模型特性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No Free Lunch定理 - 数学定义、假设、启示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模型评估 - Hold-Out、K-Fold、Stratified、LOO比较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(Contents) - 2/2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ML流水线与数据质量 - 8个步骤、特征工程、数据泄露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5篇核心论文综述 - Domingos、Mitchell、Wolpert、Vapnik、ESL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实验1：偏差-方差权衡实现（代码详解）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实验2：NFL定理演示（代码详解）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实验3：交叉验证比较（代码详解）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深入应用案例 - 医疗、金融、制造、NLP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核心总结、公式整理、10道复习题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学习目标 (Learning Objectives)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195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能够解释机器学习的定义（Mitchell的T-P-E）及其与传统编程的区别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能够从数据/目标/反馈的角度比较监督学习、无监督学习和强化学习的区别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626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能够推导偏差-方差分解公式，并解释各项的含义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027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95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能够阐述No Free Lunch定理的数学意义和实际启示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9664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65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能够比较4种交叉验证策略（Hold-Out、K-Fold、Stratified、LOO），并提出各场景的选择标准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3659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能够理解ML流水线8个步骤，并解释数据泄露（Data Leakage）防范原则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30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能够总结5篇核心论文（Domingos、Mitchell、Wolpert、Vapnik、ESL）的主要贡献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7044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70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能够理解并运行3个实验代码（偏差-方差、NFL、交叉验证）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什么是机器学习？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Machine Learning Definition &amp;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机器学习的定义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Two Foundational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Arthur Samuel (1959)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"Machine Learning is a field of study that gives</a:t>
            </a:r>
            <a:br/>
            <a:r>
              <a:t>computers the ability to learn without being</a:t>
            </a:r>
            <a:br/>
            <a:r>
              <a:t>explicitly programmed."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→ 赋予计算机无需显式编程即可学习能力的学科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Tom Mitchell (1997) - 形式化定义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"A computer program is said to learn from</a:t>
            </a:r>
            <a:br/>
            <a:r>
              <a:t>experience E with respect to some class of tasks T</a:t>
            </a:r>
            <a:br/>
            <a:r>
              <a:t>and performance measure P, if its performance at</a:t>
            </a:r>
            <a:br/>
            <a:r>
              <a:t>tasks in T, as measured by P, improves with experience 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T (Task)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29260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做什么？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要执行的任务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例：邮件垃圾分类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P (Performance)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999" y="4709160"/>
            <a:ext cx="292608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做得多好？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性能衡量指标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例：正确分类的邮件比例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E (Experience)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8" y="4709160"/>
            <a:ext cx="29260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用什么学习？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用于学习的数据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例：用户标注的邮件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传统编程 vs 机器学习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范式转换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传统编程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输入：数据 + 规则 (Rules)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输出：结果 (Answers)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人工直接编写规则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示例：基于if-else的垃圾邮件过滤器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if "中奖" in email: return "垃圾邮件"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if "免费" in email: return "垃圾邮件"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局限：难以应对新模式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   规则越复杂，维护越困难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机器学习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输入：数据 + 标签 (Labels)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输出：规则/模型 (Model)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从数据中自动学习规则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示例：通过数万封邮件学习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→ 自动发现模式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→ 也能检测新型垃圾邮件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优点：能适应环境变化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   能发现人类无法识别的模式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57600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703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日常生活中的机器学习案例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1. 推荐系统 (Recommendation System)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Netflix、YouTube、Spotify：分析观看/收听记录 → 个性化推荐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协同过滤 (Collaborative Filtering) + 基于内容的过滤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Netflix：推荐引导约80%的观看时间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2. 自动驾驶 (Autonomous Driving)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特斯拉、Waymo：摄像头、激光雷达、雷达传感器数据实时处理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基于CNN的目标检测 + 基于强化学习的路径规划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通过数百万公里行驶数据学习，识别行人/车辆/交通灯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3. 医疗诊断 (Medical Diagnosis)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从X光、CT、MRI中自动检测肿瘤/肺炎/骨折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AlphaFold：解决蛋白质结构预测问题 → 生物学革新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乳腺癌诊断：部分ML模型准确率高于专科医生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ML已应用于日常生活的方方面面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多种数据类型：文本、图像、语音、传感器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核心：从数据中自动学习模式进行预测/决策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日常生活中的机器学习案例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Microsoft YaHei"/>
              </a:defRPr>
            </a:pPr>
            <a:r>
              <a:t>4. 语音识别 (Speech Recognition)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Siri、Google Assistant、Alexa：语音→文本(STT) + 意图理解(NLU)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基于深度学习的RNN、Transformer模型（数万小时语音训练）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OpenAI Whisper：在多语言语音识别中表现优异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Microsoft YaHei"/>
              </a:defRPr>
            </a:pPr>
            <a:r>
              <a:t>5. 欺诈检测 (Fraud Detection)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信用卡盗刷、保险欺诈、洗钱实时检测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学习正常模式 → 检测异常交易(anomaly)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无监督学习(异常值检测) + 监督学习(分类)并行，每秒分析数千笔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为什么需要机器学习 (Mitchell, 1997)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1. 自动发现复杂规则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人工难以逐一定义规则的问题（图像识别、语音识别）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2. 适应环境变化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新数据到来时重新训练模型以应对变化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Microsoft YaHei"/>
              </a:defRPr>
            </a:pPr>
            <a:r>
              <a:t>3. 从海量数据中发现模式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大数据时代人工分析已不可能 → 自动化分析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机器学习的历史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History of Machine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机器学习主要里程碑 (1943~1997)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McCulloch &amp; Pitts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人工神经元模型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首个数学神经元模型</a:t>
            </a:r>
            <a:br/>
            <a:r>
              <a:t>神经网络的理论基础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Alan 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Computing Machinery</a:t>
            </a:r>
            <a:br/>
            <a:r>
              <a:t>and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提出图灵测试</a:t>
            </a:r>
            <a:br/>
            <a:r>
              <a:t>"机器能思考吗？"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Microsoft YaHei"/>
              </a:defRPr>
            </a:pPr>
            <a:r>
              <a:t>Rosenblatt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感知机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首个可学习的</a:t>
            </a:r>
            <a:br/>
            <a:r>
              <a:t>神经网络模型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Microsoft YaHei"/>
              </a:defRPr>
            </a:pPr>
            <a:r>
              <a:t>Arthur Samuel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跳棋程序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"Machine Learning"</a:t>
            </a:r>
            <a:br/>
            <a:r>
              <a:t>术语首次使用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Microsoft YaHei"/>
              </a:defRPr>
            </a:pPr>
            <a:r>
              <a:t>Minsky &amp; Papert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Perceptrons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证明感知机局限(XOR)</a:t>
            </a:r>
            <a:br/>
            <a:r>
              <a:t>→ 引发第一次AI寒冬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Microsoft YaHei"/>
              </a:defRPr>
            </a:pPr>
            <a:r>
              <a:t>Rumelhart et 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反向传播算法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多层神经网络可训练</a:t>
            </a:r>
            <a:br/>
            <a:r>
              <a:t>→ 神经网络复兴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Microsoft YaHei"/>
              </a:defRPr>
            </a:pPr>
            <a:r>
              <a:t>Vapnik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基于统计学习理论的</a:t>
            </a:r>
            <a:br/>
            <a:r>
              <a:t>强大分类器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8972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1997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Mitchell / Wolpert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ML教材 / NFL定理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确立T-P-E定义</a:t>
            </a:r>
            <a:br/>
            <a:r>
              <a:t>否定通用最优算法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机器学习主要里程碑 (2006~至今)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Hinton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Deep Belief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深度学习复兴信号弹</a:t>
            </a:r>
            <a:br/>
            <a:r>
              <a:t>"深度学习"术语普及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Krizhevsky et 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AlexNet (ImageNet)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CNN性能爆发式提升</a:t>
            </a:r>
            <a:br/>
            <a:r>
              <a:t>深度学习热潮开始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Microsoft YaHei"/>
              </a:defRPr>
            </a:pPr>
            <a:r>
              <a:t>Goodfellow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生成对抗网络</a:t>
            </a:r>
            <a:br/>
            <a:r>
              <a:t>生成模型的革新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Microsoft YaHei"/>
              </a:defRPr>
            </a:pPr>
            <a:r>
              <a:t>DeepMind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AlphaGo vs 李世石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向全世界证明了</a:t>
            </a:r>
            <a:br/>
            <a:r>
              <a:t>强化学习的潜力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Microsoft YaHei"/>
              </a:defRPr>
            </a:pPr>
            <a:r>
              <a:t>Vaswani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Attention Is All You Need</a:t>
            </a:r>
            <a:br/>
            <a:r>
              <a:t>NLP革命的开端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2018~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Microsoft YaHei"/>
              </a:defRPr>
            </a:pPr>
            <a:r>
              <a:t>Google, 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BERT、GPT系列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大规模语言模型(LLM)</a:t>
            </a:r>
            <a:br/>
            <a:r>
              <a:t>时代开启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2022~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ChatGPT、GPT-4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生成式AI的普及</a:t>
            </a:r>
            <a:br/>
            <a:r>
              <a:t>AGI讨论活跃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AI寒冬与复兴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AI Winters and Revivals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69848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Microsoft YaHei"/>
              </a:defRPr>
            </a:pPr>
            <a:r>
              <a:t>第一次AI寒冬</a:t>
            </a:r>
            <a:br/>
            <a:r>
              <a:t>(1970年代)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证明感知机的局限</a:t>
            </a:r>
            <a:br/>
            <a:r>
              <a:t>(XOR问题)</a:t>
            </a:r>
            <a:br/>
            <a:r>
              <a:t>→ 神经网络研究停滞</a:t>
            </a:r>
            <a:br/>
            <a:r>
              <a:t>Minsky &amp; Papert(1969)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复兴</a:t>
            </a:r>
            <a:br/>
            <a:r>
              <a:t>(1980年代)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发现反向传播算法</a:t>
            </a:r>
            <a:br/>
            <a:r>
              <a:t>→ 多层神经网络可训练</a:t>
            </a:r>
            <a:br/>
            <a:r>
              <a:t>Rumelhart, Hinton,</a:t>
            </a:r>
            <a:br/>
            <a:r>
              <a:t>Williams (1986)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第二次AI寒冬</a:t>
            </a:r>
            <a:br/>
            <a:r>
              <a:t>(1990年代初)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7784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神经网络训练困难</a:t>
            </a:r>
            <a:br/>
            <a:r>
              <a:t>(梯度消失)</a:t>
            </a:r>
            <a:br/>
            <a:r>
              <a:t>→ SVM、集成方法成为主流</a:t>
            </a:r>
            <a:br/>
            <a:r>
              <a:t>Vapnik的SVM(1995)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深度学习复兴</a:t>
            </a:r>
            <a:br/>
            <a:r>
              <a:t>(2006~2012)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GPU计算 + 大数据</a:t>
            </a:r>
            <a:br/>
            <a:r>
              <a:t>+ ReLU激活函数</a:t>
            </a:r>
            <a:br/>
            <a:r>
              <a:t>→ 深度学习爆发式增长</a:t>
            </a:r>
            <a:br/>
            <a:r>
              <a:t>AlexNet(2012)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启示：ML的发展并非直线前进。发现理论局限 → 停滞 → 新突破 → 复兴的循环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学习类型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Supervised / Unsupervised / Reinforcement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监督学习 (Supervised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输入X与标签y同时给定的学习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定义：在输入数据X与标签y同时给定的条件下，学习映射函数 f: X → y 的方法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核心：朝着减小预测值与实际值差异（误差）的方向反复学习 → 回归（连续值）+ 分类（离散值）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回归 (Regression) - 连续值预测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输出值y为连续数值：房价、气温、销售额预测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代表算法：线性回归、Ridge、Lasso、RF、GBM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评估指标：MSE、RMSE、MAE、R²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分类 (Classification) - 类别预测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输出值y为离散类别：垃圾邮件/正常、恶性/良性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二分类 / 多分类 / 多标签分类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评估指标：Accuracy、Precision、Recall、F1、AUC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监督学习行业应用案例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行业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输入(X)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输出(y)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金融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信用评分预测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收入、债务、交易记录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信用等级(A~F)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XGBoost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制造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产品缺陷预测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传感器、温度、压力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良品/不良品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营销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客户流失预测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使用模式、支付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流失/留存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Gradient Boosting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无监督学习 (Unsupervised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无标签情况下发现数据结构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定义：仅给定输入数据X，在没有标签y的情况下发现数据本身结构和模式的学习方法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聚类 (Clustering)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将相似数据分组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算法：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K-Means、DBSCAN</a:t>
            </a:r>
            <a:br/>
            <a:r>
              <a:t>层次聚类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icrosoft YaHei"/>
              </a:defRPr>
            </a:pPr>
            <a:r>
              <a:t>应用案例：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客户细分</a:t>
            </a:r>
            <a:br/>
            <a:r>
              <a:t>基因聚类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降维</a:t>
            </a:r>
            <a:br/>
            <a:r>
              <a:t>(Dimensionality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高维 → 低维转换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算法：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PCA、t-SNE</a:t>
            </a:r>
            <a:br/>
            <a:r>
              <a:t>Autoencoder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icrosoft YaHei"/>
              </a:defRPr>
            </a:pPr>
            <a:r>
              <a:t>应用案例：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可视化</a:t>
            </a:r>
            <a:br/>
            <a:r>
              <a:t>去噪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异常检测</a:t>
            </a:r>
            <a:br/>
            <a:r>
              <a:t>(Anomaly Detection)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检测偏离正常模式的</a:t>
            </a:r>
            <a:br/>
            <a:r>
              <a:t>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算法：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Isolation Forest</a:t>
            </a:r>
            <a:br/>
            <a:r>
              <a:t>One-Class SVM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icrosoft YaHei"/>
              </a:defRPr>
            </a:pPr>
            <a:r>
              <a:t>应用案例：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欺诈检测</a:t>
            </a:r>
            <a:br/>
            <a:r>
              <a:t>网络异常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强化学习 (Reinforcement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智能体与环境交互以最大化奖励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定义：智能体(Agent)与环境(Environment)交互，学习使奖励(Reward)最大化的行为策略(Policy)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智能体 (Agent)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学习并采取行动的主体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环境 (Environment)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智能体交互的世界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状态 (State)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当前环境的情况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动作 (Action)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智能体可采取的操作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Microsoft YaHei"/>
              </a:defRPr>
            </a:pPr>
            <a:r>
              <a:t>奖励 (Reward)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对行为的反馈信号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强化学习交互循环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智能体 --[动作(Action)]--&gt; 环境</a:t>
            </a:r>
            <a:br/>
            <a:r>
              <a:t>环境 --[状态(State), 奖励(Reward)]--&gt; 智能体</a:t>
            </a:r>
            <a:br/>
            <a:br/>
            <a:r>
              <a:t>反复进行此过程学习最优策略(Policy)</a:t>
            </a:r>
            <a:br/>
            <a:r>
              <a:t>目标：最大化累积奖励的期望值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强化学习行业案例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领域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奖励设计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游戏AI (AlphaGo)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胜利+1, 失败-1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MCTS+策略神经网络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机械臂控制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抓取目标成功/失败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PPO, SAC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数据中心冷却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节能量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DQN (DeepMind)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三种学习类型比较总结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监督学习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强化学习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输入 + 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仅输入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状态 + 奖励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预测 / 分类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发现结构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奖励最大化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标签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奖励信号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代表问题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分类、回归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聚类、降维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游戏、机器人控制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代表算法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RF, XGB, SVM, LR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K-Means, PCA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Q-Learning, PPO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难度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相对较易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相对较难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3035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实务选择指南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7607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有标签 → 监督学习（分类/回归）  |  无标签发现模式 → 无监督学习  |  序贯决策 → 强化学习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实务中最常使用：监督学习（数据充足则性能高）。无监督学习常用于探索/预处理阶段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ML vs DL vs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Hierarchy and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⊃ ML ⊃ DL 层次结构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377440"/>
            <a:ext cx="4023360" cy="3657600"/>
          </a:xfrm>
          <a:prstGeom prst="roundRect">
            <a:avLst>
              <a:gd name="adj" fmla="val 5000"/>
            </a:avLst>
          </a:prstGeom>
          <a:solidFill>
            <a:srgbClr val="1E4D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92608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3A1E5F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人工智能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机器学习 (ML)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深度学习 (DL)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AI (Artificial Intelligence)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模仿人类智能的所有技术的总称</a:t>
            </a:r>
            <a:br/>
            <a:r>
              <a:t>包括基于规则、专家系统、搜索等</a:t>
            </a:r>
            <a:br/>
            <a:r>
              <a:t>最广泛的概念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47472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ML (Machine Learning)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86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AI的子领域，专注于数据驱动学习</a:t>
            </a:r>
            <a:br/>
            <a:r>
              <a:t>不使用显式规则，从数据中自动学习模式</a:t>
            </a:r>
            <a:br/>
            <a:r>
              <a:t>SVM、RF、XGBoost等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12064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Microsoft YaHei"/>
              </a:defRPr>
            </a:pPr>
            <a:r>
              <a:t>DL (Deep Learning)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532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ML的子领域，利用深层神经网络</a:t>
            </a:r>
            <a:br/>
            <a:r>
              <a:t>通过多层非线性变换学习复杂表示</a:t>
            </a:r>
            <a:br/>
            <a:r>
              <a:t>CNN、RNN、Transformer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传统ML vs 深度学习详细比较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传统机器学习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特征工程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人工手动设计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模型自动学习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数据需求量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少量数据也可以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需要大量数据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计算资源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CPU通常足够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GPU/TPU必需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可解释性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相对较高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黑箱倾向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性能上限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数据增加时性能饱和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随数据增加持续提升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适合的数据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结构化数据（表格）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非结构化（图像、文本、语音）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代表算法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SVM, RF, XGBoost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CNN, RNN, Transformer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何时使用什么？(Domingos, 2012)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结构化数据 + 中小规模 → XGBoost、LightGBM、RF  |  非结构化（图像、文本）→ CNN、Transformer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可解释性重要（医疗、金融）→ 传统ML或XAI  |  数据很少时 → 传统ML + 领域知识特征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偏差-方差权衡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Bias-Variance Tradeoff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偏差(Bias)与方差(Variance)概念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Microsoft YaHei"/>
              </a:defRPr>
            </a:pPr>
            <a:r>
              <a:t>偏差 (Bias)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模型预测值与真实值之间的系统性误差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衡量模型捕捉训练数据模式的能力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高偏差 → 模型过于简单 → 欠拟合 (Underfitting)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低偏差 → 能很好地捕捉数据模式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Microsoft YaHei"/>
              </a:defRPr>
            </a:pPr>
            <a:r>
              <a:t>方差 (Variance)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在不同训练数据集上预测值变化多少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衡量模型预测的稳定性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高方差 → 对训练数据敏感 → 过拟合 (Overfitting)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低方差 → 即使数据改变也能稳定预测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直观类比：打靶（靶心 = 真实值）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低偏差</a:t>
            </a:r>
            <a:br/>
            <a:r>
              <a:t>低方差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理想 (Best)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高偏差</a:t>
            </a:r>
            <a:br/>
            <a:r>
              <a:t>低方差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欠拟合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低偏差</a:t>
            </a:r>
            <a:br/>
            <a:r>
              <a:t>高方差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Microsoft YaHei"/>
              </a:defRPr>
            </a:pPr>
            <a:r>
              <a:t>过拟合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高偏差</a:t>
            </a:r>
            <a:br/>
            <a:r>
              <a:t>高方差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99"/>
                </a:solidFill>
                <a:latin typeface="Microsoft YaHei"/>
              </a:defRPr>
            </a:pPr>
            <a:r>
              <a:t>最差 (Worst)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偏差-方差分解：公式推导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Problem Setup &amp; Derivation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第1步：数据生成模型假设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y = f(x) + e,    e ~ N(0, s²)</a:t>
            </a:r>
            <a:br/>
            <a:r>
              <a:t>其中f(x)为真实函数(ground truth)，e为不可约噪声(irreducible error)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第2步：期望预测误差 (Expected Prediction Error) 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用训练数据集D训练的模型预测：f_hat_D(x)</a:t>
            </a:r>
            <a:br/>
            <a:r>
              <a:t>EPE(x) = E_D[(y - f_hat_D(x))²]  =  E_D[(f(x) + e - f_hat_D(x))²]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第3步：引入平均预测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f_bar(x) = E_D[f_hat_D(x)]  ← 多个数据集的模型预测期望值（平均预测）</a:t>
            </a:r>
            <a:br/>
            <a:br/>
            <a:r>
              <a:t>将f_hat_D(x)分解如下：</a:t>
            </a:r>
            <a:br/>
            <a:r>
              <a:t>f_hat_D(x) = f_bar(x) + (f_hat_D(x) - f_bar(x))</a:t>
            </a:r>
            <a:br/>
            <a:r>
              <a:t>              ↑ 平均预测    ↑ 偏离平均的偏差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偏差-方差分解：公式推导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Final Decomposition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第4步：展开与整理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EPE(x) = E[(f(x) + e - f_hat(x))²]</a:t>
            </a:r>
            <a:br/>
            <a:r>
              <a:t>       = E[(f(x) - f_bar(x))² + (f_hat(x) - f_bar(x))² + e² + 交叉项]</a:t>
            </a:r>
            <a:br/>
            <a:r>
              <a:t>交叉项因e与f_hat独立且E[e]=0，全部为0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EPE = Bias² + Variance + s²  (Irreducible Error)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总误差 = 模型假设造成的系统性误差 + 数据变动造成的不稳定性 + 数据自身噪声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公式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减小方法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Bias²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(f(x) - f_bar(x))²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模型假设造成的系统性误差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增加模型复杂度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Variance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E[(f_hat - f_bar)²]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数据变动造成的预测不稳定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降低模型复杂度、集成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s²（不可约）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s²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数据自身噪声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无法减小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偏差-方差权衡图 &amp; 各模型特性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X轴：模型复杂度（多项式次数、树深度、层数）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Y轴：误差 (Error)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当模型复杂度增加时：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偏差(Bias)减小（可捕捉复杂模式）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方差(Variance)增大（对数据更敏感）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最优模型复杂度：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Bias² + Variance之和最小的点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在此点泛化性能最大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左侧（低复杂度）= 欠拟合区域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右侧（高复杂度）= 过拟合区域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各模型偏差-方差特性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偏差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线性回归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简单、稳定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KNN (K大)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过度平滑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KNN (K小)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对噪声敏感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决策树（深）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过拟合倾向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随机森林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适当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集成→方差↓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Boosting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适当~高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减小偏差的优势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557784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623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ESL (Hastie et al., 2009) Ch2:</a:t>
            </a:r>
            <a:br/>
            <a:r>
              <a:t>最小二乘法（高偏差、低方差）vs k-NN（低偏差、高方差）比较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No Free Lunch定理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Wolpert &amp; Macready (1997)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No Free Lunch定理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核心内容与数学定义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Microsoft YaHei"/>
              </a:defRPr>
            </a:pPr>
            <a:r>
              <a:t>核心主张 (Wolpert &amp; Macready, 1997)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对所有可能的问题（目标函数）取平均时，任何两个优化（或学习）算法都表现出相同的性能。</a:t>
            </a:r>
            <a:br/>
            <a:r>
              <a:t>→ 不存在"最佳算法"。必须始终选择适合问题的算法。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数学定义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X：候选解(candidate solution)的集合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Y：代价值(cost value)的集合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f: X → Y：目标函数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a：优化算法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5303520" cy="7315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3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Sf P(d_m^y | f, m, a1) = Sf P(d_m^y | f, m, a2)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对所有函数f求和时，对所有算法对</a:t>
            </a:r>
            <a:br/>
            <a:r>
              <a:t>(a1, a2)上述等式成立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若a1在某问题上优于a2，则必定存在其他问题中a2优于a1  |  随机搜索平均而言也与精密算法相同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NFL定理：核心假设与实务启示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核心假设与局限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假设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现实解读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对所有函数均匀分布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同等考虑所有可能的f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现实问题具有特定结构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不重复访问已评估点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不对同一点评估两次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大多数算法满足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代价函数确定性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f为deterministic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概率问题需另行分析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注意：NFL常被误解为"所有算法都相同"，但现实问题具有结构(structure)，特定算法更有优势！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5条实务启示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不存在"最佳算法"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始终选择适合问题的算法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8892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icrosoft YaHei"/>
              </a:defRPr>
            </a:pPr>
            <a:r>
              <a:t>利用先验知识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问题结构（归纳偏置）是关键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尝试多种算法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不要依赖单一算法，要比较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5236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Microsoft YaHei"/>
              </a:defRPr>
            </a:pPr>
            <a:r>
              <a:t>基准测试的局限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特定性能 ≠ 所有问题优秀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8408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Microsoft YaHei"/>
              </a:defRPr>
            </a:pPr>
            <a:r>
              <a:t>AutoML的依据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自动算法选择/调参的合理性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模型评估：交叉验证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Cross-Validation Strategies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为什么要划分数据？&amp; Hold-Out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泛化性能 (Generalization Performance) 评估的核心原则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训练数据与评估数据必须分开。</a:t>
            </a:r>
            <a:br/>
            <a:r>
              <a:t>用训练数据评估无法判断是否过拟合 → 产生乐观偏差 (Optimistic Bias)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0642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Hold-Out（简单划分）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最简单的方法：将数据仅一次划分为训练/测试集（例：80:20）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优点：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• 计算成本最低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• 实现简单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缺点：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• 划分不同结果差异大（高方差）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• 数据使用不高效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使用时机：数据量很大时、快速原型开发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Hold-Out划分示例：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训练数据 (80%)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Microsoft YaHei"/>
              </a:defRPr>
            </a:pPr>
            <a:r>
              <a:t>不同划分 → 不同结果：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5486400"/>
            <a:ext cx="18288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852160"/>
            <a:ext cx="41148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0" y="5852160"/>
            <a:ext cx="4572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K-Fold &amp; Stratified K-Fold 交叉验证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K-Fold交叉验证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将数据分为K个折叠，评估K次</a:t>
            </a:r>
            <a:br/>
            <a:r>
              <a:t>最终性能 = (性能1+性能2+...+性能K) /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Fold 1: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91840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Fold 2: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3547872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Fold 3: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803904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99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Fold 4: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059936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Fold 5: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4315968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54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优点：所有数据都用于训练/评估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缺点：类别不平衡时各折叠比例可能不同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K=5或K=10为标准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Stratified K-Fold交叉验证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K-Fold + 各折叠中保持与原始数据相同的类别比例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优点：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在类别不平衡数据中稳定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最广泛推荐的CV策略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sklearn的默认CV策略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缺点：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不能直接用于回归问题（连续值）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使用时机：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分类问题，特别是类别不平衡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一般最推荐使用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Leave-One-Out &amp; 策略比较表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Microsoft YaHei"/>
              </a:defRPr>
            </a:pPr>
            <a:r>
              <a:t>Leave-One-Out (LOO)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每次只测试1个样本（K=N，极端K-Fold）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优点：偏差最低（几乎用全部数据训练）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缺点：计算成本非常高（训练N次），方差可能较高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使用：数据很少时（N &lt; 50）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K值对偏差-方差权衡的影响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K小（K=2）：训练数据50% → 高偏差、低方差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K大（K=N, LOO）：几乎全部训练 → 低偏差、高方差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实务最优点：K = 5 ~ 10 最普遍推荐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四种策略比较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训练数据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评估次数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偏差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计算成本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Hold-Out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非常低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5-Fold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80%（反复）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5次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10-Fold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90%（反复）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10次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中~高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中~高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LOO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(N-1)/N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N次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最低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非常高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按数据规模推荐策略 &amp; 评估指标概述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大规模 (&gt;10,000)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Hold-Out或3-Fold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数据充足，计算效率优先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中等规模 (100~10,000)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Stratified 5或10-Fold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稳定估计 + 适当成本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小规模 (&lt;100)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LOO或Repeated K-Fold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最大限度利用所有数据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主要评估指标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回归评估指标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 = sqrt(mean((y_pred - y_true)²)) → 对大误差敏感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MAE = mean(|y_pred - y_true|) → 对异常值稳健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= 1 - SS_res/SS_tot → 解释力（越接近1越好）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 vs MAE：异常值多时优选MAE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R²可能 &lt; 0（比平均值还差的模型）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分类评估指标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Accuracy = (TP+TN)/(TP+TN+FP+FN) → 注意不平衡！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Precision = TP/(TP+FP) → 阳性预测的准确率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Recall = TP/(TP+FN) → 实际阳性检出率（医疗核心）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F1 = 2*(Prec*Rec)/(Prec+Rec) → 调和平均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AUC-ROC = ROC曲线下面积 (0~1)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1.0=完美, 0.5=随机 → 阈值无关的综合指标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ML流水线与数据质量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Machine Learning Pipeline &amp; Data Quality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机器学习流水线8个步骤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End-to-End ML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问题定义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回归/分类决定</a:t>
            </a:r>
            <a:br/>
            <a:r>
              <a:t>设定成功标准</a:t>
            </a:r>
            <a:br/>
            <a:r>
              <a:t>业务→ML转换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数据收集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DB、API、爬虫</a:t>
            </a:r>
            <a:br/>
            <a:r>
              <a:t>公开数据集</a:t>
            </a:r>
            <a:br/>
            <a:r>
              <a:t>数据获取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</a:t>
            </a:r>
            <a:br/>
            <a:r>
              <a:t>预处理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缺失值、异常值</a:t>
            </a:r>
            <a:br/>
            <a:r>
              <a:t>编码、缩放</a:t>
            </a:r>
            <a:br/>
            <a:r>
              <a:t>原始→模型用加工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分布、相关性</a:t>
            </a:r>
            <a:br/>
            <a:r>
              <a:t>可视化</a:t>
            </a:r>
            <a:br/>
            <a:r>
              <a:t>了解数据特征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建模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算法选择</a:t>
            </a:r>
            <a:br/>
            <a:r>
              <a:t>训练</a:t>
            </a:r>
            <a:br/>
            <a:r>
              <a:t>多模型比较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895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交叉验证</a:t>
            </a:r>
            <a:br/>
            <a:r>
              <a:t>测试集评估</a:t>
            </a:r>
            <a:br/>
            <a:r>
              <a:t>泛化性能测量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HP调参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Grid/Random</a:t>
            </a:r>
            <a:br/>
            <a:r>
              <a:t>Bayesian Search</a:t>
            </a:r>
            <a:br/>
            <a:r>
              <a:t>最优参数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728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REST API</a:t>
            </a:r>
            <a:br/>
            <a:r>
              <a:t>监控</a:t>
            </a:r>
            <a:br/>
            <a:r>
              <a:t>重训练流水线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66344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"Garbage In, Garbage Out" - 数据质量的重要性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预处理步骤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缺失值处理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处理缺失数据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删除、均值/中位数填充、插值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异常值处理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异常极端值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基于IQR、Z-score检测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编码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类别型→数值转换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独热编码、标签编码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缩放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统一变量尺度/范围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StandardScaler、MinMaxScaler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特征工程 &amp; 数据泄露防范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Domingos经验7: Feature Engineering Is the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特征设计比算法选择影响更大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基于领域知识构建特征是关键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例：房价预测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简单：面积、房间数、位置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工程化：每房面积、地铁站距离、学区等级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icrosoft YaHei"/>
              </a:defRPr>
            </a:pPr>
            <a:r>
              <a:t>Data Leakage（数据泄露）防范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训练过程中测试数据信息流入模型的现象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→ 过度乐观的性能估计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防范原则：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1. 缩放：训练集fit_transform，测试集仅transform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2. 在交叉验证循环内进行预处理（利用Pipeline）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3. 时间序列：不将未来数据用于训练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欠拟合 (Underfitting)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训练/测试均低性能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模型过于简单，高偏差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解决：使用复杂模型、增加训练时间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    特征工程、减少正则化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38912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最优模型 (Good Fit)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训练/测试均高性能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Bias² + Variance 最小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泛化性能最大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通过交叉验证确认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过拟合 (Overfitting)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训练高、测试低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模型过于复杂，高方差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解决：更多数据、正则化(L1/L2)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    Dropout、早停、特征选择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5篇核心论文综述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Key Paper Reviews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Domingos (2012)：12条核心经验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A Few Useful Things to Know About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Pedro Domingos | Communications of the ACM, Vol. 55, No. 10, pp. 78-87 | ML实务12条经验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Representation + Evaluation</a:t>
            </a:r>
            <a:br/>
            <a:r>
              <a:t>+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所有学习算法的</a:t>
            </a:r>
            <a:br/>
            <a:r>
              <a:t>三个组成部分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It's Generalization</a:t>
            </a:r>
            <a:br/>
            <a:r>
              <a:t>That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泛化性能是</a:t>
            </a:r>
            <a:br/>
            <a:r>
              <a:t>核心目标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Data Alone Is</a:t>
            </a:r>
            <a:br/>
            <a:r>
              <a:t>Not Enough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661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先验假设（归纳偏置）</a:t>
            </a:r>
            <a:br/>
            <a:r>
              <a:t>是必需的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Overfitting Has</a:t>
            </a:r>
            <a:br/>
            <a:r>
              <a:t>Many Faces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9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过拟合以各种</a:t>
            </a:r>
            <a:br/>
            <a:r>
              <a:t>形式出现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4340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Intuition Fails in</a:t>
            </a:r>
            <a:br/>
            <a:r>
              <a:t>High Dimensions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在高维空间中直觉</a:t>
            </a:r>
            <a:br/>
            <a:r>
              <a:t>失效（维度灾难）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Theoretical Guarantees</a:t>
            </a:r>
            <a:br/>
            <a:r>
              <a:t>Are Not What They Seem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理论保证</a:t>
            </a:r>
            <a:br/>
            <a:r>
              <a:t>可能与实际不同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Domingos (2012)：12条核心经验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Feature Engineering</a:t>
            </a:r>
            <a:br/>
            <a:r>
              <a:t>Is the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特征设计比</a:t>
            </a:r>
            <a:br/>
            <a:r>
              <a:t>算法选择更重要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More Data Beats a</a:t>
            </a:r>
            <a:br/>
            <a:r>
              <a:t>Cleverer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数据量比</a:t>
            </a:r>
            <a:br/>
            <a:r>
              <a:t>算法精巧更重要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Learn Many Models,</a:t>
            </a:r>
            <a:br/>
            <a:r>
              <a:t>Not Just 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2608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集成方法</a:t>
            </a:r>
            <a:br/>
            <a:r>
              <a:t>优于单一模型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Simplicity Does Not</a:t>
            </a:r>
            <a:br/>
            <a:r>
              <a:t>Imply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简单模型不一定</a:t>
            </a:r>
            <a:br/>
            <a:r>
              <a:t>更准确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Representable Does Not</a:t>
            </a:r>
            <a:br/>
            <a:r>
              <a:t>Imply Learnable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可表示 ≠ 可学习</a:t>
            </a:r>
            <a:br/>
            <a:r>
              <a:t>（学习难度另论）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Correlation Does Not</a:t>
            </a:r>
            <a:br/>
            <a:r>
              <a:t>Imply Causation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相关 ≠ 因果</a:t>
            </a:r>
            <a:br/>
            <a:r>
              <a:t>（解读需注意）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21792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实务核心：泛化为目标 | 特征设计是关键 | 大量数据 &gt; 精巧算法 | 利用集成 | 相关≠因果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核心论文综述：Mitchell、Wolpert、Vapnik、ESL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Mitchell (1997)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Machine Learning (教材)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确立ML的形式化定义(T-P-E)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概念学习：假设空间H、版本空间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归纳偏置(Inductive Bias)：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所有学习算法为了泛化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需要先验假设 → 与NFL直接相关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icrosoft YaHei"/>
              </a:defRPr>
            </a:pPr>
            <a:r>
              <a:t>Wolpert &amp; Macready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NFL Theorems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证明通用最优算法不可能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对所有函数取平均则所有算法相同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"对这个特定问题哪个算法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最合适？"才是正确的问题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Vapnik (1995)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Statistical Learning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经验风险: R_emp = (1/n)SUM L(f(xi),yi)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真实风险: R(f) = INT L(f(x),y) dP(x,y)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VC维: 可shatter的最大点数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SRM: R(f) &lt;= R_emp + Phi(VCdim, n)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核心：有限数据 → 泛化条件？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Microsoft YaHei"/>
              </a:defRPr>
            </a:pPr>
            <a:r>
              <a:t>Hastie et al. (2009)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ESL Ch1-2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EPE(f) = E[(Y-f(X))²]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最优预测器：f*(x) = E[Y|X=x]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Bias-Variance Decomposition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最小二乘法(高偏差,低方差) vs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k-NN(低偏差,高方差) 对比说明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实验1：偏差-方差权衡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01_bias_variance_tradeoff.py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实验1：偏差-方差权衡实现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01_bias_variance_tradeoff.py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实验目标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用不同复杂度的多项式回归模型可视化偏差²、方差、总误差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直观确认欠拟合/过拟合区域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实验验证偏差-方差分解公式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实验设置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真实函数：f(x) = sin(1.5*pi*x)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噪声：e ~ N(0, 0.3²)，200个数据集重复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多项式次数1~15变化模型复杂度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核心代码1：真实函数 &amp; 数据生成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true_function(x):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np.sin(1.5 * np.pi * 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generate_data(n_samples=30,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X = np.sort(np.random.uniform(0, 1, n_samples))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 = true_function(X) + \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np.random.normal(0, noise_std, n_samples)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X,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y = f(x) + epsilon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epsilon ~ N(0, sigma^2)  &lt;- 不可约误差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核心代码2：多项式回归模型训练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sklearn.pipeline import make_pipeline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sklearn.preprocessing import PolynomialFeatures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make_pipeline(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PolynomialFeatures(degree, include_bias=True),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LinearRegression()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model.fit(X_train.reshape(-1, 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predictions[i] = model.predict(X_test.reshape(-1,1))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实验1：偏差-方差计算核心逻辑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compute_bias_variance(degrees, n_datasets=200, 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X_test = np.linspace(0, 1, 100)   # 固定测试点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y_true = true_function(X_test)      # 真实函数值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noise_var = noise_std ** 2          # 不可约误差 = 0.09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degree in degrees: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predictions = np.zeros((n_datasets, 100))  # 200个数据集 x 100测试点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i in range(n_datasets):            # 重复200次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X_train, y_train = generate_data()  # 每次生成新数据集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 = make_pipeline(PolynomialFeatures(degree), LinearRegression())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model.fit(X_train.reshape(-1,1),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predictions[i,:] = model.predict(X_test.reshape(-1,1))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# ============ 核心：偏差-方差分解计算 ============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mean_pred = predictions.mean(axis=0)            # f_bar(x) = E[f_hat(x)]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bias_sq = np.mean((mean_pred - y_true) ** 2)    # Bias² = (f(x) - f_bar(x))²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var = np.mean(predictions.var(axis=0))           # Var = E[(f_hat - f_bar)²]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total = bias_sq + var + noise_var                # Total = Bias² + Var + sigma²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核心：通过200个数据集反复训练 → 实验计算预测的平均（偏差）和变动（方差）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Microsoft YaHei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实验2：NFL定理演示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02_no_free_lunch_demo.py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实验2：NFL定理演示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02_no_free_lunch_demo.py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实验目标：对4种数据结构应用5种算法 → 实验确认不存在单一最佳算法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通过Stratified 5-Fold交叉验证进行公平比较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4种数据集：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线性可分 (Linear)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线性决策边界</a:t>
            </a:r>
            <a:br/>
            <a:r>
              <a:t>→ 对线性模型有利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圆形 (Circles)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同心圆结构</a:t>
            </a:r>
            <a:br/>
            <a:r>
              <a:t>→ 对RBF SVM有利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XOR模式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XOR逻辑运算</a:t>
            </a:r>
            <a:br/>
            <a:r>
              <a:t>→ 对决策树有利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半月 (Moons)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半月形状</a:t>
            </a:r>
            <a:br/>
            <a:r>
              <a:t>→ 对k-NN有利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5种算法（各自不同的归纳偏置）：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LogisticRegression()     # 线性决策边界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KNeighborsClassifier(5)  # 局部相似性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SVC(kernel='rbf')        # 最大化间隔 + 非线性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DecisionTreeClassifier() # 轴对齐分割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RandomForestClassifier() # 集成 + 分割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公平比较: Stratified 5-Fold CV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cv = StratifiedKFold(n_splits=5, shuffle=True)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cross_val_score(clf, X_scaled, y,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 cv=cv, scoring='accuracy')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核心结论：没有在所有数据集中排名第一的算法！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Microsoft YaHei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实验3：交叉验证比较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03_cross_validation_demo.py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实验3：交叉验证策略比较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03_cross_validation_demo.py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icrosoft YaHei"/>
              </a:defRPr>
            </a:pPr>
            <a:r>
              <a:t>实验目标：Hold-Out、K-Fold、Stratified K-Fold、LOO比较 | 50次重复测量性能估计方差 | 确认K值权衡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数据：make_classification(150样本) + Iris数据集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核心代码1：性能估计方差比较（50次重复）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n_repeats = 50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Hold-Out: 每次划分结果不同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X_tr, X_te, y_tr, y_te = train_test_split(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X, y, test_size=0.2,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model.fit(X_tr, y_tr)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holdout_scores.append(model.score(X_te, y_te))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Stratified K-Fold: 最稳定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cv = StratifiedKFold(n_splits=5,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skfold_scores.append(scores.mean())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核心代码2：K值权衡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k_values = [2, 3, 5, 7, 10, 15, 20, 50, 100]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k in k_values: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repeat_means = []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for i in range(30):  # 重复30次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cv = KFold(n_splits=k,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repeat_means.append(scores.mean())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means.append(np.mean(repeat_means))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stds.append(np.std(repeat_means))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核心观察: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K小 → 高偏差, 低方差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K大 → 低偏差, 高方差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6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36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核心结论：Hold-Out方差最大 | Stratified K-Fold最稳定 | K=5~10实务推荐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深入应用案例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Healthcare, Finance, Manufacturing, NLP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深入应用案例：医疗 &amp; 金融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医疗 (Healthcare) - 乳腺癌诊断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Wisconsin Breast Cancer（569样本，30个特征）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恶性37.3% / 良性62.7%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召回率(Recall) - 不遗漏癌症患者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性能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仅逻辑回归准确率97~98%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医疗AI核心考虑事项：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最小化FN（假阴性）事关生命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重视召回率和F1-Score而非准确率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模型可解释性必需（需要医生理解）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满足监管要求（FDA批准等）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金融 (Finance) - 欺诈检测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极端类别不平衡（欺诈 &lt; 1%）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核心课题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最小化FP + 实际欺诈Recall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主要技术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Isolation Forest、SMOTE、集成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特殊点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实时处理 + 模式持续变化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金融ML核心考虑事项：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时间序列：Time Series Split，防止未来数据泄露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类别不平衡：SMOTE、Cost-sensitive Learning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可解释性：监管机构需要模型说明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需要实时推理性能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深入应用案例：制造 &amp;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制造 (Manufacturing) - 预测性维护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预测设备故障时间/可能性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IoT传感器（振动、温度、压力、噪声）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技术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RF、LSTM、Survival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非计划停机减少30~50%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制造ML核心：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传感器数据的时间序列特性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故障数据非常稀少（不平衡）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通过Edge Computing实时推理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领域专家（工艺工程师）协作必需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Microsoft YaHei"/>
              </a:defRPr>
            </a:pPr>
            <a:r>
              <a:t>NLP - 情感分析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文本分类（正面/负面/中性）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评论、社交媒体、新闻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传统方法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TF-IDF + SVM/逻辑回归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现代方法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BERT、GPT Fine-tuning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NLP ML核心：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预处理：分词、停用词去除、标准化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特征：BoW、TF-IDF、Word2Vec、BERT Embedding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迁移学习：预训练模型Fine-tuning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中文分词处理的特殊性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核心总结 &amp; 复习题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Summary &amp; Review Questions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核心总结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Microsoft YaHei"/>
              </a:defRPr>
            </a:pPr>
            <a:r>
              <a:t>ML定义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从数据中自动学习模式</a:t>
            </a:r>
            <a:br/>
            <a:r>
              <a:t>Mitchell T-P-E框架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学习类型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监督(分类/回归) · 无监督 · 强化</a:t>
            </a:r>
            <a:br/>
            <a:r>
              <a:t>AI ⊃ ML ⊃ 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Microsoft YaHei"/>
              </a:defRPr>
            </a:pPr>
            <a:r>
              <a:t>偏差-方差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EPE = Bias² + Var + σ²</a:t>
            </a:r>
            <a:br/>
            <a:r>
              <a:t>模型复杂度最优平衡点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Microsoft YaHei"/>
              </a:defRPr>
            </a:pPr>
            <a:r>
              <a:t>NFL定理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不存在通用最佳算法</a:t>
            </a:r>
            <a:br/>
            <a:r>
              <a:t>根据问题选择是关键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Microsoft YaHei"/>
              </a:defRPr>
            </a:pPr>
            <a:r>
              <a:t>交叉验证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Stratified K-Fold (K=5~10)</a:t>
            </a:r>
            <a:br/>
            <a:r>
              <a:t>根据数据规模选择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Microsoft YaHei"/>
              </a:defRPr>
            </a:pPr>
            <a:r>
              <a:t>ML流水线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问题定义→收集→预处理→EDA</a:t>
            </a:r>
            <a:br/>
            <a:r>
              <a:t>→建模→评估→调参→部署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核心公式整理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偏差-方差分解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EPE = Bias² + Variance +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总误差的三个来源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Bias(x) = f(x) - E[f_hat(x)]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模型假设造成的系统性误差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方差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Var(x) = E[(f_hat(x) - E[f_hat(x)])²]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数据变动造成的预测不稳定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NFL定理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Sf P(d|f,m,a1) = Sf P(d|f,m,a2)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所有算法的平均性能相同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结构风险最小化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R(f) &lt;= R_emp(f) + Phi(VCdim,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泛化误差上界（Vapnik）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最优预测器（回归）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943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f*(x) = E[Y|X=x]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943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最小化MSE的预测（ESL）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复习题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Q1. 请将Mitchell的T-P-E定义应用到垃圾邮件过滤器进行说明。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Q2. 请从数据、目标、反馈角度比较监督/无监督/强化学习。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Q3. 请解释偏差-方差分解公式的各项，</a:t>
            </a:r>
            <a:br/>
            <a:r>
              <a:t>      并阐述与模型复杂度的关系。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Q4. 请阐述NFL定理的核心及3条实务启示。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Q5. 请比较Hold-Out、K-Fold、Stratified K-Fold、LOO的</a:t>
            </a:r>
            <a:br/>
            <a:r>
              <a:t>      优缺点。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复习题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Q6. 请各列举3种以上过拟合和欠拟合的原因及解决方法。</a:t>
            </a:r>
            <a:br/>
            <a:r>
              <a:t>      请结合Domingos的"Overfitting Has Many Faces"进行说明。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Q7. 请解释什么是VC维，以及二维线性分类器的</a:t>
            </a:r>
            <a:br/>
            <a:r>
              <a:t>      VC维为3的原因。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Q8. 请解释ML流水线8个步骤和Data Leakage防范原则。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Q9. 请通过ESL的最小二乘法 vs k-NN比较</a:t>
            </a:r>
            <a:br/>
            <a:r>
              <a:t>      来解释偏差-方差权衡。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Q10. 请结合实务案例说明Domingos的</a:t>
            </a:r>
            <a:br/>
            <a:r>
              <a:t>       "More Data Beats a Cleverer Algorithm"和"Feature Engineering Is the Key"。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第1章：机器学习概述（扩展详细版）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下一章：第2章 - Python基础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