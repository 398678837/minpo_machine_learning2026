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기계학습 (Machine Learning)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1장: 머신러닝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BBCC"/>
                </a:solidFill>
                <a:latin typeface="맑은 고딕"/>
              </a:defRPr>
            </a:pPr>
            <a:r>
              <a:t>Introduction to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핵심 키워드: ML 정의 · 학습 유형 · 편향-분산 트레이드오프 · NFL 정리 · 교차검증 · ML 파이프라인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2026년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 (Contents)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머신러닝이란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머신러닝의 역사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7432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432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학습 유형: 지도 / 비지도 / 강화학습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2004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2004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004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ML vs DL vs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6576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6576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576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편향-분산 트레이드오프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1148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1148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1148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No Free Lunch 정리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5720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5720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5720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모델 평가: 교차검증 전략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0292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0292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0292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ML 파이프라인과 데이터 품질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54864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4864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4864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핵심 논문 리뷰 (5편)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9436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9436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9436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실습 소개 &amp; 핵심 요약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머신러닝이란?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Machine Learning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Arthur Samuel (1959)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"컴퓨터가 명시적으로 프로그래밍하지 않아도</a:t>
            </a:r>
            <a:br/>
            <a:r>
              <a:t>학습할 수 있는 능력을 부여하는 학문 분야"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Tom Mitchell (1997)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"프로그램이 작업 T에 대해 경험 E로부터 학습하며,</a:t>
            </a:r>
            <a:br/>
            <a:r>
              <a:t>성능 P가 E를 통해 향상되면 학습한다"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T (Task)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434840"/>
            <a:ext cx="29260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수행 작업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예: 이메일 스팸 분류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393192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P (Performance)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1999" y="4434840"/>
            <a:ext cx="292608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4572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성능 지표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5029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예: 정확히 분류된 비율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8" y="393192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8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E (Experience)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38" y="4434840"/>
            <a:ext cx="292608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8" y="4572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학습 경험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8" y="5029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예: 레이블링된 이메일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전통적 프로그래밍 vs 머신러닝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맑은 고딕"/>
              </a:defRPr>
            </a:pPr>
            <a:r>
              <a:t>전통적 프로그래밍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입력: 데이터 + 규칙 (Rules)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출력: 결과 (Answers)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사람이 규칙을 직접 코딩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예시: if-else 기반 스팸 필터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→ 특정 키워드가 포함되면 스팸으로 분류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→ 새로운 패턴에 대응 어려움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맑은 고딕"/>
              </a:defRPr>
            </a:pPr>
            <a:r>
              <a:t>머신러닝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입력: 데이터 + 정답 (Labels)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출력: 규칙/모델 (Model)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데이터로부터 규칙을 자동 학습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예시: 수만 건의 이메일로 학습한 스팸 필터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→ 패턴을 자동으로 발견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→ 새로운 패턴에도 적응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3657600"/>
            <a:ext cx="1097280" cy="7315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3703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일상 속 머신러닝 사례 5가지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2103120" cy="3931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추천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넷플릭스, 유튜브</a:t>
            </a:r>
            <a:br/>
            <a:r>
              <a:t>시청 이력 기반</a:t>
            </a:r>
            <a:br/>
            <a:r>
              <a:t>개인화 추천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011680"/>
            <a:ext cx="2103120" cy="3931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51760" y="201168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2057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자율주행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83464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테슬라, 웨이모</a:t>
            </a:r>
            <a:br/>
            <a:r>
              <a:t>CNN 기반 객체 탐지</a:t>
            </a:r>
            <a:br/>
            <a:r>
              <a:t>실시간 경로 계획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011680"/>
            <a:ext cx="2103120" cy="3931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37760" y="201168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057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의료 진단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83464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X-ray, CT, MRI</a:t>
            </a:r>
            <a:br/>
            <a:r>
              <a:t>종양·폐렴 탐지</a:t>
            </a:r>
            <a:br/>
            <a:r>
              <a:t>AlphaFold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011680"/>
            <a:ext cx="2103120" cy="3931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23760" y="201168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057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음성 인식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83464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시리, 알렉사</a:t>
            </a:r>
            <a:br/>
            <a:r>
              <a:t>STT + NLU</a:t>
            </a:r>
            <a:br/>
            <a:r>
              <a:t>Transformer 기반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011680"/>
            <a:ext cx="2103120" cy="3931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09760" y="201168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2057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사기 탐지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83464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신용카드 부정사용</a:t>
            </a:r>
            <a:br/>
            <a:r>
              <a:t>이상 거래 감지</a:t>
            </a:r>
            <a:br/>
            <a:r>
              <a:t>실시간 분석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머신러닝의 역사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Major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106984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315468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McCulloch &amp; Pitts</a:t>
            </a:r>
            <a:br/>
            <a:r>
              <a:t>인공 뉴런 모델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4832" y="315468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64792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3352" y="365760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Rosenblatt</a:t>
            </a:r>
            <a:br/>
            <a:r>
              <a:t>퍼셉트론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0984" y="315468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0944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365760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Arthur Samuel</a:t>
            </a:r>
            <a:br/>
            <a:r>
              <a:t>ML 용어 최초 사용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17136" y="315468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97096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5656" y="365760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Rumelhart et al.</a:t>
            </a:r>
            <a:br/>
            <a:r>
              <a:t>역전파 알고리즘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33288" y="315468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3248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365760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Vapnik</a:t>
            </a:r>
            <a:br/>
            <a:r>
              <a:t>SVM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315468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1997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65760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NFL 정리</a:t>
            </a:r>
            <a:br/>
            <a:r>
              <a:t>Mitchell 교재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315468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365760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AlexNet</a:t>
            </a:r>
            <a:br/>
            <a:r>
              <a:t>딥러닝 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81744" y="315468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1704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0264" y="365760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Transformer</a:t>
            </a:r>
            <a:br/>
            <a:r>
              <a:t>Attention Is All You Need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97896" y="315468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77856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2022~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6416" y="365760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ChatGPT</a:t>
            </a:r>
            <a:br/>
            <a:r>
              <a:t>생성형 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212080"/>
            <a:ext cx="109728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3035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AI 겨울과 부활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692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1차 AI 겨울 (1970s): XOR 문제 → 부활 (1986): 역전파 → 2차 AI 겨울 (1990s 초): SVM 주류 → 딥러닝 부활 (2012~): GPU + 빅데이터 + ReLU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지도학습 (Supervised Learning)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정의: 입력 X와 정답 레이블 y가 함께 주어진 상태에서 매핑 함수 f: X → y를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핵심: 예측값과 실제값의 차이(오차)를 줄이는 방향으로 학습  |  회귀 (연속값) + 분류 (이산값)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회귀 (Regression) - 연속값 예측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출력이 연속적 수치: 주택 가격, 기온, 매출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대표 알고리즘: 선형회귀, 릿지, 라쏘, RF, GBM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평가 지표: MSE, RMSE, MAE, R²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면적·위치·방 수 → 350,000달러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분류 (Classification) - 범주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출력이 이산적 카테고리: 스팸/정상, 악성/양성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이진분류 / 다중분류 / 다중레이블분류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평가 지표: Accuracy, Precision, Recall, F1, AUC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이메일 내용 → 스팸 or 정상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비지도학습 &amp; 강화학습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비지도학습 (Unsupervised Learning)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정답 레이블 없이 데이터 구조 발견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군집화: K-Means, DBSCAN, 계층적 군집화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차원 축소: PCA, t-SNE, Autoencoder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이상치 탐지: Isolation Forest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활용: 고객 세분화, 유전자 군집화, 시각화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강화학습 (Reinforcement Learning)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에이전트가 환경과 상호작용하며 보상 최대화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에이전트 →[행동]→ 환경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환경 →[상태, 보상]→ 에이전트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알고리즘: Q-Learning, DQN, PPO, SAC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활용: AlphaGo, 로봇 제어, 자율주행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세 가지 학습 유형 비교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2377440" cy="54864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103120"/>
            <a:ext cx="2377440" cy="5486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지도학습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103120"/>
            <a:ext cx="2377440" cy="54864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비지도학습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2103120"/>
            <a:ext cx="2377440" cy="54864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강화학습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743200"/>
            <a:ext cx="23774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43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데이터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743200"/>
            <a:ext cx="23774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743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입력 + 정답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743200"/>
            <a:ext cx="23774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743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입력만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2743200"/>
            <a:ext cx="23774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743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상태 + 보상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337560"/>
            <a:ext cx="23774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3375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목표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337560"/>
            <a:ext cx="23774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3375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예측 / 분류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337560"/>
            <a:ext cx="23774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3375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구조 발견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3337560"/>
            <a:ext cx="23774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33375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보상 최대화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931920"/>
            <a:ext cx="23774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931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피드백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931920"/>
            <a:ext cx="23774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3931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정답 레이블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931920"/>
            <a:ext cx="23774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3931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3931920"/>
            <a:ext cx="23774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3931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보상 신호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4526280"/>
            <a:ext cx="23774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5262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대표 문제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4526280"/>
            <a:ext cx="23774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45262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분류, 회귀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4526280"/>
            <a:ext cx="23774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45262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군집화, 차원축소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4526280"/>
            <a:ext cx="23774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45262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게임, 로봇 제어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5120640"/>
            <a:ext cx="23774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1206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난이도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5120640"/>
            <a:ext cx="23774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0" y="51206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상대적 쉬움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5120640"/>
            <a:ext cx="23774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51206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60" y="5120640"/>
            <a:ext cx="23774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95360" y="51206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상대적 어려움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ML vs DL vs AI 관계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계층 구조와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103120"/>
            <a:ext cx="4572000" cy="438912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2560320"/>
            <a:ext cx="3291840" cy="3291840"/>
          </a:xfrm>
          <a:prstGeom prst="roundRect">
            <a:avLst>
              <a:gd name="adj" fmla="val 5000"/>
            </a:avLst>
          </a:prstGeom>
          <a:solidFill>
            <a:srgbClr val="1E4D3A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26080" y="3017520"/>
            <a:ext cx="2011680" cy="2194560"/>
          </a:xfrm>
          <a:prstGeom prst="roundRect">
            <a:avLst>
              <a:gd name="adj" fmla="val 5000"/>
            </a:avLst>
          </a:prstGeom>
          <a:solidFill>
            <a:srgbClr val="3A1E5F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286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인공지능 (AI)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머신러닝 (ML)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딥러닝 (DL)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103120"/>
            <a:ext cx="502920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특성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031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전통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1031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딥러닝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69748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피처 엔지니어링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97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수동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697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자동 학습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320040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데이터 요구량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적음~중간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2004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대량 필요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70332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703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계산 자원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703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CPU 가능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703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GPU/TPU 필수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420624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해석 가능성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206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4206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블랙박스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70916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709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적합 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709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정형 (테이블)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4709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비정형 (이미지, 텍스트)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530352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언제 무엇을 사용할 것인가? (Domingos, 2012)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6692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정형 데이터 + 소~중규모 → XGBoost, LightGBM, RF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비정형 데이터 (이미지, 텍스트) → CNN, Transformer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해석 가능성 중요 (의료, 금융) → 전통 ML or XAI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편향-분산 트레이드오프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Bias-Variance Tradeoff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편향 (Bias)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모델 예측값과 실제 정답 사이의 체계적 오차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높은 편향 → 모델이 너무 단순 → 과소적합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낮은 편향 → 데이터 패턴을 잘 포착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분산 (Variance)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다른 학습 데이터셋에서 예측값의 변동 정도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높은 분산 → 학습 데이터에 민감 → 과적합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낮은 분산 → 데이터 바뀌어도 안정적 예측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맑은 고딕"/>
              </a:defRPr>
            </a:pPr>
            <a:r>
              <a:t>EPE = Bias² + Variance + σ²  (비가약 오류)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총 오차 = 모델 가정에 의한 체계적 오차  +  데이터 변동에 의한 불안정성  +  데이터 자체 노이즈 (줄일 수 없음)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과녁 비유: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98932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낮은 편향</a:t>
            </a:r>
            <a:br/>
            <a:r>
              <a:t>낮은 분산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989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이상적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598932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5989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높은 편향</a:t>
            </a:r>
            <a:br/>
            <a:r>
              <a:t>낮은 분산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989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과소적합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98932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5989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낮은 편향</a:t>
            </a:r>
            <a:br/>
            <a:r>
              <a:t>높은 분산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989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과적합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598932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5989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높은 편향</a:t>
            </a:r>
            <a:br/>
            <a:r>
              <a:t>높은 분산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5989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88899"/>
                </a:solidFill>
                <a:latin typeface="맑은 고딕"/>
              </a:defRPr>
            </a:pPr>
            <a:r>
              <a:t>최악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모델별 편향-분산 특성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237744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103120"/>
            <a:ext cx="237744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편향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103120"/>
            <a:ext cx="237744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103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분산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2103120"/>
            <a:ext cx="237744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103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특징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69748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97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선형 회귀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69748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4545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69748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697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269748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697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단순하지만 안정적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20040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KNN (K 큼)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20040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4545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20040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320040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과도하게 평활화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70332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KNN (K 작음)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70332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70332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4545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370332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노이즈에 민감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420624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결정 트리 (깊음)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420624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420624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4545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420624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과적합 경향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470916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4709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랜덤 포레스트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470916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0" y="4709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470916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4709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맑은 고딕"/>
              </a:defRPr>
            </a:pPr>
            <a:r>
              <a:t>적절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60" y="470916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95360" y="4709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앙상블로 분산 감소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521208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" y="5212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부스팅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0" y="521208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74720" y="5212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21208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212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적절~높음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521208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60" y="5212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편향 감소에 강점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" y="5760720"/>
            <a:ext cx="1024128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88720" y="580644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ESL (Hastie et al., 2009) Ch2: 최소제곱법 (높은 편향, 낮은 분산) vs k-NN (낮은 편향, 높은 분산) 비교를 통한 직관적 설명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No Free Lunch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Wolpert &amp; Macready (1997)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t>핵심 주장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모든 가능한 문제(목적 함수)에 대해 평균을 내면, 어떤 두 최적화(또는 학습) 알고리즘이든 동일한 성능을 보인다.</a:t>
            </a:r>
            <a:br/>
            <a:r>
              <a:t>→ "최고의 알고리즘"은 존재하지 않는다. 항상 문제에 맞는 알고리즘을 선택해야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11064240" cy="731520"/>
          </a:xfrm>
          <a:prstGeom prst="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Σf P(d_m^y | f, m, a₁) = Σf P(d_m^y | f, m, a₂)    ← 모든 알고리즘 쌍 (a₁, a₂)에 대해 성립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실무적 시사점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1. "최고의 알고리즘"은 없다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항상 문제에 맞는 알고리즘 선택 필요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50292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2. 사전 지식 활용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55321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문제 구조(귀납적 편향)가 알고리즘 선택의 핵심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0292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3. 다양한 알고리즘 시도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5321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하나에 의존하지 말고 여러 알고리즘 비교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50292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4. AutoML의 근거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5321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자동 알고리즘 선택/하이퍼파라미터 튜닝의 당위성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모델 평가: 교차검증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Cross-Validation Strategies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2011680"/>
            <a:ext cx="2651760" cy="54864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Hold-Out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한 번만 분할 (80:20)</a:t>
            </a:r>
            <a:br/>
            <a:r>
              <a:t>장점: 빠름</a:t>
            </a:r>
            <a:br/>
            <a:r>
              <a:t>단점: 분할에 따라 결과 변동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01168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2011680"/>
            <a:ext cx="2651760" cy="5486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K-Fold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43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K개 폴드로 나눠 K번 평가</a:t>
            </a:r>
            <a:br/>
            <a:r>
              <a:t>모든 데이터 활용</a:t>
            </a:r>
            <a:br/>
            <a:r>
              <a:t>K=5 또는 K=10 표준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1168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2651760" cy="5486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Stratified K-Fold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클래스 비율 유지하며 K-Fold</a:t>
            </a:r>
            <a:br/>
            <a:r>
              <a:t>불균형 데이터에 안정적</a:t>
            </a:r>
            <a:br/>
            <a:r>
              <a:t>sklearn 기본 CV 전략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01168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2011680"/>
            <a:ext cx="2651760" cy="54864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LOO (Leave-One-Out)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743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K=N (한 번에 1개만 테스트)</a:t>
            </a:r>
            <a:br/>
            <a:r>
              <a:t>편향 가장 낮음</a:t>
            </a:r>
            <a:br/>
            <a:r>
              <a:t>데이터 적을 때 (N&lt;50)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292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5-Fold 교차검증 예시: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5440680"/>
            <a:ext cx="1188720" cy="16459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7760" y="5440680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5440680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0" y="5440680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5440680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54406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→ 성능1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5641848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37760" y="5641848"/>
            <a:ext cx="1188720" cy="16459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5641848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80" y="5641848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78240" y="5641848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0" y="56418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→ 성능2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5843016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37760" y="5843016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5843016"/>
            <a:ext cx="1188720" cy="16459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98080" y="5843016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78240" y="5843016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80" y="58430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→ 성능3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6044184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37760" y="6044184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6044184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98080" y="6044184"/>
            <a:ext cx="1188720" cy="16459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0" y="6044184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0" y="604418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→ 성능4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6245352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37760" y="6245352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6245352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98080" y="6245352"/>
            <a:ext cx="1188720" cy="16459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78240" y="6245352"/>
            <a:ext cx="1188720" cy="16459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41280" y="62453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→ 성능5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교차검증: 전략 비교 &amp; 권장 가이드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7830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전략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19" y="2011680"/>
            <a:ext cx="17830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19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학습 데이터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38" y="2011680"/>
            <a:ext cx="17830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38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평가 횟수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57" y="2011680"/>
            <a:ext cx="17830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57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편향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6" y="2011680"/>
            <a:ext cx="17830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6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분산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29795" y="2011680"/>
            <a:ext cx="17830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795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계산 비용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Hold-Out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19" y="25603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19" y="25603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80%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38" y="25603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38" y="25603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57" y="25603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57" y="25603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6" y="25603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6" y="25603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795" y="25603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795" y="25603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매우 낮음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0175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017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5-Fold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19" y="30175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31719" y="3017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80% (반복)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38" y="30175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38" y="3017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5회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57" y="30175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57" y="3017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6" y="30175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76" y="3017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29795" y="30175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9795" y="3017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4747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474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10-Fold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31719" y="34747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31719" y="3474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90% (반복)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38" y="34747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38" y="3474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10회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57" y="34747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57" y="3474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5276" y="34747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76" y="3474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중간~높음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29795" y="34747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29795" y="3474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중간~높음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9319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9319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LOO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31719" y="39319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31719" y="39319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(N-1)/N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38" y="39319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06238" y="39319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57" y="39319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0757" y="39319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가장 낮음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76" y="39319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55276" y="39319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29795" y="39319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29795" y="39319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매우 높음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데이터 크기별 권장 전략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512064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대용량 (&gt;10,000)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Hold-Out 또는 3-Fold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충분한 데이터, 계산 효율성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51960" y="512064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3484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중간 (100~10,000)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3484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Stratified 5 or 10-Fold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3484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안정적 추정, 적절한 비용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046720" y="512064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2960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소용량 (&lt;100)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LOO 또는 Repeated K-Fold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모든 데이터 최대 활용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ML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Machine Learning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301752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2103120"/>
            <a:ext cx="1280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문제</a:t>
            </a:r>
            <a:br/>
            <a:r>
              <a:t>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175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회귀/분류 결정</a:t>
            </a:r>
            <a:br/>
            <a:r>
              <a:t>성공 기준 설정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301752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37360" y="2103120"/>
            <a:ext cx="1280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9456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3317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데이터</a:t>
            </a:r>
            <a:br/>
            <a:r>
              <a:t>수집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0175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DB, API, 크롤링</a:t>
            </a:r>
            <a:br/>
            <a:r>
              <a:t>공개 데이터셋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301752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0" y="2103120"/>
            <a:ext cx="1280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3317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데이터</a:t>
            </a:r>
            <a:br/>
            <a:r>
              <a:t>전처리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0175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결측치, 이상치</a:t>
            </a:r>
            <a:br/>
            <a:r>
              <a:t>인코딩, 스케일링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301752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63440" y="2103120"/>
            <a:ext cx="1280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2064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3317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EDA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0175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분포, 상관관계</a:t>
            </a:r>
            <a:br/>
            <a:r>
              <a:t>시각화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301752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26480" y="2103120"/>
            <a:ext cx="1280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3317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모델링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0175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알고리즘 선택</a:t>
            </a:r>
            <a:br/>
            <a:r>
              <a:t>학습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301752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589520" y="2103120"/>
            <a:ext cx="1280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4672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3317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평가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0175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교차검증</a:t>
            </a:r>
            <a:br/>
            <a:r>
              <a:t>테스트셋 평가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78440" y="301752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52560" y="2103120"/>
            <a:ext cx="1280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50976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23317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HP</a:t>
            </a:r>
            <a:br/>
            <a:r>
              <a:t>튜닝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0175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Grid/Random</a:t>
            </a:r>
            <a:br/>
            <a:r>
              <a:t>Bayesian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515600" y="2103120"/>
            <a:ext cx="1280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97280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23317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배포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30175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REST API</a:t>
            </a:r>
            <a:br/>
            <a:r>
              <a:t>모니터링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389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"Garbage In, Garbage Out"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4846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결측치 처리: 삭제, 평균/중앙값 대체, 보간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이상치 처리: IQR, Z-score 기반 탐지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인코딩: 원핫, 레이블 인코딩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스케일링: StandardScaler, MinMaxScaler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4389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Feature Engineering Is the Key (Domingos, 2012)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4846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알고리즘 선택보다 피처 설계가 더 큰 영향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도메인 지식 기반 피처 구성이 핵심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 Leakage 방지: Pipeline 활용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스케일링은 학습셋 fit, 테스트셋 transform만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과적합 (Overfitting) vs 과소적합 (Underfitting)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과소적합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학습/테스트 모두 낮은 성능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모델이 너무 단순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높은 편향, 낮은 분산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해결: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복잡한 모델 사용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학습 시간 늘리기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피처 엔지니어링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정규화 강도 줄이기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최적 모델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학습/테스트 모두 높은 성능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적절한 모델 복잡도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편향과 분산의 균형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목표: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Bias² + Variance 최소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일반화 성능 최대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교차검증으로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과적합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 높음, 테스트 낮음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모델이 너무 복잡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낮은 편향, 높은 분산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해결: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더 많은 데이터 수집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정규화 (L1/L2)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드롭아웃, 조기 종료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특성 선택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논문 리뷰 (5편)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Key Paper Reviews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201168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" y="201168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Domingos (2012)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6517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 Few Useful Things to Know</a:t>
            </a:r>
            <a:br/>
            <a:r>
              <a:t>About Machine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40480"/>
            <a:ext cx="18288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402336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ML 실무 12가지 교훈</a:t>
            </a:r>
            <a:br/>
            <a:r>
              <a:t>일반화, 피처, 데이터, 앙상블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01168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0" y="201168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Mitchell (1997)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6517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Machine Learning (교재)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384048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402336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ML의 형식적 정의 (T-P-E)</a:t>
            </a:r>
            <a:br/>
            <a:r>
              <a:t>귀납적 편향, 개념 학습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201168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60" y="201168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Wolpert (1997)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6517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No Free Lunch Theorems</a:t>
            </a:r>
            <a:br/>
            <a:r>
              <a:t>for Optimization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3840480"/>
            <a:ext cx="18288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402336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보편적 최적 알고리즘</a:t>
            </a:r>
            <a:br/>
            <a:r>
              <a:t>불가능성 증명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01168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0" y="201168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Vapnik (1995)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6517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The Nature of Statistical</a:t>
            </a:r>
            <a:br/>
            <a:r>
              <a:t>Learning Theory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0" y="3840480"/>
            <a:ext cx="18288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402336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VC 차원, SRM</a:t>
            </a:r>
            <a:br/>
            <a:r>
              <a:t>일반화 오류 상한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201168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92640" y="201168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Hastie et al. (2009)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6517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Elements of Statistical</a:t>
            </a:r>
            <a:br/>
            <a:r>
              <a:t>Learning (ESL) Ch1-2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75520" y="3840480"/>
            <a:ext cx="18288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402336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편향-분산 분해</a:t>
            </a:r>
            <a:br/>
            <a:r>
              <a:t>최소제곱법 vs k-NN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Domingos (2012): 12가지 핵심 교훈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Representation + Evaluation</a:t>
            </a:r>
            <a:br/>
            <a:r>
              <a:t>+ Optimization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01168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14884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It's Generalization</a:t>
            </a:r>
            <a:br/>
            <a:r>
              <a:t>That 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14884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Data Alone Is</a:t>
            </a:r>
            <a:br/>
            <a:r>
              <a:t>Not Enough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01168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8972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14884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Overfitting Has</a:t>
            </a:r>
            <a:br/>
            <a:r>
              <a:t>Many Faces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6616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6576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033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Intuition Fails in</a:t>
            </a:r>
            <a:br/>
            <a:r>
              <a:t>High Dimensions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56616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29000" y="36576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3657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37033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Theoretical Guarantees</a:t>
            </a:r>
            <a:br/>
            <a:r>
              <a:t>Are Not What They Seem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56616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36576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657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7033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Feature Engineering</a:t>
            </a:r>
            <a:br/>
            <a:r>
              <a:t>Is the Key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356616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9720" y="36576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3657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37033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More Data Beats a</a:t>
            </a:r>
            <a:br/>
            <a:r>
              <a:t>Cleverer Algorithm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12064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521208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2578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Learn Many Models,</a:t>
            </a:r>
            <a:br/>
            <a:r>
              <a:t>Not Just One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37560" y="512064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429000" y="521208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52578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Simplicity ≠ Accuracy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12064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09360" y="521208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52578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Representable ≠</a:t>
            </a:r>
            <a:br/>
            <a:r>
              <a:t>Learnable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98280" y="512064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189720" y="521208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972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52578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Correlation ≠</a:t>
            </a:r>
            <a:br/>
            <a:r>
              <a:t>Causation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평가 지표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Evaluation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회귀 평가 지표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RMSE: √(평균(예측-실제)²) — 큰 오차에 민감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MAE: 평균(|예측-실제|) — 이상치에 강건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R²: 설명력 지표 (1에 가까울수록 좋음)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분류 평가 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Accuracy: 전체 중 맞춘 비율 (불균형 주의)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Precision: 양성 예측 중 실제 양성 비율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Recall: 실제 양성 중 맞춘 비율 (FN 최소화)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혼동 행렬 (Confusion Matrix)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4805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예측 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4805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예측 Neg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463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실제 Pos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486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실제 Neg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4754880"/>
            <a:ext cx="1097280" cy="54864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47548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TP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4754880"/>
            <a:ext cx="1097280" cy="54864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47548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FN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5394960"/>
            <a:ext cx="1097280" cy="54864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5394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FP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5394960"/>
            <a:ext cx="1097280" cy="54864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5394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TN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1148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F1-Score &amp; AUC-ROC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634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F1 = 2 × (Precision × Recall) / (Precision + Recall)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→ 정밀도와 재현율의 조화 평균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→ 클래스 불균형 시 Accuracy보다 유용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AUC-ROC: ROC 곡선 아래 면적 (0~1)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→ 1.0: 완벽한 분류기, 0.5: 랜덤 수준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→ 임계값에 독립적인 종합 성능 지표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소개 (3개 구현 소스)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실습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01_bias_variance_tradeoff.py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편향-분산 트레이드오프 시각화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다항 회귀로 모델 복잡도 변화 실험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200개 데이터셋 반복으로 편향/분산 계산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과소적합 ↔ 과적합 영역 직관적 확인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세 가지 시각화: 적합, 트레이드오프 곡선, 변동성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201168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실습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02_no_free_lunch_demo.py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NFL 정리 데모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918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4가지 데이터 구조: 선형, 원형, XOR, 반달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5가지 알고리즘: LR, k-NN, SVM, DT, RF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Stratified 5-Fold로 공정 비교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어떤 단일 알고리즘도 모든 곳에서 최상 아님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실습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03_cross_validation_demo.py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교차검증 비교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918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Hold-Out, K-Fold, Stratified K-Fold, LOO 비교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50회 반복으로 성능 추정 분산 측정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K값에 따른 편향-분산 트레이드오프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Iris 데이터셋 실전 예제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요약 (Key Takeaways)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FF"/>
                </a:solidFill>
                <a:latin typeface="맑은 고딕"/>
              </a:defRPr>
            </a:pPr>
            <a:r>
              <a:t>ML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18288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데이터로부터 패턴을 자동 학습</a:t>
            </a:r>
            <a:br/>
            <a:r>
              <a:t>Mitchell: T-P-E 프레임워크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맑은 고딕"/>
              </a:defRPr>
            </a:pPr>
            <a:r>
              <a:t>학습 유형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56032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지도 (분류/회귀) · 비지도 · 강화</a:t>
            </a:r>
            <a:br/>
            <a:r>
              <a:t>AI ⊃ ML ⊃ DL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맑은 고딕"/>
              </a:defRPr>
            </a:pPr>
            <a:r>
              <a:t>편향-분산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560320"/>
            <a:ext cx="18288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EPE = Bias² + Var + σ²</a:t>
            </a:r>
            <a:br/>
            <a:r>
              <a:t>모델 복잡도의 최적 균형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t>NFL 정리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46320"/>
            <a:ext cx="18288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보편적 최상 알고리즘 없음</a:t>
            </a:r>
            <a:br/>
            <a:r>
              <a:t>문제에 맞는 선택이 핵심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4545"/>
                </a:solidFill>
                <a:latin typeface="맑은 고딕"/>
              </a:defRPr>
            </a:pPr>
            <a:r>
              <a:t>교차검증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4846320"/>
            <a:ext cx="18288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937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Stratified K-Fold (K=5~10) 권장</a:t>
            </a:r>
            <a:br/>
            <a:r>
              <a:t>데이터 크기에 따라 선택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6CFF"/>
                </a:solidFill>
                <a:latin typeface="맑은 고딕"/>
              </a:defRPr>
            </a:pPr>
            <a:r>
              <a:t>ML 파이프라인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846320"/>
            <a:ext cx="18288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937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문제정의→수집→전처리→EDA</a:t>
            </a:r>
            <a:br/>
            <a:r>
              <a:t>→모델링→평가→튜닝→배포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수식 정리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편향-분산 분해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574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EPE = Bias² + Variance + σ²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0574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총 오차의 세 가지 원천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편향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346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Bias(x) = f(x) - E[f̂(x)]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83464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모델 가정에 의한 체계적 오차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분산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118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Var(x) = E[(f̂(x) - E[f̂(x)])²]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61188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데이터 변동에 의한 예측 불안정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4340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NFL 정리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891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Σf P(d|f,m,a₁) = Σf P(d|f,m,a₂)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38912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모든 알고리즘의 평균 성능 동일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구조적 위험 최소화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1663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R(f) ≤ R_emp(f) + Φ(VCdim, 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16636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일반화 오류 상한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9788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9436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최적 예측기 (회귀)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9436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f*(x) = E[Y|X=x]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59436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MSE를 최소화하는 예측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(Review Questions)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74520"/>
            <a:ext cx="73152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Q1. Mitchell의 T-P-E 정의를 스팸 필터에 적용하여 설명하시오.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50008"/>
            <a:ext cx="73152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Q2. 지도/비지도/강화학습을 데이터, 목표, 피드백 관점에서 비교하시오.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25496"/>
            <a:ext cx="73152" cy="2743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7977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Q3. 편향-분산 분해 공식의 각 항을 설명하고 모델 복잡도와의 관계를 서술하시오.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00984"/>
            <a:ext cx="73152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552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Q4. NFL 정리의 핵심과 실무적 시사점 3가지를 서술하시오.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76472"/>
            <a:ext cx="73152" cy="2743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307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Q5. Hold-Out, K-Fold, Stratified K-Fold, LOO의 장단점을 비교하시오.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51960"/>
            <a:ext cx="73152" cy="27432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Q6. 과적합과 과소적합의 원인과 해결방법을 각 3가지 이상 서술하시오.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27448"/>
            <a:ext cx="73152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817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Q7. VC 차원이란 무엇이며, 2차원 선형 분류기의 VC 차원이 3인 이유를 설명하시오.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02936"/>
            <a:ext cx="73152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15721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Q8. ML 파이프라인 8단계와 Data Leakage 방지 원칙을 설명하시오.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678424"/>
            <a:ext cx="73152" cy="2743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63270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Q9. ESL의 최소제곱법 vs k-NN 비교를 통한 편향-분산 트레이드오프를 설명하시오.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153912"/>
            <a:ext cx="73152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081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Q10. Domingos의 "More Data Beats a Cleverer Algorithm"과</a:t>
            </a:r>
            <a:br/>
            <a:r>
              <a:t>      "Feature Engineering Is the Key"를 실무 예시와 함께 설명하시오.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맑은 고딕"/>
              </a:defRPr>
            </a:pPr>
            <a:r>
              <a:t>1장: 머신러닝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다음 장: 2장 - 파이썬 기초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