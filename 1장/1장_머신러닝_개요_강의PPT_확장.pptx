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기계학습 (Machine 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1장: 머신러닝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Introduction to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[ 확장 상세 버전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핵심 키워드: ML 정의 · 학습 유형 · 편향-분산 트레이드오프 · NFL 정리 · 교차검증 · ML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(Contents) - 1/2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머신러닝이란 - 정의, 전통 프로그래밍 vs ML, 사례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머신러닝의 역사 - 마일스톤, AI 겨울과 부활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10896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54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학습 유형 - 지도학습, 비지도학습, 강화학습 상세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74904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ML vs DL vs AI - 계층 구조, 비교, 선택 가이드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38912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편향-분산 트레이드오프 - 개념, 수식 유도, 모델별 특성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No Free Lunch 정리 - 수학적 정의, 가정, 시사점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6692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모델 평가 - Hold-Out, K-Fold, Stratified, LOO 비교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(Contents) - 2/2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ML 파이프라인과 데이터 품질 - 8단계, 피처 엔지니어링, 데이터 누출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핵심 논문 리뷰 5편 - Domingos, Mitchell, Wolpert, Vapnik, ESL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10896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54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실습 1: 편향-분산 트레이드오프 구현 (코드 상세 해설)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74904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실습 2: NFL 정리 데모 (코드 상세 해설)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38912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실습 3: 교차검증 비교 (코드 상세 해설)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응용사례 심화 - 의료, 금융, 제조, NLP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6692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핵심 요약, 수식 정리, 복습 질문 10개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목표 (Learning Objectives)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0195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머신러닝의 정의(Mitchell의 T-P-E)와 전통적 프로그래밍과의 차이를 설명할 수 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95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지도학습, 비지도학습, 강화학습의 차이를 데이터/목표/피드백 관점에서 비교할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35808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6265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편향-분산 분해 공식을 유도하고, 각 항의 의미를 설명할 수 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02736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027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2958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No Free Lunch 정리의 수학적 의미와 실무적 시사점을 서술할 수 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9664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96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965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4가지 교차검증 전략(Hold-Out, K-Fold, Stratified, LOO)을 비교하고 상황별 선택 기준을 제시할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3659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36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ML 파이프라인 8단계를 이해하고, 데이터 누출(Data Leakage) 방지 원칙을 설명할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303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5편의 핵심 논문(Domingos, Mitchell, Wolpert, Vapnik, ESL)의 주요 기여를 요약할 수 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70448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704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9729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3개 실습 코드(편향-분산, NFL, 교차검증)를 이해하고 실행할 수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머신러닝이란?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Machine Learning Definition &amp; Fundamentals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머신러닝의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Two Foundational Definitions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Arthur Samuel (1959)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"Machine Learning is a field of study that gives</a:t>
            </a:r>
            <a:br/>
            <a:r>
              <a:t>computers the ability to learn without being</a:t>
            </a:r>
            <a:br/>
            <a:r>
              <a:t>explicitly programmed."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→ 명시적 프로그래밍 없이 컴퓨터가 학습하는 능력을 부여하는 학문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Tom Mitchell (1997) - 형식적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"A computer program is said to learn from</a:t>
            </a:r>
            <a:br/>
            <a:r>
              <a:t>experience E with respect to some class of tasks T</a:t>
            </a:r>
            <a:br/>
            <a:r>
              <a:t>and performance measure P, if its performance at</a:t>
            </a:r>
            <a:br/>
            <a:r>
              <a:t>tasks in T, as measured by P, improves with experience E."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T (Task)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09160"/>
            <a:ext cx="29260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무엇을 할 것인가?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수행하고자 하는 작업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예: 이메일 스팸 여부 분류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420624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P (Performance)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1999" y="4709160"/>
            <a:ext cx="292608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얼마나 잘 하는가?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성능 측정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577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예: 정확하게 분류된 이메일 비율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8" y="420624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8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E (Experience)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38" y="4709160"/>
            <a:ext cx="29260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8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무엇으로 학습하는가?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8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학습에 사용되는 데이터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8" y="5577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예: 사용자가 레이블링한 이메일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전통적 프로그래밍 vs 머신러닝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패러다임의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맑은 고딕"/>
              </a:defRPr>
            </a:pPr>
            <a:r>
              <a:t>전통적 프로그래밍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입력: 데이터 + 규칙 (Rules)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출력: 결과 (Answers)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사람이 규칙을 직접 코딩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예시: if-else 기반 스팸 필터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if "당첨" in email: return "스팸"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if "무료" in email: return "스팸"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한계: 새로운 패턴에 대응 어려움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   규칙이 복잡해질수록 유지보수 어려움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맑은 고딕"/>
              </a:defRPr>
            </a:pPr>
            <a:r>
              <a:t>머신러닝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입력: 데이터 + 정답 (Labels)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출력: 규칙/모델 (Model)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데이터로부터 규칙을 자동 학습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예시: 수만 건의 이메일로 학습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→ 패턴을 자동으로 발견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→ 새로운 스팸 유형도 감지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장점: 환경 변화에 적응 가능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   사람이 인지 못하는 패턴도 발견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657600"/>
            <a:ext cx="1097280" cy="7315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703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일상 속 머신러닝 사례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1. 추천 시스템 (Recommendation System)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넷플릭스, 유튜브, 스포티파이: 시청/청취 이력 분석 → 개인화 추천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협업 필터링 (Collaborative Filtering) + 콘텐츠 기반 필터링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넷플릭스: 추천으로 시청 시간의 약 80% 유도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2. 자율주행 (Autonomous Driving)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테슬라, 웨이모: 카메라, 라이다, 레이더 센서 데이터 실시간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CNN 기반 객체 탐지 + 강화학습 기반 경로 계획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수백만 km 주행 데이터로 학습, 보행자/차량/신호등 인식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3. 의료 진단 (Medical Diagnosis)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X-ray, CT, MRI에서 종양/폐렴/골절 자동 탐지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AlphaFold: 단백질 구조 예측 문제 해결 → 생물학 혁신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유방암 진단: 일부 ML 모델이 전문의보다 높은 정확도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ML은 이미 일상 곳곳에 적용되어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다양한 데이터 유형: 텍스트, 이미지, 음성, 센서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데이터에서 패턴을 자동으로 학습하여 예측/결정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일상 속 머신러닝 사례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4. 음성 인식 (Speech Recognition)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Siri, Google Assistant, Alexa: 음성→텍스트(STT) + 의도파악(NLU)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딥러닝 기반 RNN, Transformer 모델 (수만 시간 음성 학습)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OpenAI Whisper: 다국어 음성 인식에서 뛰어난 성능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5. 사기 탐지 (Fraud Detection)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신용카드 부정 사용, 보험 사기, 자금 세탁 실시간 탐지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정상 패턴 학습 → 이상 거래(anomaly) 감지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비지도학습(이상치 탐지) + 지도학습(분류) 병행, 초당 수천 건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머신러닝이 필요한 이유 (Mitchell, 1997)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1. 복잡한 규칙의 자동 발견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사람이 규칙을 일일이 정의하기 어려운 문제 (이미지 인식, 음성 인식)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0292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2. 환경 변화에 대한 적응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5440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새로운 데이터가 들어오면 모델을 재학습하여 변화에 대응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50292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3. 대량 데이터에서 패턴 발견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440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빅데이터 시대에 수작업 분석은 불가능 → 자동화된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머신러닝의 역사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History of Machine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머신러닝 주요 마일스톤 (1943~1997)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McCulloch &amp; Pitts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인공 뉴런 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최초의 수학적 뉴런 모델</a:t>
            </a:r>
            <a:br/>
            <a:r>
              <a:t>신경망의 이론적 기초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Alan 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Computing Machinery</a:t>
            </a:r>
            <a:br/>
            <a:r>
              <a:t>and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튜링 테스트 제안</a:t>
            </a:r>
            <a:br/>
            <a:r>
              <a:t>"기계가 생각할 수 있는가?"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Rosenblatt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퍼셉트론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최초의 학습 가능한</a:t>
            </a:r>
            <a:br/>
            <a:r>
              <a:t>신경망 모델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Arthur Samuel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체커 프로그램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"Machine Learning"</a:t>
            </a:r>
            <a:br/>
            <a:r>
              <a:t>용어 최초 사용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Minsky &amp; Papert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Perceptrons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퍼셉트론 한계(XOR) 증명</a:t>
            </a:r>
            <a:br/>
            <a:r>
              <a:t>→ 1차 AI 겨울 촉발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900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1986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Rumelhart et 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역전파 알고리즘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다층 신경망 학습 가능</a:t>
            </a:r>
            <a:br/>
            <a:r>
              <a:t>→ 신경망 부활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1995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Vapnik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SVM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통계적 학습 이론 기반</a:t>
            </a:r>
            <a:br/>
            <a:r>
              <a:t>강력한 분류기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18972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1997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Mitchell / Wolpert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ML 교재 / NFL 정리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T-P-E 정의 정립</a:t>
            </a:r>
            <a:br/>
            <a:r>
              <a:t>보편적 최적 알고리즘 부정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머신러닝 주요 마일스톤 (2006~현재)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Hinton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Deep Belief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딥러닝 부활 신호탄</a:t>
            </a:r>
            <a:br/>
            <a:r>
              <a:t>"딥러닝" 용어 대중화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Krizhevsky et 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AlexNet (ImageNet)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CNN 폭발적 성능 향상</a:t>
            </a:r>
            <a:br/>
            <a:r>
              <a:t>딥러닝 붐 시작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Goodfellow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생성적 적대 신경망</a:t>
            </a:r>
            <a:br/>
            <a:r>
              <a:t>생성 모델의 혁신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DeepMind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AlphaGo vs 이세돌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강화학습의 가능성을</a:t>
            </a:r>
            <a:br/>
            <a:r>
              <a:t>전 세계에 입증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Vaswani et 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Transformer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Attention Is All You Need</a:t>
            </a:r>
            <a:br/>
            <a:r>
              <a:t>NLP 혁명의 시작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900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2018~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Google, OpenAI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BERT, GPT 시리즈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대규모 언어모델(LLM)</a:t>
            </a:r>
            <a:br/>
            <a:r>
              <a:t>시대 개막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2022~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OpenAI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ChatGPT, GPT-4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생성형 AI의 대중화</a:t>
            </a:r>
            <a:br/>
            <a:r>
              <a:t>AGI 논의 활발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AI 겨울과 부활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AI Winters and Revivals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069848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1차 AI 겨울</a:t>
            </a:r>
            <a:br/>
            <a:r>
              <a:t>(1970년대)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퍼셉트론의 한계</a:t>
            </a:r>
            <a:br/>
            <a:r>
              <a:t>(XOR 문제) 증명</a:t>
            </a:r>
            <a:br/>
            <a:r>
              <a:t>→ 신경망 연구 침체</a:t>
            </a:r>
            <a:br/>
            <a:r>
              <a:t>Minsky &amp; Papert(1969)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부활</a:t>
            </a:r>
            <a:br/>
            <a:r>
              <a:t>(1980년대)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역전파 알고리즘 발견</a:t>
            </a:r>
            <a:br/>
            <a:r>
              <a:t>→ 다층 신경망 학습 가능</a:t>
            </a:r>
            <a:br/>
            <a:r>
              <a:t>Rumelhart, Hinton,</a:t>
            </a:r>
            <a:br/>
            <a:r>
              <a:t>Williams (1986)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2차 AI 겨울</a:t>
            </a:r>
            <a:br/>
            <a:r>
              <a:t>(1990년대 초)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7784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신경망 학습 어려움</a:t>
            </a:r>
            <a:br/>
            <a:r>
              <a:t>(Vanishing Gradient)</a:t>
            </a:r>
            <a:br/>
            <a:r>
              <a:t>→ SVM, 앙상블 주류</a:t>
            </a:r>
            <a:br/>
            <a:r>
              <a:t>Vapnik의 SVM(1995)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딥러닝 부활</a:t>
            </a:r>
            <a:br/>
            <a:r>
              <a:t>(2006~2012)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GPU 컴퓨팅 + 빅데이터</a:t>
            </a:r>
            <a:br/>
            <a:r>
              <a:t>+ ReLU 활성화 함수</a:t>
            </a:r>
            <a:br/>
            <a:r>
              <a:t>→ 딥러닝 폭발적 성장</a:t>
            </a:r>
            <a:br/>
            <a:r>
              <a:t>AlexNet(2012)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교훈: ML의 발전은 직선적이지 않다. 이론적 한계 발견 → 침체 → 새로운 돌파구 → 부활의 반복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학습 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Supervised / Unsupervised / Reinforcement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지도학습 (Supervised Learning)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입력 X와 정답 y가 함께 주어진 학습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정의: 입력 데이터 X와 정답 레이블 y가 함께 주어진 상태에서 매핑 함수 f: X → y를 학습하는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핵심: 예측값과 실제값의 차이(오차)를 줄이는 방향으로 반복 학습 → 회귀(연속값) + 분류(이산값)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회귀 (Regression) - 연속값 예측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출력값 y가 연속적인 수치: 주택 가격, 기온, 매출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대표 알고리즘: 선형회귀, Ridge, Lasso, RF, GBM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평가 지표: MSE, RMSE, MAE,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분류 (Classification) - 범주 예측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출력값 y가 이산적 카테고리: 스팸/정상, 악성/양성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이진분류 / 다중분류 / 다중레이블분류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평가 지표: Accuracy, Precision, Recall, F1,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지도학습 산업 적용 사례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9496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산업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539496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394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문제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539496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입력(X)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539496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출력(y)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5394960"/>
            <a:ext cx="21945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5394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알고리즘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금융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585216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5852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신용 점수 예측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58521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852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소득, 부채, 거래이력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8521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852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신용 등급(A~F)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5852160"/>
            <a:ext cx="219456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5852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XGBoost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26364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제조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626364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6263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제품 불량 예측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62636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센서, 온도, 압력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62636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양품/불량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6263640"/>
            <a:ext cx="219456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6263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Random Forest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67512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675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마케팅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667512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40" y="6675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고객 이탈 예측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66751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0" y="6675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사용 패턴, 결제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66751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6675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이탈/유지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6675120"/>
            <a:ext cx="219456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6675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Gradient Boosting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비지도학습 (Unsupervised Learning)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정답 레이블 없이 데이터 구조 발견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정의: 입력 데이터 X만 주어지고 정답 레이블 y가 없는 상태에서 데이터 자체의 구조나 패턴을 발견하는 학습 방법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군집화 (Clustering)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유사한 데이터를 그룹화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알고리즘: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K-Means, DBSCAN</a:t>
            </a:r>
            <a:br/>
            <a:r>
              <a:t>계층적 군집화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활용 사례: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고객 세분화</a:t>
            </a:r>
            <a:br/>
            <a:r>
              <a:t>유전자 군집화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92608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차원 축소</a:t>
            </a:r>
            <a:br/>
            <a:r>
              <a:t>(Dimensionality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고차원 → 저차원 변환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알고리즘: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PCA, t-SNE</a:t>
            </a:r>
            <a:br/>
            <a:r>
              <a:t>Autoencoder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활용 사례: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시각화</a:t>
            </a:r>
            <a:br/>
            <a:r>
              <a:t>노이즈 제거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92608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이상치 탐지</a:t>
            </a:r>
            <a:br/>
            <a:r>
              <a:t>(Anomaly Detection)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정상 패턴에서 벗어나는</a:t>
            </a:r>
            <a:br/>
            <a:r>
              <a:t>데이터 감지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알고리즘: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Isolation Forest</a:t>
            </a:r>
            <a:br/>
            <a:r>
              <a:t>One-Class SVM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활용 사례: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사기 탐지</a:t>
            </a:r>
            <a:br/>
            <a:r>
              <a:t>네트워크 이상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강화학습 (Reinforcement Learning)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에이전트가 환경과 상호작용하며 보상 최대화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정의: 에이전트(Agent)가 환경(Environment)과 상호작용하면서, 보상(Reward)을 최대화하는 행동 전략(Policy)을 학습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에이전트 (Agent)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학습하고 행동하는 주체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환경 (Environment)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에이전트가 상호작용하는 세계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상태 (State)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현재 환경의 상황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행동 (Action)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에이전트가 취할 수 있는 동작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보상 (Reward)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행동에 대한 피드백 신호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강화학습 상호작용 루프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에이전트 --[행동(Action)]--&gt; 환경</a:t>
            </a:r>
            <a:br/>
            <a:r>
              <a:t>환경 --[상태(State), 보상(Reward)]--&gt; 에이전트</a:t>
            </a:r>
            <a:br/>
            <a:br/>
            <a:r>
              <a:t>이 과정을 반복하며 최적 정책(Policy)을 학습</a:t>
            </a:r>
            <a:br/>
            <a:r>
              <a:t>목표: 누적 보상의 기대값 최대화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강화학습 산업 사례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846320"/>
            <a:ext cx="19202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846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분야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846320"/>
            <a:ext cx="17373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보상 설계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484632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알고리즘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303520"/>
            <a:ext cx="192024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303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게임 AI (AlphaGo)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5303520"/>
            <a:ext cx="173736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5303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승리+1, 패배-1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530352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MCTS+정책신경망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669280"/>
            <a:ext cx="192024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669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로봇 팔 제어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5669280"/>
            <a:ext cx="173736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5669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목표물 잡기 성공/실패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20" y="566928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PPO, SAC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6035040"/>
            <a:ext cx="192024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6035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데이터센터 냉각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6035040"/>
            <a:ext cx="173736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6035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에너지 절감량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603504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0" y="6035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DQN (DeepMind)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세 가지 학습 유형 비교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지도학습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비지도학습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강화학습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데이터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입력 + 정답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입력만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상태 + 보상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7180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71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목표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예측 / 분류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구조 발견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보상 최대화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47472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74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피드백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정답 레이블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보상 신호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 문제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분류, 회귀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군집화, 차원축소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게임, 로봇 제어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48056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480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 알고리즘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RF, XGB, SVM, LR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K-Means, PCA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Q-Learning, PPO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98348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983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난이도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498348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상대적 쉬움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98348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498348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상대적 어려움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530352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53949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실무 선택 가이드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57607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정답 레이블이 있으면 → 지도학습 (분류/회귀)  |  정답 없이 패턴 발견 → 비지도학습  |  순차적 의사결정 → 강화학습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실무에서 가장 많이 사용: 지도학습 (데이터만 충분하면 높은 성능). 비지도학습은 탐색/전처리 단계에서 자주 활용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ML vs DL vs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Hierarchy and Comparison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AI ⊃ ML ⊃ DL 계층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2377440"/>
            <a:ext cx="4023360" cy="3657600"/>
          </a:xfrm>
          <a:prstGeom prst="roundRect">
            <a:avLst>
              <a:gd name="adj" fmla="val 5000"/>
            </a:avLst>
          </a:prstGeom>
          <a:solidFill>
            <a:srgbClr val="1E4D3A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2926080"/>
            <a:ext cx="2560320" cy="2377440"/>
          </a:xfrm>
          <a:prstGeom prst="roundRect">
            <a:avLst>
              <a:gd name="adj" fmla="val 5000"/>
            </a:avLst>
          </a:prstGeom>
          <a:solidFill>
            <a:srgbClr val="3A1E5F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인공지능 (AI)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머신러닝 (ML)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딥러닝 (DL)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82880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AI (Artificial Intelligence)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402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인간의 지능을 모방하는 모든 기술의 총칭</a:t>
            </a:r>
            <a:br/>
            <a:r>
              <a:t>규칙 기반, 전문가 시스템, 탐색 등 포함</a:t>
            </a:r>
            <a:br/>
            <a:r>
              <a:t>가장 넓은 개념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47472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ML (Machine Learning)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8862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AI의 하위 분야, 데이터 기반 학습에 초점</a:t>
            </a:r>
            <a:br/>
            <a:r>
              <a:t>명시적 규칙 대신 데이터에서 패턴 자동 학습</a:t>
            </a:r>
            <a:br/>
            <a:r>
              <a:t>SVM, RF, XGBoost 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512064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5212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DL (Deep Learning)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5321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ML의 하위 분야, 심층 신경망 활용</a:t>
            </a:r>
            <a:br/>
            <a:r>
              <a:t>여러 층의 비선형 변환으로 복잡한 표현 학습</a:t>
            </a:r>
            <a:br/>
            <a:r>
              <a:t>CNN, RNN, Transformer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전통적 ML vs 딥러닝 상세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전통적 머신러닝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01168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11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딥러닝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피처 엔지니어링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4688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사람이 직접 설계 (수동)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4688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468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모델이 자동으로 학습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데이터 요구량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9260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926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적은 데이터도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9260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926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대량의 데이터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계산 자원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3832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383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CPU로 충분한 경우 많음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33832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383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GPU/TPU 필수적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해석 가능성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8404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840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상대적으로 높음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8404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840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블랙박스 경향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2976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성능 상한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42976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4297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데이터 증가시 성능 포화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42976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297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데이터 증가에 따라 지속 향상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7548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적합한 데이터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47548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정형 데이터 (테이블)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7548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비정형 (이미지, 텍스트, 음성)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2120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대표 알고리즘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52120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5212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SVM, RF, XGBoost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52120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5212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CNN, RNN, Transformer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언제 무엇을 사용할 것인가? (Domingos, 2012)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정형 데이터 + 소~중규모 → XGBoost, LightGBM, RF  |  비정형 (이미지, 텍스트) → CNN, Transformer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해석 가능성 중요 (의료, 금융) → 전통 ML or XAI  |  데이터 매우 적을 때 → 전통 ML + 도메인 지식 피처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편향-분산 트레이드오프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Bias-Variance Tradeoff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편향(Bias)과 분산(Variance) 개념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편향 (Bias)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모델의 예측값과 실제 정답 사이의 체계적인 오차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모델이 학습 데이터의 패턴을 얼마나 잘 포착하는지 측정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높은 편향 → 모델이 너무 단순 → 과소적합 (Underfitting)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낮은 편향 → 데이터 패턴을 잘 포착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  <a:latin typeface="맑은 고딕"/>
              </a:defRPr>
            </a:pPr>
            <a:r>
              <a:t>분산 (Variance)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서로 다른 학습 데이터셋에서 예측값이 얼마나 변하는지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모델의 예측 안정성을 측정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높은 분산 → 학습 데이터에 민감 → 과적합 (Overfitting)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낮은 분산 → 데이터가 바뀌어도 안정적 예측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직관적 비유: 과녁 맞추기 (과녁 중심 = 실제 정답)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낮은 편향</a:t>
            </a:r>
            <a:br/>
            <a:r>
              <a:t>낮은 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이상적 (Best)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높은 편향</a:t>
            </a:r>
            <a:br/>
            <a:r>
              <a:t>낮은 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과소적합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낮은 편향</a:t>
            </a:r>
            <a:br/>
            <a:r>
              <a:t>높은 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과적합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높은 편향</a:t>
            </a:r>
            <a:br/>
            <a:r>
              <a:t>높은 분산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99"/>
                </a:solidFill>
                <a:latin typeface="맑은 고딕"/>
              </a:defRPr>
            </a:pPr>
            <a:r>
              <a:t>최악 (Worst)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편향-분산 분해: 수식 유도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Problem Setup &amp; Derivation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1단계: 데이터 생성 모델 가정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y = f(x) + e,    e ~ N(0, s²)</a:t>
            </a:r>
            <a:br/>
            <a:r>
              <a:t>여기서 f(x)는 실제 함수 (ground truth), e은 줄일 수 없는 노이즈 (irreducible error)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2단계: 기대 예측 오류 (Expected Prediction Error)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학습 데이터셋 D로 학습한 모델의 예측: f_hat_D(x)</a:t>
            </a:r>
            <a:br/>
            <a:r>
              <a:t>EPE(x) = E_D[(y - f_hat_D(x))²]  =  E_D[(f(x) + e - f_hat_D(x))²]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3단계: 평균 예측 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f_bar(x) = E_D[f_hat_D(x)]  ← 여러 데이터셋에 대한 모델 예측의 기대값 (평균 예측)</a:t>
            </a:r>
            <a:br/>
            <a:br/>
            <a:r>
              <a:t>f_hat_D(x)를 다음과 같이 분해:</a:t>
            </a:r>
            <a:br/>
            <a:r>
              <a:t>f_hat_D(x) = f_bar(x) + (f_hat_D(x) - f_bar(x))</a:t>
            </a:r>
            <a:br/>
            <a:r>
              <a:t>              ↑ 평균 예측    ↑ 평균으로부터의 편차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편향-분산 분해: 수식 유도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Final Decomposition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4단계: 전개 및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EPE(x) = E[(f(x) + e - f_hat(x))²]</a:t>
            </a:r>
            <a:br/>
            <a:r>
              <a:t>       = E[(f(x) - f_bar(x))² + (f_hat(x) - f_bar(x))² + e² + 교차항들]</a:t>
            </a:r>
            <a:br/>
            <a:r>
              <a:t>교차항들은 e과 f_hat이 독립이고, E[e]=0 이므로 모두 0이 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15153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맑은 고딕"/>
              </a:defRPr>
            </a:pPr>
            <a:r>
              <a:t>EPE = Bias² + Variance + s²  (Irreducible Error)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총 오차 = 모델 가정에 의한 체계적 오차 + 데이터 변동에 의한 불안정성 + 데이터 자체 노이즈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30352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530352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수식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53035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53035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줄이는 방법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Bias²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576072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(f(x) - f_bar(x))²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57607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모델 가정에 의한 체계적 오차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57607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모델 복잡도 증가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21792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217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Variance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6217920"/>
            <a:ext cx="25603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6217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E[(f_hat - f_bar)²]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62179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데이터 변동에 의한 예측 불안정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62179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모델 복잡도 감소, 앙상블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67512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675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s² (비가약)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667512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6675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s²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66751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6675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데이터 자체 노이즈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66751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6675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줄일 수 없음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편향-분산 트레이드오프 그래프 &amp; 모델별 특성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그래프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X축: 모델 복잡도 (다항식 차수, 트리 깊이, 층 수)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Y축: 오류 (Error)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모델 복잡도 증가하면: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편향(Bias)은 감소 (복잡한 패턴 포착 가능)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분산(Variance)은 증가 (데이터에 민감해짐)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최적의 모델 복잡도: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Bias² + Variance의 합이 최소인 지점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이 지점에서 일반화 성능이 최대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왼쪽(저복잡도) = 과소적합 영역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오른쪽(고복잡도) = 과적합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모델별 편향-분산 특성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468880"/>
            <a:ext cx="15544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468880"/>
            <a:ext cx="7315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편향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46888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2468880"/>
            <a:ext cx="14630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특징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155448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9260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선형 회귀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926080"/>
            <a:ext cx="7315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92608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926080"/>
            <a:ext cx="914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92608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926080"/>
            <a:ext cx="146304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92608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단순, 안정적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364992"/>
            <a:ext cx="155448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364992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KNN (K 큼)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364992"/>
            <a:ext cx="7315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364992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3364992"/>
            <a:ext cx="914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3649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3364992"/>
            <a:ext cx="146304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33649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과도한 평활화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803904"/>
            <a:ext cx="155448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80390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KNN (K 작음)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3803904"/>
            <a:ext cx="7315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3803904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3803904"/>
            <a:ext cx="914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3803904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3803904"/>
            <a:ext cx="146304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380390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노이즈 민감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242816"/>
            <a:ext cx="155448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24281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결정트리 (깊음)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4242816"/>
            <a:ext cx="7315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424281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4242816"/>
            <a:ext cx="914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4242816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4242816"/>
            <a:ext cx="146304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424281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과적합 경향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681728"/>
            <a:ext cx="155448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46817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랜덤 포레스트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4681728"/>
            <a:ext cx="7315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0" y="468172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4681728"/>
            <a:ext cx="914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4681728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적절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4681728"/>
            <a:ext cx="146304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468172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앙상블→분산↓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120640"/>
            <a:ext cx="155448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512064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부스팅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5120640"/>
            <a:ext cx="7315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512064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5120640"/>
            <a:ext cx="914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0" y="512064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적절~높음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5120640"/>
            <a:ext cx="146304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512064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편향 감소 강점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557784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5623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ESL (Hastie et al., 2009) Ch2:</a:t>
            </a:r>
            <a:br/>
            <a:r>
              <a:t>최소제곱법(높은 편향, 낮은 분산) vs k-NN(낮은 편향, 높은 분산) 비교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No Free Lunch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Wolpert &amp; Macready (1997)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No Free Lunch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핵심 내용과 수학적 정의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핵심 주장 (Wolpert &amp; Macready, 1997)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모든 가능한 문제(목적 함수)에 대해 평균을 내면, 어떤 두 최적화(또는 학습) 알고리즘이든 동일한 성능을 보인다.</a:t>
            </a:r>
            <a:br/>
            <a:r>
              <a:t>→ "최고의 알고리즘"은 존재하지 않는다. 항상 문제에 맞는 알고리즘을 선택해야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수학적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X: 후보 해(candidate solution)의 집합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Y: 비용 값(cost value)의 집합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f: X → Y: 목적 함수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a: 최적화 알고리즘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5303520" cy="73152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977639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Sf P(d_m^y | f, m, a1) = Sf P(d_m^y | f, m, a2)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709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모든 함수 f에 대해 합산하면, 모든 알고리즘 쌍</a:t>
            </a:r>
            <a:br/>
            <a:r>
              <a:t>(a1, a2)에 대해 위 등식이 성립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a1이 특정 문제에서 a2보다 우수하면, 반드시 다른 문제에서는 a2가 a1보다 우수  |  무작위 탐색도 평균적으로 정교한 알고리즘과 동일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NFL 정리: 핵심 가정과 실무적 시사점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핵심 가정과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가정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의미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2860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현실적 해석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모든 함수에 균일 분포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43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가능한 모든 f를 동등 고려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7432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현실 문제는 특정 구조를 가짐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이전 평가 재방문 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004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같은 점을 두 번 평가 안함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2004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대부분 알고리즘이 만족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비용 함수가 결정적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6576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f가 deterministic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6576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확률적 문제는 별도 분석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4048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주의: NFL은 "모든 알고리즘이 동등하다"로 오해되지만, 현실 문제는 구조(structure)를 가지고 있어 특정 알고리즘이 유리!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실무적 시사점 5가지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"최고의 알고리즘"은 없다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항상 문제에 맞는 알고리즘 선택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78892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사전 지식의 활용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문제 구조(귀납적 편향)가 핵심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2064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다양한 알고리즘 시도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하나에 의존하지 말고 비교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6092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5236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벤치마크의 한계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특정 성능 ≠ 모든 문제 우수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264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78408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9556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6CFF"/>
                </a:solidFill>
                <a:latin typeface="맑은 고딕"/>
              </a:defRPr>
            </a:pPr>
            <a:r>
              <a:t>AutoML의 근거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자동 알고리즘 선택/튜닝 당위성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모델 평가: 교차검증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Cross-Validation Strategies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왜 데이터를 나누는가? &amp; Hold-Out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일반화 성능 (Generalization Performance) 평가의 핵심 원칙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학습에 사용한 데이터와 평가에 사용하는 데이터를 반드시 분리해야 한다.</a:t>
            </a:r>
            <a:br/>
            <a:r>
              <a:t>학습 데이터로 평가하면 과적합 여부를 알 수 없다 → 낙관적 편향 (Optimistic Bias) 발생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110642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Hold-Out (단순 분할)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가장 단순한 방법: 데이터를 한 번만 학습/테스트로 분할 (예: 80:20)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• 계산 비용이 가장 낮음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• 구현이 간단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• 분할에 따라 결과가 크게 달라짐 (높은 분산)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• 데이터를 비효율적으로 사용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사용 시기: 데이터가 매우 많을 때, 빠른 프로토타이핑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Hold-Out 분할 예시: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480560"/>
            <a:ext cx="36576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학습 데이터 (80%)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4480560"/>
            <a:ext cx="914400" cy="3657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4480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다른 분할 → 다른 결과: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486400"/>
            <a:ext cx="2743200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5486400"/>
            <a:ext cx="1828800" cy="2743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5852160"/>
            <a:ext cx="4114800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0" y="5852160"/>
            <a:ext cx="457200" cy="2743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K-Fold &amp; Stratified K-Fold 교차검증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K-Fold 교차검증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데이터를 K개 폴드로 나눠 K번 평가</a:t>
            </a:r>
            <a:br/>
            <a:r>
              <a:t>최종 성능 = (성능1+성능2+...+성능K) /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Fold 1: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291840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478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Fold 2: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0" y="3547872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039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Fold 3: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803904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599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Fold 4: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60" y="4059936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15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Fold 5: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2336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4880" y="4315968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754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장점: 모든 데이터를 학습/평가에 활용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단점: 클래스 불균형시 폴드별 비율 다를 수 있음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K=5 또는 K=10이 표준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Stratified K-Fold 교차검증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K-Fold + 각 폴드에서 클래스 비율을 원본과 동일하게 유지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200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장점: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클래스 불균형 데이터에서 안정적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가장 널리 권장되는 CV 전략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sklearn의 기본 CV 전략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단점: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회귀 문제에 직접 적용 불가 (연속값)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사용 시기: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분류 문제, 특히 클래스 불균형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일반적으로 가장 추천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Leave-One-Out &amp; 전략 비교표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Leave-One-Out (LOO)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 번에 1개만 테스트 (K=N, 극단적 K-Fold)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편향이 가장 낮음 (거의 전체 데이터로 학습)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계산 비용 매우 높음 (N번 학습), 분산 높을 수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사용: 데이터가 매우 적을 때 (N &lt; 50)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K값에 따른 편향-분산 트레이드오프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 작음 (K=2): 학습데이터 50% → 높은 편향, 낮은 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 큼 (K=N, LOO): 거의 전체 학습 → 낮은 편향, 높은 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실무적 최적점: K = 5 ~ 10 가장 일반적 권장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네 가지 전략 비교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전략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457200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학습 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4572000"/>
            <a:ext cx="1188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572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평가 횟수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572000"/>
            <a:ext cx="1188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572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편향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572000"/>
            <a:ext cx="1188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572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분산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457200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계산 비용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Hold-Out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502920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502920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502920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502920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502920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매우 낮음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4068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5-Fold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544068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5440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80%(반복)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544068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5회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544068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44068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544068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5440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5216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852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10-Fold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585216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0" y="5852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90%(반복)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585216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60" y="5852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10회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585216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5852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585216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5852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중간~높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585216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0" y="5852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중간~높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26364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263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LOO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94560" y="626364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94560" y="6263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(N-1)/N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66160" y="626364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66160" y="6263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0" y="626364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0" y="6263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최저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626364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0" y="6263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0" y="626364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0" y="6263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매우 높음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 크기별 권장 전략 &amp; 평가 지표 개요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대용량 (&gt;10,000)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Hold-Out 또는 3-Fold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충분한 데이터로 계산 효율성 우선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중간 (100~10,000)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Stratified 5 or 10-Fold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안정적 추정 + 적절한 비용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소용량 (&lt;100)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LOO or Repeated K-Fold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모든 데이터를 최대한 활용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주요 평가 지표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회귀 평가 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RMSE = sqrt(mean((y_pred - y_true)²)) → 큰 오차에 민감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MAE = mean(|y_pred - y_true|) → 이상치에 강건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R² = 1 - SS_res/SS_tot → 설명력 (1에 가까울수록 좋음)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RMSE vs MAE: 이상치 많으면 MAE 선호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R² &lt; 0 가능 (평균보다 못한 모델)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분류 평가 지표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Accuracy = (TP+TN)/(TP+TN+FP+FN) → 불균형 주의!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Precision = TP/(TP+FP) → 양성 예측의 정확도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Recall = TP/(TP+FN) → 실제 양성 탐지율 (의료 핵심)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F1 = 2*(Prec*Rec)/(Prec+Rec) → 조화 평균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AUC-ROC = ROC 곡선 아래 면적 (0~1)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1.0=완벽, 0.5=랜덤 → 임계값 독립 종합 지표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ML 파이프라인과 데이터 품질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Machine Learning Pipeline &amp; Data Quality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머신러닝 파이프라인 8단계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End-to-End ML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문제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t>회귀/분류 결정</a:t>
            </a:r>
            <a:br/>
            <a:r>
              <a:t>성공 기준 설정</a:t>
            </a:r>
            <a:br/>
            <a:r>
              <a:t>비즈니스→ML 변환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3736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데이터 수집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t>DB, API, 크롤링</a:t>
            </a:r>
            <a:br/>
            <a:r>
              <a:t>공개 데이터셋</a:t>
            </a:r>
            <a:br/>
            <a:r>
              <a:t>데이터 확보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데이터</a:t>
            </a:r>
            <a:br/>
            <a:r>
              <a:t>전처리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t>결측치, 이상치</a:t>
            </a:r>
            <a:br/>
            <a:r>
              <a:t>인코딩, 스케일링</a:t>
            </a:r>
            <a:br/>
            <a:r>
              <a:t>원시→모델용 가공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4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2064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EDA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t>분포, 상관관계</a:t>
            </a:r>
            <a:br/>
            <a:r>
              <a:t>시각화</a:t>
            </a:r>
            <a:br/>
            <a:r>
              <a:t>데이터 특성 파악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8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모델링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t>알고리즘 선택</a:t>
            </a:r>
            <a:br/>
            <a:r>
              <a:t>학습</a:t>
            </a:r>
            <a:br/>
            <a:r>
              <a:t>여러 모델 비교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8952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t>교차검증</a:t>
            </a:r>
            <a:br/>
            <a:r>
              <a:t>테스트셋 평가</a:t>
            </a:r>
            <a:br/>
            <a:r>
              <a:t>일반화 성능 측정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5256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0976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HP 튜닝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t>Grid/Random</a:t>
            </a:r>
            <a:br/>
            <a:r>
              <a:t>Bayesian Search</a:t>
            </a:r>
            <a:br/>
            <a:r>
              <a:t>최적 파라미터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1560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97280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배포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t>REST API</a:t>
            </a:r>
            <a:br/>
            <a:r>
              <a:t>모니터링</a:t>
            </a:r>
            <a:br/>
            <a:r>
              <a:t>재학습 파이프라인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66344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"Garbage In, Garbage Out" - 데이터 품질의 중요성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2120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전처리 단계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52120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521208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566928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결측치 처리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566928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1752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누락된 데이터 처리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5669280"/>
            <a:ext cx="5029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삭제, 평균/중앙값 대체, 보간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603504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이상치 처리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603504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1752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비정상적 극단값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6035040"/>
            <a:ext cx="5029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6072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IQR, Z-score 기반 탐지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640080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인코딩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17520" y="640080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17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범주형→수치 변환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60720" y="6400800"/>
            <a:ext cx="5029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6072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원핫 인코딩, 레이블 인코딩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" y="676656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6766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스케일링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676656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17520" y="6766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변수 크기/범위 통일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60720" y="6766560"/>
            <a:ext cx="5029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0720" y="6766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StandardScaler, MinMaxScaler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피처 엔지니어링 &amp; 데이터 누출 방지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Domingos 교훈 7: Feature Engineering Is the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알고리즘 선택보다 피처 설계가 더 큰 영향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도메인 지식 기반 피처 구성이 핵심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주택 가격 예측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단순: 면적, 방 수, 위치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엔지니어링: 방당 면적, 지하철역 거리, 학군 등급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Data Leakage (데이터 누출) 방지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학습 중 테스트 데이터 정보가 모델에 유입되는 현상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→ 과도하게 낙관적인 성능 추정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방지 원칙: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1. 스케일링: 학습셋 fit_transform, 테스트셋 transform만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2. 교차검증 루프 안에서 전처리 (Pipeline 활용)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3. 시계열: 미래 데이터를 학습에 사용하지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과소적합 (Underfitting)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학습/테스트 모두 낮은 성능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모델이 너무 단순, 높은 편향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해결: 복잡한 모델, 학습 시간 증가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피처 엔지니어링, 정규화 줄이기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38912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최적 모델 (Good Fit)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8463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학습/테스트 모두 높은 성능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Bias² + Variance 최소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일반화 성능 최대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교차검증으로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38912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과적합 (Overfitting)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463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학습 높음, 테스트 낮음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모델 너무 복잡, 높은 분산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해결: 더 많은 데이터, 정규화(L1/L2)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    드롭아웃, 조기 종료, 특성 선택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핵심 논문 리뷰 5편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Key Paper Reviews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Domingos (2012): 12가지 핵심 교훈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A Few Useful Things to Know About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Pedro Domingos | Communications of the ACM, Vol. 55, No. 10, pp. 78-87 | ML 실무 12가지 교훈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Representation + Evaluation</a:t>
            </a:r>
            <a:br/>
            <a:r>
              <a:t>+ 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모든 학습 알고리즘의</a:t>
            </a:r>
            <a:br/>
            <a:r>
              <a:t>세 구성 요소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651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27432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788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It's Generalization</a:t>
            </a:r>
            <a:br/>
            <a:r>
              <a:t>That 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56616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03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일반화 성능이</a:t>
            </a:r>
            <a:br/>
            <a:r>
              <a:t>핵심 목표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651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27432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Data Alone Is</a:t>
            </a:r>
            <a:br/>
            <a:r>
              <a:t>Not Enough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5661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703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사전 가정(귀납적 편향)이</a:t>
            </a:r>
            <a:br/>
            <a:r>
              <a:t>반드시 필요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54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8463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892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Overfitting Has</a:t>
            </a:r>
            <a:br/>
            <a:r>
              <a:t>Many Faces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6692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06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과적합은 다양한</a:t>
            </a:r>
            <a:br/>
            <a:r>
              <a:t>형태로 나타남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4754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43400" y="48463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4892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Intuition Fails in</a:t>
            </a:r>
            <a:br/>
            <a:r>
              <a:t>High Dimensions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5669280"/>
            <a:ext cx="27432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5806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고차원에서는 직관이</a:t>
            </a:r>
            <a:br/>
            <a:r>
              <a:t>작동하지 않음 (차원의 저주)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754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8160" y="48463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892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Theoretical Guarantees</a:t>
            </a:r>
            <a:br/>
            <a:r>
              <a:t>Are Not What They Seem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5669280"/>
            <a:ext cx="27432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5806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이론적 보장은</a:t>
            </a:r>
            <a:br/>
            <a:r>
              <a:t>실제와 다를 수 있음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Domingos (2012): 12가지 핵심 교훈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Feature Engineering</a:t>
            </a:r>
            <a:br/>
            <a:r>
              <a:t>Is the 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27432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피처 설계가</a:t>
            </a:r>
            <a:br/>
            <a:r>
              <a:t>알고리즘 선택보다 중요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148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More Data Beats a</a:t>
            </a:r>
            <a:br/>
            <a:r>
              <a:t>Cleverer Algorithm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926080"/>
            <a:ext cx="27432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데이터 양이</a:t>
            </a:r>
            <a:br/>
            <a:r>
              <a:t>알고리즘 정교함보다 중요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48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Learn Many Models,</a:t>
            </a:r>
            <a:br/>
            <a:r>
              <a:t>Not Just 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926080"/>
            <a:ext cx="27432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앙상블이</a:t>
            </a:r>
            <a:br/>
            <a:r>
              <a:t>단일 모델보다 우수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51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Simplicity Does Not</a:t>
            </a:r>
            <a:br/>
            <a:r>
              <a:t>Imply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29200"/>
            <a:ext cx="27432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단순한 모델이 반드시</a:t>
            </a:r>
            <a:br/>
            <a:r>
              <a:t>더 정확하지는 않음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400" y="4206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251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Representable Does Not</a:t>
            </a:r>
            <a:br/>
            <a:r>
              <a:t>Imply Learnable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029200"/>
            <a:ext cx="27432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표현 가능 ≠ 학습 가능</a:t>
            </a:r>
            <a:br/>
            <a:r>
              <a:t>(학습 난이도는 별개)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38160" y="4206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251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Correlation Does Not</a:t>
            </a:r>
            <a:br/>
            <a:r>
              <a:t>Imply Causation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5029200"/>
            <a:ext cx="27432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상관관계 ≠ 인과관계</a:t>
            </a:r>
            <a:br/>
            <a:r>
              <a:t>(해석 주의)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621792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2453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실무 핵심: 일반화가 목표 | 피처 설계가 핵심 | 많은 데이터 &gt; 정교한 알고리즘 | 앙상블 활용 | 상관≠인과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논문 리뷰: Mitchell, Wolpert, Vapnik, ESL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Mitchell (1997)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Machine Learning (교재)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ML의 형식적 정의 (T-P-E) 정립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개념 학습: 가설 공간 H, 버전 스페이스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귀납적 편향(Inductive Bias):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모든 학습 알고리즘은 일반화를 위해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사전 가정이 필요 → NFL과 직결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Wolpert &amp; Macready (1997)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NFL Theorems for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보편적 최적 알고리즘 불가능성 증명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모든 함수에 평균하면 모든 알고리즘 동일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"이 특정 문제에 어떤 알고리즘이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가장 적합한가?"가 올바른 질문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Vapnik (1995)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Statistical Learning 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경험적 위험: R_emp = (1/n)SUM L(f(xi),yi)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실제 위험: R(f) = INT L(f(x),y) dP(x,y)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VC 차원: shatter 가능한 최대 점 수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SRM: R(f) &lt;= R_emp + Phi(VCdim, n)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핵심: 유한 데이터 → 일반화 조건?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Hastie et al. (2009)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00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ESL Ch1-2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EPE(f) = E[(Y-f(X))²]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최적 예측기: f*(x) = E[Y|X=x]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Bias-Variance Decomposition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최소제곱법(높편향,낮분산) vs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k-NN(낮편향,높분산) 대비 설명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 1: 편향-분산 트레이드오프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01_bias_variance_tradeoff.py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1: 편향-분산 트레이드오프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01_bias_variance_tradeoff.py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실습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다양한 복잡도의 다항 회귀 모델로 편향², 분산, 총 오류 시각화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과소적합/과적합 영역을 직관적으로 확인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편향-분산 분해 공식을 실험적으로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실험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 함수: f(x) = sin(1.5*pi*x)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노이즈: e ~ N(0, 0.3²), 200개 데이터셋 반복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다항식 차수 1~15로 모델 복잡도 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핵심 코드 1: 실제 함수 &amp; 데이터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true_function(x):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np.sin(1.5 * np.pi * 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generate_data(n_samples=30, noise_std=0.3):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X = np.sort(np.random.uniform(0, 1, n_samples))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 = true_function(X) + \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np.random.normal(0, noise_std, n_samples)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X, 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y = f(x) + epsilon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epsilon ~ N(0, sigma^2)  &lt;- 비가약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핵심 코드 2: 다항 회귀 모델 학습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sklearn.pipeline import make_pipeline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sklearn.preprocessing import PolynomialFeatures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make_pipeline(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PolynomialFeatures(degree, include_bias=True),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LinearRegression()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model.fit(X_train.reshape(-1, 1),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predictions[i] = model.predict(X_test.reshape(-1,1))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1: 편향-분산 계산 핵심 로직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compute_bias_variance(degrees, n_datasets=200, n_samples=30, noise_std=0.3):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X_test = np.linspace(0, 1, 100)   # 고정된 테스트 포인트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y_true = true_function(X_test)      # 실제 함수값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noise_var = noise_std ** 2          # 비가약 오류 = 0.09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degree in degrees: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predictions = np.zeros((n_datasets, 100))  # 200개 데이터셋 x 100 테스트점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for i in range(n_datasets):            # 200번 반복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X_train, y_train = generate_data()  # 매번 새 데이터셋 생성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model = make_pipeline(PolynomialFeatures(degree), LinearRegression())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model.fit(X_train.reshape(-1,1),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predictions[i,:] = model.predict(X_test.reshape(-1,1))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# ============ 핵심: 편향-분산 분해 계산 ============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mean_pred = predictions.mean(axis=0)            # f_bar(x) = E[f_hat(x)]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bias_sq = np.mean((mean_pred - y_true) ** 2)    # Bias² = (f(x) - f_bar(x))²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var = np.mean(predictions.var(axis=0))           # Var = E[(f_hat - f_bar)²]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total = bias_sq + var + noise_var                # Total = Bias² + Var + sigma²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핵심: 200개 데이터셋으로 반복 학습 → 예측의 평균(편향)과 변동(분산)을 실험적으로 계산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 2: NFL 정리 데모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02_no_free_lunch_demo.py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2: NFL 정리 데모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02_no_free_lunch_demo.py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실습 목표: 4가지 데이터 구조에 5가지 알고리즘 적용 → 단일 최상 알고리즘 없음을 실험적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Stratified 5-Fold 교차검증으로 공정한 비교 수행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4가지 데이터셋: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선형 분리 (Linear)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선형 결정 경계</a:t>
            </a:r>
            <a:br/>
            <a:r>
              <a:t>→ 선형 모델에 유리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원형 (Circles)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동심원 구조</a:t>
            </a:r>
            <a:br/>
            <a:r>
              <a:t>→ RBF SVM에 유리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XOR 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XOR 논리 연산</a:t>
            </a:r>
            <a:br/>
            <a:r>
              <a:t>→ 결정 트리에 유리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반달 (Moons)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반달 형태</a:t>
            </a:r>
            <a:br/>
            <a:r>
              <a:t>→ k-NN에 유리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5가지 알고리즘 (각기 다른 귀납적 편향):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924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LogisticRegression()     # 선형 결정 경계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KNeighborsClassifier(5)  # 국소적 유사성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SVC(kernel='rbf')        # 마진 최대화 + 비선형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DecisionTreeClassifier() # 축 정렬 분할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RandomForestClassifier() # 앙상블 + 분할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34924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486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공정한 비교: Stratified 5-Fold CV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cv = StratifiedKFold(n_splits=5, shuffle=True)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scores = cross_val_score(clf, X_scaled, y,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    cv=cv, scoring='accuracy')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핵심 결론: 모든 데이터셋 1위인 알고리즘 없음!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 3: 교차검증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03_cross_validation_demo.py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3: 교차검증 전략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03_cross_validation_demo.py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실습 목표: Hold-Out, K-Fold, Stratified K-Fold, LOO 비교 | 50회 반복으로 성능 추정 분산 측정 | K값 트레이드오프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데이터: make_classification(150샘플) + Iris 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핵심 코드 1: 성능 추정 분산 비교 (50회 반복)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n_repeats = 50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Hold-Out: 분할마다 결과가 다름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for i in range(n_repeats):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X_tr, X_te, y_tr, y_te = train_test_split(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X, y, test_size=0.2, random_state=i)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model.fit(X_tr, y_tr)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holdout_scores.append(model.score(X_te, y_te))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Stratified K-Fold: 가장 안정적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for i in range(n_repeats):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cv = StratifiedKFold(n_splits=5, shuffle=True,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         random_state=i)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scores = cross_val_score(model, X, y, cv=cv)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skfold_scores.append(scores.mean())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핵심 코드 2: K값에 따른 트레이드오프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k_values = [2, 3, 5, 7, 10, 15, 20, 50, 100]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for k in k_values: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repeat_means = []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for i in range(30):  # 30회 반복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cv = KFold(n_splits=k, shuffle=True,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   random_state=i)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scores = cross_val_score(model, X, y, cv=cv)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repeat_means.append(scores.mean())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means.append(np.mean(repeat_means))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stds.append(np.std(repeat_means))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핵심 관찰: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K 작음 → 높은 편향, 낮은 분산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# K 큼   → 낮은 편향, 높은 분산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309360"/>
            <a:ext cx="1106424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336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핵심 결론: Hold-Out 분산 가장 큼 | Stratified K-Fold 가장 안정적 | K=5~10 실무 권장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응용사례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Healthcare, Finance, Manufacturing, NLP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응용사례 심화: 의료 &amp; 금융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의료 (Healthcare) - 유방암 진단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데이터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Wisconsin Breast Cancer (569샘플, 30특성)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클래스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악성 37.3% / 양성 62.7%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핵심 지표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재현율(Recall) - 암 환자 놓치지 않기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성능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로지스틱 회귀만으로 정확도 97~98%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의료 AI 핵심 고려사항: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FN(위음성) 최소화가 생명과 직결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정확도보다 재현율과 F1-Score 중시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모델 해석 가능성 필수 (의사 이해 필요)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규제 요건 충족 (FDA 승인 등)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금융 (Finance) - 사기 탐지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문제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극심한 클래스 불균형 (사기 &lt; 1%)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핵심 과제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FP 최소화 + 실제 사기 Recall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주요 기법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Isolation Forest, SMOTE, 앙상블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특이점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실시간 처리 + 패턴 지속 변화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금융 ML 핵심 고려사항: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시계열: Time Series Split, 미래 데이터 누출 방지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클래스 불균형: SMOTE, Cost-sensitive Learning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해석 가능성: 규제 당국 모델 설명 필요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실시간 추론 성능 요구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응용사례 심화: 제조 &amp; NLP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제조 (Manufacturing) - 예측 정비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문제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장비 고장 시점/여부 예측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데이터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IoT 센서 (진동, 온도, 압력, 소음)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기법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RF, LSTM, Survival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효과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비계획 정지 30~50% 감소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제조 ML 핵심: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센서 데이터의 시계열 특성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고장 데이터가 매우 희소 (불균형)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Edge Computing으로 실시간 추론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도메인 전문가(공정 엔지니어) 협업 필수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NLP - 감성 분석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문제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텍스트 분류 (긍정/부정/중립)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데이터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리뷰, 소셜 미디어, 뉴스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전통 접근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TF-IDF + SVM/로지스틱 회귀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현대 접근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BERT, GPT Fine-tuning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NLP ML 핵심: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전처리: 토큰화, 불용어 제거, 정규화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피처: BoW, TF-IDF, Word2Vec, BERT Embedding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전이 학습: 사전학습 모델 Fine-tuning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• 한국어 형태소 분석의 특수성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핵심 요약 &amp; 복습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Summary &amp; Review Questions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(Key Takeaways)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FF"/>
                </a:solidFill>
                <a:latin typeface="맑은 고딕"/>
              </a:defRPr>
            </a:pPr>
            <a:r>
              <a:t>ML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1828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데이터에서 패턴 자동 학습</a:t>
            </a:r>
            <a:br/>
            <a:r>
              <a:t>Mitchell T-P-E 프레임워크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학습 유형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5603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지도(분류/회귀) · 비지도 · 강화</a:t>
            </a:r>
            <a:br/>
            <a:r>
              <a:t>AI ⊃ ML ⊃ DL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t>편향-분산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6032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EPE = Bias² + Var + σ²</a:t>
            </a:r>
            <a:br/>
            <a:r>
              <a:t>모델 복잡도 최적 균형점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NFL 정리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8288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보편적 최상 알고리즘 없음</a:t>
            </a:r>
            <a:br/>
            <a:r>
              <a:t>문제에 맞는 선택이 핵심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545"/>
                </a:solidFill>
                <a:latin typeface="맑은 고딕"/>
              </a:defRPr>
            </a:pPr>
            <a:r>
              <a:t>교차검증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84632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Stratified K-Fold (K=5~10)</a:t>
            </a:r>
            <a:br/>
            <a:r>
              <a:t>데이터 크기에 따라 선택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FF"/>
                </a:solidFill>
                <a:latin typeface="맑은 고딕"/>
              </a:defRPr>
            </a:pPr>
            <a:r>
              <a:t>ML 파이프라인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84632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문제정의→수집→전처리→EDA</a:t>
            </a:r>
            <a:br/>
            <a:r>
              <a:t>→모델링→평가→튜닝→배포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수식 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편향-분산 분해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574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EPE = Bias² + Variance + σ²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0574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총 오차의 세 가지 원천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편향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Bias(x) = f(x) - E[f_hat(x)]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83464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모델 가정에 의한 체계적 오차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118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Var(x) = E[(f_hat(x) - E[f_hat(x)])²]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118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데이터 변동에 의한 예측 불안정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NFL 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Sf P(d|f,m,a1) = Sf P(d|f,m,a2)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3891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모든 알고리즘의 평균 성능 동일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구조적 위험 최소화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663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R(f) &lt;= R_emp(f) + Phi(VCdim, 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1663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일반화 오류 상한 (Vapnik)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978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최적 예측기 (회귀)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9436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f*(x) = E[Y|X=x]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9436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MSE를 최소화하는 예측 (ESL)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73152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Q1. Mitchell의 T-P-E 정의를 스팸 필터에 적용하여 설명하시오.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Q2. 지도/비지도/강화학습을 데이터, 목표, 피드백 관점에서 비교하시오.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40"/>
            <a:ext cx="73152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Q3. 편향-분산 분해 공식의 각 항을 설명하고</a:t>
            </a:r>
            <a:br/>
            <a:r>
              <a:t>      모델 복잡도와의 관계를 서술하시오.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92040"/>
            <a:ext cx="73152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Q4. NFL 정리의 핵심과 실무적 시사점 3가지를 서술하시오.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806440"/>
            <a:ext cx="73152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Q5. Hold-Out, K-Fold, Stratified K-Fold, LOO의</a:t>
            </a:r>
            <a:br/>
            <a:r>
              <a:t>      장단점을 비교하시오.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73152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Q6. 과적합과 과소적합의 원인과 해결방법을 각 3가지 이상 서술하시오.</a:t>
            </a:r>
            <a:br/>
            <a:r>
              <a:t>      Domingos의 "Overfitting Has Many Faces"와 연결하여 설명하시오.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73152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Q7. VC 차원이란 무엇이며, 2차원 선형 분류기의</a:t>
            </a:r>
            <a:br/>
            <a:r>
              <a:t>      VC 차원이 3인 이유를 설명하시오.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4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Q8. ML 파이프라인 8단계와 Data Leakage 방지 원칙을 설명하시오.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92040"/>
            <a:ext cx="73152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Q9. ESL의 최소제곱법 vs k-NN 비교를 통한</a:t>
            </a:r>
            <a:br/>
            <a:r>
              <a:t>      편향-분산 트레이드오프를 설명하시오.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806440"/>
            <a:ext cx="73152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Q10. Domingos의 "More Data Beats a Cleverer Algorithm"과</a:t>
            </a:r>
            <a:br/>
            <a:r>
              <a:t>       "Feature Engineering Is the Key"를 실무 예시와 함께 설명하시오.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1장: 머신러닝 개요 (확장 상세 버전)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다음 장: 2장 - 파이썬 기초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