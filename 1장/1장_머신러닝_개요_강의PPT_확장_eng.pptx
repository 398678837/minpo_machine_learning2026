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2FF"/>
                </a:solidFill>
                <a:latin typeface="맑은 고딕"/>
              </a:defRPr>
            </a:pPr>
            <a:r>
              <a:rPr/>
              <a:t>Machine Learning ||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91640"/>
            <a:ext cx="274320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맑은 고딕"/>
              </a:defRPr>
            </a:pPr>
            <a:r>
              <a:rPr/>
              <a:t>1장: 머신러닝 개요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17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BBBBCC"/>
                </a:solidFill>
                <a:latin typeface="맑은 고딕"/>
              </a:defRPr>
            </a:pPr>
            <a:r>
              <a:t>Introduction to Machine Learning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9319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8C00"/>
                </a:solidFill>
                <a:latin typeface="맑은 고딕"/>
              </a:defRPr>
            </a:pPr>
            <a:r>
              <a:rPr/>
              <a:t>[ 확장 상세 버전 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5720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99"/>
                </a:solidFill>
                <a:latin typeface="맑은 고딕"/>
              </a:defRPr>
            </a:pPr>
            <a:r>
              <a:rPr/>
              <a:t>핵심 키워드: ML 정의 · 학습 유형 · 편향-분산 트레이드오프 · NFL 정리 · 교차검증 · ML 파이프라인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5760720"/>
            <a:ext cx="12191695" cy="1097280"/>
          </a:xfrm>
          <a:prstGeom prst="rect">
            <a:avLst/>
          </a:prstGeom>
          <a:solidFill>
            <a:srgbClr val="0A0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943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99"/>
                </a:solidFill>
                <a:latin typeface="맑은 고딕"/>
              </a:defRPr>
            </a:pPr>
            <a:r>
              <a:rPr/>
              <a:t>2026년 1학기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rPr/>
              <a:t>Table of Contents (Contents) - 1/2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1828800"/>
            <a:ext cx="502920" cy="457200"/>
          </a:xfrm>
          <a:prstGeom prst="roundRect">
            <a:avLst>
              <a:gd name="adj" fmla="val 5000"/>
            </a:avLst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874520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18745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맑은 고딕"/>
              </a:defRPr>
            </a:pPr>
            <a:r>
              <a:rPr/>
              <a:t>What is machine learning - definition, traditional programming vs ML, examples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2468880"/>
            <a:ext cx="502920" cy="457200"/>
          </a:xfrm>
          <a:prstGeom prst="roundRect">
            <a:avLst>
              <a:gd name="adj" fmla="val 5000"/>
            </a:avLst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514600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25146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맑은 고딕"/>
              </a:defRPr>
            </a:pPr>
            <a:r>
              <a:rPr/>
              <a:t>History of machine learning - milestones, AI winter and revival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97280" y="3108960"/>
            <a:ext cx="502920" cy="457200"/>
          </a:xfrm>
          <a:prstGeom prst="roundRect">
            <a:avLst>
              <a:gd name="adj" fmla="val 5000"/>
            </a:avLst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154680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31546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맑은 고딕"/>
              </a:defRPr>
            </a:pPr>
            <a:r>
              <a:rPr/>
              <a:t>Learning types - supervised learning, unsupervised learning, reinforcement learning details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97280" y="3749040"/>
            <a:ext cx="502920" cy="457200"/>
          </a:xfrm>
          <a:prstGeom prst="roundRect">
            <a:avLst>
              <a:gd name="adj" fmla="val 5000"/>
            </a:avLst>
          </a:prstGeom>
          <a:solidFill>
            <a:srgbClr val="A0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3794760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3794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맑은 고딕"/>
              </a:defRPr>
            </a:pPr>
            <a:r>
              <a:rPr/>
              <a:t>ML vs DL vs AI - hierarchy, comparison, selection guide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97280" y="4389120"/>
            <a:ext cx="502920" cy="457200"/>
          </a:xfrm>
          <a:prstGeom prst="roundRect">
            <a:avLst>
              <a:gd name="adj" fmla="val 5000"/>
            </a:avLst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4434840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44348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맑은 고딕"/>
              </a:defRPr>
            </a:pPr>
            <a:r>
              <a:rPr/>
              <a:t>Bias-variance trade-off - concepts, formula derivation, characteristics of each model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97280" y="5029200"/>
            <a:ext cx="502920" cy="457200"/>
          </a:xfrm>
          <a:prstGeom prst="roundRect">
            <a:avLst>
              <a:gd name="adj" fmla="val 5000"/>
            </a:avLst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5074920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50749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맑은 고딕"/>
              </a:defRPr>
            </a:pPr>
            <a:r>
              <a:rPr/>
              <a:t>No Free Lunch Summary - Mathematical definitions, assumptions, implications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97280" y="5669280"/>
            <a:ext cx="502920" cy="457200"/>
          </a:xfrm>
          <a:prstGeom prst="roundRect">
            <a:avLst>
              <a:gd name="adj" fmla="val 5000"/>
            </a:avLst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97280" y="5715000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07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28800" y="57150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맑은 고딕"/>
              </a:defRPr>
            </a:pPr>
            <a:r>
              <a:rPr/>
              <a:t>Model evaluation - Comparison of Hold-Out, K-Fold, Stratified, LOO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rPr/>
              <a:t>Table of Contents (Contents) - 2/2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1828800"/>
            <a:ext cx="502920" cy="457200"/>
          </a:xfrm>
          <a:prstGeom prst="roundRect">
            <a:avLst>
              <a:gd name="adj" fmla="val 5000"/>
            </a:avLst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874520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18745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맑은 고딕"/>
              </a:defRPr>
            </a:pPr>
            <a:r>
              <a:rPr/>
              <a:t>ML Pipeline and Data Quality - 8 Steps, Feature Engineering, Data Leakage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2468880"/>
            <a:ext cx="502920" cy="457200"/>
          </a:xfrm>
          <a:prstGeom prst="roundRect">
            <a:avLst>
              <a:gd name="adj" fmla="val 5000"/>
            </a:avLst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514600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25146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맑은 고딕"/>
              </a:defRPr>
            </a:pPr>
            <a:r>
              <a:rPr/>
              <a:t>Key Paper Review Part 5 - Domingos, Mitchell, Wolpert, Vapnik, ESL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97280" y="3108960"/>
            <a:ext cx="502920" cy="457200"/>
          </a:xfrm>
          <a:prstGeom prst="roundRect">
            <a:avLst>
              <a:gd name="adj" fmla="val 5000"/>
            </a:avLst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154680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31546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맑은 고딕"/>
              </a:defRPr>
            </a:pPr>
            <a:r>
              <a:rPr/>
              <a:t>Exercise 1: Implementing the Bias-Variance Tradeoff (Detailed Code Explanation)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97280" y="3749040"/>
            <a:ext cx="502920" cy="457200"/>
          </a:xfrm>
          <a:prstGeom prst="roundRect">
            <a:avLst>
              <a:gd name="adj" fmla="val 5000"/>
            </a:avLst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3794760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11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3794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맑은 고딕"/>
              </a:defRPr>
            </a:pPr>
            <a:r>
              <a:rPr/>
              <a:t>Exercise 2: NFL Cleanup Demo (Detailed Code Explanation)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97280" y="4389120"/>
            <a:ext cx="502920" cy="457200"/>
          </a:xfrm>
          <a:prstGeom prst="roundRect">
            <a:avLst>
              <a:gd name="adj" fmla="val 5000"/>
            </a:avLst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4434840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12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44348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맑은 고딕"/>
              </a:defRPr>
            </a:pPr>
            <a:r>
              <a:rPr/>
              <a:t>Exercise 3: Cross-Validation Comparison (Code Detail) Commentary)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97280" y="5029200"/>
            <a:ext cx="502920" cy="457200"/>
          </a:xfrm>
          <a:prstGeom prst="roundRect">
            <a:avLst>
              <a:gd name="adj" fmla="val 5000"/>
            </a:avLst>
          </a:prstGeom>
          <a:solidFill>
            <a:srgbClr val="A0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5074920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13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50749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맑은 고딕"/>
              </a:defRPr>
            </a:pPr>
            <a:r>
              <a:rPr/>
              <a:t>In-depth application cases - medical, finance, manufacturing, NLP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97280" y="5669280"/>
            <a:ext cx="502920" cy="457200"/>
          </a:xfrm>
          <a:prstGeom prst="roundRect">
            <a:avLst>
              <a:gd name="adj" fmla="val 5000"/>
            </a:avLst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97280" y="5715000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14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28800" y="57150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맑은 고딕"/>
              </a:defRPr>
            </a:pPr>
            <a:r>
              <a:rPr/>
              <a:t>Key summary, formula summary, 10 review questions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rPr/>
              <a:t>Learning Objectives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01952"/>
            <a:ext cx="320040" cy="320040"/>
          </a:xfrm>
          <a:prstGeom prst="roundRect">
            <a:avLst>
              <a:gd name="adj" fmla="val 5000"/>
            </a:avLst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901952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182880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  <a:latin typeface="맑은 고딕"/>
              </a:defRPr>
            </a:pPr>
            <a:r>
              <a:rPr/>
              <a:t>Can explain the definition of machine learning (Mitchell's T-P-E) and the difference from traditional programming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468880"/>
            <a:ext cx="320040" cy="320040"/>
          </a:xfrm>
          <a:prstGeom prst="roundRect">
            <a:avLst>
              <a:gd name="adj" fmla="val 5000"/>
            </a:avLst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46888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395728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  <a:latin typeface="맑은 고딕"/>
              </a:defRPr>
            </a:pPr>
            <a:r>
              <a:rPr/>
              <a:t>Can compare the differences between supervised learning, unsupervised learning, and reinforcement learning from a data/goal/feedback perspective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035808"/>
            <a:ext cx="320040" cy="320040"/>
          </a:xfrm>
          <a:prstGeom prst="roundRect">
            <a:avLst>
              <a:gd name="adj" fmla="val 5000"/>
            </a:avLst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035808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2962656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  <a:latin typeface="맑은 고딕"/>
              </a:defRPr>
            </a:pPr>
            <a:r>
              <a:rPr/>
              <a:t>Can derive the bias-variance decomposition formula and explain the meaning of each term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602736"/>
            <a:ext cx="320040" cy="320040"/>
          </a:xfrm>
          <a:prstGeom prst="roundRect">
            <a:avLst>
              <a:gd name="adj" fmla="val 5000"/>
            </a:avLst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602736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529584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  <a:latin typeface="맑은 고딕"/>
              </a:defRPr>
            </a:pPr>
            <a:r>
              <a:rPr/>
              <a:t>Can describe the mathematical meaning and practical implications of the No Free Lunch theorem.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169664"/>
            <a:ext cx="320040" cy="320040"/>
          </a:xfrm>
          <a:prstGeom prst="roundRect">
            <a:avLst>
              <a:gd name="adj" fmla="val 5000"/>
            </a:avLst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169664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4096512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  <a:latin typeface="맑은 고딕"/>
              </a:defRPr>
            </a:pPr>
            <a:r>
              <a:rPr/>
              <a:t>Can compare 4 cross-validation strategies (Hold-Out, K-Fold, Stratified, LOO) and suggest selection criteria for each situation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736592"/>
            <a:ext cx="320040" cy="320040"/>
          </a:xfrm>
          <a:prstGeom prst="roundRect">
            <a:avLst>
              <a:gd name="adj" fmla="val 5000"/>
            </a:avLst>
          </a:prstGeom>
          <a:solidFill>
            <a:srgbClr val="A0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4736592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466344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  <a:latin typeface="맑은 고딕"/>
              </a:defRPr>
            </a:pPr>
            <a:r>
              <a:rPr/>
              <a:t>Understand the 8 stages of the ML pipeline and explain the principles of preventing data leakage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5303520"/>
            <a:ext cx="320040" cy="320040"/>
          </a:xfrm>
          <a:prstGeom prst="roundRect">
            <a:avLst>
              <a:gd name="adj" fmla="val 5000"/>
            </a:avLst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530352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80160" y="5230368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  <a:latin typeface="맑은 고딕"/>
              </a:defRPr>
            </a:pPr>
            <a:r>
              <a:rPr/>
              <a:t>Can summarize the main contributions of 5 key papers (Domingos, Mitchell, Wolpert, Vapnik, ESL)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5870448"/>
            <a:ext cx="320040" cy="320040"/>
          </a:xfrm>
          <a:prstGeom prst="roundRect">
            <a:avLst>
              <a:gd name="adj" fmla="val 5000"/>
            </a:avLst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5870448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5797296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  <a:latin typeface="맑은 고딕"/>
              </a:defRPr>
            </a:pPr>
            <a:r>
              <a:rPr/>
              <a:t>3 exercises Can understand and execute code (bias-variance, NFL, cross-validation)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508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8288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96FF"/>
                </a:solidFill>
                <a:latin typeface="맑은 고딕"/>
              </a:defRPr>
            </a:pPr>
            <a:r>
              <a:t>SECTION 01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2468880"/>
            <a:ext cx="210312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74320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맑은 고딕"/>
              </a:defRPr>
            </a:pPr>
            <a:r>
              <a:rPr/>
              <a:t>What is machine learning?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84048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88899"/>
                </a:solidFill>
                <a:latin typeface="맑은 고딕"/>
              </a:defRPr>
            </a:pPr>
            <a:r>
              <a:t>Machine Learning Definition &amp; Fundamentals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rPr/>
              <a:t>Definition of Machine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Two Foundational Definitions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5303520" cy="1828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1031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6FF"/>
                </a:solidFill>
                <a:latin typeface="맑은 고딕"/>
              </a:defRPr>
            </a:pPr>
            <a:r>
              <a:t>Arthur Samuel (1959)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56032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"Machine Learning is a field of study that gives</a:t>
            </a:r>
            <a:br/>
            <a:r>
              <a:t>computers the ability to learn without being</a:t>
            </a:r>
            <a:br/>
            <a:r>
              <a:t>explicitly programmed."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3832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99"/>
                </a:solidFill>
                <a:latin typeface="맑은 고딕"/>
              </a:defRPr>
            </a:pPr>
            <a:r>
              <a:rPr/>
              <a:t>→ A discipline that gives computers the ability to learn without explicit programming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011680"/>
            <a:ext cx="5303520" cy="1828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21031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FF"/>
                </a:solidFill>
                <a:latin typeface="맑은 고딕"/>
              </a:defRPr>
            </a:pPr>
            <a:r>
              <a:rPr/>
              <a:t>Tom Mitchell (1997) - Formal definition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56032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"A computer program is said to learn from</a:t>
            </a:r>
            <a:br/>
            <a:r>
              <a:t>experience E with respect to some class of tasks T</a:t>
            </a:r>
            <a:br/>
            <a:r>
              <a:t>and performance measure P, if its performance at</a:t>
            </a:r>
            <a:br/>
            <a:r>
              <a:t>tasks in T, as measured by P, improves with experience E."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206240"/>
            <a:ext cx="3474720" cy="24688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2976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96FF"/>
                </a:solidFill>
                <a:latin typeface="맑은 고딕"/>
              </a:defRPr>
            </a:pPr>
            <a:r>
              <a:t>T (Task)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4709160"/>
            <a:ext cx="29260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84632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rPr/>
              <a:t>What to do?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21208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rPr/>
              <a:t>What do you want to do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57784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88899"/>
                </a:solidFill>
                <a:latin typeface="맑은 고딕"/>
              </a:defRPr>
            </a:pPr>
            <a:r>
              <a:rPr/>
              <a:t>Example: Classifying emails as spam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97679" y="4206240"/>
            <a:ext cx="3474720" cy="24688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80559" y="42976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E696"/>
                </a:solidFill>
                <a:latin typeface="맑은 고딕"/>
              </a:defRPr>
            </a:pPr>
            <a:r>
              <a:t>P (Performance)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1999" y="4709160"/>
            <a:ext cx="2926080" cy="38100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80559" y="484632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rPr/>
              <a:t>How well do you do it?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59" y="521208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rPr/>
              <a:t>Performance metrics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59" y="557784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88899"/>
                </a:solidFill>
                <a:latin typeface="맑은 고딕"/>
              </a:defRPr>
            </a:pPr>
            <a:r>
              <a:rPr/>
              <a:t>Example: Percentage of emails classified correctly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46718" y="4206240"/>
            <a:ext cx="3474720" cy="24688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598" y="42976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8C00"/>
                </a:solidFill>
                <a:latin typeface="맑은 고딕"/>
              </a:defRPr>
            </a:pPr>
            <a:r>
              <a:t>E (Experience)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321038" y="4709160"/>
            <a:ext cx="2926080" cy="381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598" y="484632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rPr/>
              <a:t>What do you learn with?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598" y="521208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rPr/>
              <a:t>Used for learning Data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598" y="557784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88899"/>
                </a:solidFill>
                <a:latin typeface="맑은 고딕"/>
              </a:defRPr>
            </a:pPr>
            <a:r>
              <a:rPr/>
              <a:t>Example: User-labeled emails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rPr/>
              <a:t>Traditional Programming vs Machine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rPr/>
              <a:t>Paradigm Shift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5303520" cy="43891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0312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8C00"/>
                </a:solidFill>
                <a:latin typeface="맑은 고딕"/>
              </a:defRPr>
            </a:pPr>
            <a:r>
              <a:rPr/>
              <a:t>Traditional Programming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743200"/>
            <a:ext cx="45720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BBBBCC"/>
                </a:solidFill>
                <a:latin typeface="맑은 고딕"/>
              </a:defRPr>
            </a:pPr>
            <a:r>
              <a:rPr/>
              <a:t>Input: Data + Rules (Rules)</a:t>
            </a:r>
          </a:p>
          <a:p>
            <a:pPr>
              <a:spcAft>
                <a:spcPts val="600"/>
              </a:spcAft>
              <a:defRPr sz="1400">
                <a:solidFill>
                  <a:srgbClr val="BBBBCC"/>
                </a:solidFill>
                <a:latin typeface="맑은 고딕"/>
              </a:defRPr>
            </a:pPr>
            <a:r>
              <a:rPr/>
              <a:t>Output: Results (Answers)</a:t>
            </a:r>
          </a:p>
          <a:p>
            <a:pPr>
              <a:spcAft>
                <a:spcPts val="600"/>
              </a:spcAft>
              <a:defRPr sz="1400">
                <a:solidFill>
                  <a:srgbClr val="BBBBCC"/>
                </a:solidFill>
                <a:latin typeface="맑은 고딕"/>
              </a:defRPr>
            </a:pPr>
            <a:r>
              <a:rPr/>
              <a:t>Human coding rules manually</a:t>
            </a:r>
          </a:p>
          <a:p>
            <a:pPr>
              <a:spcAft>
                <a:spcPts val="600"/>
              </a:spcAft>
              <a:defRPr sz="14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BBBBCC"/>
                </a:solidFill>
                <a:latin typeface="맑은 고딕"/>
              </a:defRPr>
            </a:pPr>
            <a:r>
              <a:rPr/>
              <a:t>Example: if-else based spam filter</a:t>
            </a:r>
          </a:p>
          <a:p>
            <a:pPr>
              <a:spcAft>
                <a:spcPts val="600"/>
              </a:spcAft>
              <a:defRPr sz="1400">
                <a:solidFill>
                  <a:srgbClr val="BBBBCC"/>
                </a:solidFill>
                <a:latin typeface="맑은 고딕"/>
              </a:defRPr>
            </a:pPr>
            <a:r>
              <a:rPr/>
              <a:t>if "winning" in email: return "spam"</a:t>
            </a:r>
          </a:p>
          <a:p>
            <a:pPr>
              <a:spcAft>
                <a:spcPts val="600"/>
              </a:spcAft>
              <a:defRPr sz="1400">
                <a:solidFill>
                  <a:srgbClr val="BBBBCC"/>
                </a:solidFill>
                <a:latin typeface="맑은 고딕"/>
              </a:defRPr>
            </a:pPr>
            <a:r>
              <a:rPr/>
              <a:t>if "free" in email: return "spam"</a:t>
            </a:r>
          </a:p>
          <a:p>
            <a:pPr>
              <a:spcAft>
                <a:spcPts val="600"/>
              </a:spcAft>
              <a:defRPr sz="14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BBBBCC"/>
                </a:solidFill>
                <a:latin typeface="맑은 고딕"/>
              </a:defRPr>
            </a:pPr>
            <a:r>
              <a:rPr/>
              <a:t>Limitations: Difficult to respond to new patterns</a:t>
            </a:r>
          </a:p>
          <a:p>
            <a:pPr>
              <a:spcAft>
                <a:spcPts val="600"/>
              </a:spcAft>
              <a:defRPr sz="1400">
                <a:solidFill>
                  <a:srgbClr val="BBBBCC"/>
                </a:solidFill>
                <a:latin typeface="맑은 고딕"/>
              </a:defRPr>
            </a:pPr>
            <a:r>
              <a:rPr/>
              <a:t>As rules become more complex, maintenance becomes more difficult |||  → Automatically discover patterns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011680"/>
            <a:ext cx="5303520" cy="43891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210312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D2FF"/>
                </a:solidFill>
                <a:latin typeface="맑은 고딕"/>
              </a:defRPr>
            </a:pPr>
            <a:r>
              <a:rPr/>
              <a:t>→ Detect new types of spam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743200"/>
            <a:ext cx="45720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BBBBCC"/>
                </a:solidFill>
                <a:latin typeface="맑은 고딕"/>
              </a:defRPr>
            </a:pPr>
            <a:r>
              <a:rPr/>
              <a:t>Advantage: Adaptable to environmental changes</a:t>
            </a:r>
          </a:p>
          <a:p>
            <a:pPr>
              <a:spcAft>
                <a:spcPts val="600"/>
              </a:spcAft>
              <a:defRPr sz="1400">
                <a:solidFill>
                  <a:srgbClr val="BBBBCC"/>
                </a:solidFill>
                <a:latin typeface="맑은 고딕"/>
              </a:defRPr>
            </a:pPr>
            <a:r>
              <a:rPr/>
              <a:t>Discover patterns that humans cannot recognize</a:t>
            </a:r>
          </a:p>
          <a:p>
            <a:pPr>
              <a:spcAft>
                <a:spcPts val="600"/>
              </a:spcAft>
              <a:defRPr sz="1400">
                <a:solidFill>
                  <a:srgbClr val="BBBBCC"/>
                </a:solidFill>
                <a:latin typeface="맑은 고딕"/>
              </a:defRPr>
            </a:pPr>
            <a:r>
              <a:rPr/>
              <a:t>데이터로부터 규칙을 자동 학습</a:t>
            </a:r>
          </a:p>
          <a:p>
            <a:pPr>
              <a:spcAft>
                <a:spcPts val="600"/>
              </a:spcAft>
              <a:defRPr sz="14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BBBBCC"/>
                </a:solidFill>
                <a:latin typeface="맑은 고딕"/>
              </a:defRPr>
            </a:pPr>
            <a:r>
              <a:rPr/>
              <a:t>예시: 수만 건의 이메일로 학습</a:t>
            </a:r>
          </a:p>
          <a:p>
            <a:pPr>
              <a:spcAft>
                <a:spcPts val="600"/>
              </a:spcAft>
              <a:defRPr sz="1400">
                <a:solidFill>
                  <a:srgbClr val="BBBBCC"/>
                </a:solidFill>
                <a:latin typeface="맑은 고딕"/>
              </a:defRPr>
            </a:pPr>
            <a:r>
              <a:rPr/>
              <a:t>  → 패턴을 자동으로 발견</a:t>
            </a:r>
          </a:p>
          <a:p>
            <a:pPr>
              <a:spcAft>
                <a:spcPts val="600"/>
              </a:spcAft>
              <a:defRPr sz="1400">
                <a:solidFill>
                  <a:srgbClr val="BBBBCC"/>
                </a:solidFill>
                <a:latin typeface="맑은 고딕"/>
              </a:defRPr>
            </a:pPr>
            <a:r>
              <a:rPr/>
              <a:t>  → 새로운 스팸 유형도 감지</a:t>
            </a:r>
          </a:p>
          <a:p>
            <a:pPr>
              <a:spcAft>
                <a:spcPts val="600"/>
              </a:spcAft>
              <a:defRPr sz="14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BBBBCC"/>
                </a:solidFill>
                <a:latin typeface="맑은 고딕"/>
              </a:defRPr>
            </a:pPr>
            <a:r>
              <a:rPr/>
              <a:t>장점: 환경 변화에 적응 가능</a:t>
            </a:r>
          </a:p>
          <a:p>
            <a:pPr>
              <a:spcAft>
                <a:spcPts val="600"/>
              </a:spcAft>
              <a:defRPr sz="1400">
                <a:solidFill>
                  <a:srgbClr val="BBBBCC"/>
                </a:solidFill>
                <a:latin typeface="맑은 고딕"/>
              </a:defRPr>
            </a:pPr>
            <a:r>
              <a:rPr/>
              <a:t>      사람이 인지 못하는 패턴도 발견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0" y="3657600"/>
            <a:ext cx="1097280" cy="731520"/>
          </a:xfrm>
          <a:prstGeom prst="roundRect">
            <a:avLst>
              <a:gd name="adj" fmla="val 5000"/>
            </a:avLst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0" y="3703320"/>
            <a:ext cx="1097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맑은 고딕"/>
              </a:defRPr>
            </a:pPr>
            <a:r>
              <a:t>VS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rPr/>
              <a:t>Machine learning examples in everyday life (1/2)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011680"/>
            <a:ext cx="5303520" cy="21031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031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6FF"/>
                </a:solidFill>
                <a:latin typeface="맑은 고딕"/>
              </a:defRPr>
            </a:pPr>
            <a:r>
              <a:rPr/>
              <a:t>1. Recommendation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560320"/>
            <a:ext cx="4754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Netflix, YouTube, Spotify: Analysis of viewing/listening history → Personalized recommendation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Collaborative Filtering + Content-based Filtering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Netflix: Drive about 80% of viewing time through recommendations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011680"/>
            <a:ext cx="5303520" cy="21031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21031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FF"/>
                </a:solidFill>
                <a:latin typeface="맑은 고딕"/>
              </a:defRPr>
            </a:pPr>
            <a:r>
              <a:rPr/>
              <a:t>2. Autonomous Driving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560320"/>
            <a:ext cx="4754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Tesla, Waymo: Real-time processing of camera, lidar, and radar sensor data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CNN-based object detection + reinforcement learning-based route planning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Learning from millions of km of driving data, pedestrian/vehicle/traffic light recognition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389120"/>
            <a:ext cx="5303520" cy="21031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44805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E696"/>
                </a:solidFill>
                <a:latin typeface="맑은 고딕"/>
              </a:defRPr>
            </a:pPr>
            <a:r>
              <a:rPr/>
              <a:t>3. Medical Diagnosis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937760"/>
            <a:ext cx="4754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Automatic detection of tumors/pneumonia/fractures in Prediction/Decision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AlphaFold: 단백질 구조 예측 문제 해결 → 생물학 혁신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유방암 진단: 일부 ML 모델이 전문의보다 높은 정확도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4389120"/>
            <a:ext cx="5303520" cy="21031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44805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06CFF"/>
                </a:solidFill>
                <a:latin typeface="맑은 고딕"/>
              </a:defRPr>
            </a:pPr>
            <a:r>
              <a:rPr/>
              <a:t>핵심 포인트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4937760"/>
            <a:ext cx="4754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ML은 이미 일상 곳곳에 적용되어 있음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다양한 데이터 유형: 텍스트, 이미지, 음성, 센서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핵심: 데이터에서 패턴을 자동으로 학습하여 예측/결정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rPr/>
              <a:t>Machine learning examples in everyday life (2/2)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011680"/>
            <a:ext cx="5303520" cy="21031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031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06CFF"/>
                </a:solidFill>
                <a:latin typeface="맑은 고딕"/>
              </a:defRPr>
            </a:pPr>
            <a:r>
              <a:rPr/>
              <a:t>4. Speech Recognition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560320"/>
            <a:ext cx="4754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Siri, Google Assistant, Alexa: Voice→Text (STT) + Intent Understanding (NLU)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Deep learning-based RNN, Transformer model (tens of thousands of hours of speech learning)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OpenAI Whisper: Excellent performance in multilingual speech recognition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011680"/>
            <a:ext cx="5303520" cy="21031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21031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4545"/>
                </a:solidFill>
                <a:latin typeface="맑은 고딕"/>
              </a:defRPr>
            </a:pPr>
            <a:r>
              <a:rPr/>
              <a:t>5. Fraud Detection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560320"/>
            <a:ext cx="4754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Real-time detection of fraudulent use of credit cards, insurance fraud, and money laundering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Learning normal patterns → detecting abnormal transactions (anomaly)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Unsupervised learning (outlier detection) + supervised learning (classification) in parallel, analyzing thousands of cases per second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389120"/>
            <a:ext cx="1106424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44805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8C00"/>
                </a:solidFill>
                <a:latin typeface="맑은 고딕"/>
              </a:defRPr>
            </a:pPr>
            <a:r>
              <a:rPr/>
              <a:t>Why machine learning is needed (Mitchell, 1997)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029200"/>
            <a:ext cx="3383280" cy="1371600"/>
          </a:xfrm>
          <a:prstGeom prst="roundRect">
            <a:avLst>
              <a:gd name="adj" fmla="val 5000"/>
            </a:avLst>
          </a:prstGeom>
          <a:solidFill>
            <a:srgbClr val="2D2D45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50749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96FF"/>
                </a:solidFill>
                <a:latin typeface="맑은 고딕"/>
              </a:defRPr>
            </a:pPr>
            <a:r>
              <a:rPr/>
              <a:t>1. Automatic discovery of complex rules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544068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rPr/>
              <a:t>Problems that make it difficult for humans to define the rules one by one (image recognition, voice recognition)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0" y="5029200"/>
            <a:ext cx="3383280" cy="1371600"/>
          </a:xfrm>
          <a:prstGeom prst="roundRect">
            <a:avLst>
              <a:gd name="adj" fmla="val 5000"/>
            </a:avLst>
          </a:prstGeom>
          <a:solidFill>
            <a:srgbClr val="2D2D45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26280" y="50749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E696"/>
                </a:solidFill>
                <a:latin typeface="맑은 고딕"/>
              </a:defRPr>
            </a:pPr>
            <a:r>
              <a:rPr/>
              <a:t>2. Adaptation to environmental changes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544068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rPr/>
              <a:t>When new data comes in, retrain the model to respond to changes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46720" y="5029200"/>
            <a:ext cx="3383280" cy="1371600"/>
          </a:xfrm>
          <a:prstGeom prst="roundRect">
            <a:avLst>
              <a:gd name="adj" fmla="val 5000"/>
            </a:avLst>
          </a:prstGeom>
          <a:solidFill>
            <a:srgbClr val="2D2D45"/>
          </a:solidFill>
          <a:ln w="12700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83880" y="50749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A06CFF"/>
                </a:solidFill>
                <a:latin typeface="맑은 고딕"/>
              </a:defRPr>
            </a:pPr>
            <a:r>
              <a:rPr/>
              <a:t>3. Discovering patterns in large amounts of data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83880" y="544068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rPr/>
              <a:t>Manual analysis is impossible in the era of big data → automated analysis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508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8288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D2FF"/>
                </a:solidFill>
                <a:latin typeface="맑은 고딕"/>
              </a:defRPr>
            </a:pPr>
            <a:r>
              <a:t>SECTION 02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2468880"/>
            <a:ext cx="2103120" cy="381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74320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맑은 고딕"/>
              </a:defRPr>
            </a:pPr>
            <a:r>
              <a:rPr/>
              <a:t>History of machine learning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84048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88899"/>
                </a:solidFill>
                <a:latin typeface="맑은 고딕"/>
              </a:defRPr>
            </a:pPr>
            <a:r>
              <a:t>History of Machine Learning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rPr/>
              <a:t>Machine Learning Major Milestones (1943~1997)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011680"/>
            <a:ext cx="2651760" cy="219456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2103120"/>
            <a:ext cx="640080" cy="320040"/>
          </a:xfrm>
          <a:prstGeom prst="roundRect">
            <a:avLst>
              <a:gd name="adj" fmla="val 5000"/>
            </a:avLst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1031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1943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10312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96FF"/>
                </a:solidFill>
                <a:latin typeface="맑은 고딕"/>
              </a:defRPr>
            </a:pPr>
            <a:r>
              <a:t>McCulloch &amp; Pitts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51460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rPr/>
              <a:t>Artificial Neuron 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92608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rPr/>
              <a:t>First Mathematical Neuron Model</a:t>
            </a:r>
            <a:br/>
            <a:r>
              <a:rPr/>
              <a:t>Theoretical Foundations of Neural Networks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7560" y="2011680"/>
            <a:ext cx="2651760" cy="219456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429000" y="2103120"/>
            <a:ext cx="640080" cy="320040"/>
          </a:xfrm>
          <a:prstGeom prst="roundRect">
            <a:avLst>
              <a:gd name="adj" fmla="val 5000"/>
            </a:avLst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29000" y="21031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1950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60520" y="210312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2FF"/>
                </a:solidFill>
                <a:latin typeface="맑은 고딕"/>
              </a:defRPr>
            </a:pPr>
            <a:r>
              <a:t>Alan Turing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251460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Computing Machinery</a:t>
            </a:r>
            <a:br/>
            <a:r>
              <a:t>and Intelligence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292608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rPr/>
              <a:t>Turing Test Proposal</a:t>
            </a:r>
            <a:br/>
            <a:r>
              <a:rPr/>
              <a:t>"Can Machines Think?"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2011680"/>
            <a:ext cx="2651760" cy="219456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309360" y="2103120"/>
            <a:ext cx="640080" cy="320040"/>
          </a:xfrm>
          <a:prstGeom prst="roundRect">
            <a:avLst>
              <a:gd name="adj" fmla="val 5000"/>
            </a:avLst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0" y="21031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1957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0880" y="210312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E696"/>
                </a:solidFill>
                <a:latin typeface="맑은 고딕"/>
              </a:defRPr>
            </a:pPr>
            <a:r>
              <a:t>Rosenblatt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251460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rPr/>
              <a:t>Perceptron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292608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rPr/>
              <a:t>First Trainable</a:t>
            </a:r>
            <a:br/>
            <a:r>
              <a:rPr/>
              <a:t>Neural Network Model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98280" y="2011680"/>
            <a:ext cx="2651760" cy="219456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189720" y="2103120"/>
            <a:ext cx="640080" cy="320040"/>
          </a:xfrm>
          <a:prstGeom prst="roundRect">
            <a:avLst>
              <a:gd name="adj" fmla="val 5000"/>
            </a:avLst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89720" y="21031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1959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21240" y="210312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E696"/>
                </a:solidFill>
                <a:latin typeface="맑은 고딕"/>
              </a:defRPr>
            </a:pPr>
            <a:r>
              <a:t>Arthur Samuel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35440" y="251460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rPr/>
              <a:t>Checker Program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35440" y="292608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"Machine Learning"</a:t>
            </a:r>
            <a:br/>
            <a:r>
              <a:rPr/>
              <a:t>First Use of the Term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4480560"/>
            <a:ext cx="2651760" cy="219456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548640" y="4572000"/>
            <a:ext cx="640080" cy="320040"/>
          </a:xfrm>
          <a:prstGeom prst="roundRect">
            <a:avLst>
              <a:gd name="adj" fmla="val 5000"/>
            </a:avLst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457200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1969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80160" y="457200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4545"/>
                </a:solidFill>
                <a:latin typeface="맑은 고딕"/>
              </a:defRPr>
            </a:pPr>
            <a:r>
              <a:t>Minsky &amp; Papert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" y="49834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Perceptrons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" y="539496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rPr/>
              <a:t>Perceptron Proof of limit (XOR)</a:t>
            </a:r>
            <a:br/>
            <a:r>
              <a:rPr/>
              <a:t>→ Triggering the 1st AI winter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337560" y="4480560"/>
            <a:ext cx="2651760" cy="219456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3429000" y="4572000"/>
            <a:ext cx="640080" cy="320040"/>
          </a:xfrm>
          <a:prstGeom prst="roundRect">
            <a:avLst>
              <a:gd name="adj" fmla="val 5000"/>
            </a:avLst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429000" y="457200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1986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160520" y="457200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8C00"/>
                </a:solidFill>
                <a:latin typeface="맑은 고딕"/>
              </a:defRPr>
            </a:pPr>
            <a:r>
              <a:t>Rumelhart et al.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474720" y="49834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rPr/>
              <a:t>Backpropagation algorithm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474720" y="539496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rPr/>
              <a:t>Multilayer neural network can be learned</a:t>
            </a:r>
            <a:br/>
            <a:r>
              <a:rPr/>
              <a:t>→ Neural network revival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17920" y="4480560"/>
            <a:ext cx="2651760" cy="219456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6309360" y="4572000"/>
            <a:ext cx="640080" cy="320040"/>
          </a:xfrm>
          <a:prstGeom prst="roundRect">
            <a:avLst>
              <a:gd name="adj" fmla="val 5000"/>
            </a:avLst>
          </a:prstGeom>
          <a:solidFill>
            <a:srgbClr val="A0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309360" y="457200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1995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040880" y="457200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A06CFF"/>
                </a:solidFill>
                <a:latin typeface="맑은 고딕"/>
              </a:defRPr>
            </a:pPr>
            <a:r>
              <a:t>Vapnik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55080" y="49834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SVM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55080" y="539496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rPr/>
              <a:t>Based on statistical learning theory</a:t>
            </a:r>
            <a:br/>
            <a:r>
              <a:rPr/>
              <a:t>Strong classifier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098280" y="4480560"/>
            <a:ext cx="2651760" cy="219456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9189720" y="4572000"/>
            <a:ext cx="640080" cy="320040"/>
          </a:xfrm>
          <a:prstGeom prst="roundRect">
            <a:avLst>
              <a:gd name="adj" fmla="val 5000"/>
            </a:avLst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189720" y="457200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1997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921240" y="457200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96FF"/>
                </a:solidFill>
                <a:latin typeface="맑은 고딕"/>
              </a:defRPr>
            </a:pPr>
            <a:r>
              <a:t>Mitchell / Wolpert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235440" y="49834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rPr/>
              <a:t>ML textbook / NFL theorem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235440" y="539496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rPr/>
              <a:t>Establishment of T-P-E definition</a:t>
            </a:r>
            <a:br/>
            <a:r>
              <a:rPr/>
              <a:t>Negation of universal optimal algorithm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rPr/>
              <a:t>Major milestones in machine learning (2006~present)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011680"/>
            <a:ext cx="2651760" cy="219456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2103120"/>
            <a:ext cx="640080" cy="320040"/>
          </a:xfrm>
          <a:prstGeom prst="roundRect">
            <a:avLst>
              <a:gd name="adj" fmla="val 5000"/>
            </a:avLst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1031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2006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10312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96FF"/>
                </a:solidFill>
                <a:latin typeface="맑은 고딕"/>
              </a:defRPr>
            </a:pPr>
            <a:r>
              <a:t>Hinton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51460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Deep Belief Networks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92608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rPr/>
              <a:t>Signal of the revival of deep learning</a:t>
            </a:r>
            <a:br/>
            <a:r>
              <a:rPr/>
              <a:t>Popularization of the term "deep learning"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7560" y="2011680"/>
            <a:ext cx="2651760" cy="219456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429000" y="2103120"/>
            <a:ext cx="640080" cy="320040"/>
          </a:xfrm>
          <a:prstGeom prst="roundRect">
            <a:avLst>
              <a:gd name="adj" fmla="val 5000"/>
            </a:avLst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29000" y="21031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2012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60520" y="210312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2FF"/>
                </a:solidFill>
                <a:latin typeface="맑은 고딕"/>
              </a:defRPr>
            </a:pPr>
            <a:r>
              <a:t>Krizhevsky et al.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251460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AlexNet (ImageNet)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292608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rPr/>
              <a:t>CNN Explosive performance improvement</a:t>
            </a:r>
            <a:br/>
            <a:r>
              <a:rPr/>
              <a:t>Start of the deep learning boom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2011680"/>
            <a:ext cx="2651760" cy="219456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309360" y="2103120"/>
            <a:ext cx="640080" cy="320040"/>
          </a:xfrm>
          <a:prstGeom prst="roundRect">
            <a:avLst>
              <a:gd name="adj" fmla="val 5000"/>
            </a:avLst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0" y="21031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2014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0880" y="210312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E696"/>
                </a:solidFill>
                <a:latin typeface="맑은 고딕"/>
              </a:defRPr>
            </a:pPr>
            <a:r>
              <a:t>Goodfellow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251460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GAN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292608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rPr/>
              <a:t>Generative adversarial neural network</a:t>
            </a:r>
            <a:br/>
            <a:r>
              <a:rPr/>
              <a:t>Innovation in generative models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98280" y="2011680"/>
            <a:ext cx="2651760" cy="219456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189720" y="2103120"/>
            <a:ext cx="640080" cy="320040"/>
          </a:xfrm>
          <a:prstGeom prst="roundRect">
            <a:avLst>
              <a:gd name="adj" fmla="val 5000"/>
            </a:avLst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89720" y="21031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2016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21240" y="210312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8C00"/>
                </a:solidFill>
                <a:latin typeface="맑은 고딕"/>
              </a:defRPr>
            </a:pPr>
            <a:r>
              <a:t>DeepMind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35440" y="251460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rPr/>
              <a:t>AlphaGo vs Lee Sedol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35440" y="292608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rPr/>
              <a:t>Proving the possibility of reinforcement learning to the world</a:t>
            </a:r>
            <a:br/>
            <a:r>
              <a:rPr/>
              <a:t>Proving the world of reinforcement learning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4480560"/>
            <a:ext cx="2651760" cy="219456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548640" y="4572000"/>
            <a:ext cx="640080" cy="320040"/>
          </a:xfrm>
          <a:prstGeom prst="roundRect">
            <a:avLst>
              <a:gd name="adj" fmla="val 5000"/>
            </a:avLst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457200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2017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80160" y="457200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4545"/>
                </a:solidFill>
                <a:latin typeface="맑은 고딕"/>
              </a:defRPr>
            </a:pPr>
            <a:r>
              <a:t>Vaswani et al.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" y="49834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Transformer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" y="539496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Attention Is All You Need</a:t>
            </a:r>
            <a:br/>
            <a:r>
              <a:rPr/>
              <a:t>NLP revolution Beginning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337560" y="4480560"/>
            <a:ext cx="2651760" cy="219456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3429000" y="4572000"/>
            <a:ext cx="640080" cy="320040"/>
          </a:xfrm>
          <a:prstGeom prst="roundRect">
            <a:avLst>
              <a:gd name="adj" fmla="val 5000"/>
            </a:avLst>
          </a:prstGeom>
          <a:solidFill>
            <a:srgbClr val="A0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429000" y="457200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2018~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160520" y="457200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A06CFF"/>
                </a:solidFill>
                <a:latin typeface="맑은 고딕"/>
              </a:defRPr>
            </a:pPr>
            <a:r>
              <a:t>Google, OpenAI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474720" y="49834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rPr/>
              <a:t>BERT, GPT series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474720" y="539496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rPr/>
              <a:t>Large-scale language model (LLM)</a:t>
            </a:r>
            <a:br/>
            <a:r>
              <a:rPr/>
              <a:t>Era opening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17920" y="4480560"/>
            <a:ext cx="2651760" cy="219456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6309360" y="4572000"/>
            <a:ext cx="640080" cy="320040"/>
          </a:xfrm>
          <a:prstGeom prst="roundRect">
            <a:avLst>
              <a:gd name="adj" fmla="val 5000"/>
            </a:avLst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309360" y="457200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2022~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040880" y="457200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96FF"/>
                </a:solidFill>
                <a:latin typeface="맑은 고딕"/>
              </a:defRPr>
            </a:pPr>
            <a:r>
              <a:t>OpenAI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55080" y="49834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ChatGPT, GPT-4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55080" y="539496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rPr/>
              <a:t>Popularization of generative AI</a:t>
            </a:r>
            <a:br/>
            <a:r>
              <a:rPr/>
              <a:t>AGI discussion active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rPr/>
              <a:t>AI Winter and Resurrection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AI Winters and Revivals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383280"/>
            <a:ext cx="10698480" cy="508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2011680"/>
            <a:ext cx="2286000" cy="11887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2103120"/>
            <a:ext cx="2011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4545"/>
                </a:solidFill>
                <a:latin typeface="맑은 고딕"/>
              </a:defRPr>
            </a:pPr>
            <a:r>
              <a:rPr/>
              <a:t>1st AI Winter</a:t>
            </a:r>
            <a:br/>
            <a:r>
              <a:rPr/>
              <a:t>(1970s)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463040" y="3246120"/>
            <a:ext cx="274320" cy="274320"/>
          </a:xfrm>
          <a:prstGeom prst="roundRect">
            <a:avLst>
              <a:gd name="adj" fmla="val 5000"/>
            </a:avLst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7200" y="3749039"/>
            <a:ext cx="228600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3840480"/>
            <a:ext cx="20116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rPr/>
              <a:t>Limitations of Perceptron</a:t>
            </a:r>
            <a:br/>
            <a:r>
              <a:rPr/>
              <a:t>(XOR Problem) Proof</a:t>
            </a:r>
            <a:br/>
            <a:r>
              <a:rPr/>
              <a:t>|→ Neural network research stagnation</a:t>
            </a:r>
            <a:br/>
            <a:r>
              <a:t>Minsky &amp; Papert(1969)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017520" y="2011680"/>
            <a:ext cx="2286000" cy="11887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54680" y="2103120"/>
            <a:ext cx="2011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E696"/>
                </a:solidFill>
                <a:latin typeface="맑은 고딕"/>
              </a:defRPr>
            </a:pPr>
            <a:r>
              <a:rPr/>
              <a:t>Resurgence</a:t>
            </a:r>
            <a:br/>
            <a:r>
              <a:rPr/>
              <a:t>(1980s)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023360" y="3246120"/>
            <a:ext cx="274320" cy="274320"/>
          </a:xfrm>
          <a:prstGeom prst="roundRect">
            <a:avLst>
              <a:gd name="adj" fmla="val 5000"/>
            </a:avLst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017520" y="3749039"/>
            <a:ext cx="228600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154680" y="3840480"/>
            <a:ext cx="20116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rPr/>
              <a:t>Discovery of backpropagation algorithm</a:t>
            </a:r>
            <a:br/>
            <a:r>
              <a:rPr/>
              <a:t>→ Multilayer neural network training is possible</a:t>
            </a:r>
            <a:br/>
            <a:r>
              <a:t>Rumelhart, Hinton,</a:t>
            </a:r>
            <a:br/>
            <a:r>
              <a:t>Williams (1986)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577840" y="2011680"/>
            <a:ext cx="2286000" cy="11887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715000" y="2103120"/>
            <a:ext cx="2011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8C00"/>
                </a:solidFill>
                <a:latin typeface="맑은 고딕"/>
              </a:defRPr>
            </a:pPr>
            <a:r>
              <a:rPr/>
              <a:t>2nd AI Winter</a:t>
            </a:r>
            <a:br/>
            <a:r>
              <a:rPr/>
              <a:t>(early 1990s)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0" y="3246120"/>
            <a:ext cx="274320" cy="274320"/>
          </a:xfrm>
          <a:prstGeom prst="roundRect">
            <a:avLst>
              <a:gd name="adj" fmla="val 5000"/>
            </a:avLst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577840" y="3749039"/>
            <a:ext cx="228600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15000" y="3840480"/>
            <a:ext cx="20116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rPr/>
              <a:t>Neural network learning Difficulty</a:t>
            </a:r>
            <a:br/>
            <a:r>
              <a:t>(Vanishing Gradient)</a:t>
            </a:r>
            <a:br/>
            <a:r>
              <a:rPr/>
              <a:t>→ SVM, ensemble mainstream</a:t>
            </a:r>
            <a:br/>
            <a:r>
              <a:rPr/>
              <a:t>Vapnik's SVM (1995)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38160" y="2011680"/>
            <a:ext cx="2286000" cy="11887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75320" y="2103120"/>
            <a:ext cx="2011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D2FF"/>
                </a:solidFill>
                <a:latin typeface="맑은 고딕"/>
              </a:defRPr>
            </a:pPr>
            <a:r>
              <a:rPr/>
              <a:t>Deep learning revival</a:t>
            </a:r>
            <a:br/>
            <a:r>
              <a:t>(2006~2012)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44000" y="3246120"/>
            <a:ext cx="274320" cy="274320"/>
          </a:xfrm>
          <a:prstGeom prst="roundRect">
            <a:avLst>
              <a:gd name="adj" fmla="val 5000"/>
            </a:avLst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138160" y="3749039"/>
            <a:ext cx="228600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75320" y="3840480"/>
            <a:ext cx="20116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rPr/>
              <a:t>GPU computing + big data</a:t>
            </a:r>
            <a:br/>
            <a:r>
              <a:rPr/>
              <a:t>+ ReLU activation function</a:t>
            </a:r>
            <a:br/>
            <a:r>
              <a:rPr/>
              <a:t>→ Deep learning explosive growth</a:t>
            </a:r>
            <a:br/>
            <a:r>
              <a:t>AlexNet(2012)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217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맑은 고딕"/>
              </a:defRPr>
            </a:pPr>
            <a:r>
              <a:rPr/>
              <a:t>Lesson: The development of ML is not linear. Discovery of theoretical limits → stagnation → new breakthrough → repetition of revival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50800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8288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E696"/>
                </a:solidFill>
                <a:latin typeface="맑은 고딕"/>
              </a:defRPr>
            </a:pPr>
            <a:r>
              <a:t>SECTION 03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2468880"/>
            <a:ext cx="2103120" cy="38100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74320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맑은 고딕"/>
              </a:defRPr>
            </a:pPr>
            <a:r>
              <a:rPr/>
              <a:t>learning type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84048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88899"/>
                </a:solidFill>
                <a:latin typeface="맑은 고딕"/>
              </a:defRPr>
            </a:pPr>
            <a:r>
              <a:t>Supervised / Unsupervised / Reinforcement Learning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rPr/>
              <a:t>Supervised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rPr/>
              <a:t>Learning given both input X and correct answer 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1064240" cy="9144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1031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rPr/>
              <a:t>Definition: How to learn the mapping function f: Numerical values: house price, temperature, sales prediction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5146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rPr/>
              <a:t>Representative algorithm: Linear regression, Ridge, Lasso, RF, GBM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200400"/>
            <a:ext cx="5303520" cy="16459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2918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rPr/>
              <a:t>Evaluation index: MSE, RMSE, MAE, R²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657600"/>
            <a:ext cx="4937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Classification - category prediction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Output value y is discrete category: spam/normal, malicious/benign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Binary classification / multi-classification / multi-label classification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200400"/>
            <a:ext cx="5303520" cy="16459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32918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맑은 고딕"/>
              </a:defRPr>
            </a:pPr>
            <a:r>
              <a:rPr/>
              <a:t>Evaluation index: Accuracy, Precision, Recall, F1, AUC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3657600"/>
            <a:ext cx="4937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Supervised learning industry application case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Industry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Problem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029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맑은 고딕"/>
              </a:defRPr>
            </a:pPr>
            <a:r>
              <a:rPr/>
              <a:t>Input ( Pressure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5394960"/>
            <a:ext cx="18288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53949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rPr/>
              <a:t>Good product/defect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377440" y="5394960"/>
            <a:ext cx="164592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377440" y="53949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rPr/>
              <a:t>Marketing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023360" y="5394960"/>
            <a:ext cx="22860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023360" y="53949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rPr/>
              <a:t>Customer churn prediction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60" y="5394960"/>
            <a:ext cx="22860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9360" y="53949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rPr/>
              <a:t>Usage pattern, payment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595360" y="5394960"/>
            <a:ext cx="219456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95360" y="53949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rPr/>
              <a:t>churn/retention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5852160"/>
            <a:ext cx="1828800" cy="4114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585216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rPr/>
              <a:t>금융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377440" y="5852160"/>
            <a:ext cx="1645920" cy="4114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377440" y="585216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rPr/>
              <a:t>신용 점수 예측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023360" y="5852160"/>
            <a:ext cx="2286000" cy="4114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023360" y="585216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rPr/>
              <a:t>소득, 부채, 거래이력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09360" y="5852160"/>
            <a:ext cx="2286000" cy="4114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09360" y="585216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rPr/>
              <a:t>신용 등급(A~F)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595360" y="5852160"/>
            <a:ext cx="2194560" cy="4114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595360" y="585216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XGBoost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6263640"/>
            <a:ext cx="1828800" cy="41148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" y="626364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rPr/>
              <a:t>제조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377440" y="6263640"/>
            <a:ext cx="1645920" cy="41148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377440" y="626364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rPr/>
              <a:t>제품 불량 예측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023360" y="6263640"/>
            <a:ext cx="2286000" cy="41148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023360" y="626364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rPr/>
              <a:t>센서, 온도, 압력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309360" y="6263640"/>
            <a:ext cx="2286000" cy="41148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309360" y="626364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rPr/>
              <a:t>양품/불량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595360" y="6263640"/>
            <a:ext cx="2194560" cy="41148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595360" y="626364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Random Forest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48640" y="6675120"/>
            <a:ext cx="1828800" cy="4114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48640" y="667512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rPr/>
              <a:t>마케팅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377440" y="6675120"/>
            <a:ext cx="1645920" cy="4114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377440" y="667512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rPr/>
              <a:t>고객 이탈 예측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023360" y="6675120"/>
            <a:ext cx="2286000" cy="4114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023360" y="6675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rPr/>
              <a:t>사용 패턴, 결제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309360" y="6675120"/>
            <a:ext cx="2286000" cy="4114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309360" y="6675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rPr/>
              <a:t>이탈/유지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595360" y="6675120"/>
            <a:ext cx="2194560" cy="4114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595360" y="667512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Gradient Boosting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rPr/>
              <a:t>Unsupervised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rPr/>
              <a:t>Discovering data structure without the correct answer label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1064240" cy="6400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1031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rPr/>
              <a:t>Definition: A learning method that discovers the structure or pattern of the data itself when only input data Clustering |||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926080"/>
            <a:ext cx="3566160" cy="36576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01752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6FF"/>
                </a:solidFill>
                <a:latin typeface="맑은 고딕"/>
              </a:defRPr>
            </a:pPr>
            <a:r>
              <a:rPr/>
              <a:t>군집화 (Clustering)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5661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맑은 고딕"/>
              </a:defRPr>
            </a:pPr>
            <a:r>
              <a:rPr/>
              <a:t>유사한 데이터를 그룹화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1148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rPr/>
              <a:t>알고리즘: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38912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K-Means, DBSCAN</a:t>
            </a:r>
            <a:br/>
            <a:r>
              <a:rPr/>
              <a:t>계층적 군집화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1206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E696"/>
                </a:solidFill>
                <a:latin typeface="맑은 고딕"/>
              </a:defRPr>
            </a:pPr>
            <a:r>
              <a:rPr/>
              <a:t>활용 사례: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39496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rPr/>
              <a:t>고객 세분화</a:t>
            </a:r>
            <a:br/>
            <a:r>
              <a:rPr/>
              <a:t>유전자 군집화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51960" y="2926080"/>
            <a:ext cx="3566160" cy="36576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34840" y="301752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맑은 고딕"/>
              </a:defRPr>
            </a:pPr>
            <a:r>
              <a:rPr/>
              <a:t>차원 축소</a:t>
            </a:r>
            <a:br/>
            <a:r>
              <a:t>(Dimensionality Reduction)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40" y="35661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맑은 고딕"/>
              </a:defRPr>
            </a:pPr>
            <a:r>
              <a:rPr/>
              <a:t>고차원 → 저차원 변환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40" y="41148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rPr/>
              <a:t>알고리즘: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4840" y="438912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PCA, t-SNE</a:t>
            </a:r>
            <a:br/>
            <a:r>
              <a:t>Autoencoder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40" y="51206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E696"/>
                </a:solidFill>
                <a:latin typeface="맑은 고딕"/>
              </a:defRPr>
            </a:pPr>
            <a:r>
              <a:rPr/>
              <a:t>활용 사례: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34840" y="539496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rPr/>
              <a:t>시각화</a:t>
            </a:r>
            <a:br/>
            <a:r>
              <a:rPr/>
              <a:t>노이즈 제거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46720" y="2926080"/>
            <a:ext cx="3566160" cy="36576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0" y="301752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맑은 고딕"/>
              </a:defRPr>
            </a:pPr>
            <a:r>
              <a:rPr/>
              <a:t>이상치 탐지</a:t>
            </a:r>
            <a:br/>
            <a:r>
              <a:t>(Anomaly Detection)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35661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맑은 고딕"/>
              </a:defRPr>
            </a:pPr>
            <a:r>
              <a:rPr/>
              <a:t>정상 패턴에서 벗어나는</a:t>
            </a:r>
            <a:br/>
            <a:r>
              <a:rPr/>
              <a:t>데이터 감지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41148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rPr/>
              <a:t>알고리즘: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438912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Isolation Forest</a:t>
            </a:r>
            <a:br/>
            <a:r>
              <a:t>One-Class SVM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0" y="51206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E696"/>
                </a:solidFill>
                <a:latin typeface="맑은 고딕"/>
              </a:defRPr>
            </a:pPr>
            <a:r>
              <a:rPr/>
              <a:t>활용 사례: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539496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rPr/>
              <a:t>사기 탐지</a:t>
            </a:r>
            <a:br/>
            <a:r>
              <a:rPr/>
              <a:t>네트워크 이상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rPr/>
              <a:t>Reinforcement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rPr/>
              <a:t>The agent interacts with the environment and maximizes the reward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1064240" cy="6400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1031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rPr/>
              <a:t>Definition: The agent interacts with the environment and learns a behavioral strategy (Policy) that maximizes the reward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2926080"/>
            <a:ext cx="2148840" cy="10972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3017520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96FF"/>
                </a:solidFill>
                <a:latin typeface="맑은 고딕"/>
              </a:defRPr>
            </a:pPr>
            <a:r>
              <a:rPr/>
              <a:t>Agent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383280"/>
            <a:ext cx="1965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rPr/>
              <a:t>The subject who learns and acts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97480" y="2926080"/>
            <a:ext cx="2148840" cy="10972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20" y="3017520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rPr/>
              <a:t>Environment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88920" y="3383280"/>
            <a:ext cx="1965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rPr/>
              <a:t>The agent interacts with World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0" y="2926080"/>
            <a:ext cx="2148840" cy="10972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20640" y="3017520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E696"/>
                </a:solidFill>
                <a:latin typeface="맑은 고딕"/>
              </a:defRPr>
            </a:pPr>
            <a:r>
              <a:rPr/>
              <a:t>State | Learn optimal policy (Policy) by repeating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0" y="3383280"/>
            <a:ext cx="1965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rPr/>
              <a:t>Goal: Maximize expected value of cumulative reward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60920" y="2926080"/>
            <a:ext cx="2148840" cy="10972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52360" y="3017520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8C00"/>
                </a:solidFill>
                <a:latin typeface="맑은 고딕"/>
              </a:defRPr>
            </a:pPr>
            <a:r>
              <a:rPr/>
              <a:t>Reinforcement learning industry case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52360" y="3383280"/>
            <a:ext cx="1965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rPr/>
              <a:t>Field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692640" y="2926080"/>
            <a:ext cx="2148840" cy="10972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784080" y="3017520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4545"/>
                </a:solidFill>
                <a:latin typeface="맑은 고딕"/>
              </a:defRPr>
            </a:pPr>
            <a:r>
              <a:rPr/>
              <a:t>Reward design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84080" y="3383280"/>
            <a:ext cx="1965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rPr/>
              <a:t>Algorithm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297680"/>
            <a:ext cx="530352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43891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06CFF"/>
                </a:solidFill>
                <a:latin typeface="맑은 고딕"/>
              </a:defRPr>
            </a:pPr>
            <a:r>
              <a:rPr/>
              <a:t>Game AI (AlphaGo)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4846320"/>
            <a:ext cx="4754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rPr/>
              <a:t>Win+1, Loss-1</a:t>
            </a:r>
            <a:br/>
            <a:r>
              <a:rPr/>
              <a:t>MCTS+Policy Neural Network</a:t>
            </a:r>
            <a:br/>
            <a:br/>
            <a:r>
              <a:rPr/>
              <a:t>Robot arm control</a:t>
            </a:r>
            <a:br/>
            <a:r>
              <a:rPr/>
              <a:t>Success/failure in catching target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4297680"/>
            <a:ext cx="530352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92240" y="43891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맑은 고딕"/>
              </a:defRPr>
            </a:pPr>
            <a:r>
              <a:rPr/>
              <a:t>|Data center cooling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17920" y="4846320"/>
            <a:ext cx="192024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17920" y="484632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rPr/>
              <a:t>Energy savings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138160" y="4846320"/>
            <a:ext cx="173736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38160" y="484632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rPr/>
              <a:t>보상 설계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875520" y="4846320"/>
            <a:ext cx="164592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875520" y="484632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rPr/>
              <a:t>알고리즘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17920" y="5303520"/>
            <a:ext cx="1920240" cy="36576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17920" y="530352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D2FF"/>
                </a:solidFill>
                <a:latin typeface="맑은 고딕"/>
              </a:defRPr>
            </a:pPr>
            <a:r>
              <a:rPr/>
              <a:t>게임 AI (AlphaGo)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138160" y="5303520"/>
            <a:ext cx="1737360" cy="36576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138160" y="530352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rPr/>
              <a:t>승리+1, 패배-1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875520" y="5303520"/>
            <a:ext cx="1645920" cy="36576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875520" y="53035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rPr/>
              <a:t>MCTS+정책신경망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17920" y="5669280"/>
            <a:ext cx="1920240" cy="36576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217920" y="566928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D2FF"/>
                </a:solidFill>
                <a:latin typeface="맑은 고딕"/>
              </a:defRPr>
            </a:pPr>
            <a:r>
              <a:rPr/>
              <a:t>로봇 팔 제어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138160" y="5669280"/>
            <a:ext cx="1737360" cy="36576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138160" y="566928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rPr/>
              <a:t>목표물 잡기 성공/실패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875520" y="5669280"/>
            <a:ext cx="1645920" cy="36576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875520" y="56692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PPO, SAC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217920" y="6035040"/>
            <a:ext cx="1920240" cy="36576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217920" y="60350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D2FF"/>
                </a:solidFill>
                <a:latin typeface="맑은 고딕"/>
              </a:defRPr>
            </a:pPr>
            <a:r>
              <a:rPr/>
              <a:t>데이터센터 냉각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138160" y="6035040"/>
            <a:ext cx="1737360" cy="36576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138160" y="603504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rPr/>
              <a:t>에너지 절감량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875520" y="6035040"/>
            <a:ext cx="1645920" cy="36576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875520" y="60350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DQN (DeepMind)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rPr/>
              <a:t>Summary of comparison of three types of learning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011680"/>
            <a:ext cx="22860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rPr/>
              <a:t>Distinction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017520" y="2011680"/>
            <a:ext cx="256032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17520" y="20116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rPr/>
              <a:t>Supervised learning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5577840" y="2011680"/>
            <a:ext cx="256032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77840" y="20116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rPr/>
              <a:t>Unsupervised learning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38160" y="2011680"/>
            <a:ext cx="256032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0" y="20116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rPr/>
              <a:t>Reinforcement learning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2468880"/>
            <a:ext cx="22860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46888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rPr/>
              <a:t>Data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17520" y="2468880"/>
            <a:ext cx="256032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17520" y="246888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rPr/>
              <a:t>Input + Correct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577840" y="2468880"/>
            <a:ext cx="256032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577840" y="246888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rPr/>
              <a:t>Input only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38160" y="2468880"/>
            <a:ext cx="256032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38160" y="246888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rPr/>
              <a:t>State + Reward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2971800"/>
            <a:ext cx="228600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297180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rPr/>
              <a:t>Goal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017520" y="2971800"/>
            <a:ext cx="256032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17520" y="297180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rPr/>
              <a:t>Prediction / Classification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577840" y="2971800"/>
            <a:ext cx="256032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577840" y="297180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rPr/>
              <a:t>Structure discovery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138160" y="2971800"/>
            <a:ext cx="256032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38160" y="297180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rPr/>
              <a:t>Maximize reward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" y="3474720"/>
            <a:ext cx="22860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347472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rPr/>
              <a:t>Feedback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017520" y="3474720"/>
            <a:ext cx="256032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017520" y="347472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rPr/>
              <a:t>Correct answer label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577840" y="3474720"/>
            <a:ext cx="256032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577840" y="347472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rPr/>
              <a:t>None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138160" y="3474720"/>
            <a:ext cx="256032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138160" y="347472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rPr/>
              <a:t>Reward Signal ||  Discovering patterns without an answer → Unsupervised learning |  Sequential decision-making → Reinforcement learning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31520" y="3977640"/>
            <a:ext cx="228600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397764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rPr/>
              <a:t>Most used in practice: Supervised learning (high performance if there is enough data). Unsupervised learning is often used in the exploration/preprocessing stage.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017520" y="3977640"/>
            <a:ext cx="256032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017520" y="397764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rPr/>
              <a:t>분류, 회귀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577840" y="3977640"/>
            <a:ext cx="256032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577840" y="397764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rPr/>
              <a:t>군집화, 차원축소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138160" y="3977640"/>
            <a:ext cx="256032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138160" y="397764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rPr/>
              <a:t>게임, 로봇 제어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31520" y="4480560"/>
            <a:ext cx="22860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31520" y="448056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rPr/>
              <a:t>대표 알고리즘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017520" y="4480560"/>
            <a:ext cx="256032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017520" y="448056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RF, XGB, SVM, LR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577840" y="4480560"/>
            <a:ext cx="256032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577840" y="448056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K-Means, PCA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138160" y="4480560"/>
            <a:ext cx="256032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138160" y="448056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Q-Learning, PPO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31520" y="4983480"/>
            <a:ext cx="228600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31520" y="498348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rPr/>
              <a:t>난이도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017520" y="4983480"/>
            <a:ext cx="256032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017520" y="498348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rPr/>
              <a:t>상대적 쉬움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577840" y="4983480"/>
            <a:ext cx="256032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577840" y="498348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rPr/>
              <a:t>중간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138160" y="4983480"/>
            <a:ext cx="256032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138160" y="498348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rPr/>
              <a:t>상대적 어려움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731520" y="5303520"/>
            <a:ext cx="10698480" cy="11887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005840" y="5394960"/>
            <a:ext cx="10149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E696"/>
                </a:solidFill>
                <a:latin typeface="맑은 고딕"/>
              </a:defRPr>
            </a:pPr>
            <a:r>
              <a:rPr/>
              <a:t>실무 선택 가이드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05840" y="5760720"/>
            <a:ext cx="10149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정답 레이블이 있으면 → 지도학습 (분류/회귀)  |  정답 없이 패턴 발견 → 비지도학습  |  순차적 의사결정 → 강화학습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실무에서 가장 많이 사용: 지도학습 (데이터만 충분하면 높은 성능). 비지도학습은 탐색/전처리 단계에서 자주 활용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A0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50800"/>
          </a:xfrm>
          <a:prstGeom prst="rect">
            <a:avLst/>
          </a:prstGeom>
          <a:solidFill>
            <a:srgbClr val="A0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8288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A06CFF"/>
                </a:solidFill>
                <a:latin typeface="맑은 고딕"/>
              </a:defRPr>
            </a:pPr>
            <a:r>
              <a:t>SECTION 04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2468880"/>
            <a:ext cx="2103120" cy="38100"/>
          </a:xfrm>
          <a:prstGeom prst="rect">
            <a:avLst/>
          </a:prstGeom>
          <a:solidFill>
            <a:srgbClr val="A0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74320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맑은 고딕"/>
              </a:defRPr>
            </a:pPr>
            <a:r>
              <a:t>ML vs DL vs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84048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88899"/>
                </a:solidFill>
                <a:latin typeface="맑은 고딕"/>
              </a:defRPr>
            </a:pPr>
            <a:r>
              <a:t>Hierarchy and Comparison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rPr/>
              <a:t>AI ⊃ ML ⊃ DL hierarchy ||| Learning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828800"/>
            <a:ext cx="5486400" cy="4754880"/>
          </a:xfrm>
          <a:prstGeom prst="roundRect">
            <a:avLst>
              <a:gd name="adj" fmla="val 5000"/>
            </a:avLst>
          </a:prstGeom>
          <a:solidFill>
            <a:srgbClr val="1E3A5F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645920" y="2377440"/>
            <a:ext cx="4023360" cy="3657600"/>
          </a:xfrm>
          <a:prstGeom prst="roundRect">
            <a:avLst>
              <a:gd name="adj" fmla="val 5000"/>
            </a:avLst>
          </a:prstGeom>
          <a:solidFill>
            <a:srgbClr val="1E4D3A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377440" y="2926080"/>
            <a:ext cx="2560320" cy="2377440"/>
          </a:xfrm>
          <a:prstGeom prst="roundRect">
            <a:avLst>
              <a:gd name="adj" fmla="val 5000"/>
            </a:avLst>
          </a:prstGeom>
          <a:solidFill>
            <a:srgbClr val="3A1E5F"/>
          </a:solidFill>
          <a:ln w="12700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0116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96FF"/>
                </a:solidFill>
                <a:latin typeface="맑은 고딕"/>
              </a:defRPr>
            </a:pPr>
            <a:r>
              <a:rPr/>
              <a:t>SVM, RF,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2560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E696"/>
                </a:solidFill>
                <a:latin typeface="맑은 고딕"/>
              </a:defRPr>
            </a:pPr>
            <a:r>
              <a:rPr/>
              <a:t>머신러닝 (ML)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51760" y="38404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A06CFF"/>
                </a:solidFill>
                <a:latin typeface="맑은 고딕"/>
              </a:defRPr>
            </a:pPr>
            <a:r>
              <a:rPr/>
              <a:t>딥러닝 (DL)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0" y="1828800"/>
            <a:ext cx="4754880" cy="13716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40880" y="192024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6FF"/>
                </a:solidFill>
                <a:latin typeface="맑은 고딕"/>
              </a:defRPr>
            </a:pPr>
            <a:r>
              <a:t>AI (Artificial Intelligence)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0" y="2240280"/>
            <a:ext cx="4389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rPr/>
              <a:t>인간의 지능을 모방하는 모든 기술의 총칭</a:t>
            </a:r>
            <a:br/>
            <a:r>
              <a:rPr/>
              <a:t>규칙 기반, 전문가 시스템, 탐색 등 포함</a:t>
            </a:r>
            <a:br/>
            <a:r>
              <a:rPr/>
              <a:t>가장 넓은 개념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0" y="3474720"/>
            <a:ext cx="4754880" cy="13716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40880" y="356616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E696"/>
                </a:solidFill>
                <a:latin typeface="맑은 고딕"/>
              </a:defRPr>
            </a:pPr>
            <a:r>
              <a:t>ML (Machine Learning)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0" y="3886200"/>
            <a:ext cx="4389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rPr/>
              <a:t>AI의 하위 분야, 데이터 기반 학습에 초점</a:t>
            </a:r>
            <a:br/>
            <a:r>
              <a:rPr/>
              <a:t>명시적 규칙 대신 데이터에서 패턴 자동 학습</a:t>
            </a:r>
            <a:br/>
            <a:r>
              <a:rPr/>
              <a:t>SVM, RF, XGBoost 등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0" y="5120640"/>
            <a:ext cx="4754880" cy="13716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40880" y="521208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06CFF"/>
                </a:solidFill>
                <a:latin typeface="맑은 고딕"/>
              </a:defRPr>
            </a:pPr>
            <a:r>
              <a:t>DL (Deep Learning)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0" y="5532120"/>
            <a:ext cx="4389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rPr/>
              <a:t>ML의 하위 분야, 심층 신경망 활용</a:t>
            </a:r>
            <a:br/>
            <a:r>
              <a:rPr/>
              <a:t>여러 층의 비선형 변환으로 복잡한 표현 학습</a:t>
            </a:r>
            <a:br/>
            <a:r>
              <a:t>CNN, RNN, Transformer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rPr/>
              <a:t>Detailed comparison of traditional ML vs deep learning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011680"/>
            <a:ext cx="27432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rPr/>
              <a:t>Characteristics</a:t>
            </a:r>
          </a:p>
        </p:txBody>
      </p:sp>
      <p:sp>
        <p:nvSpPr>
          <p:cNvPr id="7" name="Rectangle 6"/>
          <p:cNvSpPr/>
          <p:nvPr/>
        </p:nvSpPr>
        <p:spPr>
          <a:xfrm>
            <a:off x="3474720" y="2011680"/>
            <a:ext cx="393192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0" y="201168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rPr/>
              <a:t>Traditional machine learning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6640" y="2011680"/>
            <a:ext cx="393192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0" y="201168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rPr/>
              <a:t>Deep learning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468880"/>
            <a:ext cx="27432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4688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D2FF"/>
                </a:solidFill>
                <a:latin typeface="맑은 고딕"/>
              </a:defRPr>
            </a:pPr>
            <a:r>
              <a:rPr/>
              <a:t>Feature engineering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74720" y="2468880"/>
            <a:ext cx="393192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74720" y="246888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rPr/>
              <a:t>Designed by humans (manually)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06640" y="2468880"/>
            <a:ext cx="393192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06640" y="246888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rPr/>
              <a:t>Model learns automatically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2926080"/>
            <a:ext cx="27432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29260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D2FF"/>
                </a:solidFill>
                <a:latin typeface="맑은 고딕"/>
              </a:defRPr>
            </a:pPr>
            <a:r>
              <a:rPr/>
              <a:t>Data requirement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74720" y="2926080"/>
            <a:ext cx="393192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74720" y="292608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rPr/>
              <a:t>A small amount of data is also possible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406640" y="2926080"/>
            <a:ext cx="393192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06640" y="292608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rPr/>
              <a:t>A large amount of data required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3383280"/>
            <a:ext cx="27432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33832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D2FF"/>
                </a:solidFill>
                <a:latin typeface="맑은 고딕"/>
              </a:defRPr>
            </a:pPr>
            <a:r>
              <a:rPr/>
              <a:t>Computation resources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474720" y="3383280"/>
            <a:ext cx="393192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474720" y="338328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rPr/>
              <a:t>CPU is often sufficient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406640" y="3383280"/>
            <a:ext cx="393192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06640" y="338328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rPr/>
              <a:t>GPU/TPU Essential || | (Domingos, 2012)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" y="3840480"/>
            <a:ext cx="27432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38404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D2FF"/>
                </a:solidFill>
                <a:latin typeface="맑은 고딕"/>
              </a:defRPr>
            </a:pPr>
            <a:r>
              <a:rPr/>
              <a:t>Structured data + small to medium scale → XGBoost, LightGBM, RF |  Unstructured (image, text) → CNN, Transformer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474720" y="3840480"/>
            <a:ext cx="393192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474720" y="384048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rPr/>
              <a:t>Interpretability is important (medical, finance) → Traditional ML or XAI |  When data is very small → Traditional ML + domain knowledge features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406640" y="3840480"/>
            <a:ext cx="393192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06640" y="384048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rPr/>
              <a:t>블랙박스 경향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31520" y="4297680"/>
            <a:ext cx="27432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1520" y="42976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D2FF"/>
                </a:solidFill>
                <a:latin typeface="맑은 고딕"/>
              </a:defRPr>
            </a:pPr>
            <a:r>
              <a:rPr/>
              <a:t>성능 상한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474720" y="4297680"/>
            <a:ext cx="393192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474720" y="429768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rPr/>
              <a:t>데이터 증가시 성능 포화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406640" y="4297680"/>
            <a:ext cx="393192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406640" y="429768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rPr/>
              <a:t>데이터 증가에 따라 지속 향상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31520" y="4754880"/>
            <a:ext cx="27432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31520" y="47548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D2FF"/>
                </a:solidFill>
                <a:latin typeface="맑은 고딕"/>
              </a:defRPr>
            </a:pPr>
            <a:r>
              <a:rPr/>
              <a:t>적합한 데이터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474720" y="4754880"/>
            <a:ext cx="393192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474720" y="475488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rPr/>
              <a:t>정형 데이터 (테이블)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406640" y="4754880"/>
            <a:ext cx="393192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406640" y="475488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rPr/>
              <a:t>비정형 (이미지, 텍스트, 음성)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31520" y="5212080"/>
            <a:ext cx="27432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31520" y="52120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D2FF"/>
                </a:solidFill>
                <a:latin typeface="맑은 고딕"/>
              </a:defRPr>
            </a:pPr>
            <a:r>
              <a:rPr/>
              <a:t>대표 알고리즘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474720" y="5212080"/>
            <a:ext cx="393192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474720" y="521208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SVM, RF, XGBoost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406640" y="5212080"/>
            <a:ext cx="393192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406640" y="521208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CNN, RNN, Transformer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48640" y="5486400"/>
            <a:ext cx="11064240" cy="10972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22960" y="55321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E696"/>
                </a:solidFill>
                <a:latin typeface="맑은 고딕"/>
              </a:defRPr>
            </a:pPr>
            <a:r>
              <a:rPr/>
              <a:t>언제 무엇을 사용할 것인가? (Domingos, 2012)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22960" y="5852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정형 데이터 + 소~중규모 → XGBoost, LightGBM, RF  |  비정형 (이미지, 텍스트) → CNN, Transformer</a:t>
            </a:r>
          </a:p>
          <a:p>
            <a:pPr>
              <a:spcAft>
                <a:spcPts val="3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해석 가능성 중요 (의료, 금융) → 전통 ML or XAI  |  데이터 매우 적을 때 → 전통 ML + 도메인 지식 피처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508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8288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8C00"/>
                </a:solidFill>
                <a:latin typeface="맑은 고딕"/>
              </a:defRPr>
            </a:pPr>
            <a:r>
              <a:t>SECTION 05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2468880"/>
            <a:ext cx="2103120" cy="381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74320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맑은 고딕"/>
              </a:defRPr>
            </a:pPr>
            <a:r>
              <a:rPr/>
              <a:t>Bias-variance tradeoff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84048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88899"/>
                </a:solidFill>
                <a:latin typeface="맑은 고딕"/>
              </a:defRPr>
            </a:pPr>
            <a:r>
              <a:t>Bias-Variance Tradeoff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rPr/>
              <a:t>Concepts of Bias and Variance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011680"/>
            <a:ext cx="5303520" cy="25603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0312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96FF"/>
                </a:solidFill>
                <a:latin typeface="맑은 고딕"/>
              </a:defRPr>
            </a:pPr>
            <a:r>
              <a:rPr/>
              <a:t>Bias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65176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BBBBCC"/>
                </a:solidFill>
                <a:latin typeface="맑은 고딕"/>
              </a:defRPr>
            </a:pPr>
            <a:r>
              <a:rPr/>
              <a:t>Systematic error between the model's predicted values and the actual correct answer</a:t>
            </a:r>
          </a:p>
          <a:p>
            <a:pPr>
              <a:spcAft>
                <a:spcPts val="400"/>
              </a:spcAft>
              <a:defRPr sz="1400">
                <a:solidFill>
                  <a:srgbClr val="BBBBCC"/>
                </a:solidFill>
                <a:latin typeface="맑은 고딕"/>
              </a:defRPr>
            </a:pPr>
            <a:r>
              <a:rPr/>
              <a:t>A measure of how well the model captures the patterns of the training data</a:t>
            </a:r>
          </a:p>
          <a:p>
            <a:pPr>
              <a:spcAft>
                <a:spcPts val="400"/>
              </a:spcAft>
              <a:defRPr sz="14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BBBBCC"/>
                </a:solidFill>
                <a:latin typeface="맑은 고딕"/>
              </a:defRPr>
            </a:pPr>
            <a:r>
              <a:rPr/>
              <a:t>High bias → Model is too simple → Underfitting</a:t>
            </a:r>
          </a:p>
          <a:p>
            <a:pPr>
              <a:spcAft>
                <a:spcPts val="400"/>
              </a:spcAft>
              <a:defRPr sz="1400">
                <a:solidFill>
                  <a:srgbClr val="BBBBCC"/>
                </a:solidFill>
                <a:latin typeface="맑은 고딕"/>
              </a:defRPr>
            </a:pPr>
            <a:r>
              <a:rPr/>
              <a:t>Low bias → Captures data patterns well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011680"/>
            <a:ext cx="5303520" cy="25603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210312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4545"/>
                </a:solidFill>
                <a:latin typeface="맑은 고딕"/>
              </a:defRPr>
            </a:pPr>
            <a:r>
              <a:rPr/>
              <a:t>Variance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65176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BBBBCC"/>
                </a:solidFill>
                <a:latin typeface="맑은 고딕"/>
              </a:defRPr>
            </a:pPr>
            <a:r>
              <a:rPr/>
              <a:t>How well the predictions are in different training datasets Measures the prediction stability of a model.</a:t>
            </a:r>
          </a:p>
          <a:p>
            <a:pPr>
              <a:spcAft>
                <a:spcPts val="400"/>
              </a:spcAft>
              <a:defRPr sz="1400">
                <a:solidFill>
                  <a:srgbClr val="BBBBCC"/>
                </a:solidFill>
                <a:latin typeface="맑은 고딕"/>
              </a:defRPr>
            </a:pPr>
            <a:r>
              <a:rPr/>
              <a:t>High variance → Sensitive to training data → Overfitting</a:t>
            </a:r>
          </a:p>
          <a:p>
            <a:pPr>
              <a:spcAft>
                <a:spcPts val="400"/>
              </a:spcAft>
              <a:defRPr sz="14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BBBBCC"/>
                </a:solidFill>
                <a:latin typeface="맑은 고딕"/>
              </a:defRPr>
            </a:pPr>
            <a:r>
              <a:rPr/>
              <a:t>Low variance → Stable prediction even when data changes</a:t>
            </a:r>
          </a:p>
          <a:p>
            <a:pPr>
              <a:spcAft>
                <a:spcPts val="400"/>
              </a:spcAft>
              <a:defRPr sz="1400">
                <a:solidFill>
                  <a:srgbClr val="BBBBCC"/>
                </a:solidFill>
                <a:latin typeface="맑은 고딕"/>
              </a:defRPr>
            </a:pPr>
            <a:r>
              <a:rPr/>
              <a:t>Intuitive analogy: Hitting the bull's eye (bull's eye = actual correct answer)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846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맑은 고딕"/>
              </a:defRPr>
            </a:pPr>
            <a:r>
              <a:rPr/>
              <a:t>Low bias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5303520"/>
            <a:ext cx="2560320" cy="128016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5394960"/>
            <a:ext cx="1188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rPr/>
              <a:t>Low variance</a:t>
            </a:r>
            <a:br/>
            <a:r>
              <a:rPr/>
              <a:t>Ideal (Best)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5577840"/>
            <a:ext cx="1188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E696"/>
                </a:solidFill>
                <a:latin typeface="맑은 고딕"/>
              </a:defRPr>
            </a:pPr>
            <a:r>
              <a:rPr/>
              <a:t>High bias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83280" y="5303520"/>
            <a:ext cx="2560320" cy="128016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20440" y="5394960"/>
            <a:ext cx="1188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rPr/>
              <a:t>Low Variance</a:t>
            </a:r>
            <a:br/>
            <a:r>
              <a:rPr/>
              <a:t>Underfit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5577840"/>
            <a:ext cx="1188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8C00"/>
                </a:solidFill>
                <a:latin typeface="맑은 고딕"/>
              </a:defRPr>
            </a:pPr>
            <a:r>
              <a:rPr/>
              <a:t>Low Bias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5303520"/>
            <a:ext cx="2560320" cy="128016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5080" y="5394960"/>
            <a:ext cx="1188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rPr/>
              <a:t>High Variance</a:t>
            </a:r>
            <a:br/>
            <a:r>
              <a:rPr/>
              <a:t>Overfit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0" y="5577840"/>
            <a:ext cx="1188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4545"/>
                </a:solidFill>
                <a:latin typeface="맑은 고딕"/>
              </a:defRPr>
            </a:pPr>
            <a:r>
              <a:rPr/>
              <a:t>High Bias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52560" y="5303520"/>
            <a:ext cx="2560320" cy="128016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888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89720" y="5394960"/>
            <a:ext cx="1188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rPr/>
              <a:t>High Variance</a:t>
            </a:r>
            <a:br/>
            <a:r>
              <a:rPr/>
              <a:t>Worst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32720" y="5577840"/>
            <a:ext cx="1188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888899"/>
                </a:solidFill>
                <a:latin typeface="맑은 고딕"/>
              </a:defRPr>
            </a:pPr>
            <a:r>
              <a:rPr/>
              <a:t>최악 (Worst)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rPr/>
              <a:t>Bias-variance decomposition: Formula derivation (1/2)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Problem Setup &amp; Derivation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1064240" cy="10972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1031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6FF"/>
                </a:solidFill>
                <a:latin typeface="맑은 고딕"/>
              </a:defRPr>
            </a:pPr>
            <a:r>
              <a:rPr/>
              <a:t>Step 1: Assume data generation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4688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  <a:latin typeface="맑은 고딕"/>
              </a:defRPr>
            </a:pPr>
            <a:r>
              <a:t>y = f(x) + e,    e ~ N(0, s²)</a:t>
            </a:r>
            <a:br/>
            <a:r>
              <a:rPr/>
              <a:t>Where f(x) is the ground truth and e is irreducible noise (irreducible error)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383280"/>
            <a:ext cx="11064240" cy="10972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4747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FF"/>
                </a:solidFill>
                <a:latin typeface="맑은 고딕"/>
              </a:defRPr>
            </a:pPr>
            <a:r>
              <a:rPr/>
              <a:t>Step 2: Define Expected Prediction Error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8404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  <a:latin typeface="맑은 고딕"/>
              </a:defRPr>
            </a:pPr>
            <a:r>
              <a:rPr/>
              <a:t>Prediction of model trained on training dataset D: f_hat_D(x)</a:t>
            </a:r>
            <a:br/>
            <a:r>
              <a:t>EPE(x) = E_D[(y - f_hat_D(x))²]  =  E_D[(f(x) + e - f_hat_D(x))²]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754880"/>
            <a:ext cx="11064240" cy="1828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8463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E696"/>
                </a:solidFill>
                <a:latin typeface="맑은 고딕"/>
              </a:defRPr>
            </a:pPr>
            <a:r>
              <a:rPr/>
              <a:t>Step 3: Average prediction Introduction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21208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rPr/>
              <a:t>f_bar(x) = E_D[f_hat_D(x)] ← Expected value of model predictions for multiple datasets (average prediction)</a:t>
            </a:r>
            <a:br/>
            <a:br/>
            <a:r>
              <a:rPr/>
              <a:t>Decompose f_hat_D(x) as follows:</a:t>
            </a:r>
            <a:br/>
            <a:r>
              <a:t>f_hat_D(x) = f_bar(x) + (f_hat_D(x) - f_bar(x))</a:t>
            </a:r>
            <a:br/>
            <a:r>
              <a:rPr/>
              <a:t>↑ Average Prediction ↑ Deviation from Average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rPr/>
              <a:t>Bias-Variance Decomposition: Formula Derivation (2/2)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Final Decomposition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1064240" cy="13716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1031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8C00"/>
                </a:solidFill>
                <a:latin typeface="맑은 고딕"/>
              </a:defRPr>
            </a:pPr>
            <a:r>
              <a:rPr/>
              <a:t>Step 4: Expand and Cleanup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4688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EPE(x) = E[(f(x) + e - f_hat(x))²]</a:t>
            </a:r>
            <a:br/>
            <a:r>
              <a:rPr/>
              <a:t>= E[(f(x) - f_bar(x))² + (f_hat(x) - f_bar(x))² + e² + cross terms]</a:t>
            </a:r>
            <a:br/>
            <a:r>
              <a:rPr/>
              <a:t>The cross terms are all 0 because e and f_hat are independent and E[e]=0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657600"/>
            <a:ext cx="11064240" cy="1371600"/>
          </a:xfrm>
          <a:prstGeom prst="roundRect">
            <a:avLst>
              <a:gd name="adj" fmla="val 5000"/>
            </a:avLst>
          </a:prstGeom>
          <a:solidFill>
            <a:srgbClr val="151530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3749039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D2FF"/>
                </a:solidFill>
                <a:latin typeface="맑은 고딕"/>
              </a:defRPr>
            </a:pPr>
            <a:r>
              <a:t>EPE = Bias² + Variance + s²  (Irreducible Error)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38912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8899"/>
                </a:solidFill>
                <a:latin typeface="맑은 고딕"/>
              </a:defRPr>
            </a:pPr>
            <a:r>
              <a:rPr/>
              <a:t>Total error = systematic error due to model assumptions + instability due to data fluctuation + data itself Noise |||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5303520"/>
            <a:ext cx="164592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530352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rPr/>
              <a:t>항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194560" y="5303520"/>
            <a:ext cx="256032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94560" y="53035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rPr/>
              <a:t>수식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54880" y="5303520"/>
            <a:ext cx="32004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4880" y="53035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rPr/>
              <a:t>의미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955280" y="5303520"/>
            <a:ext cx="27432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55280" y="53035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rPr/>
              <a:t>줄이는 방법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5760720"/>
            <a:ext cx="164592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576072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Bias²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194560" y="5760720"/>
            <a:ext cx="256032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94560" y="57607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(f(x) - f_bar(x))²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754880" y="5760720"/>
            <a:ext cx="32004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54880" y="57607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rPr/>
              <a:t>모델 가정에 의한 체계적 오차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955280" y="5760720"/>
            <a:ext cx="27432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55280" y="57607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rPr/>
              <a:t>모델 복잡도 증가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6217920"/>
            <a:ext cx="164592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621792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Variance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194560" y="6217920"/>
            <a:ext cx="256032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194560" y="62179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E[(f_hat - f_bar)²]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754880" y="6217920"/>
            <a:ext cx="32004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54880" y="62179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rPr/>
              <a:t>데이터 변동에 의한 예측 불안정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955280" y="6217920"/>
            <a:ext cx="27432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955280" y="62179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rPr/>
              <a:t>모델 복잡도 감소, 앙상블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6675120"/>
            <a:ext cx="164592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" y="667512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rPr/>
              <a:t>s² (비가약)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194560" y="6675120"/>
            <a:ext cx="256032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194560" y="66751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s²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754880" y="6675120"/>
            <a:ext cx="32004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54880" y="66751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rPr/>
              <a:t>데이터 자체 노이즈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955280" y="6675120"/>
            <a:ext cx="27432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955280" y="66751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rPr/>
              <a:t>줄일 수 없음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rPr/>
              <a:t>Bias-variance tradeoff graph &amp; model-specific characteristics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011680"/>
            <a:ext cx="5303520" cy="43891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031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6FF"/>
                </a:solidFill>
                <a:latin typeface="맑은 고딕"/>
              </a:defRPr>
            </a:pPr>
            <a:r>
              <a:rPr/>
              <a:t>Graph interpretation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56032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→ Bias is reduced (complex patterns can be captured)</a:t>
            </a:r>
          </a:p>
          <a:p>
            <a:pPr>
              <a:spcAft>
                <a:spcPts val="3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→ Variance increases (becomes sensitive to data)</a:t>
            </a:r>
          </a:p>
          <a:p>
            <a:pPr>
              <a:spcAft>
                <a:spcPts val="3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3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Optimal model complexity:</a:t>
            </a:r>
          </a:p>
          <a:p>
            <a:pPr>
              <a:spcAft>
                <a:spcPts val="3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→ Point where the sum of Bias² + Variance is minimum</a:t>
            </a:r>
          </a:p>
          <a:p>
            <a:pPr>
              <a:spcAft>
                <a:spcPts val="3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→ At this point, generalization performance is maximum</a:t>
            </a:r>
          </a:p>
          <a:p>
            <a:pPr>
              <a:spcAft>
                <a:spcPts val="3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3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Left (low complexity) = underfitting region</a:t>
            </a:r>
          </a:p>
          <a:p>
            <a:pPr>
              <a:spcAft>
                <a:spcPts val="3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Right (high complexity) = overfitting region</a:t>
            </a:r>
          </a:p>
          <a:p>
            <a:pPr>
              <a:spcAft>
                <a:spcPts val="3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Bias-variance characteristics by model</a:t>
            </a:r>
          </a:p>
          <a:p>
            <a:pPr>
              <a:spcAft>
                <a:spcPts val="3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3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Model</a:t>
            </a:r>
          </a:p>
          <a:p>
            <a:pPr>
              <a:spcAft>
                <a:spcPts val="3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Bias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20116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FF"/>
                </a:solidFill>
                <a:latin typeface="맑은 고딕"/>
              </a:defRPr>
            </a:pPr>
            <a:r>
              <a:rPr/>
              <a:t>Variance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2468880"/>
            <a:ext cx="155448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246888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rPr/>
              <a:t>Features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0" y="2468880"/>
            <a:ext cx="73152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0" y="246888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rPr/>
              <a:t>Linear regression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503920" y="2468880"/>
            <a:ext cx="9144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03920" y="246888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rPr/>
              <a:t>High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418320" y="2468880"/>
            <a:ext cx="146304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18320" y="246888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rPr/>
              <a:t>Low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2926080"/>
            <a:ext cx="1554480" cy="438912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0" y="2926080"/>
            <a:ext cx="1554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rPr/>
              <a:t>Simple, stable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0" y="2926080"/>
            <a:ext cx="731520" cy="438912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2926080"/>
            <a:ext cx="731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rPr/>
              <a:t>KNN (K) Large)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503920" y="2926080"/>
            <a:ext cx="914400" cy="438912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03920" y="2926080"/>
            <a:ext cx="914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rPr/>
              <a:t>High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418320" y="2926080"/>
            <a:ext cx="1463040" cy="438912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418320" y="2926080"/>
            <a:ext cx="1463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rPr/>
              <a:t>Low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3364992"/>
            <a:ext cx="1554480" cy="438912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17920" y="3364992"/>
            <a:ext cx="1554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rPr/>
              <a:t>Over-Smoothing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0" y="3364992"/>
            <a:ext cx="731520" cy="438912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0" y="3364992"/>
            <a:ext cx="731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rPr/>
              <a:t>KNN (K Small)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503920" y="3364992"/>
            <a:ext cx="914400" cy="438912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03920" y="3364992"/>
            <a:ext cx="914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rPr/>
              <a:t>Low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418320" y="3364992"/>
            <a:ext cx="1463040" cy="438912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418320" y="3364992"/>
            <a:ext cx="1463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rPr/>
              <a:t>High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17920" y="3803904"/>
            <a:ext cx="1554480" cy="438912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17920" y="3803904"/>
            <a:ext cx="1554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rPr/>
              <a:t>Noise Sensitive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772400" y="3803904"/>
            <a:ext cx="731520" cy="438912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772400" y="3803904"/>
            <a:ext cx="731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rPr/>
              <a:t>Decision Tree (Deep)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503920" y="3803904"/>
            <a:ext cx="914400" cy="438912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503920" y="3803904"/>
            <a:ext cx="914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rPr/>
              <a:t>Low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418320" y="3803904"/>
            <a:ext cx="1463040" cy="438912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418320" y="3803904"/>
            <a:ext cx="1463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rPr/>
              <a:t>High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217920" y="4242816"/>
            <a:ext cx="1554480" cy="438912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17920" y="4242816"/>
            <a:ext cx="1554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rPr/>
              <a:t>Tendency to overfit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772400" y="4242816"/>
            <a:ext cx="731520" cy="438912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772400" y="4242816"/>
            <a:ext cx="731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rPr/>
              <a:t>Random Forest |||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503920" y="4242816"/>
            <a:ext cx="914400" cy="438912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503920" y="4242816"/>
            <a:ext cx="914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rPr/>
              <a:t>높음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418320" y="4242816"/>
            <a:ext cx="1463040" cy="438912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418320" y="4242816"/>
            <a:ext cx="1463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rPr/>
              <a:t>과적합 경향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217920" y="4681728"/>
            <a:ext cx="1554480" cy="438912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217920" y="4681728"/>
            <a:ext cx="1554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rPr/>
              <a:t>랜덤 포레스트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772400" y="4681728"/>
            <a:ext cx="731520" cy="438912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772400" y="4681728"/>
            <a:ext cx="731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rPr/>
              <a:t>낮음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503920" y="4681728"/>
            <a:ext cx="914400" cy="438912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503920" y="4681728"/>
            <a:ext cx="914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rPr/>
              <a:t>적절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418320" y="4681728"/>
            <a:ext cx="1463040" cy="438912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418320" y="4681728"/>
            <a:ext cx="1463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rPr/>
              <a:t>앙상블→분산↓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217920" y="5120640"/>
            <a:ext cx="1554480" cy="438912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217920" y="5120640"/>
            <a:ext cx="1554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rPr/>
              <a:t>부스팅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772400" y="5120640"/>
            <a:ext cx="731520" cy="438912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772400" y="5120640"/>
            <a:ext cx="731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rPr/>
              <a:t>낮음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503920" y="5120640"/>
            <a:ext cx="914400" cy="438912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503920" y="5120640"/>
            <a:ext cx="914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rPr/>
              <a:t>적절~높음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418320" y="5120640"/>
            <a:ext cx="1463040" cy="438912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418320" y="5120640"/>
            <a:ext cx="1463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rPr/>
              <a:t>편향 감소 강점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6217920" y="5577840"/>
            <a:ext cx="5029200" cy="7315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400800" y="5623560"/>
            <a:ext cx="4663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99"/>
                </a:solidFill>
                <a:latin typeface="맑은 고딕"/>
              </a:defRPr>
            </a:pPr>
            <a:r>
              <a:t>ESL (Hastie et al., 2009) Ch2:</a:t>
            </a:r>
            <a:br/>
            <a:r>
              <a:rPr/>
              <a:t>최소제곱법(높은 편향, 낮은 분산) vs k-NN(낮은 편향, 높은 분산) 비교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50800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8288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4545"/>
                </a:solidFill>
                <a:latin typeface="맑은 고딕"/>
              </a:defRPr>
            </a:pPr>
            <a:r>
              <a:t>SECTION 06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2468880"/>
            <a:ext cx="2103120" cy="38100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74320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맑은 고딕"/>
              </a:defRPr>
            </a:pPr>
            <a:r>
              <a:rPr/>
              <a:t>No Free Lunch Summary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84048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88899"/>
                </a:solidFill>
                <a:latin typeface="맑은 고딕"/>
              </a:defRPr>
            </a:pPr>
            <a:r>
              <a:t>Wolpert &amp; Macready (1997)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rPr/>
              <a:t>No Free Lunch Theorem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rPr/>
              <a:t>Key content and mathematical definition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1064240" cy="11887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1031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4545"/>
                </a:solidFill>
                <a:latin typeface="맑은 고딕"/>
              </a:defRPr>
            </a:pPr>
            <a:r>
              <a:rPr/>
              <a:t>Key argument (Wolpert &amp; Macready, 1997)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4688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  <a:latin typeface="맑은 고딕"/>
              </a:defRPr>
            </a:pPr>
            <a:r>
              <a:rPr/>
              <a:t>Averaged over all possible problems (objective functions), any two optimization (or learning) algorithms perform the same.</a:t>
            </a:r>
            <a:br/>
            <a:r>
              <a:rPr/>
              <a:t>→ There is no "best algorithm". You should always choose an algorithm that fits the problem.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474720"/>
            <a:ext cx="1106424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5661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FF"/>
                </a:solidFill>
                <a:latin typeface="맑은 고딕"/>
              </a:defRPr>
            </a:pPr>
            <a:r>
              <a:rPr/>
              <a:t>Mathematical Definition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931920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X: Set of candidate solutions</a:t>
            </a:r>
          </a:p>
          <a:p>
            <a:pPr>
              <a:spcAft>
                <a:spcPts val="3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Y: Set of cost values</a:t>
            </a:r>
          </a:p>
          <a:p>
            <a:pPr>
              <a:spcAft>
                <a:spcPts val="3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f: A2 is definitely better than A1 in other problems |  Random search is, on average, equivalent to a sophisticated algorithm.</a:t>
            </a:r>
          </a:p>
          <a:p>
            <a:pPr>
              <a:spcAft>
                <a:spcPts val="3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a: 최적화 알고리즘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3931920"/>
            <a:ext cx="5303520" cy="731520"/>
          </a:xfrm>
          <a:prstGeom prst="rect">
            <a:avLst/>
          </a:prstGeom>
          <a:solidFill>
            <a:srgbClr val="151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0" y="3977639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D2FF"/>
                </a:solidFill>
                <a:latin typeface="맑은 고딕"/>
              </a:defRPr>
            </a:pPr>
            <a:r>
              <a:t>Sf P(d_m^y | f, m, a1) = Sf P(d_m^y | f, m, a2)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470916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rPr/>
              <a:t>모든 함수 f에 대해 합산하면, 모든 알고리즘 쌍</a:t>
            </a:r>
            <a:br/>
            <a:r>
              <a:rPr/>
              <a:t>(a1, a2)에 대해 위 등식이 성립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5943600"/>
            <a:ext cx="11064240" cy="6400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5943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a1이 특정 문제에서 a2보다 우수하면, 반드시 다른 문제에서는 a2가 a1보다 우수  |  무작위 탐색도 평균적으로 정교한 알고리즘과 동일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rPr/>
              <a:t>NFL Theorem: Key Assumptions and Practical Implications || deterministic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rPr/>
              <a:t>Probabilistic problems are analyzed separately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286000"/>
            <a:ext cx="27432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rPr/>
              <a:t>Caution: NFL is misunderstood as "all algorithms are equal", but in reality, problems have a structure, so a specific algorithm is advantageous!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1840" y="2286000"/>
            <a:ext cx="32004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91840" y="22860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rPr/>
              <a:t>5 practical implications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92240" y="2286000"/>
            <a:ext cx="41148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22860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rPr/>
              <a:t>There is no "best algorithm"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743200"/>
            <a:ext cx="27432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7432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rPr/>
              <a:t>Always select the algorithm that fits the problem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91840" y="2743200"/>
            <a:ext cx="32004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91840" y="27432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rPr/>
              <a:t>Use of prior knowledge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92240" y="2743200"/>
            <a:ext cx="41148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27432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rPr/>
              <a:t>Problem structure (inductive bias) is the key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200400"/>
            <a:ext cx="27432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2004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rPr/>
              <a:t>Various algorithms Try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91840" y="3200400"/>
            <a:ext cx="32004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91840" y="32004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rPr/>
              <a:t>Do not rely on one, compare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92240" y="3200400"/>
            <a:ext cx="41148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32004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rPr/>
              <a:t>Limitations of benchmarks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3657600"/>
            <a:ext cx="27432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36576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rPr/>
              <a:t>Specific performance ≠ superior for all problems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91840" y="3657600"/>
            <a:ext cx="32004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91840" y="36576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rPr/>
              <a:t>Rationale of AutoML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92240" y="3657600"/>
            <a:ext cx="41148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92240" y="36576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rPr/>
              <a:t>Justification for automatic algorithm selection/tuning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3840480"/>
            <a:ext cx="11064240" cy="54864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38862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8C00"/>
                </a:solidFill>
                <a:latin typeface="맑은 고딕"/>
              </a:defRPr>
            </a:pPr>
            <a:r>
              <a:rPr/>
              <a:t>주의: NFL은 "모든 알고리즘이 동등하다"로 오해되지만, 현실 문제는 구조(structure)를 가지고 있어 특정 알고리즘이 유리!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45720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rPr/>
              <a:t>실무적 시사점 5가지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65760" y="5029200"/>
            <a:ext cx="2148840" cy="16459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457200" y="5120640"/>
            <a:ext cx="320040" cy="320040"/>
          </a:xfrm>
          <a:prstGeom prst="roundRect">
            <a:avLst>
              <a:gd name="adj" fmla="val 5000"/>
            </a:avLst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" y="512064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8680" y="512064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rPr/>
              <a:t>"최고의 알고리즘"은 없다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5577840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rPr/>
              <a:t>항상 문제에 맞는 알고리즘 선택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697480" y="5029200"/>
            <a:ext cx="2148840" cy="16459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2788920" y="5120640"/>
            <a:ext cx="320040" cy="320040"/>
          </a:xfrm>
          <a:prstGeom prst="roundRect">
            <a:avLst>
              <a:gd name="adj" fmla="val 5000"/>
            </a:avLst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788920" y="512064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200400" y="512064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E696"/>
                </a:solidFill>
                <a:latin typeface="맑은 고딕"/>
              </a:defRPr>
            </a:pPr>
            <a:r>
              <a:rPr/>
              <a:t>사전 지식의 활용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834640" y="5577840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rPr/>
              <a:t>문제 구조(귀납적 편향)가 핵심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029200" y="5029200"/>
            <a:ext cx="2148840" cy="16459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5120640" y="5120640"/>
            <a:ext cx="320040" cy="320040"/>
          </a:xfrm>
          <a:prstGeom prst="roundRect">
            <a:avLst>
              <a:gd name="adj" fmla="val 5000"/>
            </a:avLst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120640" y="512064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532120" y="512064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8C00"/>
                </a:solidFill>
                <a:latin typeface="맑은 고딕"/>
              </a:defRPr>
            </a:pPr>
            <a:r>
              <a:rPr/>
              <a:t>다양한 알고리즘 시도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166360" y="5577840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rPr/>
              <a:t>하나에 의존하지 말고 비교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360920" y="5029200"/>
            <a:ext cx="2148840" cy="16459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7452360" y="5120640"/>
            <a:ext cx="320040" cy="320040"/>
          </a:xfrm>
          <a:prstGeom prst="roundRect">
            <a:avLst>
              <a:gd name="adj" fmla="val 5000"/>
            </a:avLst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452360" y="512064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863840" y="512064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4545"/>
                </a:solidFill>
                <a:latin typeface="맑은 고딕"/>
              </a:defRPr>
            </a:pPr>
            <a:r>
              <a:rPr/>
              <a:t>벤치마크의 한계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498080" y="5577840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rPr/>
              <a:t>특정 성능 ≠ 모든 문제 우수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9692640" y="5029200"/>
            <a:ext cx="2148840" cy="16459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9784080" y="5120640"/>
            <a:ext cx="320040" cy="320040"/>
          </a:xfrm>
          <a:prstGeom prst="roundRect">
            <a:avLst>
              <a:gd name="adj" fmla="val 5000"/>
            </a:avLst>
          </a:prstGeom>
          <a:solidFill>
            <a:srgbClr val="A0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784080" y="512064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195560" y="512064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A06CFF"/>
                </a:solidFill>
                <a:latin typeface="맑은 고딕"/>
              </a:defRPr>
            </a:pPr>
            <a:r>
              <a:rPr/>
              <a:t>AutoML의 근거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829800" y="5577840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rPr/>
              <a:t>자동 알고리즘 선택/튜닝 당위성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508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8288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96FF"/>
                </a:solidFill>
                <a:latin typeface="맑은 고딕"/>
              </a:defRPr>
            </a:pPr>
            <a:r>
              <a:t>SECTION 07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2468880"/>
            <a:ext cx="210312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74320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맑은 고딕"/>
              </a:defRPr>
            </a:pPr>
            <a:r>
              <a:rPr/>
              <a:t>Model evaluation: cross-validation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84048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88899"/>
                </a:solidFill>
                <a:latin typeface="맑은 고딕"/>
              </a:defRPr>
            </a:pPr>
            <a:r>
              <a:t>Cross-Validation Strategies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rPr/>
              <a:t>Why divide data? &amp; Hold-Out || 80:20)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011680"/>
            <a:ext cx="11064240" cy="10972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031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6FF"/>
                </a:solidFill>
                <a:latin typeface="맑은 고딕"/>
              </a:defRPr>
            </a:pPr>
            <a:r>
              <a:rPr/>
              <a:t>Advantages: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4688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rPr/>
              <a:t>• Lowest computational cost</a:t>
            </a:r>
            <a:br/>
            <a:r>
              <a:rPr/>
              <a:t>• Simple to implement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383280"/>
            <a:ext cx="11064240" cy="32004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4747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8C00"/>
                </a:solidFill>
                <a:latin typeface="맑은 고딕"/>
              </a:defRPr>
            </a:pPr>
            <a:r>
              <a:rPr/>
              <a:t>Disadvantages: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9319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맑은 고딕"/>
              </a:defRPr>
            </a:pPr>
            <a:r>
              <a:rPr/>
              <a:t>• Results vary greatly depending on the split (high variance)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38912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• Inefficient use of data ||</a:t>
            </a:r>
          </a:p>
          <a:p>
            <a:pPr>
              <a:spcAft>
                <a:spcPts val="3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  • 계산 비용이 가장 낮음</a:t>
            </a:r>
          </a:p>
          <a:p>
            <a:pPr>
              <a:spcAft>
                <a:spcPts val="3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  • 구현이 간단</a:t>
            </a:r>
          </a:p>
          <a:p>
            <a:pPr>
              <a:spcAft>
                <a:spcPts val="3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단점:</a:t>
            </a:r>
          </a:p>
          <a:p>
            <a:pPr>
              <a:spcAft>
                <a:spcPts val="3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  • 분할에 따라 결과가 크게 달라짐 (높은 분산)</a:t>
            </a:r>
          </a:p>
          <a:p>
            <a:pPr>
              <a:spcAft>
                <a:spcPts val="3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  • 데이터를 비효율적으로 사용</a:t>
            </a:r>
          </a:p>
          <a:p>
            <a:pPr>
              <a:spcAft>
                <a:spcPts val="3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사용 시기: 데이터가 매우 많을 때, 빠른 프로토타이핑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41148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rPr/>
              <a:t>Hold-Out 분할 예시: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4480560"/>
            <a:ext cx="3657600" cy="36576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44805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맑은 고딕"/>
              </a:defRPr>
            </a:pPr>
            <a:r>
              <a:rPr/>
              <a:t>학습 데이터 (80%)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058400" y="4480560"/>
            <a:ext cx="914400" cy="365760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0" y="44805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맑은 고딕"/>
              </a:defRPr>
            </a:pPr>
            <a:r>
              <a:rPr/>
              <a:t>테스트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51206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4545"/>
                </a:solidFill>
                <a:latin typeface="맑은 고딕"/>
              </a:defRPr>
            </a:pPr>
            <a:r>
              <a:rPr/>
              <a:t>다른 분할 → 다른 결과: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5486400"/>
            <a:ext cx="2743200" cy="27432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144000" y="5486400"/>
            <a:ext cx="1828800" cy="274320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0" y="5852160"/>
            <a:ext cx="4114800" cy="27432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515600" y="5852160"/>
            <a:ext cx="457200" cy="274320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rPr/>
              <a:t>K-Fold &amp; Stratified K-Fold cross-validation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011680"/>
            <a:ext cx="5303520" cy="43891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031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96FF"/>
                </a:solidFill>
                <a:latin typeface="맑은 고딕"/>
              </a:defRPr>
            </a:pPr>
            <a:r>
              <a:rPr/>
              <a:t>K-Fold cross-validation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56032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맑은 고딕"/>
              </a:defRPr>
            </a:pPr>
            <a:r>
              <a:rPr/>
              <a:t>Divide the data into K folds and evaluate K times</a:t>
            </a:r>
            <a:br/>
            <a:r>
              <a:rPr/>
              <a:t>Final performance = (Performance 1+Performance 2+...+Performance K) / 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29184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99"/>
                </a:solidFill>
                <a:latin typeface="맑은 고딕"/>
              </a:defRPr>
            </a:pPr>
            <a:r>
              <a:t>Fold 1: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0" y="3291840"/>
            <a:ext cx="640080" cy="201168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560320" y="3291840"/>
            <a:ext cx="640080" cy="201168"/>
          </a:xfrm>
          <a:prstGeom prst="rect">
            <a:avLst/>
          </a:prstGeom>
          <a:solidFill>
            <a:srgbClr val="2A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91840" y="3291840"/>
            <a:ext cx="640080" cy="201168"/>
          </a:xfrm>
          <a:prstGeom prst="rect">
            <a:avLst/>
          </a:prstGeom>
          <a:solidFill>
            <a:srgbClr val="2A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023360" y="3291840"/>
            <a:ext cx="640080" cy="201168"/>
          </a:xfrm>
          <a:prstGeom prst="rect">
            <a:avLst/>
          </a:prstGeom>
          <a:solidFill>
            <a:srgbClr val="2A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0" y="3291840"/>
            <a:ext cx="640080" cy="201168"/>
          </a:xfrm>
          <a:prstGeom prst="rect">
            <a:avLst/>
          </a:prstGeom>
          <a:solidFill>
            <a:srgbClr val="2A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54787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99"/>
                </a:solidFill>
                <a:latin typeface="맑은 고딕"/>
              </a:defRPr>
            </a:pPr>
            <a:r>
              <a:t>Fold 2: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28800" y="3547872"/>
            <a:ext cx="640080" cy="201168"/>
          </a:xfrm>
          <a:prstGeom prst="rect">
            <a:avLst/>
          </a:prstGeom>
          <a:solidFill>
            <a:srgbClr val="2A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560320" y="3547872"/>
            <a:ext cx="640080" cy="201168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91840" y="3547872"/>
            <a:ext cx="640080" cy="201168"/>
          </a:xfrm>
          <a:prstGeom prst="rect">
            <a:avLst/>
          </a:prstGeom>
          <a:solidFill>
            <a:srgbClr val="2A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023360" y="3547872"/>
            <a:ext cx="640080" cy="201168"/>
          </a:xfrm>
          <a:prstGeom prst="rect">
            <a:avLst/>
          </a:prstGeom>
          <a:solidFill>
            <a:srgbClr val="2A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754880" y="3547872"/>
            <a:ext cx="640080" cy="201168"/>
          </a:xfrm>
          <a:prstGeom prst="rect">
            <a:avLst/>
          </a:prstGeom>
          <a:solidFill>
            <a:srgbClr val="2A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3803904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99"/>
                </a:solidFill>
                <a:latin typeface="맑은 고딕"/>
              </a:defRPr>
            </a:pPr>
            <a:r>
              <a:t>Fold 3: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828800" y="3803904"/>
            <a:ext cx="640080" cy="201168"/>
          </a:xfrm>
          <a:prstGeom prst="rect">
            <a:avLst/>
          </a:prstGeom>
          <a:solidFill>
            <a:srgbClr val="2A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560320" y="3803904"/>
            <a:ext cx="640080" cy="201168"/>
          </a:xfrm>
          <a:prstGeom prst="rect">
            <a:avLst/>
          </a:prstGeom>
          <a:solidFill>
            <a:srgbClr val="2A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291840" y="3803904"/>
            <a:ext cx="640080" cy="201168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023360" y="3803904"/>
            <a:ext cx="640080" cy="201168"/>
          </a:xfrm>
          <a:prstGeom prst="rect">
            <a:avLst/>
          </a:prstGeom>
          <a:solidFill>
            <a:srgbClr val="2A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754880" y="3803904"/>
            <a:ext cx="640080" cy="201168"/>
          </a:xfrm>
          <a:prstGeom prst="rect">
            <a:avLst/>
          </a:prstGeom>
          <a:solidFill>
            <a:srgbClr val="2A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4059936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99"/>
                </a:solidFill>
                <a:latin typeface="맑은 고딕"/>
              </a:defRPr>
            </a:pPr>
            <a:r>
              <a:t>Fold 4: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828800" y="4059936"/>
            <a:ext cx="640080" cy="201168"/>
          </a:xfrm>
          <a:prstGeom prst="rect">
            <a:avLst/>
          </a:prstGeom>
          <a:solidFill>
            <a:srgbClr val="2A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560320" y="4059936"/>
            <a:ext cx="640080" cy="201168"/>
          </a:xfrm>
          <a:prstGeom prst="rect">
            <a:avLst/>
          </a:prstGeom>
          <a:solidFill>
            <a:srgbClr val="2A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291840" y="4059936"/>
            <a:ext cx="640080" cy="201168"/>
          </a:xfrm>
          <a:prstGeom prst="rect">
            <a:avLst/>
          </a:prstGeom>
          <a:solidFill>
            <a:srgbClr val="2A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023360" y="4059936"/>
            <a:ext cx="640080" cy="201168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754880" y="4059936"/>
            <a:ext cx="640080" cy="201168"/>
          </a:xfrm>
          <a:prstGeom prst="rect">
            <a:avLst/>
          </a:prstGeom>
          <a:solidFill>
            <a:srgbClr val="2A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60" y="431596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99"/>
                </a:solidFill>
                <a:latin typeface="맑은 고딕"/>
              </a:defRPr>
            </a:pPr>
            <a:r>
              <a:t>Fold 5: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828800" y="4315968"/>
            <a:ext cx="640080" cy="201168"/>
          </a:xfrm>
          <a:prstGeom prst="rect">
            <a:avLst/>
          </a:prstGeom>
          <a:solidFill>
            <a:srgbClr val="2A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560320" y="4315968"/>
            <a:ext cx="640080" cy="201168"/>
          </a:xfrm>
          <a:prstGeom prst="rect">
            <a:avLst/>
          </a:prstGeom>
          <a:solidFill>
            <a:srgbClr val="2A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291840" y="4315968"/>
            <a:ext cx="640080" cy="201168"/>
          </a:xfrm>
          <a:prstGeom prst="rect">
            <a:avLst/>
          </a:prstGeom>
          <a:solidFill>
            <a:srgbClr val="2A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023360" y="4315968"/>
            <a:ext cx="640080" cy="201168"/>
          </a:xfrm>
          <a:prstGeom prst="rect">
            <a:avLst/>
          </a:prstGeom>
          <a:solidFill>
            <a:srgbClr val="2A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754880" y="4315968"/>
            <a:ext cx="640080" cy="201168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2960" y="4754880"/>
            <a:ext cx="4754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BBBBCC"/>
                </a:solidFill>
                <a:latin typeface="맑은 고딕"/>
              </a:defRPr>
            </a:pPr>
            <a:r>
              <a:rPr/>
              <a:t>Advantage: Use all data for learning/evaluation</a:t>
            </a:r>
          </a:p>
          <a:p>
            <a:pPr>
              <a:spcAft>
                <a:spcPts val="300"/>
              </a:spcAft>
              <a:defRPr sz="1200">
                <a:solidFill>
                  <a:srgbClr val="BBBBCC"/>
                </a:solidFill>
                <a:latin typeface="맑은 고딕"/>
              </a:defRPr>
            </a:pPr>
            <a:r>
              <a:rPr/>
              <a:t>Disadvantage: In case of class imbalance, the ratio for each fold may be different</a:t>
            </a:r>
          </a:p>
          <a:p>
            <a:pPr>
              <a:spcAft>
                <a:spcPts val="300"/>
              </a:spcAft>
              <a:defRPr sz="1200">
                <a:solidFill>
                  <a:srgbClr val="BBBBCC"/>
                </a:solidFill>
                <a:latin typeface="맑은 고딕"/>
              </a:defRPr>
            </a:pPr>
            <a:r>
              <a:rPr/>
              <a:t>K=5 or K=10 Standard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17920" y="2011680"/>
            <a:ext cx="5303520" cy="43891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92240" y="21031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E696"/>
                </a:solidFill>
                <a:latin typeface="맑은 고딕"/>
              </a:defRPr>
            </a:pPr>
            <a:r>
              <a:rPr/>
              <a:t>Stratified K-Fold Cross-Validation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92240" y="256032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맑은 고딕"/>
              </a:defRPr>
            </a:pPr>
            <a:r>
              <a:rPr/>
              <a:t>K-Fold + Keep class ratio in each fold the same as the original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92240" y="3200400"/>
            <a:ext cx="47548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BBBBCC"/>
                </a:solidFill>
                <a:latin typeface="맑은 고딕"/>
              </a:defRPr>
            </a:pPr>
            <a:r>
              <a:rPr/>
              <a:t>Advantage:</a:t>
            </a:r>
          </a:p>
          <a:p>
            <a:pPr>
              <a:spcAft>
                <a:spcPts val="300"/>
              </a:spcAft>
              <a:defRPr sz="1200">
                <a:solidFill>
                  <a:srgbClr val="BBBBCC"/>
                </a:solidFill>
                <a:latin typeface="맑은 고딕"/>
              </a:defRPr>
            </a:pPr>
            <a:r>
              <a:rPr/>
              <a:t>• Stable in class imbalanced data</a:t>
            </a:r>
          </a:p>
          <a:p>
            <a:pPr>
              <a:spcAft>
                <a:spcPts val="300"/>
              </a:spcAft>
              <a:defRPr sz="1200">
                <a:solidFill>
                  <a:srgbClr val="BBBBCC"/>
                </a:solidFill>
                <a:latin typeface="맑은 고딕"/>
              </a:defRPr>
            </a:pPr>
            <a:r>
              <a:rPr/>
              <a:t>• Most widely recommended CV strategies</a:t>
            </a:r>
          </a:p>
          <a:p>
            <a:pPr>
              <a:spcAft>
                <a:spcPts val="300"/>
              </a:spcAft>
              <a:defRPr sz="1200">
                <a:solidFill>
                  <a:srgbClr val="BBBBCC"/>
                </a:solidFill>
                <a:latin typeface="맑은 고딕"/>
              </a:defRPr>
            </a:pPr>
            <a:r>
              <a:rPr/>
              <a:t>• sklearn's basic CV strategy</a:t>
            </a:r>
          </a:p>
          <a:p>
            <a:pPr>
              <a:spcAft>
                <a:spcPts val="300"/>
              </a:spcAft>
              <a:defRPr sz="12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300"/>
              </a:spcAft>
              <a:defRPr sz="1200">
                <a:solidFill>
                  <a:srgbClr val="BBBBCC"/>
                </a:solidFill>
                <a:latin typeface="맑은 고딕"/>
              </a:defRPr>
            </a:pPr>
            <a:r>
              <a:rPr/>
              <a:t>Disadvantages:</a:t>
            </a:r>
          </a:p>
          <a:p>
            <a:pPr>
              <a:spcAft>
                <a:spcPts val="300"/>
              </a:spcAft>
              <a:defRPr sz="1200">
                <a:solidFill>
                  <a:srgbClr val="BBBBCC"/>
                </a:solidFill>
                <a:latin typeface="맑은 고딕"/>
              </a:defRPr>
            </a:pPr>
            <a:r>
              <a:rPr/>
              <a:t>• Not directly applicable to regression problems (continuous values)</a:t>
            </a:r>
          </a:p>
          <a:p>
            <a:pPr>
              <a:spcAft>
                <a:spcPts val="300"/>
              </a:spcAft>
              <a:defRPr sz="12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300"/>
              </a:spcAft>
              <a:defRPr sz="1200">
                <a:solidFill>
                  <a:srgbClr val="BBBBCC"/>
                </a:solidFill>
                <a:latin typeface="맑은 고딕"/>
              </a:defRPr>
            </a:pPr>
            <a:r>
              <a:rPr/>
              <a:t>When to use:</a:t>
            </a:r>
          </a:p>
          <a:p>
            <a:pPr>
              <a:spcAft>
                <a:spcPts val="300"/>
              </a:spcAft>
              <a:defRPr sz="1200">
                <a:solidFill>
                  <a:srgbClr val="BBBBCC"/>
                </a:solidFill>
                <a:latin typeface="맑은 고딕"/>
              </a:defRPr>
            </a:pPr>
            <a:r>
              <a:rPr/>
              <a:t>• Classification problems, especially class imbalance</a:t>
            </a:r>
          </a:p>
          <a:p>
            <a:pPr>
              <a:spcAft>
                <a:spcPts val="300"/>
              </a:spcAft>
              <a:defRPr sz="1200">
                <a:solidFill>
                  <a:srgbClr val="BBBBCC"/>
                </a:solidFill>
                <a:latin typeface="맑은 고딕"/>
              </a:defRPr>
            </a:pPr>
            <a:r>
              <a:rPr/>
              <a:t>• Generally most recommended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rPr/>
              <a:t>Leave-One-Out &amp; Strategy Comparison Table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011680"/>
            <a:ext cx="5303520" cy="20116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031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A06CFF"/>
                </a:solidFill>
                <a:latin typeface="맑은 고딕"/>
              </a:defRPr>
            </a:pPr>
            <a:r>
              <a:t>Leave-One-Out (LOO)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560320"/>
            <a:ext cx="4754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Test only 1 thing at a time (K=N, extreme K-Fold)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Advantage: Lowest bias (training with almost all data)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Disadvantage: Very high computational cost (training N times), variance can be high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Usage: When there is very little data (N &lt; 50)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011680"/>
            <a:ext cx="5303520" cy="20116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21031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맑은 고딕"/>
              </a:defRPr>
            </a:pPr>
            <a:r>
              <a:rPr/>
              <a:t>Bias-variance tradeoff depending on K value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560320"/>
            <a:ext cx="4754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K is small (K=2): 50% of training data → high bias, low variance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K is large (K=N, LOO): almost all training → low bias, high variance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Practical optimal point: K = 5 ~ 10 Most commonly recommended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2062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rPr/>
              <a:t>Comparison of four strategies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572000"/>
            <a:ext cx="164592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45720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rPr/>
              <a:t>Strategy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194560" y="4572000"/>
            <a:ext cx="13716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94560" y="45720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rPr/>
              <a:t>Training data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566160" y="4572000"/>
            <a:ext cx="118872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66160" y="457200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rPr/>
              <a:t>Number of evaluations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754880" y="4572000"/>
            <a:ext cx="118872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54880" y="457200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rPr/>
              <a:t>Bias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0" y="4572000"/>
            <a:ext cx="118872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0" y="457200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rPr/>
              <a:t>Variance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132320" y="4572000"/>
            <a:ext cx="13716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32320" y="45720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rPr/>
              <a:t>Calculation Cost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5029200"/>
            <a:ext cx="1645920" cy="4114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502920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t>Hold-Out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194560" y="5029200"/>
            <a:ext cx="1371600" cy="4114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194560" y="502920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80%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566160" y="5029200"/>
            <a:ext cx="1188720" cy="4114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566160" y="5029200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rPr/>
              <a:t>1 time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754880" y="5029200"/>
            <a:ext cx="1188720" cy="4114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54880" y="5029200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rPr/>
              <a:t>High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43600" y="5029200"/>
            <a:ext cx="1188720" cy="4114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43600" y="5029200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rPr/>
              <a:t>High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132320" y="5029200"/>
            <a:ext cx="1371600" cy="4114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132320" y="502920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rPr/>
              <a:t>Very Low ||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5440680"/>
            <a:ext cx="1645920" cy="41148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" y="544068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t>5-Fold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194560" y="5440680"/>
            <a:ext cx="1371600" cy="41148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194560" y="544068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rPr/>
              <a:t>80%(반복)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566160" y="5440680"/>
            <a:ext cx="1188720" cy="41148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566160" y="5440680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rPr/>
              <a:t>5회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754880" y="5440680"/>
            <a:ext cx="1188720" cy="41148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754880" y="5440680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rPr/>
              <a:t>중간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943600" y="5440680"/>
            <a:ext cx="1188720" cy="41148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943600" y="5440680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rPr/>
              <a:t>중간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132320" y="5440680"/>
            <a:ext cx="1371600" cy="41148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132320" y="544068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rPr/>
              <a:t>중간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48640" y="5852160"/>
            <a:ext cx="1645920" cy="4114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48640" y="585216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t>10-Fold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194560" y="5852160"/>
            <a:ext cx="1371600" cy="4114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194560" y="585216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rPr/>
              <a:t>90%(반복)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566160" y="5852160"/>
            <a:ext cx="1188720" cy="4114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566160" y="5852160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rPr/>
              <a:t>10회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754880" y="5852160"/>
            <a:ext cx="1188720" cy="4114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754880" y="5852160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rPr/>
              <a:t>낮음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943600" y="5852160"/>
            <a:ext cx="1188720" cy="4114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943600" y="5852160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rPr/>
              <a:t>중간~높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132320" y="5852160"/>
            <a:ext cx="1371600" cy="4114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132320" y="585216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rPr/>
              <a:t>중간~높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48640" y="6263640"/>
            <a:ext cx="1645920" cy="41148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48640" y="626364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t>LOO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194560" y="6263640"/>
            <a:ext cx="1371600" cy="41148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194560" y="626364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(N-1)/N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566160" y="6263640"/>
            <a:ext cx="1188720" cy="41148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566160" y="6263640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rPr/>
              <a:t>N회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754880" y="6263640"/>
            <a:ext cx="1188720" cy="41148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754880" y="6263640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rPr/>
              <a:t>최저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943600" y="6263640"/>
            <a:ext cx="1188720" cy="41148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943600" y="6263640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rPr/>
              <a:t>높음</a:t>
            </a:r>
          </a:p>
        </p:txBody>
      </p:sp>
      <p:sp>
        <p:nvSpPr>
          <p:cNvPr id="70" name="Rectangle 69"/>
          <p:cNvSpPr/>
          <p:nvPr/>
        </p:nvSpPr>
        <p:spPr>
          <a:xfrm>
            <a:off x="7132320" y="6263640"/>
            <a:ext cx="1371600" cy="41148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132320" y="626364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rPr/>
              <a:t>매우 높음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48640" y="6400800"/>
            <a:ext cx="11064240" cy="2743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rPr/>
              <a:t>Overview of recommended strategies &amp; evaluation indicators by data size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011680"/>
            <a:ext cx="3566160" cy="146304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6FF"/>
                </a:solidFill>
                <a:latin typeface="맑은 고딕"/>
              </a:defRPr>
            </a:pPr>
            <a:r>
              <a:rPr/>
              <a:t>Large volume (&gt;10,000)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4688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rPr/>
              <a:t>Hold-Out or 3-Fold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8346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99"/>
                </a:solidFill>
                <a:latin typeface="맑은 고딕"/>
              </a:defRPr>
            </a:pPr>
            <a:r>
              <a:rPr/>
              <a:t>Prioritize calculation efficiency with sufficient data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1960" y="2011680"/>
            <a:ext cx="3566160" cy="146304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34840" y="21031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E696"/>
                </a:solidFill>
                <a:latin typeface="맑은 고딕"/>
              </a:defRPr>
            </a:pPr>
            <a:r>
              <a:rPr/>
              <a:t>Medium (100~10,000)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4840" y="24688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Stratified 5 or 10-Fold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28346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99"/>
                </a:solidFill>
                <a:latin typeface="맑은 고딕"/>
              </a:defRPr>
            </a:pPr>
            <a:r>
              <a:rPr/>
              <a:t>Stable estimation + appropriate cost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2011680"/>
            <a:ext cx="3566160" cy="146304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21031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8C00"/>
                </a:solidFill>
                <a:latin typeface="맑은 고딕"/>
              </a:defRPr>
            </a:pPr>
            <a:r>
              <a:rPr/>
              <a:t>Small volume (&lt;100)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24688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LOO or Repeated K-Fold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28346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99"/>
                </a:solidFill>
                <a:latin typeface="맑은 고딕"/>
              </a:defRPr>
            </a:pPr>
            <a:r>
              <a:rPr/>
              <a:t>Major evaluation indicators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749039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rPr/>
              <a:t>Regression evaluation Indicator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114800"/>
            <a:ext cx="5303520" cy="24688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2062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6FF"/>
                </a:solidFill>
                <a:latin typeface="맑은 고딕"/>
              </a:defRPr>
            </a:pPr>
            <a:r>
              <a:rPr/>
              <a:t>RMSE = sqrt(mean((y_pred - y_true)²)) → Sensitive to large errors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572000"/>
            <a:ext cx="49377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MAE = mean(|y_pred - y_true|) → Robust to outliers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R² = 1 - SS_res/SS_tot → Explanatory power (closer to 1 is better)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RMSE vs MAE: Prefer MAE if there are many outliers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R² &lt; 0 possible (Model worse than average)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Classification evaluation index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4114800"/>
            <a:ext cx="5303520" cy="24688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42062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rPr/>
              <a:t>Accuracy = (TP+TN)/(TP+TN+FP+FN) → Beware of imbalance!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4572000"/>
            <a:ext cx="49377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Precision = TP/(TP+FP) → Accuracy of positive prediction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Recall = TP/(TP+FN) → Actual positive detection rate (medical core)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F1 = 2*(Prec*Rec)/(Prec+Rec) → Harmony Average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AUC-ROC = Area under the ROC curve (0~1)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1.0=perfect, 0.5=random → threshold independent composite indicator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  1.0=완벽, 0.5=랜덤 → 임계값 독립 종합 지표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508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8288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D2FF"/>
                </a:solidFill>
                <a:latin typeface="맑은 고딕"/>
              </a:defRPr>
            </a:pPr>
            <a:r>
              <a:t>SECTION 08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2468880"/>
            <a:ext cx="2103120" cy="381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74320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맑은 고딕"/>
              </a:defRPr>
            </a:pPr>
            <a:r>
              <a:rPr/>
              <a:t>ML pipelines and data quality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84048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88899"/>
                </a:solidFill>
                <a:latin typeface="맑은 고딕"/>
              </a:defRPr>
            </a:pPr>
            <a:r>
              <a:t>Machine Learning Pipeline &amp; Data Quality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rPr/>
              <a:t>Machine Learning Pipeline 8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End-to-End ML Workflow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3200400"/>
            <a:ext cx="228600" cy="137160"/>
          </a:xfrm>
          <a:prstGeom prst="rect">
            <a:avLst/>
          </a:prstGeom>
          <a:solidFill>
            <a:srgbClr val="888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74320" y="2103120"/>
            <a:ext cx="128016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920240"/>
            <a:ext cx="365760" cy="365760"/>
          </a:xfrm>
          <a:prstGeom prst="roundRect">
            <a:avLst>
              <a:gd name="adj" fmla="val 5000"/>
            </a:avLst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9202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2331720"/>
            <a:ext cx="1188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rPr/>
              <a:t>Problem Definition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2926080"/>
            <a:ext cx="1188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88899"/>
                </a:solidFill>
                <a:latin typeface="맑은 고딕"/>
              </a:defRPr>
            </a:pPr>
            <a:r>
              <a:rPr/>
              <a:t>Regression/Classification Decision</a:t>
            </a:r>
            <a:br/>
            <a:r>
              <a:rPr/>
              <a:t>Set Success Criteria</a:t>
            </a:r>
            <a:br/>
            <a:r>
              <a:rPr/>
              <a:t>Business → ML Transformation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063240" y="3200400"/>
            <a:ext cx="228600" cy="137160"/>
          </a:xfrm>
          <a:prstGeom prst="rect">
            <a:avLst/>
          </a:prstGeom>
          <a:solidFill>
            <a:srgbClr val="888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737360" y="2103120"/>
            <a:ext cx="128016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194560" y="1920240"/>
            <a:ext cx="365760" cy="365760"/>
          </a:xfrm>
          <a:prstGeom prst="roundRect">
            <a:avLst>
              <a:gd name="adj" fmla="val 5000"/>
            </a:avLst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94560" y="19202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83080" y="2331720"/>
            <a:ext cx="1188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rPr/>
              <a:t>Data Collection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83080" y="2926080"/>
            <a:ext cx="1188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88899"/>
                </a:solidFill>
                <a:latin typeface="맑은 고딕"/>
              </a:defRPr>
            </a:pPr>
            <a:r>
              <a:rPr/>
              <a:t>DB, API, Crawling</a:t>
            </a:r>
            <a:br/>
            <a:r>
              <a:rPr/>
              <a:t>Public Dataset</a:t>
            </a:r>
            <a:br/>
            <a:r>
              <a:rPr/>
              <a:t>Data Acquisition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26280" y="3200400"/>
            <a:ext cx="228600" cy="137160"/>
          </a:xfrm>
          <a:prstGeom prst="rect">
            <a:avLst/>
          </a:prstGeom>
          <a:solidFill>
            <a:srgbClr val="888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200400" y="2103120"/>
            <a:ext cx="128016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657600" y="1920240"/>
            <a:ext cx="365760" cy="365760"/>
          </a:xfrm>
          <a:prstGeom prst="roundRect">
            <a:avLst>
              <a:gd name="adj" fmla="val 5000"/>
            </a:avLst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0" y="19202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46120" y="2331720"/>
            <a:ext cx="1188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rPr/>
              <a:t>Data</a:t>
            </a:r>
            <a:br/>
            <a:r>
              <a:rPr/>
              <a:t>Preprocessing|||Missing Values, Outliers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46120" y="2926080"/>
            <a:ext cx="1188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88899"/>
                </a:solidFill>
                <a:latin typeface="맑은 고딕"/>
              </a:defRPr>
            </a:pPr>
            <a:r>
              <a:rPr/>
              <a:t>Encoding, Scaling</a:t>
            </a:r>
            <a:br/>
            <a:r>
              <a:rPr/>
              <a:t>Raw → For Model Processing || Pipeline || Detection</a:t>
            </a:r>
            <a:br/>
            <a:r>
              <a:rPr/>
              <a:t>Encoding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89320" y="3200400"/>
            <a:ext cx="228600" cy="137160"/>
          </a:xfrm>
          <a:prstGeom prst="rect">
            <a:avLst/>
          </a:prstGeom>
          <a:solidFill>
            <a:srgbClr val="888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663440" y="2103120"/>
            <a:ext cx="128016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120640" y="1920240"/>
            <a:ext cx="365760" cy="365760"/>
          </a:xfrm>
          <a:prstGeom prst="roundRect">
            <a:avLst>
              <a:gd name="adj" fmla="val 5000"/>
            </a:avLst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120640" y="19202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09160" y="2331720"/>
            <a:ext cx="1188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EDA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09160" y="2926080"/>
            <a:ext cx="1188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88899"/>
                </a:solidFill>
                <a:latin typeface="맑은 고딕"/>
              </a:defRPr>
            </a:pPr>
            <a:r>
              <a:rPr/>
              <a:t>Categorical → Numeric conversion</a:t>
            </a:r>
            <a:br/>
            <a:r>
              <a:rPr/>
              <a:t>One-hot encoding, label encoding</a:t>
            </a:r>
            <a:br/>
            <a:r>
              <a:rPr/>
              <a:t>Scaling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452360" y="3200400"/>
            <a:ext cx="228600" cy="137160"/>
          </a:xfrm>
          <a:prstGeom prst="rect">
            <a:avLst/>
          </a:prstGeom>
          <a:solidFill>
            <a:srgbClr val="888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126480" y="2103120"/>
            <a:ext cx="128016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583680" y="1920240"/>
            <a:ext cx="365760" cy="365760"/>
          </a:xfrm>
          <a:prstGeom prst="roundRect">
            <a:avLst>
              <a:gd name="adj" fmla="val 5000"/>
            </a:avLst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83680" y="19202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72200" y="2331720"/>
            <a:ext cx="1188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rPr/>
              <a:t>Unification of variable size/range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72200" y="2926080"/>
            <a:ext cx="1188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88899"/>
                </a:solidFill>
                <a:latin typeface="맑은 고딕"/>
              </a:defRPr>
            </a:pPr>
            <a:r>
              <a:rPr/>
              <a:t>알고리즘 선택</a:t>
            </a:r>
            <a:br/>
            <a:r>
              <a:rPr/>
              <a:t>학습</a:t>
            </a:r>
            <a:br/>
            <a:r>
              <a:rPr/>
              <a:t>여러 모델 비교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915400" y="3200400"/>
            <a:ext cx="228600" cy="137160"/>
          </a:xfrm>
          <a:prstGeom prst="rect">
            <a:avLst/>
          </a:prstGeom>
          <a:solidFill>
            <a:srgbClr val="888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589520" y="2103120"/>
            <a:ext cx="128016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8046720" y="1920240"/>
            <a:ext cx="365760" cy="365760"/>
          </a:xfrm>
          <a:prstGeom prst="roundRect">
            <a:avLst>
              <a:gd name="adj" fmla="val 5000"/>
            </a:avLst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046720" y="19202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35240" y="2331720"/>
            <a:ext cx="1188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rPr/>
              <a:t>평가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635240" y="2926080"/>
            <a:ext cx="1188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88899"/>
                </a:solidFill>
                <a:latin typeface="맑은 고딕"/>
              </a:defRPr>
            </a:pPr>
            <a:r>
              <a:rPr/>
              <a:t>교차검증</a:t>
            </a:r>
            <a:br/>
            <a:r>
              <a:rPr/>
              <a:t>테스트셋 평가</a:t>
            </a:r>
            <a:br/>
            <a:r>
              <a:rPr/>
              <a:t>일반화 성능 측정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0378440" y="3200400"/>
            <a:ext cx="228600" cy="137160"/>
          </a:xfrm>
          <a:prstGeom prst="rect">
            <a:avLst/>
          </a:prstGeom>
          <a:solidFill>
            <a:srgbClr val="888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9052560" y="2103120"/>
            <a:ext cx="128016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9509760" y="1920240"/>
            <a:ext cx="365760" cy="365760"/>
          </a:xfrm>
          <a:prstGeom prst="roundRect">
            <a:avLst>
              <a:gd name="adj" fmla="val 5000"/>
            </a:avLst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509760" y="19202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98280" y="2331720"/>
            <a:ext cx="1188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rPr/>
              <a:t>HP 튜닝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98280" y="2926080"/>
            <a:ext cx="1188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88899"/>
                </a:solidFill>
                <a:latin typeface="맑은 고딕"/>
              </a:defRPr>
            </a:pPr>
            <a:r>
              <a:t>Grid/Random</a:t>
            </a:r>
            <a:br/>
            <a:r>
              <a:t>Bayesian Search</a:t>
            </a:r>
            <a:br/>
            <a:r>
              <a:rPr/>
              <a:t>최적 파라미터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0515600" y="2103120"/>
            <a:ext cx="128016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10972800" y="1920240"/>
            <a:ext cx="365760" cy="365760"/>
          </a:xfrm>
          <a:prstGeom prst="roundRect">
            <a:avLst>
              <a:gd name="adj" fmla="val 5000"/>
            </a:avLst>
          </a:prstGeom>
          <a:solidFill>
            <a:srgbClr val="A0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972800" y="19202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8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561320" y="2331720"/>
            <a:ext cx="1188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rPr/>
              <a:t>배포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561320" y="2926080"/>
            <a:ext cx="1188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88899"/>
                </a:solidFill>
                <a:latin typeface="맑은 고딕"/>
              </a:defRPr>
            </a:pPr>
            <a:r>
              <a:t>REST API</a:t>
            </a:r>
            <a:br/>
            <a:r>
              <a:rPr/>
              <a:t>모니터링</a:t>
            </a:r>
            <a:br/>
            <a:r>
              <a:rPr/>
              <a:t>재학습 파이프라인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48640" y="4663440"/>
            <a:ext cx="11064240" cy="20116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22960" y="47548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8C00"/>
                </a:solidFill>
                <a:latin typeface="맑은 고딕"/>
              </a:defRPr>
            </a:pPr>
            <a:r>
              <a:rPr/>
              <a:t>"Garbage In, Garbage Out" - 데이터 품질의 중요성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31520" y="5212080"/>
            <a:ext cx="22860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31520" y="52120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rPr/>
              <a:t>전처리 단계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017520" y="5212080"/>
            <a:ext cx="27432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017520" y="52120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rPr/>
              <a:t>설명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760720" y="5212080"/>
            <a:ext cx="50292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760720" y="52120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rPr/>
              <a:t>방법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31520" y="5669280"/>
            <a:ext cx="2286000" cy="36576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31520" y="56692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rPr/>
              <a:t>결측치 처리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017520" y="5669280"/>
            <a:ext cx="2743200" cy="36576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017520" y="56692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rPr/>
              <a:t>누락된 데이터 처리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760720" y="5669280"/>
            <a:ext cx="5029200" cy="36576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760720" y="56692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rPr/>
              <a:t>삭제, 평균/중앙값 대체, 보간</a:t>
            </a:r>
          </a:p>
        </p:txBody>
      </p:sp>
      <p:sp>
        <p:nvSpPr>
          <p:cNvPr id="67" name="Rectangle 66"/>
          <p:cNvSpPr/>
          <p:nvPr/>
        </p:nvSpPr>
        <p:spPr>
          <a:xfrm>
            <a:off x="731520" y="6035040"/>
            <a:ext cx="2286000" cy="36576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31520" y="60350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rPr/>
              <a:t>이상치 처리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017520" y="6035040"/>
            <a:ext cx="2743200" cy="36576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017520" y="60350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rPr/>
              <a:t>비정상적 극단값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760720" y="6035040"/>
            <a:ext cx="5029200" cy="36576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760720" y="6035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rPr/>
              <a:t>IQR, Z-score 기반 탐지</a:t>
            </a:r>
          </a:p>
        </p:txBody>
      </p:sp>
      <p:sp>
        <p:nvSpPr>
          <p:cNvPr id="73" name="Rectangle 72"/>
          <p:cNvSpPr/>
          <p:nvPr/>
        </p:nvSpPr>
        <p:spPr>
          <a:xfrm>
            <a:off x="731520" y="6400800"/>
            <a:ext cx="2286000" cy="36576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31520" y="64008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rPr/>
              <a:t>인코딩</a:t>
            </a:r>
          </a:p>
        </p:txBody>
      </p:sp>
      <p:sp>
        <p:nvSpPr>
          <p:cNvPr id="75" name="Rectangle 74"/>
          <p:cNvSpPr/>
          <p:nvPr/>
        </p:nvSpPr>
        <p:spPr>
          <a:xfrm>
            <a:off x="3017520" y="6400800"/>
            <a:ext cx="2743200" cy="36576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3017520" y="6400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rPr/>
              <a:t>범주형→수치 변환</a:t>
            </a:r>
          </a:p>
        </p:txBody>
      </p:sp>
      <p:sp>
        <p:nvSpPr>
          <p:cNvPr id="77" name="Rectangle 76"/>
          <p:cNvSpPr/>
          <p:nvPr/>
        </p:nvSpPr>
        <p:spPr>
          <a:xfrm>
            <a:off x="5760720" y="6400800"/>
            <a:ext cx="5029200" cy="36576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5760720" y="64008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rPr/>
              <a:t>원핫 인코딩, 레이블 인코딩</a:t>
            </a:r>
          </a:p>
        </p:txBody>
      </p:sp>
      <p:sp>
        <p:nvSpPr>
          <p:cNvPr id="79" name="Rectangle 78"/>
          <p:cNvSpPr/>
          <p:nvPr/>
        </p:nvSpPr>
        <p:spPr>
          <a:xfrm>
            <a:off x="731520" y="6766560"/>
            <a:ext cx="2286000" cy="36576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731520" y="67665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rPr/>
              <a:t>스케일링</a:t>
            </a:r>
          </a:p>
        </p:txBody>
      </p:sp>
      <p:sp>
        <p:nvSpPr>
          <p:cNvPr id="81" name="Rectangle 80"/>
          <p:cNvSpPr/>
          <p:nvPr/>
        </p:nvSpPr>
        <p:spPr>
          <a:xfrm>
            <a:off x="3017520" y="6766560"/>
            <a:ext cx="2743200" cy="36576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3017520" y="67665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rPr/>
              <a:t>변수 크기/범위 통일</a:t>
            </a:r>
          </a:p>
        </p:txBody>
      </p:sp>
      <p:sp>
        <p:nvSpPr>
          <p:cNvPr id="83" name="Rectangle 82"/>
          <p:cNvSpPr/>
          <p:nvPr/>
        </p:nvSpPr>
        <p:spPr>
          <a:xfrm>
            <a:off x="5760720" y="6766560"/>
            <a:ext cx="5029200" cy="36576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5760720" y="67665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StandardScaler, MinMaxScaler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rPr/>
              <a:t>Feature Engineering &amp; Data Leak Prevention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011680"/>
            <a:ext cx="5303520" cy="21031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031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맑은 고딕"/>
              </a:defRPr>
            </a:pPr>
            <a:r>
              <a:rPr/>
              <a:t>Domingos Lesson 7: Feature Engineering Is the Key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560320"/>
            <a:ext cx="4754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Feature design has a greater impact than algorithm choice</a:t>
            </a:r>
          </a:p>
          <a:p>
            <a:pPr>
              <a:spcAft>
                <a:spcPts val="3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Constructing features based on domain knowledge is key</a:t>
            </a:r>
          </a:p>
          <a:p>
            <a:pPr>
              <a:spcAft>
                <a:spcPts val="3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Example: Predicting house prices</a:t>
            </a:r>
          </a:p>
          <a:p>
            <a:pPr>
              <a:spcAft>
                <a:spcPts val="3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Simple: area, number of rooms, location</a:t>
            </a:r>
          </a:p>
          <a:p>
            <a:pPr>
              <a:spcAft>
                <a:spcPts val="3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Engineering: Area per room, distance from subway station, school district grade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011680"/>
            <a:ext cx="5303520" cy="21031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21031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4545"/>
                </a:solidFill>
                <a:latin typeface="맑은 고딕"/>
              </a:defRPr>
            </a:pPr>
            <a:r>
              <a:rPr/>
              <a:t>Data Leakage Prevention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560320"/>
            <a:ext cx="4754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BBBBCC"/>
                </a:solidFill>
                <a:latin typeface="맑은 고딕"/>
              </a:defRPr>
            </a:pPr>
            <a:r>
              <a:rPr/>
              <a:t>The phenomenon of test data information flowing into the model during training</a:t>
            </a:r>
          </a:p>
          <a:p>
            <a:pPr>
              <a:spcAft>
                <a:spcPts val="300"/>
              </a:spcAft>
              <a:defRPr sz="1200">
                <a:solidFill>
                  <a:srgbClr val="BBBBCC"/>
                </a:solidFill>
                <a:latin typeface="맑은 고딕"/>
              </a:defRPr>
            </a:pPr>
            <a:r>
              <a:rPr/>
              <a:t>→ Overly optimistic performance estimation</a:t>
            </a:r>
          </a:p>
          <a:p>
            <a:pPr>
              <a:spcAft>
                <a:spcPts val="300"/>
              </a:spcAft>
              <a:defRPr sz="12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300"/>
              </a:spcAft>
              <a:defRPr sz="1200">
                <a:solidFill>
                  <a:srgbClr val="BBBBCC"/>
                </a:solidFill>
                <a:latin typeface="맑은 고딕"/>
              </a:defRPr>
            </a:pPr>
            <a:r>
              <a:rPr/>
              <a:t>Prevention Principle:</a:t>
            </a:r>
          </a:p>
          <a:p>
            <a:pPr>
              <a:spcAft>
                <a:spcPts val="300"/>
              </a:spcAft>
              <a:defRPr sz="1200">
                <a:solidFill>
                  <a:srgbClr val="BBBBCC"/>
                </a:solidFill>
                <a:latin typeface="맑은 고딕"/>
              </a:defRPr>
            </a:pPr>
            <a:r>
              <a:rPr/>
              <a:t>1. Scaling: training set fit_transform, test set transform only</a:t>
            </a:r>
          </a:p>
          <a:p>
            <a:pPr>
              <a:spcAft>
                <a:spcPts val="300"/>
              </a:spcAft>
              <a:defRPr sz="1200">
                <a:solidFill>
                  <a:srgbClr val="BBBBCC"/>
                </a:solidFill>
                <a:latin typeface="맑은 고딕"/>
              </a:defRPr>
            </a:pPr>
            <a:r>
              <a:rPr/>
              <a:t>2. Preprocessing within a cross-validation loop (using Pipeline)</a:t>
            </a:r>
          </a:p>
          <a:p>
            <a:pPr>
              <a:spcAft>
                <a:spcPts val="300"/>
              </a:spcAft>
              <a:defRPr sz="1200">
                <a:solidFill>
                  <a:srgbClr val="BBBBCC"/>
                </a:solidFill>
                <a:latin typeface="맑은 고딕"/>
              </a:defRPr>
            </a:pPr>
            <a:r>
              <a:rPr/>
              <a:t>3. Time series: Do not use future data for training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389120"/>
            <a:ext cx="356616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44805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맑은 고딕"/>
              </a:defRPr>
            </a:pPr>
            <a:r>
              <a:rPr/>
              <a:t>Underfitting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846320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BBBBCC"/>
                </a:solidFill>
                <a:latin typeface="맑은 고딕"/>
              </a:defRPr>
            </a:pPr>
            <a:r>
              <a:rPr/>
              <a:t>Low performance for both training/testing</a:t>
            </a:r>
          </a:p>
          <a:p>
            <a:pPr>
              <a:spcAft>
                <a:spcPts val="300"/>
              </a:spcAft>
              <a:defRPr sz="1200">
                <a:solidFill>
                  <a:srgbClr val="BBBBCC"/>
                </a:solidFill>
                <a:latin typeface="맑은 고딕"/>
              </a:defRPr>
            </a:pPr>
            <a:r>
              <a:rPr/>
              <a:t>Model too simple, high bias</a:t>
            </a:r>
          </a:p>
          <a:p>
            <a:pPr>
              <a:spcAft>
                <a:spcPts val="300"/>
              </a:spcAft>
              <a:defRPr sz="1200">
                <a:solidFill>
                  <a:srgbClr val="BBBBCC"/>
                </a:solidFill>
                <a:latin typeface="맑은 고딕"/>
              </a:defRPr>
            </a:pPr>
            <a:r>
              <a:rPr/>
              <a:t>Solution: Complex model, increased training time</a:t>
            </a:r>
          </a:p>
          <a:p>
            <a:pPr>
              <a:spcAft>
                <a:spcPts val="300"/>
              </a:spcAft>
              <a:defRPr sz="1200">
                <a:solidFill>
                  <a:srgbClr val="BBBBCC"/>
                </a:solidFill>
                <a:latin typeface="맑은 고딕"/>
              </a:defRPr>
            </a:pPr>
            <a:r>
              <a:rPr/>
              <a:t>Feature engineering, reduce regularization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4389120"/>
            <a:ext cx="320040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448056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rPr/>
              <a:t>Optimal model (Good Fit)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4846320"/>
            <a:ext cx="2834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BBBBCC"/>
                </a:solidFill>
                <a:latin typeface="맑은 고딕"/>
              </a:defRPr>
            </a:pPr>
            <a:r>
              <a:rPr/>
              <a:t>High performance for both training and testing</a:t>
            </a:r>
          </a:p>
          <a:p>
            <a:pPr>
              <a:spcAft>
                <a:spcPts val="300"/>
              </a:spcAft>
              <a:defRPr sz="1200">
                <a:solidFill>
                  <a:srgbClr val="BBBBCC"/>
                </a:solidFill>
                <a:latin typeface="맑은 고딕"/>
              </a:defRPr>
            </a:pPr>
            <a:r>
              <a:rPr/>
              <a:t>Bias² + Variance minimum</a:t>
            </a:r>
          </a:p>
          <a:p>
            <a:pPr>
              <a:spcAft>
                <a:spcPts val="300"/>
              </a:spcAft>
              <a:defRPr sz="1200">
                <a:solidFill>
                  <a:srgbClr val="BBBBCC"/>
                </a:solidFill>
                <a:latin typeface="맑은 고딕"/>
              </a:defRPr>
            </a:pPr>
            <a:r>
              <a:rPr/>
              <a:t>Generalization performance maximum</a:t>
            </a:r>
          </a:p>
          <a:p>
            <a:pPr>
              <a:spcAft>
                <a:spcPts val="300"/>
              </a:spcAft>
              <a:defRPr sz="1200">
                <a:solidFill>
                  <a:srgbClr val="BBBBCC"/>
                </a:solidFill>
                <a:latin typeface="맑은 고딕"/>
              </a:defRPr>
            </a:pPr>
            <a:r>
              <a:rPr/>
              <a:t>Checked with cross-validation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863840" y="4389120"/>
            <a:ext cx="356616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20" y="44805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4545"/>
                </a:solidFill>
                <a:latin typeface="맑은 고딕"/>
              </a:defRPr>
            </a:pPr>
            <a:r>
              <a:rPr/>
              <a:t>Overfitting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4846320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BBBBCC"/>
                </a:solidFill>
                <a:latin typeface="맑은 고딕"/>
              </a:defRPr>
            </a:pPr>
            <a:r>
              <a:rPr/>
              <a:t>Learning high, testing low</a:t>
            </a:r>
          </a:p>
          <a:p>
            <a:pPr>
              <a:spcAft>
                <a:spcPts val="300"/>
              </a:spcAft>
              <a:defRPr sz="1200">
                <a:solidFill>
                  <a:srgbClr val="BBBBCC"/>
                </a:solidFill>
                <a:latin typeface="맑은 고딕"/>
              </a:defRPr>
            </a:pPr>
            <a:r>
              <a:rPr/>
              <a:t>Model too complex, high variance</a:t>
            </a:r>
          </a:p>
          <a:p>
            <a:pPr>
              <a:spcAft>
                <a:spcPts val="300"/>
              </a:spcAft>
              <a:defRPr sz="1200">
                <a:solidFill>
                  <a:srgbClr val="BBBBCC"/>
                </a:solidFill>
                <a:latin typeface="맑은 고딕"/>
              </a:defRPr>
            </a:pPr>
            <a:r>
              <a:rPr/>
              <a:t>Solution: More data, normalization (L1/L2)</a:t>
            </a:r>
          </a:p>
          <a:p>
            <a:pPr>
              <a:spcAft>
                <a:spcPts val="300"/>
              </a:spcAft>
              <a:defRPr sz="1200">
                <a:solidFill>
                  <a:srgbClr val="BBBBCC"/>
                </a:solidFill>
                <a:latin typeface="맑은 고딕"/>
              </a:defRPr>
            </a:pPr>
            <a:r>
              <a:rPr/>
              <a:t>Dropout, early termination, feature selection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50800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8288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E696"/>
                </a:solidFill>
                <a:latin typeface="맑은 고딕"/>
              </a:defRPr>
            </a:pPr>
            <a:r>
              <a:t>SECTION 09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2468880"/>
            <a:ext cx="2103120" cy="38100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74320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맑은 고딕"/>
              </a:defRPr>
            </a:pPr>
            <a:r>
              <a:rPr/>
              <a:t>5 key paper reviews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84048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88899"/>
                </a:solidFill>
                <a:latin typeface="맑은 고딕"/>
              </a:defRPr>
            </a:pPr>
            <a:r>
              <a:t>Key Paper Reviews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rPr/>
              <a:t>Domingos (2012): 12 Key Lessons (1/2)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A Few Useful Things to Know About Machine Learning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11064240" cy="54864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874519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rPr/>
              <a:t>Pedro Domingos | Communications of the ACM, Vol. 55, no. 10, pp. 78-87 | 12 Lessons in ML Practice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651760"/>
            <a:ext cx="3566160" cy="1828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2743200"/>
            <a:ext cx="365760" cy="365760"/>
          </a:xfrm>
          <a:prstGeom prst="roundRect">
            <a:avLst>
              <a:gd name="adj" fmla="val 5000"/>
            </a:avLst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7432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78892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맑은 고딕"/>
              </a:defRPr>
            </a:pPr>
            <a:r>
              <a:t>Representation + Evaluation</a:t>
            </a:r>
            <a:br/>
            <a:r>
              <a:t>+ Optimization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566160"/>
            <a:ext cx="274320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70332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rPr/>
              <a:t>The</a:t>
            </a:r>
            <a:br/>
            <a:r>
              <a:rPr/>
              <a:t>Three Components of Every Learning Algorithm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51960" y="2651760"/>
            <a:ext cx="3566160" cy="1828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343400" y="2743200"/>
            <a:ext cx="365760" cy="365760"/>
          </a:xfrm>
          <a:prstGeom prst="roundRect">
            <a:avLst>
              <a:gd name="adj" fmla="val 5000"/>
            </a:avLst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43400" y="27432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0600" y="278892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맑은 고딕"/>
              </a:defRPr>
            </a:pPr>
            <a:r>
              <a:t>It's Generalization</a:t>
            </a:r>
            <a:br/>
            <a:r>
              <a:t>That Counts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434840" y="3566160"/>
            <a:ext cx="274320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34840" y="370332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rPr/>
              <a:t>Generalization Performance</a:t>
            </a:r>
            <a:br/>
            <a:r>
              <a:rPr/>
              <a:t>The Core Goal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46720" y="2651760"/>
            <a:ext cx="3566160" cy="1828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138160" y="2743200"/>
            <a:ext cx="365760" cy="365760"/>
          </a:xfrm>
          <a:prstGeom prst="roundRect">
            <a:avLst>
              <a:gd name="adj" fmla="val 5000"/>
            </a:avLst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38160" y="27432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5360" y="278892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맑은 고딕"/>
              </a:defRPr>
            </a:pPr>
            <a:r>
              <a:t>Data Alone Is</a:t>
            </a:r>
            <a:br/>
            <a:r>
              <a:t>Not Enough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0" y="3566160"/>
            <a:ext cx="2743200" cy="381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0" y="370332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rPr/>
              <a:t>Prior Assumptions (Inductive Bias)</a:t>
            </a:r>
            <a:br/>
            <a:r>
              <a:rPr/>
              <a:t>A priori Assumptions (Inductive Bias)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4754880"/>
            <a:ext cx="3566160" cy="1828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48640" y="4846320"/>
            <a:ext cx="365760" cy="365760"/>
          </a:xfrm>
          <a:prstGeom prst="roundRect">
            <a:avLst>
              <a:gd name="adj" fmla="val 5000"/>
            </a:avLst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48463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" y="489204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맑은 고딕"/>
              </a:defRPr>
            </a:pPr>
            <a:r>
              <a:t>Overfitting Has</a:t>
            </a:r>
            <a:br/>
            <a:r>
              <a:t>Many Faces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5669280"/>
            <a:ext cx="2743200" cy="381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580644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rPr/>
              <a:t>Overfitting Comes in Various</a:t>
            </a:r>
            <a:br/>
            <a:r>
              <a:rPr/>
              <a:t>Forms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251960" y="4754880"/>
            <a:ext cx="3566160" cy="1828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343400" y="4846320"/>
            <a:ext cx="365760" cy="365760"/>
          </a:xfrm>
          <a:prstGeom prst="roundRect">
            <a:avLst>
              <a:gd name="adj" fmla="val 5000"/>
            </a:avLst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343400" y="48463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00600" y="489204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맑은 고딕"/>
              </a:defRPr>
            </a:pPr>
            <a:r>
              <a:t>Intuition Fails in</a:t>
            </a:r>
            <a:br/>
            <a:r>
              <a:t>High Dimensions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434840" y="5669280"/>
            <a:ext cx="2743200" cy="38100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434840" y="580644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rPr/>
              <a:t>Intuition</a:t>
            </a:r>
            <a:br/>
            <a:r>
              <a:rPr/>
              <a:t>Intuition Doesn't Work in High Dimensions (Curse of Dimensionality)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046720" y="4754880"/>
            <a:ext cx="3566160" cy="1828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8138160" y="4846320"/>
            <a:ext cx="365760" cy="365760"/>
          </a:xfrm>
          <a:prstGeom prst="roundRect">
            <a:avLst>
              <a:gd name="adj" fmla="val 5000"/>
            </a:avLst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138160" y="48463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95360" y="489204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맑은 고딕"/>
              </a:defRPr>
            </a:pPr>
            <a:r>
              <a:t>Theoretical Guarantees</a:t>
            </a:r>
            <a:br/>
            <a:r>
              <a:t>Are Not What They Seem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229600" y="5669280"/>
            <a:ext cx="2743200" cy="38100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29600" y="580644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rPr/>
              <a:t>Theoretical Guarantees</a:t>
            </a:r>
            <a:br/>
            <a:r>
              <a:rPr/>
              <a:t>Different from Reality can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rPr/>
              <a:t>Domingos (2012): 12 Key Lessons (2/2)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011680"/>
            <a:ext cx="3566160" cy="1828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2103120"/>
            <a:ext cx="365760" cy="365760"/>
          </a:xfrm>
          <a:prstGeom prst="roundRect">
            <a:avLst>
              <a:gd name="adj" fmla="val 5000"/>
            </a:avLst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1031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14884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맑은 고딕"/>
              </a:defRPr>
            </a:pPr>
            <a:r>
              <a:t>Feature Engineering</a:t>
            </a:r>
            <a:br/>
            <a:r>
              <a:t>Is the Key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926080"/>
            <a:ext cx="2743200" cy="381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06324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rPr/>
              <a:t>Feature design</a:t>
            </a:r>
            <a:br/>
            <a:r>
              <a:rPr/>
              <a:t>More important than algorithm choice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51960" y="2011680"/>
            <a:ext cx="3566160" cy="1828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43400" y="2103120"/>
            <a:ext cx="365760" cy="365760"/>
          </a:xfrm>
          <a:prstGeom prst="roundRect">
            <a:avLst>
              <a:gd name="adj" fmla="val 5000"/>
            </a:avLst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43400" y="21031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14884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맑은 고딕"/>
              </a:defRPr>
            </a:pPr>
            <a:r>
              <a:t>More Data Beats a</a:t>
            </a:r>
            <a:br/>
            <a:r>
              <a:t>Cleverer Algorithm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34840" y="2926080"/>
            <a:ext cx="2743200" cy="381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34840" y="306324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rPr/>
              <a:t>Data volume</a:t>
            </a:r>
            <a:br/>
            <a:r>
              <a:rPr/>
              <a:t>Data quantity is more important than algorithmic sophistication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2011680"/>
            <a:ext cx="3566160" cy="1828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138160" y="2103120"/>
            <a:ext cx="365760" cy="365760"/>
          </a:xfrm>
          <a:prstGeom prst="roundRect">
            <a:avLst>
              <a:gd name="adj" fmla="val 5000"/>
            </a:avLst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38160" y="21031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95360" y="214884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맑은 고딕"/>
              </a:defRPr>
            </a:pPr>
            <a:r>
              <a:t>Learn Many Models,</a:t>
            </a:r>
            <a:br/>
            <a:r>
              <a:t>Not Just One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0" y="2926080"/>
            <a:ext cx="2743200" cy="38100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0" y="306324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rPr/>
              <a:t>Ensembles</a:t>
            </a:r>
            <a:br/>
            <a:r>
              <a:rPr/>
              <a:t>Better than a single model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4114800"/>
            <a:ext cx="3566160" cy="1828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48640" y="4206240"/>
            <a:ext cx="365760" cy="365760"/>
          </a:xfrm>
          <a:prstGeom prst="roundRect">
            <a:avLst>
              <a:gd name="adj" fmla="val 5000"/>
            </a:avLst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42062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10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425196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맑은 고딕"/>
              </a:defRPr>
            </a:pPr>
            <a:r>
              <a:t>Simplicity Does Not</a:t>
            </a:r>
            <a:br/>
            <a:r>
              <a:t>Imply Accuracy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5029200"/>
            <a:ext cx="2743200" cy="38100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516636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rPr/>
              <a:t>Simple models are not necessarily</a:t>
            </a:r>
            <a:br/>
            <a:r>
              <a:rPr/>
              <a:t>More accurate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251960" y="4114800"/>
            <a:ext cx="3566160" cy="1828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4343400" y="4206240"/>
            <a:ext cx="365760" cy="365760"/>
          </a:xfrm>
          <a:prstGeom prst="roundRect">
            <a:avLst>
              <a:gd name="adj" fmla="val 5000"/>
            </a:avLst>
          </a:prstGeom>
          <a:solidFill>
            <a:srgbClr val="A0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43400" y="42062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11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00600" y="425196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맑은 고딕"/>
              </a:defRPr>
            </a:pPr>
            <a:r>
              <a:t>Representable Does Not</a:t>
            </a:r>
            <a:br/>
            <a:r>
              <a:t>Imply Learnable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434840" y="5029200"/>
            <a:ext cx="2743200" cy="38100"/>
          </a:xfrm>
          <a:prstGeom prst="rect">
            <a:avLst/>
          </a:prstGeom>
          <a:solidFill>
            <a:srgbClr val="A0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434840" y="516636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rPr/>
              <a:t>Representable ≠ Learnable</a:t>
            </a:r>
            <a:br/>
            <a:r>
              <a:rPr/>
              <a:t>(Learning difficulty is separate)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046720" y="4114800"/>
            <a:ext cx="3566160" cy="1828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8138160" y="4206240"/>
            <a:ext cx="365760" cy="365760"/>
          </a:xfrm>
          <a:prstGeom prst="roundRect">
            <a:avLst>
              <a:gd name="adj" fmla="val 5000"/>
            </a:avLst>
          </a:prstGeom>
          <a:solidFill>
            <a:srgbClr val="A0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138160" y="42062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12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95360" y="425196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맑은 고딕"/>
              </a:defRPr>
            </a:pPr>
            <a:r>
              <a:t>Correlation Does Not</a:t>
            </a:r>
            <a:br/>
            <a:r>
              <a:t>Imply Causation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229600" y="5029200"/>
            <a:ext cx="2743200" cy="38100"/>
          </a:xfrm>
          <a:prstGeom prst="rect">
            <a:avLst/>
          </a:prstGeom>
          <a:solidFill>
            <a:srgbClr val="A0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29600" y="516636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rPr/>
              <a:t>Correlation ≠ causality</a:t>
            </a:r>
            <a:br/>
            <a:r>
              <a:rPr/>
              <a:t>(Be careful with interpretation)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48640" y="6217920"/>
            <a:ext cx="11064240" cy="4572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22960" y="6245352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rPr/>
              <a:t>Practice key: generalization is the goal | Feature design is key | Lots of data &gt; Sophisticated algorithms | Ensemble Utilization | Correlation≠Causation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rPr/>
              <a:t>Key paper review: Mitchell, Wolpert, Vapnik, ESL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011680"/>
            <a:ext cx="5486400" cy="21031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6FF"/>
                </a:solidFill>
                <a:latin typeface="맑은 고딕"/>
              </a:defRPr>
            </a:pPr>
            <a:r>
              <a:t>Mitchell (1997)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42316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맑은 고딕"/>
              </a:defRPr>
            </a:pPr>
            <a:r>
              <a:rPr/>
              <a:t>Machine Learning (Textbook)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43200"/>
            <a:ext cx="51206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BBBBCC"/>
                </a:solidFill>
                <a:latin typeface="맑은 고딕"/>
              </a:defRPr>
            </a:pPr>
            <a:r>
              <a:rPr/>
              <a:t>Establishment of Formal Definition (T-P-E) of ML</a:t>
            </a:r>
          </a:p>
          <a:p>
            <a:pPr>
              <a:spcAft>
                <a:spcPts val="200"/>
              </a:spcAft>
              <a:defRPr sz="1100">
                <a:solidFill>
                  <a:srgbClr val="BBBBCC"/>
                </a:solidFill>
                <a:latin typeface="맑은 고딕"/>
              </a:defRPr>
            </a:pPr>
            <a:r>
              <a:rPr/>
              <a:t>Concept Learning: Hypothesis Space H, Version Space</a:t>
            </a:r>
          </a:p>
          <a:p>
            <a:pPr>
              <a:spcAft>
                <a:spcPts val="200"/>
              </a:spcAft>
              <a:defRPr sz="1100">
                <a:solidFill>
                  <a:srgbClr val="BBBBCC"/>
                </a:solidFill>
                <a:latin typeface="맑은 고딕"/>
              </a:defRPr>
            </a:pPr>
            <a:r>
              <a:rPr/>
              <a:t>Inductive Bias:</a:t>
            </a:r>
          </a:p>
          <a:p>
            <a:pPr>
              <a:spcAft>
                <a:spcPts val="200"/>
              </a:spcAft>
              <a:defRPr sz="1100">
                <a:solidFill>
                  <a:srgbClr val="BBBBCC"/>
                </a:solidFill>
                <a:latin typeface="맑은 고딕"/>
              </a:defRPr>
            </a:pPr>
            <a:r>
              <a:rPr/>
              <a:t>All learning algorithms</a:t>
            </a:r>
          </a:p>
          <a:p>
            <a:pPr>
              <a:spcAft>
                <a:spcPts val="200"/>
              </a:spcAft>
              <a:defRPr sz="1100">
                <a:solidFill>
                  <a:srgbClr val="BBBBCC"/>
                </a:solidFill>
                <a:latin typeface="맑은 고딕"/>
              </a:defRPr>
            </a:pPr>
            <a:r>
              <a:rPr/>
              <a:t>Requires prior assumptions → Directly related to NFL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011680"/>
            <a:ext cx="5486400" cy="21031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210312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4545"/>
                </a:solidFill>
                <a:latin typeface="맑은 고딕"/>
              </a:defRPr>
            </a:pPr>
            <a:r>
              <a:t>Wolpert &amp; Macready (1997)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42316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맑은 고딕"/>
              </a:defRPr>
            </a:pPr>
            <a:r>
              <a:t>NFL Theorems for Optimization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743200"/>
            <a:ext cx="51206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BBBBCC"/>
                </a:solidFill>
                <a:latin typeface="맑은 고딕"/>
              </a:defRPr>
            </a:pPr>
            <a:r>
              <a:rPr/>
              <a:t>Proof of impossibility of universal optimal algorithm</a:t>
            </a:r>
          </a:p>
          <a:p>
            <a:pPr>
              <a:spcAft>
                <a:spcPts val="200"/>
              </a:spcAft>
              <a:defRPr sz="1100">
                <a:solidFill>
                  <a:srgbClr val="BBBBCC"/>
                </a:solidFill>
                <a:latin typeface="맑은 고딕"/>
              </a:defRPr>
            </a:pPr>
            <a:r>
              <a:rPr/>
              <a:t>If averaged over all functions, all algorithms are the same</a:t>
            </a:r>
          </a:p>
          <a:p>
            <a:pPr>
              <a:spcAft>
                <a:spcPts val="200"/>
              </a:spcAft>
              <a:defRPr sz="1100">
                <a:solidFill>
                  <a:srgbClr val="BBBBCC"/>
                </a:solidFill>
                <a:latin typeface="맑은 고딕"/>
              </a:defRPr>
            </a:pPr>
            <a:r>
              <a:rPr/>
              <a:t>"Which algorithm</a:t>
            </a:r>
          </a:p>
          <a:p>
            <a:pPr>
              <a:spcAft>
                <a:spcPts val="200"/>
              </a:spcAft>
              <a:defRPr sz="1100">
                <a:solidFill>
                  <a:srgbClr val="BBBBCC"/>
                </a:solidFill>
                <a:latin typeface="맑은 고딕"/>
              </a:defRPr>
            </a:pPr>
            <a:r>
              <a:rPr/>
              <a:t>is best suited for this particular problem?" is the right question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389120"/>
            <a:ext cx="5486400" cy="21031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48056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E696"/>
                </a:solidFill>
                <a:latin typeface="맑은 고딕"/>
              </a:defRPr>
            </a:pPr>
            <a:r>
              <a:t>Vapnik (1995)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80060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맑은 고딕"/>
              </a:defRPr>
            </a:pPr>
            <a:r>
              <a:t>Statistical Learning Theory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120640"/>
            <a:ext cx="51206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BBBBCC"/>
                </a:solidFill>
                <a:latin typeface="맑은 고딕"/>
              </a:defRPr>
            </a:pPr>
            <a:r>
              <a:rPr/>
              <a:t>Empirical risk: R_emp = (1/n)SUM L(f(xi),yi)</a:t>
            </a:r>
          </a:p>
          <a:p>
            <a:pPr>
              <a:spcAft>
                <a:spcPts val="200"/>
              </a:spcAft>
              <a:defRPr sz="1100">
                <a:solidFill>
                  <a:srgbClr val="BBBBCC"/>
                </a:solidFill>
                <a:latin typeface="맑은 고딕"/>
              </a:defRPr>
            </a:pPr>
            <a:r>
              <a:rPr/>
              <a:t>Actual risk: R(f) = INT L(f(x),y) dP(x,y)</a:t>
            </a:r>
          </a:p>
          <a:p>
            <a:pPr>
              <a:spcAft>
                <a:spcPts val="200"/>
              </a:spcAft>
              <a:defRPr sz="1100">
                <a:solidFill>
                  <a:srgbClr val="BBBBCC"/>
                </a:solidFill>
                <a:latin typeface="맑은 고딕"/>
              </a:defRPr>
            </a:pPr>
            <a:r>
              <a:rPr/>
              <a:t>VC dimension: maximum number of shatter possible points</a:t>
            </a:r>
          </a:p>
          <a:p>
            <a:pPr>
              <a:spcAft>
                <a:spcPts val="200"/>
              </a:spcAft>
              <a:defRPr sz="1100">
                <a:solidFill>
                  <a:srgbClr val="BBBBCC"/>
                </a:solidFill>
                <a:latin typeface="맑은 고딕"/>
              </a:defRPr>
            </a:pPr>
            <a:r>
              <a:t>SRM: R(f) &lt;= R_emp + Phi(VCdim, n)</a:t>
            </a:r>
          </a:p>
          <a:p>
            <a:pPr>
              <a:spcAft>
                <a:spcPts val="200"/>
              </a:spcAft>
              <a:defRPr sz="1100">
                <a:solidFill>
                  <a:srgbClr val="BBBBCC"/>
                </a:solidFill>
                <a:latin typeface="맑은 고딕"/>
              </a:defRPr>
            </a:pPr>
            <a:r>
              <a:rPr/>
              <a:t>Key: finite data → generalization condition?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4389120"/>
            <a:ext cx="5486400" cy="21031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448056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06CFF"/>
                </a:solidFill>
                <a:latin typeface="맑은 고딕"/>
              </a:defRPr>
            </a:pPr>
            <a:r>
              <a:t>Hastie et al. (2009)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480060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맑은 고딕"/>
              </a:defRPr>
            </a:pPr>
            <a:r>
              <a:t>ESL Ch1-2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5120640"/>
            <a:ext cx="51206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BBBBCC"/>
                </a:solidFill>
                <a:latin typeface="맑은 고딕"/>
              </a:defRPr>
            </a:pPr>
            <a:r>
              <a:t>EPE(f) = E[(Y-f(X))²]</a:t>
            </a:r>
          </a:p>
          <a:p>
            <a:pPr>
              <a:spcAft>
                <a:spcPts val="200"/>
              </a:spcAft>
              <a:defRPr sz="1100">
                <a:solidFill>
                  <a:srgbClr val="BBBBCC"/>
                </a:solidFill>
                <a:latin typeface="맑은 고딕"/>
              </a:defRPr>
            </a:pPr>
            <a:r>
              <a:rPr/>
              <a:t>Optimal estimator: f*(x) = E[Y|</a:t>
            </a:r>
          </a:p>
          <a:p>
            <a:pPr>
              <a:spcAft>
                <a:spcPts val="200"/>
              </a:spcAft>
              <a:defRPr sz="1100">
                <a:solidFill>
                  <a:srgbClr val="BBBBCC"/>
                </a:solidFill>
                <a:latin typeface="맑은 고딕"/>
              </a:defRPr>
            </a:pPr>
            <a:r>
              <a:t>Bias-Variance Decomposition</a:t>
            </a:r>
          </a:p>
          <a:p>
            <a:pPr>
              <a:spcAft>
                <a:spcPts val="200"/>
              </a:spcAft>
              <a:defRPr sz="1100">
                <a:solidFill>
                  <a:srgbClr val="BBBBCC"/>
                </a:solidFill>
                <a:latin typeface="맑은 고딕"/>
              </a:defRPr>
            </a:pPr>
            <a:r>
              <a:rPr/>
              <a:t>최소제곱법(높편향,낮분산) vs</a:t>
            </a:r>
          </a:p>
          <a:p>
            <a:pPr>
              <a:spcAft>
                <a:spcPts val="200"/>
              </a:spcAft>
              <a:defRPr sz="1100">
                <a:solidFill>
                  <a:srgbClr val="BBBBCC"/>
                </a:solidFill>
                <a:latin typeface="맑은 고딕"/>
              </a:defRPr>
            </a:pPr>
            <a:r>
              <a:rPr/>
              <a:t>k-NN(낮편향,높분산) 대비 설명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508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8288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96FF"/>
                </a:solidFill>
                <a:latin typeface="맑은 고딕"/>
              </a:defRPr>
            </a:pPr>
            <a:r>
              <a:t>SECTION 10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2468880"/>
            <a:ext cx="210312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74320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맑은 고딕"/>
              </a:defRPr>
            </a:pPr>
            <a:r>
              <a:rPr/>
              <a:t>Exercise 1: Bias-Variance Tradeoff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84048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88899"/>
                </a:solidFill>
                <a:latin typeface="맑은 고딕"/>
              </a:defRPr>
            </a:pPr>
            <a:r>
              <a:t>01_bias_variance_tradeoff.py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rPr/>
              <a:t>Exercise 1: Implementing the bias-variance tradeoff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01_bias_variance_tradeoff.py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5303520" cy="13716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1031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6FF"/>
                </a:solidFill>
                <a:latin typeface="맑은 고딕"/>
              </a:defRPr>
            </a:pPr>
            <a:r>
              <a:rPr/>
              <a:t>Lab Objectives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46888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Visualization of bias², variance, and total error with polynomial regression models of varying complexity</a:t>
            </a:r>
          </a:p>
          <a:p>
            <a:pPr>
              <a:spcAft>
                <a:spcPts val="3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Intuitively identify underfitting/overfitting regions</a:t>
            </a:r>
          </a:p>
          <a:p>
            <a:pPr>
              <a:spcAft>
                <a:spcPts val="3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Experimentally verify bias-variance decomposition formula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011680"/>
            <a:ext cx="5303520" cy="13716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21031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E696"/>
                </a:solidFill>
                <a:latin typeface="맑은 고딕"/>
              </a:defRPr>
            </a:pPr>
            <a:r>
              <a:rPr/>
              <a:t>Experiment setup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46888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Real function: f(x) = sin(1.5*pi*x)</a:t>
            </a:r>
          </a:p>
          <a:p>
            <a:pPr>
              <a:spcAft>
                <a:spcPts val="3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Noise: e ~ N(0, 0.3²), iterating over 200 datasets</a:t>
            </a:r>
          </a:p>
          <a:p>
            <a:pPr>
              <a:spcAft>
                <a:spcPts val="3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Varying model complexity with polynomial degree 1~15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6576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rPr/>
              <a:t>Core code 1: Real function &amp; data generation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931920"/>
            <a:ext cx="5303520" cy="256032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069080"/>
            <a:ext cx="49377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def true_function(x):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return np.sin(1.5 * np.pi * x)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def generate_data(n_samples=30, noise_std=0.3):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X = np.sort(np.random.uniform(0, 1, n_samples))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y = true_function(X) + \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    np.random.normal(0, noise_std, n_samples)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return X, y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# y = f(x) + epsilon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rPr/>
              <a:t># epsilon ~ N(0, sigma^2) &lt;- Insummary error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36576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rPr/>
              <a:t>Core code 2: Training polynomial regression model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3931920"/>
            <a:ext cx="5303520" cy="256032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4069080"/>
            <a:ext cx="49377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from sklearn.pipeline import make_pipeline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from sklearn.preprocessing import PolynomialFeatures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from sklearn.linear_model import LinearRegression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model = make_pipeline(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PolynomialFeatures(degree, include_bias=True),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LinearRegression()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model.fit(X_train.reshape(-1, 1), y_train)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predictions[i] = model.predict(X_test.reshape(-1,1))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rPr/>
              <a:t>Exercise 1: Bias-Variance Calculation Core Logic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011680"/>
            <a:ext cx="11064240" cy="438912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14884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def compute_bias_variance(degrees, n_datasets=200, n_samples=30, noise_std=0.3):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rPr/>
              <a:t>X_test = np.linspace(0, 1, 100) # Fixed test point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rPr/>
              <a:t>y_true = true_function(X_test) # Actual function value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rPr/>
              <a:t>noise_var = noise_std ** 2 # non-aggregate error = 0.09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for degree in degrees: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rPr/>
              <a:t>predictions = np.zeros((n_datasets, 100)) # 200 datasets x 100 test points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rPr/>
              <a:t>for i in range(n_datasets): # repeat 200 times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rPr/>
              <a:t>X_train, y_train = generate_data() # Generate a new dataset each time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        model = make_pipeline(PolynomialFeatures(degree), LinearRegression())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        model.fit(X_train.reshape(-1,1), y_train)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        predictions[i,:] = model.predict(X_test.reshape(-1,1))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rPr/>
              <a:t># ============ Core: Calculate bias-variance decomposition ============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    mean_pred = predictions.mean(axis=0)            # f_bar(x) = E[f_hat(x)]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    bias_sq = np.mean((mean_pred - y_true) ** 2)    # Bias² = (f(x) - f_bar(x))²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    var = np.mean(predictions.var(axis=0))           # Var = E[(f_hat - f_bar)²]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    total = bias_sq + var + noise_var                # Total = Bias² + Var + sigma²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92240"/>
            <a:ext cx="11064240" cy="2743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49224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rPr/>
              <a:t>Core: Repeated learning with 200 datasets → Experimentally calculate the mean (bias) and variation (variance) of predictions.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508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8288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8C00"/>
                </a:solidFill>
                <a:latin typeface="맑은 고딕"/>
              </a:defRPr>
            </a:pPr>
            <a:r>
              <a:t>SECTION 11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2468880"/>
            <a:ext cx="2103120" cy="381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74320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맑은 고딕"/>
              </a:defRPr>
            </a:pPr>
            <a:r>
              <a:rPr/>
              <a:t>Lab 2: NFL Cleanup Demo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84048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88899"/>
                </a:solidFill>
                <a:latin typeface="맑은 고딕"/>
              </a:defRPr>
            </a:pPr>
            <a:r>
              <a:t>02_no_free_lunch_demo.py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rPr/>
              <a:t>Exercise 2: NFL Cleanup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02_no_free_lunch_demo.py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1064240" cy="10972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1031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맑은 고딕"/>
              </a:defRPr>
            </a:pPr>
            <a:r>
              <a:rPr/>
              <a:t>Lab Goal: Apply 5 algorithms to 4 data structures → Experimentally confirm that there is no single best algorithm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5603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rPr/>
              <a:t>Perform fair comparison with Stratified 5-Fold cross-validation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2918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rPr/>
              <a:t>4 datasets: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611880"/>
            <a:ext cx="2651760" cy="11887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365760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96FF"/>
                </a:solidFill>
                <a:latin typeface="맑은 고딕"/>
              </a:defRPr>
            </a:pPr>
            <a:r>
              <a:rPr/>
              <a:t>Linear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40233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rPr/>
              <a:t>Linear decision boundary</a:t>
            </a:r>
            <a:br/>
            <a:r>
              <a:rPr/>
              <a:t>|Favorable for linear models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37560" y="3611880"/>
            <a:ext cx="2651760" cy="11887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74720" y="365760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rPr/>
              <a:t>Circles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40233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rPr/>
              <a:t>Concentric circles Structure</a:t>
            </a:r>
            <a:br/>
            <a:r>
              <a:rPr/>
              <a:t>→ Favorable for RBF SVM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3611880"/>
            <a:ext cx="2651760" cy="11887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365760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E696"/>
                </a:solidFill>
                <a:latin typeface="맑은 고딕"/>
              </a:defRPr>
            </a:pPr>
            <a:r>
              <a:rPr/>
              <a:t>Similarity |||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40233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rPr/>
              <a:t>XOR 논리 연산</a:t>
            </a:r>
            <a:br/>
            <a:r>
              <a:rPr/>
              <a:t>→ 결정 트리에 유리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98280" y="3611880"/>
            <a:ext cx="2651760" cy="11887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35440" y="365760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8C00"/>
                </a:solidFill>
                <a:latin typeface="맑은 고딕"/>
              </a:defRPr>
            </a:pPr>
            <a:r>
              <a:rPr/>
              <a:t>반달 (Moons)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5440" y="40233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rPr/>
              <a:t>반달 형태</a:t>
            </a:r>
            <a:br/>
            <a:r>
              <a:rPr/>
              <a:t>→ k-NN에 유리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0292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rPr/>
              <a:t>5가지 알고리즘 (각기 다른 귀납적 편향):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349240"/>
            <a:ext cx="5303520" cy="128016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5486400"/>
            <a:ext cx="4937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rPr/>
              <a:t>LogisticRegression()     # 선형 결정 경계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rPr/>
              <a:t>KNeighborsClassifier(5)  # 국소적 유사성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rPr/>
              <a:t>SVC(kernel='rbf')        # 마진 최대화 + 비선형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rPr/>
              <a:t>DecisionTreeClassifier() # 축 정렬 분할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rPr/>
              <a:t>RandomForestClassifier() # 앙상블 + 분할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5349240"/>
            <a:ext cx="5303520" cy="128016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5486400"/>
            <a:ext cx="4937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rPr/>
              <a:t># 공정한 비교: Stratified 5-Fold CV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cv = StratifiedKFold(n_splits=5, shuffle=True)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scores = cross_val_score(clf, X_scaled, y,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                     cv=cv, scoring='accuracy')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rPr/>
              <a:t># 핵심 결론: 모든 데이터셋 1위인 알고리즘 없음!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50800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8288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4545"/>
                </a:solidFill>
                <a:latin typeface="맑은 고딕"/>
              </a:defRPr>
            </a:pPr>
            <a:r>
              <a:t>SECTION 12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2468880"/>
            <a:ext cx="2103120" cy="38100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74320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맑은 고딕"/>
              </a:defRPr>
            </a:pPr>
            <a:r>
              <a:rPr/>
              <a:t>Exercise 3: Cross-Validation Comparison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84048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88899"/>
                </a:solidFill>
                <a:latin typeface="맑은 고딕"/>
              </a:defRPr>
            </a:pPr>
            <a:r>
              <a:t>03_cross_validation_demo.py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rPr/>
              <a:t>Exercise 3: Comparison of Cross-Validation Strategies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03_cross_validation_demo.py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1064240" cy="9144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1031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4545"/>
                </a:solidFill>
                <a:latin typeface="맑은 고딕"/>
              </a:defRPr>
            </a:pPr>
            <a:r>
              <a:rPr/>
              <a:t>Lab Objective: Comparison of Hold-Out, K-Fold, Stratified K-Fold, LOO | Performance estimation variance measurement with 50 iterations | Check K value tradeoff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51460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rPr/>
              <a:t>Data: make_classification (150 samples) + Iris dataset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108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rPr/>
              <a:t>Core code 1: Performance estimation variance comparison (50 repetitions)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383280"/>
            <a:ext cx="5303520" cy="274320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520440"/>
            <a:ext cx="493776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00E696"/>
                </a:solidFill>
                <a:latin typeface="Consolas"/>
              </a:defRPr>
            </a:pPr>
            <a:r>
              <a:t>n_repeats = 50</a:t>
            </a:r>
          </a:p>
          <a:p>
            <a:pPr>
              <a:spcAft>
                <a:spcPts val="200"/>
              </a:spcAft>
              <a:defRPr sz="10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000">
                <a:solidFill>
                  <a:srgbClr val="00E696"/>
                </a:solidFill>
                <a:latin typeface="Consolas"/>
              </a:defRPr>
            </a:pPr>
            <a:r>
              <a:rPr/>
              <a:t># Hold-Out: Results are different for each split</a:t>
            </a:r>
          </a:p>
          <a:p>
            <a:pPr>
              <a:spcAft>
                <a:spcPts val="200"/>
              </a:spcAft>
              <a:defRPr sz="1000">
                <a:solidFill>
                  <a:srgbClr val="00E696"/>
                </a:solidFill>
                <a:latin typeface="Consolas"/>
              </a:defRPr>
            </a:pPr>
            <a:r>
              <a:t>for i in range(n_repeats):</a:t>
            </a:r>
          </a:p>
          <a:p>
            <a:pPr>
              <a:spcAft>
                <a:spcPts val="200"/>
              </a:spcAft>
              <a:defRPr sz="1000">
                <a:solidFill>
                  <a:srgbClr val="00E696"/>
                </a:solidFill>
                <a:latin typeface="Consolas"/>
              </a:defRPr>
            </a:pPr>
            <a:r>
              <a:t>    X_tr, X_te, y_tr, y_te = train_test_split(</a:t>
            </a:r>
          </a:p>
          <a:p>
            <a:pPr>
              <a:spcAft>
                <a:spcPts val="200"/>
              </a:spcAft>
              <a:defRPr sz="1000">
                <a:solidFill>
                  <a:srgbClr val="00E696"/>
                </a:solidFill>
                <a:latin typeface="Consolas"/>
              </a:defRPr>
            </a:pPr>
            <a:r>
              <a:t>        X, y, test_size=0.2, random_state=i)</a:t>
            </a:r>
          </a:p>
          <a:p>
            <a:pPr>
              <a:spcAft>
                <a:spcPts val="200"/>
              </a:spcAft>
              <a:defRPr sz="1000">
                <a:solidFill>
                  <a:srgbClr val="00E696"/>
                </a:solidFill>
                <a:latin typeface="Consolas"/>
              </a:defRPr>
            </a:pPr>
            <a:r>
              <a:t>    model.fit(X_tr, y_tr)</a:t>
            </a:r>
          </a:p>
          <a:p>
            <a:pPr>
              <a:spcAft>
                <a:spcPts val="200"/>
              </a:spcAft>
              <a:defRPr sz="1000">
                <a:solidFill>
                  <a:srgbClr val="00E696"/>
                </a:solidFill>
                <a:latin typeface="Consolas"/>
              </a:defRPr>
            </a:pPr>
            <a:r>
              <a:t>    holdout_scores.append(model.score(X_te, y_te))</a:t>
            </a:r>
          </a:p>
          <a:p>
            <a:pPr>
              <a:spcAft>
                <a:spcPts val="200"/>
              </a:spcAft>
              <a:defRPr sz="10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000">
                <a:solidFill>
                  <a:srgbClr val="00E696"/>
                </a:solidFill>
                <a:latin typeface="Consolas"/>
              </a:defRPr>
            </a:pPr>
            <a:r>
              <a:rPr/>
              <a:t># Stratified K-Fold: Most stable</a:t>
            </a:r>
          </a:p>
          <a:p>
            <a:pPr>
              <a:spcAft>
                <a:spcPts val="200"/>
              </a:spcAft>
              <a:defRPr sz="1000">
                <a:solidFill>
                  <a:srgbClr val="00E696"/>
                </a:solidFill>
                <a:latin typeface="Consolas"/>
              </a:defRPr>
            </a:pPr>
            <a:r>
              <a:t>for i in range(n_repeats):</a:t>
            </a:r>
          </a:p>
          <a:p>
            <a:pPr>
              <a:spcAft>
                <a:spcPts val="200"/>
              </a:spcAft>
              <a:defRPr sz="1000">
                <a:solidFill>
                  <a:srgbClr val="00E696"/>
                </a:solidFill>
                <a:latin typeface="Consolas"/>
              </a:defRPr>
            </a:pPr>
            <a:r>
              <a:t>    cv = StratifiedKFold(n_splits=5, shuffle=True,</a:t>
            </a:r>
          </a:p>
          <a:p>
            <a:pPr>
              <a:spcAft>
                <a:spcPts val="200"/>
              </a:spcAft>
              <a:defRPr sz="1000">
                <a:solidFill>
                  <a:srgbClr val="00E696"/>
                </a:solidFill>
                <a:latin typeface="Consolas"/>
              </a:defRPr>
            </a:pPr>
            <a:r>
              <a:t>                         random_state=i)</a:t>
            </a:r>
          </a:p>
          <a:p>
            <a:pPr>
              <a:spcAft>
                <a:spcPts val="200"/>
              </a:spcAft>
              <a:defRPr sz="1000">
                <a:solidFill>
                  <a:srgbClr val="00E696"/>
                </a:solidFill>
                <a:latin typeface="Consolas"/>
              </a:defRPr>
            </a:pPr>
            <a:r>
              <a:t>    scores = cross_val_score(model, X, y, cv=cv)</a:t>
            </a:r>
          </a:p>
          <a:p>
            <a:pPr>
              <a:spcAft>
                <a:spcPts val="200"/>
              </a:spcAft>
              <a:defRPr sz="1000">
                <a:solidFill>
                  <a:srgbClr val="00E696"/>
                </a:solidFill>
                <a:latin typeface="Consolas"/>
              </a:defRPr>
            </a:pPr>
            <a:r>
              <a:t>    skfold_scores.append(scores.mean())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3108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rPr/>
              <a:t>Core code 2: Tradeoff according to K value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383280"/>
            <a:ext cx="5303520" cy="274320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3520440"/>
            <a:ext cx="493776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00E696"/>
                </a:solidFill>
                <a:latin typeface="Consolas"/>
              </a:defRPr>
            </a:pPr>
            <a:r>
              <a:t>k_values = [2, 3, 5, 7, 10, 15, 20, 50, 100]</a:t>
            </a:r>
          </a:p>
          <a:p>
            <a:pPr>
              <a:spcAft>
                <a:spcPts val="200"/>
              </a:spcAft>
              <a:defRPr sz="10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000">
                <a:solidFill>
                  <a:srgbClr val="00E696"/>
                </a:solidFill>
                <a:latin typeface="Consolas"/>
              </a:defRPr>
            </a:pPr>
            <a:r>
              <a:t>for k in k_values:</a:t>
            </a:r>
          </a:p>
          <a:p>
            <a:pPr>
              <a:spcAft>
                <a:spcPts val="200"/>
              </a:spcAft>
              <a:defRPr sz="1000">
                <a:solidFill>
                  <a:srgbClr val="00E696"/>
                </a:solidFill>
                <a:latin typeface="Consolas"/>
              </a:defRPr>
            </a:pPr>
            <a:r>
              <a:t>    repeat_means = []</a:t>
            </a:r>
          </a:p>
          <a:p>
            <a:pPr>
              <a:spcAft>
                <a:spcPts val="200"/>
              </a:spcAft>
              <a:defRPr sz="1000">
                <a:solidFill>
                  <a:srgbClr val="00E696"/>
                </a:solidFill>
                <a:latin typeface="Consolas"/>
              </a:defRPr>
            </a:pPr>
            <a:r>
              <a:rPr/>
              <a:t>for i in range(30): # 30 iterations</a:t>
            </a:r>
          </a:p>
          <a:p>
            <a:pPr>
              <a:spcAft>
                <a:spcPts val="200"/>
              </a:spcAft>
              <a:defRPr sz="1000">
                <a:solidFill>
                  <a:srgbClr val="00E696"/>
                </a:solidFill>
                <a:latin typeface="Consolas"/>
              </a:defRPr>
            </a:pPr>
            <a:r>
              <a:t>        cv = KFold(n_splits=k, shuffle=True,</a:t>
            </a:r>
          </a:p>
          <a:p>
            <a:pPr>
              <a:spcAft>
                <a:spcPts val="200"/>
              </a:spcAft>
              <a:defRPr sz="1000">
                <a:solidFill>
                  <a:srgbClr val="00E696"/>
                </a:solidFill>
                <a:latin typeface="Consolas"/>
              </a:defRPr>
            </a:pPr>
            <a:r>
              <a:t>                   random_state=i)</a:t>
            </a:r>
          </a:p>
          <a:p>
            <a:pPr>
              <a:spcAft>
                <a:spcPts val="200"/>
              </a:spcAft>
              <a:defRPr sz="1000">
                <a:solidFill>
                  <a:srgbClr val="00E696"/>
                </a:solidFill>
                <a:latin typeface="Consolas"/>
              </a:defRPr>
            </a:pPr>
            <a:r>
              <a:t>        scores = cross_val_score(model, X, y, cv=cv)</a:t>
            </a:r>
          </a:p>
          <a:p>
            <a:pPr>
              <a:spcAft>
                <a:spcPts val="200"/>
              </a:spcAft>
              <a:defRPr sz="1000">
                <a:solidFill>
                  <a:srgbClr val="00E696"/>
                </a:solidFill>
                <a:latin typeface="Consolas"/>
              </a:defRPr>
            </a:pPr>
            <a:r>
              <a:t>        repeat_means.append(scores.mean())</a:t>
            </a:r>
          </a:p>
          <a:p>
            <a:pPr>
              <a:spcAft>
                <a:spcPts val="200"/>
              </a:spcAft>
              <a:defRPr sz="1000">
                <a:solidFill>
                  <a:srgbClr val="00E696"/>
                </a:solidFill>
                <a:latin typeface="Consolas"/>
              </a:defRPr>
            </a:pPr>
            <a:r>
              <a:t>    means.append(np.mean(repeat_means))</a:t>
            </a:r>
          </a:p>
          <a:p>
            <a:pPr>
              <a:spcAft>
                <a:spcPts val="200"/>
              </a:spcAft>
              <a:defRPr sz="1000">
                <a:solidFill>
                  <a:srgbClr val="00E696"/>
                </a:solidFill>
                <a:latin typeface="Consolas"/>
              </a:defRPr>
            </a:pPr>
            <a:r>
              <a:t>    stds.append(np.std(repeat_means))</a:t>
            </a:r>
          </a:p>
          <a:p>
            <a:pPr>
              <a:spcAft>
                <a:spcPts val="200"/>
              </a:spcAft>
              <a:defRPr sz="10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000">
                <a:solidFill>
                  <a:srgbClr val="00E696"/>
                </a:solidFill>
                <a:latin typeface="Consolas"/>
              </a:defRPr>
            </a:pPr>
            <a:r>
              <a:rPr/>
              <a:t># Key observations:</a:t>
            </a:r>
          </a:p>
          <a:p>
            <a:pPr>
              <a:spcAft>
                <a:spcPts val="200"/>
              </a:spcAft>
              <a:defRPr sz="1000">
                <a:solidFill>
                  <a:srgbClr val="00E696"/>
                </a:solidFill>
                <a:latin typeface="Consolas"/>
              </a:defRPr>
            </a:pPr>
            <a:r>
              <a:rPr/>
              <a:t># K small → high bias, low variance</a:t>
            </a:r>
          </a:p>
          <a:p>
            <a:pPr>
              <a:spcAft>
                <a:spcPts val="200"/>
              </a:spcAft>
              <a:defRPr sz="1000">
                <a:solidFill>
                  <a:srgbClr val="00E696"/>
                </a:solidFill>
                <a:latin typeface="Consolas"/>
              </a:defRPr>
            </a:pPr>
            <a:r>
              <a:rPr/>
              <a:t># K large → low bias, high variance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6309360"/>
            <a:ext cx="11064240" cy="36576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6336792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E696"/>
                </a:solidFill>
                <a:latin typeface="맑은 고딕"/>
              </a:defRPr>
            </a:pPr>
            <a:r>
              <a:rPr/>
              <a:t>Key conclusion: Hold-Out variance is largest | Stratified K-Fold most stable | K=5~10 recommended for practice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A0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50800"/>
          </a:xfrm>
          <a:prstGeom prst="rect">
            <a:avLst/>
          </a:prstGeom>
          <a:solidFill>
            <a:srgbClr val="A0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8288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A06CFF"/>
                </a:solidFill>
                <a:latin typeface="맑은 고딕"/>
              </a:defRPr>
            </a:pPr>
            <a:r>
              <a:t>SECTION 13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2468880"/>
            <a:ext cx="2103120" cy="38100"/>
          </a:xfrm>
          <a:prstGeom prst="rect">
            <a:avLst/>
          </a:prstGeom>
          <a:solidFill>
            <a:srgbClr val="A0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74320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맑은 고딕"/>
              </a:defRPr>
            </a:pPr>
            <a:r>
              <a:rPr/>
              <a:t>In-depth application cases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84048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88899"/>
                </a:solidFill>
                <a:latin typeface="맑은 고딕"/>
              </a:defRPr>
            </a:pPr>
            <a:r>
              <a:t>Healthcare, Finance, Manufacturing, NLP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rPr/>
              <a:t>In-depth application cases: Medical &amp; Finance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011680"/>
            <a:ext cx="5303520" cy="43891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031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E696"/>
                </a:solidFill>
                <a:latin typeface="맑은 고딕"/>
              </a:defRPr>
            </a:pPr>
            <a:r>
              <a:rPr/>
              <a:t>Healthcare - Breast Cancer Diagnosis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560320"/>
            <a:ext cx="13716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5603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rPr/>
              <a:t>Items</a:t>
            </a:r>
          </a:p>
        </p:txBody>
      </p:sp>
      <p:sp>
        <p:nvSpPr>
          <p:cNvPr id="9" name="Rectangle 8"/>
          <p:cNvSpPr/>
          <p:nvPr/>
        </p:nvSpPr>
        <p:spPr>
          <a:xfrm>
            <a:off x="2103120" y="2560320"/>
            <a:ext cx="347472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03120" y="256032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rPr/>
              <a:t>Content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017520"/>
            <a:ext cx="1371600" cy="36576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0175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rPr/>
              <a:t>Data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103120" y="3017520"/>
            <a:ext cx="3474720" cy="36576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103120" y="30175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rPr/>
              <a:t>Wisconsin Breast Cancer (569 samples, 30 characteristics)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3383280"/>
            <a:ext cx="1371600" cy="36576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3832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rPr/>
              <a:t>Class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103120" y="3383280"/>
            <a:ext cx="3474720" cy="36576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03120" y="33832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rPr/>
              <a:t>Malignant 37.3% / Benign 62.7%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3749040"/>
            <a:ext cx="1371600" cy="36576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37490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rPr/>
              <a:t>Key Indicators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103120" y="3749040"/>
            <a:ext cx="3474720" cy="36576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103120" y="37490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rPr/>
              <a:t>Recall - Cancer patients are not missed Do not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4114800"/>
            <a:ext cx="1371600" cy="36576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4114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rPr/>
              <a:t>Performance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103120" y="4114800"/>
            <a:ext cx="3474720" cy="36576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103120" y="41148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rPr/>
              <a:t>Accuracy 97-98% with only logistic regression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420624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BBBBCC"/>
                </a:solidFill>
                <a:latin typeface="맑은 고딕"/>
              </a:defRPr>
            </a:pPr>
            <a:r>
              <a:rPr/>
              <a:t>Medical AI Key Considerations:</a:t>
            </a:r>
          </a:p>
          <a:p>
            <a:pPr>
              <a:spcAft>
                <a:spcPts val="300"/>
              </a:spcAft>
              <a:defRPr sz="1200">
                <a:solidFill>
                  <a:srgbClr val="BBBBCC"/>
                </a:solidFill>
                <a:latin typeface="맑은 고딕"/>
              </a:defRPr>
            </a:pPr>
            <a:r>
              <a:rPr/>
              <a:t>• Minimizing FN (false negatives) is directly related to life</a:t>
            </a:r>
          </a:p>
          <a:p>
            <a:pPr>
              <a:spcAft>
                <a:spcPts val="300"/>
              </a:spcAft>
              <a:defRPr sz="1200">
                <a:solidFill>
                  <a:srgbClr val="BBBBCC"/>
                </a:solidFill>
                <a:latin typeface="맑은 고딕"/>
              </a:defRPr>
            </a:pPr>
            <a:r>
              <a:rPr/>
              <a:t>• Focus on recall and F1-Score over accuracy</a:t>
            </a:r>
          </a:p>
          <a:p>
            <a:pPr>
              <a:spcAft>
                <a:spcPts val="300"/>
              </a:spcAft>
              <a:defRPr sz="1200">
                <a:solidFill>
                  <a:srgbClr val="BBBBCC"/>
                </a:solidFill>
                <a:latin typeface="맑은 고딕"/>
              </a:defRPr>
            </a:pPr>
            <a:r>
              <a:rPr/>
              <a:t>• Model interpretability required (requires physician understanding)</a:t>
            </a:r>
          </a:p>
          <a:p>
            <a:pPr>
              <a:spcAft>
                <a:spcPts val="300"/>
              </a:spcAft>
              <a:defRPr sz="1200">
                <a:solidFill>
                  <a:srgbClr val="BBBBCC"/>
                </a:solidFill>
                <a:latin typeface="맑은 고딕"/>
              </a:defRPr>
            </a:pPr>
            <a:r>
              <a:rPr/>
              <a:t>• Meeting regulatory requirements (FDA approval, etc.)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0" y="2011680"/>
            <a:ext cx="5303520" cy="43891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92240" y="21031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8C00"/>
                </a:solidFill>
                <a:latin typeface="맑은 고딕"/>
              </a:defRPr>
            </a:pPr>
            <a:r>
              <a:rPr/>
              <a:t>Finance - Fraud Detection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0" y="2560320"/>
            <a:ext cx="13716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25603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rPr/>
              <a:t>Items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772400" y="2560320"/>
            <a:ext cx="347472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72400" y="256032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rPr/>
              <a:t>Content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0" y="3017520"/>
            <a:ext cx="1371600" cy="36576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0" y="30175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rPr/>
              <a:t>Problem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772400" y="3017520"/>
            <a:ext cx="3474720" cy="36576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772400" y="30175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rPr/>
              <a:t>Extreme class imbalance (fraud &lt; 1%)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0800" y="3383280"/>
            <a:ext cx="1371600" cy="36576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0" y="33832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rPr/>
              <a:t>Key Challenge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772400" y="3383280"/>
            <a:ext cx="3474720" cy="36576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772400" y="33832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rPr/>
              <a:t>FP Minimization + Actual Fraud Recall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00800" y="3749040"/>
            <a:ext cx="1371600" cy="36576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00800" y="37490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rPr/>
              <a:t>Key Techniques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772400" y="3749040"/>
            <a:ext cx="3474720" cy="36576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772400" y="37490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rPr/>
              <a:t>Isolation Forest, SMOTE, Ensemble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400800" y="4114800"/>
            <a:ext cx="1371600" cy="36576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00800" y="4114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rPr/>
              <a:t>Singularity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772400" y="4114800"/>
            <a:ext cx="3474720" cy="36576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772400" y="41148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rPr/>
              <a:t>Real-time processing + pattern persistence Change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92240" y="420624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BBBBCC"/>
                </a:solidFill>
                <a:latin typeface="맑은 고딕"/>
              </a:defRPr>
            </a:pPr>
            <a:r>
              <a:rPr/>
              <a:t>Financial ML Key Considerations:</a:t>
            </a:r>
          </a:p>
          <a:p>
            <a:pPr>
              <a:spcAft>
                <a:spcPts val="300"/>
              </a:spcAft>
              <a:defRPr sz="1200">
                <a:solidFill>
                  <a:srgbClr val="BBBBCC"/>
                </a:solidFill>
                <a:latin typeface="맑은 고딕"/>
              </a:defRPr>
            </a:pPr>
            <a:r>
              <a:rPr/>
              <a:t>• Time Series: Time Series Split, Prevent Future Data Leaks</a:t>
            </a:r>
          </a:p>
          <a:p>
            <a:pPr>
              <a:spcAft>
                <a:spcPts val="300"/>
              </a:spcAft>
              <a:defRPr sz="1200">
                <a:solidFill>
                  <a:srgbClr val="BBBBCC"/>
                </a:solidFill>
                <a:latin typeface="맑은 고딕"/>
              </a:defRPr>
            </a:pPr>
            <a:r>
              <a:rPr/>
              <a:t>• Class Imbalance: SMOTE, Cost-sensitive Learning</a:t>
            </a:r>
          </a:p>
          <a:p>
            <a:pPr>
              <a:spcAft>
                <a:spcPts val="300"/>
              </a:spcAft>
              <a:defRPr sz="1200">
                <a:solidFill>
                  <a:srgbClr val="BBBBCC"/>
                </a:solidFill>
                <a:latin typeface="맑은 고딕"/>
              </a:defRPr>
            </a:pPr>
            <a:r>
              <a:rPr/>
              <a:t>• Interpretability: Model clarification required by regulators</a:t>
            </a:r>
          </a:p>
          <a:p>
            <a:pPr>
              <a:spcAft>
                <a:spcPts val="300"/>
              </a:spcAft>
              <a:defRPr sz="1200">
                <a:solidFill>
                  <a:srgbClr val="BBBBCC"/>
                </a:solidFill>
                <a:latin typeface="맑은 고딕"/>
              </a:defRPr>
            </a:pPr>
            <a:r>
              <a:rPr/>
              <a:t>• Requires real-time inference performance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rPr/>
              <a:t>In-depth application cases: Manufacturing &amp; NLP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011680"/>
            <a:ext cx="5303520" cy="43891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031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6FF"/>
                </a:solidFill>
                <a:latin typeface="맑은 고딕"/>
              </a:defRPr>
            </a:pPr>
            <a:r>
              <a:rPr/>
              <a:t>Manufacturing - Predictive maintenance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560320"/>
            <a:ext cx="13716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5603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rPr/>
              <a:t>Item</a:t>
            </a:r>
          </a:p>
        </p:txBody>
      </p:sp>
      <p:sp>
        <p:nvSpPr>
          <p:cNvPr id="9" name="Rectangle 8"/>
          <p:cNvSpPr/>
          <p:nvPr/>
        </p:nvSpPr>
        <p:spPr>
          <a:xfrm>
            <a:off x="2103120" y="2560320"/>
            <a:ext cx="347472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03120" y="256032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rPr/>
              <a:t>Content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017520"/>
            <a:ext cx="1371600" cy="36576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0175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rPr/>
              <a:t>Problem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103120" y="3017520"/>
            <a:ext cx="3474720" cy="36576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103120" y="30175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rPr/>
              <a:t>Predicting when/if equipment will fail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3383280"/>
            <a:ext cx="1371600" cy="36576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3832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rPr/>
              <a:t>|Data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103120" y="3383280"/>
            <a:ext cx="3474720" cy="36576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03120" y="33832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rPr/>
              <a:t>IoT sensors (vibration, temperature, pressure, noise)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3749040"/>
            <a:ext cx="1371600" cy="36576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37490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rPr/>
              <a:t>Technique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103120" y="3749040"/>
            <a:ext cx="3474720" cy="36576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103120" y="37490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RF, LSTM, Survival Analysis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4114800"/>
            <a:ext cx="1371600" cy="36576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4114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rPr/>
              <a:t>Effect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103120" y="4114800"/>
            <a:ext cx="3474720" cy="36576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103120" y="41148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rPr/>
              <a:t>30-50% reduction in unplanned downtime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420624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BBBBCC"/>
                </a:solidFill>
                <a:latin typeface="맑은 고딕"/>
              </a:defRPr>
            </a:pPr>
            <a:r>
              <a:rPr/>
              <a:t>Manufacturing ML core:</a:t>
            </a:r>
          </a:p>
          <a:p>
            <a:pPr>
              <a:spcAft>
                <a:spcPts val="300"/>
              </a:spcAft>
              <a:defRPr sz="1200">
                <a:solidFill>
                  <a:srgbClr val="BBBBCC"/>
                </a:solidFill>
                <a:latin typeface="맑은 고딕"/>
              </a:defRPr>
            </a:pPr>
            <a:r>
              <a:rPr/>
              <a:t>• Time series characteristics of sensor data</a:t>
            </a:r>
          </a:p>
          <a:p>
            <a:pPr>
              <a:spcAft>
                <a:spcPts val="300"/>
              </a:spcAft>
              <a:defRPr sz="1200">
                <a:solidFill>
                  <a:srgbClr val="BBBBCC"/>
                </a:solidFill>
                <a:latin typeface="맑은 고딕"/>
              </a:defRPr>
            </a:pPr>
            <a:r>
              <a:rPr/>
              <a:t>• Failure data is very sparse (imbalanced)</a:t>
            </a:r>
          </a:p>
          <a:p>
            <a:pPr>
              <a:spcAft>
                <a:spcPts val="300"/>
              </a:spcAft>
              <a:defRPr sz="1200">
                <a:solidFill>
                  <a:srgbClr val="BBBBCC"/>
                </a:solidFill>
                <a:latin typeface="맑은 고딕"/>
              </a:defRPr>
            </a:pPr>
            <a:r>
              <a:rPr/>
              <a:t>• Real-time inference with Edge Computing</a:t>
            </a:r>
          </a:p>
          <a:p>
            <a:pPr>
              <a:spcAft>
                <a:spcPts val="300"/>
              </a:spcAft>
              <a:defRPr sz="1200">
                <a:solidFill>
                  <a:srgbClr val="BBBBCC"/>
                </a:solidFill>
                <a:latin typeface="맑은 고딕"/>
              </a:defRPr>
            </a:pPr>
            <a:r>
              <a:rPr/>
              <a:t>• Collaboration with domain experts (process engineers) required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0" y="2011680"/>
            <a:ext cx="5303520" cy="43891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92240" y="21031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06CFF"/>
                </a:solidFill>
                <a:latin typeface="맑은 고딕"/>
              </a:defRPr>
            </a:pPr>
            <a:r>
              <a:rPr/>
              <a:t>NLP - Sentiment Analysis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0" y="2560320"/>
            <a:ext cx="13716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25603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rPr/>
              <a:t>Item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772400" y="2560320"/>
            <a:ext cx="347472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72400" y="256032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rPr/>
              <a:t>Content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0" y="3017520"/>
            <a:ext cx="1371600" cy="36576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0" y="30175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rPr/>
              <a:t>Problem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772400" y="3017520"/>
            <a:ext cx="3474720" cy="36576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772400" y="30175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rPr/>
              <a:t>Text Classification (Positive/Negative/Neutral)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0800" y="3383280"/>
            <a:ext cx="1371600" cy="36576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0" y="33832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rPr/>
              <a:t>Data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772400" y="3383280"/>
            <a:ext cx="3474720" cy="36576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772400" y="33832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rPr/>
              <a:t>Reviews, Social Media, News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00800" y="3749040"/>
            <a:ext cx="1371600" cy="36576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00800" y="37490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rPr/>
              <a:t>Traditional Approach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772400" y="3749040"/>
            <a:ext cx="3474720" cy="36576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772400" y="37490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rPr/>
              <a:t>TF-IDF + SVM/Logistic Regression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400800" y="4114800"/>
            <a:ext cx="1371600" cy="36576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00800" y="4114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rPr/>
              <a:t>Modern Approach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772400" y="4114800"/>
            <a:ext cx="3474720" cy="36576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772400" y="41148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BERT, GPT Fine-tuning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92240" y="420624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BBBBCC"/>
                </a:solidFill>
                <a:latin typeface="맑은 고딕"/>
              </a:defRPr>
            </a:pPr>
            <a:r>
              <a:rPr/>
              <a:t>NLP ML Core:</a:t>
            </a:r>
          </a:p>
          <a:p>
            <a:pPr>
              <a:spcAft>
                <a:spcPts val="300"/>
              </a:spcAft>
              <a:defRPr sz="1200">
                <a:solidFill>
                  <a:srgbClr val="BBBBCC"/>
                </a:solidFill>
                <a:latin typeface="맑은 고딕"/>
              </a:defRPr>
            </a:pPr>
            <a:r>
              <a:rPr/>
              <a:t>• Preprocessing: tokenization, stopword removal, normalization</a:t>
            </a:r>
          </a:p>
          <a:p>
            <a:pPr>
              <a:spcAft>
                <a:spcPts val="300"/>
              </a:spcAft>
              <a:defRPr sz="1200">
                <a:solidFill>
                  <a:srgbClr val="BBBBCC"/>
                </a:solidFill>
                <a:latin typeface="맑은 고딕"/>
              </a:defRPr>
            </a:pPr>
            <a:r>
              <a:rPr/>
              <a:t>• Features: BoW, TF-IDF, Word2Vec, BERT Embedding</a:t>
            </a:r>
          </a:p>
          <a:p>
            <a:pPr>
              <a:spcAft>
                <a:spcPts val="300"/>
              </a:spcAft>
              <a:defRPr sz="1200">
                <a:solidFill>
                  <a:srgbClr val="BBBBCC"/>
                </a:solidFill>
                <a:latin typeface="맑은 고딕"/>
              </a:defRPr>
            </a:pPr>
            <a:r>
              <a:rPr/>
              <a:t>• Transfer learning: Fine-tuning the pre-trained model</a:t>
            </a:r>
          </a:p>
          <a:p>
            <a:pPr>
              <a:spcAft>
                <a:spcPts val="300"/>
              </a:spcAft>
              <a:defRPr sz="1200">
                <a:solidFill>
                  <a:srgbClr val="BBBBCC"/>
                </a:solidFill>
                <a:latin typeface="맑은 고딕"/>
              </a:defRPr>
            </a:pPr>
            <a:r>
              <a:rPr/>
              <a:t>• Special characteristics of Korean morphological analysis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508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8288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D2FF"/>
                </a:solidFill>
                <a:latin typeface="맑은 고딕"/>
              </a:defRPr>
            </a:pPr>
            <a:r>
              <a:t>SECTION 14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2468880"/>
            <a:ext cx="2103120" cy="381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74320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맑은 고딕"/>
              </a:defRPr>
            </a:pPr>
            <a:r>
              <a:rPr/>
              <a:t>Key Takeaways &amp; Review Questions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84048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88899"/>
                </a:solidFill>
                <a:latin typeface="맑은 고딕"/>
              </a:defRPr>
            </a:pPr>
            <a:r>
              <a:t>Summary &amp; Review Questions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rPr/>
              <a:t>Key Takeaways (Key Takeaways)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011680"/>
            <a:ext cx="3566160" cy="192024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1488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96FF"/>
                </a:solidFill>
                <a:latin typeface="맑은 고딕"/>
              </a:defRPr>
            </a:pPr>
            <a:r>
              <a:rPr/>
              <a:t>ML Definition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560320"/>
            <a:ext cx="182880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697480"/>
            <a:ext cx="3200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rPr/>
              <a:t>Automatic Learning of Patterns from Data</a:t>
            </a:r>
            <a:br/>
            <a:r>
              <a:rPr/>
              <a:t>Mitchell T-P-E Framework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1960" y="2011680"/>
            <a:ext cx="3566160" cy="192024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34840" y="21488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D2FF"/>
                </a:solidFill>
                <a:latin typeface="맑은 고딕"/>
              </a:defRPr>
            </a:pPr>
            <a:r>
              <a:rPr/>
              <a:t>Learning Types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34840" y="2560320"/>
            <a:ext cx="1828800" cy="381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34840" y="2697480"/>
            <a:ext cx="3200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rPr/>
              <a:t>Supervised (Classification/Regression) · Unsupervised · Reinforcement</a:t>
            </a:r>
            <a:br/>
            <a:r>
              <a:t>AI ⊃ ML ⊃ DL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2011680"/>
            <a:ext cx="3566160" cy="192024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21488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E696"/>
                </a:solidFill>
                <a:latin typeface="맑은 고딕"/>
              </a:defRPr>
            </a:pPr>
            <a:r>
              <a:rPr/>
              <a:t>Biased-Distributed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0" y="2560320"/>
            <a:ext cx="1828800" cy="38100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2697480"/>
            <a:ext cx="3200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EPE = Bias² + Var + σ²</a:t>
            </a:r>
            <a:br/>
            <a:r>
              <a:rPr/>
              <a:t>Model Complexity Optimal Balance Point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4297680"/>
            <a:ext cx="3566160" cy="192024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4348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8C00"/>
                </a:solidFill>
                <a:latin typeface="맑은 고딕"/>
              </a:defRPr>
            </a:pPr>
            <a:r>
              <a:rPr/>
              <a:t>NFL Theorem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4846320"/>
            <a:ext cx="1828800" cy="381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4983480"/>
            <a:ext cx="3200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rPr/>
              <a:t>There is no universal best algorithm</a:t>
            </a:r>
            <a:br/>
            <a:r>
              <a:rPr/>
              <a:t>There is no universal best algorithm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51960" y="4297680"/>
            <a:ext cx="3566160" cy="192024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34840" y="44348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4545"/>
                </a:solidFill>
                <a:latin typeface="맑은 고딕"/>
              </a:defRPr>
            </a:pPr>
            <a:r>
              <a:rPr/>
              <a:t>The right choice for the problem Core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434840" y="4846320"/>
            <a:ext cx="1828800" cy="38100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34840" y="4983480"/>
            <a:ext cx="3200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Stratified K-Fold (K=5~10)</a:t>
            </a:r>
            <a:br/>
            <a:r>
              <a:rPr/>
              <a:t>Cross validation |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46720" y="4297680"/>
            <a:ext cx="3566160" cy="192024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0" y="44348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A06CFF"/>
                </a:solidFill>
                <a:latin typeface="맑은 고딕"/>
              </a:defRPr>
            </a:pPr>
            <a:r>
              <a:rPr/>
              <a:t>ML 파이프라인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29600" y="4846320"/>
            <a:ext cx="1828800" cy="38100"/>
          </a:xfrm>
          <a:prstGeom prst="rect">
            <a:avLst/>
          </a:prstGeom>
          <a:solidFill>
            <a:srgbClr val="A0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0" y="4983480"/>
            <a:ext cx="3200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rPr/>
              <a:t>문제정의→수집→전처리→EDA</a:t>
            </a:r>
            <a:br/>
            <a:r>
              <a:rPr/>
              <a:t>→모델링→평가→튜닝→배포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rPr/>
              <a:t>Key Formula Theorem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011680"/>
            <a:ext cx="11064240" cy="685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057400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맑은 고딕"/>
              </a:defRPr>
            </a:pPr>
            <a:r>
              <a:rPr/>
              <a:t>Bias-Variance Decomposition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2057400"/>
            <a:ext cx="4114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맑은 고딕"/>
              </a:defRPr>
            </a:pPr>
            <a:r>
              <a:t>EPE = Bias² + Variance + σ²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2057400"/>
            <a:ext cx="3931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99"/>
                </a:solidFill>
                <a:latin typeface="맑은 고딕"/>
              </a:defRPr>
            </a:pPr>
            <a:r>
              <a:rPr/>
              <a:t>Three Sources of Total Error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788920"/>
            <a:ext cx="11064240" cy="685800"/>
          </a:xfrm>
          <a:prstGeom prst="roundRect">
            <a:avLst>
              <a:gd name="adj" fmla="val 5000"/>
            </a:avLst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834640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맑은 고딕"/>
              </a:defRPr>
            </a:pPr>
            <a:r>
              <a:rPr/>
              <a:t>Bias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2834640"/>
            <a:ext cx="4114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맑은 고딕"/>
              </a:defRPr>
            </a:pPr>
            <a:r>
              <a:t>Bias(x) = f(x) - E[f_hat(x)]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79" y="2834640"/>
            <a:ext cx="3931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99"/>
                </a:solidFill>
                <a:latin typeface="맑은 고딕"/>
              </a:defRPr>
            </a:pPr>
            <a:r>
              <a:rPr/>
              <a:t>Systematic Error Due to Model Assumptions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566160"/>
            <a:ext cx="11064240" cy="685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611880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맑은 고딕"/>
              </a:defRPr>
            </a:pPr>
            <a:r>
              <a:rPr/>
              <a:t>Variance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3611880"/>
            <a:ext cx="4114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맑은 고딕"/>
              </a:defRPr>
            </a:pPr>
            <a:r>
              <a:t>Var(x) = E[(f_hat(x) - E[f_hat(x)])²]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79" y="3611880"/>
            <a:ext cx="3931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99"/>
                </a:solidFill>
                <a:latin typeface="맑은 고딕"/>
              </a:defRPr>
            </a:pPr>
            <a:r>
              <a:rPr/>
              <a:t>Prediction Instability Due to Data Variation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343400"/>
            <a:ext cx="11064240" cy="685800"/>
          </a:xfrm>
          <a:prstGeom prst="roundRect">
            <a:avLst>
              <a:gd name="adj" fmla="val 5000"/>
            </a:avLst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4389120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맑은 고딕"/>
              </a:defRPr>
            </a:pPr>
            <a:r>
              <a:rPr/>
              <a:t>NFL Theorem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0" y="4389120"/>
            <a:ext cx="4114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맑은 고딕"/>
              </a:defRPr>
            </a:pPr>
            <a:r>
              <a:t>Sf P(d|f,m,a1) = Sf P(d|f,m,a2)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79" y="4389120"/>
            <a:ext cx="3931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99"/>
                </a:solidFill>
                <a:latin typeface="맑은 고딕"/>
              </a:defRPr>
            </a:pPr>
            <a:r>
              <a:rPr/>
              <a:t>Equal Average Performance for All Algorithms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5120640"/>
            <a:ext cx="11064240" cy="685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5166360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맑은 고딕"/>
              </a:defRPr>
            </a:pPr>
            <a:r>
              <a:rPr/>
              <a:t>Structured Risk Minimization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0" y="5166360"/>
            <a:ext cx="4114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맑은 고딕"/>
              </a:defRPr>
            </a:pPr>
            <a:r>
              <a:t>R(f) &lt;= R_emp(f) + Phi(VCdim, n)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79" y="5166360"/>
            <a:ext cx="3931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99"/>
                </a:solidFill>
                <a:latin typeface="맑은 고딕"/>
              </a:defRPr>
            </a:pPr>
            <a:r>
              <a:rPr/>
              <a:t>Generalization Error Upper Bound (Vapnik)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5897880"/>
            <a:ext cx="11064240" cy="685800"/>
          </a:xfrm>
          <a:prstGeom prst="roundRect">
            <a:avLst>
              <a:gd name="adj" fmla="val 5000"/>
            </a:avLst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5943600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맑은 고딕"/>
              </a:defRPr>
            </a:pPr>
            <a:r>
              <a:rPr/>
              <a:t>Optimal Estimator (Regression)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0" y="5943600"/>
            <a:ext cx="4114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맑은 고딕"/>
              </a:defRPr>
            </a:pPr>
            <a:r>
              <a:t>f*(x) = E[Y|X=x]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79" y="5943600"/>
            <a:ext cx="3931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99"/>
                </a:solidFill>
                <a:latin typeface="맑은 고딕"/>
              </a:defRPr>
            </a:pPr>
            <a:r>
              <a:rPr/>
              <a:t>Minimizing MSE Prediction (ESL)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rPr/>
              <a:t>Review Questions (1/2)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10515600" cy="77724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2148840"/>
            <a:ext cx="73152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103120"/>
            <a:ext cx="9875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rPr/>
              <a:t>Q1. Explain Mitchell's T-P-E definition by applying it to spam filters.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926080"/>
            <a:ext cx="10515600" cy="77724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3063240"/>
            <a:ext cx="73152" cy="4572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3017520"/>
            <a:ext cx="9875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rPr/>
              <a:t>Q2. Compare supervised/unsupervised/reinforcement learning in terms of data, goals, and feedback.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840480"/>
            <a:ext cx="10515600" cy="77724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3977640"/>
            <a:ext cx="73152" cy="457200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3931920"/>
            <a:ext cx="9875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rPr/>
              <a:t>Q3. Explain each term in the bias-variance decomposition formula and</a:t>
            </a:r>
            <a:br/>
            <a:r>
              <a:rPr/>
              <a:t>Describe the relationship with model complexity.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754880"/>
            <a:ext cx="10515600" cy="77724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4892040"/>
            <a:ext cx="73152" cy="4572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4846320"/>
            <a:ext cx="9875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rPr/>
              <a:t>Q4. Describe the core of the NFL theorem and three practical implications.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669280"/>
            <a:ext cx="10515600" cy="77724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5806440"/>
            <a:ext cx="73152" cy="457200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5760720"/>
            <a:ext cx="9875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rPr/>
              <a:t>Q5. Hold-Out, K-Fold, Stratified K-Fold, LOO's</a:t>
            </a:r>
            <a:br/>
            <a:r>
              <a:rPr/>
              <a:t>Compare the pros and cons.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rPr/>
              <a:t>Review questions (2/2)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10515600" cy="77724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2148840"/>
            <a:ext cx="73152" cy="457200"/>
          </a:xfrm>
          <a:prstGeom prst="rect">
            <a:avLst/>
          </a:prstGeom>
          <a:solidFill>
            <a:srgbClr val="A0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103120"/>
            <a:ext cx="9875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rPr/>
              <a:t>Q6. Describe at least three causes and solutions for overfitting and underfitting.</a:t>
            </a:r>
            <a:br/>
            <a:r>
              <a:rPr/>
              <a:t>Please explain in relation to Domingos’ “Overfitting Has Many Faces”.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926080"/>
            <a:ext cx="10515600" cy="77724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3063240"/>
            <a:ext cx="73152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3017520"/>
            <a:ext cx="9875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rPr/>
              <a:t>Q7. What is the VC dimension and</a:t>
            </a:r>
            <a:br/>
            <a:r>
              <a:rPr/>
              <a:t>of a 2-dimensional linear classifier?      Explain why the VC dimension is 3.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840480"/>
            <a:ext cx="10515600" cy="77724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3977640"/>
            <a:ext cx="73152" cy="4572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3931920"/>
            <a:ext cx="9875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rPr/>
              <a:t>Q8. Explain the 8 steps of the ML pipeline and the principles of preventing data leakage.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754880"/>
            <a:ext cx="10515600" cy="77724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4892040"/>
            <a:ext cx="73152" cy="457200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4846320"/>
            <a:ext cx="9875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rPr/>
              <a:t>Q9. ESL's least squares method vs. k-NN</a:t>
            </a:r>
            <a:br/>
            <a:r>
              <a:rPr/>
              <a:t>Explain the bias-variance trade-off.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669280"/>
            <a:ext cx="10515600" cy="77724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5806440"/>
            <a:ext cx="73152" cy="4572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5760720"/>
            <a:ext cx="9875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rPr/>
              <a:t>Q10. Domingos' "More Data Beats a Cleverer Algorithm" and</a:t>
            </a:r>
            <a:br/>
            <a:r>
              <a:rPr/>
              <a:t>Explain “Feature Engineering Is the Key” with practical examples.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28600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  <a:latin typeface="맑은 고딕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200400"/>
            <a:ext cx="121916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00D2FF"/>
                </a:solidFill>
                <a:latin typeface="맑은 고딕"/>
              </a:defRPr>
            </a:pPr>
            <a:r>
              <a:rPr/>
              <a:t>Chapter 1: Machine Learning Overview (Extended Detailed Version)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3840480"/>
            <a:ext cx="210312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41148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rPr/>
              <a:t>Next Chapter: Chapter 2 - Python Basics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