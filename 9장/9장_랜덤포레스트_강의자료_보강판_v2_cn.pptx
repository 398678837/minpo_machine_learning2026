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2286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>
            <a:off x="9784080" y="4023360"/>
            <a:ext cx="1554480" cy="1554480"/>
          </a:xfrm>
          <a:prstGeom prst="triangle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>
            <a:off x="10789920" y="4389120"/>
            <a:ext cx="1188720" cy="1188720"/>
          </a:xfrm>
          <a:prstGeom prst="triangle">
            <a:avLst/>
          </a:prstGeom>
          <a:solidFill>
            <a:srgbClr val="88D4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>
            <a:off x="10241280" y="4846320"/>
            <a:ext cx="914400" cy="914400"/>
          </a:xfrm>
          <a:prstGeom prst="triangle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>
            <a:off x="9326880" y="4663440"/>
            <a:ext cx="1005840" cy="1005840"/>
          </a:xfrm>
          <a:prstGeom prst="triangle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777240"/>
            <a:ext cx="2377440" cy="502920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82296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第 09 章 · 机器学习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55448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1" i="0">
                <a:solidFill>
                  <a:srgbClr val="FFFFFF"/>
                </a:solidFill>
                <a:latin typeface="微软雅黑"/>
              </a:rPr>
              <a:t>随机森林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5176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D9A0"/>
                </a:solidFill>
                <a:latin typeface="微软雅黑"/>
              </a:rPr>
              <a:t>用 Random Forest 预测二手车价格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3520440"/>
            <a:ext cx="73152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657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CFE3DA"/>
                </a:solidFill>
                <a:latin typeface="微软雅黑"/>
              </a:rPr>
              <a:t>集成学习 · 自助采样 · K 折交叉验证 · 特征重要性 · 超参数调优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206240"/>
            <a:ext cx="251460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4206240"/>
            <a:ext cx="91440" cy="41148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25196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524A"/>
                </a:solidFill>
                <a:latin typeface="微软雅黑"/>
              </a:rPr>
              <a:t>决策树的进阶版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20440" y="4206240"/>
            <a:ext cx="251460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520440" y="4206240"/>
            <a:ext cx="91440" cy="411480"/>
          </a:xfrm>
          <a:prstGeom prst="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3320" y="425196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524A"/>
                </a:solidFill>
                <a:latin typeface="微软雅黑"/>
              </a:rPr>
              <a:t>装袋 Bagging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206240"/>
            <a:ext cx="251460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4206240"/>
            <a:ext cx="91440" cy="411480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25196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524A"/>
                </a:solidFill>
                <a:latin typeface="微软雅黑"/>
              </a:rPr>
              <a:t>OOB · max_features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98932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教师授课用 · 理论 + 实操 + 评估 + 活动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16975" y="59893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监督学习 · 回归 (Regression)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微软雅黑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微软雅黑"/>
              </a:rPr>
              <a:t>随机森林 — 二手车价格预测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微软雅黑"/>
              </a:rPr>
              <a:t>GUIDE   教师授课指南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微软雅黑"/>
              </a:rPr>
              <a:t>课堂运行指南 (90 / 120 分钟模块)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微软雅黑"/>
              </a:rPr>
              <a:t>导入→理论→实操→评估→总结，时间分配与教学要点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920240"/>
            <a:ext cx="5486400" cy="457200"/>
          </a:xfrm>
          <a:prstGeom prst="round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9202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90 分钟精简模块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468880"/>
            <a:ext cx="731520" cy="59436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468880"/>
            <a:ext cx="7315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2A44F"/>
                </a:solidFill>
                <a:latin typeface="Consolas"/>
              </a:rPr>
              <a:t>10′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25880" y="2468880"/>
            <a:ext cx="86868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2468880"/>
            <a:ext cx="8686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4524A"/>
                </a:solidFill>
                <a:latin typeface="微软雅黑"/>
              </a:rPr>
              <a:t>导入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2514600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二手车价格预测问题 · 决策树的局限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127248"/>
            <a:ext cx="731520" cy="59436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127248"/>
            <a:ext cx="7315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2A44F"/>
                </a:solidFill>
                <a:latin typeface="Consolas"/>
              </a:rPr>
              <a:t>20′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25880" y="3127248"/>
            <a:ext cx="86868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25880" y="3127248"/>
            <a:ext cx="8686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4524A"/>
                </a:solidFill>
                <a:latin typeface="微软雅黑"/>
              </a:rPr>
              <a:t>理论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3172968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装袋 · 自助采样 · 随机特征选择 (直觉为主)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785616"/>
            <a:ext cx="731520" cy="59436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785616"/>
            <a:ext cx="7315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2A44F"/>
                </a:solidFill>
                <a:latin typeface="Consolas"/>
              </a:rPr>
              <a:t>35′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25880" y="3785616"/>
            <a:ext cx="86868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25880" y="3785616"/>
            <a:ext cx="8686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4524A"/>
                </a:solidFill>
                <a:latin typeface="微软雅黑"/>
              </a:rPr>
              <a:t>实操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3831336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文本预处理 → RandomForestRegressor 训练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443984"/>
            <a:ext cx="731520" cy="59436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443984"/>
            <a:ext cx="7315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2A44F"/>
                </a:solidFill>
                <a:latin typeface="Consolas"/>
              </a:rPr>
              <a:t>15′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325880" y="4443984"/>
            <a:ext cx="86868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25880" y="4443984"/>
            <a:ext cx="8686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4524A"/>
                </a:solidFill>
                <a:latin typeface="微软雅黑"/>
              </a:rPr>
              <a:t>评估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0" y="4489704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RMSE · K 折交叉验证结果对比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102352"/>
            <a:ext cx="731520" cy="59436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102352"/>
            <a:ext cx="7315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2A44F"/>
                </a:solidFill>
                <a:latin typeface="Consolas"/>
              </a:rPr>
              <a:t>10′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25880" y="5102352"/>
            <a:ext cx="86868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25880" y="5102352"/>
            <a:ext cx="8686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4524A"/>
                </a:solidFill>
                <a:latin typeface="微软雅黑"/>
              </a:rPr>
              <a:t>总结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86000" y="5148072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特征重要性解读 · 实战检查清单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1920240"/>
            <a:ext cx="5486400" cy="457200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0" y="19202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120 分钟扩展模块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2468880"/>
            <a:ext cx="731520" cy="59436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0" y="2468880"/>
            <a:ext cx="7315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2A44F"/>
                </a:solidFill>
                <a:latin typeface="Consolas"/>
              </a:rPr>
              <a:t>10′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995160" y="2468880"/>
            <a:ext cx="86868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95160" y="2468880"/>
            <a:ext cx="8686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4524A"/>
                </a:solidFill>
                <a:latin typeface="微软雅黑"/>
              </a:rPr>
              <a:t>导入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55280" y="2514600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预测 vs 估计 · 价格影响因素讨论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17920" y="3127248"/>
            <a:ext cx="731520" cy="59436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17920" y="3127248"/>
            <a:ext cx="7315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2A44F"/>
                </a:solidFill>
                <a:latin typeface="Consolas"/>
              </a:rPr>
              <a:t>30′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995160" y="3127248"/>
            <a:ext cx="86868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95160" y="3127248"/>
            <a:ext cx="8686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4524A"/>
                </a:solidFill>
                <a:latin typeface="微软雅黑"/>
              </a:rPr>
              <a:t>理论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55280" y="3172968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OOB · 方差降低公式 · max_features 的含义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17920" y="3785616"/>
            <a:ext cx="731520" cy="59436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17920" y="3785616"/>
            <a:ext cx="7315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2A44F"/>
                </a:solidFill>
                <a:latin typeface="Consolas"/>
              </a:rPr>
              <a:t>45′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995160" y="3785616"/>
            <a:ext cx="86868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995160" y="3785616"/>
            <a:ext cx="8686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4524A"/>
                </a:solidFill>
                <a:latin typeface="微软雅黑"/>
              </a:rPr>
              <a:t>实操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55280" y="3831336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5 列预处理 + 哑变量化 + 训练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17920" y="4443984"/>
            <a:ext cx="731520" cy="59436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17920" y="4443984"/>
            <a:ext cx="7315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2A44F"/>
                </a:solidFill>
                <a:latin typeface="Consolas"/>
              </a:rPr>
              <a:t>20′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995160" y="4443984"/>
            <a:ext cx="86868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995160" y="4443984"/>
            <a:ext cx="8686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4524A"/>
                </a:solidFill>
                <a:latin typeface="微软雅黑"/>
              </a:rPr>
              <a:t>评估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55280" y="4489704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5 折 CV + OOB + 调优前后对比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217920" y="5102352"/>
            <a:ext cx="731520" cy="59436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17920" y="5102352"/>
            <a:ext cx="7315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2A44F"/>
                </a:solidFill>
                <a:latin typeface="Consolas"/>
              </a:rPr>
              <a:t>15′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995160" y="5102352"/>
            <a:ext cx="86868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995160" y="5102352"/>
            <a:ext cx="8686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4524A"/>
                </a:solidFill>
                <a:latin typeface="微软雅黑"/>
              </a:rPr>
              <a:t>总结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955280" y="5148072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排列重要性 · PDP 演示后 Q&amp;A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48640" y="5897880"/>
            <a:ext cx="11064240" cy="50292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1520" y="59893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2A44F"/>
                </a:solidFill>
                <a:latin typeface="微软雅黑"/>
              </a:rPr>
              <a:t>💬  教师讲解要点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1520" y="6281928"/>
            <a:ext cx="10698480" cy="45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不要把时间全花在「跑代码」上。要保留时间让学生说出「为什么需要这一步」。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机器学习 · 第 9 章  随机森林 — 二手车价格预测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2 / 66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微软雅黑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微软雅黑"/>
              </a:rPr>
              <a:t>随机森林 — 二手车价格预测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微软雅黑"/>
              </a:rPr>
              <a:t>GUIDE   学习目标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微软雅黑"/>
              </a:rPr>
              <a:t>学习目标 (Learning Outcomes)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微软雅黑"/>
              </a:rPr>
              <a:t>课后学生应能解释、实现并评估的内容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57400"/>
            <a:ext cx="1097280" cy="868680"/>
          </a:xfrm>
          <a:prstGeom prst="round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057400"/>
            <a:ext cx="10972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微软雅黑"/>
              </a:rPr>
              <a:t>理解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737360" y="2057400"/>
            <a:ext cx="9875520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20240" y="214884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B2B2A"/>
                </a:solidFill>
                <a:latin typeface="微软雅黑"/>
              </a:rPr>
              <a:t>能用直觉和公式两种方式说明：为什么单棵决策树易过拟合，「多棵树取平均」为何能降低方差。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063240"/>
            <a:ext cx="1097280" cy="868680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063240"/>
            <a:ext cx="10972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微软雅黑"/>
              </a:rPr>
              <a:t>应用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737360" y="3063240"/>
            <a:ext cx="9875520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20240" y="315468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B2B2A"/>
                </a:solidFill>
                <a:latin typeface="微软雅黑"/>
              </a:rPr>
              <a:t>能把单位混入的文本 (1248 CC, 74 bhp, 23.4 kmpl …) 清洗为数值特征，并用 get_dummies 对类别变量做独热编码后训练 RandomForestRegressor。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069080"/>
            <a:ext cx="1097280" cy="868680"/>
          </a:xfrm>
          <a:prstGeom prst="roundRect">
            <a:avLst/>
          </a:prstGeom>
          <a:solidFill>
            <a:srgbClr val="3B6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069080"/>
            <a:ext cx="10972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微软雅黑"/>
              </a:rPr>
              <a:t>分析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737360" y="4069080"/>
            <a:ext cx="9875520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20240" y="416052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B2B2A"/>
                </a:solidFill>
                <a:latin typeface="微软雅黑"/>
              </a:rPr>
              <a:t>能同时查看 RMSE、K 折交叉验证、OOB 得分，剔除「一次评估」的偶然性，得到可靠的模型对比。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074920"/>
            <a:ext cx="1097280" cy="868680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074920"/>
            <a:ext cx="10972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737360" y="5074920"/>
            <a:ext cx="9875520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20240" y="516636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B2B2A"/>
                </a:solidFill>
                <a:latin typeface="微软雅黑"/>
              </a:rPr>
              <a:t>理解 n_estimators · max_depth · min_samples_leaf · max_features 的含义，能用 GridSearchCV 调优，并指出特征重要性解读的陷阱 (相关变量、高基数偏差)。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6263640"/>
            <a:ext cx="11064240" cy="45720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63550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2A44F"/>
                </a:solidFill>
                <a:latin typeface="微软雅黑"/>
              </a:rPr>
              <a:t>💬  教师讲解要点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647688"/>
            <a:ext cx="10698480" cy="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结尾让一位学生说出「RF 作为 baseline 的优点」与「需要注意的点」各一条。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机器学习 · 第 9 章  随机森林 — 二手车价格预测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3 / 66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微软雅黑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微软雅黑"/>
              </a:rPr>
              <a:t>随机森林 — 二手车价格预测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微软雅黑"/>
              </a:rPr>
              <a:t>TOC   全部目录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微软雅黑"/>
              </a:rPr>
              <a:t>全部目录 — 7 个 Part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微软雅黑"/>
              </a:rPr>
              <a:t>把教材 9.1–9.8 拓展为课堂版本，包含活动与解读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1371600" cy="502920"/>
          </a:xfrm>
          <a:prstGeom prst="round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01168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</a:rPr>
              <a:t>Part 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2011680"/>
            <a:ext cx="274320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0" y="201168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4524A"/>
                </a:solidFill>
                <a:latin typeface="微软雅黑"/>
              </a:rPr>
              <a:t>问题与直觉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46320" y="2011680"/>
            <a:ext cx="1188720" cy="502920"/>
          </a:xfrm>
          <a:prstGeom prst="roundRect">
            <a:avLst/>
          </a:prstGeom>
          <a:solidFill>
            <a:srgbClr val="E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2011680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4524A"/>
                </a:solidFill>
                <a:latin typeface="Consolas"/>
              </a:rPr>
              <a:t>9.1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075688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二手车价格预测 · 决策树的局限 · 集成学习直觉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578608"/>
            <a:ext cx="1371600" cy="502920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578608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</a:rPr>
              <a:t>Part II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11680" y="2578608"/>
            <a:ext cx="274320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0" y="2578608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4524A"/>
                </a:solidFill>
                <a:latin typeface="微软雅黑"/>
              </a:rPr>
              <a:t>理论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46320" y="2578608"/>
            <a:ext cx="1188720" cy="502920"/>
          </a:xfrm>
          <a:prstGeom prst="roundRect">
            <a:avLst/>
          </a:prstGeom>
          <a:solidFill>
            <a:srgbClr val="E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0" y="2578608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4524A"/>
                </a:solidFill>
                <a:latin typeface="Consolas"/>
              </a:rPr>
              <a:t>9.7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2642616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自助采样 · OOB (36.8%) · 方差降低 · 算法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145536"/>
            <a:ext cx="1371600" cy="502920"/>
          </a:xfrm>
          <a:prstGeom prst="roundRect">
            <a:avLst/>
          </a:prstGeom>
          <a:solidFill>
            <a:srgbClr val="3B6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145536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</a:rPr>
              <a:t>Part III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011680" y="3145536"/>
            <a:ext cx="274320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0" y="3145536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4524A"/>
                </a:solidFill>
                <a:latin typeface="微软雅黑"/>
              </a:rPr>
              <a:t>数据预处理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46320" y="3145536"/>
            <a:ext cx="1188720" cy="502920"/>
          </a:xfrm>
          <a:prstGeom prst="roundRect">
            <a:avLst/>
          </a:prstGeom>
          <a:solidFill>
            <a:srgbClr val="E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46320" y="3145536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4524A"/>
                </a:solidFill>
                <a:latin typeface="Consolas"/>
              </a:rPr>
              <a:t>9.2-9.4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3209544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engine · max_power · mileage · torque · name · 缺失 · 哑变量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3712464"/>
            <a:ext cx="1371600" cy="502920"/>
          </a:xfrm>
          <a:prstGeom prst="roundRect">
            <a:avLst/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3712464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</a:rPr>
              <a:t>Part IV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011680" y="3712464"/>
            <a:ext cx="274320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03120" y="3712464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4524A"/>
                </a:solidFill>
                <a:latin typeface="微软雅黑"/>
              </a:rPr>
              <a:t>建模与评估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846320" y="3712464"/>
            <a:ext cx="1188720" cy="502920"/>
          </a:xfrm>
          <a:prstGeom prst="roundRect">
            <a:avLst/>
          </a:prstGeom>
          <a:solidFill>
            <a:srgbClr val="E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46320" y="3712464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4524A"/>
                </a:solidFill>
                <a:latin typeface="Consolas"/>
              </a:rPr>
              <a:t>9.5-9.6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3776472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train/test · RMSE · K-Fold · OOB 评估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4279392"/>
            <a:ext cx="1371600" cy="502920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4279392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</a:rPr>
              <a:t>Part V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011680" y="4279392"/>
            <a:ext cx="274320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103120" y="4279392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4524A"/>
                </a:solidFill>
                <a:latin typeface="微软雅黑"/>
              </a:rPr>
              <a:t>超参数调优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846320" y="4279392"/>
            <a:ext cx="1188720" cy="502920"/>
          </a:xfrm>
          <a:prstGeom prst="roundRect">
            <a:avLst/>
          </a:prstGeom>
          <a:solidFill>
            <a:srgbClr val="E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46320" y="4279392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4524A"/>
                </a:solidFill>
                <a:latin typeface="Consolas"/>
              </a:rPr>
              <a:t>9.8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80" y="43434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n_estimators · max_depth · GridSearchCV · 结果汇报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4846320"/>
            <a:ext cx="1371600" cy="502920"/>
          </a:xfrm>
          <a:prstGeom prst="roundRect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484632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</a:rPr>
              <a:t>Part VI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011680" y="4846320"/>
            <a:ext cx="274320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103120" y="484632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4524A"/>
                </a:solidFill>
                <a:latin typeface="微软雅黑"/>
              </a:rPr>
              <a:t>解读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846320" y="4846320"/>
            <a:ext cx="1188720" cy="502920"/>
          </a:xfrm>
          <a:prstGeom prst="roundRect">
            <a:avLst/>
          </a:prstGeom>
          <a:solidFill>
            <a:srgbClr val="E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846320" y="4846320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4524A"/>
                </a:solidFill>
                <a:latin typeface="Consolas"/>
              </a:rPr>
              <a:t>扩展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26480" y="4910328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MDI · 排列重要性 · PDP · 预测区间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8640" y="5413248"/>
            <a:ext cx="1371600" cy="502920"/>
          </a:xfrm>
          <a:prstGeom prst="round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5413248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</a:rPr>
              <a:t>Part VII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011680" y="5413248"/>
            <a:ext cx="274320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03120" y="5413248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4524A"/>
                </a:solidFill>
                <a:latin typeface="微软雅黑"/>
              </a:rPr>
              <a:t>活动·评估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846320" y="5413248"/>
            <a:ext cx="1188720" cy="502920"/>
          </a:xfrm>
          <a:prstGeom prst="roundRect">
            <a:avLst/>
          </a:prstGeom>
          <a:solidFill>
            <a:srgbClr val="E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846320" y="5413248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4524A"/>
                </a:solidFill>
                <a:latin typeface="Consolas"/>
              </a:rPr>
              <a:t>扩展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26480" y="5477256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团队实操 · 测验 · 作业 · 评分量表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机器学习 · 第 9 章  随机森林 — 二手车价格预测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4 / 66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9601200" y="4114800"/>
            <a:ext cx="1371600" cy="1371600"/>
          </a:xfrm>
          <a:prstGeom prst="triangle">
            <a:avLst/>
          </a:prstGeom>
          <a:solidFill>
            <a:srgbClr val="88D4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0515600" y="4572000"/>
            <a:ext cx="1005840" cy="1005840"/>
          </a:xfrm>
          <a:prstGeom prst="triangle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>
            <a:off x="8961120" y="4754880"/>
            <a:ext cx="822960" cy="822960"/>
          </a:xfrm>
          <a:prstGeom prst="triangle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2194560" cy="502920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PART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200" b="1" i="0">
                <a:solidFill>
                  <a:srgbClr val="FFFFFF"/>
                </a:solidFill>
                <a:latin typeface="微软雅黑"/>
              </a:rPr>
              <a:t>问题与直觉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703320"/>
            <a:ext cx="73152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8404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CFE3DA"/>
                </a:solidFill>
                <a:latin typeface="微软雅黑"/>
              </a:rPr>
              <a:t>学习随机森林前，先把握预测问题结构与树的局限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微软雅黑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微软雅黑"/>
              </a:rPr>
              <a:t>随机森林 — 二手车价格预测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微软雅黑"/>
              </a:rPr>
              <a:t>9.1   问题定义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微软雅黑"/>
              </a:rPr>
              <a:t>9.1 问题定义 — 二手车价格预测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微软雅黑"/>
              </a:rPr>
              <a:t>在没有「标价」的市场中估计合理售价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57400"/>
            <a:ext cx="5486400" cy="4206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2057400"/>
            <a:ext cx="5486400" cy="502920"/>
          </a:xfrm>
          <a:prstGeom prst="round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057400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🎯  任务信息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697480"/>
            <a:ext cx="2011680" cy="365760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274320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微软雅黑"/>
              </a:rPr>
              <a:t>任务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2697480"/>
            <a:ext cx="3108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89504" y="2734056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用二手车销售记录预测价格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108960"/>
            <a:ext cx="2011680" cy="365760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315468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微软雅黑"/>
              </a:rPr>
              <a:t>难度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0" y="3108960"/>
            <a:ext cx="3108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89504" y="3145536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★★★ (中高)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520440"/>
            <a:ext cx="2011680" cy="365760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" y="356616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微软雅黑"/>
              </a:rPr>
              <a:t>算法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0" y="3520440"/>
            <a:ext cx="3108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89504" y="3557016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Random Forest (Regressor)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931920"/>
            <a:ext cx="2011680" cy="365760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" y="397764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微软雅黑"/>
              </a:rPr>
              <a:t>数据集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0" y="3931920"/>
            <a:ext cx="3108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89504" y="3968496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car.csv  (8,128 行 × 13 列)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4343400"/>
            <a:ext cx="2011680" cy="365760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9536" y="438912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微软雅黑"/>
              </a:rPr>
              <a:t>目标变量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0" y="4343400"/>
            <a:ext cx="3108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89504" y="4379976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selling_price (销售价格)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4754880"/>
            <a:ext cx="2011680" cy="365760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9536" y="480060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微软雅黑"/>
              </a:rPr>
              <a:t>问题类型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0" y="4754880"/>
            <a:ext cx="3108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89504" y="4791456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回归 (Regression)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5166360"/>
            <a:ext cx="2011680" cy="365760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9536" y="521208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微软雅黑"/>
              </a:rPr>
              <a:t>评估指标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0" y="5166360"/>
            <a:ext cx="3108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889504" y="5202936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RMSE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5577840"/>
            <a:ext cx="2011680" cy="365760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9536" y="562356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微软雅黑"/>
              </a:rPr>
              <a:t>主要库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0" y="5577840"/>
            <a:ext cx="3108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889504" y="5614416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pandas · numpy · matplotlib · seaborn · scikit-learn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63640" y="2057400"/>
            <a:ext cx="5486400" cy="1965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63640" y="2057400"/>
            <a:ext cx="91440" cy="1965960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19672" y="222199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524A"/>
                </a:solidFill>
                <a:latin typeface="微软雅黑"/>
              </a:rPr>
              <a:t>🤔  为什么难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19672" y="2715768"/>
            <a:ext cx="50292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• 二手市场没有「标价」— 同款同年份，因状态和配置而价格各异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• 影响价格的因素分散在 13 个变量中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• 多个列单位混入文本 (1248 CC, 74 bhp, 23.4 kmpl)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• selling_price 分布不对称 (低价集中、高价拖长尾)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63640" y="4114800"/>
            <a:ext cx="5486400" cy="2148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263640" y="4114800"/>
            <a:ext cx="91440" cy="214884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19672" y="427939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524A"/>
                </a:solidFill>
                <a:latin typeface="微软雅黑"/>
              </a:rPr>
              <a:t>📌  为什么用 RF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19672" y="4773168"/>
            <a:ext cx="502920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• 单棵决策树越深越容易把训练集记死,测试时摇摆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• 线性模型难以直接表达非线性交互(年份×里程)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• 随机森林 = 决策树的进阶:多棵树取平均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→ 作为「优秀的 baseline」,首选的第一个模型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48640" y="6355080"/>
            <a:ext cx="11064240" cy="45720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2A44F"/>
                </a:solidFill>
                <a:latin typeface="微软雅黑"/>
              </a:rPr>
              <a:t>💬  课堂热身提问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" y="6739128"/>
            <a:ext cx="10698480" cy="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「如果你要买二手车,会先看哪 3 个因素?」→ 让学生回答,并与下页的特征列表对应。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机器学习 · 第 9 章  随机森林 — 二手车价格预测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6 / 66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微软雅黑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微软雅黑"/>
              </a:rPr>
              <a:t>随机森林 — 二手车价格预测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微软雅黑"/>
              </a:rPr>
              <a:t>9.1   数据列地图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微软雅黑"/>
              </a:rPr>
              <a:t>数据集列地图 — 含义与处理方向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微软雅黑"/>
              </a:rPr>
              <a:t>先就「为什么要做什么预处理」达成共识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011680"/>
            <a:ext cx="1828800" cy="310896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011680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列名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7440" y="2011680"/>
            <a:ext cx="2926080" cy="310896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77440" y="2011680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含义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0" y="2011680"/>
            <a:ext cx="1554480" cy="310896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0" y="2011680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当前 dtype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0" y="2011680"/>
            <a:ext cx="4754880" cy="310896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2011680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处理方向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322576"/>
            <a:ext cx="18288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322576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Consolas"/>
              </a:rPr>
              <a:t>name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77440" y="2322576"/>
            <a:ext cx="2926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68880" y="2322576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车辆品牌/型号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03520" y="2322576"/>
            <a:ext cx="15544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94960" y="2322576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object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2322576"/>
            <a:ext cx="4754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0" y="2322576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取首词 → 哑变量化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2633472"/>
            <a:ext cx="1828800" cy="310896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2633472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Consolas"/>
              </a:rPr>
              <a:t>year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77440" y="2633472"/>
            <a:ext cx="2926080" cy="310896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68880" y="2633472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生产年份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03520" y="2633472"/>
            <a:ext cx="1554480" cy="310896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94960" y="2633472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int64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2633472"/>
            <a:ext cx="4754880" cy="310896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0" y="2633472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直接使用 (或派生「车龄」)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2944368"/>
            <a:ext cx="18288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2944368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Consolas"/>
              </a:rPr>
              <a:t>selling_price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77440" y="2944368"/>
            <a:ext cx="2926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468880" y="2944368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销售价格 — 目标 (target)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03520" y="2944368"/>
            <a:ext cx="15544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94960" y="2944368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int64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58000" y="2944368"/>
            <a:ext cx="4754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49440" y="2944368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从 X 中分离,直接使用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3255264"/>
            <a:ext cx="1828800" cy="310896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3255264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Consolas"/>
              </a:rPr>
              <a:t>km_driven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377440" y="3255264"/>
            <a:ext cx="2926080" cy="310896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468880" y="3255264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行驶里程 (km)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303520" y="3255264"/>
            <a:ext cx="1554480" cy="310896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394960" y="3255264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int64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858000" y="3255264"/>
            <a:ext cx="4754880" cy="310896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49440" y="3255264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数值型,检查异常值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3566160"/>
            <a:ext cx="18288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3566160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Consolas"/>
              </a:rPr>
              <a:t>fuel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377440" y="3566160"/>
            <a:ext cx="2926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468880" y="3566160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燃料 (Petrol/Diesel/LPG/CNG)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303520" y="3566160"/>
            <a:ext cx="15544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94960" y="3566160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object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858000" y="3566160"/>
            <a:ext cx="4754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949440" y="3566160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哑变量化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" y="3877056"/>
            <a:ext cx="1828800" cy="310896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0080" y="3877056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Consolas"/>
              </a:rPr>
              <a:t>seller_type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377440" y="3877056"/>
            <a:ext cx="2926080" cy="310896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468880" y="3877056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卖家类型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303520" y="3877056"/>
            <a:ext cx="1554480" cy="310896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394960" y="3877056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object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858000" y="3877056"/>
            <a:ext cx="4754880" cy="310896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949440" y="3877056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哑变量化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48640" y="4187952"/>
            <a:ext cx="18288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" y="4187952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Consolas"/>
              </a:rPr>
              <a:t>transmission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377440" y="4187952"/>
            <a:ext cx="2926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468880" y="4187952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变速箱 (Manual/Auto)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303520" y="4187952"/>
            <a:ext cx="15544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394960" y="4187952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object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858000" y="4187952"/>
            <a:ext cx="4754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949440" y="4187952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哑变量化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48640" y="4498848"/>
            <a:ext cx="1828800" cy="310896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40080" y="4498848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Consolas"/>
              </a:rPr>
              <a:t>owner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377440" y="4498848"/>
            <a:ext cx="2926080" cy="310896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468880" y="4498848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过户记录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303520" y="4498848"/>
            <a:ext cx="1554480" cy="310896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394960" y="4498848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object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858000" y="4498848"/>
            <a:ext cx="4754880" cy="310896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949440" y="4498848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哑变量化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48640" y="4809744"/>
            <a:ext cx="18288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40080" y="4809744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Consolas"/>
              </a:rPr>
              <a:t>mileage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377440" y="4809744"/>
            <a:ext cx="2926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468880" y="4809744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油耗 + 单位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303520" y="4809744"/>
            <a:ext cx="15544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394960" y="4809744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object ⚠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858000" y="4809744"/>
            <a:ext cx="4754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949440" y="4809744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统一单位后转 float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48640" y="5120640"/>
            <a:ext cx="1828800" cy="310896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40080" y="5120640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Consolas"/>
              </a:rPr>
              <a:t>engine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377440" y="5120640"/>
            <a:ext cx="2926080" cy="310896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468880" y="5120640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排量 + ‘CC’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303520" y="5120640"/>
            <a:ext cx="1554480" cy="310896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394960" y="5120640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object ⚠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858000" y="5120640"/>
            <a:ext cx="4754880" cy="310896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949440" y="5120640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仅取数字 → float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48640" y="5431536"/>
            <a:ext cx="18288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40080" y="5431536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Consolas"/>
              </a:rPr>
              <a:t>max_power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377440" y="5431536"/>
            <a:ext cx="2926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468880" y="5431536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最大功率 + ‘bhp’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303520" y="5431536"/>
            <a:ext cx="15544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394960" y="5431536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object ⚠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858000" y="5431536"/>
            <a:ext cx="4754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949440" y="5431536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仅取数字 (含异常处理)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48640" y="5742432"/>
            <a:ext cx="1828800" cy="310896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40080" y="5742432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Consolas"/>
              </a:rPr>
              <a:t>torque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377440" y="5742432"/>
            <a:ext cx="2926080" cy="310896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468880" y="5742432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扭矩 + RPM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303520" y="5742432"/>
            <a:ext cx="1554480" cy="310896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394960" y="5742432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object ⚠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858000" y="5742432"/>
            <a:ext cx="4754880" cy="310896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949440" y="5742432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取前段数字, kgm→Nm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48640" y="6053328"/>
            <a:ext cx="18288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40080" y="6053328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Consolas"/>
              </a:rPr>
              <a:t>seats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2377440" y="6053328"/>
            <a:ext cx="2926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2468880" y="6053328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座位数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303520" y="6053328"/>
            <a:ext cx="15544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394960" y="6053328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float64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858000" y="6053328"/>
            <a:ext cx="4754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949440" y="6053328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检查缺失值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机器学习 · 第 9 章  随机森林 — 二手车价格预测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7 / 66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微软雅黑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微软雅黑"/>
              </a:rPr>
              <a:t>随机森林 — 二手车价格预测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微软雅黑"/>
              </a:rPr>
              <a:t>INTRO   决策树的局限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微软雅黑"/>
              </a:rPr>
              <a:t>单棵「决策树」为什么不够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微软雅黑"/>
              </a:rPr>
              <a:t>易于理解,但对数据变动极为敏感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57400"/>
            <a:ext cx="5943600" cy="4206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1945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6F5A"/>
                </a:solidFill>
                <a:latin typeface="微软雅黑"/>
              </a:rPr>
              <a:t>📊  偏差 (Bias) vs 方差 (Variance)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5120640"/>
            <a:ext cx="5212080" cy="36576"/>
          </a:xfrm>
          <a:prstGeom prst="rect">
            <a:avLst/>
          </a:prstGeom>
          <a:solidFill>
            <a:srgbClr val="55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2120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B68"/>
                </a:solidFill>
                <a:latin typeface="微软雅黑"/>
              </a:rPr>
              <a:t>← 浅树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52120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B68"/>
                </a:solidFill>
                <a:latin typeface="微软雅黑"/>
              </a:rPr>
              <a:t>深树 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3474720"/>
            <a:ext cx="228600" cy="1645919"/>
          </a:xfrm>
          <a:prstGeom prst="round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371600" y="3749039"/>
            <a:ext cx="228600" cy="1371600"/>
          </a:xfrm>
          <a:prstGeom prst="round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874519" y="4023359"/>
            <a:ext cx="228600" cy="1097280"/>
          </a:xfrm>
          <a:prstGeom prst="round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377440" y="4297679"/>
            <a:ext cx="228600" cy="822959"/>
          </a:xfrm>
          <a:prstGeom prst="round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880360" y="4503420"/>
            <a:ext cx="228600" cy="617220"/>
          </a:xfrm>
          <a:prstGeom prst="round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383280" y="4681727"/>
            <a:ext cx="228600" cy="438912"/>
          </a:xfrm>
          <a:prstGeom prst="round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886200" y="4818888"/>
            <a:ext cx="228600" cy="301752"/>
          </a:xfrm>
          <a:prstGeom prst="round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389120" y="4901183"/>
            <a:ext cx="228600" cy="219456"/>
          </a:xfrm>
          <a:prstGeom prst="round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892040" y="4956048"/>
            <a:ext cx="228600" cy="164592"/>
          </a:xfrm>
          <a:prstGeom prst="round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394960" y="4983479"/>
            <a:ext cx="228600" cy="137160"/>
          </a:xfrm>
          <a:prstGeom prst="round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115568" y="4983479"/>
            <a:ext cx="228600" cy="137160"/>
          </a:xfrm>
          <a:prstGeom prst="roundRect">
            <a:avLst/>
          </a:prstGeom>
          <a:solidFill>
            <a:srgbClr val="3B6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618488" y="4942331"/>
            <a:ext cx="228600" cy="178308"/>
          </a:xfrm>
          <a:prstGeom prst="roundRect">
            <a:avLst/>
          </a:prstGeom>
          <a:solidFill>
            <a:srgbClr val="3B6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121408" y="4887468"/>
            <a:ext cx="228600" cy="233172"/>
          </a:xfrm>
          <a:prstGeom prst="roundRect">
            <a:avLst/>
          </a:prstGeom>
          <a:solidFill>
            <a:srgbClr val="3B6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624328" y="4791455"/>
            <a:ext cx="228600" cy="329184"/>
          </a:xfrm>
          <a:prstGeom prst="roundRect">
            <a:avLst/>
          </a:prstGeom>
          <a:solidFill>
            <a:srgbClr val="3B6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127248" y="4654296"/>
            <a:ext cx="228600" cy="466344"/>
          </a:xfrm>
          <a:prstGeom prst="roundRect">
            <a:avLst/>
          </a:prstGeom>
          <a:solidFill>
            <a:srgbClr val="3B6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630168" y="4434840"/>
            <a:ext cx="228600" cy="685800"/>
          </a:xfrm>
          <a:prstGeom prst="roundRect">
            <a:avLst/>
          </a:prstGeom>
          <a:solidFill>
            <a:srgbClr val="3B6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133088" y="4160520"/>
            <a:ext cx="228600" cy="960119"/>
          </a:xfrm>
          <a:prstGeom prst="roundRect">
            <a:avLst/>
          </a:prstGeom>
          <a:solidFill>
            <a:srgbClr val="3B6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636008" y="3817620"/>
            <a:ext cx="228600" cy="1303019"/>
          </a:xfrm>
          <a:prstGeom prst="roundRect">
            <a:avLst/>
          </a:prstGeom>
          <a:solidFill>
            <a:srgbClr val="3B6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138928" y="3474720"/>
            <a:ext cx="228600" cy="1645919"/>
          </a:xfrm>
          <a:prstGeom prst="roundRect">
            <a:avLst/>
          </a:prstGeom>
          <a:solidFill>
            <a:srgbClr val="3B6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641848" y="3200400"/>
            <a:ext cx="228600" cy="1920239"/>
          </a:xfrm>
          <a:prstGeom prst="roundRect">
            <a:avLst/>
          </a:prstGeom>
          <a:solidFill>
            <a:srgbClr val="3B6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937760" y="2697480"/>
            <a:ext cx="228600" cy="182880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12080" y="26517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偏差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37760" y="2926080"/>
            <a:ext cx="228600" cy="182880"/>
          </a:xfrm>
          <a:prstGeom prst="rect">
            <a:avLst/>
          </a:prstGeom>
          <a:solidFill>
            <a:srgbClr val="3B6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212080" y="28803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方差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553212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4524A"/>
                </a:solidFill>
                <a:latin typeface="微软雅黑"/>
              </a:rPr>
              <a:t>→ 深树:偏差↓ · 方差↑ (数据一变,结果跟着摇摆)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580644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4524A"/>
                </a:solidFill>
                <a:latin typeface="微软雅黑"/>
              </a:rPr>
              <a:t>→ 浅树:偏差↑ · 方差↓ (过于简单,拟合不足)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629400" y="2057400"/>
            <a:ext cx="5074920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629400" y="2057400"/>
            <a:ext cx="91440" cy="96012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85432" y="2221992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4524A"/>
                </a:solidFill>
                <a:latin typeface="微软雅黑"/>
              </a:rPr>
              <a:t>📌  过拟合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85432" y="2715768"/>
            <a:ext cx="4617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深树会把训练集的噪声也记住 → 测试集摇摆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629400" y="3136392"/>
            <a:ext cx="5074920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629400" y="3136392"/>
            <a:ext cx="91440" cy="960120"/>
          </a:xfrm>
          <a:prstGeom prst="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85432" y="3300984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4524A"/>
                </a:solidFill>
                <a:latin typeface="微软雅黑"/>
              </a:rPr>
              <a:t>📌  敏感性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85432" y="3794760"/>
            <a:ext cx="4617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数据只改一行,分裂条件可能整体改变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629400" y="4215384"/>
            <a:ext cx="5074920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629400" y="4215384"/>
            <a:ext cx="91440" cy="960120"/>
          </a:xfrm>
          <a:prstGeom prst="rect">
            <a:avLst/>
          </a:prstGeom>
          <a:solidFill>
            <a:srgbClr val="3B6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85432" y="4379976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4524A"/>
                </a:solidFill>
                <a:latin typeface="微软雅黑"/>
              </a:rPr>
              <a:t>📌  二手车场景?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85432" y="4873752"/>
            <a:ext cx="4617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特定品牌·年份组合 (如 BMW 2018) 容易被「死记」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629400" y="5294376"/>
            <a:ext cx="5074920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629400" y="5294376"/>
            <a:ext cx="91440" cy="960120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885432" y="5458968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4524A"/>
                </a:solidFill>
                <a:latin typeface="微软雅黑"/>
              </a:rPr>
              <a:t>💡  解决思路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85432" y="5952744"/>
            <a:ext cx="4617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「造多棵深树并取平均」→ 随机森林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机器学习 · 第 9 章  随机森林 — 二手车价格预测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8 / 66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微软雅黑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微软雅黑"/>
              </a:rPr>
              <a:t>随机森林 — 二手车价格预测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微软雅黑"/>
              </a:rPr>
              <a:t>INTRO   集成的直觉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微软雅黑"/>
              </a:rPr>
              <a:t>集成的直觉 — 群体智慧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微软雅黑"/>
              </a:rPr>
              <a:t>「多个判断的平均」胜过「单个专家」的条件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57400"/>
            <a:ext cx="6766560" cy="4206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19456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6F5A"/>
                </a:solidFill>
                <a:latin typeface="微软雅黑"/>
              </a:rPr>
              <a:t>🎲  示例 — 5 个人估二手车价格?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743200"/>
            <a:ext cx="1188720" cy="914400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743200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</a:rPr>
              <a:t>树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20040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onsolas"/>
              </a:rPr>
              <a:t>4,200 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75688" y="2743200"/>
            <a:ext cx="1188720" cy="914400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75688" y="2743200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</a:rPr>
              <a:t>树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75688" y="320040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onsolas"/>
              </a:rPr>
              <a:t>3,950 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74136" y="2743200"/>
            <a:ext cx="1188720" cy="914400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74136" y="2743200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</a:rPr>
              <a:t>树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74136" y="320040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onsolas"/>
              </a:rPr>
              <a:t>4,380 元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72583" y="2743200"/>
            <a:ext cx="1188720" cy="914400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72583" y="2743200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</a:rPr>
              <a:t>树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72583" y="320040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onsolas"/>
              </a:rPr>
              <a:t>4,100 元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71031" y="2743200"/>
            <a:ext cx="1188720" cy="914400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71031" y="2743200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</a:rPr>
              <a:t>树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71031" y="320040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onsolas"/>
              </a:rPr>
              <a:t>4,020 元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0" y="4023360"/>
            <a:ext cx="3657600" cy="365760"/>
          </a:xfrm>
          <a:prstGeom prst="rect">
            <a:avLst/>
          </a:prstGeom>
          <a:solidFill>
            <a:srgbClr val="55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86000" y="40233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↓  取平均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286000" y="4526280"/>
            <a:ext cx="3657600" cy="822960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86000" y="45262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onsolas"/>
              </a:rPr>
              <a:t>集成预测  4,130 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0" y="54864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4524A"/>
                </a:solidFill>
                <a:latin typeface="微软雅黑"/>
              </a:rPr>
              <a:t>真实价格: 4,100 元  →  误差大幅缩小!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8978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6F5A"/>
                </a:solidFill>
                <a:latin typeface="微软雅黑"/>
              </a:rPr>
              <a:t>✓ 各树朝不同方向出错,平均时误差相互抵消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52360" y="2057400"/>
            <a:ext cx="4251960" cy="1965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452360" y="2057400"/>
            <a:ext cx="91440" cy="196596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08392" y="2221992"/>
            <a:ext cx="3886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524A"/>
                </a:solidFill>
                <a:latin typeface="微软雅黑"/>
              </a:rPr>
              <a:t>✓  集成奏效的条件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08392" y="2715768"/>
            <a:ext cx="379476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1) 每个模型要「足够准」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2) 各模型错误模式要「互不相同」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3) 错得一样,平均也无用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52360" y="4114800"/>
            <a:ext cx="4251960" cy="2148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452360" y="4114800"/>
            <a:ext cx="91440" cy="2148840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08392" y="4279392"/>
            <a:ext cx="3886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524A"/>
                </a:solidFill>
                <a:latin typeface="微软雅黑"/>
              </a:rPr>
              <a:t>🌳  随机森林如何制造多样性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08392" y="4773168"/>
            <a:ext cx="379476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行多样性 ← 自助采样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列多样性 ← 每次分裂仅看 max_features 个候选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→ 关键是降低「树间相关性 ρ」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机器学习 · 第 9 章  随机森林 — 二手车价格预测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9 / 66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微软雅黑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微软雅黑"/>
              </a:rPr>
              <a:t>随机森林 — 二手车价格预测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微软雅黑"/>
              </a:rPr>
              <a:t>INTRO   装袋 vs 提升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微软雅黑"/>
              </a:rPr>
              <a:t>装袋 (Bagging)  vs  提升 (Boosting)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微软雅黑"/>
              </a:rPr>
              <a:t>本章学习「装袋 = 随机森林」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011680"/>
            <a:ext cx="2286000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01168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微软雅黑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2834640" y="2011680"/>
            <a:ext cx="4434840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0" y="2011680"/>
            <a:ext cx="4434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微软雅黑"/>
              </a:rPr>
              <a:t>装袋 (Bagging)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69480" y="2011680"/>
            <a:ext cx="4434840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9480" y="2011680"/>
            <a:ext cx="4434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微软雅黑"/>
              </a:rPr>
              <a:t>提升 (Boosting)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395728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395728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学习方式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4640" y="2395728"/>
            <a:ext cx="4434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26080" y="2395728"/>
            <a:ext cx="4251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多模型并行训练 (独立)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69480" y="2395728"/>
            <a:ext cx="4434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60920" y="2395728"/>
            <a:ext cx="4251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下一个模型修正前一个的错误 (顺序)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779776"/>
            <a:ext cx="2286000" cy="384048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779776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数据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34640" y="2779776"/>
            <a:ext cx="4434840" cy="384048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26080" y="2779776"/>
            <a:ext cx="4251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自助采样 (有放回)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69480" y="2779776"/>
            <a:ext cx="4434840" cy="384048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60920" y="2779776"/>
            <a:ext cx="4251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全量数据 (用权重强调)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163824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3163824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主要效果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4640" y="3163824"/>
            <a:ext cx="4434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26080" y="3163824"/>
            <a:ext cx="4251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降低方差 (Variance)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69480" y="3163824"/>
            <a:ext cx="4434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60920" y="3163824"/>
            <a:ext cx="4251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降低偏差 (Bias)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547872"/>
            <a:ext cx="2286000" cy="384048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3547872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结合方式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34640" y="3547872"/>
            <a:ext cx="4434840" cy="384048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26080" y="3547872"/>
            <a:ext cx="4251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平均 / 多数投票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69480" y="3547872"/>
            <a:ext cx="4434840" cy="384048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60920" y="3547872"/>
            <a:ext cx="4251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加权求和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3931920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3931920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代表算法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34640" y="3931920"/>
            <a:ext cx="4434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26080" y="3931920"/>
            <a:ext cx="4251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Random Forest, ExtraTrees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69480" y="3931920"/>
            <a:ext cx="4434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60920" y="3931920"/>
            <a:ext cx="4251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GBM, XGBoost, LightGBM, CatBoost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4315968"/>
            <a:ext cx="2286000" cy="384048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4315968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训练速度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834640" y="4315968"/>
            <a:ext cx="4434840" cy="384048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926080" y="4315968"/>
            <a:ext cx="4251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可并行 → 较快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269480" y="4315968"/>
            <a:ext cx="4434840" cy="384048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60920" y="4315968"/>
            <a:ext cx="4251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顺序 → 通常较慢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4700016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4700016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过拟合倾向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834640" y="4700016"/>
            <a:ext cx="4434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926080" y="4700016"/>
            <a:ext cx="4251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相对稳定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269480" y="4700016"/>
            <a:ext cx="4434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60920" y="4700016"/>
            <a:ext cx="4251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调参不足时易过拟合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" y="5084064"/>
            <a:ext cx="2286000" cy="384048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0080" y="5084064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本章内容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834640" y="5084064"/>
            <a:ext cx="4434840" cy="384048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926080" y="5084064"/>
            <a:ext cx="4251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★ 我们要学的内容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269480" y="5084064"/>
            <a:ext cx="4434840" cy="384048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60920" y="5084064"/>
            <a:ext cx="4251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第 10 章以后 (XGBoost 等)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48640" y="6172200"/>
            <a:ext cx="11064240" cy="50292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2A44F"/>
                </a:solidFill>
                <a:latin typeface="微软雅黑"/>
              </a:rPr>
              <a:t>💬  教师讲解要点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1520" y="6556248"/>
            <a:ext cx="10698480" cy="45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一句话记:「随机森林是『并行投票/平均』,提升法是『顺序修正』」。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机器学习 · 第 9 章  随机森林 — 二手车价格预测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10 / 66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微软雅黑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微软雅黑"/>
              </a:rPr>
              <a:t>随机森林 — 二手车价格预测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微软雅黑"/>
              </a:rPr>
              <a:t>INTRO   随机森林定义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微软雅黑"/>
              </a:rPr>
              <a:t>随机森林一句话定义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微软雅黑"/>
              </a:rPr>
              <a:t>决策树  +  装袋 (自助采样)  +  随机特征选择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1115568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011680"/>
            <a:ext cx="137160" cy="914400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121408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>
                <a:solidFill>
                  <a:srgbClr val="1B2B2A"/>
                </a:solidFill>
                <a:latin typeface="微软雅黑"/>
              </a:rPr>
              <a:t>随机森林是</a:t>
            </a:r>
            <a:r>
              <a:rPr sz="1400" b="0">
                <a:solidFill>
                  <a:srgbClr val="1B2B2A"/>
                </a:solidFill>
                <a:latin typeface="微软雅黑"/>
              </a:rPr>
              <a:t>: 在</a:t>
            </a:r>
            <a:r>
              <a:rPr sz="1400" b="1">
                <a:solidFill>
                  <a:srgbClr val="1F6F5A"/>
                </a:solidFill>
                <a:latin typeface="微软雅黑"/>
              </a:rPr>
              <a:t>不同的自助采样样本</a:t>
            </a:r>
            <a:r>
              <a:rPr sz="1400" b="0">
                <a:solidFill>
                  <a:srgbClr val="1B2B2A"/>
                </a:solidFill>
                <a:latin typeface="微软雅黑"/>
              </a:rPr>
              <a:t>上分别训练</a:t>
            </a:r>
            <a:r>
              <a:rPr sz="1400" b="1">
                <a:solidFill>
                  <a:srgbClr val="1F6F5A"/>
                </a:solidFill>
                <a:latin typeface="微软雅黑"/>
              </a:rPr>
              <a:t>深决策树</a:t>
            </a:r>
            <a:r>
              <a:rPr sz="1400" b="0">
                <a:solidFill>
                  <a:srgbClr val="1B2B2A"/>
                </a:solidFill>
                <a:latin typeface="微软雅黑"/>
              </a:rPr>
              <a:t>, 每次分裂只看</a:t>
            </a:r>
            <a:r>
              <a:rPr sz="1400" b="1">
                <a:solidFill>
                  <a:srgbClr val="D47A2C"/>
                </a:solidFill>
                <a:latin typeface="微软雅黑"/>
              </a:rPr>
              <a:t>部分候选特征</a:t>
            </a:r>
            <a:r>
              <a:rPr sz="1400" b="0">
                <a:solidFill>
                  <a:srgbClr val="1B2B2A"/>
                </a:solidFill>
                <a:latin typeface="微软雅黑"/>
              </a:rPr>
              <a:t>, 最后</a:t>
            </a:r>
            <a:r>
              <a:rPr sz="1400" b="1">
                <a:solidFill>
                  <a:srgbClr val="1F6F5A"/>
                </a:solidFill>
                <a:latin typeface="微软雅黑"/>
              </a:rPr>
              <a:t>回归取平均 · 分类多数投票</a:t>
            </a:r>
            <a:r>
              <a:rPr sz="1400" b="0">
                <a:solidFill>
                  <a:srgbClr val="1B2B2A"/>
                </a:solidFill>
                <a:latin typeface="微软雅黑"/>
              </a:rPr>
              <a:t>的集成模型。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00400"/>
            <a:ext cx="3657600" cy="1463040"/>
          </a:xfrm>
          <a:prstGeom prst="round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2918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</a:rPr>
              <a:t>①  自助采样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794760"/>
            <a:ext cx="3657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原始 N 个样本中</a:t>
            </a:r>
          </a:p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有放回抽 N 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3200400"/>
            <a:ext cx="22860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556B68"/>
                </a:solidFill>
                <a:latin typeface="微软雅黑"/>
              </a:rPr>
              <a:t>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3200400"/>
            <a:ext cx="3657600" cy="1463040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32918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</a:rPr>
              <a:t>②  建树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794760"/>
            <a:ext cx="3657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树长得深, 但每次分裂</a:t>
            </a:r>
          </a:p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只从 m 个候选中选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3200400"/>
            <a:ext cx="22860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556B68"/>
                </a:solidFill>
                <a:latin typeface="微软雅黑"/>
              </a:rPr>
              <a:t>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3200400"/>
            <a:ext cx="3657600" cy="1463040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32918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</a:rPr>
              <a:t>③  聚合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794760"/>
            <a:ext cx="3657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回归:平均</a:t>
            </a:r>
          </a:p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分类:多数投票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846320"/>
            <a:ext cx="274320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846320"/>
            <a:ext cx="109728" cy="50292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84632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524A"/>
                </a:solidFill>
                <a:latin typeface="微软雅黑"/>
              </a:rPr>
              <a:t>自助采样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55848" y="4846320"/>
            <a:ext cx="274320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55848" y="4846320"/>
            <a:ext cx="109728" cy="502920"/>
          </a:xfrm>
          <a:prstGeom prst="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38728" y="484632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524A"/>
                </a:solidFill>
                <a:latin typeface="微软雅黑"/>
              </a:rPr>
              <a:t>随机特征选择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63056" y="4846320"/>
            <a:ext cx="274320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63056" y="4846320"/>
            <a:ext cx="109728" cy="502920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45936" y="484632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524A"/>
                </a:solidFill>
                <a:latin typeface="微软雅黑"/>
              </a:rPr>
              <a:t>平均/投票聚合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70264" y="4846320"/>
            <a:ext cx="274320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970264" y="4846320"/>
            <a:ext cx="109728" cy="502920"/>
          </a:xfrm>
          <a:prstGeom prst="rect">
            <a:avLst/>
          </a:prstGeom>
          <a:solidFill>
            <a:srgbClr val="3B6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53144" y="484632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524A"/>
                </a:solidFill>
                <a:latin typeface="微软雅黑"/>
              </a:rPr>
              <a:t>降低树间相关性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532120"/>
            <a:ext cx="11064240" cy="77724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56235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2A44F"/>
                </a:solidFill>
                <a:latin typeface="微软雅黑"/>
              </a:rPr>
              <a:t>💬  核心提问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91616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「随机」出现了两次 — (1) 行的随机抽样, (2) 分裂时特征的随机选取。可以问学生:「随机出现在哪两处?」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机器学习 · 第 9 章  随机森林 — 二手车价格预测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11 / 66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9601200" y="4114800"/>
            <a:ext cx="1371600" cy="1371600"/>
          </a:xfrm>
          <a:prstGeom prst="triangle">
            <a:avLst/>
          </a:prstGeom>
          <a:solidFill>
            <a:srgbClr val="88D4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0515600" y="4572000"/>
            <a:ext cx="1005840" cy="1005840"/>
          </a:xfrm>
          <a:prstGeom prst="triangle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>
            <a:off x="8961120" y="4754880"/>
            <a:ext cx="822960" cy="822960"/>
          </a:xfrm>
          <a:prstGeom prst="triangle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2194560" cy="502920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PART 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200" b="1" i="0">
                <a:solidFill>
                  <a:srgbClr val="FFFFFF"/>
                </a:solidFill>
                <a:latin typeface="微软雅黑"/>
              </a:rPr>
              <a:t>理论与算法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703320"/>
            <a:ext cx="73152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8404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CFE3DA"/>
                </a:solidFill>
                <a:latin typeface="微软雅黑"/>
              </a:rPr>
              <a:t>用公式和示意图说明随机森林「为何有效」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微软雅黑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微软雅黑"/>
              </a:rPr>
              <a:t>随机森林 — 二手车价格预测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微软雅黑"/>
              </a:rPr>
              <a:t>9.7   自助采样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微软雅黑"/>
              </a:rPr>
              <a:t>自助采样 (Bootstrap) — 从原始数据「有放回」抽 N 个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微软雅黑"/>
              </a:rPr>
              <a:t>每棵树拿到与原始同大小的样本,但内容不同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57400"/>
            <a:ext cx="11155680" cy="640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12140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4524A"/>
                </a:solidFill>
                <a:latin typeface="微软雅黑"/>
              </a:rPr>
              <a:t>📦  原始数据 (N=10)</a:t>
            </a:r>
          </a:p>
        </p:txBody>
      </p:sp>
      <p:sp>
        <p:nvSpPr>
          <p:cNvPr id="14" name="Oval 13"/>
          <p:cNvSpPr/>
          <p:nvPr/>
        </p:nvSpPr>
        <p:spPr>
          <a:xfrm>
            <a:off x="3200400" y="2194560"/>
            <a:ext cx="457200" cy="457200"/>
          </a:xfrm>
          <a:prstGeom prst="ellipse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21945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16" name="Oval 15"/>
          <p:cNvSpPr/>
          <p:nvPr/>
        </p:nvSpPr>
        <p:spPr>
          <a:xfrm>
            <a:off x="4041648" y="2194560"/>
            <a:ext cx="457200" cy="457200"/>
          </a:xfrm>
          <a:prstGeom prst="ellipse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41648" y="21945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2</a:t>
            </a:r>
          </a:p>
        </p:txBody>
      </p:sp>
      <p:sp>
        <p:nvSpPr>
          <p:cNvPr id="18" name="Oval 17"/>
          <p:cNvSpPr/>
          <p:nvPr/>
        </p:nvSpPr>
        <p:spPr>
          <a:xfrm>
            <a:off x="4882896" y="2194560"/>
            <a:ext cx="457200" cy="457200"/>
          </a:xfrm>
          <a:prstGeom prst="ellipse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82896" y="21945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3</a:t>
            </a:r>
          </a:p>
        </p:txBody>
      </p:sp>
      <p:sp>
        <p:nvSpPr>
          <p:cNvPr id="20" name="Oval 19"/>
          <p:cNvSpPr/>
          <p:nvPr/>
        </p:nvSpPr>
        <p:spPr>
          <a:xfrm>
            <a:off x="5724144" y="2194560"/>
            <a:ext cx="457200" cy="457200"/>
          </a:xfrm>
          <a:prstGeom prst="ellipse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24144" y="21945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4</a:t>
            </a:r>
          </a:p>
        </p:txBody>
      </p:sp>
      <p:sp>
        <p:nvSpPr>
          <p:cNvPr id="22" name="Oval 21"/>
          <p:cNvSpPr/>
          <p:nvPr/>
        </p:nvSpPr>
        <p:spPr>
          <a:xfrm>
            <a:off x="6565392" y="2194560"/>
            <a:ext cx="457200" cy="457200"/>
          </a:xfrm>
          <a:prstGeom prst="ellipse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65392" y="21945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5</a:t>
            </a:r>
          </a:p>
        </p:txBody>
      </p:sp>
      <p:sp>
        <p:nvSpPr>
          <p:cNvPr id="24" name="Oval 23"/>
          <p:cNvSpPr/>
          <p:nvPr/>
        </p:nvSpPr>
        <p:spPr>
          <a:xfrm>
            <a:off x="7406640" y="2194560"/>
            <a:ext cx="457200" cy="457200"/>
          </a:xfrm>
          <a:prstGeom prst="ellipse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40" y="21945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6</a:t>
            </a:r>
          </a:p>
        </p:txBody>
      </p:sp>
      <p:sp>
        <p:nvSpPr>
          <p:cNvPr id="26" name="Oval 25"/>
          <p:cNvSpPr/>
          <p:nvPr/>
        </p:nvSpPr>
        <p:spPr>
          <a:xfrm>
            <a:off x="8247888" y="2194560"/>
            <a:ext cx="457200" cy="457200"/>
          </a:xfrm>
          <a:prstGeom prst="ellipse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47888" y="21945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7</a:t>
            </a:r>
          </a:p>
        </p:txBody>
      </p:sp>
      <p:sp>
        <p:nvSpPr>
          <p:cNvPr id="28" name="Oval 27"/>
          <p:cNvSpPr/>
          <p:nvPr/>
        </p:nvSpPr>
        <p:spPr>
          <a:xfrm>
            <a:off x="9089136" y="2194560"/>
            <a:ext cx="457200" cy="457200"/>
          </a:xfrm>
          <a:prstGeom prst="ellipse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89136" y="21945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8</a:t>
            </a:r>
          </a:p>
        </p:txBody>
      </p:sp>
      <p:sp>
        <p:nvSpPr>
          <p:cNvPr id="30" name="Oval 29"/>
          <p:cNvSpPr/>
          <p:nvPr/>
        </p:nvSpPr>
        <p:spPr>
          <a:xfrm>
            <a:off x="9930384" y="2194560"/>
            <a:ext cx="457200" cy="457200"/>
          </a:xfrm>
          <a:prstGeom prst="ellipse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30384" y="21945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9</a:t>
            </a:r>
          </a:p>
        </p:txBody>
      </p:sp>
      <p:sp>
        <p:nvSpPr>
          <p:cNvPr id="32" name="Oval 31"/>
          <p:cNvSpPr/>
          <p:nvPr/>
        </p:nvSpPr>
        <p:spPr>
          <a:xfrm>
            <a:off x="10771632" y="2194560"/>
            <a:ext cx="457200" cy="457200"/>
          </a:xfrm>
          <a:prstGeom prst="ellipse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771632" y="21945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10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2834640"/>
            <a:ext cx="11155680" cy="868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48640" y="2834640"/>
            <a:ext cx="2377440" cy="868680"/>
          </a:xfrm>
          <a:prstGeom prst="round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283464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自助样本 #1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29184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onsolas"/>
              </a:rPr>
              <a:t>OOB: [6, 7, 10]</a:t>
            </a:r>
          </a:p>
        </p:txBody>
      </p:sp>
      <p:sp>
        <p:nvSpPr>
          <p:cNvPr id="38" name="Oval 37"/>
          <p:cNvSpPr/>
          <p:nvPr/>
        </p:nvSpPr>
        <p:spPr>
          <a:xfrm>
            <a:off x="3200400" y="3035808"/>
            <a:ext cx="457200" cy="457200"/>
          </a:xfrm>
          <a:prstGeom prst="ellipse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0" y="303580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3</a:t>
            </a:r>
          </a:p>
        </p:txBody>
      </p:sp>
      <p:sp>
        <p:nvSpPr>
          <p:cNvPr id="40" name="Oval 39"/>
          <p:cNvSpPr/>
          <p:nvPr/>
        </p:nvSpPr>
        <p:spPr>
          <a:xfrm>
            <a:off x="4041648" y="3035808"/>
            <a:ext cx="457200" cy="457200"/>
          </a:xfrm>
          <a:prstGeom prst="ellipse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41648" y="303580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42" name="Oval 41"/>
          <p:cNvSpPr/>
          <p:nvPr/>
        </p:nvSpPr>
        <p:spPr>
          <a:xfrm>
            <a:off x="4882896" y="3035808"/>
            <a:ext cx="457200" cy="457200"/>
          </a:xfrm>
          <a:prstGeom prst="ellipse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82896" y="303580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5</a:t>
            </a:r>
          </a:p>
        </p:txBody>
      </p:sp>
      <p:sp>
        <p:nvSpPr>
          <p:cNvPr id="44" name="Oval 43"/>
          <p:cNvSpPr/>
          <p:nvPr/>
        </p:nvSpPr>
        <p:spPr>
          <a:xfrm>
            <a:off x="5724144" y="3035808"/>
            <a:ext cx="457200" cy="457200"/>
          </a:xfrm>
          <a:prstGeom prst="ellipse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724144" y="303580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3</a:t>
            </a:r>
          </a:p>
        </p:txBody>
      </p:sp>
      <p:sp>
        <p:nvSpPr>
          <p:cNvPr id="46" name="Oval 45"/>
          <p:cNvSpPr/>
          <p:nvPr/>
        </p:nvSpPr>
        <p:spPr>
          <a:xfrm>
            <a:off x="6565392" y="3035808"/>
            <a:ext cx="457200" cy="457200"/>
          </a:xfrm>
          <a:prstGeom prst="ellipse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65392" y="303580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8</a:t>
            </a:r>
          </a:p>
        </p:txBody>
      </p:sp>
      <p:sp>
        <p:nvSpPr>
          <p:cNvPr id="48" name="Oval 47"/>
          <p:cNvSpPr/>
          <p:nvPr/>
        </p:nvSpPr>
        <p:spPr>
          <a:xfrm>
            <a:off x="7406640" y="3035808"/>
            <a:ext cx="457200" cy="457200"/>
          </a:xfrm>
          <a:prstGeom prst="ellipse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06640" y="303580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50" name="Oval 49"/>
          <p:cNvSpPr/>
          <p:nvPr/>
        </p:nvSpPr>
        <p:spPr>
          <a:xfrm>
            <a:off x="8247888" y="3035808"/>
            <a:ext cx="457200" cy="457200"/>
          </a:xfrm>
          <a:prstGeom prst="ellipse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47888" y="303580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9</a:t>
            </a:r>
          </a:p>
        </p:txBody>
      </p:sp>
      <p:sp>
        <p:nvSpPr>
          <p:cNvPr id="52" name="Oval 51"/>
          <p:cNvSpPr/>
          <p:nvPr/>
        </p:nvSpPr>
        <p:spPr>
          <a:xfrm>
            <a:off x="9089136" y="3035808"/>
            <a:ext cx="457200" cy="457200"/>
          </a:xfrm>
          <a:prstGeom prst="ellipse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89136" y="303580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2</a:t>
            </a:r>
          </a:p>
        </p:txBody>
      </p:sp>
      <p:sp>
        <p:nvSpPr>
          <p:cNvPr id="54" name="Oval 53"/>
          <p:cNvSpPr/>
          <p:nvPr/>
        </p:nvSpPr>
        <p:spPr>
          <a:xfrm>
            <a:off x="9930384" y="3035808"/>
            <a:ext cx="457200" cy="457200"/>
          </a:xfrm>
          <a:prstGeom prst="ellipse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930384" y="303580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4</a:t>
            </a:r>
          </a:p>
        </p:txBody>
      </p:sp>
      <p:sp>
        <p:nvSpPr>
          <p:cNvPr id="56" name="Oval 55"/>
          <p:cNvSpPr/>
          <p:nvPr/>
        </p:nvSpPr>
        <p:spPr>
          <a:xfrm>
            <a:off x="10771632" y="3035808"/>
            <a:ext cx="457200" cy="457200"/>
          </a:xfrm>
          <a:prstGeom prst="ellipse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771632" y="303580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5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48640" y="3794760"/>
            <a:ext cx="11155680" cy="868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548640" y="3794760"/>
            <a:ext cx="2377440" cy="868680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8640" y="379476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自助样本 #2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" y="42519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onsolas"/>
              </a:rPr>
              <a:t>OOB: [5]</a:t>
            </a:r>
          </a:p>
        </p:txBody>
      </p:sp>
      <p:sp>
        <p:nvSpPr>
          <p:cNvPr id="62" name="Oval 61"/>
          <p:cNvSpPr/>
          <p:nvPr/>
        </p:nvSpPr>
        <p:spPr>
          <a:xfrm>
            <a:off x="3200400" y="3995928"/>
            <a:ext cx="457200" cy="457200"/>
          </a:xfrm>
          <a:prstGeom prst="ellipse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00400" y="39959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7</a:t>
            </a:r>
          </a:p>
        </p:txBody>
      </p:sp>
      <p:sp>
        <p:nvSpPr>
          <p:cNvPr id="64" name="Oval 63"/>
          <p:cNvSpPr/>
          <p:nvPr/>
        </p:nvSpPr>
        <p:spPr>
          <a:xfrm>
            <a:off x="4041648" y="3995928"/>
            <a:ext cx="457200" cy="457200"/>
          </a:xfrm>
          <a:prstGeom prst="ellipse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041648" y="39959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2</a:t>
            </a:r>
          </a:p>
        </p:txBody>
      </p:sp>
      <p:sp>
        <p:nvSpPr>
          <p:cNvPr id="66" name="Oval 65"/>
          <p:cNvSpPr/>
          <p:nvPr/>
        </p:nvSpPr>
        <p:spPr>
          <a:xfrm>
            <a:off x="4882896" y="3995928"/>
            <a:ext cx="457200" cy="457200"/>
          </a:xfrm>
          <a:prstGeom prst="ellipse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882896" y="39959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9</a:t>
            </a:r>
          </a:p>
        </p:txBody>
      </p:sp>
      <p:sp>
        <p:nvSpPr>
          <p:cNvPr id="68" name="Oval 67"/>
          <p:cNvSpPr/>
          <p:nvPr/>
        </p:nvSpPr>
        <p:spPr>
          <a:xfrm>
            <a:off x="5724144" y="3995928"/>
            <a:ext cx="457200" cy="457200"/>
          </a:xfrm>
          <a:prstGeom prst="ellipse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724144" y="39959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4</a:t>
            </a:r>
          </a:p>
        </p:txBody>
      </p:sp>
      <p:sp>
        <p:nvSpPr>
          <p:cNvPr id="70" name="Oval 69"/>
          <p:cNvSpPr/>
          <p:nvPr/>
        </p:nvSpPr>
        <p:spPr>
          <a:xfrm>
            <a:off x="6565392" y="3995928"/>
            <a:ext cx="457200" cy="457200"/>
          </a:xfrm>
          <a:prstGeom prst="ellipse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565392" y="39959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4</a:t>
            </a:r>
          </a:p>
        </p:txBody>
      </p:sp>
      <p:sp>
        <p:nvSpPr>
          <p:cNvPr id="72" name="Oval 71"/>
          <p:cNvSpPr/>
          <p:nvPr/>
        </p:nvSpPr>
        <p:spPr>
          <a:xfrm>
            <a:off x="7406640" y="3995928"/>
            <a:ext cx="457200" cy="457200"/>
          </a:xfrm>
          <a:prstGeom prst="ellipse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406640" y="39959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6</a:t>
            </a:r>
          </a:p>
        </p:txBody>
      </p:sp>
      <p:sp>
        <p:nvSpPr>
          <p:cNvPr id="74" name="Oval 73"/>
          <p:cNvSpPr/>
          <p:nvPr/>
        </p:nvSpPr>
        <p:spPr>
          <a:xfrm>
            <a:off x="8247888" y="3995928"/>
            <a:ext cx="457200" cy="457200"/>
          </a:xfrm>
          <a:prstGeom prst="ellipse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247888" y="39959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76" name="Oval 75"/>
          <p:cNvSpPr/>
          <p:nvPr/>
        </p:nvSpPr>
        <p:spPr>
          <a:xfrm>
            <a:off x="9089136" y="3995928"/>
            <a:ext cx="457200" cy="457200"/>
          </a:xfrm>
          <a:prstGeom prst="ellipse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089136" y="39959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8</a:t>
            </a:r>
          </a:p>
        </p:txBody>
      </p:sp>
      <p:sp>
        <p:nvSpPr>
          <p:cNvPr id="78" name="Oval 77"/>
          <p:cNvSpPr/>
          <p:nvPr/>
        </p:nvSpPr>
        <p:spPr>
          <a:xfrm>
            <a:off x="9930384" y="3995928"/>
            <a:ext cx="457200" cy="457200"/>
          </a:xfrm>
          <a:prstGeom prst="ellipse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930384" y="39959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10</a:t>
            </a:r>
          </a:p>
        </p:txBody>
      </p:sp>
      <p:sp>
        <p:nvSpPr>
          <p:cNvPr id="80" name="Oval 79"/>
          <p:cNvSpPr/>
          <p:nvPr/>
        </p:nvSpPr>
        <p:spPr>
          <a:xfrm>
            <a:off x="10771632" y="3995928"/>
            <a:ext cx="457200" cy="457200"/>
          </a:xfrm>
          <a:prstGeom prst="ellipse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771632" y="39959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3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548640" y="4754880"/>
            <a:ext cx="11155680" cy="868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548640" y="4754880"/>
            <a:ext cx="2377440" cy="868680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48640" y="475488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自助样本 #3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48640" y="52120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onsolas"/>
              </a:rPr>
              <a:t>OOB: [4]</a:t>
            </a:r>
          </a:p>
        </p:txBody>
      </p:sp>
      <p:sp>
        <p:nvSpPr>
          <p:cNvPr id="86" name="Oval 85"/>
          <p:cNvSpPr/>
          <p:nvPr/>
        </p:nvSpPr>
        <p:spPr>
          <a:xfrm>
            <a:off x="3200400" y="4956048"/>
            <a:ext cx="457200" cy="457200"/>
          </a:xfrm>
          <a:prstGeom prst="ellipse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200400" y="495604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5</a:t>
            </a:r>
          </a:p>
        </p:txBody>
      </p:sp>
      <p:sp>
        <p:nvSpPr>
          <p:cNvPr id="88" name="Oval 87"/>
          <p:cNvSpPr/>
          <p:nvPr/>
        </p:nvSpPr>
        <p:spPr>
          <a:xfrm>
            <a:off x="4041648" y="4956048"/>
            <a:ext cx="457200" cy="457200"/>
          </a:xfrm>
          <a:prstGeom prst="ellipse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041648" y="495604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5</a:t>
            </a:r>
          </a:p>
        </p:txBody>
      </p:sp>
      <p:sp>
        <p:nvSpPr>
          <p:cNvPr id="90" name="Oval 89"/>
          <p:cNvSpPr/>
          <p:nvPr/>
        </p:nvSpPr>
        <p:spPr>
          <a:xfrm>
            <a:off x="4882896" y="4956048"/>
            <a:ext cx="457200" cy="457200"/>
          </a:xfrm>
          <a:prstGeom prst="ellipse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882896" y="495604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2</a:t>
            </a:r>
          </a:p>
        </p:txBody>
      </p:sp>
      <p:sp>
        <p:nvSpPr>
          <p:cNvPr id="92" name="Oval 91"/>
          <p:cNvSpPr/>
          <p:nvPr/>
        </p:nvSpPr>
        <p:spPr>
          <a:xfrm>
            <a:off x="5724144" y="4956048"/>
            <a:ext cx="457200" cy="457200"/>
          </a:xfrm>
          <a:prstGeom prst="ellipse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724144" y="495604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9</a:t>
            </a:r>
          </a:p>
        </p:txBody>
      </p:sp>
      <p:sp>
        <p:nvSpPr>
          <p:cNvPr id="94" name="Oval 93"/>
          <p:cNvSpPr/>
          <p:nvPr/>
        </p:nvSpPr>
        <p:spPr>
          <a:xfrm>
            <a:off x="6565392" y="4956048"/>
            <a:ext cx="457200" cy="457200"/>
          </a:xfrm>
          <a:prstGeom prst="ellipse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565392" y="495604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7</a:t>
            </a:r>
          </a:p>
        </p:txBody>
      </p:sp>
      <p:sp>
        <p:nvSpPr>
          <p:cNvPr id="96" name="Oval 95"/>
          <p:cNvSpPr/>
          <p:nvPr/>
        </p:nvSpPr>
        <p:spPr>
          <a:xfrm>
            <a:off x="7406640" y="4956048"/>
            <a:ext cx="457200" cy="457200"/>
          </a:xfrm>
          <a:prstGeom prst="ellipse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406640" y="495604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98" name="Oval 97"/>
          <p:cNvSpPr/>
          <p:nvPr/>
        </p:nvSpPr>
        <p:spPr>
          <a:xfrm>
            <a:off x="8247888" y="4956048"/>
            <a:ext cx="457200" cy="457200"/>
          </a:xfrm>
          <a:prstGeom prst="ellipse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247888" y="495604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3</a:t>
            </a:r>
          </a:p>
        </p:txBody>
      </p:sp>
      <p:sp>
        <p:nvSpPr>
          <p:cNvPr id="100" name="Oval 99"/>
          <p:cNvSpPr/>
          <p:nvPr/>
        </p:nvSpPr>
        <p:spPr>
          <a:xfrm>
            <a:off x="9089136" y="4956048"/>
            <a:ext cx="457200" cy="457200"/>
          </a:xfrm>
          <a:prstGeom prst="ellipse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089136" y="495604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6</a:t>
            </a:r>
          </a:p>
        </p:txBody>
      </p:sp>
      <p:sp>
        <p:nvSpPr>
          <p:cNvPr id="102" name="Oval 101"/>
          <p:cNvSpPr/>
          <p:nvPr/>
        </p:nvSpPr>
        <p:spPr>
          <a:xfrm>
            <a:off x="9930384" y="4956048"/>
            <a:ext cx="457200" cy="457200"/>
          </a:xfrm>
          <a:prstGeom prst="ellipse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930384" y="495604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10</a:t>
            </a:r>
          </a:p>
        </p:txBody>
      </p:sp>
      <p:sp>
        <p:nvSpPr>
          <p:cNvPr id="104" name="Oval 103"/>
          <p:cNvSpPr/>
          <p:nvPr/>
        </p:nvSpPr>
        <p:spPr>
          <a:xfrm>
            <a:off x="10771632" y="4956048"/>
            <a:ext cx="457200" cy="457200"/>
          </a:xfrm>
          <a:prstGeom prst="ellipse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0771632" y="495604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8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548640" y="5897880"/>
            <a:ext cx="11155680" cy="45720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777240" y="5989320"/>
            <a:ext cx="274320" cy="274320"/>
          </a:xfrm>
          <a:prstGeom prst="ellipse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143000" y="59436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被重复抽到的样本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114800" y="59436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2A44F"/>
                </a:solidFill>
                <a:latin typeface="微软雅黑"/>
              </a:rPr>
              <a:t>→ 各树看到的数据不同, 训练出不同的决策函数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548640" y="6400800"/>
            <a:ext cx="11064240" cy="36576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2A44F"/>
                </a:solidFill>
                <a:latin typeface="微软雅黑"/>
              </a:rPr>
              <a:t>💬  教师讲解要点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31520" y="6784848"/>
            <a:ext cx="10698480" cy="-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在黑板上写 1-10, 让学生现场抽 10 次 — 亲眼看到「哪些数字落选」就理解了 OOB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机器学习 · 第 9 章  随机森林 — 二手车价格预测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13 / 66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微软雅黑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微软雅黑"/>
              </a:rPr>
              <a:t>随机森林 — 二手车价格预测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微软雅黑"/>
              </a:rPr>
              <a:t>9.7   OOB 的数学依据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微软雅黑"/>
              </a:rPr>
              <a:t>为什么是「36.8%」会成为 OOB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微软雅黑"/>
              </a:rPr>
              <a:t>自助采样中某样本「一次都没被抽到」的概率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6400800" cy="4206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14884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6F5A"/>
                </a:solidFill>
                <a:latin typeface="微软雅黑"/>
              </a:rPr>
              <a:t>📐  推导 — 某样本成为「OOB」的概率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606040"/>
            <a:ext cx="960120" cy="77724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606040"/>
            <a:ext cx="9601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2A44F"/>
                </a:solidFill>
                <a:latin typeface="Consolas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624328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B2B2A"/>
                </a:solidFill>
                <a:latin typeface="微软雅黑"/>
              </a:rPr>
              <a:t>一次抽样「不被抽中」的概率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74519" y="2971800"/>
            <a:ext cx="4937760" cy="365760"/>
          </a:xfrm>
          <a:prstGeom prst="round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0240" y="29718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524A"/>
                </a:solidFill>
                <a:latin typeface="Consolas"/>
              </a:rPr>
              <a:t>P(未抽中, 1次) = 1 - 1/n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474720"/>
            <a:ext cx="960120" cy="77724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474720"/>
            <a:ext cx="9601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2A44F"/>
                </a:solidFill>
                <a:latin typeface="Consolas"/>
              </a:rPr>
              <a:t>STEP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493008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B2B2A"/>
                </a:solidFill>
                <a:latin typeface="微软雅黑"/>
              </a:rPr>
              <a:t>连续 n 次都不被抽中的概率 (独立)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74519" y="3840480"/>
            <a:ext cx="4937760" cy="365760"/>
          </a:xfrm>
          <a:prstGeom prst="round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20240" y="38404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524A"/>
                </a:solidFill>
                <a:latin typeface="Consolas"/>
              </a:rPr>
              <a:t>P(OOB) = (1 - 1/n)ⁿ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343400"/>
            <a:ext cx="960120" cy="77724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343400"/>
            <a:ext cx="9601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2A44F"/>
                </a:solidFill>
                <a:latin typeface="Consolas"/>
              </a:rPr>
              <a:t>STEP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19" y="4361688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B2B2A"/>
                </a:solidFill>
                <a:latin typeface="微软雅黑"/>
              </a:rPr>
              <a:t>当 n 足够大时 (n→∞)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74519" y="4709160"/>
            <a:ext cx="4937760" cy="365760"/>
          </a:xfrm>
          <a:prstGeom prst="round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20240" y="47091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524A"/>
                </a:solidFill>
                <a:latin typeface="Consolas"/>
              </a:rPr>
              <a:t>(1 - 1/n)ⁿ  →  e⁻¹  ≈  0.3679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5212080"/>
            <a:ext cx="960120" cy="77724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212080"/>
            <a:ext cx="9601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2A44F"/>
                </a:solidFill>
                <a:latin typeface="Consolas"/>
              </a:rPr>
              <a:t>结论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74519" y="5230368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B2B2A"/>
                </a:solidFill>
                <a:latin typeface="微软雅黑"/>
              </a:rPr>
              <a:t>约 36.8% 是「从未见过」的样本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874519" y="5577840"/>
            <a:ext cx="4937760" cy="365760"/>
          </a:xfrm>
          <a:prstGeom prst="round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20240" y="55778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524A"/>
                </a:solidFill>
                <a:latin typeface="Consolas"/>
              </a:rPr>
              <a:t>→ 可用 OOB 给当前树做免费检验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78040" y="2011680"/>
            <a:ext cx="4526280" cy="1965960"/>
          </a:xfrm>
          <a:prstGeom prst="round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78040" y="2148840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2A44F"/>
                </a:solidFill>
                <a:latin typeface="微软雅黑"/>
              </a:rPr>
              <a:t>至少被抽中一次的概率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8040" y="2514600"/>
            <a:ext cx="4526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800" b="1" i="0">
                <a:solidFill>
                  <a:srgbClr val="FFFFFF"/>
                </a:solidFill>
                <a:latin typeface="Consolas"/>
              </a:rPr>
              <a:t>≈  63.2 %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78040" y="3566160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CFE3DA"/>
                </a:solidFill>
                <a:latin typeface="微软雅黑"/>
              </a:rPr>
              <a:t>约 2/3 的唯一样本被用于训练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78040" y="4069080"/>
            <a:ext cx="4526280" cy="2194560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78040" y="4206240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一次都不被抽中的概率 (OOB)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78040" y="4572000"/>
            <a:ext cx="4526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800" b="1" i="0">
                <a:solidFill>
                  <a:srgbClr val="FFFFFF"/>
                </a:solidFill>
                <a:latin typeface="Consolas"/>
              </a:rPr>
              <a:t>≈  36.8 %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78040" y="5623560"/>
            <a:ext cx="4526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</a:rPr>
              <a:t>= e⁻¹  →  每棵树都有自带验证集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机器学习 · 第 9 章  随机森林 — 二手车价格预测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14 / 66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微软雅黑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微软雅黑"/>
              </a:rPr>
              <a:t>随机森林 — 二手车价格预测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微软雅黑"/>
              </a:rPr>
              <a:t>9.7   方差降低公式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微软雅黑"/>
              </a:rPr>
              <a:t>为何「取平均」能降低方差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微软雅黑"/>
              </a:rPr>
              <a:t>独立预测器的平均把方差降到 1/B,但现实里还有相关性 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57400"/>
            <a:ext cx="11155680" cy="1005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1488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6F5A"/>
                </a:solidFill>
                <a:latin typeface="微软雅黑"/>
              </a:rPr>
              <a:t>📐  核心公式 (Breiman, 2001)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468880"/>
            <a:ext cx="10698480" cy="502920"/>
          </a:xfrm>
          <a:prstGeom prst="round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46888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4524A"/>
                </a:solidFill>
                <a:latin typeface="Consolas"/>
              </a:rPr>
              <a:t>Var( 平均 )  =  ρ·σ²  +  (1 - ρ)·σ² / 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200400"/>
            <a:ext cx="3657600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3200400"/>
            <a:ext cx="777240" cy="960120"/>
          </a:xfrm>
          <a:prstGeom prst="roundRect">
            <a:avLst/>
          </a:prstGeom>
          <a:solidFill>
            <a:srgbClr val="3B6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00400"/>
            <a:ext cx="7772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onsolas"/>
              </a:rPr>
              <a:t>ρ (rho)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246120"/>
            <a:ext cx="27432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树之间的相关系数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范围 0~1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3200400"/>
            <a:ext cx="3657600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434840" y="3200400"/>
            <a:ext cx="777240" cy="960120"/>
          </a:xfrm>
          <a:prstGeom prst="round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3200400"/>
            <a:ext cx="7772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onsolas"/>
              </a:rPr>
              <a:t>σ²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246120"/>
            <a:ext cx="27432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单棵树的方差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(一棵树的摇摆程度)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21040" y="3200400"/>
            <a:ext cx="3657600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321040" y="3200400"/>
            <a:ext cx="777240" cy="960120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3200400"/>
            <a:ext cx="7772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onsolas"/>
              </a:rPr>
              <a:t>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3246120"/>
            <a:ext cx="27432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树的数量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n_estimators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343400"/>
            <a:ext cx="5486400" cy="1920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4343400"/>
            <a:ext cx="91440" cy="1920240"/>
          </a:xfrm>
          <a:prstGeom prst="rect">
            <a:avLst/>
          </a:prstGeom>
          <a:solidFill>
            <a:srgbClr val="3B6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450799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524A"/>
                </a:solidFill>
                <a:latin typeface="微软雅黑"/>
              </a:rPr>
              <a:t>📌  B 增大时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" y="5001768"/>
            <a:ext cx="5029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第二项 (1-ρ)σ²/B → 趋近于 0。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但第一项 ρ·σ² 不变。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→ 无论 B 多大, 若 ρ 高, 方差会卡在「下限」上。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343400"/>
            <a:ext cx="5486400" cy="1920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4343400"/>
            <a:ext cx="91440" cy="1920240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73952" y="450799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524A"/>
                </a:solidFill>
                <a:latin typeface="微软雅黑"/>
              </a:rPr>
              <a:t>📌  要降低 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3952" y="5001768"/>
            <a:ext cx="5029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让每棵树做「不同决策」 → 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• 行多样性: 自助采样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• 列多样性: max_features &lt; 总数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6355080"/>
            <a:ext cx="11064240" cy="41148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2A44F"/>
                </a:solidFill>
                <a:latin typeface="微软雅黑"/>
              </a:rPr>
              <a:t>💬  教师讲解要点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6739128"/>
            <a:ext cx="10698480" cy="-45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不必死记公式,记结论一句:「要降低树间相关性 ρ,平均才能充分降低方差」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机器学习 · 第 9 章  随机森林 — 二手车价格预测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15 / 66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微软雅黑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微软雅黑"/>
              </a:rPr>
              <a:t>随机森林 — 二手车价格预测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微软雅黑"/>
              </a:rPr>
              <a:t>9.7   算法伪代码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微软雅黑"/>
              </a:rPr>
              <a:t>随机森林算法 — Breiman(2001)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微软雅黑"/>
              </a:rPr>
              <a:t>造 B 棵树,回归取平均、分类多数投票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7680960" cy="4251960"/>
          </a:xfrm>
          <a:prstGeom prst="roundRect">
            <a:avLst/>
          </a:prstGeom>
          <a:solidFill>
            <a:srgbClr val="0E1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" y="2157984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7824" y="2157984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42416" y="2157984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2121408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9AA7A0"/>
                </a:solidFill>
                <a:latin typeface="Consolas"/>
              </a:rPr>
              <a:t>random_forest_pseudocode.py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377440"/>
            <a:ext cx="7315200" cy="3794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Input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: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D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=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{</a:t>
            </a:r>
            <a:r>
              <a:rPr sz="1200">
                <a:solidFill>
                  <a:srgbClr val="E8F6EF"/>
                </a:solidFill>
                <a:latin typeface="Consolas"/>
              </a:rPr>
              <a:t>(</a:t>
            </a:r>
            <a:r>
              <a:rPr sz="1200">
                <a:solidFill>
                  <a:srgbClr val="E8F6EF"/>
                </a:solidFill>
                <a:latin typeface="Consolas"/>
              </a:rPr>
              <a:t>x_i</a:t>
            </a:r>
            <a:r>
              <a:rPr sz="1200">
                <a:solidFill>
                  <a:srgbClr val="E8F6EF"/>
                </a:solidFill>
                <a:latin typeface="Consolas"/>
              </a:rPr>
              <a:t>,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y_i</a:t>
            </a:r>
            <a:r>
              <a:rPr sz="1200">
                <a:solidFill>
                  <a:srgbClr val="E8F6EF"/>
                </a:solidFill>
                <a:latin typeface="Consolas"/>
              </a:rPr>
              <a:t>)</a:t>
            </a:r>
            <a:r>
              <a:rPr sz="1200">
                <a:solidFill>
                  <a:srgbClr val="E8F6EF"/>
                </a:solidFill>
                <a:latin typeface="Consolas"/>
              </a:rPr>
              <a:t>}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(</a:t>
            </a:r>
            <a:r>
              <a:rPr sz="1200">
                <a:solidFill>
                  <a:srgbClr val="E8F6EF"/>
                </a:solidFill>
                <a:latin typeface="Consolas"/>
              </a:rPr>
              <a:t>i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=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F2D45F"/>
                </a:solidFill>
                <a:latin typeface="Consolas"/>
              </a:rPr>
              <a:t>1..</a:t>
            </a:r>
            <a:r>
              <a:rPr sz="1200">
                <a:solidFill>
                  <a:srgbClr val="E8F6EF"/>
                </a:solidFill>
                <a:latin typeface="Consolas"/>
              </a:rPr>
              <a:t>n</a:t>
            </a:r>
            <a:r>
              <a:rPr sz="1200">
                <a:solidFill>
                  <a:srgbClr val="E8F6EF"/>
                </a:solidFill>
                <a:latin typeface="Consolas"/>
              </a:rPr>
              <a:t>)</a:t>
            </a:r>
            <a:r>
              <a:rPr sz="1200">
                <a:solidFill>
                  <a:srgbClr val="E8F6EF"/>
                </a:solidFill>
                <a:latin typeface="Consolas"/>
              </a:rPr>
              <a:t>,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B</a:t>
            </a:r>
            <a:r>
              <a:rPr sz="1200">
                <a:solidFill>
                  <a:srgbClr val="E8F6EF"/>
                </a:solidFill>
                <a:latin typeface="Consolas"/>
              </a:rPr>
              <a:t>,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m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9AA7A0"/>
                </a:solidFill>
                <a:latin typeface="Consolas"/>
              </a:rPr>
              <a:t># B=树数, m=特征候选数</a:t>
            </a:r>
          </a:p>
          <a:p>
            <a:pPr>
              <a:lnSpc>
                <a:spcPct val="122000"/>
              </a:lnSpc>
            </a:pPr>
            <a:r>
              <a:rPr sz="1200">
                <a:latin typeface="Consolas"/>
              </a:rPr>
              <a:t> </a:t>
            </a:r>
          </a:p>
          <a:p>
            <a:pPr>
              <a:lnSpc>
                <a:spcPct val="122000"/>
              </a:lnSpc>
            </a:pPr>
            <a:r>
              <a:rPr sz="1200">
                <a:solidFill>
                  <a:srgbClr val="7BD389"/>
                </a:solidFill>
                <a:latin typeface="Consolas"/>
              </a:rPr>
              <a:t>for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b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7BD389"/>
                </a:solidFill>
                <a:latin typeface="Consolas"/>
              </a:rPr>
              <a:t>in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8FB8E0"/>
                </a:solidFill>
                <a:latin typeface="Consolas"/>
              </a:rPr>
              <a:t>range</a:t>
            </a:r>
            <a:r>
              <a:rPr sz="1200">
                <a:solidFill>
                  <a:srgbClr val="E8F6EF"/>
                </a:solidFill>
                <a:latin typeface="Consolas"/>
              </a:rPr>
              <a:t>(</a:t>
            </a:r>
            <a:r>
              <a:rPr sz="1200">
                <a:solidFill>
                  <a:srgbClr val="E8F6EF"/>
                </a:solidFill>
                <a:latin typeface="Consolas"/>
              </a:rPr>
              <a:t>B</a:t>
            </a:r>
            <a:r>
              <a:rPr sz="1200">
                <a:solidFill>
                  <a:srgbClr val="E8F6EF"/>
                </a:solidFill>
                <a:latin typeface="Consolas"/>
              </a:rPr>
              <a:t>)</a:t>
            </a:r>
            <a:r>
              <a:rPr sz="1200">
                <a:solidFill>
                  <a:srgbClr val="E8F6EF"/>
                </a:solidFill>
                <a:latin typeface="Consolas"/>
              </a:rPr>
              <a:t>:</a:t>
            </a:r>
          </a:p>
          <a:p>
            <a:pPr>
              <a:lnSpc>
                <a:spcPct val="122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9AA7A0"/>
                </a:solidFill>
                <a:latin typeface="Consolas"/>
              </a:rPr>
              <a:t># ① 自助采样  D_b  : 有放回抽取 n 个</a:t>
            </a:r>
          </a:p>
          <a:p>
            <a:pPr>
              <a:lnSpc>
                <a:spcPct val="122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D_b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=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bootstrap_sample</a:t>
            </a:r>
            <a:r>
              <a:rPr sz="1200">
                <a:solidFill>
                  <a:srgbClr val="E8F6EF"/>
                </a:solidFill>
                <a:latin typeface="Consolas"/>
              </a:rPr>
              <a:t>(</a:t>
            </a:r>
            <a:r>
              <a:rPr sz="1200">
                <a:solidFill>
                  <a:srgbClr val="E8F6EF"/>
                </a:solidFill>
                <a:latin typeface="Consolas"/>
              </a:rPr>
              <a:t>D</a:t>
            </a:r>
            <a:r>
              <a:rPr sz="1200">
                <a:solidFill>
                  <a:srgbClr val="E8F6EF"/>
                </a:solidFill>
                <a:latin typeface="Consolas"/>
              </a:rPr>
              <a:t>,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size</a:t>
            </a:r>
            <a:r>
              <a:rPr sz="1200">
                <a:solidFill>
                  <a:srgbClr val="E8F6EF"/>
                </a:solidFill>
                <a:latin typeface="Consolas"/>
              </a:rPr>
              <a:t>=</a:t>
            </a:r>
            <a:r>
              <a:rPr sz="1200">
                <a:solidFill>
                  <a:srgbClr val="E8F6EF"/>
                </a:solidFill>
                <a:latin typeface="Consolas"/>
              </a:rPr>
              <a:t>n</a:t>
            </a:r>
            <a:r>
              <a:rPr sz="120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22000"/>
              </a:lnSpc>
            </a:pPr>
            <a:r>
              <a:rPr sz="1200">
                <a:latin typeface="Consolas"/>
              </a:rPr>
              <a:t> </a:t>
            </a:r>
          </a:p>
          <a:p>
            <a:pPr>
              <a:lnSpc>
                <a:spcPct val="122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9AA7A0"/>
                </a:solidFill>
                <a:latin typeface="Consolas"/>
              </a:rPr>
              <a:t># ② 训练深决策树 — 但每次分裂</a:t>
            </a:r>
          </a:p>
          <a:p>
            <a:pPr>
              <a:lnSpc>
                <a:spcPct val="122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9AA7A0"/>
                </a:solidFill>
                <a:latin typeface="Consolas"/>
              </a:rPr>
              <a:t>#     只随机选 m 个候选特征</a:t>
            </a:r>
          </a:p>
          <a:p>
            <a:pPr>
              <a:lnSpc>
                <a:spcPct val="122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tree_b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=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grow_decision_tree</a:t>
            </a:r>
            <a:r>
              <a:rPr sz="1200">
                <a:solidFill>
                  <a:srgbClr val="E8F6EF"/>
                </a:solidFill>
                <a:latin typeface="Consolas"/>
              </a:rPr>
              <a:t>(</a:t>
            </a:r>
            <a:r>
              <a:rPr sz="1200">
                <a:solidFill>
                  <a:srgbClr val="E8F6EF"/>
                </a:solidFill>
                <a:latin typeface="Consolas"/>
              </a:rPr>
              <a:t>D_b</a:t>
            </a:r>
            <a:r>
              <a:rPr sz="1200">
                <a:solidFill>
                  <a:srgbClr val="E8F6EF"/>
                </a:solidFill>
                <a:latin typeface="Consolas"/>
              </a:rPr>
              <a:t>,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max_features</a:t>
            </a:r>
            <a:r>
              <a:rPr sz="1200">
                <a:solidFill>
                  <a:srgbClr val="E8F6EF"/>
                </a:solidFill>
                <a:latin typeface="Consolas"/>
              </a:rPr>
              <a:t>=</a:t>
            </a:r>
            <a:r>
              <a:rPr sz="1200">
                <a:solidFill>
                  <a:srgbClr val="E8F6EF"/>
                </a:solidFill>
                <a:latin typeface="Consolas"/>
              </a:rPr>
              <a:t>m</a:t>
            </a:r>
            <a:r>
              <a:rPr sz="120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22000"/>
              </a:lnSpc>
            </a:pPr>
            <a:r>
              <a:rPr sz="1200">
                <a:latin typeface="Consolas"/>
              </a:rPr>
              <a:t> </a:t>
            </a:r>
          </a:p>
          <a:p>
            <a:pPr>
              <a:lnSpc>
                <a:spcPct val="122000"/>
              </a:lnSpc>
            </a:pPr>
            <a:r>
              <a:rPr sz="1200">
                <a:solidFill>
                  <a:srgbClr val="9AA7A0"/>
                </a:solidFill>
                <a:latin typeface="Consolas"/>
              </a:rPr>
              <a:t># ③ 聚合 — 回归:平均  /  分类:多数投票</a:t>
            </a:r>
          </a:p>
          <a:p>
            <a:pPr>
              <a:lnSpc>
                <a:spcPct val="122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y_hat</a:t>
            </a:r>
            <a:r>
              <a:rPr sz="1200">
                <a:solidFill>
                  <a:srgbClr val="E8F6EF"/>
                </a:solidFill>
                <a:latin typeface="Consolas"/>
              </a:rPr>
              <a:t>(</a:t>
            </a:r>
            <a:r>
              <a:rPr sz="1200">
                <a:solidFill>
                  <a:srgbClr val="E8F6EF"/>
                </a:solidFill>
                <a:latin typeface="Consolas"/>
              </a:rPr>
              <a:t>x</a:t>
            </a:r>
            <a:r>
              <a:rPr sz="1200">
                <a:solidFill>
                  <a:srgbClr val="E8F6EF"/>
                </a:solidFill>
                <a:latin typeface="Consolas"/>
              </a:rPr>
              <a:t>)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=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(</a:t>
            </a:r>
            <a:r>
              <a:rPr sz="1200">
                <a:solidFill>
                  <a:srgbClr val="F2D45F"/>
                </a:solidFill>
                <a:latin typeface="Consolas"/>
              </a:rPr>
              <a:t>1</a:t>
            </a:r>
            <a:r>
              <a:rPr sz="1200">
                <a:solidFill>
                  <a:srgbClr val="E8F6EF"/>
                </a:solidFill>
                <a:latin typeface="Consolas"/>
              </a:rPr>
              <a:t>/</a:t>
            </a:r>
            <a:r>
              <a:rPr sz="1200">
                <a:solidFill>
                  <a:srgbClr val="E8F6EF"/>
                </a:solidFill>
                <a:latin typeface="Consolas"/>
              </a:rPr>
              <a:t>B</a:t>
            </a:r>
            <a:r>
              <a:rPr sz="1200">
                <a:solidFill>
                  <a:srgbClr val="E8F6EF"/>
                </a:solidFill>
                <a:latin typeface="Consolas"/>
              </a:rPr>
              <a:t>)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*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8FB8E0"/>
                </a:solidFill>
                <a:latin typeface="Consolas"/>
              </a:rPr>
              <a:t>sum</a:t>
            </a:r>
            <a:r>
              <a:rPr sz="1200">
                <a:solidFill>
                  <a:srgbClr val="E8F6EF"/>
                </a:solidFill>
                <a:latin typeface="Consolas"/>
              </a:rPr>
              <a:t>(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tree_b</a:t>
            </a:r>
            <a:r>
              <a:rPr sz="1200">
                <a:solidFill>
                  <a:srgbClr val="E8F6EF"/>
                </a:solidFill>
                <a:latin typeface="Consolas"/>
              </a:rPr>
              <a:t>.</a:t>
            </a:r>
            <a:r>
              <a:rPr sz="1200">
                <a:solidFill>
                  <a:srgbClr val="E8F6EF"/>
                </a:solidFill>
                <a:latin typeface="Consolas"/>
              </a:rPr>
              <a:t>predict</a:t>
            </a:r>
            <a:r>
              <a:rPr sz="1200">
                <a:solidFill>
                  <a:srgbClr val="E8F6EF"/>
                </a:solidFill>
                <a:latin typeface="Consolas"/>
              </a:rPr>
              <a:t>(</a:t>
            </a:r>
            <a:r>
              <a:rPr sz="1200">
                <a:solidFill>
                  <a:srgbClr val="E8F6EF"/>
                </a:solidFill>
                <a:latin typeface="Consolas"/>
              </a:rPr>
              <a:t>x</a:t>
            </a:r>
            <a:r>
              <a:rPr sz="1200">
                <a:solidFill>
                  <a:srgbClr val="E8F6EF"/>
                </a:solidFill>
                <a:latin typeface="Consolas"/>
              </a:rPr>
              <a:t>)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7BD389"/>
                </a:solidFill>
                <a:latin typeface="Consolas"/>
              </a:rPr>
              <a:t>for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b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7BD389"/>
                </a:solidFill>
                <a:latin typeface="Consolas"/>
              </a:rPr>
              <a:t>in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F2D45F"/>
                </a:solidFill>
                <a:latin typeface="Consolas"/>
              </a:rPr>
              <a:t>1..</a:t>
            </a:r>
            <a:r>
              <a:rPr sz="1200">
                <a:solidFill>
                  <a:srgbClr val="E8F6EF"/>
                </a:solidFill>
                <a:latin typeface="Consolas"/>
              </a:rPr>
              <a:t>B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)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9AA7A0"/>
                </a:solidFill>
                <a:latin typeface="Consolas"/>
              </a:rPr>
              <a:t># 回归</a:t>
            </a:r>
          </a:p>
          <a:p>
            <a:pPr>
              <a:lnSpc>
                <a:spcPct val="122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y_hat</a:t>
            </a:r>
            <a:r>
              <a:rPr sz="1200">
                <a:solidFill>
                  <a:srgbClr val="E8F6EF"/>
                </a:solidFill>
                <a:latin typeface="Consolas"/>
              </a:rPr>
              <a:t>(</a:t>
            </a:r>
            <a:r>
              <a:rPr sz="1200">
                <a:solidFill>
                  <a:srgbClr val="E8F6EF"/>
                </a:solidFill>
                <a:latin typeface="Consolas"/>
              </a:rPr>
              <a:t>x</a:t>
            </a:r>
            <a:r>
              <a:rPr sz="1200">
                <a:solidFill>
                  <a:srgbClr val="E8F6EF"/>
                </a:solidFill>
                <a:latin typeface="Consolas"/>
              </a:rPr>
              <a:t>)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=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majority_vote</a:t>
            </a:r>
            <a:r>
              <a:rPr sz="1200">
                <a:solidFill>
                  <a:srgbClr val="E8F6EF"/>
                </a:solidFill>
                <a:latin typeface="Consolas"/>
              </a:rPr>
              <a:t>(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tree_b</a:t>
            </a:r>
            <a:r>
              <a:rPr sz="1200">
                <a:solidFill>
                  <a:srgbClr val="E8F6EF"/>
                </a:solidFill>
                <a:latin typeface="Consolas"/>
              </a:rPr>
              <a:t>.</a:t>
            </a:r>
            <a:r>
              <a:rPr sz="1200">
                <a:solidFill>
                  <a:srgbClr val="E8F6EF"/>
                </a:solidFill>
                <a:latin typeface="Consolas"/>
              </a:rPr>
              <a:t>predict</a:t>
            </a:r>
            <a:r>
              <a:rPr sz="1200">
                <a:solidFill>
                  <a:srgbClr val="E8F6EF"/>
                </a:solidFill>
                <a:latin typeface="Consolas"/>
              </a:rPr>
              <a:t>(</a:t>
            </a:r>
            <a:r>
              <a:rPr sz="1200">
                <a:solidFill>
                  <a:srgbClr val="E8F6EF"/>
                </a:solidFill>
                <a:latin typeface="Consolas"/>
              </a:rPr>
              <a:t>x</a:t>
            </a:r>
            <a:r>
              <a:rPr sz="1200">
                <a:solidFill>
                  <a:srgbClr val="E8F6EF"/>
                </a:solidFill>
                <a:latin typeface="Consolas"/>
              </a:rPr>
              <a:t>)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7BD389"/>
                </a:solidFill>
                <a:latin typeface="Consolas"/>
              </a:rPr>
              <a:t>for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b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7BD389"/>
                </a:solidFill>
                <a:latin typeface="Consolas"/>
              </a:rPr>
              <a:t>in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F2D45F"/>
                </a:solidFill>
                <a:latin typeface="Consolas"/>
              </a:rPr>
              <a:t>1..</a:t>
            </a:r>
            <a:r>
              <a:rPr sz="1200">
                <a:solidFill>
                  <a:srgbClr val="E8F6EF"/>
                </a:solidFill>
                <a:latin typeface="Consolas"/>
              </a:rPr>
              <a:t>B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)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9AA7A0"/>
                </a:solidFill>
                <a:latin typeface="Consolas"/>
              </a:rPr>
              <a:t># 分类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2011680"/>
            <a:ext cx="3291840" cy="4251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21031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F6F5A"/>
                </a:solidFill>
                <a:latin typeface="微软雅黑"/>
              </a:rPr>
              <a:t>🔁  算法 ↔ sklearn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49640" y="2606040"/>
            <a:ext cx="594360" cy="777240"/>
          </a:xfrm>
          <a:prstGeom prst="round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9640" y="2606040"/>
            <a:ext cx="5943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2A44F"/>
                </a:solidFill>
                <a:latin typeface="Consolas"/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62432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4524A"/>
                </a:solidFill>
                <a:latin typeface="Consolas"/>
              </a:rPr>
              <a:t>n_estimators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2898648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B2B2A"/>
                </a:solidFill>
                <a:latin typeface="微软雅黑"/>
              </a:rPr>
              <a:t>树的数量 (默认 100)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49640" y="3474720"/>
            <a:ext cx="594360" cy="777240"/>
          </a:xfrm>
          <a:prstGeom prst="round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49640" y="3474720"/>
            <a:ext cx="5943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2A44F"/>
                </a:solidFill>
                <a:latin typeface="Consolas"/>
              </a:rPr>
              <a:t>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349300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4524A"/>
                </a:solidFill>
                <a:latin typeface="Consolas"/>
              </a:rPr>
              <a:t>max_features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3767328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B2B2A"/>
                </a:solidFill>
                <a:latin typeface="微软雅黑"/>
              </a:rPr>
              <a:t>分裂候选特征数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B2B2A"/>
                </a:solidFill>
                <a:latin typeface="微软雅黑"/>
              </a:rPr>
              <a:t>(分类: √p, 回归: p 或 1.0)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49640" y="4343400"/>
            <a:ext cx="594360" cy="777240"/>
          </a:xfrm>
          <a:prstGeom prst="round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49640" y="4343400"/>
            <a:ext cx="5943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2A44F"/>
                </a:solidFill>
                <a:latin typeface="Consolas"/>
              </a:rPr>
              <a:t>D_b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436168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4524A"/>
                </a:solidFill>
                <a:latin typeface="Consolas"/>
              </a:rPr>
              <a:t>bootstrap=True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20" y="4636008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B2B2A"/>
                </a:solidFill>
                <a:latin typeface="微软雅黑"/>
              </a:rPr>
              <a:t>是否启用自助采样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49640" y="5212080"/>
            <a:ext cx="594360" cy="777240"/>
          </a:xfrm>
          <a:prstGeom prst="round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49640" y="5212080"/>
            <a:ext cx="5943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2A44F"/>
                </a:solidFill>
                <a:latin typeface="Consolas"/>
              </a:rPr>
              <a:t>OOB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20" y="523036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4524A"/>
                </a:solidFill>
                <a:latin typeface="Consolas"/>
              </a:rPr>
              <a:t>oob_score=True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9720" y="5504688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B2B2A"/>
                </a:solidFill>
                <a:latin typeface="微软雅黑"/>
              </a:rPr>
              <a:t>是否计算 OOB 得分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机器学习 · 第 9 章  随机森林 — 二手车价格预测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16 / 66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微软雅黑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微软雅黑"/>
              </a:rPr>
              <a:t>随机森林 — 二手车价格预测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微软雅黑"/>
              </a:rPr>
              <a:t>9.7   两种随机性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微软雅黑"/>
              </a:rPr>
              <a:t>「随机」森林的两种随机性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微软雅黑"/>
              </a:rPr>
              <a:t>行 (样本) 与列 (特征) — 在两侧制造多样性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011680"/>
            <a:ext cx="2194560" cy="548640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01168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微软雅黑"/>
              </a:rPr>
              <a:t>随机性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2011680"/>
            <a:ext cx="3291840" cy="548640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0" y="201168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微软雅黑"/>
              </a:rPr>
              <a:t>作用位置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2011680"/>
            <a:ext cx="3383280" cy="548640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201168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微软雅黑"/>
              </a:rPr>
              <a:t>效果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18320" y="2011680"/>
            <a:ext cx="2286000" cy="548640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201168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微软雅黑"/>
              </a:rPr>
              <a:t>相关参数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560320"/>
            <a:ext cx="21945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56032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1B2B2A"/>
                </a:solidFill>
                <a:latin typeface="微软雅黑"/>
              </a:rPr>
              <a:t>①  行采样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0" y="2560320"/>
            <a:ext cx="32918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34640" y="256032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1B2B2A"/>
                </a:solidFill>
                <a:latin typeface="微软雅黑"/>
              </a:rPr>
              <a:t>每棵树的训练数据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2560320"/>
            <a:ext cx="33832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256032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1B2B2A"/>
                </a:solidFill>
                <a:latin typeface="微软雅黑"/>
              </a:rPr>
              <a:t>树间多样性↑ (ρ↓)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418320" y="2560320"/>
            <a:ext cx="2286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0" y="256032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B2B2A"/>
                </a:solidFill>
                <a:latin typeface="Consolas"/>
              </a:rPr>
              <a:t>bootstrap=True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108960"/>
            <a:ext cx="2194560" cy="54864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10896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1B2B2A"/>
                </a:solidFill>
                <a:latin typeface="微软雅黑"/>
              </a:rPr>
              <a:t>②  列采样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3108960"/>
            <a:ext cx="3291840" cy="54864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34640" y="310896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1B2B2A"/>
                </a:solidFill>
                <a:latin typeface="微软雅黑"/>
              </a:rPr>
              <a:t>每次分裂的候选特征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3108960"/>
            <a:ext cx="3383280" cy="54864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0" y="310896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1B2B2A"/>
                </a:solidFill>
                <a:latin typeface="微软雅黑"/>
              </a:rPr>
              <a:t>防止强特征独占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418320" y="3108960"/>
            <a:ext cx="2286000" cy="54864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9760" y="310896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B2B2A"/>
                </a:solidFill>
                <a:latin typeface="Consolas"/>
              </a:rPr>
              <a:t>max_features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657600"/>
            <a:ext cx="21945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365760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1B2B2A"/>
                </a:solidFill>
                <a:latin typeface="微软雅黑"/>
              </a:rPr>
              <a:t>(派生)  平均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0" y="3657600"/>
            <a:ext cx="32918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34640" y="365760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1B2B2A"/>
                </a:solidFill>
                <a:latin typeface="微软雅黑"/>
              </a:rPr>
              <a:t>最终预测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3657600"/>
            <a:ext cx="33832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26480" y="365760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1B2B2A"/>
                </a:solidFill>
                <a:latin typeface="微软雅黑"/>
              </a:rPr>
              <a:t>降低方差/噪声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418320" y="3657600"/>
            <a:ext cx="2286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09760" y="365760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B2B2A"/>
                </a:solidFill>
                <a:latin typeface="Consolas"/>
              </a:rPr>
              <a:t>n_estimators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4389120"/>
            <a:ext cx="1115568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44805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6F5A"/>
                </a:solidFill>
                <a:latin typeface="微软雅黑"/>
              </a:rPr>
              <a:t>🔁  流水线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77240" y="4937760"/>
            <a:ext cx="1920240" cy="914400"/>
          </a:xfrm>
          <a:prstGeom prst="round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" y="498348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Data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534924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FFFFFF"/>
                </a:solidFill>
                <a:latin typeface="微软雅黑"/>
              </a:rPr>
              <a:t>原始</a:t>
            </a:r>
          </a:p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FFFFFF"/>
                </a:solidFill>
                <a:latin typeface="微软雅黑"/>
              </a:rPr>
              <a:t>N 个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697480" y="4937760"/>
            <a:ext cx="3200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556B68"/>
                </a:solidFill>
                <a:latin typeface="微软雅黑"/>
              </a:rPr>
              <a:t>▸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017520" y="4937760"/>
            <a:ext cx="1920240" cy="914400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017520" y="498348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Sample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017520" y="534924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FFFFFF"/>
                </a:solidFill>
                <a:latin typeface="微软雅黑"/>
              </a:rPr>
              <a:t>自助</a:t>
            </a:r>
          </a:p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FFFFFF"/>
                </a:solidFill>
                <a:latin typeface="微软雅黑"/>
              </a:rPr>
              <a:t>× 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37760" y="4937760"/>
            <a:ext cx="3200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556B68"/>
                </a:solidFill>
                <a:latin typeface="微软雅黑"/>
              </a:rPr>
              <a:t>▸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257800" y="4937760"/>
            <a:ext cx="1920240" cy="914400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257800" y="498348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Subset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257800" y="534924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FFFFFF"/>
                </a:solidFill>
                <a:latin typeface="微软雅黑"/>
              </a:rPr>
              <a:t>特征</a:t>
            </a:r>
          </a:p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FFFFFF"/>
                </a:solidFill>
                <a:latin typeface="微软雅黑"/>
              </a:rPr>
              <a:t>× 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78040" y="4937760"/>
            <a:ext cx="3200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556B68"/>
                </a:solidFill>
                <a:latin typeface="微软雅黑"/>
              </a:rPr>
              <a:t>▸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498080" y="4937760"/>
            <a:ext cx="1920240" cy="914400"/>
          </a:xfrm>
          <a:prstGeom prst="roundRect">
            <a:avLst/>
          </a:prstGeom>
          <a:solidFill>
            <a:srgbClr val="3B6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98080" y="498348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Trees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98080" y="534924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FFFFFF"/>
                </a:solidFill>
                <a:latin typeface="微软雅黑"/>
              </a:rPr>
              <a:t>B 棵树</a:t>
            </a:r>
          </a:p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FFFFFF"/>
                </a:solidFill>
                <a:latin typeface="微软雅黑"/>
              </a:rPr>
              <a:t>训练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18320" y="4937760"/>
            <a:ext cx="3200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556B68"/>
                </a:solidFill>
                <a:latin typeface="微软雅黑"/>
              </a:rPr>
              <a:t>▸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738360" y="4937760"/>
            <a:ext cx="1920240" cy="914400"/>
          </a:xfrm>
          <a:prstGeom prst="roundRect">
            <a:avLst/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38360" y="498348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Predict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738360" y="534924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FFFFFF"/>
                </a:solidFill>
                <a:latin typeface="微软雅黑"/>
              </a:rPr>
              <a:t>平均/投票</a:t>
            </a:r>
          </a:p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FFFFFF"/>
                </a:solidFill>
                <a:latin typeface="微软雅黑"/>
              </a:rPr>
              <a:t>→ ŷ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48640" y="6309360"/>
            <a:ext cx="11064240" cy="41148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2A44F"/>
                </a:solidFill>
                <a:latin typeface="微软雅黑"/>
              </a:rPr>
              <a:t>💬  教师讲解要点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520" y="6693408"/>
            <a:ext cx="10698480" cy="-45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「随机」出现两次 — 一次是「选哪些行」, 一次是「分裂用哪些列」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机器学习 · 第 9 章  随机森林 — 二手车价格预测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17 / 66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微软雅黑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微软雅黑"/>
              </a:rPr>
              <a:t>随机森林 — 二手车价格预测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微软雅黑"/>
              </a:rPr>
              <a:t>9.7   max_features 的作用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微软雅黑"/>
              </a:rPr>
              <a:t>max_features — 树「强度」与「相关性」的平衡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微软雅黑"/>
              </a:rPr>
              <a:t>候选特征越少, 树越多样但越弱; 越多, 越强但越相似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011680"/>
            <a:ext cx="2377440" cy="457200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0116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max_features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2011680"/>
            <a:ext cx="2286000" cy="457200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0" y="20116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单棵树强度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2011680"/>
            <a:ext cx="2286000" cy="457200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20116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树间相关 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0" y="2011680"/>
            <a:ext cx="4206240" cy="457200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0" y="201168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教学解读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468880"/>
            <a:ext cx="2377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4688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小 (如 1)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0" y="2468880"/>
            <a:ext cx="2286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17520" y="24688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↓ (低)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12080" y="2468880"/>
            <a:ext cx="2286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0" y="24688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↓ (低)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80" y="2468880"/>
            <a:ext cx="4206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0" y="246888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多样但弱的树 — 集成效果 ↑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2926080"/>
            <a:ext cx="2377440" cy="45720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29260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Consolas"/>
              </a:rPr>
              <a:t>sqrt(p)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26080" y="2926080"/>
            <a:ext cx="2286000" cy="45720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17520" y="29260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12080" y="2926080"/>
            <a:ext cx="2286000" cy="45720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0" y="29260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中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80" y="2926080"/>
            <a:ext cx="4206240" cy="45720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89520" y="292608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分类问题的默认候选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383280"/>
            <a:ext cx="2377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33832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`p` 或 1.0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26080" y="3383280"/>
            <a:ext cx="2286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17520" y="33832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↑ (高)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12080" y="3383280"/>
            <a:ext cx="2286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03520" y="33832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↑ (高)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8080" y="3383280"/>
            <a:ext cx="4206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89520" y="338328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回归默认 — 但接近装袋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3840480"/>
            <a:ext cx="2377440" cy="45720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38404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0.5 × 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926080" y="3840480"/>
            <a:ext cx="2286000" cy="45720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017520" y="38404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中偏高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212080" y="3840480"/>
            <a:ext cx="2286000" cy="45720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303520" y="38404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中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98080" y="3840480"/>
            <a:ext cx="4206240" cy="45720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89520" y="384048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回归常用的折中方案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48640" y="4434840"/>
            <a:ext cx="54864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48640" y="4434840"/>
            <a:ext cx="91440" cy="18288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4672" y="459943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524A"/>
                </a:solidFill>
                <a:latin typeface="微软雅黑"/>
              </a:rPr>
              <a:t>✓  好的 RF 条件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4672" y="5093208"/>
            <a:ext cx="5029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「适当强的树」+「低相关性」 之间的平衡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→ max_features 太小则强度↓, 太大则相关性↑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→ 数据不同, 应通过 CV / OOB 自行验证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17920" y="4434840"/>
            <a:ext cx="54864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217920" y="4434840"/>
            <a:ext cx="91440" cy="1828800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73952" y="459943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524A"/>
                </a:solidFill>
                <a:latin typeface="微软雅黑"/>
              </a:rPr>
              <a:t>📌  sklearn 默认值 (1.3+)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73952" y="5093208"/>
            <a:ext cx="5029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RandomForestClassifier  →  ‘sqrt’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RandomForestRegressor   →  1.0 (全部使用)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回归也可尝试调小到 0.5~0.8, 经常会有改进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机器学习 · 第 9 章  随机森林 — 二手车价格预测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18 / 66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微软雅黑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微软雅黑"/>
              </a:rPr>
              <a:t>随机森林 — 二手车价格预测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微软雅黑"/>
              </a:rPr>
              <a:t>9.7   优点 · 局限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微软雅黑"/>
              </a:rPr>
              <a:t>随机森林的优点与局限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微软雅黑"/>
              </a:rPr>
              <a:t>为什么是 baseline 首选, 以及需要注意什么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5486400" cy="4297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2011680"/>
            <a:ext cx="5486400" cy="457200"/>
          </a:xfrm>
          <a:prstGeom prst="round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0116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✓  优点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2633472"/>
            <a:ext cx="164592" cy="164592"/>
          </a:xfrm>
          <a:prstGeom prst="ellipse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25603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6F5A"/>
                </a:solidFill>
                <a:latin typeface="微软雅黑"/>
              </a:rPr>
              <a:t>自动非线性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256032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自动学习变量间交互 (如 年份×里程)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3227832"/>
            <a:ext cx="164592" cy="164592"/>
          </a:xfrm>
          <a:prstGeom prst="ellipse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15468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6F5A"/>
                </a:solidFill>
                <a:latin typeface="微软雅黑"/>
              </a:rPr>
              <a:t>无需缩放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315468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几乎不需要标准化/归一化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3822192"/>
            <a:ext cx="164592" cy="164592"/>
          </a:xfrm>
          <a:prstGeom prst="ellipse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374904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6F5A"/>
                </a:solidFill>
                <a:latin typeface="微软雅黑"/>
              </a:rPr>
              <a:t>异常值稳健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374904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决策分裂对极端值不敏感</a:t>
            </a:r>
          </a:p>
        </p:txBody>
      </p:sp>
      <p:sp>
        <p:nvSpPr>
          <p:cNvPr id="24" name="Oval 23"/>
          <p:cNvSpPr/>
          <p:nvPr/>
        </p:nvSpPr>
        <p:spPr>
          <a:xfrm>
            <a:off x="777240" y="4416552"/>
            <a:ext cx="164592" cy="164592"/>
          </a:xfrm>
          <a:prstGeom prst="ellipse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434340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6F5A"/>
                </a:solidFill>
                <a:latin typeface="微软雅黑"/>
              </a:rPr>
              <a:t>通用性强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0" y="434340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回归·分类·多分类都支持</a:t>
            </a:r>
          </a:p>
        </p:txBody>
      </p:sp>
      <p:sp>
        <p:nvSpPr>
          <p:cNvPr id="27" name="Oval 26"/>
          <p:cNvSpPr/>
          <p:nvPr/>
        </p:nvSpPr>
        <p:spPr>
          <a:xfrm>
            <a:off x="777240" y="5010912"/>
            <a:ext cx="164592" cy="164592"/>
          </a:xfrm>
          <a:prstGeom prst="ellipse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493776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6F5A"/>
                </a:solidFill>
                <a:latin typeface="微软雅黑"/>
              </a:rPr>
              <a:t>诊断工具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68880" y="493776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OOB · feature_importances_ · PDP</a:t>
            </a:r>
          </a:p>
        </p:txBody>
      </p:sp>
      <p:sp>
        <p:nvSpPr>
          <p:cNvPr id="30" name="Oval 29"/>
          <p:cNvSpPr/>
          <p:nvPr/>
        </p:nvSpPr>
        <p:spPr>
          <a:xfrm>
            <a:off x="777240" y="5605272"/>
            <a:ext cx="164592" cy="164592"/>
          </a:xfrm>
          <a:prstGeom prst="ellipse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55321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6F5A"/>
                </a:solidFill>
                <a:latin typeface="微软雅黑"/>
              </a:rPr>
              <a:t>可并行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68880" y="553212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树相互独立, n_jobs 加速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2011680"/>
            <a:ext cx="5486400" cy="4297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217920" y="2011680"/>
            <a:ext cx="5486400" cy="457200"/>
          </a:xfrm>
          <a:prstGeom prst="roundRect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20116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△  局限</a:t>
            </a:r>
          </a:p>
        </p:txBody>
      </p:sp>
      <p:sp>
        <p:nvSpPr>
          <p:cNvPr id="36" name="Oval 35"/>
          <p:cNvSpPr/>
          <p:nvPr/>
        </p:nvSpPr>
        <p:spPr>
          <a:xfrm>
            <a:off x="6446520" y="2633472"/>
            <a:ext cx="164592" cy="164592"/>
          </a:xfrm>
          <a:prstGeom prst="ellipse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20840" y="25603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D47A2C"/>
                </a:solidFill>
                <a:latin typeface="微软雅黑"/>
              </a:rPr>
              <a:t>计算开销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256032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树数↑、深度↑时,训练与预测变慢</a:t>
            </a:r>
          </a:p>
        </p:txBody>
      </p:sp>
      <p:sp>
        <p:nvSpPr>
          <p:cNvPr id="39" name="Oval 38"/>
          <p:cNvSpPr/>
          <p:nvPr/>
        </p:nvSpPr>
        <p:spPr>
          <a:xfrm>
            <a:off x="6446520" y="3227832"/>
            <a:ext cx="164592" cy="164592"/>
          </a:xfrm>
          <a:prstGeom prst="ellipse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20840" y="315468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D47A2C"/>
                </a:solidFill>
                <a:latin typeface="微软雅黑"/>
              </a:rPr>
              <a:t>可解释性低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315468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难以解释单条决策路径</a:t>
            </a:r>
          </a:p>
        </p:txBody>
      </p:sp>
      <p:sp>
        <p:nvSpPr>
          <p:cNvPr id="42" name="Oval 41"/>
          <p:cNvSpPr/>
          <p:nvPr/>
        </p:nvSpPr>
        <p:spPr>
          <a:xfrm>
            <a:off x="6446520" y="3822192"/>
            <a:ext cx="164592" cy="164592"/>
          </a:xfrm>
          <a:prstGeom prst="ellipse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20840" y="374904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D47A2C"/>
                </a:solidFill>
                <a:latin typeface="微软雅黑"/>
              </a:rPr>
              <a:t>外推弱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374904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无法预测超出训练范围的取值</a:t>
            </a:r>
          </a:p>
        </p:txBody>
      </p:sp>
      <p:sp>
        <p:nvSpPr>
          <p:cNvPr id="45" name="Oval 44"/>
          <p:cNvSpPr/>
          <p:nvPr/>
        </p:nvSpPr>
        <p:spPr>
          <a:xfrm>
            <a:off x="6446520" y="4416552"/>
            <a:ext cx="164592" cy="164592"/>
          </a:xfrm>
          <a:prstGeom prst="ellipse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20840" y="434340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D47A2C"/>
                </a:solidFill>
                <a:latin typeface="微软雅黑"/>
              </a:rPr>
              <a:t>高基数特征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0" y="434340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类别多的变量受编码方式影响大</a:t>
            </a:r>
          </a:p>
        </p:txBody>
      </p:sp>
      <p:sp>
        <p:nvSpPr>
          <p:cNvPr id="48" name="Oval 47"/>
          <p:cNvSpPr/>
          <p:nvPr/>
        </p:nvSpPr>
        <p:spPr>
          <a:xfrm>
            <a:off x="6446520" y="5010912"/>
            <a:ext cx="164592" cy="164592"/>
          </a:xfrm>
          <a:prstGeom prst="ellipse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20840" y="493776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D47A2C"/>
                </a:solidFill>
                <a:latin typeface="微软雅黑"/>
              </a:rPr>
              <a:t>内存占用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0" y="493776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B × 深树 → 模型文件大</a:t>
            </a:r>
          </a:p>
        </p:txBody>
      </p:sp>
      <p:sp>
        <p:nvSpPr>
          <p:cNvPr id="51" name="Oval 50"/>
          <p:cNvSpPr/>
          <p:nvPr/>
        </p:nvSpPr>
        <p:spPr>
          <a:xfrm>
            <a:off x="6446520" y="5605272"/>
            <a:ext cx="164592" cy="164592"/>
          </a:xfrm>
          <a:prstGeom prst="ellipse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20840" y="55321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D47A2C"/>
                </a:solidFill>
                <a:latin typeface="微软雅黑"/>
              </a:rPr>
              <a:t>重要性偏差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0" y="553212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取值多的连续变量易被高估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8640" y="6400800"/>
            <a:ext cx="11064240" cy="36576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2A44F"/>
                </a:solidFill>
                <a:latin typeface="微软雅黑"/>
              </a:rPr>
              <a:t>💬  教师讲解要点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520" y="6784848"/>
            <a:ext cx="10698480" cy="-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可以讨论:「二手车场景中,如何处理超出训练范围的高价豪车?」 — 与「外推弱」关联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机器学习 · 第 9 章  随机森林 — 二手车价格预测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19 / 66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B6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9601200" y="4114800"/>
            <a:ext cx="1371600" cy="1371600"/>
          </a:xfrm>
          <a:prstGeom prst="triangle">
            <a:avLst/>
          </a:prstGeom>
          <a:solidFill>
            <a:srgbClr val="88D4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0515600" y="4572000"/>
            <a:ext cx="1005840" cy="1005840"/>
          </a:xfrm>
          <a:prstGeom prst="triangle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>
            <a:off x="8961120" y="4754880"/>
            <a:ext cx="822960" cy="822960"/>
          </a:xfrm>
          <a:prstGeom prst="triangle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2194560" cy="502920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PART III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200" b="1" i="0">
                <a:solidFill>
                  <a:srgbClr val="FFFFFF"/>
                </a:solidFill>
                <a:latin typeface="微软雅黑"/>
              </a:rPr>
              <a:t>数据预处理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703320"/>
            <a:ext cx="73152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8404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CFE3DA"/>
                </a:solidFill>
                <a:latin typeface="微软雅黑"/>
              </a:rPr>
              <a:t>教材 9.2-9.4 — 把混入文本的列转为模型输入表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微软雅黑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微软雅黑"/>
              </a:rPr>
              <a:t>随机森林 — 二手车价格预测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微软雅黑"/>
              </a:rPr>
              <a:t>9.2   导入库 · 加载数据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微软雅黑"/>
              </a:rPr>
              <a:t>9.2  导入库 &amp; 加载数据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微软雅黑"/>
              </a:rPr>
              <a:t>「Notebook 第一个单元」 — 准备好环境并读入数据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57400"/>
            <a:ext cx="6858000" cy="3108960"/>
          </a:xfrm>
          <a:prstGeom prst="roundRect">
            <a:avLst/>
          </a:prstGeom>
          <a:solidFill>
            <a:srgbClr val="0E1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" y="2203704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7824" y="2203704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42416" y="2203704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2167128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9AA7A0"/>
                </a:solidFill>
                <a:latin typeface="Consolas"/>
              </a:rPr>
              <a:t>09-Random_Forest.ipynb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423160"/>
            <a:ext cx="649224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7BD389"/>
                </a:solidFill>
                <a:latin typeface="Consolas"/>
              </a:rPr>
              <a:t>import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pandas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7BD389"/>
                </a:solidFill>
                <a:latin typeface="Consolas"/>
              </a:rPr>
              <a:t>as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pd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7BD389"/>
                </a:solidFill>
                <a:latin typeface="Consolas"/>
              </a:rPr>
              <a:t>import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numpy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7BD389"/>
                </a:solidFill>
                <a:latin typeface="Consolas"/>
              </a:rPr>
              <a:t>as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np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7BD389"/>
                </a:solidFill>
                <a:latin typeface="Consolas"/>
              </a:rPr>
              <a:t>import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matplotlib</a:t>
            </a:r>
            <a:r>
              <a:rPr sz="1300">
                <a:solidFill>
                  <a:srgbClr val="E8F6EF"/>
                </a:solidFill>
                <a:latin typeface="Consolas"/>
              </a:rPr>
              <a:t>.</a:t>
            </a:r>
            <a:r>
              <a:rPr sz="1300">
                <a:solidFill>
                  <a:srgbClr val="E8F6EF"/>
                </a:solidFill>
                <a:latin typeface="Consolas"/>
              </a:rPr>
              <a:t>pyplot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7BD389"/>
                </a:solidFill>
                <a:latin typeface="Consolas"/>
              </a:rPr>
              <a:t>as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plt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7BD389"/>
                </a:solidFill>
                <a:latin typeface="Consolas"/>
              </a:rPr>
              <a:t>import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seaborn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7BD389"/>
                </a:solidFill>
                <a:latin typeface="Consolas"/>
              </a:rPr>
              <a:t>as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sns</a:t>
            </a:r>
          </a:p>
          <a:p>
            <a:pPr>
              <a:lnSpc>
                <a:spcPct val="120000"/>
              </a:lnSpc>
            </a:pPr>
            <a:r>
              <a:rPr sz="1300">
                <a:latin typeface="Consolas"/>
              </a:rPr>
              <a:t> 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E8F6EF"/>
                </a:solidFill>
                <a:latin typeface="Consolas"/>
              </a:rPr>
              <a:t>file_url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=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(</a:t>
            </a:r>
            <a:r>
              <a:rPr sz="1300">
                <a:solidFill>
                  <a:srgbClr val="F6B26B"/>
                </a:solidFill>
                <a:latin typeface="Consolas"/>
              </a:rPr>
              <a:t>'https://media.githubusercontent.com/media/'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F6B26B"/>
                </a:solidFill>
                <a:latin typeface="Consolas"/>
              </a:rPr>
              <a:t>'musthave-ML10/data_source/main/car.csv'</a:t>
            </a:r>
            <a:r>
              <a:rPr sz="130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20000"/>
              </a:lnSpc>
            </a:pPr>
            <a:r>
              <a:rPr sz="1300">
                <a:latin typeface="Consolas"/>
              </a:rPr>
              <a:t> 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E8F6EF"/>
                </a:solidFill>
                <a:latin typeface="Consolas"/>
              </a:rPr>
              <a:t>data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=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pd</a:t>
            </a:r>
            <a:r>
              <a:rPr sz="1300">
                <a:solidFill>
                  <a:srgbClr val="E8F6EF"/>
                </a:solidFill>
                <a:latin typeface="Consolas"/>
              </a:rPr>
              <a:t>.</a:t>
            </a:r>
            <a:r>
              <a:rPr sz="1300">
                <a:solidFill>
                  <a:srgbClr val="E8F6EF"/>
                </a:solidFill>
                <a:latin typeface="Consolas"/>
              </a:rPr>
              <a:t>read_csv</a:t>
            </a:r>
            <a:r>
              <a:rPr sz="1300">
                <a:solidFill>
                  <a:srgbClr val="E8F6EF"/>
                </a:solidFill>
                <a:latin typeface="Consolas"/>
              </a:rPr>
              <a:t>(</a:t>
            </a:r>
            <a:r>
              <a:rPr sz="1300">
                <a:solidFill>
                  <a:srgbClr val="E8F6EF"/>
                </a:solidFill>
                <a:latin typeface="Consolas"/>
              </a:rPr>
              <a:t>file_url</a:t>
            </a:r>
            <a:r>
              <a:rPr sz="1300">
                <a:solidFill>
                  <a:srgbClr val="E8F6EF"/>
                </a:solidFill>
                <a:latin typeface="Consolas"/>
              </a:rPr>
              <a:t>)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9AA7A0"/>
                </a:solidFill>
                <a:latin typeface="Consolas"/>
              </a:rPr>
              <a:t># 读取数据集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E8F6EF"/>
                </a:solidFill>
                <a:latin typeface="Consolas"/>
              </a:rPr>
              <a:t>data</a:t>
            </a:r>
            <a:r>
              <a:rPr sz="1300">
                <a:solidFill>
                  <a:srgbClr val="E8F6EF"/>
                </a:solidFill>
                <a:latin typeface="Consolas"/>
              </a:rPr>
              <a:t>.</a:t>
            </a:r>
            <a:r>
              <a:rPr sz="1300">
                <a:solidFill>
                  <a:srgbClr val="E8F6EF"/>
                </a:solidFill>
                <a:latin typeface="Consolas"/>
              </a:rPr>
              <a:t>head</a:t>
            </a:r>
            <a:r>
              <a:rPr sz="1300">
                <a:solidFill>
                  <a:srgbClr val="E8F6EF"/>
                </a:solidFill>
                <a:latin typeface="Consolas"/>
              </a:rPr>
              <a:t>(</a:t>
            </a:r>
            <a:r>
              <a:rPr sz="1300">
                <a:solidFill>
                  <a:srgbClr val="E8F6EF"/>
                </a:solidFill>
                <a:latin typeface="Consolas"/>
              </a:rPr>
              <a:t>)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9AA7A0"/>
                </a:solidFill>
                <a:latin typeface="Consolas"/>
              </a:rPr>
              <a:t># 查看前 5 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2057400"/>
            <a:ext cx="4114800" cy="1417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89520" y="2057400"/>
            <a:ext cx="91440" cy="141732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45552" y="2221992"/>
            <a:ext cx="3749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4524A"/>
                </a:solidFill>
                <a:latin typeface="微软雅黑"/>
              </a:rPr>
              <a:t>📦  4 个必备库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45552" y="2715768"/>
            <a:ext cx="3657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pandas: 数据帧处理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numpy: 数值运算 · NaN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matplotlib·seaborn: 可视化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(再加) sklearn: 模型·评估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3566160"/>
            <a:ext cx="4114800" cy="1600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89520" y="3566160"/>
            <a:ext cx="91440" cy="1600200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45552" y="3730752"/>
            <a:ext cx="3749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4524A"/>
                </a:solidFill>
                <a:latin typeface="微软雅黑"/>
              </a:rPr>
              <a:t>📌  read_csv 要点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45552" y="4224528"/>
            <a:ext cx="36576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• URL / 本地路径都可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• dtype 自动推断 (可能出错 ⚠)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• 编码问题用 encoding='utf-8'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• 大文件用 chunksize · usecols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349240"/>
            <a:ext cx="11155680" cy="96012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44068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2A44F"/>
                </a:solidFill>
                <a:latin typeface="微软雅黑"/>
              </a:rPr>
              <a:t>💬  教师讲解要点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733288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拿到数据立刻养成「head() · info() · describe()」三连的习惯。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这一步发现的「被误判为文本的数字列」与「缺失模式」将决定后续预处理方向。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课堂上如果网络受限,请事先准备 car.csv 备份文件。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机器学习 · 第 9 章  随机森林 — 二手车价格预测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21 / 66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微软雅黑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微软雅黑"/>
              </a:rPr>
              <a:t>随机森林 — 二手车价格预测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微软雅黑"/>
              </a:rPr>
              <a:t>9.2   数据检查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微软雅黑"/>
              </a:rPr>
              <a:t>数据检查 3 件套 — info · describe · isna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微软雅黑"/>
              </a:rPr>
              <a:t>一眼揪出缺失位置与错误的 dtype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57400"/>
            <a:ext cx="5669280" cy="4251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1488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6F5A"/>
                </a:solidFill>
                <a:latin typeface="微软雅黑"/>
              </a:rPr>
              <a:t>📊  data.info() — 各列形态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542032"/>
            <a:ext cx="5303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F6F5A"/>
                </a:solidFill>
                <a:latin typeface="Consolas"/>
              </a:rPr>
              <a:t>#  Column         Non-Null  Dtype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788920"/>
            <a:ext cx="5303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Consolas"/>
              </a:rPr>
              <a:t>0  name           8128      object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035808"/>
            <a:ext cx="5303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Consolas"/>
              </a:rPr>
              <a:t>1  year           8128      int64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282696"/>
            <a:ext cx="5303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Consolas"/>
              </a:rPr>
              <a:t>2  selling_price  8128      int64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529584"/>
            <a:ext cx="5303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Consolas"/>
              </a:rPr>
              <a:t>3  km_driven      8128      int64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776472"/>
            <a:ext cx="5303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Consolas"/>
              </a:rPr>
              <a:t>4  fuel           8128      object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023360"/>
            <a:ext cx="5303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Consolas"/>
              </a:rPr>
              <a:t>5  seller_type    8128      object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270248"/>
            <a:ext cx="5303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Consolas"/>
              </a:rPr>
              <a:t>6  transmission   8128      object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517136"/>
            <a:ext cx="5303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Consolas"/>
              </a:rPr>
              <a:t>7  owner          8128      object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764024"/>
            <a:ext cx="5303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47A2C"/>
                </a:solidFill>
                <a:latin typeface="Consolas"/>
              </a:rPr>
              <a:t>8  mileage        7907  ⚠   object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010912"/>
            <a:ext cx="5303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47A2C"/>
                </a:solidFill>
                <a:latin typeface="Consolas"/>
              </a:rPr>
              <a:t>9  engine         7907  ⚠   object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257800"/>
            <a:ext cx="5303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47A2C"/>
                </a:solidFill>
                <a:latin typeface="Consolas"/>
              </a:rPr>
              <a:t>10 max_power      7913  ⚠   object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504688"/>
            <a:ext cx="5303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47A2C"/>
                </a:solidFill>
                <a:latin typeface="Consolas"/>
              </a:rPr>
              <a:t>11 torque         7906  ⚠   object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751576"/>
            <a:ext cx="5303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47A2C"/>
                </a:solidFill>
                <a:latin typeface="Consolas"/>
              </a:rPr>
              <a:t>12 seats          7907  ⚠   float64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2057400"/>
            <a:ext cx="5303520" cy="1874519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21488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6F5A"/>
                </a:solidFill>
                <a:latin typeface="微软雅黑"/>
              </a:rPr>
              <a:t>📈  describe() — 统计要点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29400" y="2542032"/>
            <a:ext cx="1554480" cy="274320"/>
          </a:xfrm>
          <a:prstGeom prst="roundRect">
            <a:avLst/>
          </a:prstGeom>
          <a:solidFill>
            <a:srgbClr val="E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254203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4524A"/>
                </a:solidFill>
                <a:latin typeface="Consolas"/>
              </a:rPr>
              <a:t>year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256032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1983 ~ 2020, 均值 ≈ 2014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29400" y="2871216"/>
            <a:ext cx="1554480" cy="274320"/>
          </a:xfrm>
          <a:prstGeom prst="roundRect">
            <a:avLst/>
          </a:prstGeom>
          <a:solidFill>
            <a:srgbClr val="E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9400" y="2871216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4524A"/>
                </a:solidFill>
                <a:latin typeface="Consolas"/>
              </a:rPr>
              <a:t>selling_price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2889504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29,999 ~ 10,000,000  ←  max 极大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29400" y="3200400"/>
            <a:ext cx="1554480" cy="274320"/>
          </a:xfrm>
          <a:prstGeom prst="roundRect">
            <a:avLst/>
          </a:prstGeom>
          <a:solidFill>
            <a:srgbClr val="E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29400" y="320040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4524A"/>
                </a:solidFill>
                <a:latin typeface="Consolas"/>
              </a:rPr>
              <a:t>km_driven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3218688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1 ~ 2,360,457   ←  两端均可疑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29400" y="3529584"/>
            <a:ext cx="1554480" cy="274320"/>
          </a:xfrm>
          <a:prstGeom prst="roundRect">
            <a:avLst/>
          </a:prstGeom>
          <a:solidFill>
            <a:srgbClr val="E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29400" y="3529584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4524A"/>
                </a:solidFill>
                <a:latin typeface="Consolas"/>
              </a:rPr>
              <a:t>seats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20" y="354787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2 ~ 14, 均值 5.42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0" y="4023360"/>
            <a:ext cx="5303520" cy="228600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0" y="41148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2A44F"/>
                </a:solidFill>
                <a:latin typeface="微软雅黑"/>
              </a:rPr>
              <a:t>🔍  诊断结论 (行动清单)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4434840"/>
            <a:ext cx="49377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① 4 列单位混入  →  split + astype 数字化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② 缺失 ≈ 2~3%  →  dropna() 或均值填充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③ km_driven / selling_price 异常值可疑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    → 树模型对异常值不敏感,可不处理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④ 5 个类别列  →  get_dummies(drop_first=True)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    name, fuel, seller_type, transmission, owner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机器学习 · 第 9 章  随机森林 — 二手车价格预测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22 / 66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微软雅黑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微软雅黑"/>
              </a:rPr>
              <a:t>随机森林 — 二手车价格预测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微软雅黑"/>
              </a:rPr>
              <a:t>9.3   预处理全景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微软雅黑"/>
              </a:rPr>
              <a:t>9.3 预处理策略 — 处理 5 列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微软雅黑"/>
              </a:rPr>
              <a:t>把「单位混入的文本」转换为可输入模型的数值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103120"/>
            <a:ext cx="2194560" cy="2834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2103120"/>
            <a:ext cx="2194560" cy="502920"/>
          </a:xfrm>
          <a:prstGeom prst="round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10312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onsolas"/>
              </a:rPr>
              <a:t>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78892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556B68"/>
                </a:solidFill>
                <a:latin typeface="微软雅黑"/>
              </a:rPr>
              <a:t>Before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063240"/>
            <a:ext cx="1828800" cy="457200"/>
          </a:xfrm>
          <a:prstGeom prst="round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0632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1B2B2A"/>
                </a:solidFill>
                <a:latin typeface="Consolas"/>
              </a:rPr>
              <a:t>1248 CC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56616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F6F5A"/>
                </a:solidFill>
                <a:latin typeface="微软雅黑"/>
              </a:rP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840480"/>
            <a:ext cx="1828800" cy="457200"/>
          </a:xfrm>
          <a:prstGeom prst="round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8404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Consolas"/>
              </a:rPr>
              <a:t>1248.0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38912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556B68"/>
                </a:solidFill>
                <a:latin typeface="微软雅黑"/>
              </a:rPr>
              <a:t>split() + astype()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34640" y="2103120"/>
            <a:ext cx="2194560" cy="2834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834640" y="2103120"/>
            <a:ext cx="2194560" cy="502920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34640" y="210312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onsolas"/>
              </a:rPr>
              <a:t>max_power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1800" y="278892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556B68"/>
                </a:solidFill>
                <a:latin typeface="微软雅黑"/>
              </a:rPr>
              <a:t>Before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017520" y="3063240"/>
            <a:ext cx="1828800" cy="457200"/>
          </a:xfrm>
          <a:prstGeom prst="round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17520" y="30632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1B2B2A"/>
                </a:solidFill>
                <a:latin typeface="Consolas"/>
              </a:rPr>
              <a:t>74 bhp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40" y="356616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3FA68A"/>
                </a:solidFill>
                <a:latin typeface="微软雅黑"/>
              </a:rPr>
              <a:t>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017520" y="3840480"/>
            <a:ext cx="1828800" cy="457200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17520" y="38404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Consolas"/>
              </a:rPr>
              <a:t>74.0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71800" y="438912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556B68"/>
                </a:solidFill>
                <a:latin typeface="微软雅黑"/>
              </a:rPr>
              <a:t>try/except 处理「bhp」单独值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20640" y="2103120"/>
            <a:ext cx="2194560" cy="2834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120640" y="2103120"/>
            <a:ext cx="2194560" cy="502920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20640" y="210312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onsolas"/>
              </a:rPr>
              <a:t>mileage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57800" y="278892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556B68"/>
                </a:solidFill>
                <a:latin typeface="微软雅黑"/>
              </a:rPr>
              <a:t>Before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03520" y="3063240"/>
            <a:ext cx="1828800" cy="457200"/>
          </a:xfrm>
          <a:prstGeom prst="round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03520" y="30632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1B2B2A"/>
                </a:solidFill>
                <a:latin typeface="Consolas"/>
              </a:rPr>
              <a:t>23.4 kmpl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0" y="356616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2A44F"/>
                </a:solidFill>
                <a:latin typeface="微软雅黑"/>
              </a:rPr>
              <a:t>↓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303520" y="3840480"/>
            <a:ext cx="1828800" cy="457200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3520" y="38404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Consolas"/>
              </a:rPr>
              <a:t>0.29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57800" y="438912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556B68"/>
                </a:solidFill>
                <a:latin typeface="微软雅黑"/>
              </a:rPr>
              <a:t>用各燃料单价统一单位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406640" y="2103120"/>
            <a:ext cx="2194560" cy="2834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406640" y="2103120"/>
            <a:ext cx="2194560" cy="502920"/>
          </a:xfrm>
          <a:prstGeom prst="roundRect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06640" y="210312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onsolas"/>
              </a:rPr>
              <a:t>torque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43800" y="278892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556B68"/>
                </a:solidFill>
                <a:latin typeface="微软雅黑"/>
              </a:rPr>
              <a:t>Before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589520" y="3063240"/>
            <a:ext cx="1828800" cy="457200"/>
          </a:xfrm>
          <a:prstGeom prst="round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89520" y="30632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1B2B2A"/>
                </a:solidFill>
                <a:latin typeface="Consolas"/>
              </a:rPr>
              <a:t>190Nm@2000rpm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06640" y="356616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D47A2C"/>
                </a:solidFill>
                <a:latin typeface="微软雅黑"/>
              </a:rPr>
              <a:t>↓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589520" y="3840480"/>
            <a:ext cx="1828800" cy="457200"/>
          </a:xfrm>
          <a:prstGeom prst="roundRect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589520" y="38404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Consolas"/>
              </a:rPr>
              <a:t>190.0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43800" y="438912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556B68"/>
                </a:solidFill>
                <a:latin typeface="微软雅黑"/>
              </a:rPr>
              <a:t>拆单位 + kgm×9.8066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692640" y="2103120"/>
            <a:ext cx="2194560" cy="2834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692640" y="2103120"/>
            <a:ext cx="2194560" cy="502920"/>
          </a:xfrm>
          <a:prstGeom prst="roundRect">
            <a:avLst/>
          </a:prstGeom>
          <a:solidFill>
            <a:srgbClr val="3B6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92640" y="210312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onsolas"/>
              </a:rPr>
              <a:t>name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29800" y="278892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556B68"/>
                </a:solidFill>
                <a:latin typeface="微软雅黑"/>
              </a:rPr>
              <a:t>Before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875520" y="3063240"/>
            <a:ext cx="1828800" cy="457200"/>
          </a:xfrm>
          <a:prstGeom prst="round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875520" y="30632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1B2B2A"/>
                </a:solidFill>
                <a:latin typeface="Consolas"/>
              </a:rPr>
              <a:t>Maruti Swift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92640" y="356616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3B6FB6"/>
                </a:solidFill>
                <a:latin typeface="微软雅黑"/>
              </a:rPr>
              <a:t>↓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875520" y="3840480"/>
            <a:ext cx="1828800" cy="457200"/>
          </a:xfrm>
          <a:prstGeom prst="roundRect">
            <a:avLst/>
          </a:prstGeom>
          <a:solidFill>
            <a:srgbClr val="3B6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875520" y="38404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Consolas"/>
              </a:rPr>
              <a:t>Maruti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29800" y="438912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556B68"/>
                </a:solidFill>
                <a:latin typeface="微软雅黑"/>
              </a:rPr>
              <a:t>仅保留品牌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48640" y="5120640"/>
            <a:ext cx="11155680" cy="137160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77240" y="521208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2A44F"/>
                </a:solidFill>
                <a:latin typeface="微软雅黑"/>
              </a:rPr>
              <a:t>🧭  预处理三原则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77240" y="553212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①  「看似是数字、实为文本(object)」的列, 必须 split → astype。</a:t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②  单位混入时, 先统一单位, 再丢弃文本 (或独热编码)。</a:t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③  自由文本 (品牌等) 只保留有意义的部分, 防止哑变量爆炸。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机器学习 · 第 9 章  随机森林 — 二手车价格预测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23 / 66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微软雅黑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微软雅黑"/>
              </a:rPr>
              <a:t>随机森林 — 二手车价格预测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微软雅黑"/>
              </a:rPr>
              <a:t>9.3.1   engine 预处理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微软雅黑"/>
              </a:rPr>
              <a:t>9.3.1  engine : '1248 CC' → 1248.0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微软雅黑"/>
              </a:rPr>
              <a:t>str.split(expand=True) + astype() — 最简单的情形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6949440" cy="4251960"/>
          </a:xfrm>
          <a:prstGeom prst="roundRect">
            <a:avLst/>
          </a:prstGeom>
          <a:solidFill>
            <a:srgbClr val="0E1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" y="2157984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7824" y="2157984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42416" y="2157984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2121408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9AA7A0"/>
                </a:solidFill>
                <a:latin typeface="Consolas"/>
              </a:rPr>
              <a:t>engine_preprocess.py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377440"/>
            <a:ext cx="6583680" cy="3794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00">
                <a:solidFill>
                  <a:srgbClr val="9AA7A0"/>
                </a:solidFill>
                <a:latin typeface="Consolas"/>
              </a:rPr>
              <a:t># Step 1) 按空格 split → 展开为两列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data</a:t>
            </a:r>
            <a:r>
              <a:rPr sz="1200">
                <a:solidFill>
                  <a:srgbClr val="E8F6EF"/>
                </a:solidFill>
                <a:latin typeface="Consolas"/>
              </a:rPr>
              <a:t>[</a:t>
            </a:r>
            <a:r>
              <a:rPr sz="1200">
                <a:solidFill>
                  <a:srgbClr val="E8F6EF"/>
                </a:solidFill>
                <a:latin typeface="Consolas"/>
              </a:rPr>
              <a:t>[</a:t>
            </a:r>
            <a:r>
              <a:rPr sz="1200">
                <a:solidFill>
                  <a:srgbClr val="F6B26B"/>
                </a:solidFill>
                <a:latin typeface="Consolas"/>
              </a:rPr>
              <a:t>'engine'</a:t>
            </a:r>
            <a:r>
              <a:rPr sz="1200">
                <a:solidFill>
                  <a:srgbClr val="E8F6EF"/>
                </a:solidFill>
                <a:latin typeface="Consolas"/>
              </a:rPr>
              <a:t>,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F6B26B"/>
                </a:solidFill>
                <a:latin typeface="Consolas"/>
              </a:rPr>
              <a:t>'engine_unit'</a:t>
            </a:r>
            <a:r>
              <a:rPr sz="1200">
                <a:solidFill>
                  <a:srgbClr val="E8F6EF"/>
                </a:solidFill>
                <a:latin typeface="Consolas"/>
              </a:rPr>
              <a:t>]</a:t>
            </a:r>
            <a:r>
              <a:rPr sz="1200">
                <a:solidFill>
                  <a:srgbClr val="E8F6EF"/>
                </a:solidFill>
                <a:latin typeface="Consolas"/>
              </a:rPr>
              <a:t>]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=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(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data</a:t>
            </a:r>
            <a:r>
              <a:rPr sz="1200">
                <a:solidFill>
                  <a:srgbClr val="E8F6EF"/>
                </a:solidFill>
                <a:latin typeface="Consolas"/>
              </a:rPr>
              <a:t>[</a:t>
            </a:r>
            <a:r>
              <a:rPr sz="1200">
                <a:solidFill>
                  <a:srgbClr val="F6B26B"/>
                </a:solidFill>
                <a:latin typeface="Consolas"/>
              </a:rPr>
              <a:t>'engine'</a:t>
            </a:r>
            <a:r>
              <a:rPr sz="1200">
                <a:solidFill>
                  <a:srgbClr val="E8F6EF"/>
                </a:solidFill>
                <a:latin typeface="Consolas"/>
              </a:rPr>
              <a:t>]</a:t>
            </a:r>
            <a:r>
              <a:rPr sz="1200">
                <a:solidFill>
                  <a:srgbClr val="E8F6EF"/>
                </a:solidFill>
                <a:latin typeface="Consolas"/>
              </a:rPr>
              <a:t>.</a:t>
            </a:r>
            <a:r>
              <a:rPr sz="1200">
                <a:solidFill>
                  <a:srgbClr val="8FB8E0"/>
                </a:solidFill>
                <a:latin typeface="Consolas"/>
              </a:rPr>
              <a:t>str</a:t>
            </a:r>
            <a:r>
              <a:rPr sz="1200">
                <a:solidFill>
                  <a:srgbClr val="E8F6EF"/>
                </a:solidFill>
                <a:latin typeface="Consolas"/>
              </a:rPr>
              <a:t>.</a:t>
            </a:r>
            <a:r>
              <a:rPr sz="1200">
                <a:solidFill>
                  <a:srgbClr val="E8F6EF"/>
                </a:solidFill>
                <a:latin typeface="Consolas"/>
              </a:rPr>
              <a:t>split</a:t>
            </a:r>
            <a:r>
              <a:rPr sz="1200">
                <a:solidFill>
                  <a:srgbClr val="E8F6EF"/>
                </a:solidFill>
                <a:latin typeface="Consolas"/>
              </a:rPr>
              <a:t>(</a:t>
            </a:r>
            <a:r>
              <a:rPr sz="1200">
                <a:solidFill>
                  <a:srgbClr val="E8F6EF"/>
                </a:solidFill>
                <a:latin typeface="Consolas"/>
              </a:rPr>
              <a:t>expand</a:t>
            </a:r>
            <a:r>
              <a:rPr sz="1200">
                <a:solidFill>
                  <a:srgbClr val="E8F6EF"/>
                </a:solidFill>
                <a:latin typeface="Consolas"/>
              </a:rPr>
              <a:t>=</a:t>
            </a:r>
            <a:r>
              <a:rPr sz="1200">
                <a:solidFill>
                  <a:srgbClr val="7BD389"/>
                </a:solidFill>
                <a:latin typeface="Consolas"/>
              </a:rPr>
              <a:t>True</a:t>
            </a:r>
            <a:r>
              <a:rPr sz="120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</a:pPr>
            <a:r>
              <a:rPr sz="1200">
                <a:latin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9AA7A0"/>
                </a:solidFill>
                <a:latin typeface="Consolas"/>
              </a:rPr>
              <a:t># Step 2) 把数字部分转为 float32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data</a:t>
            </a:r>
            <a:r>
              <a:rPr sz="1200">
                <a:solidFill>
                  <a:srgbClr val="E8F6EF"/>
                </a:solidFill>
                <a:latin typeface="Consolas"/>
              </a:rPr>
              <a:t>[</a:t>
            </a:r>
            <a:r>
              <a:rPr sz="1200">
                <a:solidFill>
                  <a:srgbClr val="F6B26B"/>
                </a:solidFill>
                <a:latin typeface="Consolas"/>
              </a:rPr>
              <a:t>'engine'</a:t>
            </a:r>
            <a:r>
              <a:rPr sz="1200">
                <a:solidFill>
                  <a:srgbClr val="E8F6EF"/>
                </a:solidFill>
                <a:latin typeface="Consolas"/>
              </a:rPr>
              <a:t>]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=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data</a:t>
            </a:r>
            <a:r>
              <a:rPr sz="1200">
                <a:solidFill>
                  <a:srgbClr val="E8F6EF"/>
                </a:solidFill>
                <a:latin typeface="Consolas"/>
              </a:rPr>
              <a:t>[</a:t>
            </a:r>
            <a:r>
              <a:rPr sz="1200">
                <a:solidFill>
                  <a:srgbClr val="F6B26B"/>
                </a:solidFill>
                <a:latin typeface="Consolas"/>
              </a:rPr>
              <a:t>'engine'</a:t>
            </a:r>
            <a:r>
              <a:rPr sz="1200">
                <a:solidFill>
                  <a:srgbClr val="E8F6EF"/>
                </a:solidFill>
                <a:latin typeface="Consolas"/>
              </a:rPr>
              <a:t>]</a:t>
            </a:r>
            <a:r>
              <a:rPr sz="1200">
                <a:solidFill>
                  <a:srgbClr val="E8F6EF"/>
                </a:solidFill>
                <a:latin typeface="Consolas"/>
              </a:rPr>
              <a:t>.</a:t>
            </a:r>
            <a:r>
              <a:rPr sz="1200">
                <a:solidFill>
                  <a:srgbClr val="E8F6EF"/>
                </a:solidFill>
                <a:latin typeface="Consolas"/>
              </a:rPr>
              <a:t>astype</a:t>
            </a:r>
            <a:r>
              <a:rPr sz="1200">
                <a:solidFill>
                  <a:srgbClr val="E8F6EF"/>
                </a:solidFill>
                <a:latin typeface="Consolas"/>
              </a:rPr>
              <a:t>(</a:t>
            </a:r>
            <a:r>
              <a:rPr sz="1200">
                <a:solidFill>
                  <a:srgbClr val="F6B26B"/>
                </a:solidFill>
                <a:latin typeface="Consolas"/>
              </a:rPr>
              <a:t>'float32'</a:t>
            </a:r>
            <a:r>
              <a:rPr sz="120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</a:pPr>
            <a:r>
              <a:rPr sz="1200">
                <a:latin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9AA7A0"/>
                </a:solidFill>
                <a:latin typeface="Consolas"/>
              </a:rPr>
              <a:t># Step 3) 检查单位是否全部是 'CC'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data</a:t>
            </a:r>
            <a:r>
              <a:rPr sz="1200">
                <a:solidFill>
                  <a:srgbClr val="E8F6EF"/>
                </a:solidFill>
                <a:latin typeface="Consolas"/>
              </a:rPr>
              <a:t>[</a:t>
            </a:r>
            <a:r>
              <a:rPr sz="1200">
                <a:solidFill>
                  <a:srgbClr val="F6B26B"/>
                </a:solidFill>
                <a:latin typeface="Consolas"/>
              </a:rPr>
              <a:t>'engine_unit'</a:t>
            </a:r>
            <a:r>
              <a:rPr sz="1200">
                <a:solidFill>
                  <a:srgbClr val="E8F6EF"/>
                </a:solidFill>
                <a:latin typeface="Consolas"/>
              </a:rPr>
              <a:t>]</a:t>
            </a:r>
            <a:r>
              <a:rPr sz="1200">
                <a:solidFill>
                  <a:srgbClr val="E8F6EF"/>
                </a:solidFill>
                <a:latin typeface="Consolas"/>
              </a:rPr>
              <a:t>.</a:t>
            </a:r>
            <a:r>
              <a:rPr sz="1200">
                <a:solidFill>
                  <a:srgbClr val="E8F6EF"/>
                </a:solidFill>
                <a:latin typeface="Consolas"/>
              </a:rPr>
              <a:t>unique</a:t>
            </a:r>
            <a:r>
              <a:rPr sz="1200">
                <a:solidFill>
                  <a:srgbClr val="E8F6EF"/>
                </a:solidFill>
                <a:latin typeface="Consolas"/>
              </a:rPr>
              <a:t>(</a:t>
            </a:r>
            <a:r>
              <a:rPr sz="1200">
                <a:solidFill>
                  <a:srgbClr val="E8F6EF"/>
                </a:solidFill>
                <a:latin typeface="Consolas"/>
              </a:rPr>
              <a:t>)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9AA7A0"/>
                </a:solidFill>
                <a:latin typeface="Consolas"/>
              </a:rPr>
              <a:t># array(['CC', nan])</a:t>
            </a:r>
          </a:p>
          <a:p>
            <a:pPr>
              <a:lnSpc>
                <a:spcPct val="118000"/>
              </a:lnSpc>
            </a:pPr>
            <a:r>
              <a:rPr sz="1200">
                <a:latin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9AA7A0"/>
                </a:solidFill>
                <a:latin typeface="Consolas"/>
              </a:rPr>
              <a:t># Step 4) 删除单位列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data</a:t>
            </a:r>
            <a:r>
              <a:rPr sz="1200">
                <a:solidFill>
                  <a:srgbClr val="E8F6EF"/>
                </a:solidFill>
                <a:latin typeface="Consolas"/>
              </a:rPr>
              <a:t>.</a:t>
            </a:r>
            <a:r>
              <a:rPr sz="1200">
                <a:solidFill>
                  <a:srgbClr val="E8F6EF"/>
                </a:solidFill>
                <a:latin typeface="Consolas"/>
              </a:rPr>
              <a:t>drop</a:t>
            </a:r>
            <a:r>
              <a:rPr sz="1200">
                <a:solidFill>
                  <a:srgbClr val="E8F6EF"/>
                </a:solidFill>
                <a:latin typeface="Consolas"/>
              </a:rPr>
              <a:t>(</a:t>
            </a:r>
            <a:r>
              <a:rPr sz="1200">
                <a:solidFill>
                  <a:srgbClr val="F6B26B"/>
                </a:solidFill>
                <a:latin typeface="Consolas"/>
              </a:rPr>
              <a:t>'engine_unit'</a:t>
            </a:r>
            <a:r>
              <a:rPr sz="1200">
                <a:solidFill>
                  <a:srgbClr val="E8F6EF"/>
                </a:solidFill>
                <a:latin typeface="Consolas"/>
              </a:rPr>
              <a:t>,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axis</a:t>
            </a:r>
            <a:r>
              <a:rPr sz="1200">
                <a:solidFill>
                  <a:srgbClr val="E8F6EF"/>
                </a:solidFill>
                <a:latin typeface="Consolas"/>
              </a:rPr>
              <a:t>=</a:t>
            </a:r>
            <a:r>
              <a:rPr sz="1200">
                <a:solidFill>
                  <a:srgbClr val="F2D45F"/>
                </a:solidFill>
                <a:latin typeface="Consolas"/>
              </a:rPr>
              <a:t>1</a:t>
            </a:r>
            <a:r>
              <a:rPr sz="1200">
                <a:solidFill>
                  <a:srgbClr val="E8F6EF"/>
                </a:solidFill>
                <a:latin typeface="Consolas"/>
              </a:rPr>
              <a:t>,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inplace</a:t>
            </a:r>
            <a:r>
              <a:rPr sz="1200">
                <a:solidFill>
                  <a:srgbClr val="E8F6EF"/>
                </a:solidFill>
                <a:latin typeface="Consolas"/>
              </a:rPr>
              <a:t>=</a:t>
            </a:r>
            <a:r>
              <a:rPr sz="1200">
                <a:solidFill>
                  <a:srgbClr val="7BD389"/>
                </a:solidFill>
                <a:latin typeface="Consolas"/>
              </a:rPr>
              <a:t>True</a:t>
            </a:r>
            <a:r>
              <a:rPr sz="1200">
                <a:solidFill>
                  <a:srgbClr val="E8F6EF"/>
                </a:solidFill>
                <a:latin typeface="Consolas"/>
              </a:rPr>
              <a:t>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2011680"/>
            <a:ext cx="4023360" cy="4251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0" y="210312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F6F5A"/>
                </a:solidFill>
                <a:latin typeface="微软雅黑"/>
              </a:rPr>
              <a:t>🔧  转换过程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2606040"/>
            <a:ext cx="1051560" cy="502920"/>
          </a:xfrm>
          <a:prstGeom prst="roundRect">
            <a:avLst/>
          </a:prstGeom>
          <a:solidFill>
            <a:srgbClr val="E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18120" y="2606040"/>
            <a:ext cx="1051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B2B2A"/>
                </a:solidFill>
                <a:latin typeface="微软雅黑"/>
              </a:rPr>
              <a:t>Before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2606040"/>
            <a:ext cx="2606040" cy="502920"/>
          </a:xfrm>
          <a:prstGeom prst="round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0" y="260604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B2B2A"/>
                </a:solidFill>
                <a:latin typeface="Consolas"/>
              </a:rPr>
              <a:t>'1248 CC'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18120" y="3246120"/>
            <a:ext cx="1051560" cy="502920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18120" y="3246120"/>
            <a:ext cx="1051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</a:rPr>
              <a:t>split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20" y="3246120"/>
            <a:ext cx="2606040" cy="502920"/>
          </a:xfrm>
          <a:prstGeom prst="round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0" y="324612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B2B2A"/>
                </a:solidFill>
                <a:latin typeface="Consolas"/>
              </a:rPr>
              <a:t>['1248', 'CC']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18120" y="3886200"/>
            <a:ext cx="1051560" cy="502920"/>
          </a:xfrm>
          <a:prstGeom prst="round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18120" y="3886200"/>
            <a:ext cx="1051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</a:rPr>
              <a:t>astype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20" y="3886200"/>
            <a:ext cx="2606040" cy="502920"/>
          </a:xfrm>
          <a:prstGeom prst="round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0" y="388620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B2B2A"/>
                </a:solidFill>
                <a:latin typeface="Consolas"/>
              </a:rPr>
              <a:t>1248.0  +  'CC'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18120" y="4526280"/>
            <a:ext cx="1051560" cy="50292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18120" y="4526280"/>
            <a:ext cx="1051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</a:rPr>
              <a:t>drop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61120" y="4526280"/>
            <a:ext cx="2606040" cy="502920"/>
          </a:xfrm>
          <a:prstGeom prst="round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0" y="452628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B2B2A"/>
                </a:solidFill>
                <a:latin typeface="Consolas"/>
              </a:rPr>
              <a:t>1248.0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18120" y="5212080"/>
            <a:ext cx="3749039" cy="96012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55279" y="5285232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2A44F"/>
                </a:solidFill>
                <a:latin typeface="微软雅黑"/>
              </a:rPr>
              <a:t>💡  关键是 expand=True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5279" y="5532120"/>
            <a:ext cx="35661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FFFFFF"/>
                </a:solidFill>
                <a:latin typeface="微软雅黑"/>
              </a:rPr>
              <a:t>默认 False 时, 列表会全塞进单元格,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FFFFFF"/>
                </a:solidFill>
                <a:latin typeface="微软雅黑"/>
              </a:rPr>
              <a:t>不会展开为多列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机器学习 · 第 9 章  随机森林 — 二手车价格预测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24 / 66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微软雅黑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微软雅黑"/>
              </a:rPr>
              <a:t>随机森林 — 二手车价格预测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微软雅黑"/>
              </a:rPr>
              <a:t>9.3.2   max_power 预处理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微软雅黑"/>
              </a:rPr>
              <a:t>9.3.2  max_power : 「bhp」 单独值让 astype() 报错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微软雅黑"/>
              </a:rPr>
              <a:t>try / except + apply 把脏数据置为 NaN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7315200" cy="4251960"/>
          </a:xfrm>
          <a:prstGeom prst="roundRect">
            <a:avLst/>
          </a:prstGeom>
          <a:solidFill>
            <a:srgbClr val="0E1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" y="2157984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7824" y="2157984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42416" y="2157984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212140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9AA7A0"/>
                </a:solidFill>
                <a:latin typeface="Consolas"/>
              </a:rPr>
              <a:t>max_power_preprocess.py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377440"/>
            <a:ext cx="6949440" cy="3794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>
                <a:solidFill>
                  <a:srgbClr val="9AA7A0"/>
                </a:solidFill>
                <a:latin typeface="Consolas"/>
              </a:rPr>
              <a:t># Step 1) split — 与 engine 相同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data</a:t>
            </a:r>
            <a:r>
              <a:rPr sz="1150">
                <a:solidFill>
                  <a:srgbClr val="E8F6EF"/>
                </a:solidFill>
                <a:latin typeface="Consolas"/>
              </a:rPr>
              <a:t>[</a:t>
            </a:r>
            <a:r>
              <a:rPr sz="1150">
                <a:solidFill>
                  <a:srgbClr val="E8F6EF"/>
                </a:solidFill>
                <a:latin typeface="Consolas"/>
              </a:rPr>
              <a:t>[</a:t>
            </a:r>
            <a:r>
              <a:rPr sz="1150">
                <a:solidFill>
                  <a:srgbClr val="F6B26B"/>
                </a:solidFill>
                <a:latin typeface="Consolas"/>
              </a:rPr>
              <a:t>'max_power'</a:t>
            </a:r>
            <a:r>
              <a:rPr sz="1150">
                <a:solidFill>
                  <a:srgbClr val="E8F6EF"/>
                </a:solidFill>
                <a:latin typeface="Consolas"/>
              </a:rPr>
              <a:t>,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F6B26B"/>
                </a:solidFill>
                <a:latin typeface="Consolas"/>
              </a:rPr>
              <a:t>'max_power_unit'</a:t>
            </a:r>
            <a:r>
              <a:rPr sz="1150">
                <a:solidFill>
                  <a:srgbClr val="E8F6EF"/>
                </a:solidFill>
                <a:latin typeface="Consolas"/>
              </a:rPr>
              <a:t>]</a:t>
            </a:r>
            <a:r>
              <a:rPr sz="1150">
                <a:solidFill>
                  <a:srgbClr val="E8F6EF"/>
                </a:solidFill>
                <a:latin typeface="Consolas"/>
              </a:rPr>
              <a:t>]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(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data</a:t>
            </a:r>
            <a:r>
              <a:rPr sz="1150">
                <a:solidFill>
                  <a:srgbClr val="E8F6EF"/>
                </a:solidFill>
                <a:latin typeface="Consolas"/>
              </a:rPr>
              <a:t>[</a:t>
            </a:r>
            <a:r>
              <a:rPr sz="1150">
                <a:solidFill>
                  <a:srgbClr val="F6B26B"/>
                </a:solidFill>
                <a:latin typeface="Consolas"/>
              </a:rPr>
              <a:t>'max_power'</a:t>
            </a:r>
            <a:r>
              <a:rPr sz="1150">
                <a:solidFill>
                  <a:srgbClr val="E8F6EF"/>
                </a:solidFill>
                <a:latin typeface="Consolas"/>
              </a:rPr>
              <a:t>]</a:t>
            </a:r>
            <a:r>
              <a:rPr sz="1150">
                <a:solidFill>
                  <a:srgbClr val="E8F6EF"/>
                </a:solidFill>
                <a:latin typeface="Consolas"/>
              </a:rPr>
              <a:t>.</a:t>
            </a:r>
            <a:r>
              <a:rPr sz="1150">
                <a:solidFill>
                  <a:srgbClr val="8FB8E0"/>
                </a:solidFill>
                <a:latin typeface="Consolas"/>
              </a:rPr>
              <a:t>str</a:t>
            </a:r>
            <a:r>
              <a:rPr sz="1150">
                <a:solidFill>
                  <a:srgbClr val="E8F6EF"/>
                </a:solidFill>
                <a:latin typeface="Consolas"/>
              </a:rPr>
              <a:t>.</a:t>
            </a:r>
            <a:r>
              <a:rPr sz="1150">
                <a:solidFill>
                  <a:srgbClr val="E8F6EF"/>
                </a:solidFill>
                <a:latin typeface="Consolas"/>
              </a:rPr>
              <a:t>split</a:t>
            </a:r>
            <a:r>
              <a:rPr sz="1150">
                <a:solidFill>
                  <a:srgbClr val="E8F6EF"/>
                </a:solidFill>
                <a:latin typeface="Consolas"/>
              </a:rPr>
              <a:t>(</a:t>
            </a:r>
            <a:r>
              <a:rPr sz="1150">
                <a:solidFill>
                  <a:srgbClr val="E8F6EF"/>
                </a:solidFill>
                <a:latin typeface="Consolas"/>
              </a:rPr>
              <a:t>expand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7BD389"/>
                </a:solidFill>
                <a:latin typeface="Consolas"/>
              </a:rPr>
              <a:t>True</a:t>
            </a:r>
            <a:r>
              <a:rPr sz="11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</a:pPr>
            <a:r>
              <a:rPr sz="1150">
                <a:latin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9AA7A0"/>
                </a:solidFill>
                <a:latin typeface="Consolas"/>
              </a:rPr>
              <a:t># ❌  data['max_power'].astype('float32')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9AA7A0"/>
                </a:solidFill>
                <a:latin typeface="Consolas"/>
              </a:rPr>
              <a:t>#    ValueError: could not convert string to float: 'bhp'</a:t>
            </a:r>
          </a:p>
          <a:p>
            <a:pPr>
              <a:lnSpc>
                <a:spcPct val="118000"/>
              </a:lnSpc>
            </a:pPr>
            <a:r>
              <a:rPr sz="1150">
                <a:latin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9AA7A0"/>
                </a:solidFill>
                <a:latin typeface="Consolas"/>
              </a:rPr>
              <a:t># Step 2) 定义安全转换函数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7BD389"/>
                </a:solidFill>
                <a:latin typeface="Consolas"/>
              </a:rPr>
              <a:t>def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isFloat</a:t>
            </a:r>
            <a:r>
              <a:rPr sz="1150">
                <a:solidFill>
                  <a:srgbClr val="E8F6EF"/>
                </a:solidFill>
                <a:latin typeface="Consolas"/>
              </a:rPr>
              <a:t>(</a:t>
            </a:r>
            <a:r>
              <a:rPr sz="1150">
                <a:solidFill>
                  <a:srgbClr val="E8F6EF"/>
                </a:solidFill>
                <a:latin typeface="Consolas"/>
              </a:rPr>
              <a:t>value</a:t>
            </a:r>
            <a:r>
              <a:rPr sz="1150">
                <a:solidFill>
                  <a:srgbClr val="E8F6EF"/>
                </a:solidFill>
                <a:latin typeface="Consolas"/>
              </a:rPr>
              <a:t>)</a:t>
            </a:r>
            <a:r>
              <a:rPr sz="1150">
                <a:solidFill>
                  <a:srgbClr val="E8F6EF"/>
                </a:solidFill>
                <a:latin typeface="Consolas"/>
              </a:rPr>
              <a:t>: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7BD389"/>
                </a:solidFill>
                <a:latin typeface="Consolas"/>
              </a:rPr>
              <a:t>try</a:t>
            </a:r>
            <a:r>
              <a:rPr sz="1150">
                <a:solidFill>
                  <a:srgbClr val="E8F6EF"/>
                </a:solidFill>
                <a:latin typeface="Consolas"/>
              </a:rPr>
              <a:t>: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7BD389"/>
                </a:solidFill>
                <a:latin typeface="Consolas"/>
              </a:rPr>
              <a:t>return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8FB8E0"/>
                </a:solidFill>
                <a:latin typeface="Consolas"/>
              </a:rPr>
              <a:t>float</a:t>
            </a:r>
            <a:r>
              <a:rPr sz="1150">
                <a:solidFill>
                  <a:srgbClr val="E8F6EF"/>
                </a:solidFill>
                <a:latin typeface="Consolas"/>
              </a:rPr>
              <a:t>(</a:t>
            </a:r>
            <a:r>
              <a:rPr sz="1150">
                <a:solidFill>
                  <a:srgbClr val="E8F6EF"/>
                </a:solidFill>
                <a:latin typeface="Consolas"/>
              </a:rPr>
              <a:t>value</a:t>
            </a:r>
            <a:r>
              <a:rPr sz="1150">
                <a:solidFill>
                  <a:srgbClr val="E8F6EF"/>
                </a:solidFill>
                <a:latin typeface="Consolas"/>
              </a:rPr>
              <a:t>)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9AA7A0"/>
                </a:solidFill>
                <a:latin typeface="Consolas"/>
              </a:rPr>
              <a:t># 尝试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7BD389"/>
                </a:solidFill>
                <a:latin typeface="Consolas"/>
              </a:rPr>
              <a:t>except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ValueError</a:t>
            </a:r>
            <a:r>
              <a:rPr sz="1150">
                <a:solidFill>
                  <a:srgbClr val="E8F6EF"/>
                </a:solidFill>
                <a:latin typeface="Consolas"/>
              </a:rPr>
              <a:t>: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7BD389"/>
                </a:solidFill>
                <a:latin typeface="Consolas"/>
              </a:rPr>
              <a:t>return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np</a:t>
            </a:r>
            <a:r>
              <a:rPr sz="1150">
                <a:solidFill>
                  <a:srgbClr val="E8F6EF"/>
                </a:solidFill>
                <a:latin typeface="Consolas"/>
              </a:rPr>
              <a:t>.</a:t>
            </a:r>
            <a:r>
              <a:rPr sz="1150">
                <a:solidFill>
                  <a:srgbClr val="E8F6EF"/>
                </a:solidFill>
                <a:latin typeface="Consolas"/>
              </a:rPr>
              <a:t>NaN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9AA7A0"/>
                </a:solidFill>
                <a:latin typeface="Consolas"/>
              </a:rPr>
              <a:t># 失败 → NaN</a:t>
            </a:r>
          </a:p>
          <a:p>
            <a:pPr>
              <a:lnSpc>
                <a:spcPct val="118000"/>
              </a:lnSpc>
            </a:pPr>
            <a:r>
              <a:rPr sz="1150">
                <a:latin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data</a:t>
            </a:r>
            <a:r>
              <a:rPr sz="1150">
                <a:solidFill>
                  <a:srgbClr val="E8F6EF"/>
                </a:solidFill>
                <a:latin typeface="Consolas"/>
              </a:rPr>
              <a:t>[</a:t>
            </a:r>
            <a:r>
              <a:rPr sz="1150">
                <a:solidFill>
                  <a:srgbClr val="F6B26B"/>
                </a:solidFill>
                <a:latin typeface="Consolas"/>
              </a:rPr>
              <a:t>'max_power'</a:t>
            </a:r>
            <a:r>
              <a:rPr sz="1150">
                <a:solidFill>
                  <a:srgbClr val="E8F6EF"/>
                </a:solidFill>
                <a:latin typeface="Consolas"/>
              </a:rPr>
              <a:t>]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data</a:t>
            </a:r>
            <a:r>
              <a:rPr sz="1150">
                <a:solidFill>
                  <a:srgbClr val="E8F6EF"/>
                </a:solidFill>
                <a:latin typeface="Consolas"/>
              </a:rPr>
              <a:t>[</a:t>
            </a:r>
            <a:r>
              <a:rPr sz="1150">
                <a:solidFill>
                  <a:srgbClr val="F6B26B"/>
                </a:solidFill>
                <a:latin typeface="Consolas"/>
              </a:rPr>
              <a:t>'max_power'</a:t>
            </a:r>
            <a:r>
              <a:rPr sz="1150">
                <a:solidFill>
                  <a:srgbClr val="E8F6EF"/>
                </a:solidFill>
                <a:latin typeface="Consolas"/>
              </a:rPr>
              <a:t>]</a:t>
            </a:r>
            <a:r>
              <a:rPr sz="1150">
                <a:solidFill>
                  <a:srgbClr val="E8F6EF"/>
                </a:solidFill>
                <a:latin typeface="Consolas"/>
              </a:rPr>
              <a:t>.</a:t>
            </a:r>
            <a:r>
              <a:rPr sz="1150">
                <a:solidFill>
                  <a:srgbClr val="E8F6EF"/>
                </a:solidFill>
                <a:latin typeface="Consolas"/>
              </a:rPr>
              <a:t>apply</a:t>
            </a:r>
            <a:r>
              <a:rPr sz="1150">
                <a:solidFill>
                  <a:srgbClr val="E8F6EF"/>
                </a:solidFill>
                <a:latin typeface="Consolas"/>
              </a:rPr>
              <a:t>(</a:t>
            </a:r>
            <a:r>
              <a:rPr sz="1150">
                <a:solidFill>
                  <a:srgbClr val="E8F6EF"/>
                </a:solidFill>
                <a:latin typeface="Consolas"/>
              </a:rPr>
              <a:t>isFloat</a:t>
            </a:r>
            <a:r>
              <a:rPr sz="11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data</a:t>
            </a:r>
            <a:r>
              <a:rPr sz="1150">
                <a:solidFill>
                  <a:srgbClr val="E8F6EF"/>
                </a:solidFill>
                <a:latin typeface="Consolas"/>
              </a:rPr>
              <a:t>.</a:t>
            </a:r>
            <a:r>
              <a:rPr sz="1150">
                <a:solidFill>
                  <a:srgbClr val="E8F6EF"/>
                </a:solidFill>
                <a:latin typeface="Consolas"/>
              </a:rPr>
              <a:t>drop</a:t>
            </a:r>
            <a:r>
              <a:rPr sz="1150">
                <a:solidFill>
                  <a:srgbClr val="E8F6EF"/>
                </a:solidFill>
                <a:latin typeface="Consolas"/>
              </a:rPr>
              <a:t>(</a:t>
            </a:r>
            <a:r>
              <a:rPr sz="1150">
                <a:solidFill>
                  <a:srgbClr val="F6B26B"/>
                </a:solidFill>
                <a:latin typeface="Consolas"/>
              </a:rPr>
              <a:t>'max_power_unit'</a:t>
            </a:r>
            <a:r>
              <a:rPr sz="1150">
                <a:solidFill>
                  <a:srgbClr val="E8F6EF"/>
                </a:solidFill>
                <a:latin typeface="Consolas"/>
              </a:rPr>
              <a:t>,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axis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F2D45F"/>
                </a:solidFill>
                <a:latin typeface="Consolas"/>
              </a:rPr>
              <a:t>1</a:t>
            </a:r>
            <a:r>
              <a:rPr sz="1150">
                <a:solidFill>
                  <a:srgbClr val="E8F6EF"/>
                </a:solidFill>
                <a:latin typeface="Consolas"/>
              </a:rPr>
              <a:t>,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inplace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7BD389"/>
                </a:solidFill>
                <a:latin typeface="Consolas"/>
              </a:rPr>
              <a:t>True</a:t>
            </a:r>
            <a:r>
              <a:rPr sz="1150">
                <a:solidFill>
                  <a:srgbClr val="E8F6EF"/>
                </a:solidFill>
                <a:latin typeface="Consolas"/>
              </a:rPr>
              <a:t>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2011680"/>
            <a:ext cx="3657600" cy="4251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21031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F6F5A"/>
                </a:solidFill>
                <a:latin typeface="微软雅黑"/>
              </a:rPr>
              <a:t>🛡️  Try / Except 流程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75320" y="2560320"/>
            <a:ext cx="3200400" cy="594360"/>
          </a:xfrm>
          <a:prstGeom prst="round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2560320"/>
            <a:ext cx="3200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TRY  :  float(value)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32004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F6F5A"/>
                </a:solidFill>
                <a:latin typeface="微软雅黑"/>
              </a:rPr>
              <a:t>✓ 成功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40" y="320040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47A2C"/>
                </a:solidFill>
                <a:latin typeface="微软雅黑"/>
              </a:rPr>
              <a:t>✗ ValueError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75320" y="3520440"/>
            <a:ext cx="1417320" cy="548640"/>
          </a:xfrm>
          <a:prstGeom prst="roundRect">
            <a:avLst/>
          </a:prstGeom>
          <a:solidFill>
            <a:srgbClr val="E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3520440"/>
            <a:ext cx="1417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B2B2A"/>
                </a:solidFill>
                <a:latin typeface="微软雅黑"/>
              </a:rPr>
              <a:t>返回数字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12680" y="3520440"/>
            <a:ext cx="1554480" cy="548640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12680" y="352044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</a:rPr>
              <a:t>返回 np.NaN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75320" y="4251960"/>
            <a:ext cx="3200400" cy="1920240"/>
          </a:xfrm>
          <a:prstGeom prst="round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43434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4524A"/>
                </a:solidFill>
                <a:latin typeface="微软雅黑"/>
              </a:rPr>
              <a:t>💡  实战模式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617720"/>
            <a:ext cx="301752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「一行脏数据」让整条流水线停下,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现实中很常见。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→ try/except + apply 是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实战常用模式。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机器学习 · 第 9 章  随机森林 — 二手车价格预测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25 / 66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微软雅黑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微软雅黑"/>
              </a:rPr>
              <a:t>随机森林 — 二手车价格预测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微软雅黑"/>
              </a:rPr>
              <a:t>9.3.3   mileage 预处理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微软雅黑"/>
              </a:rPr>
              <a:t>9.3.3  mileage : 单位有两种! (kmpl vs km/kg)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微软雅黑"/>
              </a:rPr>
              <a:t>用各燃料单价换算成「每美元行驶里程」统一单位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7040880" cy="4251960"/>
          </a:xfrm>
          <a:prstGeom prst="roundRect">
            <a:avLst/>
          </a:prstGeom>
          <a:solidFill>
            <a:srgbClr val="0E1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" y="2157984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7824" y="2157984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42416" y="2157984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2121408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9AA7A0"/>
                </a:solidFill>
                <a:latin typeface="Consolas"/>
              </a:rPr>
              <a:t>mileage_preprocess.py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377440"/>
            <a:ext cx="6675120" cy="3794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>
                <a:solidFill>
                  <a:srgbClr val="9AA7A0"/>
                </a:solidFill>
                <a:latin typeface="Consolas"/>
              </a:rPr>
              <a:t># Step 1) split &amp; 转 float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data</a:t>
            </a:r>
            <a:r>
              <a:rPr sz="1150">
                <a:solidFill>
                  <a:srgbClr val="E8F6EF"/>
                </a:solidFill>
                <a:latin typeface="Consolas"/>
              </a:rPr>
              <a:t>[</a:t>
            </a:r>
            <a:r>
              <a:rPr sz="1150">
                <a:solidFill>
                  <a:srgbClr val="E8F6EF"/>
                </a:solidFill>
                <a:latin typeface="Consolas"/>
              </a:rPr>
              <a:t>[</a:t>
            </a:r>
            <a:r>
              <a:rPr sz="1150">
                <a:solidFill>
                  <a:srgbClr val="F6B26B"/>
                </a:solidFill>
                <a:latin typeface="Consolas"/>
              </a:rPr>
              <a:t>'mileage'</a:t>
            </a:r>
            <a:r>
              <a:rPr sz="1150">
                <a:solidFill>
                  <a:srgbClr val="E8F6EF"/>
                </a:solidFill>
                <a:latin typeface="Consolas"/>
              </a:rPr>
              <a:t>,</a:t>
            </a:r>
            <a:r>
              <a:rPr sz="1150">
                <a:solidFill>
                  <a:srgbClr val="F6B26B"/>
                </a:solidFill>
                <a:latin typeface="Consolas"/>
              </a:rPr>
              <a:t>'mileage_unit'</a:t>
            </a:r>
            <a:r>
              <a:rPr sz="1150">
                <a:solidFill>
                  <a:srgbClr val="E8F6EF"/>
                </a:solidFill>
                <a:latin typeface="Consolas"/>
              </a:rPr>
              <a:t>]</a:t>
            </a:r>
            <a:r>
              <a:rPr sz="1150">
                <a:solidFill>
                  <a:srgbClr val="E8F6EF"/>
                </a:solidFill>
                <a:latin typeface="Consolas"/>
              </a:rPr>
              <a:t>]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(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data</a:t>
            </a:r>
            <a:r>
              <a:rPr sz="1150">
                <a:solidFill>
                  <a:srgbClr val="E8F6EF"/>
                </a:solidFill>
                <a:latin typeface="Consolas"/>
              </a:rPr>
              <a:t>[</a:t>
            </a:r>
            <a:r>
              <a:rPr sz="1150">
                <a:solidFill>
                  <a:srgbClr val="F6B26B"/>
                </a:solidFill>
                <a:latin typeface="Consolas"/>
              </a:rPr>
              <a:t>'mileage'</a:t>
            </a:r>
            <a:r>
              <a:rPr sz="1150">
                <a:solidFill>
                  <a:srgbClr val="E8F6EF"/>
                </a:solidFill>
                <a:latin typeface="Consolas"/>
              </a:rPr>
              <a:t>]</a:t>
            </a:r>
            <a:r>
              <a:rPr sz="1150">
                <a:solidFill>
                  <a:srgbClr val="E8F6EF"/>
                </a:solidFill>
                <a:latin typeface="Consolas"/>
              </a:rPr>
              <a:t>.</a:t>
            </a:r>
            <a:r>
              <a:rPr sz="1150">
                <a:solidFill>
                  <a:srgbClr val="8FB8E0"/>
                </a:solidFill>
                <a:latin typeface="Consolas"/>
              </a:rPr>
              <a:t>str</a:t>
            </a:r>
            <a:r>
              <a:rPr sz="1150">
                <a:solidFill>
                  <a:srgbClr val="E8F6EF"/>
                </a:solidFill>
                <a:latin typeface="Consolas"/>
              </a:rPr>
              <a:t>.</a:t>
            </a:r>
            <a:r>
              <a:rPr sz="1150">
                <a:solidFill>
                  <a:srgbClr val="E8F6EF"/>
                </a:solidFill>
                <a:latin typeface="Consolas"/>
              </a:rPr>
              <a:t>split</a:t>
            </a:r>
            <a:r>
              <a:rPr sz="1150">
                <a:solidFill>
                  <a:srgbClr val="E8F6EF"/>
                </a:solidFill>
                <a:latin typeface="Consolas"/>
              </a:rPr>
              <a:t>(</a:t>
            </a:r>
            <a:r>
              <a:rPr sz="1150">
                <a:solidFill>
                  <a:srgbClr val="E8F6EF"/>
                </a:solidFill>
                <a:latin typeface="Consolas"/>
              </a:rPr>
              <a:t>expand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7BD389"/>
                </a:solidFill>
                <a:latin typeface="Consolas"/>
              </a:rPr>
              <a:t>True</a:t>
            </a:r>
            <a:r>
              <a:rPr sz="11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data</a:t>
            </a:r>
            <a:r>
              <a:rPr sz="1150">
                <a:solidFill>
                  <a:srgbClr val="E8F6EF"/>
                </a:solidFill>
                <a:latin typeface="Consolas"/>
              </a:rPr>
              <a:t>[</a:t>
            </a:r>
            <a:r>
              <a:rPr sz="1150">
                <a:solidFill>
                  <a:srgbClr val="F6B26B"/>
                </a:solidFill>
                <a:latin typeface="Consolas"/>
              </a:rPr>
              <a:t>'mileage'</a:t>
            </a:r>
            <a:r>
              <a:rPr sz="1150">
                <a:solidFill>
                  <a:srgbClr val="E8F6EF"/>
                </a:solidFill>
                <a:latin typeface="Consolas"/>
              </a:rPr>
              <a:t>]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data</a:t>
            </a:r>
            <a:r>
              <a:rPr sz="1150">
                <a:solidFill>
                  <a:srgbClr val="E8F6EF"/>
                </a:solidFill>
                <a:latin typeface="Consolas"/>
              </a:rPr>
              <a:t>[</a:t>
            </a:r>
            <a:r>
              <a:rPr sz="1150">
                <a:solidFill>
                  <a:srgbClr val="F6B26B"/>
                </a:solidFill>
                <a:latin typeface="Consolas"/>
              </a:rPr>
              <a:t>'mileage'</a:t>
            </a:r>
            <a:r>
              <a:rPr sz="1150">
                <a:solidFill>
                  <a:srgbClr val="E8F6EF"/>
                </a:solidFill>
                <a:latin typeface="Consolas"/>
              </a:rPr>
              <a:t>]</a:t>
            </a:r>
            <a:r>
              <a:rPr sz="1150">
                <a:solidFill>
                  <a:srgbClr val="E8F6EF"/>
                </a:solidFill>
                <a:latin typeface="Consolas"/>
              </a:rPr>
              <a:t>.</a:t>
            </a:r>
            <a:r>
              <a:rPr sz="1150">
                <a:solidFill>
                  <a:srgbClr val="E8F6EF"/>
                </a:solidFill>
                <a:latin typeface="Consolas"/>
              </a:rPr>
              <a:t>astype</a:t>
            </a:r>
            <a:r>
              <a:rPr sz="1150">
                <a:solidFill>
                  <a:srgbClr val="E8F6EF"/>
                </a:solidFill>
                <a:latin typeface="Consolas"/>
              </a:rPr>
              <a:t>(</a:t>
            </a:r>
            <a:r>
              <a:rPr sz="1150">
                <a:solidFill>
                  <a:srgbClr val="F6B26B"/>
                </a:solidFill>
                <a:latin typeface="Consolas"/>
              </a:rPr>
              <a:t>'float32'</a:t>
            </a:r>
            <a:r>
              <a:rPr sz="11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</a:pPr>
            <a:r>
              <a:rPr sz="1150">
                <a:latin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9AA7A0"/>
                </a:solidFill>
                <a:latin typeface="Consolas"/>
              </a:rPr>
              <a:t># Step 2) 按燃料单价换算 (每美元行驶里程)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7BD389"/>
                </a:solidFill>
                <a:latin typeface="Consolas"/>
              </a:rPr>
              <a:t>def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mile</a:t>
            </a:r>
            <a:r>
              <a:rPr sz="1150">
                <a:solidFill>
                  <a:srgbClr val="E8F6EF"/>
                </a:solidFill>
                <a:latin typeface="Consolas"/>
              </a:rPr>
              <a:t>(</a:t>
            </a:r>
            <a:r>
              <a:rPr sz="1150">
                <a:solidFill>
                  <a:srgbClr val="E8F6EF"/>
                </a:solidFill>
                <a:latin typeface="Consolas"/>
              </a:rPr>
              <a:t>x</a:t>
            </a:r>
            <a:r>
              <a:rPr sz="1150">
                <a:solidFill>
                  <a:srgbClr val="E8F6EF"/>
                </a:solidFill>
                <a:latin typeface="Consolas"/>
              </a:rPr>
              <a:t>)</a:t>
            </a:r>
            <a:r>
              <a:rPr sz="1150">
                <a:solidFill>
                  <a:srgbClr val="E8F6EF"/>
                </a:solidFill>
                <a:latin typeface="Consolas"/>
              </a:rPr>
              <a:t>: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7BD389"/>
                </a:solidFill>
                <a:latin typeface="Consolas"/>
              </a:rPr>
              <a:t>if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x</a:t>
            </a:r>
            <a:r>
              <a:rPr sz="1150">
                <a:solidFill>
                  <a:srgbClr val="E8F6EF"/>
                </a:solidFill>
                <a:latin typeface="Consolas"/>
              </a:rPr>
              <a:t>[</a:t>
            </a:r>
            <a:r>
              <a:rPr sz="1150">
                <a:solidFill>
                  <a:srgbClr val="F6B26B"/>
                </a:solidFill>
                <a:latin typeface="Consolas"/>
              </a:rPr>
              <a:t>'fuel'</a:t>
            </a:r>
            <a:r>
              <a:rPr sz="1150">
                <a:solidFill>
                  <a:srgbClr val="E8F6EF"/>
                </a:solidFill>
                <a:latin typeface="Consolas"/>
              </a:rPr>
              <a:t>]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F6B26B"/>
                </a:solidFill>
                <a:latin typeface="Consolas"/>
              </a:rPr>
              <a:t>'Petrol'</a:t>
            </a:r>
            <a:r>
              <a:rPr sz="1150">
                <a:solidFill>
                  <a:srgbClr val="E8F6EF"/>
                </a:solidFill>
                <a:latin typeface="Consolas"/>
              </a:rPr>
              <a:t>: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7BD389"/>
                </a:solidFill>
                <a:latin typeface="Consolas"/>
              </a:rPr>
              <a:t>return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x</a:t>
            </a:r>
            <a:r>
              <a:rPr sz="1150">
                <a:solidFill>
                  <a:srgbClr val="E8F6EF"/>
                </a:solidFill>
                <a:latin typeface="Consolas"/>
              </a:rPr>
              <a:t>[</a:t>
            </a:r>
            <a:r>
              <a:rPr sz="1150">
                <a:solidFill>
                  <a:srgbClr val="F6B26B"/>
                </a:solidFill>
                <a:latin typeface="Consolas"/>
              </a:rPr>
              <a:t>'mileage'</a:t>
            </a:r>
            <a:r>
              <a:rPr sz="1150">
                <a:solidFill>
                  <a:srgbClr val="E8F6EF"/>
                </a:solidFill>
                <a:latin typeface="Consolas"/>
              </a:rPr>
              <a:t>]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/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F2D45F"/>
                </a:solidFill>
                <a:latin typeface="Consolas"/>
              </a:rPr>
              <a:t>80.43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7BD389"/>
                </a:solidFill>
                <a:latin typeface="Consolas"/>
              </a:rPr>
              <a:t>elif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x</a:t>
            </a:r>
            <a:r>
              <a:rPr sz="1150">
                <a:solidFill>
                  <a:srgbClr val="E8F6EF"/>
                </a:solidFill>
                <a:latin typeface="Consolas"/>
              </a:rPr>
              <a:t>[</a:t>
            </a:r>
            <a:r>
              <a:rPr sz="1150">
                <a:solidFill>
                  <a:srgbClr val="F6B26B"/>
                </a:solidFill>
                <a:latin typeface="Consolas"/>
              </a:rPr>
              <a:t>'fuel'</a:t>
            </a:r>
            <a:r>
              <a:rPr sz="1150">
                <a:solidFill>
                  <a:srgbClr val="E8F6EF"/>
                </a:solidFill>
                <a:latin typeface="Consolas"/>
              </a:rPr>
              <a:t>]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F6B26B"/>
                </a:solidFill>
                <a:latin typeface="Consolas"/>
              </a:rPr>
              <a:t>'Diesel'</a:t>
            </a:r>
            <a:r>
              <a:rPr sz="1150">
                <a:solidFill>
                  <a:srgbClr val="E8F6EF"/>
                </a:solidFill>
                <a:latin typeface="Consolas"/>
              </a:rPr>
              <a:t>: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7BD389"/>
                </a:solidFill>
                <a:latin typeface="Consolas"/>
              </a:rPr>
              <a:t>return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x</a:t>
            </a:r>
            <a:r>
              <a:rPr sz="1150">
                <a:solidFill>
                  <a:srgbClr val="E8F6EF"/>
                </a:solidFill>
                <a:latin typeface="Consolas"/>
              </a:rPr>
              <a:t>[</a:t>
            </a:r>
            <a:r>
              <a:rPr sz="1150">
                <a:solidFill>
                  <a:srgbClr val="F6B26B"/>
                </a:solidFill>
                <a:latin typeface="Consolas"/>
              </a:rPr>
              <a:t>'mileage'</a:t>
            </a:r>
            <a:r>
              <a:rPr sz="1150">
                <a:solidFill>
                  <a:srgbClr val="E8F6EF"/>
                </a:solidFill>
                <a:latin typeface="Consolas"/>
              </a:rPr>
              <a:t>]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/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F2D45F"/>
                </a:solidFill>
                <a:latin typeface="Consolas"/>
              </a:rPr>
              <a:t>73.56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7BD389"/>
                </a:solidFill>
                <a:latin typeface="Consolas"/>
              </a:rPr>
              <a:t>elif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x</a:t>
            </a:r>
            <a:r>
              <a:rPr sz="1150">
                <a:solidFill>
                  <a:srgbClr val="E8F6EF"/>
                </a:solidFill>
                <a:latin typeface="Consolas"/>
              </a:rPr>
              <a:t>[</a:t>
            </a:r>
            <a:r>
              <a:rPr sz="1150">
                <a:solidFill>
                  <a:srgbClr val="F6B26B"/>
                </a:solidFill>
                <a:latin typeface="Consolas"/>
              </a:rPr>
              <a:t>'fuel'</a:t>
            </a:r>
            <a:r>
              <a:rPr sz="1150">
                <a:solidFill>
                  <a:srgbClr val="E8F6EF"/>
                </a:solidFill>
                <a:latin typeface="Consolas"/>
              </a:rPr>
              <a:t>]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F6B26B"/>
                </a:solidFill>
                <a:latin typeface="Consolas"/>
              </a:rPr>
              <a:t>'LPG'</a:t>
            </a:r>
            <a:r>
              <a:rPr sz="1150">
                <a:solidFill>
                  <a:srgbClr val="E8F6EF"/>
                </a:solidFill>
                <a:latin typeface="Consolas"/>
              </a:rPr>
              <a:t>: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7BD389"/>
                </a:solidFill>
                <a:latin typeface="Consolas"/>
              </a:rPr>
              <a:t>return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x</a:t>
            </a:r>
            <a:r>
              <a:rPr sz="1150">
                <a:solidFill>
                  <a:srgbClr val="E8F6EF"/>
                </a:solidFill>
                <a:latin typeface="Consolas"/>
              </a:rPr>
              <a:t>[</a:t>
            </a:r>
            <a:r>
              <a:rPr sz="1150">
                <a:solidFill>
                  <a:srgbClr val="F6B26B"/>
                </a:solidFill>
                <a:latin typeface="Consolas"/>
              </a:rPr>
              <a:t>'mileage'</a:t>
            </a:r>
            <a:r>
              <a:rPr sz="1150">
                <a:solidFill>
                  <a:srgbClr val="E8F6EF"/>
                </a:solidFill>
                <a:latin typeface="Consolas"/>
              </a:rPr>
              <a:t>]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/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F2D45F"/>
                </a:solidFill>
                <a:latin typeface="Consolas"/>
              </a:rPr>
              <a:t>40.85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7BD389"/>
                </a:solidFill>
                <a:latin typeface="Consolas"/>
              </a:rPr>
              <a:t>else</a:t>
            </a:r>
            <a:r>
              <a:rPr sz="1150">
                <a:solidFill>
                  <a:srgbClr val="E8F6EF"/>
                </a:solidFill>
                <a:latin typeface="Consolas"/>
              </a:rPr>
              <a:t>: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7BD389"/>
                </a:solidFill>
                <a:latin typeface="Consolas"/>
              </a:rPr>
              <a:t>return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x</a:t>
            </a:r>
            <a:r>
              <a:rPr sz="1150">
                <a:solidFill>
                  <a:srgbClr val="E8F6EF"/>
                </a:solidFill>
                <a:latin typeface="Consolas"/>
              </a:rPr>
              <a:t>[</a:t>
            </a:r>
            <a:r>
              <a:rPr sz="1150">
                <a:solidFill>
                  <a:srgbClr val="F6B26B"/>
                </a:solidFill>
                <a:latin typeface="Consolas"/>
              </a:rPr>
              <a:t>'mileage'</a:t>
            </a:r>
            <a:r>
              <a:rPr sz="1150">
                <a:solidFill>
                  <a:srgbClr val="E8F6EF"/>
                </a:solidFill>
                <a:latin typeface="Consolas"/>
              </a:rPr>
              <a:t>]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/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F2D45F"/>
                </a:solidFill>
                <a:latin typeface="Consolas"/>
              </a:rPr>
              <a:t>44.23</a:t>
            </a:r>
          </a:p>
          <a:p>
            <a:pPr>
              <a:lnSpc>
                <a:spcPct val="118000"/>
              </a:lnSpc>
            </a:pPr>
            <a:r>
              <a:rPr sz="1150">
                <a:latin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data</a:t>
            </a:r>
            <a:r>
              <a:rPr sz="1150">
                <a:solidFill>
                  <a:srgbClr val="E8F6EF"/>
                </a:solidFill>
                <a:latin typeface="Consolas"/>
              </a:rPr>
              <a:t>[</a:t>
            </a:r>
            <a:r>
              <a:rPr sz="1150">
                <a:solidFill>
                  <a:srgbClr val="F6B26B"/>
                </a:solidFill>
                <a:latin typeface="Consolas"/>
              </a:rPr>
              <a:t>'mileage'</a:t>
            </a:r>
            <a:r>
              <a:rPr sz="1150">
                <a:solidFill>
                  <a:srgbClr val="E8F6EF"/>
                </a:solidFill>
                <a:latin typeface="Consolas"/>
              </a:rPr>
              <a:t>]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data</a:t>
            </a:r>
            <a:r>
              <a:rPr sz="1150">
                <a:solidFill>
                  <a:srgbClr val="E8F6EF"/>
                </a:solidFill>
                <a:latin typeface="Consolas"/>
              </a:rPr>
              <a:t>.</a:t>
            </a:r>
            <a:r>
              <a:rPr sz="1150">
                <a:solidFill>
                  <a:srgbClr val="E8F6EF"/>
                </a:solidFill>
                <a:latin typeface="Consolas"/>
              </a:rPr>
              <a:t>apply</a:t>
            </a:r>
            <a:r>
              <a:rPr sz="1150">
                <a:solidFill>
                  <a:srgbClr val="E8F6EF"/>
                </a:solidFill>
                <a:latin typeface="Consolas"/>
              </a:rPr>
              <a:t>(</a:t>
            </a:r>
            <a:r>
              <a:rPr sz="1150">
                <a:solidFill>
                  <a:srgbClr val="E8F6EF"/>
                </a:solidFill>
                <a:latin typeface="Consolas"/>
              </a:rPr>
              <a:t>mile</a:t>
            </a:r>
            <a:r>
              <a:rPr sz="1150">
                <a:solidFill>
                  <a:srgbClr val="E8F6EF"/>
                </a:solidFill>
                <a:latin typeface="Consolas"/>
              </a:rPr>
              <a:t>,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axis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F2D45F"/>
                </a:solidFill>
                <a:latin typeface="Consolas"/>
              </a:rPr>
              <a:t>1</a:t>
            </a:r>
            <a:r>
              <a:rPr sz="11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data</a:t>
            </a:r>
            <a:r>
              <a:rPr sz="1150">
                <a:solidFill>
                  <a:srgbClr val="E8F6EF"/>
                </a:solidFill>
                <a:latin typeface="Consolas"/>
              </a:rPr>
              <a:t>.</a:t>
            </a:r>
            <a:r>
              <a:rPr sz="1150">
                <a:solidFill>
                  <a:srgbClr val="E8F6EF"/>
                </a:solidFill>
                <a:latin typeface="Consolas"/>
              </a:rPr>
              <a:t>drop</a:t>
            </a:r>
            <a:r>
              <a:rPr sz="1150">
                <a:solidFill>
                  <a:srgbClr val="E8F6EF"/>
                </a:solidFill>
                <a:latin typeface="Consolas"/>
              </a:rPr>
              <a:t>(</a:t>
            </a:r>
            <a:r>
              <a:rPr sz="1150">
                <a:solidFill>
                  <a:srgbClr val="F6B26B"/>
                </a:solidFill>
                <a:latin typeface="Consolas"/>
              </a:rPr>
              <a:t>'mileage_unit'</a:t>
            </a:r>
            <a:r>
              <a:rPr sz="1150">
                <a:solidFill>
                  <a:srgbClr val="E8F6EF"/>
                </a:solidFill>
                <a:latin typeface="Consolas"/>
              </a:rPr>
              <a:t>,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axis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F2D45F"/>
                </a:solidFill>
                <a:latin typeface="Consolas"/>
              </a:rPr>
              <a:t>1</a:t>
            </a:r>
            <a:r>
              <a:rPr sz="1150">
                <a:solidFill>
                  <a:srgbClr val="E8F6EF"/>
                </a:solidFill>
                <a:latin typeface="Consolas"/>
              </a:rPr>
              <a:t>,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inplace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7BD389"/>
                </a:solidFill>
                <a:latin typeface="Consolas"/>
              </a:rPr>
              <a:t>True</a:t>
            </a:r>
            <a:r>
              <a:rPr sz="1150">
                <a:solidFill>
                  <a:srgbClr val="E8F6EF"/>
                </a:solidFill>
                <a:latin typeface="Consolas"/>
              </a:rPr>
              <a:t>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2011680"/>
            <a:ext cx="393192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210312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F6F5A"/>
                </a:solidFill>
                <a:latin typeface="微软雅黑"/>
              </a:rPr>
              <a:t>⛽  各燃料单价 (示例)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79" y="2560320"/>
            <a:ext cx="1097280" cy="365760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79" y="256032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微软雅黑"/>
              </a:rPr>
              <a:t>Petrol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2560320"/>
            <a:ext cx="2377440" cy="365760"/>
          </a:xfrm>
          <a:prstGeom prst="round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25603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B2B2A"/>
                </a:solidFill>
                <a:latin typeface="Consolas"/>
              </a:rPr>
              <a:t>每升 $80.43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79" y="2971800"/>
            <a:ext cx="1097280" cy="365760"/>
          </a:xfrm>
          <a:prstGeom prst="round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79" y="29718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微软雅黑"/>
              </a:rPr>
              <a:t>Diesel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0" y="2971800"/>
            <a:ext cx="2377440" cy="365760"/>
          </a:xfrm>
          <a:prstGeom prst="round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0" y="29718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B2B2A"/>
                </a:solidFill>
                <a:latin typeface="Consolas"/>
              </a:rPr>
              <a:t>每升 $73.56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55279" y="3383280"/>
            <a:ext cx="1097280" cy="365760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5279" y="338328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微软雅黑"/>
              </a:rPr>
              <a:t>LPG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0" y="3383280"/>
            <a:ext cx="2377440" cy="365760"/>
          </a:xfrm>
          <a:prstGeom prst="round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0" y="33832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B2B2A"/>
                </a:solidFill>
                <a:latin typeface="Consolas"/>
              </a:rPr>
              <a:t>每千克 $40.85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55279" y="3794760"/>
            <a:ext cx="1097280" cy="365760"/>
          </a:xfrm>
          <a:prstGeom prst="roundRect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79" y="379476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微软雅黑"/>
              </a:rPr>
              <a:t>CNG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0" y="3794760"/>
            <a:ext cx="2377440" cy="365760"/>
          </a:xfrm>
          <a:prstGeom prst="round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0" y="37947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B2B2A"/>
                </a:solidFill>
                <a:latin typeface="Consolas"/>
              </a:rPr>
              <a:t>每千克 $44.23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0" y="4526280"/>
            <a:ext cx="3931920" cy="173736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09560" y="46177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2A44F"/>
                </a:solidFill>
                <a:latin typeface="微软雅黑"/>
              </a:rPr>
              <a:t>📌  apply(func, axis=1)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09560" y="4937760"/>
            <a:ext cx="3657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FFFFFF"/>
                </a:solidFill>
                <a:latin typeface="微软雅黑"/>
              </a:rPr>
              <a:t>axis=1 → 按行传入。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FFFFFF"/>
                </a:solidFill>
                <a:latin typeface="微软雅黑"/>
              </a:rPr>
              <a:t>函数内可同时引用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FFFFFF"/>
                </a:solidFill>
                <a:latin typeface="微软雅黑"/>
              </a:rPr>
              <a:t>多列变量。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FFFFFF"/>
                </a:solidFill>
                <a:latin typeface="微软雅黑"/>
              </a:rPr>
              <a:t>(大数据建议向量化)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机器学习 · 第 9 章  随机森林 — 二手车价格预测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26 / 66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微软雅黑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微软雅黑"/>
              </a:rPr>
              <a:t>随机森林 — 二手车价格预测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微软雅黑"/>
              </a:rPr>
              <a:t>9.3.4   torque 预处理 (4 步)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微软雅黑"/>
              </a:rPr>
              <a:t>9.3.4  torque : 攻克最脏的一列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微软雅黑"/>
              </a:rPr>
              <a:t>'190Nm@2000rpm'、'22.4 kgm at 1750-2750rpm' … 格式百变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7680960" cy="4297680"/>
          </a:xfrm>
          <a:prstGeom prst="roundRect">
            <a:avLst/>
          </a:prstGeom>
          <a:solidFill>
            <a:srgbClr val="0E1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" y="2157984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7824" y="2157984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42416" y="2157984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2121408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9AA7A0"/>
                </a:solidFill>
                <a:latin typeface="Consolas"/>
              </a:rPr>
              <a:t>torque_preprocess.py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377440"/>
            <a:ext cx="73152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950">
                <a:solidFill>
                  <a:srgbClr val="9AA7A0"/>
                </a:solidFill>
                <a:latin typeface="Consolas"/>
              </a:rPr>
              <a:t># ① 大小写统一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data</a:t>
            </a:r>
            <a:r>
              <a:rPr sz="950">
                <a:solidFill>
                  <a:srgbClr val="E8F6EF"/>
                </a:solidFill>
                <a:latin typeface="Consolas"/>
              </a:rPr>
              <a:t>[</a:t>
            </a:r>
            <a:r>
              <a:rPr sz="950">
                <a:solidFill>
                  <a:srgbClr val="F6B26B"/>
                </a:solidFill>
                <a:latin typeface="Consolas"/>
              </a:rPr>
              <a:t>'torque'</a:t>
            </a:r>
            <a:r>
              <a:rPr sz="950">
                <a:solidFill>
                  <a:srgbClr val="E8F6EF"/>
                </a:solidFill>
                <a:latin typeface="Consolas"/>
              </a:rPr>
              <a:t>]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=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data</a:t>
            </a:r>
            <a:r>
              <a:rPr sz="950">
                <a:solidFill>
                  <a:srgbClr val="E8F6EF"/>
                </a:solidFill>
                <a:latin typeface="Consolas"/>
              </a:rPr>
              <a:t>[</a:t>
            </a:r>
            <a:r>
              <a:rPr sz="950">
                <a:solidFill>
                  <a:srgbClr val="F6B26B"/>
                </a:solidFill>
                <a:latin typeface="Consolas"/>
              </a:rPr>
              <a:t>'torque'</a:t>
            </a:r>
            <a:r>
              <a:rPr sz="950">
                <a:solidFill>
                  <a:srgbClr val="E8F6EF"/>
                </a:solidFill>
                <a:latin typeface="Consolas"/>
              </a:rPr>
              <a:t>]</a:t>
            </a:r>
            <a:r>
              <a:rPr sz="950">
                <a:solidFill>
                  <a:srgbClr val="E8F6EF"/>
                </a:solidFill>
                <a:latin typeface="Consolas"/>
              </a:rPr>
              <a:t>.</a:t>
            </a:r>
            <a:r>
              <a:rPr sz="950">
                <a:solidFill>
                  <a:srgbClr val="8FB8E0"/>
                </a:solidFill>
                <a:latin typeface="Consolas"/>
              </a:rPr>
              <a:t>str</a:t>
            </a:r>
            <a:r>
              <a:rPr sz="950">
                <a:solidFill>
                  <a:srgbClr val="E8F6EF"/>
                </a:solidFill>
                <a:latin typeface="Consolas"/>
              </a:rPr>
              <a:t>.</a:t>
            </a:r>
            <a:r>
              <a:rPr sz="950">
                <a:solidFill>
                  <a:srgbClr val="E8F6EF"/>
                </a:solidFill>
                <a:latin typeface="Consolas"/>
              </a:rPr>
              <a:t>upper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</a:pPr>
            <a:r>
              <a:rPr sz="950">
                <a:latin typeface="Consolas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9AA7A0"/>
                </a:solidFill>
                <a:latin typeface="Consolas"/>
              </a:rPr>
              <a:t># ② 提取单位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7BD389"/>
                </a:solidFill>
                <a:latin typeface="Consolas"/>
              </a:rPr>
              <a:t>def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torque_unit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  <a:r>
              <a:rPr sz="950">
                <a:solidFill>
                  <a:srgbClr val="E8F6EF"/>
                </a:solidFill>
                <a:latin typeface="Consolas"/>
              </a:rPr>
              <a:t>x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  <a:r>
              <a:rPr sz="950">
                <a:solidFill>
                  <a:srgbClr val="E8F6EF"/>
                </a:solidFill>
                <a:latin typeface="Consolas"/>
              </a:rPr>
              <a:t>: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7BD389"/>
                </a:solidFill>
                <a:latin typeface="Consolas"/>
              </a:rPr>
              <a:t>if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F6B26B"/>
                </a:solidFill>
                <a:latin typeface="Consolas"/>
              </a:rPr>
              <a:t>'NM'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7BD389"/>
                </a:solidFill>
                <a:latin typeface="Consolas"/>
              </a:rPr>
              <a:t>in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8FB8E0"/>
                </a:solidFill>
                <a:latin typeface="Consolas"/>
              </a:rPr>
              <a:t>str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  <a:r>
              <a:rPr sz="950">
                <a:solidFill>
                  <a:srgbClr val="E8F6EF"/>
                </a:solidFill>
                <a:latin typeface="Consolas"/>
              </a:rPr>
              <a:t>x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  <a:r>
              <a:rPr sz="950">
                <a:solidFill>
                  <a:srgbClr val="E8F6EF"/>
                </a:solidFill>
                <a:latin typeface="Consolas"/>
              </a:rPr>
              <a:t>: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7BD389"/>
                </a:solidFill>
                <a:latin typeface="Consolas"/>
              </a:rPr>
              <a:t>return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F6B26B"/>
                </a:solidFill>
                <a:latin typeface="Consolas"/>
              </a:rPr>
              <a:t>'Nm'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7BD389"/>
                </a:solidFill>
                <a:latin typeface="Consolas"/>
              </a:rPr>
              <a:t>elif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F6B26B"/>
                </a:solidFill>
                <a:latin typeface="Consolas"/>
              </a:rPr>
              <a:t>'KGM'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7BD389"/>
                </a:solidFill>
                <a:latin typeface="Consolas"/>
              </a:rPr>
              <a:t>in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8FB8E0"/>
                </a:solidFill>
                <a:latin typeface="Consolas"/>
              </a:rPr>
              <a:t>str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  <a:r>
              <a:rPr sz="950">
                <a:solidFill>
                  <a:srgbClr val="E8F6EF"/>
                </a:solidFill>
                <a:latin typeface="Consolas"/>
              </a:rPr>
              <a:t>x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  <a:r>
              <a:rPr sz="950">
                <a:solidFill>
                  <a:srgbClr val="E8F6EF"/>
                </a:solidFill>
                <a:latin typeface="Consolas"/>
              </a:rPr>
              <a:t>: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7BD389"/>
                </a:solidFill>
                <a:latin typeface="Consolas"/>
              </a:rPr>
              <a:t>return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F6B26B"/>
                </a:solidFill>
                <a:latin typeface="Consolas"/>
              </a:rPr>
              <a:t>'kgm'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data</a:t>
            </a:r>
            <a:r>
              <a:rPr sz="950">
                <a:solidFill>
                  <a:srgbClr val="E8F6EF"/>
                </a:solidFill>
                <a:latin typeface="Consolas"/>
              </a:rPr>
              <a:t>[</a:t>
            </a:r>
            <a:r>
              <a:rPr sz="950">
                <a:solidFill>
                  <a:srgbClr val="F6B26B"/>
                </a:solidFill>
                <a:latin typeface="Consolas"/>
              </a:rPr>
              <a:t>'torque_unit'</a:t>
            </a:r>
            <a:r>
              <a:rPr sz="950">
                <a:solidFill>
                  <a:srgbClr val="E8F6EF"/>
                </a:solidFill>
                <a:latin typeface="Consolas"/>
              </a:rPr>
              <a:t>]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=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data</a:t>
            </a:r>
            <a:r>
              <a:rPr sz="950">
                <a:solidFill>
                  <a:srgbClr val="E8F6EF"/>
                </a:solidFill>
                <a:latin typeface="Consolas"/>
              </a:rPr>
              <a:t>[</a:t>
            </a:r>
            <a:r>
              <a:rPr sz="950">
                <a:solidFill>
                  <a:srgbClr val="F6B26B"/>
                </a:solidFill>
                <a:latin typeface="Consolas"/>
              </a:rPr>
              <a:t>'torque'</a:t>
            </a:r>
            <a:r>
              <a:rPr sz="950">
                <a:solidFill>
                  <a:srgbClr val="E8F6EF"/>
                </a:solidFill>
                <a:latin typeface="Consolas"/>
              </a:rPr>
              <a:t>]</a:t>
            </a:r>
            <a:r>
              <a:rPr sz="950">
                <a:solidFill>
                  <a:srgbClr val="E8F6EF"/>
                </a:solidFill>
                <a:latin typeface="Consolas"/>
              </a:rPr>
              <a:t>.</a:t>
            </a:r>
            <a:r>
              <a:rPr sz="950">
                <a:solidFill>
                  <a:srgbClr val="E8F6EF"/>
                </a:solidFill>
                <a:latin typeface="Consolas"/>
              </a:rPr>
              <a:t>apply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  <a:r>
              <a:rPr sz="950">
                <a:solidFill>
                  <a:srgbClr val="E8F6EF"/>
                </a:solidFill>
                <a:latin typeface="Consolas"/>
              </a:rPr>
              <a:t>torque_unit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data</a:t>
            </a:r>
            <a:r>
              <a:rPr sz="950">
                <a:solidFill>
                  <a:srgbClr val="E8F6EF"/>
                </a:solidFill>
                <a:latin typeface="Consolas"/>
              </a:rPr>
              <a:t>[</a:t>
            </a:r>
            <a:r>
              <a:rPr sz="950">
                <a:solidFill>
                  <a:srgbClr val="F6B26B"/>
                </a:solidFill>
                <a:latin typeface="Consolas"/>
              </a:rPr>
              <a:t>'torque_unit'</a:t>
            </a:r>
            <a:r>
              <a:rPr sz="950">
                <a:solidFill>
                  <a:srgbClr val="E8F6EF"/>
                </a:solidFill>
                <a:latin typeface="Consolas"/>
              </a:rPr>
              <a:t>]</a:t>
            </a:r>
            <a:r>
              <a:rPr sz="950">
                <a:solidFill>
                  <a:srgbClr val="E8F6EF"/>
                </a:solidFill>
                <a:latin typeface="Consolas"/>
              </a:rPr>
              <a:t>.</a:t>
            </a:r>
            <a:r>
              <a:rPr sz="950">
                <a:solidFill>
                  <a:srgbClr val="E8F6EF"/>
                </a:solidFill>
                <a:latin typeface="Consolas"/>
              </a:rPr>
              <a:t>fillna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  <a:r>
              <a:rPr sz="950">
                <a:solidFill>
                  <a:srgbClr val="F6B26B"/>
                </a:solidFill>
                <a:latin typeface="Consolas"/>
              </a:rPr>
              <a:t>'Nm'</a:t>
            </a:r>
            <a:r>
              <a:rPr sz="950">
                <a:solidFill>
                  <a:srgbClr val="E8F6EF"/>
                </a:solidFill>
                <a:latin typeface="Consolas"/>
              </a:rPr>
              <a:t>,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inplace</a:t>
            </a:r>
            <a:r>
              <a:rPr sz="950">
                <a:solidFill>
                  <a:srgbClr val="E8F6EF"/>
                </a:solidFill>
                <a:latin typeface="Consolas"/>
              </a:rPr>
              <a:t>=</a:t>
            </a:r>
            <a:r>
              <a:rPr sz="950">
                <a:solidFill>
                  <a:srgbClr val="7BD389"/>
                </a:solidFill>
                <a:latin typeface="Consolas"/>
              </a:rPr>
              <a:t>True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9AA7A0"/>
                </a:solidFill>
                <a:latin typeface="Consolas"/>
              </a:rPr>
              <a:t># 未知单位 → Nm</a:t>
            </a:r>
          </a:p>
          <a:p>
            <a:pPr>
              <a:lnSpc>
                <a:spcPct val="105000"/>
              </a:lnSpc>
            </a:pPr>
            <a:r>
              <a:rPr sz="950">
                <a:latin typeface="Consolas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9AA7A0"/>
                </a:solidFill>
                <a:latin typeface="Consolas"/>
              </a:rPr>
              <a:t># ③ 提取开头数字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7BD389"/>
                </a:solidFill>
                <a:latin typeface="Consolas"/>
              </a:rPr>
              <a:t>def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split_num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  <a:r>
              <a:rPr sz="950">
                <a:solidFill>
                  <a:srgbClr val="E8F6EF"/>
                </a:solidFill>
                <a:latin typeface="Consolas"/>
              </a:rPr>
              <a:t>x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  <a:r>
              <a:rPr sz="950">
                <a:solidFill>
                  <a:srgbClr val="E8F6EF"/>
                </a:solidFill>
                <a:latin typeface="Consolas"/>
              </a:rPr>
              <a:t>: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x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=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8FB8E0"/>
                </a:solidFill>
                <a:latin typeface="Consolas"/>
              </a:rPr>
              <a:t>str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  <a:r>
              <a:rPr sz="950">
                <a:solidFill>
                  <a:srgbClr val="E8F6EF"/>
                </a:solidFill>
                <a:latin typeface="Consolas"/>
              </a:rPr>
              <a:t>x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7BD389"/>
                </a:solidFill>
                <a:latin typeface="Consolas"/>
              </a:rPr>
              <a:t>for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i</a:t>
            </a:r>
            <a:r>
              <a:rPr sz="950">
                <a:solidFill>
                  <a:srgbClr val="E8F6EF"/>
                </a:solidFill>
                <a:latin typeface="Consolas"/>
              </a:rPr>
              <a:t>,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ch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7BD389"/>
                </a:solidFill>
                <a:latin typeface="Consolas"/>
              </a:rPr>
              <a:t>in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8FB8E0"/>
                </a:solidFill>
                <a:latin typeface="Consolas"/>
              </a:rPr>
              <a:t>enumerate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  <a:r>
              <a:rPr sz="950">
                <a:solidFill>
                  <a:srgbClr val="E8F6EF"/>
                </a:solidFill>
                <a:latin typeface="Consolas"/>
              </a:rPr>
              <a:t>x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  <a:r>
              <a:rPr sz="950">
                <a:solidFill>
                  <a:srgbClr val="E8F6EF"/>
                </a:solidFill>
                <a:latin typeface="Consolas"/>
              </a:rPr>
              <a:t>: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7BD389"/>
                </a:solidFill>
                <a:latin typeface="Consolas"/>
              </a:rPr>
              <a:t>if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ch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7BD389"/>
                </a:solidFill>
                <a:latin typeface="Consolas"/>
              </a:rPr>
              <a:t>not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7BD389"/>
                </a:solidFill>
                <a:latin typeface="Consolas"/>
              </a:rPr>
              <a:t>in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F6B26B"/>
                </a:solidFill>
                <a:latin typeface="Consolas"/>
              </a:rPr>
              <a:t>'0123456789.'</a:t>
            </a:r>
            <a:r>
              <a:rPr sz="950">
                <a:solidFill>
                  <a:srgbClr val="E8F6EF"/>
                </a:solidFill>
                <a:latin typeface="Consolas"/>
              </a:rPr>
              <a:t>: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7BD389"/>
                </a:solidFill>
                <a:latin typeface="Consolas"/>
              </a:rPr>
              <a:t>return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x</a:t>
            </a:r>
            <a:r>
              <a:rPr sz="950">
                <a:solidFill>
                  <a:srgbClr val="E8F6EF"/>
                </a:solidFill>
                <a:latin typeface="Consolas"/>
              </a:rPr>
              <a:t>[</a:t>
            </a:r>
            <a:r>
              <a:rPr sz="950">
                <a:solidFill>
                  <a:srgbClr val="E8F6EF"/>
                </a:solidFill>
                <a:latin typeface="Consolas"/>
              </a:rPr>
              <a:t>:</a:t>
            </a:r>
            <a:r>
              <a:rPr sz="950">
                <a:solidFill>
                  <a:srgbClr val="E8F6EF"/>
                </a:solidFill>
                <a:latin typeface="Consolas"/>
              </a:rPr>
              <a:t>i</a:t>
            </a:r>
            <a:r>
              <a:rPr sz="950">
                <a:solidFill>
                  <a:srgbClr val="E8F6EF"/>
                </a:solidFill>
                <a:latin typeface="Consolas"/>
              </a:rPr>
              <a:t>]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7BD389"/>
                </a:solidFill>
                <a:latin typeface="Consolas"/>
              </a:rPr>
              <a:t>return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x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data</a:t>
            </a:r>
            <a:r>
              <a:rPr sz="950">
                <a:solidFill>
                  <a:srgbClr val="E8F6EF"/>
                </a:solidFill>
                <a:latin typeface="Consolas"/>
              </a:rPr>
              <a:t>[</a:t>
            </a:r>
            <a:r>
              <a:rPr sz="950">
                <a:solidFill>
                  <a:srgbClr val="F6B26B"/>
                </a:solidFill>
                <a:latin typeface="Consolas"/>
              </a:rPr>
              <a:t>'torque'</a:t>
            </a:r>
            <a:r>
              <a:rPr sz="950">
                <a:solidFill>
                  <a:srgbClr val="E8F6EF"/>
                </a:solidFill>
                <a:latin typeface="Consolas"/>
              </a:rPr>
              <a:t>]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=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data</a:t>
            </a:r>
            <a:r>
              <a:rPr sz="950">
                <a:solidFill>
                  <a:srgbClr val="E8F6EF"/>
                </a:solidFill>
                <a:latin typeface="Consolas"/>
              </a:rPr>
              <a:t>[</a:t>
            </a:r>
            <a:r>
              <a:rPr sz="950">
                <a:solidFill>
                  <a:srgbClr val="F6B26B"/>
                </a:solidFill>
                <a:latin typeface="Consolas"/>
              </a:rPr>
              <a:t>'torque'</a:t>
            </a:r>
            <a:r>
              <a:rPr sz="950">
                <a:solidFill>
                  <a:srgbClr val="E8F6EF"/>
                </a:solidFill>
                <a:latin typeface="Consolas"/>
              </a:rPr>
              <a:t>]</a:t>
            </a:r>
            <a:r>
              <a:rPr sz="950">
                <a:solidFill>
                  <a:srgbClr val="E8F6EF"/>
                </a:solidFill>
                <a:latin typeface="Consolas"/>
              </a:rPr>
              <a:t>.</a:t>
            </a:r>
            <a:r>
              <a:rPr sz="950">
                <a:solidFill>
                  <a:srgbClr val="E8F6EF"/>
                </a:solidFill>
                <a:latin typeface="Consolas"/>
              </a:rPr>
              <a:t>apply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  <a:r>
              <a:rPr sz="950">
                <a:solidFill>
                  <a:srgbClr val="E8F6EF"/>
                </a:solidFill>
                <a:latin typeface="Consolas"/>
              </a:rPr>
              <a:t>split_num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  <a:r>
              <a:rPr sz="950">
                <a:solidFill>
                  <a:srgbClr val="E8F6EF"/>
                </a:solidFill>
                <a:latin typeface="Consolas"/>
              </a:rPr>
              <a:t>.</a:t>
            </a:r>
            <a:r>
              <a:rPr sz="950">
                <a:solidFill>
                  <a:srgbClr val="E8F6EF"/>
                </a:solidFill>
                <a:latin typeface="Consolas"/>
              </a:rPr>
              <a:t>replace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  <a:r>
              <a:rPr sz="950">
                <a:solidFill>
                  <a:srgbClr val="F6B26B"/>
                </a:solidFill>
                <a:latin typeface="Consolas"/>
              </a:rPr>
              <a:t>''</a:t>
            </a:r>
            <a:r>
              <a:rPr sz="950">
                <a:solidFill>
                  <a:srgbClr val="E8F6EF"/>
                </a:solidFill>
                <a:latin typeface="Consolas"/>
              </a:rPr>
              <a:t>,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np</a:t>
            </a:r>
            <a:r>
              <a:rPr sz="950">
                <a:solidFill>
                  <a:srgbClr val="E8F6EF"/>
                </a:solidFill>
                <a:latin typeface="Consolas"/>
              </a:rPr>
              <a:t>.</a:t>
            </a:r>
            <a:r>
              <a:rPr sz="950">
                <a:solidFill>
                  <a:srgbClr val="E8F6EF"/>
                </a:solidFill>
                <a:latin typeface="Consolas"/>
              </a:rPr>
              <a:t>NaN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data</a:t>
            </a:r>
            <a:r>
              <a:rPr sz="950">
                <a:solidFill>
                  <a:srgbClr val="E8F6EF"/>
                </a:solidFill>
                <a:latin typeface="Consolas"/>
              </a:rPr>
              <a:t>[</a:t>
            </a:r>
            <a:r>
              <a:rPr sz="950">
                <a:solidFill>
                  <a:srgbClr val="F6B26B"/>
                </a:solidFill>
                <a:latin typeface="Consolas"/>
              </a:rPr>
              <a:t>'torque'</a:t>
            </a:r>
            <a:r>
              <a:rPr sz="950">
                <a:solidFill>
                  <a:srgbClr val="E8F6EF"/>
                </a:solidFill>
                <a:latin typeface="Consolas"/>
              </a:rPr>
              <a:t>]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=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data</a:t>
            </a:r>
            <a:r>
              <a:rPr sz="950">
                <a:solidFill>
                  <a:srgbClr val="E8F6EF"/>
                </a:solidFill>
                <a:latin typeface="Consolas"/>
              </a:rPr>
              <a:t>[</a:t>
            </a:r>
            <a:r>
              <a:rPr sz="950">
                <a:solidFill>
                  <a:srgbClr val="F6B26B"/>
                </a:solidFill>
                <a:latin typeface="Consolas"/>
              </a:rPr>
              <a:t>'torque'</a:t>
            </a:r>
            <a:r>
              <a:rPr sz="950">
                <a:solidFill>
                  <a:srgbClr val="E8F6EF"/>
                </a:solidFill>
                <a:latin typeface="Consolas"/>
              </a:rPr>
              <a:t>]</a:t>
            </a:r>
            <a:r>
              <a:rPr sz="950">
                <a:solidFill>
                  <a:srgbClr val="E8F6EF"/>
                </a:solidFill>
                <a:latin typeface="Consolas"/>
              </a:rPr>
              <a:t>.</a:t>
            </a:r>
            <a:r>
              <a:rPr sz="950">
                <a:solidFill>
                  <a:srgbClr val="E8F6EF"/>
                </a:solidFill>
                <a:latin typeface="Consolas"/>
              </a:rPr>
              <a:t>astype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  <a:r>
              <a:rPr sz="950">
                <a:solidFill>
                  <a:srgbClr val="F6B26B"/>
                </a:solidFill>
                <a:latin typeface="Consolas"/>
              </a:rPr>
              <a:t>'float64'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</a:pPr>
            <a:r>
              <a:rPr sz="950">
                <a:latin typeface="Consolas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9AA7A0"/>
                </a:solidFill>
                <a:latin typeface="Consolas"/>
              </a:rPr>
              <a:t># ④ 单位换算: kgm × 9.8066 = Nm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7BD389"/>
                </a:solidFill>
                <a:latin typeface="Consolas"/>
              </a:rPr>
              <a:t>def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torque_trans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  <a:r>
              <a:rPr sz="950">
                <a:solidFill>
                  <a:srgbClr val="E8F6EF"/>
                </a:solidFill>
                <a:latin typeface="Consolas"/>
              </a:rPr>
              <a:t>x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  <a:r>
              <a:rPr sz="950">
                <a:solidFill>
                  <a:srgbClr val="E8F6EF"/>
                </a:solidFill>
                <a:latin typeface="Consolas"/>
              </a:rPr>
              <a:t>: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7BD389"/>
                </a:solidFill>
                <a:latin typeface="Consolas"/>
              </a:rPr>
              <a:t>if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x</a:t>
            </a:r>
            <a:r>
              <a:rPr sz="950">
                <a:solidFill>
                  <a:srgbClr val="E8F6EF"/>
                </a:solidFill>
                <a:latin typeface="Consolas"/>
              </a:rPr>
              <a:t>[</a:t>
            </a:r>
            <a:r>
              <a:rPr sz="950">
                <a:solidFill>
                  <a:srgbClr val="F6B26B"/>
                </a:solidFill>
                <a:latin typeface="Consolas"/>
              </a:rPr>
              <a:t>'torque_unit'</a:t>
            </a:r>
            <a:r>
              <a:rPr sz="950">
                <a:solidFill>
                  <a:srgbClr val="E8F6EF"/>
                </a:solidFill>
                <a:latin typeface="Consolas"/>
              </a:rPr>
              <a:t>]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=</a:t>
            </a:r>
            <a:r>
              <a:rPr sz="950">
                <a:solidFill>
                  <a:srgbClr val="E8F6EF"/>
                </a:solidFill>
                <a:latin typeface="Consolas"/>
              </a:rPr>
              <a:t>=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F6B26B"/>
                </a:solidFill>
                <a:latin typeface="Consolas"/>
              </a:rPr>
              <a:t>'kgm'</a:t>
            </a:r>
            <a:r>
              <a:rPr sz="950">
                <a:solidFill>
                  <a:srgbClr val="E8F6EF"/>
                </a:solidFill>
                <a:latin typeface="Consolas"/>
              </a:rPr>
              <a:t>: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7BD389"/>
                </a:solidFill>
                <a:latin typeface="Consolas"/>
              </a:rPr>
              <a:t>return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x</a:t>
            </a:r>
            <a:r>
              <a:rPr sz="950">
                <a:solidFill>
                  <a:srgbClr val="E8F6EF"/>
                </a:solidFill>
                <a:latin typeface="Consolas"/>
              </a:rPr>
              <a:t>[</a:t>
            </a:r>
            <a:r>
              <a:rPr sz="950">
                <a:solidFill>
                  <a:srgbClr val="F6B26B"/>
                </a:solidFill>
                <a:latin typeface="Consolas"/>
              </a:rPr>
              <a:t>'torque'</a:t>
            </a:r>
            <a:r>
              <a:rPr sz="950">
                <a:solidFill>
                  <a:srgbClr val="E8F6EF"/>
                </a:solidFill>
                <a:latin typeface="Consolas"/>
              </a:rPr>
              <a:t>]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*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F2D45F"/>
                </a:solidFill>
                <a:latin typeface="Consolas"/>
              </a:rPr>
              <a:t>9.8066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7BD389"/>
                </a:solidFill>
                <a:latin typeface="Consolas"/>
              </a:rPr>
              <a:t>else</a:t>
            </a:r>
            <a:r>
              <a:rPr sz="950">
                <a:solidFill>
                  <a:srgbClr val="E8F6EF"/>
                </a:solidFill>
                <a:latin typeface="Consolas"/>
              </a:rPr>
              <a:t>: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7BD389"/>
                </a:solidFill>
                <a:latin typeface="Consolas"/>
              </a:rPr>
              <a:t>return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x</a:t>
            </a:r>
            <a:r>
              <a:rPr sz="950">
                <a:solidFill>
                  <a:srgbClr val="E8F6EF"/>
                </a:solidFill>
                <a:latin typeface="Consolas"/>
              </a:rPr>
              <a:t>[</a:t>
            </a:r>
            <a:r>
              <a:rPr sz="950">
                <a:solidFill>
                  <a:srgbClr val="F6B26B"/>
                </a:solidFill>
                <a:latin typeface="Consolas"/>
              </a:rPr>
              <a:t>'torque'</a:t>
            </a:r>
            <a:r>
              <a:rPr sz="950">
                <a:solidFill>
                  <a:srgbClr val="E8F6EF"/>
                </a:solidFill>
                <a:latin typeface="Consolas"/>
              </a:rPr>
              <a:t>]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data</a:t>
            </a:r>
            <a:r>
              <a:rPr sz="950">
                <a:solidFill>
                  <a:srgbClr val="E8F6EF"/>
                </a:solidFill>
                <a:latin typeface="Consolas"/>
              </a:rPr>
              <a:t>[</a:t>
            </a:r>
            <a:r>
              <a:rPr sz="950">
                <a:solidFill>
                  <a:srgbClr val="F6B26B"/>
                </a:solidFill>
                <a:latin typeface="Consolas"/>
              </a:rPr>
              <a:t>'torque'</a:t>
            </a:r>
            <a:r>
              <a:rPr sz="950">
                <a:solidFill>
                  <a:srgbClr val="E8F6EF"/>
                </a:solidFill>
                <a:latin typeface="Consolas"/>
              </a:rPr>
              <a:t>]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=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data</a:t>
            </a:r>
            <a:r>
              <a:rPr sz="950">
                <a:solidFill>
                  <a:srgbClr val="E8F6EF"/>
                </a:solidFill>
                <a:latin typeface="Consolas"/>
              </a:rPr>
              <a:t>.</a:t>
            </a:r>
            <a:r>
              <a:rPr sz="950">
                <a:solidFill>
                  <a:srgbClr val="E8F6EF"/>
                </a:solidFill>
                <a:latin typeface="Consolas"/>
              </a:rPr>
              <a:t>apply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  <a:r>
              <a:rPr sz="950">
                <a:solidFill>
                  <a:srgbClr val="E8F6EF"/>
                </a:solidFill>
                <a:latin typeface="Consolas"/>
              </a:rPr>
              <a:t>torque_trans</a:t>
            </a:r>
            <a:r>
              <a:rPr sz="950">
                <a:solidFill>
                  <a:srgbClr val="E8F6EF"/>
                </a:solidFill>
                <a:latin typeface="Consolas"/>
              </a:rPr>
              <a:t>,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axis</a:t>
            </a:r>
            <a:r>
              <a:rPr sz="950">
                <a:solidFill>
                  <a:srgbClr val="E8F6EF"/>
                </a:solidFill>
                <a:latin typeface="Consolas"/>
              </a:rPr>
              <a:t>=</a:t>
            </a:r>
            <a:r>
              <a:rPr sz="950">
                <a:solidFill>
                  <a:srgbClr val="F2D45F"/>
                </a:solidFill>
                <a:latin typeface="Consolas"/>
              </a:rPr>
              <a:t>1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data</a:t>
            </a:r>
            <a:r>
              <a:rPr sz="950">
                <a:solidFill>
                  <a:srgbClr val="E8F6EF"/>
                </a:solidFill>
                <a:latin typeface="Consolas"/>
              </a:rPr>
              <a:t>.</a:t>
            </a:r>
            <a:r>
              <a:rPr sz="950">
                <a:solidFill>
                  <a:srgbClr val="E8F6EF"/>
                </a:solidFill>
                <a:latin typeface="Consolas"/>
              </a:rPr>
              <a:t>drop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  <a:r>
              <a:rPr sz="950">
                <a:solidFill>
                  <a:srgbClr val="F6B26B"/>
                </a:solidFill>
                <a:latin typeface="Consolas"/>
              </a:rPr>
              <a:t>'torque_unit'</a:t>
            </a:r>
            <a:r>
              <a:rPr sz="950">
                <a:solidFill>
                  <a:srgbClr val="E8F6EF"/>
                </a:solidFill>
                <a:latin typeface="Consolas"/>
              </a:rPr>
              <a:t>,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axis</a:t>
            </a:r>
            <a:r>
              <a:rPr sz="950">
                <a:solidFill>
                  <a:srgbClr val="E8F6EF"/>
                </a:solidFill>
                <a:latin typeface="Consolas"/>
              </a:rPr>
              <a:t>=</a:t>
            </a:r>
            <a:r>
              <a:rPr sz="950">
                <a:solidFill>
                  <a:srgbClr val="F2D45F"/>
                </a:solidFill>
                <a:latin typeface="Consolas"/>
              </a:rPr>
              <a:t>1</a:t>
            </a:r>
            <a:r>
              <a:rPr sz="950">
                <a:solidFill>
                  <a:srgbClr val="E8F6EF"/>
                </a:solidFill>
                <a:latin typeface="Consolas"/>
              </a:rPr>
              <a:t>,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inplace</a:t>
            </a:r>
            <a:r>
              <a:rPr sz="950">
                <a:solidFill>
                  <a:srgbClr val="E8F6EF"/>
                </a:solidFill>
                <a:latin typeface="Consolas"/>
              </a:rPr>
              <a:t>=</a:t>
            </a:r>
            <a:r>
              <a:rPr sz="950">
                <a:solidFill>
                  <a:srgbClr val="7BD389"/>
                </a:solidFill>
                <a:latin typeface="Consolas"/>
              </a:rPr>
              <a:t>True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2011680"/>
            <a:ext cx="3291840" cy="4297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21031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F6F5A"/>
                </a:solidFill>
                <a:latin typeface="微软雅黑"/>
              </a:rPr>
              <a:t>🪓  4 步清洗</a:t>
            </a:r>
          </a:p>
        </p:txBody>
      </p:sp>
      <p:sp>
        <p:nvSpPr>
          <p:cNvPr id="20" name="Oval 19"/>
          <p:cNvSpPr/>
          <p:nvPr/>
        </p:nvSpPr>
        <p:spPr>
          <a:xfrm>
            <a:off x="8549640" y="2606040"/>
            <a:ext cx="502920" cy="822960"/>
          </a:xfrm>
          <a:prstGeom prst="ellipse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9640" y="2606040"/>
            <a:ext cx="5029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670048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2B2A"/>
                </a:solidFill>
                <a:latin typeface="微软雅黑"/>
              </a:rPr>
              <a:t>统一大小写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990088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B68"/>
                </a:solidFill>
                <a:latin typeface="Consolas"/>
              </a:rPr>
              <a:t>str.upper()</a:t>
            </a:r>
          </a:p>
        </p:txBody>
      </p:sp>
      <p:sp>
        <p:nvSpPr>
          <p:cNvPr id="24" name="Oval 23"/>
          <p:cNvSpPr/>
          <p:nvPr/>
        </p:nvSpPr>
        <p:spPr>
          <a:xfrm>
            <a:off x="8549640" y="3493008"/>
            <a:ext cx="502920" cy="822960"/>
          </a:xfrm>
          <a:prstGeom prst="ellipse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49640" y="3493008"/>
            <a:ext cx="5029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557016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2B2A"/>
                </a:solidFill>
                <a:latin typeface="微软雅黑"/>
              </a:rPr>
              <a:t>提取单位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3877056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B68"/>
                </a:solidFill>
                <a:latin typeface="Consolas"/>
              </a:rPr>
              <a:t>in 'NM' / 'KGM'</a:t>
            </a:r>
          </a:p>
        </p:txBody>
      </p:sp>
      <p:sp>
        <p:nvSpPr>
          <p:cNvPr id="28" name="Oval 27"/>
          <p:cNvSpPr/>
          <p:nvPr/>
        </p:nvSpPr>
        <p:spPr>
          <a:xfrm>
            <a:off x="8549640" y="4379976"/>
            <a:ext cx="502920" cy="822960"/>
          </a:xfrm>
          <a:prstGeom prst="ellipse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49640" y="4379976"/>
            <a:ext cx="5029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4443984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2B2A"/>
                </a:solidFill>
                <a:latin typeface="微软雅黑"/>
              </a:rPr>
              <a:t>提取数字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4764024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B68"/>
                </a:solidFill>
                <a:latin typeface="Consolas"/>
              </a:rPr>
              <a:t>enumerate + break</a:t>
            </a:r>
          </a:p>
        </p:txBody>
      </p:sp>
      <p:sp>
        <p:nvSpPr>
          <p:cNvPr id="32" name="Oval 31"/>
          <p:cNvSpPr/>
          <p:nvPr/>
        </p:nvSpPr>
        <p:spPr>
          <a:xfrm>
            <a:off x="8549640" y="5266944"/>
            <a:ext cx="502920" cy="822960"/>
          </a:xfrm>
          <a:prstGeom prst="ellipse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49640" y="5266944"/>
            <a:ext cx="5029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533095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2B2A"/>
                </a:solidFill>
                <a:latin typeface="微软雅黑"/>
              </a:rPr>
              <a:t>单位换算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565099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B68"/>
                </a:solidFill>
                <a:latin typeface="Consolas"/>
              </a:rPr>
              <a:t>kgm × 9.8066 = Nm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机器学习 · 第 9 章  随机森林 — 二手车价格预测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27 / 66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微软雅黑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微软雅黑"/>
              </a:rPr>
              <a:t>随机森林 — 二手车价格预测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微软雅黑"/>
              </a:rPr>
              <a:t>9.3.5   name 预处理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微软雅黑"/>
              </a:rPr>
              <a:t>9.3.5  name : 丢弃型号, 只保留「品牌」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微软雅黑"/>
              </a:rPr>
              <a:t>全量型号会让哑变量爆炸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7680960" cy="4251960"/>
          </a:xfrm>
          <a:prstGeom prst="roundRect">
            <a:avLst/>
          </a:prstGeom>
          <a:solidFill>
            <a:srgbClr val="0E1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" y="2157984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7824" y="2157984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42416" y="2157984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2121408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9AA7A0"/>
                </a:solidFill>
                <a:latin typeface="Consolas"/>
              </a:rPr>
              <a:t>name_preprocess.py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377440"/>
            <a:ext cx="7315200" cy="3794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>
                <a:solidFill>
                  <a:srgbClr val="9AA7A0"/>
                </a:solidFill>
                <a:latin typeface="Consolas"/>
              </a:rPr>
              <a:t># Step 1) 按空格拆分, 只取首词 (= 品牌)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data</a:t>
            </a:r>
            <a:r>
              <a:rPr sz="1150">
                <a:solidFill>
                  <a:srgbClr val="E8F6EF"/>
                </a:solidFill>
                <a:latin typeface="Consolas"/>
              </a:rPr>
              <a:t>[</a:t>
            </a:r>
            <a:r>
              <a:rPr sz="1150">
                <a:solidFill>
                  <a:srgbClr val="F6B26B"/>
                </a:solidFill>
                <a:latin typeface="Consolas"/>
              </a:rPr>
              <a:t>'name'</a:t>
            </a:r>
            <a:r>
              <a:rPr sz="1150">
                <a:solidFill>
                  <a:srgbClr val="E8F6EF"/>
                </a:solidFill>
                <a:latin typeface="Consolas"/>
              </a:rPr>
              <a:t>]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data</a:t>
            </a:r>
            <a:r>
              <a:rPr sz="1150">
                <a:solidFill>
                  <a:srgbClr val="E8F6EF"/>
                </a:solidFill>
                <a:latin typeface="Consolas"/>
              </a:rPr>
              <a:t>[</a:t>
            </a:r>
            <a:r>
              <a:rPr sz="1150">
                <a:solidFill>
                  <a:srgbClr val="F6B26B"/>
                </a:solidFill>
                <a:latin typeface="Consolas"/>
              </a:rPr>
              <a:t>'name'</a:t>
            </a:r>
            <a:r>
              <a:rPr sz="1150">
                <a:solidFill>
                  <a:srgbClr val="E8F6EF"/>
                </a:solidFill>
                <a:latin typeface="Consolas"/>
              </a:rPr>
              <a:t>]</a:t>
            </a:r>
            <a:r>
              <a:rPr sz="1150">
                <a:solidFill>
                  <a:srgbClr val="E8F6EF"/>
                </a:solidFill>
                <a:latin typeface="Consolas"/>
              </a:rPr>
              <a:t>.</a:t>
            </a:r>
            <a:r>
              <a:rPr sz="1150">
                <a:solidFill>
                  <a:srgbClr val="8FB8E0"/>
                </a:solidFill>
                <a:latin typeface="Consolas"/>
              </a:rPr>
              <a:t>str</a:t>
            </a:r>
            <a:r>
              <a:rPr sz="1150">
                <a:solidFill>
                  <a:srgbClr val="E8F6EF"/>
                </a:solidFill>
                <a:latin typeface="Consolas"/>
              </a:rPr>
              <a:t>.</a:t>
            </a:r>
            <a:r>
              <a:rPr sz="1150">
                <a:solidFill>
                  <a:srgbClr val="E8F6EF"/>
                </a:solidFill>
                <a:latin typeface="Consolas"/>
              </a:rPr>
              <a:t>split</a:t>
            </a:r>
            <a:r>
              <a:rPr sz="1150">
                <a:solidFill>
                  <a:srgbClr val="E8F6EF"/>
                </a:solidFill>
                <a:latin typeface="Consolas"/>
              </a:rPr>
              <a:t>(</a:t>
            </a:r>
            <a:r>
              <a:rPr sz="1150">
                <a:solidFill>
                  <a:srgbClr val="E8F6EF"/>
                </a:solidFill>
                <a:latin typeface="Consolas"/>
              </a:rPr>
              <a:t>expand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7BD389"/>
                </a:solidFill>
                <a:latin typeface="Consolas"/>
              </a:rPr>
              <a:t>True</a:t>
            </a:r>
            <a:r>
              <a:rPr sz="1150">
                <a:solidFill>
                  <a:srgbClr val="E8F6EF"/>
                </a:solidFill>
                <a:latin typeface="Consolas"/>
              </a:rPr>
              <a:t>)</a:t>
            </a:r>
            <a:r>
              <a:rPr sz="1150">
                <a:solidFill>
                  <a:srgbClr val="E8F6EF"/>
                </a:solidFill>
                <a:latin typeface="Consolas"/>
              </a:rPr>
              <a:t>[</a:t>
            </a:r>
            <a:r>
              <a:rPr sz="1150">
                <a:solidFill>
                  <a:srgbClr val="F2D45F"/>
                </a:solidFill>
                <a:latin typeface="Consolas"/>
              </a:rPr>
              <a:t>0</a:t>
            </a:r>
            <a:r>
              <a:rPr sz="1150">
                <a:solidFill>
                  <a:srgbClr val="E8F6EF"/>
                </a:solidFill>
                <a:latin typeface="Consolas"/>
              </a:rPr>
              <a:t>]</a:t>
            </a:r>
          </a:p>
          <a:p>
            <a:pPr>
              <a:lnSpc>
                <a:spcPct val="118000"/>
              </a:lnSpc>
            </a:pPr>
            <a:r>
              <a:rPr sz="1150">
                <a:latin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data</a:t>
            </a:r>
            <a:r>
              <a:rPr sz="1150">
                <a:solidFill>
                  <a:srgbClr val="E8F6EF"/>
                </a:solidFill>
                <a:latin typeface="Consolas"/>
              </a:rPr>
              <a:t>[</a:t>
            </a:r>
            <a:r>
              <a:rPr sz="1150">
                <a:solidFill>
                  <a:srgbClr val="F6B26B"/>
                </a:solidFill>
                <a:latin typeface="Consolas"/>
              </a:rPr>
              <a:t>'name'</a:t>
            </a:r>
            <a:r>
              <a:rPr sz="1150">
                <a:solidFill>
                  <a:srgbClr val="E8F6EF"/>
                </a:solidFill>
                <a:latin typeface="Consolas"/>
              </a:rPr>
              <a:t>]</a:t>
            </a:r>
            <a:r>
              <a:rPr sz="1150">
                <a:solidFill>
                  <a:srgbClr val="E8F6EF"/>
                </a:solidFill>
                <a:latin typeface="Consolas"/>
              </a:rPr>
              <a:t>.</a:t>
            </a:r>
            <a:r>
              <a:rPr sz="1150">
                <a:solidFill>
                  <a:srgbClr val="E8F6EF"/>
                </a:solidFill>
                <a:latin typeface="Consolas"/>
              </a:rPr>
              <a:t>unique</a:t>
            </a:r>
            <a:r>
              <a:rPr sz="1150">
                <a:solidFill>
                  <a:srgbClr val="E8F6EF"/>
                </a:solidFill>
                <a:latin typeface="Consolas"/>
              </a:rPr>
              <a:t>(</a:t>
            </a:r>
            <a:r>
              <a:rPr sz="11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9AA7A0"/>
                </a:solidFill>
                <a:latin typeface="Consolas"/>
              </a:rPr>
              <a:t># array(['Maruti', 'Skoda', 'Honda', 'Hyundai', 'Toyota',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9AA7A0"/>
                </a:solidFill>
                <a:latin typeface="Consolas"/>
              </a:rPr>
              <a:t>#        'Ford', 'Renault', 'Mahindra', 'Tata', 'Chevrolet',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9AA7A0"/>
                </a:solidFill>
                <a:latin typeface="Consolas"/>
              </a:rPr>
              <a:t>#        'Fiat', 'Datsun', 'Jeep', 'Mercedes-Benz', 'Mitsubishi',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9AA7A0"/>
                </a:solidFill>
                <a:latin typeface="Consolas"/>
              </a:rPr>
              <a:t>#        'Audi', 'Volkswagen', 'BMW', 'Nissan', 'Lexus',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9AA7A0"/>
                </a:solidFill>
                <a:latin typeface="Consolas"/>
              </a:rPr>
              <a:t>#        'Jaguar', 'Land', 'MG', 'Volvo', 'Daewoo',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9AA7A0"/>
                </a:solidFill>
                <a:latin typeface="Consolas"/>
              </a:rPr>
              <a:t>#        'Kia', 'Force', 'Ambassador', 'Ashok', 'Isuzu',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9AA7A0"/>
                </a:solidFill>
                <a:latin typeface="Consolas"/>
              </a:rPr>
              <a:t>#        'Opel', 'Peugeot'])</a:t>
            </a:r>
          </a:p>
          <a:p>
            <a:pPr>
              <a:lnSpc>
                <a:spcPct val="118000"/>
              </a:lnSpc>
            </a:pPr>
            <a:r>
              <a:rPr sz="1150">
                <a:latin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9AA7A0"/>
                </a:solidFill>
                <a:latin typeface="Consolas"/>
              </a:rPr>
              <a:t># Step 2) 'Land Rover' 被截成 'Land' 的修正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data</a:t>
            </a:r>
            <a:r>
              <a:rPr sz="1150">
                <a:solidFill>
                  <a:srgbClr val="E8F6EF"/>
                </a:solidFill>
                <a:latin typeface="Consolas"/>
              </a:rPr>
              <a:t>[</a:t>
            </a:r>
            <a:r>
              <a:rPr sz="1150">
                <a:solidFill>
                  <a:srgbClr val="F6B26B"/>
                </a:solidFill>
                <a:latin typeface="Consolas"/>
              </a:rPr>
              <a:t>'name'</a:t>
            </a:r>
            <a:r>
              <a:rPr sz="1150">
                <a:solidFill>
                  <a:srgbClr val="E8F6EF"/>
                </a:solidFill>
                <a:latin typeface="Consolas"/>
              </a:rPr>
              <a:t>]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data</a:t>
            </a:r>
            <a:r>
              <a:rPr sz="1150">
                <a:solidFill>
                  <a:srgbClr val="E8F6EF"/>
                </a:solidFill>
                <a:latin typeface="Consolas"/>
              </a:rPr>
              <a:t>[</a:t>
            </a:r>
            <a:r>
              <a:rPr sz="1150">
                <a:solidFill>
                  <a:srgbClr val="F6B26B"/>
                </a:solidFill>
                <a:latin typeface="Consolas"/>
              </a:rPr>
              <a:t>'name'</a:t>
            </a:r>
            <a:r>
              <a:rPr sz="1150">
                <a:solidFill>
                  <a:srgbClr val="E8F6EF"/>
                </a:solidFill>
                <a:latin typeface="Consolas"/>
              </a:rPr>
              <a:t>]</a:t>
            </a:r>
            <a:r>
              <a:rPr sz="1150">
                <a:solidFill>
                  <a:srgbClr val="E8F6EF"/>
                </a:solidFill>
                <a:latin typeface="Consolas"/>
              </a:rPr>
              <a:t>.</a:t>
            </a:r>
            <a:r>
              <a:rPr sz="1150">
                <a:solidFill>
                  <a:srgbClr val="E8F6EF"/>
                </a:solidFill>
                <a:latin typeface="Consolas"/>
              </a:rPr>
              <a:t>replace</a:t>
            </a:r>
            <a:r>
              <a:rPr sz="1150">
                <a:solidFill>
                  <a:srgbClr val="E8F6EF"/>
                </a:solidFill>
                <a:latin typeface="Consolas"/>
              </a:rPr>
              <a:t>(</a:t>
            </a:r>
            <a:r>
              <a:rPr sz="1150">
                <a:solidFill>
                  <a:srgbClr val="F6B26B"/>
                </a:solidFill>
                <a:latin typeface="Consolas"/>
              </a:rPr>
              <a:t>'Land'</a:t>
            </a:r>
            <a:r>
              <a:rPr sz="1150">
                <a:solidFill>
                  <a:srgbClr val="E8F6EF"/>
                </a:solidFill>
                <a:latin typeface="Consolas"/>
              </a:rPr>
              <a:t>,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F6B26B"/>
                </a:solidFill>
                <a:latin typeface="Consolas"/>
              </a:rPr>
              <a:t>'Land Rover'</a:t>
            </a:r>
            <a:r>
              <a:rPr sz="1150">
                <a:solidFill>
                  <a:srgbClr val="E8F6EF"/>
                </a:solidFill>
                <a:latin typeface="Consolas"/>
              </a:rPr>
              <a:t>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2011680"/>
            <a:ext cx="3291840" cy="1920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12480" y="2011680"/>
            <a:ext cx="91440" cy="192024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68512" y="2176272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524A"/>
                </a:solidFill>
                <a:latin typeface="微软雅黑"/>
              </a:rPr>
              <a:t>🤔  为什么只保留品牌?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68512" y="2670048"/>
            <a:ext cx="28346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• 型号也独热会增加几百列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• 型号细节已由 engine·max_power·torque 表达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• 但「品牌溢价」对价格影响大 → 保留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0" y="4023360"/>
            <a:ext cx="3291840" cy="22402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412480" y="4023360"/>
            <a:ext cx="91440" cy="2240280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68512" y="4187952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524A"/>
                </a:solidFill>
                <a:latin typeface="微软雅黑"/>
              </a:rPr>
              <a:t>🔧  关键工具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68512" y="4681728"/>
            <a:ext cx="283464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str.split(expand=True)[0]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→ 取首词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replace(old, new)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→ 'Land' → 'Land Rover'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   类似的后处理修正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机器学习 · 第 9 章  随机森林 — 二手车价格预测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28 / 66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微软雅黑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微软雅黑"/>
              </a:rPr>
              <a:t>随机森林 — 二手车价格预测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微软雅黑"/>
              </a:rPr>
              <a:t>9.4   缺失值处理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微软雅黑"/>
              </a:rPr>
              <a:t>9.4  缺失值 — 删除约 2~3% 的行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微软雅黑"/>
              </a:rPr>
              <a:t>缺失集中于参数列, 用 dropna() 比均值填充更安全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5669280" cy="4251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10312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6F5A"/>
                </a:solidFill>
                <a:latin typeface="微软雅黑"/>
              </a:rPr>
              <a:t>📊  缺失率 — data.isna().mean()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060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4524A"/>
                </a:solidFill>
                <a:latin typeface="Consolas"/>
              </a:rPr>
              <a:t>name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94560" y="2651760"/>
            <a:ext cx="3200400" cy="201168"/>
          </a:xfrm>
          <a:prstGeom prst="roundRect">
            <a:avLst/>
          </a:prstGeom>
          <a:solidFill>
            <a:srgbClr val="E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40680" y="26060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556B68"/>
                </a:solidFill>
                <a:latin typeface="微软雅黑"/>
              </a:rPr>
              <a:t>0.00%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95351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4524A"/>
                </a:solidFill>
                <a:latin typeface="Consolas"/>
              </a:rPr>
              <a:t>year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94560" y="2999232"/>
            <a:ext cx="3200400" cy="201168"/>
          </a:xfrm>
          <a:prstGeom prst="roundRect">
            <a:avLst/>
          </a:prstGeom>
          <a:solidFill>
            <a:srgbClr val="E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40680" y="2953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556B68"/>
                </a:solidFill>
                <a:latin typeface="微软雅黑"/>
              </a:rPr>
              <a:t>0.00%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30098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4524A"/>
                </a:solidFill>
                <a:latin typeface="Consolas"/>
              </a:rPr>
              <a:t>selling_price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94560" y="3346704"/>
            <a:ext cx="3200400" cy="201168"/>
          </a:xfrm>
          <a:prstGeom prst="roundRect">
            <a:avLst/>
          </a:prstGeom>
          <a:solidFill>
            <a:srgbClr val="E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40680" y="330098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556B68"/>
                </a:solidFill>
                <a:latin typeface="微软雅黑"/>
              </a:rPr>
              <a:t>0.00%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64845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4524A"/>
                </a:solidFill>
                <a:latin typeface="Consolas"/>
              </a:rPr>
              <a:t>mileage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3694176"/>
            <a:ext cx="3200400" cy="201168"/>
          </a:xfrm>
          <a:prstGeom prst="roundRect">
            <a:avLst/>
          </a:prstGeom>
          <a:solidFill>
            <a:srgbClr val="E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194560" y="3694176"/>
            <a:ext cx="1741017" cy="201168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40680" y="3648456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微软雅黑"/>
              </a:rPr>
              <a:t>2.72%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39959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4524A"/>
                </a:solidFill>
                <a:latin typeface="Consolas"/>
              </a:rPr>
              <a:t>engine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194560" y="4041648"/>
            <a:ext cx="3200400" cy="201168"/>
          </a:xfrm>
          <a:prstGeom prst="roundRect">
            <a:avLst/>
          </a:prstGeom>
          <a:solidFill>
            <a:srgbClr val="E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194560" y="4041648"/>
            <a:ext cx="1741017" cy="201168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40680" y="399592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微软雅黑"/>
              </a:rPr>
              <a:t>2.72%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43434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4524A"/>
                </a:solidFill>
                <a:latin typeface="Consolas"/>
              </a:rPr>
              <a:t>max_power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194560" y="4389120"/>
            <a:ext cx="3200400" cy="201168"/>
          </a:xfrm>
          <a:prstGeom prst="roundRect">
            <a:avLst/>
          </a:prstGeom>
          <a:solidFill>
            <a:srgbClr val="E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194560" y="4389120"/>
            <a:ext cx="1702612" cy="201168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40680" y="43434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微软雅黑"/>
              </a:rPr>
              <a:t>2.66%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469087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4524A"/>
                </a:solidFill>
                <a:latin typeface="Consolas"/>
              </a:rPr>
              <a:t>torque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194560" y="4736592"/>
            <a:ext cx="3200400" cy="201168"/>
          </a:xfrm>
          <a:prstGeom prst="roundRect">
            <a:avLst/>
          </a:prstGeom>
          <a:solidFill>
            <a:srgbClr val="E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194560" y="4736592"/>
            <a:ext cx="1747418" cy="201168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40680" y="469087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微软雅黑"/>
              </a:rPr>
              <a:t>2.73%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503834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4524A"/>
                </a:solidFill>
                <a:latin typeface="Consolas"/>
              </a:rPr>
              <a:t>seats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194560" y="5084064"/>
            <a:ext cx="3200400" cy="201168"/>
          </a:xfrm>
          <a:prstGeom prst="roundRect">
            <a:avLst/>
          </a:prstGeom>
          <a:solidFill>
            <a:srgbClr val="E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2194560" y="5084064"/>
            <a:ext cx="1741017" cy="201168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40680" y="503834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微软雅黑"/>
              </a:rPr>
              <a:t>2.72%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68680" y="5532120"/>
            <a:ext cx="5212080" cy="64008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5840" y="5577840"/>
            <a:ext cx="5029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</a:rPr>
              <a:t>✅  决策: data.dropna(inplace=True)</a:t>
            </a:r>
          </a:p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</a:rPr>
              <a:t>    8,128 行 → 7,906 行  (-2.7%)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0" y="2011680"/>
            <a:ext cx="5303520" cy="2103120"/>
          </a:xfrm>
          <a:prstGeom prst="roundRect">
            <a:avLst/>
          </a:prstGeom>
          <a:solidFill>
            <a:srgbClr val="0E1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565392" y="2157984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729984" y="2157984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894576" y="2157984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01968" y="2377440"/>
            <a:ext cx="49377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00">
                <a:solidFill>
                  <a:srgbClr val="9AA7A0"/>
                </a:solidFill>
                <a:latin typeface="Consolas"/>
              </a:rPr>
              <a:t># 1) 查看缺失率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data</a:t>
            </a:r>
            <a:r>
              <a:rPr sz="1200">
                <a:solidFill>
                  <a:srgbClr val="E8F6EF"/>
                </a:solidFill>
                <a:latin typeface="Consolas"/>
              </a:rPr>
              <a:t>.</a:t>
            </a:r>
            <a:r>
              <a:rPr sz="1200">
                <a:solidFill>
                  <a:srgbClr val="E8F6EF"/>
                </a:solidFill>
                <a:latin typeface="Consolas"/>
              </a:rPr>
              <a:t>isna</a:t>
            </a:r>
            <a:r>
              <a:rPr sz="1200">
                <a:solidFill>
                  <a:srgbClr val="E8F6EF"/>
                </a:solidFill>
                <a:latin typeface="Consolas"/>
              </a:rPr>
              <a:t>(</a:t>
            </a:r>
            <a:r>
              <a:rPr sz="1200">
                <a:solidFill>
                  <a:srgbClr val="E8F6EF"/>
                </a:solidFill>
                <a:latin typeface="Consolas"/>
              </a:rPr>
              <a:t>)</a:t>
            </a:r>
            <a:r>
              <a:rPr sz="1200">
                <a:solidFill>
                  <a:srgbClr val="E8F6EF"/>
                </a:solidFill>
                <a:latin typeface="Consolas"/>
              </a:rPr>
              <a:t>.</a:t>
            </a:r>
            <a:r>
              <a:rPr sz="1200">
                <a:solidFill>
                  <a:srgbClr val="E8F6EF"/>
                </a:solidFill>
                <a:latin typeface="Consolas"/>
              </a:rPr>
              <a:t>mean</a:t>
            </a:r>
            <a:r>
              <a:rPr sz="1200">
                <a:solidFill>
                  <a:srgbClr val="E8F6EF"/>
                </a:solidFill>
                <a:latin typeface="Consolas"/>
              </a:rPr>
              <a:t>(</a:t>
            </a:r>
            <a:r>
              <a:rPr sz="120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</a:pPr>
            <a:r>
              <a:rPr sz="1200">
                <a:latin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9AA7A0"/>
                </a:solidFill>
                <a:latin typeface="Consolas"/>
              </a:rPr>
              <a:t># 2) 删除缺失行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data</a:t>
            </a:r>
            <a:r>
              <a:rPr sz="1200">
                <a:solidFill>
                  <a:srgbClr val="E8F6EF"/>
                </a:solidFill>
                <a:latin typeface="Consolas"/>
              </a:rPr>
              <a:t>.</a:t>
            </a:r>
            <a:r>
              <a:rPr sz="1200">
                <a:solidFill>
                  <a:srgbClr val="E8F6EF"/>
                </a:solidFill>
                <a:latin typeface="Consolas"/>
              </a:rPr>
              <a:t>dropna</a:t>
            </a:r>
            <a:r>
              <a:rPr sz="1200">
                <a:solidFill>
                  <a:srgbClr val="E8F6EF"/>
                </a:solidFill>
                <a:latin typeface="Consolas"/>
              </a:rPr>
              <a:t>(</a:t>
            </a:r>
            <a:r>
              <a:rPr sz="1200">
                <a:solidFill>
                  <a:srgbClr val="E8F6EF"/>
                </a:solidFill>
                <a:latin typeface="Consolas"/>
              </a:rPr>
              <a:t>inplace</a:t>
            </a:r>
            <a:r>
              <a:rPr sz="1200">
                <a:solidFill>
                  <a:srgbClr val="E8F6EF"/>
                </a:solidFill>
                <a:latin typeface="Consolas"/>
              </a:rPr>
              <a:t>=</a:t>
            </a:r>
            <a:r>
              <a:rPr sz="1200">
                <a:solidFill>
                  <a:srgbClr val="7BD389"/>
                </a:solidFill>
                <a:latin typeface="Consolas"/>
              </a:rPr>
              <a:t>True</a:t>
            </a:r>
            <a:r>
              <a:rPr sz="120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</a:pPr>
            <a:r>
              <a:rPr sz="1200">
                <a:latin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9AA7A0"/>
                </a:solidFill>
                <a:latin typeface="Consolas"/>
              </a:rPr>
              <a:t># 3) 检查长度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8FB8E0"/>
                </a:solidFill>
                <a:latin typeface="Consolas"/>
              </a:rPr>
              <a:t>len</a:t>
            </a:r>
            <a:r>
              <a:rPr sz="1200">
                <a:solidFill>
                  <a:srgbClr val="E8F6EF"/>
                </a:solidFill>
                <a:latin typeface="Consolas"/>
              </a:rPr>
              <a:t>(</a:t>
            </a:r>
            <a:r>
              <a:rPr sz="1200">
                <a:solidFill>
                  <a:srgbClr val="E8F6EF"/>
                </a:solidFill>
                <a:latin typeface="Consolas"/>
              </a:rPr>
              <a:t>data</a:t>
            </a:r>
            <a:r>
              <a:rPr sz="1200">
                <a:solidFill>
                  <a:srgbClr val="E8F6EF"/>
                </a:solidFill>
                <a:latin typeface="Consolas"/>
              </a:rPr>
              <a:t>)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9AA7A0"/>
                </a:solidFill>
                <a:latin typeface="Consolas"/>
              </a:rPr>
              <a:t># 7906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00800" y="4206240"/>
            <a:ext cx="5303520" cy="205740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83680" y="429768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2A44F"/>
                </a:solidFill>
                <a:latin typeface="微软雅黑"/>
              </a:rPr>
              <a:t>💬  教师讲解要点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0" y="4590288"/>
            <a:ext cx="493776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可以反问:「缺失是随机还是有模式?」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mileage·engine·seats 的缺失率几乎一致 (2.72%) 说明「特定行整行缺失」 — 用均值填充反而引入噪声。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比例低 (2~3%) 且都是关键参数列, dropna() 是更稳妥的选择。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机器学习 · 第 9 章  随机森林 — 二手车价格预测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29 / 66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微软雅黑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微软雅黑"/>
              </a:rPr>
              <a:t>随机森林 — 二手车价格预测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微软雅黑"/>
              </a:rPr>
              <a:t>9.4   哑变量化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微软雅黑"/>
              </a:rPr>
              <a:t>9.4  类别 → 哑变量 (独热编码)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微软雅黑"/>
              </a:rPr>
              <a:t>一行 pd.get_dummies(drop_first=True) 完成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6583680" cy="4206240"/>
          </a:xfrm>
          <a:prstGeom prst="roundRect">
            <a:avLst/>
          </a:prstGeom>
          <a:solidFill>
            <a:srgbClr val="0E1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" y="2157984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7824" y="2157984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42416" y="2157984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2121408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9AA7A0"/>
                </a:solidFill>
                <a:latin typeface="Consolas"/>
              </a:rPr>
              <a:t>dummies.py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377440"/>
            <a:ext cx="621792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data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=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pd</a:t>
            </a:r>
            <a:r>
              <a:rPr sz="1200">
                <a:solidFill>
                  <a:srgbClr val="E8F6EF"/>
                </a:solidFill>
                <a:latin typeface="Consolas"/>
              </a:rPr>
              <a:t>.</a:t>
            </a:r>
            <a:r>
              <a:rPr sz="1200">
                <a:solidFill>
                  <a:srgbClr val="E8F6EF"/>
                </a:solidFill>
                <a:latin typeface="Consolas"/>
              </a:rPr>
              <a:t>get_dummies</a:t>
            </a:r>
            <a:r>
              <a:rPr sz="1200">
                <a:solidFill>
                  <a:srgbClr val="E8F6EF"/>
                </a:solidFill>
                <a:latin typeface="Consolas"/>
              </a:rPr>
              <a:t>(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data</a:t>
            </a:r>
            <a:r>
              <a:rPr sz="120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columns</a:t>
            </a:r>
            <a:r>
              <a:rPr sz="1200">
                <a:solidFill>
                  <a:srgbClr val="E8F6EF"/>
                </a:solidFill>
                <a:latin typeface="Consolas"/>
              </a:rPr>
              <a:t>=</a:t>
            </a:r>
            <a:r>
              <a:rPr sz="1200">
                <a:solidFill>
                  <a:srgbClr val="E8F6EF"/>
                </a:solidFill>
                <a:latin typeface="Consolas"/>
              </a:rPr>
              <a:t>[</a:t>
            </a:r>
            <a:r>
              <a:rPr sz="1200">
                <a:solidFill>
                  <a:srgbClr val="F6B26B"/>
                </a:solidFill>
                <a:latin typeface="Consolas"/>
              </a:rPr>
              <a:t>'name'</a:t>
            </a:r>
            <a:r>
              <a:rPr sz="1200">
                <a:solidFill>
                  <a:srgbClr val="E8F6EF"/>
                </a:solidFill>
                <a:latin typeface="Consolas"/>
              </a:rPr>
              <a:t>,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F6B26B"/>
                </a:solidFill>
                <a:latin typeface="Consolas"/>
              </a:rPr>
              <a:t>'fuel'</a:t>
            </a:r>
            <a:r>
              <a:rPr sz="1200">
                <a:solidFill>
                  <a:srgbClr val="E8F6EF"/>
                </a:solidFill>
                <a:latin typeface="Consolas"/>
              </a:rPr>
              <a:t>,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F6B26B"/>
                </a:solidFill>
                <a:latin typeface="Consolas"/>
              </a:rPr>
              <a:t>'seller_type'</a:t>
            </a:r>
            <a:r>
              <a:rPr sz="120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F6B26B"/>
                </a:solidFill>
                <a:latin typeface="Consolas"/>
              </a:rPr>
              <a:t>'transmission'</a:t>
            </a:r>
            <a:r>
              <a:rPr sz="1200">
                <a:solidFill>
                  <a:srgbClr val="E8F6EF"/>
                </a:solidFill>
                <a:latin typeface="Consolas"/>
              </a:rPr>
              <a:t>,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F6B26B"/>
                </a:solidFill>
                <a:latin typeface="Consolas"/>
              </a:rPr>
              <a:t>'owner'</a:t>
            </a:r>
            <a:r>
              <a:rPr sz="1200">
                <a:solidFill>
                  <a:srgbClr val="E8F6EF"/>
                </a:solidFill>
                <a:latin typeface="Consolas"/>
              </a:rPr>
              <a:t>]</a:t>
            </a:r>
            <a:r>
              <a:rPr sz="120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drop_first</a:t>
            </a:r>
            <a:r>
              <a:rPr sz="1200">
                <a:solidFill>
                  <a:srgbClr val="E8F6EF"/>
                </a:solidFill>
                <a:latin typeface="Consolas"/>
              </a:rPr>
              <a:t>=</a:t>
            </a:r>
            <a:r>
              <a:rPr sz="1200">
                <a:solidFill>
                  <a:srgbClr val="7BD389"/>
                </a:solidFill>
                <a:latin typeface="Consolas"/>
              </a:rPr>
              <a:t>True</a:t>
            </a:r>
            <a:r>
              <a:rPr sz="1200">
                <a:solidFill>
                  <a:srgbClr val="E8F6EF"/>
                </a:solidFill>
                <a:latin typeface="Consolas"/>
              </a:rPr>
              <a:t>,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9AA7A0"/>
                </a:solidFill>
                <a:latin typeface="Consolas"/>
              </a:rPr>
              <a:t># 移除一个基准类别 — 防止多重共线性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</a:pPr>
            <a:r>
              <a:rPr sz="1200">
                <a:latin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data</a:t>
            </a:r>
            <a:r>
              <a:rPr sz="1200">
                <a:solidFill>
                  <a:srgbClr val="E8F6EF"/>
                </a:solidFill>
                <a:latin typeface="Consolas"/>
              </a:rPr>
              <a:t>.</a:t>
            </a:r>
            <a:r>
              <a:rPr sz="1200">
                <a:solidFill>
                  <a:srgbClr val="E8F6EF"/>
                </a:solidFill>
                <a:latin typeface="Consolas"/>
              </a:rPr>
              <a:t>dtypes</a:t>
            </a:r>
            <a:r>
              <a:rPr sz="1200">
                <a:solidFill>
                  <a:srgbClr val="E8F6EF"/>
                </a:solidFill>
                <a:latin typeface="Consolas"/>
              </a:rPr>
              <a:t>.</a:t>
            </a:r>
            <a:r>
              <a:rPr sz="1200">
                <a:solidFill>
                  <a:srgbClr val="E8F6EF"/>
                </a:solidFill>
                <a:latin typeface="Consolas"/>
              </a:rPr>
              <a:t>value_counts</a:t>
            </a:r>
            <a:r>
              <a:rPr sz="1200">
                <a:solidFill>
                  <a:srgbClr val="E8F6EF"/>
                </a:solidFill>
                <a:latin typeface="Consolas"/>
              </a:rPr>
              <a:t>(</a:t>
            </a:r>
            <a:r>
              <a:rPr sz="120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9AA7A0"/>
                </a:solidFill>
                <a:latin typeface="Consolas"/>
              </a:rPr>
              <a:t># float32     4   (engine, max_power, mileage, ...)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9AA7A0"/>
                </a:solidFill>
                <a:latin typeface="Consolas"/>
              </a:rPr>
              <a:t># int64       3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9AA7A0"/>
                </a:solidFill>
                <a:latin typeface="Consolas"/>
              </a:rPr>
              <a:t># uint8      45   (哑变量列)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9AA7A0"/>
                </a:solidFill>
                <a:latin typeface="Consolas"/>
              </a:rPr>
              <a:t># dtype: int64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2011680"/>
            <a:ext cx="43891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0" y="2011680"/>
            <a:ext cx="91440" cy="18288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71232" y="2176272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524A"/>
                </a:solidFill>
                <a:latin typeface="微软雅黑"/>
              </a:rPr>
              <a:t>💡  为何 drop_first=True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71232" y="2670048"/>
            <a:ext cx="3931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n 个类别 → n-1 个哑变量足矣。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「所有哑变量都为 0」即为基准类别。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可防多重共线性, 又能少一列。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3931920"/>
            <a:ext cx="4389120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0" y="3931920"/>
            <a:ext cx="91440" cy="1280160"/>
          </a:xfrm>
          <a:prstGeom prst="rect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71232" y="4096512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524A"/>
                </a:solidFill>
                <a:latin typeface="微软雅黑"/>
              </a:rPr>
              <a:t>⚠️  注意: 哑变量爆炸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71232" y="4590288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name 有 32 个品牌 → 增加 31 列。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高基数变量要慎用。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0" y="5303520"/>
            <a:ext cx="4389120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0" y="5303520"/>
            <a:ext cx="91440" cy="960120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71232" y="5468112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524A"/>
                </a:solidFill>
                <a:latin typeface="微软雅黑"/>
              </a:rPr>
              <a:t>📌  先分 train/test 还是先编码?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71232" y="5961888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教材选「先编码」, 简洁。实战建议用 train 拟合再 transform 到 test。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机器学习 · 第 9 章  随机森林 — 二手车价格预测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30 / 66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微软雅黑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微软雅黑"/>
              </a:rPr>
              <a:t>随机森林 — 二手车价格预测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微软雅黑"/>
              </a:rPr>
              <a:t>9.4   预处理质量检查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微软雅黑"/>
              </a:rPr>
              <a:t>预处理后 1 分钟质量检查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微软雅黑"/>
              </a:rPr>
              <a:t>调用 fit() 前必看的 5 个点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057400"/>
            <a:ext cx="1371600" cy="548640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05740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检查项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20240" y="2057400"/>
            <a:ext cx="4114800" cy="548640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20240" y="2057400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提问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2057400"/>
            <a:ext cx="3200400" cy="548640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205740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失败症状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2057400"/>
            <a:ext cx="2468880" cy="548640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205740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确认代码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606040"/>
            <a:ext cx="1371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606040"/>
            <a:ext cx="1188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dtype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20240" y="2606040"/>
            <a:ext cx="4114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11680" y="2606040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是否还残留 object 列?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2606040"/>
            <a:ext cx="32004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260604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sklearn fit() 报 ValueError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35440" y="2606040"/>
            <a:ext cx="24688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0" y="260604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Consolas"/>
              </a:rPr>
              <a:t>data.dtypes.value_counts()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154680"/>
            <a:ext cx="1371600" cy="54864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154680"/>
            <a:ext cx="1188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NaN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20240" y="3154680"/>
            <a:ext cx="4114800" cy="54864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11680" y="3154680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是否还有缺失?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3154680"/>
            <a:ext cx="3200400" cy="54864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0" y="315468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Input contains NaN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35440" y="3154680"/>
            <a:ext cx="2468880" cy="54864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0" y="315468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Consolas"/>
              </a:rPr>
              <a:t>data.isna().sum().sum()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703320"/>
            <a:ext cx="1371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3703320"/>
            <a:ext cx="1188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目标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20240" y="3703320"/>
            <a:ext cx="4114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11680" y="3703320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selling_price 是否从 X 排除?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3703320"/>
            <a:ext cx="32004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26480" y="370332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数据泄漏 → RMSE 异常低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235440" y="3703320"/>
            <a:ext cx="24688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0" y="370332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Consolas"/>
              </a:rPr>
              <a:t>X.columns.tolist()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4251960"/>
            <a:ext cx="1371600" cy="54864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4251960"/>
            <a:ext cx="1188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索引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20240" y="4251960"/>
            <a:ext cx="4114800" cy="54864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11680" y="4251960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用 KFold 前是否 reset_index?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35040" y="4251960"/>
            <a:ext cx="3200400" cy="54864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26480" y="425196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KFold 报 KeyError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235440" y="4251960"/>
            <a:ext cx="2468880" cy="54864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26880" y="425196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Consolas"/>
              </a:rPr>
              <a:t>data.reset_index(drop=True, ...)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4800600"/>
            <a:ext cx="1371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4800600"/>
            <a:ext cx="1188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分布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920240" y="4800600"/>
            <a:ext cx="4114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11680" y="4800600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train/test 目标分布相似?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35040" y="4800600"/>
            <a:ext cx="32004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26480" y="480060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评估结果受偶然性影响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235440" y="4800600"/>
            <a:ext cx="24688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26880" y="480060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Consolas"/>
              </a:rPr>
              <a:t>y_train.describe()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48640" y="6126480"/>
            <a:ext cx="11064240" cy="45720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1520" y="62179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2A44F"/>
                </a:solidFill>
                <a:latin typeface="微软雅黑"/>
              </a:rPr>
              <a:t>💬  教师讲解要点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520" y="6510528"/>
            <a:ext cx="10698480" cy="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「没做检查导致调试 30 分钟」的真实经历最能让学生印象深刻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机器学习 · 第 9 章  随机森林 — 二手车价格预测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31 / 66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9601200" y="4114800"/>
            <a:ext cx="1371600" cy="1371600"/>
          </a:xfrm>
          <a:prstGeom prst="triangle">
            <a:avLst/>
          </a:prstGeom>
          <a:solidFill>
            <a:srgbClr val="88D4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0515600" y="4572000"/>
            <a:ext cx="1005840" cy="1005840"/>
          </a:xfrm>
          <a:prstGeom prst="triangle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>
            <a:off x="8961120" y="4754880"/>
            <a:ext cx="822960" cy="822960"/>
          </a:xfrm>
          <a:prstGeom prst="triangle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2194560" cy="502920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PART IV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200" b="1" i="0">
                <a:solidFill>
                  <a:srgbClr val="FFFFFF"/>
                </a:solidFill>
                <a:latin typeface="微软雅黑"/>
              </a:rPr>
              <a:t>建模与评估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703320"/>
            <a:ext cx="73152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8404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CFE3DA"/>
                </a:solidFill>
                <a:latin typeface="微软雅黑"/>
              </a:rPr>
              <a:t>教材 9.5-9.6 — train/test · RMSE · K-Fold · OOB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微软雅黑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微软雅黑"/>
              </a:rPr>
              <a:t>随机森林 — 二手车价格预测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微软雅黑"/>
              </a:rPr>
              <a:t>9.5   训练集 · 测试集划分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微软雅黑"/>
              </a:rPr>
              <a:t>9.5  Hold-out — train_test_split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微软雅黑"/>
              </a:rPr>
              <a:t>一次划分快速评估 (下一节用 CV 加固)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7315200" cy="4251960"/>
          </a:xfrm>
          <a:prstGeom prst="roundRect">
            <a:avLst/>
          </a:prstGeom>
          <a:solidFill>
            <a:srgbClr val="0E1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" y="2157984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7824" y="2157984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42416" y="2157984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212140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9AA7A0"/>
                </a:solidFill>
                <a:latin typeface="Consolas"/>
              </a:rPr>
              <a:t>train_test_split.py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377440"/>
            <a:ext cx="6949440" cy="3794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00">
                <a:solidFill>
                  <a:srgbClr val="7BD389"/>
                </a:solidFill>
                <a:latin typeface="Consolas"/>
              </a:rPr>
              <a:t>from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sklearn</a:t>
            </a:r>
            <a:r>
              <a:rPr sz="1200">
                <a:solidFill>
                  <a:srgbClr val="E8F6EF"/>
                </a:solidFill>
                <a:latin typeface="Consolas"/>
              </a:rPr>
              <a:t>.</a:t>
            </a:r>
            <a:r>
              <a:rPr sz="1200">
                <a:solidFill>
                  <a:srgbClr val="E8F6EF"/>
                </a:solidFill>
                <a:latin typeface="Consolas"/>
              </a:rPr>
              <a:t>model_selection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7BD389"/>
                </a:solidFill>
                <a:latin typeface="Consolas"/>
              </a:rPr>
              <a:t>import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train_test_split</a:t>
            </a:r>
          </a:p>
          <a:p>
            <a:pPr>
              <a:lnSpc>
                <a:spcPct val="118000"/>
              </a:lnSpc>
            </a:pPr>
            <a:r>
              <a:rPr sz="1200">
                <a:latin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9AA7A0"/>
                </a:solidFill>
                <a:latin typeface="Consolas"/>
              </a:rPr>
              <a:t># 1) 分离 X (特征) 与 y (目标)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X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=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data</a:t>
            </a:r>
            <a:r>
              <a:rPr sz="1200">
                <a:solidFill>
                  <a:srgbClr val="E8F6EF"/>
                </a:solidFill>
                <a:latin typeface="Consolas"/>
              </a:rPr>
              <a:t>.</a:t>
            </a:r>
            <a:r>
              <a:rPr sz="1200">
                <a:solidFill>
                  <a:srgbClr val="E8F6EF"/>
                </a:solidFill>
                <a:latin typeface="Consolas"/>
              </a:rPr>
              <a:t>drop</a:t>
            </a:r>
            <a:r>
              <a:rPr sz="1200">
                <a:solidFill>
                  <a:srgbClr val="E8F6EF"/>
                </a:solidFill>
                <a:latin typeface="Consolas"/>
              </a:rPr>
              <a:t>(</a:t>
            </a:r>
            <a:r>
              <a:rPr sz="1200">
                <a:solidFill>
                  <a:srgbClr val="F6B26B"/>
                </a:solidFill>
                <a:latin typeface="Consolas"/>
              </a:rPr>
              <a:t>'selling_price'</a:t>
            </a:r>
            <a:r>
              <a:rPr sz="1200">
                <a:solidFill>
                  <a:srgbClr val="E8F6EF"/>
                </a:solidFill>
                <a:latin typeface="Consolas"/>
              </a:rPr>
              <a:t>,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axis</a:t>
            </a:r>
            <a:r>
              <a:rPr sz="1200">
                <a:solidFill>
                  <a:srgbClr val="E8F6EF"/>
                </a:solidFill>
                <a:latin typeface="Consolas"/>
              </a:rPr>
              <a:t>=</a:t>
            </a:r>
            <a:r>
              <a:rPr sz="1200">
                <a:solidFill>
                  <a:srgbClr val="F2D45F"/>
                </a:solidFill>
                <a:latin typeface="Consolas"/>
              </a:rPr>
              <a:t>1</a:t>
            </a:r>
            <a:r>
              <a:rPr sz="120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y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=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data</a:t>
            </a:r>
            <a:r>
              <a:rPr sz="1200">
                <a:solidFill>
                  <a:srgbClr val="E8F6EF"/>
                </a:solidFill>
                <a:latin typeface="Consolas"/>
              </a:rPr>
              <a:t>[</a:t>
            </a:r>
            <a:r>
              <a:rPr sz="1200">
                <a:solidFill>
                  <a:srgbClr val="F6B26B"/>
                </a:solidFill>
                <a:latin typeface="Consolas"/>
              </a:rPr>
              <a:t>'selling_price'</a:t>
            </a:r>
            <a:r>
              <a:rPr sz="1200">
                <a:solidFill>
                  <a:srgbClr val="E8F6EF"/>
                </a:solidFill>
                <a:latin typeface="Consolas"/>
              </a:rPr>
              <a:t>]</a:t>
            </a:r>
          </a:p>
          <a:p>
            <a:pPr>
              <a:lnSpc>
                <a:spcPct val="118000"/>
              </a:lnSpc>
            </a:pPr>
            <a:r>
              <a:rPr sz="1200">
                <a:latin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9AA7A0"/>
                </a:solidFill>
                <a:latin typeface="Consolas"/>
              </a:rPr>
              <a:t># 2) 8 : 2 划分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X_train</a:t>
            </a:r>
            <a:r>
              <a:rPr sz="1200">
                <a:solidFill>
                  <a:srgbClr val="E8F6EF"/>
                </a:solidFill>
                <a:latin typeface="Consolas"/>
              </a:rPr>
              <a:t>,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X_test</a:t>
            </a:r>
            <a:r>
              <a:rPr sz="1200">
                <a:solidFill>
                  <a:srgbClr val="E8F6EF"/>
                </a:solidFill>
                <a:latin typeface="Consolas"/>
              </a:rPr>
              <a:t>,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y_train</a:t>
            </a:r>
            <a:r>
              <a:rPr sz="1200">
                <a:solidFill>
                  <a:srgbClr val="E8F6EF"/>
                </a:solidFill>
                <a:latin typeface="Consolas"/>
              </a:rPr>
              <a:t>,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y_test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=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train_test_split</a:t>
            </a:r>
            <a:r>
              <a:rPr sz="1200">
                <a:solidFill>
                  <a:srgbClr val="E8F6EF"/>
                </a:solidFill>
                <a:latin typeface="Consolas"/>
              </a:rPr>
              <a:t>(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X</a:t>
            </a:r>
            <a:r>
              <a:rPr sz="1200">
                <a:solidFill>
                  <a:srgbClr val="E8F6EF"/>
                </a:solidFill>
                <a:latin typeface="Consolas"/>
              </a:rPr>
              <a:t>,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y</a:t>
            </a:r>
            <a:r>
              <a:rPr sz="120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test_size</a:t>
            </a:r>
            <a:r>
              <a:rPr sz="1200">
                <a:solidFill>
                  <a:srgbClr val="E8F6EF"/>
                </a:solidFill>
                <a:latin typeface="Consolas"/>
              </a:rPr>
              <a:t>=</a:t>
            </a:r>
            <a:r>
              <a:rPr sz="1200">
                <a:solidFill>
                  <a:srgbClr val="F2D45F"/>
                </a:solidFill>
                <a:latin typeface="Consolas"/>
              </a:rPr>
              <a:t>0.2</a:t>
            </a:r>
            <a:r>
              <a:rPr sz="1200">
                <a:solidFill>
                  <a:srgbClr val="E8F6EF"/>
                </a:solidFill>
                <a:latin typeface="Consolas"/>
              </a:rPr>
              <a:t>,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9AA7A0"/>
                </a:solidFill>
                <a:latin typeface="Consolas"/>
              </a:rPr>
              <a:t># 测试集 20%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random_state</a:t>
            </a:r>
            <a:r>
              <a:rPr sz="1200">
                <a:solidFill>
                  <a:srgbClr val="E8F6EF"/>
                </a:solidFill>
                <a:latin typeface="Consolas"/>
              </a:rPr>
              <a:t>=</a:t>
            </a:r>
            <a:r>
              <a:rPr sz="1200">
                <a:solidFill>
                  <a:srgbClr val="F2D45F"/>
                </a:solidFill>
                <a:latin typeface="Consolas"/>
              </a:rPr>
              <a:t>100</a:t>
            </a:r>
            <a:r>
              <a:rPr sz="1200">
                <a:solidFill>
                  <a:srgbClr val="E8F6EF"/>
                </a:solidFill>
                <a:latin typeface="Consolas"/>
              </a:rPr>
              <a:t>,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9AA7A0"/>
                </a:solidFill>
                <a:latin typeface="Consolas"/>
              </a:rPr>
              <a:t># 固定随机种子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</a:pPr>
            <a:r>
              <a:rPr sz="1200">
                <a:latin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X_train</a:t>
            </a:r>
            <a:r>
              <a:rPr sz="1200">
                <a:solidFill>
                  <a:srgbClr val="E8F6EF"/>
                </a:solidFill>
                <a:latin typeface="Consolas"/>
              </a:rPr>
              <a:t>.</a:t>
            </a:r>
            <a:r>
              <a:rPr sz="1200">
                <a:solidFill>
                  <a:srgbClr val="E8F6EF"/>
                </a:solidFill>
                <a:latin typeface="Consolas"/>
              </a:rPr>
              <a:t>shape</a:t>
            </a:r>
            <a:r>
              <a:rPr sz="1200">
                <a:solidFill>
                  <a:srgbClr val="E8F6EF"/>
                </a:solidFill>
                <a:latin typeface="Consolas"/>
              </a:rPr>
              <a:t>,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X_test</a:t>
            </a:r>
            <a:r>
              <a:rPr sz="1200">
                <a:solidFill>
                  <a:srgbClr val="E8F6EF"/>
                </a:solidFill>
                <a:latin typeface="Consolas"/>
              </a:rPr>
              <a:t>.</a:t>
            </a:r>
            <a:r>
              <a:rPr sz="1200">
                <a:solidFill>
                  <a:srgbClr val="E8F6EF"/>
                </a:solidFill>
                <a:latin typeface="Consolas"/>
              </a:rPr>
              <a:t>shape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9AA7A0"/>
                </a:solidFill>
                <a:latin typeface="Consolas"/>
              </a:rPr>
              <a:t># ((6324, ~50), (1582, ~50))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2011680"/>
            <a:ext cx="3657600" cy="4251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21031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F6F5A"/>
                </a:solidFill>
                <a:latin typeface="微软雅黑"/>
              </a:rPr>
              <a:t>📊  8 : 2 划分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2560320"/>
            <a:ext cx="2706624" cy="548640"/>
          </a:xfrm>
          <a:prstGeom prst="round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2560320"/>
            <a:ext cx="270662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</a:rPr>
              <a:t>Train  80%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36224" y="2560320"/>
            <a:ext cx="676656" cy="548640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36224" y="2560320"/>
            <a:ext cx="67665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微软雅黑"/>
              </a:rPr>
              <a:t>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2004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556B68"/>
                </a:solidFill>
                <a:latin typeface="Consolas"/>
              </a:rPr>
              <a:t>6,324 行 + 1,582 行 = 7,906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3657600"/>
            <a:ext cx="3611880" cy="2606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92440" y="3657600"/>
            <a:ext cx="91440" cy="2606040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48472" y="382219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524A"/>
                </a:solidFill>
                <a:latin typeface="微软雅黑"/>
              </a:rPr>
              <a:t>📌  要点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48472" y="4315968"/>
            <a:ext cx="3154680" cy="1874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• test_size=0.2 → 评估 20%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• random_state 固定 → 可复现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• y(目标) 没从 X 排除 → 泄漏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• 回归不能直接 stratify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  (须先分箱再 stratify)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机器学习 · 第 9 章  随机森林 — 二手车价格预测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33 / 66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微软雅黑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微软雅黑"/>
              </a:rPr>
              <a:t>随机森林 — 二手车价格预测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微软雅黑"/>
              </a:rPr>
              <a:t>9.5   基础模型训练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微软雅黑"/>
              </a:rPr>
              <a:t>9.5  RandomForestRegressor — 第一个基线模型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微软雅黑"/>
              </a:rPr>
              <a:t>先建基线再调优 — 默认参数训练第一个版本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7498079" cy="4251960"/>
          </a:xfrm>
          <a:prstGeom prst="roundRect">
            <a:avLst/>
          </a:prstGeom>
          <a:solidFill>
            <a:srgbClr val="0E1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" y="2157984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7824" y="2157984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42416" y="2157984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2121408"/>
            <a:ext cx="65836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9AA7A0"/>
                </a:solidFill>
                <a:latin typeface="Consolas"/>
              </a:rPr>
              <a:t>fit_first_model.py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377440"/>
            <a:ext cx="7132319" cy="3794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>
                <a:solidFill>
                  <a:srgbClr val="7BD389"/>
                </a:solidFill>
                <a:latin typeface="Consolas"/>
              </a:rPr>
              <a:t>from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sklearn</a:t>
            </a:r>
            <a:r>
              <a:rPr sz="1150">
                <a:solidFill>
                  <a:srgbClr val="E8F6EF"/>
                </a:solidFill>
                <a:latin typeface="Consolas"/>
              </a:rPr>
              <a:t>.</a:t>
            </a:r>
            <a:r>
              <a:rPr sz="1150">
                <a:solidFill>
                  <a:srgbClr val="E8F6EF"/>
                </a:solidFill>
                <a:latin typeface="Consolas"/>
              </a:rPr>
              <a:t>ensemble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7BD389"/>
                </a:solidFill>
                <a:latin typeface="Consolas"/>
              </a:rPr>
              <a:t>import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RandomForestRegressor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7BD389"/>
                </a:solidFill>
                <a:latin typeface="Consolas"/>
              </a:rPr>
              <a:t>from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sklearn</a:t>
            </a:r>
            <a:r>
              <a:rPr sz="1150">
                <a:solidFill>
                  <a:srgbClr val="E8F6EF"/>
                </a:solidFill>
                <a:latin typeface="Consolas"/>
              </a:rPr>
              <a:t>.</a:t>
            </a:r>
            <a:r>
              <a:rPr sz="1150">
                <a:solidFill>
                  <a:srgbClr val="E8F6EF"/>
                </a:solidFill>
                <a:latin typeface="Consolas"/>
              </a:rPr>
              <a:t>metrics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7BD389"/>
                </a:solidFill>
                <a:latin typeface="Consolas"/>
              </a:rPr>
              <a:t>import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mean_squared_error</a:t>
            </a:r>
          </a:p>
          <a:p>
            <a:pPr>
              <a:lnSpc>
                <a:spcPct val="118000"/>
              </a:lnSpc>
            </a:pPr>
            <a:r>
              <a:rPr sz="1150">
                <a:latin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9AA7A0"/>
                </a:solidFill>
                <a:latin typeface="Consolas"/>
              </a:rPr>
              <a:t># 1) 建模 (使用默认超参)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model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RandomForestRegressor</a:t>
            </a:r>
            <a:r>
              <a:rPr sz="1150">
                <a:solidFill>
                  <a:srgbClr val="E8F6EF"/>
                </a:solidFill>
                <a:latin typeface="Consolas"/>
              </a:rPr>
              <a:t>(</a:t>
            </a:r>
            <a:r>
              <a:rPr sz="1150">
                <a:solidFill>
                  <a:srgbClr val="E8F6EF"/>
                </a:solidFill>
                <a:latin typeface="Consolas"/>
              </a:rPr>
              <a:t>random_state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F2D45F"/>
                </a:solidFill>
                <a:latin typeface="Consolas"/>
              </a:rPr>
              <a:t>100</a:t>
            </a:r>
            <a:r>
              <a:rPr sz="11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</a:pPr>
            <a:r>
              <a:rPr sz="1150">
                <a:latin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9AA7A0"/>
                </a:solidFill>
                <a:latin typeface="Consolas"/>
              </a:rPr>
              <a:t># 2) 训练 — fit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model</a:t>
            </a:r>
            <a:r>
              <a:rPr sz="1150">
                <a:solidFill>
                  <a:srgbClr val="E8F6EF"/>
                </a:solidFill>
                <a:latin typeface="Consolas"/>
              </a:rPr>
              <a:t>.</a:t>
            </a:r>
            <a:r>
              <a:rPr sz="1150">
                <a:solidFill>
                  <a:srgbClr val="E8F6EF"/>
                </a:solidFill>
                <a:latin typeface="Consolas"/>
              </a:rPr>
              <a:t>fit</a:t>
            </a:r>
            <a:r>
              <a:rPr sz="1150">
                <a:solidFill>
                  <a:srgbClr val="E8F6EF"/>
                </a:solidFill>
                <a:latin typeface="Consolas"/>
              </a:rPr>
              <a:t>(</a:t>
            </a:r>
            <a:r>
              <a:rPr sz="1150">
                <a:solidFill>
                  <a:srgbClr val="E8F6EF"/>
                </a:solidFill>
                <a:latin typeface="Consolas"/>
              </a:rPr>
              <a:t>X_train</a:t>
            </a:r>
            <a:r>
              <a:rPr sz="1150">
                <a:solidFill>
                  <a:srgbClr val="E8F6EF"/>
                </a:solidFill>
                <a:latin typeface="Consolas"/>
              </a:rPr>
              <a:t>,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y_train</a:t>
            </a:r>
            <a:r>
              <a:rPr sz="11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</a:pPr>
            <a:r>
              <a:rPr sz="1150">
                <a:latin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9AA7A0"/>
                </a:solidFill>
                <a:latin typeface="Consolas"/>
              </a:rPr>
              <a:t># 3) 预测 — train / test 都做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train_pred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model</a:t>
            </a:r>
            <a:r>
              <a:rPr sz="1150">
                <a:solidFill>
                  <a:srgbClr val="E8F6EF"/>
                </a:solidFill>
                <a:latin typeface="Consolas"/>
              </a:rPr>
              <a:t>.</a:t>
            </a:r>
            <a:r>
              <a:rPr sz="1150">
                <a:solidFill>
                  <a:srgbClr val="E8F6EF"/>
                </a:solidFill>
                <a:latin typeface="Consolas"/>
              </a:rPr>
              <a:t>predict</a:t>
            </a:r>
            <a:r>
              <a:rPr sz="1150">
                <a:solidFill>
                  <a:srgbClr val="E8F6EF"/>
                </a:solidFill>
                <a:latin typeface="Consolas"/>
              </a:rPr>
              <a:t>(</a:t>
            </a:r>
            <a:r>
              <a:rPr sz="1150">
                <a:solidFill>
                  <a:srgbClr val="E8F6EF"/>
                </a:solidFill>
                <a:latin typeface="Consolas"/>
              </a:rPr>
              <a:t>X_train</a:t>
            </a:r>
            <a:r>
              <a:rPr sz="11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test_pred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model</a:t>
            </a:r>
            <a:r>
              <a:rPr sz="1150">
                <a:solidFill>
                  <a:srgbClr val="E8F6EF"/>
                </a:solidFill>
                <a:latin typeface="Consolas"/>
              </a:rPr>
              <a:t>.</a:t>
            </a:r>
            <a:r>
              <a:rPr sz="1150">
                <a:solidFill>
                  <a:srgbClr val="E8F6EF"/>
                </a:solidFill>
                <a:latin typeface="Consolas"/>
              </a:rPr>
              <a:t>predict</a:t>
            </a:r>
            <a:r>
              <a:rPr sz="1150">
                <a:solidFill>
                  <a:srgbClr val="E8F6EF"/>
                </a:solidFill>
                <a:latin typeface="Consolas"/>
              </a:rPr>
              <a:t>(</a:t>
            </a:r>
            <a:r>
              <a:rPr sz="1150">
                <a:solidFill>
                  <a:srgbClr val="E8F6EF"/>
                </a:solidFill>
                <a:latin typeface="Consolas"/>
              </a:rPr>
              <a:t>X_test</a:t>
            </a:r>
            <a:r>
              <a:rPr sz="11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</a:pPr>
            <a:r>
              <a:rPr sz="1150">
                <a:latin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9AA7A0"/>
                </a:solidFill>
                <a:latin typeface="Consolas"/>
              </a:rPr>
              <a:t># 4) 计算 RMSE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train_rmse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mean_squared_error</a:t>
            </a:r>
            <a:r>
              <a:rPr sz="1150">
                <a:solidFill>
                  <a:srgbClr val="E8F6EF"/>
                </a:solidFill>
                <a:latin typeface="Consolas"/>
              </a:rPr>
              <a:t>(</a:t>
            </a:r>
            <a:r>
              <a:rPr sz="1150">
                <a:solidFill>
                  <a:srgbClr val="E8F6EF"/>
                </a:solidFill>
                <a:latin typeface="Consolas"/>
              </a:rPr>
              <a:t>y_train</a:t>
            </a:r>
            <a:r>
              <a:rPr sz="1150">
                <a:solidFill>
                  <a:srgbClr val="E8F6EF"/>
                </a:solidFill>
                <a:latin typeface="Consolas"/>
              </a:rPr>
              <a:t>,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train_pred</a:t>
            </a:r>
            <a:r>
              <a:rPr sz="1150">
                <a:solidFill>
                  <a:srgbClr val="E8F6EF"/>
                </a:solidFill>
                <a:latin typeface="Consolas"/>
              </a:rPr>
              <a:t>)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*</a:t>
            </a:r>
            <a:r>
              <a:rPr sz="1150">
                <a:solidFill>
                  <a:srgbClr val="E8F6EF"/>
                </a:solidFill>
                <a:latin typeface="Consolas"/>
              </a:rPr>
              <a:t>*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F2D45F"/>
                </a:solidFill>
                <a:latin typeface="Consolas"/>
              </a:rPr>
              <a:t>0.5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test_rmse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mean_squared_error</a:t>
            </a:r>
            <a:r>
              <a:rPr sz="1150">
                <a:solidFill>
                  <a:srgbClr val="E8F6EF"/>
                </a:solidFill>
                <a:latin typeface="Consolas"/>
              </a:rPr>
              <a:t>(</a:t>
            </a:r>
            <a:r>
              <a:rPr sz="1150">
                <a:solidFill>
                  <a:srgbClr val="E8F6EF"/>
                </a:solidFill>
                <a:latin typeface="Consolas"/>
              </a:rPr>
              <a:t>y_test</a:t>
            </a:r>
            <a:r>
              <a:rPr sz="1150">
                <a:solidFill>
                  <a:srgbClr val="E8F6EF"/>
                </a:solidFill>
                <a:latin typeface="Consolas"/>
              </a:rPr>
              <a:t>,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test_pred</a:t>
            </a:r>
            <a:r>
              <a:rPr sz="1150">
                <a:solidFill>
                  <a:srgbClr val="E8F6EF"/>
                </a:solidFill>
                <a:latin typeface="Consolas"/>
              </a:rPr>
              <a:t>)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*</a:t>
            </a:r>
            <a:r>
              <a:rPr sz="1150">
                <a:solidFill>
                  <a:srgbClr val="E8F6EF"/>
                </a:solidFill>
                <a:latin typeface="Consolas"/>
              </a:rPr>
              <a:t>*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F2D45F"/>
                </a:solidFill>
                <a:latin typeface="Consolas"/>
              </a:rPr>
              <a:t>0.5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8FB8E0"/>
                </a:solidFill>
                <a:latin typeface="Consolas"/>
              </a:rPr>
              <a:t>print</a:t>
            </a:r>
            <a:r>
              <a:rPr sz="1150">
                <a:solidFill>
                  <a:srgbClr val="E8F6EF"/>
                </a:solidFill>
                <a:latin typeface="Consolas"/>
              </a:rPr>
              <a:t>(</a:t>
            </a:r>
            <a:r>
              <a:rPr sz="1150">
                <a:solidFill>
                  <a:srgbClr val="F6B26B"/>
                </a:solidFill>
                <a:latin typeface="Consolas"/>
              </a:rPr>
              <a:t>'train_rmse:'</a:t>
            </a:r>
            <a:r>
              <a:rPr sz="1150">
                <a:solidFill>
                  <a:srgbClr val="E8F6EF"/>
                </a:solidFill>
                <a:latin typeface="Consolas"/>
              </a:rPr>
              <a:t>,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train_rmse</a:t>
            </a:r>
            <a:r>
              <a:rPr sz="115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F6B26B"/>
                </a:solidFill>
                <a:latin typeface="Consolas"/>
              </a:rPr>
              <a:t>'test_rmse :'</a:t>
            </a:r>
            <a:r>
              <a:rPr sz="1150">
                <a:solidFill>
                  <a:srgbClr val="E8F6EF"/>
                </a:solidFill>
                <a:latin typeface="Consolas"/>
              </a:rPr>
              <a:t>,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test_rmse</a:t>
            </a:r>
            <a:r>
              <a:rPr sz="1150">
                <a:solidFill>
                  <a:srgbClr val="E8F6EF"/>
                </a:solidFill>
                <a:latin typeface="Consolas"/>
              </a:rPr>
              <a:t>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201168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10312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F6F5A"/>
                </a:solidFill>
                <a:latin typeface="微软雅黑"/>
              </a:rPr>
              <a:t>📈  RMSE 结果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0" y="2560320"/>
            <a:ext cx="3108960" cy="502920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2560320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train  ≈   53,531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0" y="3154680"/>
            <a:ext cx="3108960" cy="502920"/>
          </a:xfrm>
          <a:prstGeom prst="roundRect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3154680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test   ≈  131,855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70332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50" b="1" i="0">
                <a:solidFill>
                  <a:srgbClr val="D47A2C"/>
                </a:solidFill>
                <a:latin typeface="微软雅黑"/>
              </a:rPr>
              <a:t>→ train ≪ test</a:t>
            </a:r>
          </a:p>
          <a:p>
            <a:pPr algn="ctr">
              <a:lnSpc>
                <a:spcPct val="140000"/>
              </a:lnSpc>
            </a:pPr>
            <a:r>
              <a:rPr sz="1050" b="1" i="0">
                <a:solidFill>
                  <a:srgbClr val="D47A2C"/>
                </a:solidFill>
                <a:latin typeface="微软雅黑"/>
              </a:rPr>
              <a:t>   = 过拟合迹象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4343400"/>
            <a:ext cx="3474720" cy="192024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44348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2A44F"/>
                </a:solidFill>
                <a:latin typeface="微软雅黑"/>
              </a:rPr>
              <a:t>💬  教师讲解要点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727448"/>
            <a:ext cx="3108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「train 5 万、test 13 万 — 模型只擅长背训练数据」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下一节用 K-Fold CV 做「公平评估」。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机器学习 · 第 9 章  随机森林 — 二手车价格预测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34 / 66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微软雅黑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微软雅黑"/>
              </a:rPr>
              <a:t>随机森林 — 二手车价格预测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微软雅黑"/>
              </a:rPr>
              <a:t>9.5   RMSE 解读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微软雅黑"/>
              </a:rPr>
              <a:t>把 RMSE 数字「翻译成话」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微软雅黑"/>
              </a:rPr>
              <a:t>「平均偏差大约 ±13 万印度卢比」— 单位就是价格,直观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1115568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011680"/>
            <a:ext cx="137160" cy="822960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10312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524A"/>
                </a:solidFill>
                <a:latin typeface="微软雅黑"/>
              </a:rPr>
              <a:t>📐  RMSE = Root Mean Squared Error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2450592"/>
            <a:ext cx="10607040" cy="320040"/>
          </a:xfrm>
          <a:prstGeom prst="round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450592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4524A"/>
                </a:solidFill>
                <a:latin typeface="Consolas"/>
              </a:rPr>
              <a:t>RMSE  =  √( (1/n) · Σ (yᵢ − ŷᵢ)² 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017520"/>
            <a:ext cx="36576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017520"/>
            <a:ext cx="91440" cy="2286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318211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4524A"/>
                </a:solidFill>
                <a:latin typeface="微软雅黑"/>
              </a:rPr>
              <a:t>✓  单位一致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3675888"/>
            <a:ext cx="32004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目标是「价格(₹)」, RMSE 单位也是 ₹。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→ 可直接说「平均偏差约 X 元」。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3017520"/>
            <a:ext cx="36576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43400" y="3017520"/>
            <a:ext cx="91440" cy="2286000"/>
          </a:xfrm>
          <a:prstGeom prst="rect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9432" y="318211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4524A"/>
                </a:solidFill>
                <a:latin typeface="微软雅黑"/>
              </a:rPr>
              <a:t>⚠️  对大误差敏感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9432" y="3675888"/>
            <a:ext cx="32004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先平方再平均 → 一个大误差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比多个小误差对 RMSE 影响更大。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豪车预测失败容易拉高分数。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017520"/>
            <a:ext cx="36576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017520"/>
            <a:ext cx="91440" cy="2286000"/>
          </a:xfrm>
          <a:prstGeom prst="rect">
            <a:avLst/>
          </a:prstGeom>
          <a:solidFill>
            <a:srgbClr val="3B6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94192" y="318211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4524A"/>
                </a:solidFill>
                <a:latin typeface="微软雅黑"/>
              </a:rPr>
              <a:t>🆚  搭配 MAE 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3675888"/>
            <a:ext cx="32004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MAE = mean( |y−ŷ| ) — 绝对值平均。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若 RMSE 远大于 MAE,说明「有大误差离群点」。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两者并看更易看清残差分布。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486400"/>
            <a:ext cx="11155680" cy="82296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57784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2A44F"/>
                </a:solidFill>
                <a:latin typeface="微软雅黑"/>
              </a:rPr>
              <a:t>💬  教师讲解要点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87044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让学生把 test_rmse ≈ 131,855 翻译为「平均偏差约 13 万印度卢比 (约 1.6 万元人民币)」。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用学生熟悉的货币单位换算,模型质量瞬间有了直觉。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机器学习 · 第 9 章  随机森林 — 二手车价格预测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35 / 66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微软雅黑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微软雅黑"/>
              </a:rPr>
              <a:t>随机森林 — 二手车价格预测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微软雅黑"/>
              </a:rPr>
              <a:t>9.6   K 折交叉验证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微软雅黑"/>
              </a:rPr>
              <a:t>9.6  K 折交叉验证 — 不依赖单次划分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微软雅黑"/>
              </a:rPr>
              <a:t>把数据分 K 份, K 次轮流训练+评估, 取平均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2880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4524A"/>
                </a:solidFill>
                <a:latin typeface="微软雅黑"/>
              </a:rPr>
              <a:t>Iter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1828800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4524A"/>
                </a:solidFill>
                <a:latin typeface="微软雅黑"/>
              </a:rPr>
              <a:t>Fold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53512" y="1828800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4524A"/>
                </a:solidFill>
                <a:latin typeface="微软雅黑"/>
              </a:rPr>
              <a:t>Fold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18304" y="1828800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4524A"/>
                </a:solidFill>
                <a:latin typeface="微软雅黑"/>
              </a:rPr>
              <a:t>Fold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1828800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4524A"/>
                </a:solidFill>
                <a:latin typeface="微软雅黑"/>
              </a:rPr>
              <a:t>Fold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1828800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4524A"/>
                </a:solidFill>
                <a:latin typeface="微软雅黑"/>
              </a:rPr>
              <a:t>Fold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19456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B2B2A"/>
                </a:solidFill>
                <a:latin typeface="微软雅黑"/>
              </a:rPr>
              <a:t>#1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88720" y="2194560"/>
            <a:ext cx="1691640" cy="457200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219456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</a:rPr>
              <a:t>TRAIN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53512" y="2194560"/>
            <a:ext cx="1691640" cy="457200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53512" y="219456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</a:rPr>
              <a:t>TRAIN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18304" y="2194560"/>
            <a:ext cx="1691640" cy="457200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18304" y="219456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</a:rPr>
              <a:t>TRAIN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83096" y="2194560"/>
            <a:ext cx="1691640" cy="457200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83096" y="219456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</a:rPr>
              <a:t>TRAIN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47888" y="2194560"/>
            <a:ext cx="1691640" cy="457200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7888" y="219456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</a:rPr>
              <a:t>TEST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04120" y="2194560"/>
            <a:ext cx="1371600" cy="457200"/>
          </a:xfrm>
          <a:prstGeom prst="round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04120" y="219456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14524A"/>
                </a:solidFill>
                <a:latin typeface="Consolas"/>
              </a:rPr>
              <a:t>RMSE = 50,825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278892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B2B2A"/>
                </a:solidFill>
                <a:latin typeface="微软雅黑"/>
              </a:rPr>
              <a:t>#2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88720" y="2788920"/>
            <a:ext cx="1691640" cy="457200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88720" y="278892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</a:rPr>
              <a:t>TRAIN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953512" y="2788920"/>
            <a:ext cx="1691640" cy="457200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53512" y="278892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</a:rPr>
              <a:t>TRAIN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18304" y="2788920"/>
            <a:ext cx="1691640" cy="457200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278892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</a:rPr>
              <a:t>TRAIN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83096" y="2788920"/>
            <a:ext cx="1691640" cy="457200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83096" y="278892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</a:rPr>
              <a:t>TEST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47888" y="2788920"/>
            <a:ext cx="1691640" cy="457200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47888" y="278892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</a:rPr>
              <a:t>TRAIN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104120" y="2788920"/>
            <a:ext cx="1371600" cy="457200"/>
          </a:xfrm>
          <a:prstGeom prst="round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104120" y="27889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14524A"/>
                </a:solidFill>
                <a:latin typeface="Consolas"/>
              </a:rPr>
              <a:t>RMSE = 56,654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338328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B2B2A"/>
                </a:solidFill>
                <a:latin typeface="微软雅黑"/>
              </a:rPr>
              <a:t>#3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188720" y="3383280"/>
            <a:ext cx="1691640" cy="457200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88720" y="338328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</a:rPr>
              <a:t>TRAIN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953512" y="3383280"/>
            <a:ext cx="1691640" cy="457200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953512" y="338328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</a:rPr>
              <a:t>TRAIN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718304" y="3383280"/>
            <a:ext cx="1691640" cy="457200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18304" y="338328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</a:rPr>
              <a:t>TEST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83096" y="3383280"/>
            <a:ext cx="1691640" cy="457200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83096" y="338328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</a:rPr>
              <a:t>TRAIN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247888" y="3383280"/>
            <a:ext cx="1691640" cy="457200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47888" y="338328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</a:rPr>
              <a:t>TRAIN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104120" y="3383280"/>
            <a:ext cx="1371600" cy="457200"/>
          </a:xfrm>
          <a:prstGeom prst="round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104120" y="338328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14524A"/>
                </a:solidFill>
                <a:latin typeface="Consolas"/>
              </a:rPr>
              <a:t>RMSE = 57,904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39776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B2B2A"/>
                </a:solidFill>
                <a:latin typeface="微软雅黑"/>
              </a:rPr>
              <a:t>#4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188720" y="3977640"/>
            <a:ext cx="1691640" cy="457200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88720" y="397764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</a:rPr>
              <a:t>TRAIN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953512" y="3977640"/>
            <a:ext cx="1691640" cy="457200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953512" y="397764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</a:rPr>
              <a:t>TEST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718304" y="3977640"/>
            <a:ext cx="1691640" cy="457200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18304" y="397764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</a:rPr>
              <a:t>TRAIN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483096" y="3977640"/>
            <a:ext cx="1691640" cy="457200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83096" y="397764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</a:rPr>
              <a:t>TRAIN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247888" y="3977640"/>
            <a:ext cx="1691640" cy="457200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247888" y="397764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</a:rPr>
              <a:t>TRAIN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0104120" y="3977640"/>
            <a:ext cx="1371600" cy="457200"/>
          </a:xfrm>
          <a:prstGeom prst="round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104120" y="397764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14524A"/>
                </a:solidFill>
                <a:latin typeface="Consolas"/>
              </a:rPr>
              <a:t>RMSE = 56,218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8640" y="457200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B2B2A"/>
                </a:solidFill>
                <a:latin typeface="微软雅黑"/>
              </a:rPr>
              <a:t>#5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188720" y="4572000"/>
            <a:ext cx="1691640" cy="457200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188720" y="457200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</a:rPr>
              <a:t>TEST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2953512" y="4572000"/>
            <a:ext cx="1691640" cy="457200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953512" y="457200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</a:rPr>
              <a:t>TRAIN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718304" y="4572000"/>
            <a:ext cx="1691640" cy="457200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718304" y="457200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</a:rPr>
              <a:t>TRAIN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483096" y="4572000"/>
            <a:ext cx="1691640" cy="457200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83096" y="457200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</a:rPr>
              <a:t>TRAIN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247888" y="4572000"/>
            <a:ext cx="1691640" cy="457200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247888" y="457200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</a:rPr>
              <a:t>TRAIN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0104120" y="4572000"/>
            <a:ext cx="1371600" cy="457200"/>
          </a:xfrm>
          <a:prstGeom prst="round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104120" y="457200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14524A"/>
                </a:solidFill>
                <a:latin typeface="Consolas"/>
              </a:rPr>
              <a:t>RMSE = 58,967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48640" y="5486400"/>
            <a:ext cx="11155680" cy="50292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77240" y="548640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 i="0">
                <a:solidFill>
                  <a:srgbClr val="FFFFFF"/>
                </a:solidFill>
                <a:latin typeface="Consolas"/>
              </a:rPr>
              <a:t>最终评估  =  ( 50,825 + 56,654 + 57,904 + 56,218 + 58,967 ) / 5  =  56,113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48640" y="6080760"/>
            <a:ext cx="11155680" cy="50292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31520" y="61722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2A44F"/>
                </a:solidFill>
                <a:latin typeface="微软雅黑"/>
              </a:rPr>
              <a:t>💬  教师讲解要点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31520" y="6464808"/>
            <a:ext cx="10789920" cy="45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比喻: 按学号分成 5 组 — 每组轮流当一次「考试组」, 共考 5 次。平均才是真实实力。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机器学习 · 第 9 章  随机森林 — 二手车价格预测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36 / 66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微软雅黑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微软雅黑"/>
              </a:rPr>
              <a:t>随机森林 — 二手车价格预测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微软雅黑"/>
              </a:rPr>
              <a:t>9.6   KFold 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微软雅黑"/>
              </a:rPr>
              <a:t>9.6  KFold + for 循环实现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微软雅黑"/>
              </a:rPr>
              <a:t>reset_index() 后用 split() 索引循环训练评估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7955279" cy="4297680"/>
          </a:xfrm>
          <a:prstGeom prst="roundRect">
            <a:avLst/>
          </a:prstGeom>
          <a:solidFill>
            <a:srgbClr val="0E1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" y="2157984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7824" y="2157984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42416" y="2157984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2121408"/>
            <a:ext cx="7040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9AA7A0"/>
                </a:solidFill>
                <a:latin typeface="Consolas"/>
              </a:rPr>
              <a:t>kfold_loop.py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377440"/>
            <a:ext cx="7589519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950">
                <a:solidFill>
                  <a:srgbClr val="7BD389"/>
                </a:solidFill>
                <a:latin typeface="Consolas"/>
              </a:rPr>
              <a:t>from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sklearn</a:t>
            </a:r>
            <a:r>
              <a:rPr sz="950">
                <a:solidFill>
                  <a:srgbClr val="E8F6EF"/>
                </a:solidFill>
                <a:latin typeface="Consolas"/>
              </a:rPr>
              <a:t>.</a:t>
            </a:r>
            <a:r>
              <a:rPr sz="950">
                <a:solidFill>
                  <a:srgbClr val="E8F6EF"/>
                </a:solidFill>
                <a:latin typeface="Consolas"/>
              </a:rPr>
              <a:t>model_selection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7BD389"/>
                </a:solidFill>
                <a:latin typeface="Consolas"/>
              </a:rPr>
              <a:t>import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KFold</a:t>
            </a:r>
          </a:p>
          <a:p>
            <a:pPr>
              <a:lnSpc>
                <a:spcPct val="105000"/>
              </a:lnSpc>
            </a:pPr>
            <a:r>
              <a:rPr sz="950">
                <a:latin typeface="Consolas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data</a:t>
            </a:r>
            <a:r>
              <a:rPr sz="950">
                <a:solidFill>
                  <a:srgbClr val="E8F6EF"/>
                </a:solidFill>
                <a:latin typeface="Consolas"/>
              </a:rPr>
              <a:t>.</a:t>
            </a:r>
            <a:r>
              <a:rPr sz="950">
                <a:solidFill>
                  <a:srgbClr val="E8F6EF"/>
                </a:solidFill>
                <a:latin typeface="Consolas"/>
              </a:rPr>
              <a:t>reset_index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  <a:r>
              <a:rPr sz="950">
                <a:solidFill>
                  <a:srgbClr val="E8F6EF"/>
                </a:solidFill>
                <a:latin typeface="Consolas"/>
              </a:rPr>
              <a:t>drop</a:t>
            </a:r>
            <a:r>
              <a:rPr sz="950">
                <a:solidFill>
                  <a:srgbClr val="E8F6EF"/>
                </a:solidFill>
                <a:latin typeface="Consolas"/>
              </a:rPr>
              <a:t>=</a:t>
            </a:r>
            <a:r>
              <a:rPr sz="950">
                <a:solidFill>
                  <a:srgbClr val="7BD389"/>
                </a:solidFill>
                <a:latin typeface="Consolas"/>
              </a:rPr>
              <a:t>True</a:t>
            </a:r>
            <a:r>
              <a:rPr sz="950">
                <a:solidFill>
                  <a:srgbClr val="E8F6EF"/>
                </a:solidFill>
                <a:latin typeface="Consolas"/>
              </a:rPr>
              <a:t>,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inplace</a:t>
            </a:r>
            <a:r>
              <a:rPr sz="950">
                <a:solidFill>
                  <a:srgbClr val="E8F6EF"/>
                </a:solidFill>
                <a:latin typeface="Consolas"/>
              </a:rPr>
              <a:t>=</a:t>
            </a:r>
            <a:r>
              <a:rPr sz="950">
                <a:solidFill>
                  <a:srgbClr val="7BD389"/>
                </a:solidFill>
                <a:latin typeface="Consolas"/>
              </a:rPr>
              <a:t>True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9AA7A0"/>
                </a:solidFill>
                <a:latin typeface="Consolas"/>
              </a:rPr>
              <a:t># 清理索引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kf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=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KFold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  <a:r>
              <a:rPr sz="950">
                <a:solidFill>
                  <a:srgbClr val="E8F6EF"/>
                </a:solidFill>
                <a:latin typeface="Consolas"/>
              </a:rPr>
              <a:t>n_splits</a:t>
            </a:r>
            <a:r>
              <a:rPr sz="950">
                <a:solidFill>
                  <a:srgbClr val="E8F6EF"/>
                </a:solidFill>
                <a:latin typeface="Consolas"/>
              </a:rPr>
              <a:t>=</a:t>
            </a:r>
            <a:r>
              <a:rPr sz="950">
                <a:solidFill>
                  <a:srgbClr val="F2D45F"/>
                </a:solidFill>
                <a:latin typeface="Consolas"/>
              </a:rPr>
              <a:t>5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X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=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data</a:t>
            </a:r>
            <a:r>
              <a:rPr sz="950">
                <a:solidFill>
                  <a:srgbClr val="E8F6EF"/>
                </a:solidFill>
                <a:latin typeface="Consolas"/>
              </a:rPr>
              <a:t>.</a:t>
            </a:r>
            <a:r>
              <a:rPr sz="950">
                <a:solidFill>
                  <a:srgbClr val="E8F6EF"/>
                </a:solidFill>
                <a:latin typeface="Consolas"/>
              </a:rPr>
              <a:t>drop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  <a:r>
              <a:rPr sz="950">
                <a:solidFill>
                  <a:srgbClr val="F6B26B"/>
                </a:solidFill>
                <a:latin typeface="Consolas"/>
              </a:rPr>
              <a:t>'selling_price'</a:t>
            </a:r>
            <a:r>
              <a:rPr sz="950">
                <a:solidFill>
                  <a:srgbClr val="E8F6EF"/>
                </a:solidFill>
                <a:latin typeface="Consolas"/>
              </a:rPr>
              <a:t>,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axis</a:t>
            </a:r>
            <a:r>
              <a:rPr sz="950">
                <a:solidFill>
                  <a:srgbClr val="E8F6EF"/>
                </a:solidFill>
                <a:latin typeface="Consolas"/>
              </a:rPr>
              <a:t>=</a:t>
            </a:r>
            <a:r>
              <a:rPr sz="950">
                <a:solidFill>
                  <a:srgbClr val="F2D45F"/>
                </a:solidFill>
                <a:latin typeface="Consolas"/>
              </a:rPr>
              <a:t>1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y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=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data</a:t>
            </a:r>
            <a:r>
              <a:rPr sz="950">
                <a:solidFill>
                  <a:srgbClr val="E8F6EF"/>
                </a:solidFill>
                <a:latin typeface="Consolas"/>
              </a:rPr>
              <a:t>[</a:t>
            </a:r>
            <a:r>
              <a:rPr sz="950">
                <a:solidFill>
                  <a:srgbClr val="F6B26B"/>
                </a:solidFill>
                <a:latin typeface="Consolas"/>
              </a:rPr>
              <a:t>'selling_price'</a:t>
            </a:r>
            <a:r>
              <a:rPr sz="950">
                <a:solidFill>
                  <a:srgbClr val="E8F6EF"/>
                </a:solidFill>
                <a:latin typeface="Consolas"/>
              </a:rPr>
              <a:t>]</a:t>
            </a:r>
          </a:p>
          <a:p>
            <a:pPr>
              <a:lnSpc>
                <a:spcPct val="105000"/>
              </a:lnSpc>
            </a:pPr>
            <a:r>
              <a:rPr sz="950">
                <a:latin typeface="Consolas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train_rmse_total</a:t>
            </a:r>
            <a:r>
              <a:rPr sz="950">
                <a:solidFill>
                  <a:srgbClr val="E8F6EF"/>
                </a:solidFill>
                <a:latin typeface="Consolas"/>
              </a:rPr>
              <a:t>,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test_rmse_total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=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[</a:t>
            </a:r>
            <a:r>
              <a:rPr sz="950">
                <a:solidFill>
                  <a:srgbClr val="E8F6EF"/>
                </a:solidFill>
                <a:latin typeface="Consolas"/>
              </a:rPr>
              <a:t>]</a:t>
            </a:r>
            <a:r>
              <a:rPr sz="950">
                <a:solidFill>
                  <a:srgbClr val="E8F6EF"/>
                </a:solidFill>
                <a:latin typeface="Consolas"/>
              </a:rPr>
              <a:t>,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[</a:t>
            </a:r>
            <a:r>
              <a:rPr sz="950">
                <a:solidFill>
                  <a:srgbClr val="E8F6EF"/>
                </a:solidFill>
                <a:latin typeface="Consolas"/>
              </a:rPr>
              <a:t>]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7BD389"/>
                </a:solidFill>
                <a:latin typeface="Consolas"/>
              </a:rPr>
              <a:t>for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train_idx</a:t>
            </a:r>
            <a:r>
              <a:rPr sz="950">
                <a:solidFill>
                  <a:srgbClr val="E8F6EF"/>
                </a:solidFill>
                <a:latin typeface="Consolas"/>
              </a:rPr>
              <a:t>,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test_idx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7BD389"/>
                </a:solidFill>
                <a:latin typeface="Consolas"/>
              </a:rPr>
              <a:t>in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kf</a:t>
            </a:r>
            <a:r>
              <a:rPr sz="950">
                <a:solidFill>
                  <a:srgbClr val="E8F6EF"/>
                </a:solidFill>
                <a:latin typeface="Consolas"/>
              </a:rPr>
              <a:t>.</a:t>
            </a:r>
            <a:r>
              <a:rPr sz="950">
                <a:solidFill>
                  <a:srgbClr val="E8F6EF"/>
                </a:solidFill>
                <a:latin typeface="Consolas"/>
              </a:rPr>
              <a:t>split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  <a:r>
              <a:rPr sz="950">
                <a:solidFill>
                  <a:srgbClr val="E8F6EF"/>
                </a:solidFill>
                <a:latin typeface="Consolas"/>
              </a:rPr>
              <a:t>X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  <a:r>
              <a:rPr sz="950">
                <a:solidFill>
                  <a:srgbClr val="E8F6EF"/>
                </a:solidFill>
                <a:latin typeface="Consolas"/>
              </a:rPr>
              <a:t>: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X_train</a:t>
            </a:r>
            <a:r>
              <a:rPr sz="950">
                <a:solidFill>
                  <a:srgbClr val="E8F6EF"/>
                </a:solidFill>
                <a:latin typeface="Consolas"/>
              </a:rPr>
              <a:t>,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X_test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=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X</a:t>
            </a:r>
            <a:r>
              <a:rPr sz="950">
                <a:solidFill>
                  <a:srgbClr val="E8F6EF"/>
                </a:solidFill>
                <a:latin typeface="Consolas"/>
              </a:rPr>
              <a:t>.</a:t>
            </a:r>
            <a:r>
              <a:rPr sz="950">
                <a:solidFill>
                  <a:srgbClr val="E8F6EF"/>
                </a:solidFill>
                <a:latin typeface="Consolas"/>
              </a:rPr>
              <a:t>iloc</a:t>
            </a:r>
            <a:r>
              <a:rPr sz="950">
                <a:solidFill>
                  <a:srgbClr val="E8F6EF"/>
                </a:solidFill>
                <a:latin typeface="Consolas"/>
              </a:rPr>
              <a:t>[</a:t>
            </a:r>
            <a:r>
              <a:rPr sz="950">
                <a:solidFill>
                  <a:srgbClr val="E8F6EF"/>
                </a:solidFill>
                <a:latin typeface="Consolas"/>
              </a:rPr>
              <a:t>train_idx</a:t>
            </a:r>
            <a:r>
              <a:rPr sz="950">
                <a:solidFill>
                  <a:srgbClr val="E8F6EF"/>
                </a:solidFill>
                <a:latin typeface="Consolas"/>
              </a:rPr>
              <a:t>]</a:t>
            </a:r>
            <a:r>
              <a:rPr sz="950">
                <a:solidFill>
                  <a:srgbClr val="E8F6EF"/>
                </a:solidFill>
                <a:latin typeface="Consolas"/>
              </a:rPr>
              <a:t>,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X</a:t>
            </a:r>
            <a:r>
              <a:rPr sz="950">
                <a:solidFill>
                  <a:srgbClr val="E8F6EF"/>
                </a:solidFill>
                <a:latin typeface="Consolas"/>
              </a:rPr>
              <a:t>.</a:t>
            </a:r>
            <a:r>
              <a:rPr sz="950">
                <a:solidFill>
                  <a:srgbClr val="E8F6EF"/>
                </a:solidFill>
                <a:latin typeface="Consolas"/>
              </a:rPr>
              <a:t>iloc</a:t>
            </a:r>
            <a:r>
              <a:rPr sz="950">
                <a:solidFill>
                  <a:srgbClr val="E8F6EF"/>
                </a:solidFill>
                <a:latin typeface="Consolas"/>
              </a:rPr>
              <a:t>[</a:t>
            </a:r>
            <a:r>
              <a:rPr sz="950">
                <a:solidFill>
                  <a:srgbClr val="E8F6EF"/>
                </a:solidFill>
                <a:latin typeface="Consolas"/>
              </a:rPr>
              <a:t>test_idx</a:t>
            </a:r>
            <a:r>
              <a:rPr sz="950">
                <a:solidFill>
                  <a:srgbClr val="E8F6EF"/>
                </a:solidFill>
                <a:latin typeface="Consolas"/>
              </a:rPr>
              <a:t>]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y_train</a:t>
            </a:r>
            <a:r>
              <a:rPr sz="950">
                <a:solidFill>
                  <a:srgbClr val="E8F6EF"/>
                </a:solidFill>
                <a:latin typeface="Consolas"/>
              </a:rPr>
              <a:t>,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y_test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=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y</a:t>
            </a:r>
            <a:r>
              <a:rPr sz="950">
                <a:solidFill>
                  <a:srgbClr val="E8F6EF"/>
                </a:solidFill>
                <a:latin typeface="Consolas"/>
              </a:rPr>
              <a:t>.</a:t>
            </a:r>
            <a:r>
              <a:rPr sz="950">
                <a:solidFill>
                  <a:srgbClr val="E8F6EF"/>
                </a:solidFill>
                <a:latin typeface="Consolas"/>
              </a:rPr>
              <a:t>iloc</a:t>
            </a:r>
            <a:r>
              <a:rPr sz="950">
                <a:solidFill>
                  <a:srgbClr val="E8F6EF"/>
                </a:solidFill>
                <a:latin typeface="Consolas"/>
              </a:rPr>
              <a:t>[</a:t>
            </a:r>
            <a:r>
              <a:rPr sz="950">
                <a:solidFill>
                  <a:srgbClr val="E8F6EF"/>
                </a:solidFill>
                <a:latin typeface="Consolas"/>
              </a:rPr>
              <a:t>train_idx</a:t>
            </a:r>
            <a:r>
              <a:rPr sz="950">
                <a:solidFill>
                  <a:srgbClr val="E8F6EF"/>
                </a:solidFill>
                <a:latin typeface="Consolas"/>
              </a:rPr>
              <a:t>]</a:t>
            </a:r>
            <a:r>
              <a:rPr sz="950">
                <a:solidFill>
                  <a:srgbClr val="E8F6EF"/>
                </a:solidFill>
                <a:latin typeface="Consolas"/>
              </a:rPr>
              <a:t>,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y</a:t>
            </a:r>
            <a:r>
              <a:rPr sz="950">
                <a:solidFill>
                  <a:srgbClr val="E8F6EF"/>
                </a:solidFill>
                <a:latin typeface="Consolas"/>
              </a:rPr>
              <a:t>.</a:t>
            </a:r>
            <a:r>
              <a:rPr sz="950">
                <a:solidFill>
                  <a:srgbClr val="E8F6EF"/>
                </a:solidFill>
                <a:latin typeface="Consolas"/>
              </a:rPr>
              <a:t>iloc</a:t>
            </a:r>
            <a:r>
              <a:rPr sz="950">
                <a:solidFill>
                  <a:srgbClr val="E8F6EF"/>
                </a:solidFill>
                <a:latin typeface="Consolas"/>
              </a:rPr>
              <a:t>[</a:t>
            </a:r>
            <a:r>
              <a:rPr sz="950">
                <a:solidFill>
                  <a:srgbClr val="E8F6EF"/>
                </a:solidFill>
                <a:latin typeface="Consolas"/>
              </a:rPr>
              <a:t>test_idx</a:t>
            </a:r>
            <a:r>
              <a:rPr sz="950">
                <a:solidFill>
                  <a:srgbClr val="E8F6EF"/>
                </a:solidFill>
                <a:latin typeface="Consolas"/>
              </a:rPr>
              <a:t>]</a:t>
            </a:r>
          </a:p>
          <a:p>
            <a:pPr>
              <a:lnSpc>
                <a:spcPct val="105000"/>
              </a:lnSpc>
            </a:pPr>
            <a:r>
              <a:rPr sz="950">
                <a:latin typeface="Consolas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model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=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RandomForestRegressor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  <a:r>
              <a:rPr sz="950">
                <a:solidFill>
                  <a:srgbClr val="E8F6EF"/>
                </a:solidFill>
                <a:latin typeface="Consolas"/>
              </a:rPr>
              <a:t>random_state</a:t>
            </a:r>
            <a:r>
              <a:rPr sz="950">
                <a:solidFill>
                  <a:srgbClr val="E8F6EF"/>
                </a:solidFill>
                <a:latin typeface="Consolas"/>
              </a:rPr>
              <a:t>=</a:t>
            </a:r>
            <a:r>
              <a:rPr sz="950">
                <a:solidFill>
                  <a:srgbClr val="F2D45F"/>
                </a:solidFill>
                <a:latin typeface="Consolas"/>
              </a:rPr>
              <a:t>100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model</a:t>
            </a:r>
            <a:r>
              <a:rPr sz="950">
                <a:solidFill>
                  <a:srgbClr val="E8F6EF"/>
                </a:solidFill>
                <a:latin typeface="Consolas"/>
              </a:rPr>
              <a:t>.</a:t>
            </a:r>
            <a:r>
              <a:rPr sz="950">
                <a:solidFill>
                  <a:srgbClr val="E8F6EF"/>
                </a:solidFill>
                <a:latin typeface="Consolas"/>
              </a:rPr>
              <a:t>fit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  <a:r>
              <a:rPr sz="950">
                <a:solidFill>
                  <a:srgbClr val="E8F6EF"/>
                </a:solidFill>
                <a:latin typeface="Consolas"/>
              </a:rPr>
              <a:t>X_train</a:t>
            </a:r>
            <a:r>
              <a:rPr sz="950">
                <a:solidFill>
                  <a:srgbClr val="E8F6EF"/>
                </a:solidFill>
                <a:latin typeface="Consolas"/>
              </a:rPr>
              <a:t>,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y_train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</a:pPr>
            <a:r>
              <a:rPr sz="950">
                <a:latin typeface="Consolas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train_pred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=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model</a:t>
            </a:r>
            <a:r>
              <a:rPr sz="950">
                <a:solidFill>
                  <a:srgbClr val="E8F6EF"/>
                </a:solidFill>
                <a:latin typeface="Consolas"/>
              </a:rPr>
              <a:t>.</a:t>
            </a:r>
            <a:r>
              <a:rPr sz="950">
                <a:solidFill>
                  <a:srgbClr val="E8F6EF"/>
                </a:solidFill>
                <a:latin typeface="Consolas"/>
              </a:rPr>
              <a:t>predict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  <a:r>
              <a:rPr sz="950">
                <a:solidFill>
                  <a:srgbClr val="E8F6EF"/>
                </a:solidFill>
                <a:latin typeface="Consolas"/>
              </a:rPr>
              <a:t>X_train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test_pred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=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model</a:t>
            </a:r>
            <a:r>
              <a:rPr sz="950">
                <a:solidFill>
                  <a:srgbClr val="E8F6EF"/>
                </a:solidFill>
                <a:latin typeface="Consolas"/>
              </a:rPr>
              <a:t>.</a:t>
            </a:r>
            <a:r>
              <a:rPr sz="950">
                <a:solidFill>
                  <a:srgbClr val="E8F6EF"/>
                </a:solidFill>
                <a:latin typeface="Consolas"/>
              </a:rPr>
              <a:t>predict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  <a:r>
              <a:rPr sz="950">
                <a:solidFill>
                  <a:srgbClr val="E8F6EF"/>
                </a:solidFill>
                <a:latin typeface="Consolas"/>
              </a:rPr>
              <a:t>X_test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train_rmse_total</a:t>
            </a:r>
            <a:r>
              <a:rPr sz="950">
                <a:solidFill>
                  <a:srgbClr val="E8F6EF"/>
                </a:solidFill>
                <a:latin typeface="Consolas"/>
              </a:rPr>
              <a:t>.</a:t>
            </a:r>
            <a:r>
              <a:rPr sz="950">
                <a:solidFill>
                  <a:srgbClr val="E8F6EF"/>
                </a:solidFill>
                <a:latin typeface="Consolas"/>
              </a:rPr>
              <a:t>append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mean_squared_error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  <a:r>
              <a:rPr sz="950">
                <a:solidFill>
                  <a:srgbClr val="E8F6EF"/>
                </a:solidFill>
                <a:latin typeface="Consolas"/>
              </a:rPr>
              <a:t>y_train</a:t>
            </a:r>
            <a:r>
              <a:rPr sz="950">
                <a:solidFill>
                  <a:srgbClr val="E8F6EF"/>
                </a:solidFill>
                <a:latin typeface="Consolas"/>
              </a:rPr>
              <a:t>,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train_pred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*</a:t>
            </a:r>
            <a:r>
              <a:rPr sz="950">
                <a:solidFill>
                  <a:srgbClr val="E8F6EF"/>
                </a:solidFill>
                <a:latin typeface="Consolas"/>
              </a:rPr>
              <a:t>*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F2D45F"/>
                </a:solidFill>
                <a:latin typeface="Consolas"/>
              </a:rPr>
              <a:t>0.5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test_rmse_total</a:t>
            </a:r>
            <a:r>
              <a:rPr sz="950">
                <a:solidFill>
                  <a:srgbClr val="E8F6EF"/>
                </a:solidFill>
                <a:latin typeface="Consolas"/>
              </a:rPr>
              <a:t>.</a:t>
            </a:r>
            <a:r>
              <a:rPr sz="950">
                <a:solidFill>
                  <a:srgbClr val="E8F6EF"/>
                </a:solidFill>
                <a:latin typeface="Consolas"/>
              </a:rPr>
              <a:t>append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mean_squared_error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  <a:r>
              <a:rPr sz="950">
                <a:solidFill>
                  <a:srgbClr val="E8F6EF"/>
                </a:solidFill>
                <a:latin typeface="Consolas"/>
              </a:rPr>
              <a:t>y_test</a:t>
            </a:r>
            <a:r>
              <a:rPr sz="950">
                <a:solidFill>
                  <a:srgbClr val="E8F6EF"/>
                </a:solidFill>
                <a:latin typeface="Consolas"/>
              </a:rPr>
              <a:t>,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test_pred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*</a:t>
            </a:r>
            <a:r>
              <a:rPr sz="950">
                <a:solidFill>
                  <a:srgbClr val="E8F6EF"/>
                </a:solidFill>
                <a:latin typeface="Consolas"/>
              </a:rPr>
              <a:t>*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F2D45F"/>
                </a:solidFill>
                <a:latin typeface="Consolas"/>
              </a:rPr>
              <a:t>0.5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</a:pPr>
            <a:r>
              <a:rPr sz="950">
                <a:latin typeface="Consolas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8FB8E0"/>
                </a:solidFill>
                <a:latin typeface="Consolas"/>
              </a:rPr>
              <a:t>print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  <a:r>
              <a:rPr sz="950">
                <a:solidFill>
                  <a:srgbClr val="F6B26B"/>
                </a:solidFill>
                <a:latin typeface="Consolas"/>
              </a:rPr>
              <a:t>'CV train_rmse:'</a:t>
            </a:r>
            <a:r>
              <a:rPr sz="950">
                <a:solidFill>
                  <a:srgbClr val="E8F6EF"/>
                </a:solidFill>
                <a:latin typeface="Consolas"/>
              </a:rPr>
              <a:t>,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8FB8E0"/>
                </a:solidFill>
                <a:latin typeface="Consolas"/>
              </a:rPr>
              <a:t>sum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  <a:r>
              <a:rPr sz="950">
                <a:solidFill>
                  <a:srgbClr val="E8F6EF"/>
                </a:solidFill>
                <a:latin typeface="Consolas"/>
              </a:rPr>
              <a:t>train_rmse_total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/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F2D45F"/>
                </a:solidFill>
                <a:latin typeface="Consolas"/>
              </a:rPr>
              <a:t>5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8FB8E0"/>
                </a:solidFill>
                <a:latin typeface="Consolas"/>
              </a:rPr>
              <a:t>print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  <a:r>
              <a:rPr sz="950">
                <a:solidFill>
                  <a:srgbClr val="F6B26B"/>
                </a:solidFill>
                <a:latin typeface="Consolas"/>
              </a:rPr>
              <a:t>'CV test_rmse :'</a:t>
            </a:r>
            <a:r>
              <a:rPr sz="950">
                <a:solidFill>
                  <a:srgbClr val="E8F6EF"/>
                </a:solidFill>
                <a:latin typeface="Consolas"/>
              </a:rPr>
              <a:t>,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8FB8E0"/>
                </a:solidFill>
                <a:latin typeface="Consolas"/>
              </a:rPr>
              <a:t>sum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  <a:r>
              <a:rPr sz="950">
                <a:solidFill>
                  <a:srgbClr val="E8F6EF"/>
                </a:solidFill>
                <a:latin typeface="Consolas"/>
              </a:rPr>
              <a:t>test_rmse_total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/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F2D45F"/>
                </a:solidFill>
                <a:latin typeface="Consolas"/>
              </a:rPr>
              <a:t>5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2011680"/>
            <a:ext cx="30175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0" y="21031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F6F5A"/>
                </a:solidFill>
                <a:latin typeface="微软雅黑"/>
              </a:rPr>
              <a:t>📈  5-Fold 平均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60" y="2560320"/>
            <a:ext cx="2743200" cy="502920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23960" y="256032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Consolas"/>
              </a:rPr>
              <a:t>train ≈  56,553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23960" y="3154680"/>
            <a:ext cx="2743200" cy="502920"/>
          </a:xfrm>
          <a:prstGeom prst="roundRect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23960" y="315468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Consolas"/>
              </a:rPr>
              <a:t>test  ≈ 142,936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60" y="37033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556B68"/>
                </a:solidFill>
                <a:latin typeface="微软雅黑"/>
              </a:rPr>
              <a:t>→ 略高于 Hold-out</a:t>
            </a:r>
          </a:p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556B68"/>
                </a:solidFill>
                <a:latin typeface="微软雅黑"/>
              </a:rPr>
              <a:t>   = 更可靠的评估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4343400"/>
            <a:ext cx="3017520" cy="192024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0" y="443484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2A44F"/>
                </a:solidFill>
                <a:latin typeface="微软雅黑"/>
              </a:rPr>
              <a:t>⚠️  调试技巧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4727448"/>
            <a:ext cx="26517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⚠️  常见错误: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dropna() 后索引断裂导致 KFold KeyError。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→ 务必先 reset_index(drop=True, inplace=True)。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也要强调 loc vs iloc 的区别。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机器学习 · 第 9 章  随机森林 — 二手车价格预测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37 / 66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微软雅黑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微软雅黑"/>
              </a:rPr>
              <a:t>随机森林 — 二手车价格预测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微软雅黑"/>
              </a:rPr>
              <a:t>9.6   CV 结果解读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微软雅黑"/>
              </a:rPr>
              <a:t>交叉验证结果不要只看「平均」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微软雅黑"/>
              </a:rPr>
              <a:t>fold 间的波动 (标准差) 反映模型稳定性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6949440" cy="4251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6F5A"/>
                </a:solidFill>
                <a:latin typeface="微软雅黑"/>
              </a:rPr>
              <a:t>📊  各 fold 的 test RMSE — 5 折结果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4520359"/>
            <a:ext cx="411480" cy="966041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600200" y="2784411"/>
            <a:ext cx="411480" cy="2701989"/>
          </a:xfrm>
          <a:prstGeom prst="roundRect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4864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556B68"/>
                </a:solidFill>
                <a:latin typeface="微软雅黑"/>
              </a:rPr>
              <a:t>Fold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7607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D47A2C"/>
                </a:solidFill>
                <a:latin typeface="Consolas"/>
              </a:rPr>
              <a:t>142.2k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77439" y="4409566"/>
            <a:ext cx="411480" cy="1076834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880359" y="2745313"/>
            <a:ext cx="411480" cy="2741087"/>
          </a:xfrm>
          <a:prstGeom prst="roundRect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77439" y="54864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556B68"/>
                </a:solidFill>
                <a:latin typeface="微软雅黑"/>
              </a:rPr>
              <a:t>Fold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39" y="57607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D47A2C"/>
                </a:solidFill>
                <a:latin typeface="Consolas"/>
              </a:rPr>
              <a:t>144.2k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0" y="4385807"/>
            <a:ext cx="411480" cy="1100593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160520" y="2790949"/>
            <a:ext cx="411480" cy="2695451"/>
          </a:xfrm>
          <a:prstGeom prst="roundRect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0" y="54864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556B68"/>
                </a:solidFill>
                <a:latin typeface="微软雅黑"/>
              </a:rPr>
              <a:t>Fold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57607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D47A2C"/>
                </a:solidFill>
                <a:latin typeface="Consolas"/>
              </a:rPr>
              <a:t>141.8k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37759" y="4417853"/>
            <a:ext cx="411480" cy="1068547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440679" y="2827576"/>
            <a:ext cx="411480" cy="2658824"/>
          </a:xfrm>
          <a:prstGeom prst="roundRect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37759" y="54864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556B68"/>
                </a:solidFill>
                <a:latin typeface="微软雅黑"/>
              </a:rPr>
              <a:t>Fold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59" y="57607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D47A2C"/>
                </a:solidFill>
                <a:latin typeface="Consolas"/>
              </a:rPr>
              <a:t>139.9k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4365602"/>
            <a:ext cx="411480" cy="1120798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720840" y="2699658"/>
            <a:ext cx="411480" cy="2786742"/>
          </a:xfrm>
          <a:prstGeom prst="roundRect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54864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556B68"/>
                </a:solidFill>
                <a:latin typeface="微软雅黑"/>
              </a:rPr>
              <a:t>Fold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57607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D47A2C"/>
                </a:solidFill>
                <a:latin typeface="Consolas"/>
              </a:rPr>
              <a:t>146.6k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0" y="2606040"/>
            <a:ext cx="228600" cy="182880"/>
          </a:xfrm>
          <a:prstGeom prst="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20640" y="25603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B2B2A"/>
                </a:solidFill>
                <a:latin typeface="微软雅黑"/>
              </a:rPr>
              <a:t>train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0" y="2606040"/>
            <a:ext cx="228600" cy="182880"/>
          </a:xfrm>
          <a:prstGeom prst="rect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0" y="25603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B2B2A"/>
                </a:solidFill>
                <a:latin typeface="微软雅黑"/>
              </a:rPr>
              <a:t>test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35240" y="2011680"/>
            <a:ext cx="4069080" cy="1645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635240" y="2011680"/>
            <a:ext cx="91440" cy="164592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91272" y="2176272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524A"/>
                </a:solidFill>
                <a:latin typeface="微软雅黑"/>
              </a:rPr>
              <a:t>📊  平均 + 标准差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91272" y="2670048"/>
            <a:ext cx="3611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test 均值: 142,936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test 标准差: ≈ 2,400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→ fold 差异小 = 稳定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635240" y="3749039"/>
            <a:ext cx="4069080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635240" y="3749039"/>
            <a:ext cx="91440" cy="1280160"/>
          </a:xfrm>
          <a:prstGeom prst="rect">
            <a:avLst/>
          </a:prstGeom>
          <a:solidFill>
            <a:srgbClr val="3B6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91272" y="3913631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524A"/>
                </a:solidFill>
                <a:latin typeface="微软雅黑"/>
              </a:rPr>
              <a:t>🔍  若某 fold 异常差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91272" y="4407407"/>
            <a:ext cx="3611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怀疑数据排序、异常值或样本构成。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→ 尝试 KFold(shuffle=True)。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635240" y="5074920"/>
            <a:ext cx="4069080" cy="1188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635240" y="5074920"/>
            <a:ext cx="91440" cy="1188720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891272" y="5239512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524A"/>
                </a:solidFill>
                <a:latin typeface="微软雅黑"/>
              </a:rPr>
              <a:t>💡  汇报建议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91272" y="5733288"/>
            <a:ext cx="3611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用「mean ± std」形式汇报,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后续调优对比更公平。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机器学习 · 第 9 章  随机森林 — 二手车价格预测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38 / 66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微软雅黑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微软雅黑"/>
              </a:rPr>
              <a:t>随机森林 — 二手车价格预测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微软雅黑"/>
              </a:rPr>
              <a:t>9.6+   OOB 评估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微软雅黑"/>
              </a:rPr>
              <a:t>OOB (Out-of-Bag) 评估 — RF 独有的「免费」验证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微软雅黑"/>
              </a:rPr>
              <a:t>用每棵树没用过的 36.8% 样本评估, 无需另立验证集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11155680" cy="26517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10312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6F5A"/>
                </a:solidFill>
                <a:latin typeface="微软雅黑"/>
              </a:rPr>
              <a:t>🌳  OOB 评估原理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606040"/>
            <a:ext cx="3520440" cy="1965960"/>
          </a:xfrm>
          <a:prstGeom prst="round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8680" y="2697480"/>
            <a:ext cx="1828800" cy="411480"/>
          </a:xfrm>
          <a:prstGeom prst="round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69748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</a:rPr>
              <a:t>Tree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88920" y="2697480"/>
            <a:ext cx="1417320" cy="411480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88920" y="2697480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微软雅黑"/>
              </a:rPr>
              <a:t>OOB 36.8%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200400"/>
            <a:ext cx="3291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1B2B2A"/>
                </a:solidFill>
                <a:latin typeface="微软雅黑"/>
              </a:rPr>
              <a:t>• 训练: 63.2% 样本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1B2B2A"/>
                </a:solidFill>
                <a:latin typeface="微软雅黑"/>
              </a:rPr>
              <a:t>• 用未使用的 36.8% 预测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1B2B2A"/>
                </a:solidFill>
                <a:latin typeface="微软雅黑"/>
              </a:rPr>
              <a:t>• 每个样本只汇总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1B2B2A"/>
                </a:solidFill>
                <a:latin typeface="微软雅黑"/>
              </a:rPr>
              <a:t>  未见过它的树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26279" y="2606040"/>
            <a:ext cx="3520440" cy="1965960"/>
          </a:xfrm>
          <a:prstGeom prst="round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617719" y="2697480"/>
            <a:ext cx="1828800" cy="411480"/>
          </a:xfrm>
          <a:prstGeom prst="round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19" y="269748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</a:rPr>
              <a:t>Tree 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37959" y="2697480"/>
            <a:ext cx="1417320" cy="411480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59" y="2697480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微软雅黑"/>
              </a:rPr>
              <a:t>OOB 36.8%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39" y="3200400"/>
            <a:ext cx="3291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1B2B2A"/>
                </a:solidFill>
                <a:latin typeface="微软雅黑"/>
              </a:rPr>
              <a:t>• 训练: 63.2% 样本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1B2B2A"/>
                </a:solidFill>
                <a:latin typeface="微软雅黑"/>
              </a:rPr>
              <a:t>• 用未使用的 36.8% 预测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1B2B2A"/>
                </a:solidFill>
                <a:latin typeface="微软雅黑"/>
              </a:rPr>
              <a:t>• 每个样本只汇总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1B2B2A"/>
                </a:solidFill>
                <a:latin typeface="微软雅黑"/>
              </a:rPr>
              <a:t>  未见过它的树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19" y="2606040"/>
            <a:ext cx="3520440" cy="1965960"/>
          </a:xfrm>
          <a:prstGeom prst="round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366759" y="2697480"/>
            <a:ext cx="1828800" cy="411480"/>
          </a:xfrm>
          <a:prstGeom prst="round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59" y="269748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</a:rPr>
              <a:t>Tree 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286999" y="2697480"/>
            <a:ext cx="1417320" cy="411480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86999" y="2697480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微软雅黑"/>
              </a:rPr>
              <a:t>OOB 36.8%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79" y="3200400"/>
            <a:ext cx="3291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1B2B2A"/>
                </a:solidFill>
                <a:latin typeface="微软雅黑"/>
              </a:rPr>
              <a:t>• 训练: 63.2% 样本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1B2B2A"/>
                </a:solidFill>
                <a:latin typeface="微软雅黑"/>
              </a:rPr>
              <a:t>• 用未使用的 36.8% 预测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1B2B2A"/>
                </a:solidFill>
                <a:latin typeface="微软雅黑"/>
              </a:rPr>
              <a:t>• 每个样本只汇总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1B2B2A"/>
                </a:solidFill>
                <a:latin typeface="微软雅黑"/>
              </a:rPr>
              <a:t>  未见过它的树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800600"/>
            <a:ext cx="2286000" cy="347472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800600"/>
            <a:ext cx="2286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/>
            </a:r>
          </a:p>
        </p:txBody>
      </p:sp>
      <p:sp>
        <p:nvSpPr>
          <p:cNvPr id="34" name="Rectangle 33"/>
          <p:cNvSpPr/>
          <p:nvPr/>
        </p:nvSpPr>
        <p:spPr>
          <a:xfrm>
            <a:off x="2834640" y="4800600"/>
            <a:ext cx="4434840" cy="347472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34640" y="4800600"/>
            <a:ext cx="44348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OOB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69480" y="4800600"/>
            <a:ext cx="4434840" cy="347472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69480" y="4800600"/>
            <a:ext cx="44348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K-Fold CV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148072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5148072"/>
            <a:ext cx="21031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计算成本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34640" y="5148072"/>
            <a:ext cx="4434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26080" y="5148072"/>
            <a:ext cx="42519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无需额外训练 (快)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69480" y="5148072"/>
            <a:ext cx="4434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60920" y="5148072"/>
            <a:ext cx="42519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需 K 次训练 (慢)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495544"/>
            <a:ext cx="2286000" cy="347472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5495544"/>
            <a:ext cx="21031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适用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834640" y="5495544"/>
            <a:ext cx="4434840" cy="347472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926080" y="5495544"/>
            <a:ext cx="42519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RF 专用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269480" y="5495544"/>
            <a:ext cx="4434840" cy="347472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60920" y="5495544"/>
            <a:ext cx="42519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所有模型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5843016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" y="5843016"/>
            <a:ext cx="21031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精度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834640" y="5843016"/>
            <a:ext cx="4434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926080" y="5843016"/>
            <a:ext cx="42519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近似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269480" y="5843016"/>
            <a:ext cx="4434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60920" y="5843016"/>
            <a:ext cx="42519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可靠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6190488"/>
            <a:ext cx="2286000" cy="347472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" y="6190488"/>
            <a:ext cx="21031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推荐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834640" y="6190488"/>
            <a:ext cx="4434840" cy="347472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926080" y="6190488"/>
            <a:ext cx="42519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快速诊断 / 调优中间检查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269480" y="6190488"/>
            <a:ext cx="4434840" cy="347472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60920" y="6190488"/>
            <a:ext cx="42519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最终模型汇报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48640" y="6400800"/>
            <a:ext cx="11155680" cy="36576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31520" y="649224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2A44F"/>
                </a:solidFill>
                <a:latin typeface="微软雅黑"/>
              </a:rPr>
              <a:t>💬  教师讲解要点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1520" y="6784848"/>
            <a:ext cx="10789920" cy="-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「免费验证」很诱人, 但最终汇报建议用 test 或 CV — 跨模型公平比较通常用 CV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机器学习 · 第 9 章  随机森林 — 二手车价格预测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39 / 66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微软雅黑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微软雅黑"/>
              </a:rPr>
              <a:t>随机森林 — 二手车价格预测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微软雅黑"/>
              </a:rPr>
              <a:t>9.6+   OOB 代码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微软雅黑"/>
              </a:rPr>
              <a:t>OOB 代码 — 一行 oob_score=True 启用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微软雅黑"/>
              </a:rPr>
              <a:t>sklearn 回归的 oob_score_ 是 R² (不是 RMSE)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7315200" cy="4251960"/>
          </a:xfrm>
          <a:prstGeom prst="roundRect">
            <a:avLst/>
          </a:prstGeom>
          <a:solidFill>
            <a:srgbClr val="0E1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" y="2157984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7824" y="2157984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42416" y="2157984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212140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9AA7A0"/>
                </a:solidFill>
                <a:latin typeface="Consolas"/>
              </a:rPr>
              <a:t>oob_score.py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377440"/>
            <a:ext cx="6949440" cy="3794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model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RandomForestRegressor</a:t>
            </a:r>
            <a:r>
              <a:rPr sz="1150">
                <a:solidFill>
                  <a:srgbClr val="E8F6EF"/>
                </a:solidFill>
                <a:latin typeface="Consolas"/>
              </a:rPr>
              <a:t>(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n_estimators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F2D45F"/>
                </a:solidFill>
                <a:latin typeface="Consolas"/>
              </a:rPr>
              <a:t>300</a:t>
            </a:r>
            <a:r>
              <a:rPr sz="115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oob_score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7BD389"/>
                </a:solidFill>
                <a:latin typeface="Consolas"/>
              </a:rPr>
              <a:t>True</a:t>
            </a:r>
            <a:r>
              <a:rPr sz="115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bootstrap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7BD389"/>
                </a:solidFill>
                <a:latin typeface="Consolas"/>
              </a:rPr>
              <a:t>True</a:t>
            </a:r>
            <a:r>
              <a:rPr sz="1150">
                <a:solidFill>
                  <a:srgbClr val="E8F6EF"/>
                </a:solidFill>
                <a:latin typeface="Consolas"/>
              </a:rPr>
              <a:t>,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9AA7A0"/>
                </a:solidFill>
                <a:latin typeface="Consolas"/>
              </a:rPr>
              <a:t># OOB 必须 bootstrap=True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random_state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F2D45F"/>
                </a:solidFill>
                <a:latin typeface="Consolas"/>
              </a:rPr>
              <a:t>100</a:t>
            </a:r>
            <a:r>
              <a:rPr sz="115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n_jobs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E8F6EF"/>
                </a:solidFill>
                <a:latin typeface="Consolas"/>
              </a:rPr>
              <a:t>-</a:t>
            </a:r>
            <a:r>
              <a:rPr sz="1150">
                <a:solidFill>
                  <a:srgbClr val="F2D45F"/>
                </a:solidFill>
                <a:latin typeface="Consolas"/>
              </a:rPr>
              <a:t>1</a:t>
            </a:r>
            <a:r>
              <a:rPr sz="115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model</a:t>
            </a:r>
            <a:r>
              <a:rPr sz="1150">
                <a:solidFill>
                  <a:srgbClr val="E8F6EF"/>
                </a:solidFill>
                <a:latin typeface="Consolas"/>
              </a:rPr>
              <a:t>.</a:t>
            </a:r>
            <a:r>
              <a:rPr sz="1150">
                <a:solidFill>
                  <a:srgbClr val="E8F6EF"/>
                </a:solidFill>
                <a:latin typeface="Consolas"/>
              </a:rPr>
              <a:t>fit</a:t>
            </a:r>
            <a:r>
              <a:rPr sz="1150">
                <a:solidFill>
                  <a:srgbClr val="E8F6EF"/>
                </a:solidFill>
                <a:latin typeface="Consolas"/>
              </a:rPr>
              <a:t>(</a:t>
            </a:r>
            <a:r>
              <a:rPr sz="1150">
                <a:solidFill>
                  <a:srgbClr val="E8F6EF"/>
                </a:solidFill>
                <a:latin typeface="Consolas"/>
              </a:rPr>
              <a:t>X_train</a:t>
            </a:r>
            <a:r>
              <a:rPr sz="1150">
                <a:solidFill>
                  <a:srgbClr val="E8F6EF"/>
                </a:solidFill>
                <a:latin typeface="Consolas"/>
              </a:rPr>
              <a:t>,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y_train</a:t>
            </a:r>
            <a:r>
              <a:rPr sz="11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</a:pPr>
            <a:r>
              <a:rPr sz="1150">
                <a:latin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9AA7A0"/>
                </a:solidFill>
                <a:latin typeface="Consolas"/>
              </a:rPr>
              <a:t># 1) 回归中 oob_score_ = R²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8FB8E0"/>
                </a:solidFill>
                <a:latin typeface="Consolas"/>
              </a:rPr>
              <a:t>print</a:t>
            </a:r>
            <a:r>
              <a:rPr sz="1150">
                <a:solidFill>
                  <a:srgbClr val="E8F6EF"/>
                </a:solidFill>
                <a:latin typeface="Consolas"/>
              </a:rPr>
              <a:t>(</a:t>
            </a:r>
            <a:r>
              <a:rPr sz="1150">
                <a:solidFill>
                  <a:srgbClr val="F6B26B"/>
                </a:solidFill>
                <a:latin typeface="Consolas"/>
              </a:rPr>
              <a:t>'OOB R²:'</a:t>
            </a:r>
            <a:r>
              <a:rPr sz="1150">
                <a:solidFill>
                  <a:srgbClr val="E8F6EF"/>
                </a:solidFill>
                <a:latin typeface="Consolas"/>
              </a:rPr>
              <a:t>,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model</a:t>
            </a:r>
            <a:r>
              <a:rPr sz="1150">
                <a:solidFill>
                  <a:srgbClr val="E8F6EF"/>
                </a:solidFill>
                <a:latin typeface="Consolas"/>
              </a:rPr>
              <a:t>.</a:t>
            </a:r>
            <a:r>
              <a:rPr sz="1150">
                <a:solidFill>
                  <a:srgbClr val="E8F6EF"/>
                </a:solidFill>
                <a:latin typeface="Consolas"/>
              </a:rPr>
              <a:t>oob_score_</a:t>
            </a:r>
            <a:r>
              <a:rPr sz="1150">
                <a:solidFill>
                  <a:srgbClr val="E8F6EF"/>
                </a:solidFill>
                <a:latin typeface="Consolas"/>
              </a:rPr>
              <a:t>)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9AA7A0"/>
                </a:solidFill>
                <a:latin typeface="Consolas"/>
              </a:rPr>
              <a:t># 例: 0.847</a:t>
            </a:r>
          </a:p>
          <a:p>
            <a:pPr>
              <a:lnSpc>
                <a:spcPct val="118000"/>
              </a:lnSpc>
            </a:pPr>
            <a:r>
              <a:rPr sz="1150">
                <a:latin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9AA7A0"/>
                </a:solidFill>
                <a:latin typeface="Consolas"/>
              </a:rPr>
              <a:t># 2) 需要 OOB RMSE 时, 用 oob_prediction_ 自行计算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oob_rmse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mean_squared_error</a:t>
            </a:r>
            <a:r>
              <a:rPr sz="1150">
                <a:solidFill>
                  <a:srgbClr val="E8F6EF"/>
                </a:solidFill>
                <a:latin typeface="Consolas"/>
              </a:rPr>
              <a:t>(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y_train</a:t>
            </a:r>
            <a:r>
              <a:rPr sz="1150">
                <a:solidFill>
                  <a:srgbClr val="E8F6EF"/>
                </a:solidFill>
                <a:latin typeface="Consolas"/>
              </a:rPr>
              <a:t>,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model</a:t>
            </a:r>
            <a:r>
              <a:rPr sz="1150">
                <a:solidFill>
                  <a:srgbClr val="E8F6EF"/>
                </a:solidFill>
                <a:latin typeface="Consolas"/>
              </a:rPr>
              <a:t>.</a:t>
            </a:r>
            <a:r>
              <a:rPr sz="1150">
                <a:solidFill>
                  <a:srgbClr val="E8F6EF"/>
                </a:solidFill>
                <a:latin typeface="Consolas"/>
              </a:rPr>
              <a:t>oob_prediction_</a:t>
            </a:r>
            <a:r>
              <a:rPr sz="1150">
                <a:solidFill>
                  <a:srgbClr val="E8F6EF"/>
                </a:solidFill>
                <a:latin typeface="Consolas"/>
              </a:rPr>
              <a:t>)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*</a:t>
            </a:r>
            <a:r>
              <a:rPr sz="1150">
                <a:solidFill>
                  <a:srgbClr val="E8F6EF"/>
                </a:solidFill>
                <a:latin typeface="Consolas"/>
              </a:rPr>
              <a:t>*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F2D45F"/>
                </a:solidFill>
                <a:latin typeface="Consolas"/>
              </a:rPr>
              <a:t>0.5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8FB8E0"/>
                </a:solidFill>
                <a:latin typeface="Consolas"/>
              </a:rPr>
              <a:t>print</a:t>
            </a:r>
            <a:r>
              <a:rPr sz="1150">
                <a:solidFill>
                  <a:srgbClr val="E8F6EF"/>
                </a:solidFill>
                <a:latin typeface="Consolas"/>
              </a:rPr>
              <a:t>(</a:t>
            </a:r>
            <a:r>
              <a:rPr sz="1150">
                <a:solidFill>
                  <a:srgbClr val="F6B26B"/>
                </a:solidFill>
                <a:latin typeface="Consolas"/>
              </a:rPr>
              <a:t>'OOB RMSE:'</a:t>
            </a:r>
            <a:r>
              <a:rPr sz="1150">
                <a:solidFill>
                  <a:srgbClr val="E8F6EF"/>
                </a:solidFill>
                <a:latin typeface="Consolas"/>
              </a:rPr>
              <a:t>,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oob_rmse</a:t>
            </a:r>
            <a:r>
              <a:rPr sz="1150">
                <a:solidFill>
                  <a:srgbClr val="E8F6EF"/>
                </a:solidFill>
                <a:latin typeface="Consolas"/>
              </a:rPr>
              <a:t>)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9AA7A0"/>
                </a:solidFill>
                <a:latin typeface="Consolas"/>
              </a:rPr>
              <a:t># 例: 124,500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2011680"/>
            <a:ext cx="36576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2011680"/>
            <a:ext cx="91440" cy="1828800"/>
          </a:xfrm>
          <a:prstGeom prst="rect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2752" y="217627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524A"/>
                </a:solidFill>
                <a:latin typeface="微软雅黑"/>
              </a:rPr>
              <a:t>⚠️  R²  vs  RMSE 不要混淆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2670048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R² ∈ (−∞, 1] — 越大越好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RMSE ≥ 0 — 越小越好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明确标注「oob_score_ = R²」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3931920"/>
            <a:ext cx="3657600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6720" y="3931920"/>
            <a:ext cx="91440" cy="1280160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02752" y="409651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524A"/>
                </a:solidFill>
                <a:latin typeface="微软雅黑"/>
              </a:rPr>
              <a:t>📌  树数太少时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4590288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OOB 估计不稳定。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建议 n_estimators ≥ 100。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5303520"/>
            <a:ext cx="3657600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20" y="5303520"/>
            <a:ext cx="91440" cy="96012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02752" y="546811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524A"/>
                </a:solidFill>
                <a:latin typeface="微软雅黑"/>
              </a:rPr>
              <a:t>💡  实战模式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5961888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调优中途用 OOB, 最终对比用 CV。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机器学习 · 第 9 章  随机森林 — 二手车价格预测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40 / 66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9601200" y="4114800"/>
            <a:ext cx="1371600" cy="1371600"/>
          </a:xfrm>
          <a:prstGeom prst="triangle">
            <a:avLst/>
          </a:prstGeom>
          <a:solidFill>
            <a:srgbClr val="88D4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0515600" y="4572000"/>
            <a:ext cx="1005840" cy="1005840"/>
          </a:xfrm>
          <a:prstGeom prst="triangle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>
            <a:off x="8961120" y="4754880"/>
            <a:ext cx="822960" cy="822960"/>
          </a:xfrm>
          <a:prstGeom prst="triangle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2194560" cy="502920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PART 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200" b="1" i="0">
                <a:solidFill>
                  <a:srgbClr val="FFFFFF"/>
                </a:solidFill>
                <a:latin typeface="微软雅黑"/>
              </a:rPr>
              <a:t>超参数调优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703320"/>
            <a:ext cx="73152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8404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CFE3DA"/>
                </a:solidFill>
                <a:latin typeface="微软雅黑"/>
              </a:rPr>
              <a:t>教材 9.8 — 理解了含义,GridSearch 才不会变成「猜数字」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微软雅黑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微软雅黑"/>
              </a:rPr>
              <a:t>随机森林 — 二手车价格预测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微软雅黑"/>
              </a:rPr>
              <a:t>9.8   核心超参数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微软雅黑"/>
              </a:rPr>
              <a:t>9.8  核心超参数 — 含义·效果·默认值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微软雅黑"/>
              </a:rPr>
              <a:t>n_estimators · max_depth · min_samples_* · max_features · n_jobs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011680"/>
            <a:ext cx="2194560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011680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参数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2011680"/>
            <a:ext cx="3017520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0" y="2011680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作用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0" y="2011680"/>
            <a:ext cx="2286000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0" y="201168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↑ 效果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2011680"/>
            <a:ext cx="2286000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201168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↑ 副作用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332720" y="2011680"/>
            <a:ext cx="1280160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32720" y="2011680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默认值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395728"/>
            <a:ext cx="2194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395728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Consolas"/>
              </a:rPr>
              <a:t>n_estimators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0" y="2395728"/>
            <a:ext cx="30175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0" y="2395728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树的数量 (B)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60720" y="2395728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60" y="2395728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方差↓·稳定性↑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0" y="2395728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60" y="2395728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训练/预测变慢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332720" y="2395728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24160" y="2395728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100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2779776"/>
            <a:ext cx="2194560" cy="384048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2779776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Consolas"/>
              </a:rPr>
              <a:t>max_depth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0" y="2779776"/>
            <a:ext cx="3017520" cy="384048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34640" y="2779776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单棵树最大深度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60720" y="2779776"/>
            <a:ext cx="2286000" cy="384048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52160" y="2779776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学习更复杂模式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46720" y="2779776"/>
            <a:ext cx="2286000" cy="384048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38160" y="2779776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过拟合·变慢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332720" y="2779776"/>
            <a:ext cx="1280160" cy="384048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24160" y="2779776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None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3163824"/>
            <a:ext cx="2194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3163824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Consolas"/>
              </a:rPr>
              <a:t>min_samples_split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0" y="3163824"/>
            <a:ext cx="30175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834640" y="3163824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分裂最小样本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760720" y="3163824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852160" y="3163824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正则化↑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46720" y="3163824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38160" y="3163824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欠拟合风险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332720" y="3163824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424160" y="3163824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3547872"/>
            <a:ext cx="2194560" cy="384048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3547872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Consolas"/>
              </a:rPr>
              <a:t>min_samples_leaf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0" y="3547872"/>
            <a:ext cx="3017520" cy="384048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834640" y="3547872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叶节点最小样本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760720" y="3547872"/>
            <a:ext cx="2286000" cy="384048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852160" y="3547872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预测更平滑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046720" y="3547872"/>
            <a:ext cx="2286000" cy="384048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138160" y="3547872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欠拟合风险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332720" y="3547872"/>
            <a:ext cx="1280160" cy="384048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424160" y="3547872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8640" y="3931920"/>
            <a:ext cx="2194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080" y="3931920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Consolas"/>
              </a:rPr>
              <a:t>max_features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743200" y="3931920"/>
            <a:ext cx="30175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834640" y="393192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分裂候选特征数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760720" y="3931920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852160" y="3931920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树强度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046720" y="3931920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138160" y="3931920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树间相关性↑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332720" y="3931920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424160" y="3931920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1.0 (回归)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48640" y="4315968"/>
            <a:ext cx="2194560" cy="384048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40080" y="4315968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Consolas"/>
              </a:rPr>
              <a:t>n_jobs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743200" y="4315968"/>
            <a:ext cx="3017520" cy="384048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834640" y="4315968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并行核数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760720" y="4315968"/>
            <a:ext cx="2286000" cy="384048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852160" y="4315968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更快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046720" y="4315968"/>
            <a:ext cx="2286000" cy="384048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138160" y="4315968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内存↑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332720" y="4315968"/>
            <a:ext cx="1280160" cy="384048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424160" y="4315968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None=1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48640" y="4700016"/>
            <a:ext cx="2194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40080" y="4700016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Consolas"/>
              </a:rPr>
              <a:t>random_state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743200" y="4700016"/>
            <a:ext cx="30175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834640" y="4700016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随机种子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760720" y="4700016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852160" y="4700016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可复现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046720" y="4700016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138160" y="4700016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—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332720" y="4700016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424160" y="4700016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None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548640" y="5349240"/>
            <a:ext cx="11155680" cy="91440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77240" y="54406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2A44F"/>
                </a:solidFill>
                <a:latin typeface="微软雅黑"/>
              </a:rPr>
              <a:t>💡  注意参数相互依赖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77240" y="576072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max_depth · min_samples_split · min_samples_leaf 都是「复杂度控制」按钮。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max_depth 很小 + min_samples_split 也很小, 二者效果会互相抵消, 形同虚设。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机器学习 · 第 9 章  随机森林 — 二手车价格预测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42 / 66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微软雅黑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微软雅黑"/>
              </a:rPr>
              <a:t>随机森林 — 二手车价格预测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微软雅黑"/>
              </a:rPr>
              <a:t>9.8   n_estimators 的影响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微软雅黑"/>
              </a:rPr>
              <a:t>n_estimators — 优先设得「足够大」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微软雅黑"/>
              </a:rPr>
              <a:t>树越多方差越小, 但收益会逐渐变缓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6858000" cy="4251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6F5A"/>
                </a:solidFill>
                <a:latin typeface="微软雅黑"/>
              </a:rPr>
              <a:t>📈  B (树数)  vs  test RMSE (示意图)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5532120"/>
            <a:ext cx="6035040" cy="27432"/>
          </a:xfrm>
          <a:prstGeom prst="rect">
            <a:avLst/>
          </a:prstGeom>
          <a:solidFill>
            <a:srgbClr val="55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2606040"/>
            <a:ext cx="27432" cy="2926080"/>
          </a:xfrm>
          <a:prstGeom prst="rect">
            <a:avLst/>
          </a:prstGeom>
          <a:solidFill>
            <a:srgbClr val="55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35807" y="5312664"/>
            <a:ext cx="146304" cy="146304"/>
          </a:xfrm>
          <a:prstGeom prst="ellipse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39" y="55778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556B68"/>
                </a:solidFill>
                <a:latin typeface="Consolas"/>
              </a:rPr>
              <a:t>10</a:t>
            </a:r>
          </a:p>
        </p:txBody>
      </p:sp>
      <p:sp>
        <p:nvSpPr>
          <p:cNvPr id="18" name="Oval 17"/>
          <p:cNvSpPr/>
          <p:nvPr/>
        </p:nvSpPr>
        <p:spPr>
          <a:xfrm>
            <a:off x="4441911" y="4581143"/>
            <a:ext cx="146304" cy="146304"/>
          </a:xfrm>
          <a:prstGeom prst="ellipse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40743" y="55778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556B68"/>
                </a:solidFill>
                <a:latin typeface="Consolas"/>
              </a:rPr>
              <a:t>50</a:t>
            </a:r>
          </a:p>
        </p:txBody>
      </p:sp>
      <p:sp>
        <p:nvSpPr>
          <p:cNvPr id="20" name="Oval 19"/>
          <p:cNvSpPr/>
          <p:nvPr/>
        </p:nvSpPr>
        <p:spPr>
          <a:xfrm>
            <a:off x="5047487" y="4142232"/>
            <a:ext cx="146304" cy="146304"/>
          </a:xfrm>
          <a:prstGeom prst="ellipse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19" y="55778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556B68"/>
                </a:solidFill>
                <a:latin typeface="Consolas"/>
              </a:rPr>
              <a:t>100</a:t>
            </a:r>
          </a:p>
        </p:txBody>
      </p:sp>
      <p:sp>
        <p:nvSpPr>
          <p:cNvPr id="22" name="Oval 21"/>
          <p:cNvSpPr/>
          <p:nvPr/>
        </p:nvSpPr>
        <p:spPr>
          <a:xfrm>
            <a:off x="5653064" y="3849624"/>
            <a:ext cx="146304" cy="146304"/>
          </a:xfrm>
          <a:prstGeom prst="ellipse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51896" y="55778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556B68"/>
                </a:solidFill>
                <a:latin typeface="Consolas"/>
              </a:rPr>
              <a:t>200</a:t>
            </a:r>
          </a:p>
        </p:txBody>
      </p:sp>
      <p:sp>
        <p:nvSpPr>
          <p:cNvPr id="24" name="Oval 23"/>
          <p:cNvSpPr/>
          <p:nvPr/>
        </p:nvSpPr>
        <p:spPr>
          <a:xfrm>
            <a:off x="6007303" y="3703320"/>
            <a:ext cx="146304" cy="146304"/>
          </a:xfrm>
          <a:prstGeom prst="ellipse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06135" y="55778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556B68"/>
                </a:solidFill>
                <a:latin typeface="Consolas"/>
              </a:rPr>
              <a:t>300</a:t>
            </a:r>
          </a:p>
        </p:txBody>
      </p:sp>
      <p:sp>
        <p:nvSpPr>
          <p:cNvPr id="26" name="Oval 25"/>
          <p:cNvSpPr/>
          <p:nvPr/>
        </p:nvSpPr>
        <p:spPr>
          <a:xfrm>
            <a:off x="6453591" y="3615537"/>
            <a:ext cx="146304" cy="146304"/>
          </a:xfrm>
          <a:prstGeom prst="ellipse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52423" y="55778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556B68"/>
                </a:solidFill>
                <a:latin typeface="Consolas"/>
              </a:rPr>
              <a:t>500</a:t>
            </a:r>
          </a:p>
        </p:txBody>
      </p:sp>
      <p:sp>
        <p:nvSpPr>
          <p:cNvPr id="28" name="Oval 27"/>
          <p:cNvSpPr/>
          <p:nvPr/>
        </p:nvSpPr>
        <p:spPr>
          <a:xfrm>
            <a:off x="7059168" y="3586276"/>
            <a:ext cx="146304" cy="146304"/>
          </a:xfrm>
          <a:prstGeom prst="ellipse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0" y="55778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556B68"/>
                </a:solidFill>
                <a:latin typeface="Consolas"/>
              </a:rPr>
              <a:t>1000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897880"/>
            <a:ext cx="6035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556B68"/>
                </a:solidFill>
                <a:latin typeface="Consolas"/>
              </a:rPr>
              <a:t>n_estimators (对数刻度)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8862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556B68"/>
                </a:solidFill>
                <a:latin typeface="Consolas"/>
              </a:rPr>
              <a:t>RMSE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35204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F6F5A"/>
                </a:solidFill>
                <a:latin typeface="微软雅黑"/>
              </a:rPr>
              <a:t>← 快速改善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0" y="48006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47A2C"/>
                </a:solidFill>
                <a:latin typeface="微软雅黑"/>
              </a:rPr>
              <a:t>收益渐缓 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89520" y="2011680"/>
            <a:ext cx="41148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89520" y="2011680"/>
            <a:ext cx="91440" cy="13716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45552" y="2176272"/>
            <a:ext cx="3749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524A"/>
                </a:solidFill>
                <a:latin typeface="微软雅黑"/>
              </a:rPr>
              <a:t>✓  并非过拟合的「直接」原因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45552" y="2670048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增加树数, train RMSE 几乎不变。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降的只是方差,不是偏差。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589520" y="3474720"/>
            <a:ext cx="41148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589520" y="3474720"/>
            <a:ext cx="91440" cy="1371600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45552" y="3639312"/>
            <a:ext cx="3749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524A"/>
                </a:solidFill>
                <a:latin typeface="微软雅黑"/>
              </a:rPr>
              <a:t>📌  开销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45552" y="4133088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训练时间 · 内存 ∝ B。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课堂建议 100→300 之间。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589520" y="4937760"/>
            <a:ext cx="41148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589520" y="4937760"/>
            <a:ext cx="91440" cy="1371600"/>
          </a:xfrm>
          <a:prstGeom prst="rect">
            <a:avLst/>
          </a:prstGeom>
          <a:solidFill>
            <a:srgbClr val="3B6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45552" y="5102352"/>
            <a:ext cx="3749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524A"/>
                </a:solidFill>
                <a:latin typeface="微软雅黑"/>
              </a:rPr>
              <a:t>💡  实战技巧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45552" y="5596128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RF 默认不支持 early stopping。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用 OOB 曲线找平台期。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机器学习 · 第 9 章  随机森林 — 二手车价格预测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43 / 66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微软雅黑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微软雅黑"/>
              </a:rPr>
              <a:t>随机森林 — 二手车价格预测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微软雅黑"/>
              </a:rPr>
              <a:t>9.8   深度与叶节点大小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微软雅黑"/>
              </a:rPr>
              <a:t>max_depth · min_samples_leaf — 复杂度控制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微软雅黑"/>
              </a:rPr>
              <a:t>目标不是「降低 train」, 而是「缩小 train 与 test 的差距」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11155680" cy="45720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01168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2A44F"/>
                </a:solidFill>
                <a:latin typeface="微软雅黑"/>
              </a:rPr>
              <a:t>情景 — 用 train_rmse / test_rmse 的差距来诊断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606040"/>
            <a:ext cx="3657600" cy="3657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2606040"/>
            <a:ext cx="3657600" cy="502920"/>
          </a:xfrm>
          <a:prstGeom prst="roundRect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60604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过拟合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2461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4524A"/>
                </a:solidFill>
                <a:latin typeface="微软雅黑"/>
              </a:rPr>
              <a:t>📊  诊断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5204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Train 很低 · Test 偏高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931920"/>
            <a:ext cx="3291840" cy="365760"/>
          </a:xfrm>
          <a:prstGeom prst="round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9319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4524A"/>
                </a:solidFill>
                <a:latin typeface="Consolas"/>
              </a:rPr>
              <a:t>例)  train 5万  ·  test 14万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4348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4524A"/>
                </a:solidFill>
                <a:latin typeface="微软雅黑"/>
              </a:rPr>
              <a:t>🔧  处方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709160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B2B2A"/>
                </a:solidFill>
                <a:latin typeface="Consolas"/>
              </a:rPr>
              <a:t>max_depth ↓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B2B2A"/>
                </a:solidFill>
                <a:latin typeface="Consolas"/>
              </a:rPr>
              <a:t>min_samples_leaf 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53212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1">
                <a:solidFill>
                  <a:srgbClr val="556B68"/>
                </a:solidFill>
                <a:latin typeface="微软雅黑"/>
              </a:rPr>
              <a:t>降低复杂度,</a:t>
            </a:r>
          </a:p>
          <a:p>
            <a:pPr algn="l">
              <a:lnSpc>
                <a:spcPct val="140000"/>
              </a:lnSpc>
            </a:pPr>
            <a:r>
              <a:rPr sz="1000" b="0" i="1">
                <a:solidFill>
                  <a:srgbClr val="556B68"/>
                </a:solidFill>
                <a:latin typeface="微软雅黑"/>
              </a:rPr>
              <a:t>缩小差距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2606040"/>
            <a:ext cx="3657600" cy="3657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43400" y="2606040"/>
            <a:ext cx="3657600" cy="502920"/>
          </a:xfrm>
          <a:prstGeom prst="round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43400" y="260604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合适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32461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4524A"/>
                </a:solidFill>
                <a:latin typeface="微软雅黑"/>
              </a:rPr>
              <a:t>📊  诊断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35204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两者都适中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26280" y="3931920"/>
            <a:ext cx="3291840" cy="365760"/>
          </a:xfrm>
          <a:prstGeom prst="round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26280" y="39319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4524A"/>
                </a:solidFill>
                <a:latin typeface="Consolas"/>
              </a:rPr>
              <a:t>例)  train 7万  ·  test 11万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44348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4524A"/>
                </a:solidFill>
                <a:latin typeface="微软雅黑"/>
              </a:rPr>
              <a:t>🔧  处方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4709160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B2B2A"/>
                </a:solidFill>
                <a:latin typeface="Consolas"/>
              </a:rPr>
              <a:t>保持当前设置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80" y="553212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1">
                <a:solidFill>
                  <a:srgbClr val="556B68"/>
                </a:solidFill>
                <a:latin typeface="微软雅黑"/>
              </a:rPr>
              <a:t>只需监控波动 (std)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38160" y="2606040"/>
            <a:ext cx="3657600" cy="3657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138160" y="2606040"/>
            <a:ext cx="3657600" cy="502920"/>
          </a:xfrm>
          <a:prstGeom prst="roundRect">
            <a:avLst/>
          </a:prstGeom>
          <a:solidFill>
            <a:srgbClr val="3B6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38160" y="260604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欠拟合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32461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4524A"/>
                </a:solidFill>
                <a:latin typeface="微软雅黑"/>
              </a:rPr>
              <a:t>📊  诊断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35204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Train 也高 · Test 也高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21040" y="3931920"/>
            <a:ext cx="3291840" cy="365760"/>
          </a:xfrm>
          <a:prstGeom prst="round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21040" y="39319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4524A"/>
                </a:solidFill>
                <a:latin typeface="Consolas"/>
              </a:rPr>
              <a:t>例)  train 13万  ·  test 14万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44348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4524A"/>
                </a:solidFill>
                <a:latin typeface="微软雅黑"/>
              </a:rPr>
              <a:t>🔧  处方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4709160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B2B2A"/>
                </a:solidFill>
                <a:latin typeface="Consolas"/>
              </a:rPr>
              <a:t>max_depth ↑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B2B2A"/>
                </a:solidFill>
                <a:latin typeface="Consolas"/>
              </a:rPr>
              <a:t>min_samples_leaf ↓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B2B2A"/>
                </a:solidFill>
                <a:latin typeface="Consolas"/>
              </a:rPr>
              <a:t>增加树数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553212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1">
                <a:solidFill>
                  <a:srgbClr val="556B68"/>
                </a:solidFill>
                <a:latin typeface="微软雅黑"/>
              </a:rPr>
              <a:t>或改进特征工程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机器学习 · 第 9 章  随机森林 — 二手车价格预测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44 / 66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微软雅黑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微软雅黑"/>
              </a:rPr>
              <a:t>随机森林 — 二手车价格预测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微软雅黑"/>
              </a:rPr>
              <a:t>9.8   教材式调优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微软雅黑"/>
              </a:rPr>
              <a:t>9.8  教材式调优 + 5 折 CV 重新评估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微软雅黑"/>
              </a:rPr>
              <a:t>n_estimators=300 · max_depth=50 · min_samples_split=5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7680960" cy="4297680"/>
          </a:xfrm>
          <a:prstGeom prst="roundRect">
            <a:avLst/>
          </a:prstGeom>
          <a:solidFill>
            <a:srgbClr val="0E1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" y="2157984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7824" y="2157984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42416" y="2157984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2121408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9AA7A0"/>
                </a:solidFill>
                <a:latin typeface="Consolas"/>
              </a:rPr>
              <a:t>tuned_kfold.py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377440"/>
            <a:ext cx="73152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train_rmse_total</a:t>
            </a:r>
            <a:r>
              <a:rPr sz="950">
                <a:solidFill>
                  <a:srgbClr val="E8F6EF"/>
                </a:solidFill>
                <a:latin typeface="Consolas"/>
              </a:rPr>
              <a:t>,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test_rmse_total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=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[</a:t>
            </a:r>
            <a:r>
              <a:rPr sz="950">
                <a:solidFill>
                  <a:srgbClr val="E8F6EF"/>
                </a:solidFill>
                <a:latin typeface="Consolas"/>
              </a:rPr>
              <a:t>]</a:t>
            </a:r>
            <a:r>
              <a:rPr sz="950">
                <a:solidFill>
                  <a:srgbClr val="E8F6EF"/>
                </a:solidFill>
                <a:latin typeface="Consolas"/>
              </a:rPr>
              <a:t>,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[</a:t>
            </a:r>
            <a:r>
              <a:rPr sz="950">
                <a:solidFill>
                  <a:srgbClr val="E8F6EF"/>
                </a:solidFill>
                <a:latin typeface="Consolas"/>
              </a:rPr>
              <a:t>]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7BD389"/>
                </a:solidFill>
                <a:latin typeface="Consolas"/>
              </a:rPr>
              <a:t>for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train_idx</a:t>
            </a:r>
            <a:r>
              <a:rPr sz="950">
                <a:solidFill>
                  <a:srgbClr val="E8F6EF"/>
                </a:solidFill>
                <a:latin typeface="Consolas"/>
              </a:rPr>
              <a:t>,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test_idx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7BD389"/>
                </a:solidFill>
                <a:latin typeface="Consolas"/>
              </a:rPr>
              <a:t>in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kf</a:t>
            </a:r>
            <a:r>
              <a:rPr sz="950">
                <a:solidFill>
                  <a:srgbClr val="E8F6EF"/>
                </a:solidFill>
                <a:latin typeface="Consolas"/>
              </a:rPr>
              <a:t>.</a:t>
            </a:r>
            <a:r>
              <a:rPr sz="950">
                <a:solidFill>
                  <a:srgbClr val="E8F6EF"/>
                </a:solidFill>
                <a:latin typeface="Consolas"/>
              </a:rPr>
              <a:t>split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  <a:r>
              <a:rPr sz="950">
                <a:solidFill>
                  <a:srgbClr val="E8F6EF"/>
                </a:solidFill>
                <a:latin typeface="Consolas"/>
              </a:rPr>
              <a:t>X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  <a:r>
              <a:rPr sz="950">
                <a:solidFill>
                  <a:srgbClr val="E8F6EF"/>
                </a:solidFill>
                <a:latin typeface="Consolas"/>
              </a:rPr>
              <a:t>: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X_train</a:t>
            </a:r>
            <a:r>
              <a:rPr sz="950">
                <a:solidFill>
                  <a:srgbClr val="E8F6EF"/>
                </a:solidFill>
                <a:latin typeface="Consolas"/>
              </a:rPr>
              <a:t>,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X_test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=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X</a:t>
            </a:r>
            <a:r>
              <a:rPr sz="950">
                <a:solidFill>
                  <a:srgbClr val="E8F6EF"/>
                </a:solidFill>
                <a:latin typeface="Consolas"/>
              </a:rPr>
              <a:t>.</a:t>
            </a:r>
            <a:r>
              <a:rPr sz="950">
                <a:solidFill>
                  <a:srgbClr val="E8F6EF"/>
                </a:solidFill>
                <a:latin typeface="Consolas"/>
              </a:rPr>
              <a:t>iloc</a:t>
            </a:r>
            <a:r>
              <a:rPr sz="950">
                <a:solidFill>
                  <a:srgbClr val="E8F6EF"/>
                </a:solidFill>
                <a:latin typeface="Consolas"/>
              </a:rPr>
              <a:t>[</a:t>
            </a:r>
            <a:r>
              <a:rPr sz="950">
                <a:solidFill>
                  <a:srgbClr val="E8F6EF"/>
                </a:solidFill>
                <a:latin typeface="Consolas"/>
              </a:rPr>
              <a:t>train_idx</a:t>
            </a:r>
            <a:r>
              <a:rPr sz="950">
                <a:solidFill>
                  <a:srgbClr val="E8F6EF"/>
                </a:solidFill>
                <a:latin typeface="Consolas"/>
              </a:rPr>
              <a:t>]</a:t>
            </a:r>
            <a:r>
              <a:rPr sz="950">
                <a:solidFill>
                  <a:srgbClr val="E8F6EF"/>
                </a:solidFill>
                <a:latin typeface="Consolas"/>
              </a:rPr>
              <a:t>,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X</a:t>
            </a:r>
            <a:r>
              <a:rPr sz="950">
                <a:solidFill>
                  <a:srgbClr val="E8F6EF"/>
                </a:solidFill>
                <a:latin typeface="Consolas"/>
              </a:rPr>
              <a:t>.</a:t>
            </a:r>
            <a:r>
              <a:rPr sz="950">
                <a:solidFill>
                  <a:srgbClr val="E8F6EF"/>
                </a:solidFill>
                <a:latin typeface="Consolas"/>
              </a:rPr>
              <a:t>iloc</a:t>
            </a:r>
            <a:r>
              <a:rPr sz="950">
                <a:solidFill>
                  <a:srgbClr val="E8F6EF"/>
                </a:solidFill>
                <a:latin typeface="Consolas"/>
              </a:rPr>
              <a:t>[</a:t>
            </a:r>
            <a:r>
              <a:rPr sz="950">
                <a:solidFill>
                  <a:srgbClr val="E8F6EF"/>
                </a:solidFill>
                <a:latin typeface="Consolas"/>
              </a:rPr>
              <a:t>test_idx</a:t>
            </a:r>
            <a:r>
              <a:rPr sz="950">
                <a:solidFill>
                  <a:srgbClr val="E8F6EF"/>
                </a:solidFill>
                <a:latin typeface="Consolas"/>
              </a:rPr>
              <a:t>]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y_train</a:t>
            </a:r>
            <a:r>
              <a:rPr sz="950">
                <a:solidFill>
                  <a:srgbClr val="E8F6EF"/>
                </a:solidFill>
                <a:latin typeface="Consolas"/>
              </a:rPr>
              <a:t>,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y_test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=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y</a:t>
            </a:r>
            <a:r>
              <a:rPr sz="950">
                <a:solidFill>
                  <a:srgbClr val="E8F6EF"/>
                </a:solidFill>
                <a:latin typeface="Consolas"/>
              </a:rPr>
              <a:t>.</a:t>
            </a:r>
            <a:r>
              <a:rPr sz="950">
                <a:solidFill>
                  <a:srgbClr val="E8F6EF"/>
                </a:solidFill>
                <a:latin typeface="Consolas"/>
              </a:rPr>
              <a:t>iloc</a:t>
            </a:r>
            <a:r>
              <a:rPr sz="950">
                <a:solidFill>
                  <a:srgbClr val="E8F6EF"/>
                </a:solidFill>
                <a:latin typeface="Consolas"/>
              </a:rPr>
              <a:t>[</a:t>
            </a:r>
            <a:r>
              <a:rPr sz="950">
                <a:solidFill>
                  <a:srgbClr val="E8F6EF"/>
                </a:solidFill>
                <a:latin typeface="Consolas"/>
              </a:rPr>
              <a:t>train_idx</a:t>
            </a:r>
            <a:r>
              <a:rPr sz="950">
                <a:solidFill>
                  <a:srgbClr val="E8F6EF"/>
                </a:solidFill>
                <a:latin typeface="Consolas"/>
              </a:rPr>
              <a:t>]</a:t>
            </a:r>
            <a:r>
              <a:rPr sz="950">
                <a:solidFill>
                  <a:srgbClr val="E8F6EF"/>
                </a:solidFill>
                <a:latin typeface="Consolas"/>
              </a:rPr>
              <a:t>,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y</a:t>
            </a:r>
            <a:r>
              <a:rPr sz="950">
                <a:solidFill>
                  <a:srgbClr val="E8F6EF"/>
                </a:solidFill>
                <a:latin typeface="Consolas"/>
              </a:rPr>
              <a:t>.</a:t>
            </a:r>
            <a:r>
              <a:rPr sz="950">
                <a:solidFill>
                  <a:srgbClr val="E8F6EF"/>
                </a:solidFill>
                <a:latin typeface="Consolas"/>
              </a:rPr>
              <a:t>iloc</a:t>
            </a:r>
            <a:r>
              <a:rPr sz="950">
                <a:solidFill>
                  <a:srgbClr val="E8F6EF"/>
                </a:solidFill>
                <a:latin typeface="Consolas"/>
              </a:rPr>
              <a:t>[</a:t>
            </a:r>
            <a:r>
              <a:rPr sz="950">
                <a:solidFill>
                  <a:srgbClr val="E8F6EF"/>
                </a:solidFill>
                <a:latin typeface="Consolas"/>
              </a:rPr>
              <a:t>test_idx</a:t>
            </a:r>
            <a:r>
              <a:rPr sz="950">
                <a:solidFill>
                  <a:srgbClr val="E8F6EF"/>
                </a:solidFill>
                <a:latin typeface="Consolas"/>
              </a:rPr>
              <a:t>]</a:t>
            </a:r>
          </a:p>
          <a:p>
            <a:pPr>
              <a:lnSpc>
                <a:spcPct val="105000"/>
              </a:lnSpc>
            </a:pPr>
            <a:r>
              <a:rPr sz="950">
                <a:latin typeface="Consolas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model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=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RandomForestRegressor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n_estimators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=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F2D45F"/>
                </a:solidFill>
                <a:latin typeface="Consolas"/>
              </a:rPr>
              <a:t>300</a:t>
            </a:r>
            <a:r>
              <a:rPr sz="950">
                <a:solidFill>
                  <a:srgbClr val="E8F6EF"/>
                </a:solidFill>
                <a:latin typeface="Consolas"/>
              </a:rPr>
              <a:t>,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9AA7A0"/>
                </a:solidFill>
                <a:latin typeface="Consolas"/>
              </a:rPr>
              <a:t># 树↑提升稳定性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max_depth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=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F2D45F"/>
                </a:solidFill>
                <a:latin typeface="Consolas"/>
              </a:rPr>
              <a:t>50</a:t>
            </a:r>
            <a:r>
              <a:rPr sz="950">
                <a:solidFill>
                  <a:srgbClr val="E8F6EF"/>
                </a:solidFill>
                <a:latin typeface="Consolas"/>
              </a:rPr>
              <a:t>,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9AA7A0"/>
                </a:solidFill>
                <a:latin typeface="Consolas"/>
              </a:rPr>
              <a:t># 很深, 但有限制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min_samples_split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=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F2D45F"/>
                </a:solidFill>
                <a:latin typeface="Consolas"/>
              </a:rPr>
              <a:t>5</a:t>
            </a:r>
            <a:r>
              <a:rPr sz="950">
                <a:solidFill>
                  <a:srgbClr val="E8F6EF"/>
                </a:solidFill>
                <a:latin typeface="Consolas"/>
              </a:rPr>
              <a:t>,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9AA7A0"/>
                </a:solidFill>
                <a:latin typeface="Consolas"/>
              </a:rPr>
              <a:t># 阻挡过小分裂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min_samples_leaf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=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F2D45F"/>
                </a:solidFill>
                <a:latin typeface="Consolas"/>
              </a:rPr>
              <a:t>1</a:t>
            </a:r>
            <a:r>
              <a:rPr sz="950">
                <a:solidFill>
                  <a:srgbClr val="E8F6EF"/>
                </a:solidFill>
                <a:latin typeface="Consolas"/>
              </a:rPr>
              <a:t>,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9AA7A0"/>
                </a:solidFill>
                <a:latin typeface="Consolas"/>
              </a:rPr>
              <a:t># 默认值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n_jobs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=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-</a:t>
            </a:r>
            <a:r>
              <a:rPr sz="950">
                <a:solidFill>
                  <a:srgbClr val="F2D45F"/>
                </a:solidFill>
                <a:latin typeface="Consolas"/>
              </a:rPr>
              <a:t>1</a:t>
            </a:r>
            <a:r>
              <a:rPr sz="950">
                <a:solidFill>
                  <a:srgbClr val="E8F6EF"/>
                </a:solidFill>
                <a:latin typeface="Consolas"/>
              </a:rPr>
              <a:t>,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9AA7A0"/>
                </a:solidFill>
                <a:latin typeface="Consolas"/>
              </a:rPr>
              <a:t># 全部 CPU 核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random_state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=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F2D45F"/>
                </a:solidFill>
                <a:latin typeface="Consolas"/>
              </a:rPr>
              <a:t>100</a:t>
            </a:r>
            <a:r>
              <a:rPr sz="950">
                <a:solidFill>
                  <a:srgbClr val="E8F6EF"/>
                </a:solidFill>
                <a:latin typeface="Consolas"/>
              </a:rPr>
              <a:t>,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9AA7A0"/>
                </a:solidFill>
                <a:latin typeface="Consolas"/>
              </a:rPr>
              <a:t># 可复现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model</a:t>
            </a:r>
            <a:r>
              <a:rPr sz="950">
                <a:solidFill>
                  <a:srgbClr val="E8F6EF"/>
                </a:solidFill>
                <a:latin typeface="Consolas"/>
              </a:rPr>
              <a:t>.</a:t>
            </a:r>
            <a:r>
              <a:rPr sz="950">
                <a:solidFill>
                  <a:srgbClr val="E8F6EF"/>
                </a:solidFill>
                <a:latin typeface="Consolas"/>
              </a:rPr>
              <a:t>fit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  <a:r>
              <a:rPr sz="950">
                <a:solidFill>
                  <a:srgbClr val="E8F6EF"/>
                </a:solidFill>
                <a:latin typeface="Consolas"/>
              </a:rPr>
              <a:t>X_train</a:t>
            </a:r>
            <a:r>
              <a:rPr sz="950">
                <a:solidFill>
                  <a:srgbClr val="E8F6EF"/>
                </a:solidFill>
                <a:latin typeface="Consolas"/>
              </a:rPr>
              <a:t>,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y_train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</a:pPr>
            <a:r>
              <a:rPr sz="950">
                <a:latin typeface="Consolas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train_pred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=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model</a:t>
            </a:r>
            <a:r>
              <a:rPr sz="950">
                <a:solidFill>
                  <a:srgbClr val="E8F6EF"/>
                </a:solidFill>
                <a:latin typeface="Consolas"/>
              </a:rPr>
              <a:t>.</a:t>
            </a:r>
            <a:r>
              <a:rPr sz="950">
                <a:solidFill>
                  <a:srgbClr val="E8F6EF"/>
                </a:solidFill>
                <a:latin typeface="Consolas"/>
              </a:rPr>
              <a:t>predict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  <a:r>
              <a:rPr sz="950">
                <a:solidFill>
                  <a:srgbClr val="E8F6EF"/>
                </a:solidFill>
                <a:latin typeface="Consolas"/>
              </a:rPr>
              <a:t>X_train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test_pred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=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model</a:t>
            </a:r>
            <a:r>
              <a:rPr sz="950">
                <a:solidFill>
                  <a:srgbClr val="E8F6EF"/>
                </a:solidFill>
                <a:latin typeface="Consolas"/>
              </a:rPr>
              <a:t>.</a:t>
            </a:r>
            <a:r>
              <a:rPr sz="950">
                <a:solidFill>
                  <a:srgbClr val="E8F6EF"/>
                </a:solidFill>
                <a:latin typeface="Consolas"/>
              </a:rPr>
              <a:t>predict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  <a:r>
              <a:rPr sz="950">
                <a:solidFill>
                  <a:srgbClr val="E8F6EF"/>
                </a:solidFill>
                <a:latin typeface="Consolas"/>
              </a:rPr>
              <a:t>X_test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train_rmse_total</a:t>
            </a:r>
            <a:r>
              <a:rPr sz="950">
                <a:solidFill>
                  <a:srgbClr val="E8F6EF"/>
                </a:solidFill>
                <a:latin typeface="Consolas"/>
              </a:rPr>
              <a:t>.</a:t>
            </a:r>
            <a:r>
              <a:rPr sz="950">
                <a:solidFill>
                  <a:srgbClr val="E8F6EF"/>
                </a:solidFill>
                <a:latin typeface="Consolas"/>
              </a:rPr>
              <a:t>append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mean_squared_error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  <a:r>
              <a:rPr sz="950">
                <a:solidFill>
                  <a:srgbClr val="E8F6EF"/>
                </a:solidFill>
                <a:latin typeface="Consolas"/>
              </a:rPr>
              <a:t>y_train</a:t>
            </a:r>
            <a:r>
              <a:rPr sz="950">
                <a:solidFill>
                  <a:srgbClr val="E8F6EF"/>
                </a:solidFill>
                <a:latin typeface="Consolas"/>
              </a:rPr>
              <a:t>,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train_pred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*</a:t>
            </a:r>
            <a:r>
              <a:rPr sz="950">
                <a:solidFill>
                  <a:srgbClr val="E8F6EF"/>
                </a:solidFill>
                <a:latin typeface="Consolas"/>
              </a:rPr>
              <a:t>*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F2D45F"/>
                </a:solidFill>
                <a:latin typeface="Consolas"/>
              </a:rPr>
              <a:t>0.5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test_rmse_total</a:t>
            </a:r>
            <a:r>
              <a:rPr sz="950">
                <a:solidFill>
                  <a:srgbClr val="E8F6EF"/>
                </a:solidFill>
                <a:latin typeface="Consolas"/>
              </a:rPr>
              <a:t>.</a:t>
            </a:r>
            <a:r>
              <a:rPr sz="950">
                <a:solidFill>
                  <a:srgbClr val="E8F6EF"/>
                </a:solidFill>
                <a:latin typeface="Consolas"/>
              </a:rPr>
              <a:t>append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mean_squared_error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  <a:r>
              <a:rPr sz="950">
                <a:solidFill>
                  <a:srgbClr val="E8F6EF"/>
                </a:solidFill>
                <a:latin typeface="Consolas"/>
              </a:rPr>
              <a:t>y_test</a:t>
            </a:r>
            <a:r>
              <a:rPr sz="950">
                <a:solidFill>
                  <a:srgbClr val="E8F6EF"/>
                </a:solidFill>
                <a:latin typeface="Consolas"/>
              </a:rPr>
              <a:t>,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test_pred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*</a:t>
            </a:r>
            <a:r>
              <a:rPr sz="950">
                <a:solidFill>
                  <a:srgbClr val="E8F6EF"/>
                </a:solidFill>
                <a:latin typeface="Consolas"/>
              </a:rPr>
              <a:t>*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F2D45F"/>
                </a:solidFill>
                <a:latin typeface="Consolas"/>
              </a:rPr>
              <a:t>0.5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</a:pPr>
            <a:r>
              <a:rPr sz="950">
                <a:latin typeface="Consolas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8FB8E0"/>
                </a:solidFill>
                <a:latin typeface="Consolas"/>
              </a:rPr>
              <a:t>print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  <a:r>
              <a:rPr sz="950">
                <a:solidFill>
                  <a:srgbClr val="F6B26B"/>
                </a:solidFill>
                <a:latin typeface="Consolas"/>
              </a:rPr>
              <a:t>'CV train:'</a:t>
            </a:r>
            <a:r>
              <a:rPr sz="950">
                <a:solidFill>
                  <a:srgbClr val="E8F6EF"/>
                </a:solidFill>
                <a:latin typeface="Consolas"/>
              </a:rPr>
              <a:t>,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8FB8E0"/>
                </a:solidFill>
                <a:latin typeface="Consolas"/>
              </a:rPr>
              <a:t>sum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  <a:r>
              <a:rPr sz="950">
                <a:solidFill>
                  <a:srgbClr val="E8F6EF"/>
                </a:solidFill>
                <a:latin typeface="Consolas"/>
              </a:rPr>
              <a:t>train_rmse_total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  <a:r>
              <a:rPr sz="950">
                <a:solidFill>
                  <a:srgbClr val="E8F6EF"/>
                </a:solidFill>
                <a:latin typeface="Consolas"/>
              </a:rPr>
              <a:t>/</a:t>
            </a:r>
            <a:r>
              <a:rPr sz="950">
                <a:solidFill>
                  <a:srgbClr val="F2D45F"/>
                </a:solidFill>
                <a:latin typeface="Consolas"/>
              </a:rPr>
              <a:t>5</a:t>
            </a:r>
            <a:r>
              <a:rPr sz="95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F6B26B"/>
                </a:solidFill>
                <a:latin typeface="Consolas"/>
              </a:rPr>
              <a:t>'CV test :'</a:t>
            </a:r>
            <a:r>
              <a:rPr sz="950">
                <a:solidFill>
                  <a:srgbClr val="E8F6EF"/>
                </a:solidFill>
                <a:latin typeface="Consolas"/>
              </a:rPr>
              <a:t>,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8FB8E0"/>
                </a:solidFill>
                <a:latin typeface="Consolas"/>
              </a:rPr>
              <a:t>sum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  <a:r>
              <a:rPr sz="950">
                <a:solidFill>
                  <a:srgbClr val="E8F6EF"/>
                </a:solidFill>
                <a:latin typeface="Consolas"/>
              </a:rPr>
              <a:t>test_rmse_total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/</a:t>
            </a:r>
            <a:r>
              <a:rPr sz="950">
                <a:solidFill>
                  <a:srgbClr val="F2D45F"/>
                </a:solidFill>
                <a:latin typeface="Consolas"/>
              </a:rPr>
              <a:t>5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2011680"/>
            <a:ext cx="3291840" cy="2468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21031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F6F5A"/>
                </a:solidFill>
                <a:latin typeface="微软雅黑"/>
              </a:rPr>
              <a:t>📊  Default vs Tuned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49640" y="2606040"/>
            <a:ext cx="640080" cy="365760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9640" y="260604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9189720" y="2606040"/>
            <a:ext cx="1234440" cy="365760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9720" y="260604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</a:rPr>
              <a:t>Default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424160" y="2606040"/>
            <a:ext cx="1234440" cy="365760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24160" y="260604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</a:rPr>
              <a:t>Tuned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49640" y="2971800"/>
            <a:ext cx="640080" cy="365760"/>
          </a:xfrm>
          <a:prstGeom prst="rect">
            <a:avLst/>
          </a:prstGeom>
          <a:solidFill>
            <a:srgbClr val="E3E8E5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9640" y="297180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4524A"/>
                </a:solidFill>
                <a:latin typeface="微软雅黑"/>
              </a:rPr>
              <a:t>train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89720" y="2971800"/>
            <a:ext cx="12344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89720" y="297180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B2B2A"/>
                </a:solidFill>
                <a:latin typeface="Consolas"/>
              </a:rPr>
              <a:t>56,553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424160" y="2971800"/>
            <a:ext cx="12344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24160" y="297180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B2B2A"/>
                </a:solidFill>
                <a:latin typeface="Consolas"/>
              </a:rPr>
              <a:t>66,762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49640" y="3337560"/>
            <a:ext cx="640080" cy="365760"/>
          </a:xfrm>
          <a:prstGeom prst="rect">
            <a:avLst/>
          </a:prstGeom>
          <a:solidFill>
            <a:srgbClr val="E3E8E5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49640" y="333756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4524A"/>
                </a:solidFill>
                <a:latin typeface="微软雅黑"/>
              </a:rPr>
              <a:t>test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89720" y="3337560"/>
            <a:ext cx="12344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89720" y="33375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B2B2A"/>
                </a:solidFill>
                <a:latin typeface="Consolas"/>
              </a:rPr>
              <a:t>142,936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424160" y="3337560"/>
            <a:ext cx="12344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24160" y="33375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B2B2A"/>
                </a:solidFill>
                <a:latin typeface="Consolas"/>
              </a:rPr>
              <a:t>142,205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49640" y="3703320"/>
            <a:ext cx="640080" cy="365760"/>
          </a:xfrm>
          <a:prstGeom prst="rect">
            <a:avLst/>
          </a:prstGeom>
          <a:solidFill>
            <a:srgbClr val="E3E8E5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49640" y="370332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4524A"/>
                </a:solidFill>
                <a:latin typeface="微软雅黑"/>
              </a:rPr>
              <a:t>gap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89720" y="3703320"/>
            <a:ext cx="12344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89720" y="370332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D47A2C"/>
                </a:solidFill>
                <a:latin typeface="Consolas"/>
              </a:rPr>
              <a:t>86,383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424160" y="3703320"/>
            <a:ext cx="12344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424160" y="370332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D47A2C"/>
                </a:solidFill>
                <a:latin typeface="Consolas"/>
              </a:rPr>
              <a:t>75,443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49640" y="41148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1F6F5A"/>
                </a:solidFill>
                <a:latin typeface="微软雅黑"/>
              </a:rPr>
              <a:t>↓ gap 减少 11,000 = 过拟合缓解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412480" y="4572000"/>
            <a:ext cx="3291840" cy="169164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95360" y="466344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2A44F"/>
                </a:solidFill>
                <a:latin typeface="微软雅黑"/>
              </a:rPr>
              <a:t>💬  教师讲解要点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4956048"/>
            <a:ext cx="292608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「train RMSE 反而上升却是好事」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→ 正则化让 train 不再被死记。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test 略降, 差距收窄, 这才是目标。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机器学习 · 第 9 章  随机森林 — 二手车价格预测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45 / 66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微软雅黑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微软雅黑"/>
              </a:rPr>
              <a:t>随机森林 — 二手车价格预测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微软雅黑"/>
              </a:rPr>
              <a:t>9.8   GridSearchCV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微软雅黑"/>
              </a:rPr>
              <a:t>GridSearchCV — 自动组合搜索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微软雅黑"/>
              </a:rPr>
              <a:t>用 CV 对「所有组合」打分,但需注意计算成本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7040880" cy="4297680"/>
          </a:xfrm>
          <a:prstGeom prst="roundRect">
            <a:avLst/>
          </a:prstGeom>
          <a:solidFill>
            <a:srgbClr val="0E1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" y="2157984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7824" y="2157984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42416" y="2157984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2121408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9AA7A0"/>
                </a:solidFill>
                <a:latin typeface="Consolas"/>
              </a:rPr>
              <a:t>gridsearch.py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377440"/>
            <a:ext cx="667512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7000"/>
              </a:lnSpc>
            </a:pPr>
            <a:r>
              <a:rPr sz="1000">
                <a:solidFill>
                  <a:srgbClr val="7BD389"/>
                </a:solidFill>
                <a:latin typeface="Consolas"/>
              </a:rPr>
              <a:t>from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sklearn</a:t>
            </a:r>
            <a:r>
              <a:rPr sz="1000">
                <a:solidFill>
                  <a:srgbClr val="E8F6EF"/>
                </a:solidFill>
                <a:latin typeface="Consolas"/>
              </a:rPr>
              <a:t>.</a:t>
            </a:r>
            <a:r>
              <a:rPr sz="1000">
                <a:solidFill>
                  <a:srgbClr val="E8F6EF"/>
                </a:solidFill>
                <a:latin typeface="Consolas"/>
              </a:rPr>
              <a:t>model_selection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7BD389"/>
                </a:solidFill>
                <a:latin typeface="Consolas"/>
              </a:rPr>
              <a:t>import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GridSearchCV</a:t>
            </a:r>
          </a:p>
          <a:p>
            <a:pPr>
              <a:lnSpc>
                <a:spcPct val="107000"/>
              </a:lnSpc>
            </a:pPr>
            <a:r>
              <a:rPr sz="1000">
                <a:latin typeface="Consolas"/>
              </a:rPr>
              <a:t> </a:t>
            </a:r>
          </a:p>
          <a:p>
            <a:pPr>
              <a:lnSpc>
                <a:spcPct val="107000"/>
              </a:lnSpc>
            </a:pPr>
            <a:r>
              <a:rPr sz="1000">
                <a:solidFill>
                  <a:srgbClr val="E8F6EF"/>
                </a:solidFill>
                <a:latin typeface="Consolas"/>
              </a:rPr>
              <a:t>param_grid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=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</a:pP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F6B26B"/>
                </a:solidFill>
                <a:latin typeface="Consolas"/>
              </a:rPr>
              <a:t>'n_estimators'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: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[</a:t>
            </a:r>
            <a:r>
              <a:rPr sz="1000">
                <a:solidFill>
                  <a:srgbClr val="F2D45F"/>
                </a:solidFill>
                <a:latin typeface="Consolas"/>
              </a:rPr>
              <a:t>200</a:t>
            </a:r>
            <a:r>
              <a:rPr sz="1000">
                <a:solidFill>
                  <a:srgbClr val="E8F6EF"/>
                </a:solidFill>
                <a:latin typeface="Consolas"/>
              </a:rPr>
              <a:t>,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F2D45F"/>
                </a:solidFill>
                <a:latin typeface="Consolas"/>
              </a:rPr>
              <a:t>300</a:t>
            </a:r>
            <a:r>
              <a:rPr sz="1000">
                <a:solidFill>
                  <a:srgbClr val="E8F6EF"/>
                </a:solidFill>
                <a:latin typeface="Consolas"/>
              </a:rPr>
              <a:t>]</a:t>
            </a:r>
            <a:r>
              <a:rPr sz="100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07000"/>
              </a:lnSpc>
            </a:pP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F6B26B"/>
                </a:solidFill>
                <a:latin typeface="Consolas"/>
              </a:rPr>
              <a:t>'max_depth'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: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[</a:t>
            </a:r>
            <a:r>
              <a:rPr sz="1000">
                <a:solidFill>
                  <a:srgbClr val="F2D45F"/>
                </a:solidFill>
                <a:latin typeface="Consolas"/>
              </a:rPr>
              <a:t>20</a:t>
            </a:r>
            <a:r>
              <a:rPr sz="1000">
                <a:solidFill>
                  <a:srgbClr val="E8F6EF"/>
                </a:solidFill>
                <a:latin typeface="Consolas"/>
              </a:rPr>
              <a:t>,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F2D45F"/>
                </a:solidFill>
                <a:latin typeface="Consolas"/>
              </a:rPr>
              <a:t>50</a:t>
            </a:r>
            <a:r>
              <a:rPr sz="1000">
                <a:solidFill>
                  <a:srgbClr val="E8F6EF"/>
                </a:solidFill>
                <a:latin typeface="Consolas"/>
              </a:rPr>
              <a:t>,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7BD389"/>
                </a:solidFill>
                <a:latin typeface="Consolas"/>
              </a:rPr>
              <a:t>None</a:t>
            </a:r>
            <a:r>
              <a:rPr sz="1000">
                <a:solidFill>
                  <a:srgbClr val="E8F6EF"/>
                </a:solidFill>
                <a:latin typeface="Consolas"/>
              </a:rPr>
              <a:t>]</a:t>
            </a:r>
            <a:r>
              <a:rPr sz="100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07000"/>
              </a:lnSpc>
            </a:pP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F6B26B"/>
                </a:solidFill>
                <a:latin typeface="Consolas"/>
              </a:rPr>
              <a:t>'min_samples_split'</a:t>
            </a:r>
            <a:r>
              <a:rPr sz="1000">
                <a:solidFill>
                  <a:srgbClr val="E8F6EF"/>
                </a:solidFill>
                <a:latin typeface="Consolas"/>
              </a:rPr>
              <a:t>: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[</a:t>
            </a:r>
            <a:r>
              <a:rPr sz="1000">
                <a:solidFill>
                  <a:srgbClr val="F2D45F"/>
                </a:solidFill>
                <a:latin typeface="Consolas"/>
              </a:rPr>
              <a:t>2</a:t>
            </a:r>
            <a:r>
              <a:rPr sz="1000">
                <a:solidFill>
                  <a:srgbClr val="E8F6EF"/>
                </a:solidFill>
                <a:latin typeface="Consolas"/>
              </a:rPr>
              <a:t>,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F2D45F"/>
                </a:solidFill>
                <a:latin typeface="Consolas"/>
              </a:rPr>
              <a:t>5</a:t>
            </a:r>
            <a:r>
              <a:rPr sz="1000">
                <a:solidFill>
                  <a:srgbClr val="E8F6EF"/>
                </a:solidFill>
                <a:latin typeface="Consolas"/>
              </a:rPr>
              <a:t>,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F2D45F"/>
                </a:solidFill>
                <a:latin typeface="Consolas"/>
              </a:rPr>
              <a:t>10</a:t>
            </a:r>
            <a:r>
              <a:rPr sz="1000">
                <a:solidFill>
                  <a:srgbClr val="E8F6EF"/>
                </a:solidFill>
                <a:latin typeface="Consolas"/>
              </a:rPr>
              <a:t>]</a:t>
            </a:r>
            <a:r>
              <a:rPr sz="100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07000"/>
              </a:lnSpc>
            </a:pP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F6B26B"/>
                </a:solidFill>
                <a:latin typeface="Consolas"/>
              </a:rPr>
              <a:t>'min_samples_leaf'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: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[</a:t>
            </a:r>
            <a:r>
              <a:rPr sz="1000">
                <a:solidFill>
                  <a:srgbClr val="F2D45F"/>
                </a:solidFill>
                <a:latin typeface="Consolas"/>
              </a:rPr>
              <a:t>1</a:t>
            </a:r>
            <a:r>
              <a:rPr sz="1000">
                <a:solidFill>
                  <a:srgbClr val="E8F6EF"/>
                </a:solidFill>
                <a:latin typeface="Consolas"/>
              </a:rPr>
              <a:t>,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F2D45F"/>
                </a:solidFill>
                <a:latin typeface="Consolas"/>
              </a:rPr>
              <a:t>2</a:t>
            </a:r>
            <a:r>
              <a:rPr sz="1000">
                <a:solidFill>
                  <a:srgbClr val="E8F6EF"/>
                </a:solidFill>
                <a:latin typeface="Consolas"/>
              </a:rPr>
              <a:t>,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F2D45F"/>
                </a:solidFill>
                <a:latin typeface="Consolas"/>
              </a:rPr>
              <a:t>4</a:t>
            </a:r>
            <a:r>
              <a:rPr sz="1000">
                <a:solidFill>
                  <a:srgbClr val="E8F6EF"/>
                </a:solidFill>
                <a:latin typeface="Consolas"/>
              </a:rPr>
              <a:t>]</a:t>
            </a:r>
            <a:r>
              <a:rPr sz="100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07000"/>
              </a:lnSpc>
            </a:pP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F6B26B"/>
                </a:solidFill>
                <a:latin typeface="Consolas"/>
              </a:rPr>
              <a:t>'max_features'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: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[</a:t>
            </a:r>
            <a:r>
              <a:rPr sz="1000">
                <a:solidFill>
                  <a:srgbClr val="F6B26B"/>
                </a:solidFill>
                <a:latin typeface="Consolas"/>
              </a:rPr>
              <a:t>'sqrt'</a:t>
            </a:r>
            <a:r>
              <a:rPr sz="1000">
                <a:solidFill>
                  <a:srgbClr val="E8F6EF"/>
                </a:solidFill>
                <a:latin typeface="Consolas"/>
              </a:rPr>
              <a:t>,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F2D45F"/>
                </a:solidFill>
                <a:latin typeface="Consolas"/>
              </a:rPr>
              <a:t>0.7</a:t>
            </a:r>
            <a:r>
              <a:rPr sz="1000">
                <a:solidFill>
                  <a:srgbClr val="E8F6EF"/>
                </a:solidFill>
                <a:latin typeface="Consolas"/>
              </a:rPr>
              <a:t>,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F2D45F"/>
                </a:solidFill>
                <a:latin typeface="Consolas"/>
              </a:rPr>
              <a:t>1.0</a:t>
            </a:r>
            <a:r>
              <a:rPr sz="1000">
                <a:solidFill>
                  <a:srgbClr val="E8F6EF"/>
                </a:solidFill>
                <a:latin typeface="Consolas"/>
              </a:rPr>
              <a:t>]</a:t>
            </a:r>
            <a:r>
              <a:rPr sz="100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07000"/>
              </a:lnSpc>
            </a:pPr>
            <a:r>
              <a:rPr sz="1000">
                <a:solidFill>
                  <a:srgbClr val="E8F6EF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</a:pPr>
            <a:r>
              <a:rPr sz="1000">
                <a:latin typeface="Consolas"/>
              </a:rPr>
              <a:t> </a:t>
            </a:r>
          </a:p>
          <a:p>
            <a:pPr>
              <a:lnSpc>
                <a:spcPct val="107000"/>
              </a:lnSpc>
            </a:pPr>
            <a:r>
              <a:rPr sz="1000">
                <a:solidFill>
                  <a:srgbClr val="E8F6EF"/>
                </a:solidFill>
                <a:latin typeface="Consolas"/>
              </a:rPr>
              <a:t>search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=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GridSearchCV</a:t>
            </a:r>
            <a:r>
              <a:rPr sz="1000">
                <a:solidFill>
                  <a:srgbClr val="E8F6EF"/>
                </a:solidFill>
                <a:latin typeface="Consolas"/>
              </a:rPr>
              <a:t>(</a:t>
            </a:r>
          </a:p>
          <a:p>
            <a:pPr>
              <a:lnSpc>
                <a:spcPct val="107000"/>
              </a:lnSpc>
            </a:pP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RandomForestRegressor</a:t>
            </a:r>
            <a:r>
              <a:rPr sz="1000">
                <a:solidFill>
                  <a:srgbClr val="E8F6EF"/>
                </a:solidFill>
                <a:latin typeface="Consolas"/>
              </a:rPr>
              <a:t>(</a:t>
            </a:r>
            <a:r>
              <a:rPr sz="1000">
                <a:solidFill>
                  <a:srgbClr val="E8F6EF"/>
                </a:solidFill>
                <a:latin typeface="Consolas"/>
              </a:rPr>
              <a:t>random_state</a:t>
            </a:r>
            <a:r>
              <a:rPr sz="1000">
                <a:solidFill>
                  <a:srgbClr val="E8F6EF"/>
                </a:solidFill>
                <a:latin typeface="Consolas"/>
              </a:rPr>
              <a:t>=</a:t>
            </a:r>
            <a:r>
              <a:rPr sz="1000">
                <a:solidFill>
                  <a:srgbClr val="F2D45F"/>
                </a:solidFill>
                <a:latin typeface="Consolas"/>
              </a:rPr>
              <a:t>100</a:t>
            </a:r>
            <a:r>
              <a:rPr sz="1000">
                <a:solidFill>
                  <a:srgbClr val="E8F6EF"/>
                </a:solidFill>
                <a:latin typeface="Consolas"/>
              </a:rPr>
              <a:t>,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n_jobs</a:t>
            </a:r>
            <a:r>
              <a:rPr sz="1000">
                <a:solidFill>
                  <a:srgbClr val="E8F6EF"/>
                </a:solidFill>
                <a:latin typeface="Consolas"/>
              </a:rPr>
              <a:t>=</a:t>
            </a:r>
            <a:r>
              <a:rPr sz="1000">
                <a:solidFill>
                  <a:srgbClr val="E8F6EF"/>
                </a:solidFill>
                <a:latin typeface="Consolas"/>
              </a:rPr>
              <a:t>-</a:t>
            </a:r>
            <a:r>
              <a:rPr sz="1000">
                <a:solidFill>
                  <a:srgbClr val="F2D45F"/>
                </a:solidFill>
                <a:latin typeface="Consolas"/>
              </a:rPr>
              <a:t>1</a:t>
            </a:r>
            <a:r>
              <a:rPr sz="1000">
                <a:solidFill>
                  <a:srgbClr val="E8F6EF"/>
                </a:solidFill>
                <a:latin typeface="Consolas"/>
              </a:rPr>
              <a:t>)</a:t>
            </a:r>
            <a:r>
              <a:rPr sz="100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07000"/>
              </a:lnSpc>
            </a:pP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param_grid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=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param_grid</a:t>
            </a:r>
            <a:r>
              <a:rPr sz="100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07000"/>
              </a:lnSpc>
            </a:pP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scoring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=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F6B26B"/>
                </a:solidFill>
                <a:latin typeface="Consolas"/>
              </a:rPr>
              <a:t>'neg_root_mean_squared_error'</a:t>
            </a:r>
            <a:r>
              <a:rPr sz="100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07000"/>
              </a:lnSpc>
            </a:pP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cv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=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F2D45F"/>
                </a:solidFill>
                <a:latin typeface="Consolas"/>
              </a:rPr>
              <a:t>5</a:t>
            </a:r>
            <a:r>
              <a:rPr sz="100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07000"/>
              </a:lnSpc>
            </a:pP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n_jobs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=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-</a:t>
            </a:r>
            <a:r>
              <a:rPr sz="1000">
                <a:solidFill>
                  <a:srgbClr val="F2D45F"/>
                </a:solidFill>
                <a:latin typeface="Consolas"/>
              </a:rPr>
              <a:t>1</a:t>
            </a:r>
            <a:r>
              <a:rPr sz="100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07000"/>
              </a:lnSpc>
            </a:pPr>
            <a:r>
              <a:rPr sz="100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7000"/>
              </a:lnSpc>
            </a:pPr>
            <a:r>
              <a:rPr sz="1000">
                <a:solidFill>
                  <a:srgbClr val="E8F6EF"/>
                </a:solidFill>
                <a:latin typeface="Consolas"/>
              </a:rPr>
              <a:t>search</a:t>
            </a:r>
            <a:r>
              <a:rPr sz="1000">
                <a:solidFill>
                  <a:srgbClr val="E8F6EF"/>
                </a:solidFill>
                <a:latin typeface="Consolas"/>
              </a:rPr>
              <a:t>.</a:t>
            </a:r>
            <a:r>
              <a:rPr sz="1000">
                <a:solidFill>
                  <a:srgbClr val="E8F6EF"/>
                </a:solidFill>
                <a:latin typeface="Consolas"/>
              </a:rPr>
              <a:t>fit</a:t>
            </a:r>
            <a:r>
              <a:rPr sz="1000">
                <a:solidFill>
                  <a:srgbClr val="E8F6EF"/>
                </a:solidFill>
                <a:latin typeface="Consolas"/>
              </a:rPr>
              <a:t>(</a:t>
            </a:r>
            <a:r>
              <a:rPr sz="1000">
                <a:solidFill>
                  <a:srgbClr val="E8F6EF"/>
                </a:solidFill>
                <a:latin typeface="Consolas"/>
              </a:rPr>
              <a:t>X</a:t>
            </a:r>
            <a:r>
              <a:rPr sz="1000">
                <a:solidFill>
                  <a:srgbClr val="E8F6EF"/>
                </a:solidFill>
                <a:latin typeface="Consolas"/>
              </a:rPr>
              <a:t>,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y</a:t>
            </a:r>
            <a:r>
              <a:rPr sz="100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7000"/>
              </a:lnSpc>
            </a:pPr>
            <a:r>
              <a:rPr sz="1000">
                <a:latin typeface="Consolas"/>
              </a:rPr>
              <a:t> </a:t>
            </a:r>
          </a:p>
          <a:p>
            <a:pPr>
              <a:lnSpc>
                <a:spcPct val="107000"/>
              </a:lnSpc>
            </a:pPr>
            <a:r>
              <a:rPr sz="1000">
                <a:solidFill>
                  <a:srgbClr val="8FB8E0"/>
                </a:solidFill>
                <a:latin typeface="Consolas"/>
              </a:rPr>
              <a:t>print</a:t>
            </a:r>
            <a:r>
              <a:rPr sz="1000">
                <a:solidFill>
                  <a:srgbClr val="E8F6EF"/>
                </a:solidFill>
                <a:latin typeface="Consolas"/>
              </a:rPr>
              <a:t>(</a:t>
            </a:r>
            <a:r>
              <a:rPr sz="1000">
                <a:solidFill>
                  <a:srgbClr val="F6B26B"/>
                </a:solidFill>
                <a:latin typeface="Consolas"/>
              </a:rPr>
              <a:t>'Best params:'</a:t>
            </a:r>
            <a:r>
              <a:rPr sz="1000">
                <a:solidFill>
                  <a:srgbClr val="E8F6EF"/>
                </a:solidFill>
                <a:latin typeface="Consolas"/>
              </a:rPr>
              <a:t>,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search</a:t>
            </a:r>
            <a:r>
              <a:rPr sz="1000">
                <a:solidFill>
                  <a:srgbClr val="E8F6EF"/>
                </a:solidFill>
                <a:latin typeface="Consolas"/>
              </a:rPr>
              <a:t>.</a:t>
            </a:r>
            <a:r>
              <a:rPr sz="1000">
                <a:solidFill>
                  <a:srgbClr val="E8F6EF"/>
                </a:solidFill>
                <a:latin typeface="Consolas"/>
              </a:rPr>
              <a:t>best_params_</a:t>
            </a:r>
            <a:r>
              <a:rPr sz="100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7000"/>
              </a:lnSpc>
            </a:pPr>
            <a:r>
              <a:rPr sz="1000">
                <a:solidFill>
                  <a:srgbClr val="8FB8E0"/>
                </a:solidFill>
                <a:latin typeface="Consolas"/>
              </a:rPr>
              <a:t>print</a:t>
            </a:r>
            <a:r>
              <a:rPr sz="1000">
                <a:solidFill>
                  <a:srgbClr val="E8F6EF"/>
                </a:solidFill>
                <a:latin typeface="Consolas"/>
              </a:rPr>
              <a:t>(</a:t>
            </a:r>
            <a:r>
              <a:rPr sz="1000">
                <a:solidFill>
                  <a:srgbClr val="F6B26B"/>
                </a:solidFill>
                <a:latin typeface="Consolas"/>
              </a:rPr>
              <a:t>'Best CV RMSE:'</a:t>
            </a:r>
            <a:r>
              <a:rPr sz="1000">
                <a:solidFill>
                  <a:srgbClr val="E8F6EF"/>
                </a:solidFill>
                <a:latin typeface="Consolas"/>
              </a:rPr>
              <a:t>,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-</a:t>
            </a:r>
            <a:r>
              <a:rPr sz="1000">
                <a:solidFill>
                  <a:srgbClr val="E8F6EF"/>
                </a:solidFill>
                <a:latin typeface="Consolas"/>
              </a:rPr>
              <a:t>search</a:t>
            </a:r>
            <a:r>
              <a:rPr sz="1000">
                <a:solidFill>
                  <a:srgbClr val="E8F6EF"/>
                </a:solidFill>
                <a:latin typeface="Consolas"/>
              </a:rPr>
              <a:t>.</a:t>
            </a:r>
            <a:r>
              <a:rPr sz="1000">
                <a:solidFill>
                  <a:srgbClr val="E8F6EF"/>
                </a:solidFill>
                <a:latin typeface="Consolas"/>
              </a:rPr>
              <a:t>best_score_</a:t>
            </a:r>
            <a:r>
              <a:rPr sz="1000">
                <a:solidFill>
                  <a:srgbClr val="E8F6EF"/>
                </a:solidFill>
                <a:latin typeface="Consolas"/>
              </a:rPr>
              <a:t>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2011680"/>
            <a:ext cx="39319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0" y="2011680"/>
            <a:ext cx="91440" cy="1463040"/>
          </a:xfrm>
          <a:prstGeom prst="rect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28432" y="2176272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524A"/>
                </a:solidFill>
                <a:latin typeface="微软雅黑"/>
              </a:rPr>
              <a:t>⚠️  RMSE 为何是负数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28432" y="2670048"/>
            <a:ext cx="3474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scoring 约定「越大越好」。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RMSE 是损失, 因此用负号返回。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→ 用 -search.best_score_ 转回正。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0" y="3566160"/>
            <a:ext cx="39319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0" y="3566160"/>
            <a:ext cx="91440" cy="1463040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28432" y="3730752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524A"/>
                </a:solidFill>
                <a:latin typeface="微软雅黑"/>
              </a:rPr>
              <a:t>📌  计算成本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28432" y="4224528"/>
            <a:ext cx="3474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2×3×3×3×3 = 162 组 × 5 fold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= 810 次训练! 先小网格再扩展。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0" y="5120640"/>
            <a:ext cx="39319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0" y="5120640"/>
            <a:ext cx="91440" cy="1143000"/>
          </a:xfrm>
          <a:prstGeom prst="rect">
            <a:avLst/>
          </a:prstGeom>
          <a:solidFill>
            <a:srgbClr val="3B6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28432" y="5285232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524A"/>
                </a:solidFill>
                <a:latin typeface="微软雅黑"/>
              </a:rPr>
              <a:t>💡  替代: RandomizedSearchCV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28432" y="5779008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候选过多时随机采样, 效率更高。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机器学习 · 第 9 章  随机森林 — 二手车价格预测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46 / 66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微软雅黑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微软雅黑"/>
              </a:rPr>
              <a:t>随机森林 — 二手车价格预测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微软雅黑"/>
              </a:rPr>
              <a:t>9.8   调优结果汇报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微软雅黑"/>
              </a:rPr>
              <a:t>把调优结果做成「报告」 — 别只列数字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微软雅黑"/>
              </a:rPr>
              <a:t>要给出可复现性 + 决策依据,才算真结果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011680"/>
            <a:ext cx="2286000" cy="502920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01168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汇报项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4640" y="2011680"/>
            <a:ext cx="4206240" cy="502920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0" y="2011680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理由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40880" y="2011680"/>
            <a:ext cx="4572000" cy="502920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0" y="201168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示例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514600"/>
            <a:ext cx="2286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51460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CV 均值 ± 标准差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4640" y="2514600"/>
            <a:ext cx="4206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26080" y="2514600"/>
            <a:ext cx="4023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把波动一起呈现, 判断稳定性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40880" y="2514600"/>
            <a:ext cx="4572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0" y="2514600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test RMSE: 142,205 ± 2,400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017520"/>
            <a:ext cx="2286000" cy="50292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01752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Default vs Tuned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34640" y="3017520"/>
            <a:ext cx="4206240" cy="50292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26080" y="3017520"/>
            <a:ext cx="4023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判断改进是否「值得投入」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40880" y="3017520"/>
            <a:ext cx="4572000" cy="50292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0" y="3017520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-731 (0.5%) 改善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520440"/>
            <a:ext cx="2286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352044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训练时长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4640" y="3520440"/>
            <a:ext cx="4206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26080" y="3520440"/>
            <a:ext cx="4023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成本也要纳入决策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40880" y="3520440"/>
            <a:ext cx="4572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0" y="3520440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Default 12s / Tuned 38s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023360"/>
            <a:ext cx="2286000" cy="50292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402336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选择依据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34640" y="4023360"/>
            <a:ext cx="4206240" cy="50292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26080" y="4023360"/>
            <a:ext cx="4023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为什么选这组参数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40880" y="4023360"/>
            <a:ext cx="4572000" cy="50292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32320" y="4023360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「优先缩小 gap」等一句话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526280"/>
            <a:ext cx="2286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452628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失败的尝试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34640" y="4526280"/>
            <a:ext cx="4206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26080" y="4526280"/>
            <a:ext cx="4023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可复现 + 学习经验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040880" y="4526280"/>
            <a:ext cx="4572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32320" y="4526280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max_depth=5 欠拟合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8640" y="5852160"/>
            <a:ext cx="11155680" cy="77724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59436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2A44F"/>
                </a:solidFill>
                <a:latin typeface="微软雅黑"/>
              </a:rPr>
              <a:t>💬  教师讲解要点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6236208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实战中「性能提升 1%」往往不如「可复现的报告」有价值。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学生作业评分也建议把「性能分」让位给「验证流程的严谨性」。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机器学习 · 第 9 章  随机森林 — 二手车价格预测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47 / 66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9601200" y="4114800"/>
            <a:ext cx="1371600" cy="1371600"/>
          </a:xfrm>
          <a:prstGeom prst="triangle">
            <a:avLst/>
          </a:prstGeom>
          <a:solidFill>
            <a:srgbClr val="88D4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0515600" y="4572000"/>
            <a:ext cx="1005840" cy="1005840"/>
          </a:xfrm>
          <a:prstGeom prst="triangle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>
            <a:off x="8961120" y="4754880"/>
            <a:ext cx="822960" cy="822960"/>
          </a:xfrm>
          <a:prstGeom prst="triangle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2194560" cy="502920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PART VI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200" b="1" i="0">
                <a:solidFill>
                  <a:srgbClr val="FFFFFF"/>
                </a:solidFill>
                <a:latin typeface="微软雅黑"/>
              </a:rPr>
              <a:t>解读与注意事项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703320"/>
            <a:ext cx="73152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8404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CFE3DA"/>
                </a:solidFill>
                <a:latin typeface="微软雅黑"/>
              </a:rPr>
              <a:t>特征重要性 · PDP · 预测不确定性 — 揭开「黑盒」的一层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微软雅黑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微软雅黑"/>
              </a:rPr>
              <a:t>随机森林 — 二手车价格预测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微软雅黑"/>
              </a:rPr>
              <a:t>INTERP   MDI 特征重要性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微软雅黑"/>
              </a:rPr>
              <a:t>特征重要性 ① — MDI (基于不纯度下降)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微软雅黑"/>
              </a:rPr>
              <a:t>feature_importances_ — 快速易得, 但有偏差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6400800" cy="4251960"/>
          </a:xfrm>
          <a:prstGeom prst="roundRect">
            <a:avLst/>
          </a:prstGeom>
          <a:solidFill>
            <a:srgbClr val="0E1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" y="2157984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7824" y="2157984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42416" y="2157984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21214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9AA7A0"/>
                </a:solidFill>
                <a:latin typeface="Consolas"/>
              </a:rPr>
              <a:t>mdi_importance.py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377440"/>
            <a:ext cx="6035040" cy="3794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>
                <a:solidFill>
                  <a:srgbClr val="7BD389"/>
                </a:solidFill>
                <a:latin typeface="Consolas"/>
              </a:rPr>
              <a:t>import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pandas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7BD389"/>
                </a:solidFill>
                <a:latin typeface="Consolas"/>
              </a:rPr>
              <a:t>as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pd</a:t>
            </a:r>
          </a:p>
          <a:p>
            <a:pPr>
              <a:lnSpc>
                <a:spcPct val="118000"/>
              </a:lnSpc>
            </a:pPr>
            <a:r>
              <a:rPr sz="1150">
                <a:latin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importance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pd</a:t>
            </a:r>
            <a:r>
              <a:rPr sz="1150">
                <a:solidFill>
                  <a:srgbClr val="E8F6EF"/>
                </a:solidFill>
                <a:latin typeface="Consolas"/>
              </a:rPr>
              <a:t>.</a:t>
            </a:r>
            <a:r>
              <a:rPr sz="1150">
                <a:solidFill>
                  <a:srgbClr val="E8F6EF"/>
                </a:solidFill>
                <a:latin typeface="Consolas"/>
              </a:rPr>
              <a:t>Series</a:t>
            </a:r>
            <a:r>
              <a:rPr sz="1150">
                <a:solidFill>
                  <a:srgbClr val="E8F6EF"/>
                </a:solidFill>
                <a:latin typeface="Consolas"/>
              </a:rPr>
              <a:t>(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model</a:t>
            </a:r>
            <a:r>
              <a:rPr sz="1150">
                <a:solidFill>
                  <a:srgbClr val="E8F6EF"/>
                </a:solidFill>
                <a:latin typeface="Consolas"/>
              </a:rPr>
              <a:t>.</a:t>
            </a:r>
            <a:r>
              <a:rPr sz="1150">
                <a:solidFill>
                  <a:srgbClr val="E8F6EF"/>
                </a:solidFill>
                <a:latin typeface="Consolas"/>
              </a:rPr>
              <a:t>feature_importances_</a:t>
            </a:r>
            <a:r>
              <a:rPr sz="115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index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X_train</a:t>
            </a:r>
            <a:r>
              <a:rPr sz="1150">
                <a:solidFill>
                  <a:srgbClr val="E8F6EF"/>
                </a:solidFill>
                <a:latin typeface="Consolas"/>
              </a:rPr>
              <a:t>.</a:t>
            </a:r>
            <a:r>
              <a:rPr sz="1150">
                <a:solidFill>
                  <a:srgbClr val="E8F6EF"/>
                </a:solidFill>
                <a:latin typeface="Consolas"/>
              </a:rPr>
              <a:t>columns</a:t>
            </a:r>
            <a:r>
              <a:rPr sz="115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)</a:t>
            </a:r>
            <a:r>
              <a:rPr sz="1150">
                <a:solidFill>
                  <a:srgbClr val="E8F6EF"/>
                </a:solidFill>
                <a:latin typeface="Consolas"/>
              </a:rPr>
              <a:t>.</a:t>
            </a:r>
            <a:r>
              <a:rPr sz="1150">
                <a:solidFill>
                  <a:srgbClr val="E8F6EF"/>
                </a:solidFill>
                <a:latin typeface="Consolas"/>
              </a:rPr>
              <a:t>sort_values</a:t>
            </a:r>
            <a:r>
              <a:rPr sz="1150">
                <a:solidFill>
                  <a:srgbClr val="E8F6EF"/>
                </a:solidFill>
                <a:latin typeface="Consolas"/>
              </a:rPr>
              <a:t>(</a:t>
            </a:r>
            <a:r>
              <a:rPr sz="1150">
                <a:solidFill>
                  <a:srgbClr val="E8F6EF"/>
                </a:solidFill>
                <a:latin typeface="Consolas"/>
              </a:rPr>
              <a:t>ascending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7BD389"/>
                </a:solidFill>
                <a:latin typeface="Consolas"/>
              </a:rPr>
              <a:t>False</a:t>
            </a:r>
            <a:r>
              <a:rPr sz="11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</a:pPr>
            <a:r>
              <a:rPr sz="1150">
                <a:latin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importance</a:t>
            </a:r>
            <a:r>
              <a:rPr sz="1150">
                <a:solidFill>
                  <a:srgbClr val="E8F6EF"/>
                </a:solidFill>
                <a:latin typeface="Consolas"/>
              </a:rPr>
              <a:t>.</a:t>
            </a:r>
            <a:r>
              <a:rPr sz="1150">
                <a:solidFill>
                  <a:srgbClr val="E8F6EF"/>
                </a:solidFill>
                <a:latin typeface="Consolas"/>
              </a:rPr>
              <a:t>head</a:t>
            </a:r>
            <a:r>
              <a:rPr sz="1150">
                <a:solidFill>
                  <a:srgbClr val="E8F6EF"/>
                </a:solidFill>
                <a:latin typeface="Consolas"/>
              </a:rPr>
              <a:t>(</a:t>
            </a:r>
            <a:r>
              <a:rPr sz="1150">
                <a:solidFill>
                  <a:srgbClr val="F2D45F"/>
                </a:solidFill>
                <a:latin typeface="Consolas"/>
              </a:rPr>
              <a:t>10</a:t>
            </a:r>
            <a:r>
              <a:rPr sz="11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9AA7A0"/>
                </a:solidFill>
                <a:latin typeface="Consolas"/>
              </a:rPr>
              <a:t># year         0.382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9AA7A0"/>
                </a:solidFill>
                <a:latin typeface="Consolas"/>
              </a:rPr>
              <a:t># max_power    0.198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9AA7A0"/>
                </a:solidFill>
                <a:latin typeface="Consolas"/>
              </a:rPr>
              <a:t># engine       0.121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9AA7A0"/>
                </a:solidFill>
                <a:latin typeface="Consolas"/>
              </a:rPr>
              <a:t># km_driven    0.087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9AA7A0"/>
                </a:solidFill>
                <a:latin typeface="Consolas"/>
              </a:rPr>
              <a:t># torque       0.063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9AA7A0"/>
                </a:solidFill>
                <a:latin typeface="Consolas"/>
              </a:rPr>
              <a:t># mileage      0.041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9AA7A0"/>
                </a:solidFill>
                <a:latin typeface="Consolas"/>
              </a:rPr>
              <a:t># name_BMW     0.018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9AA7A0"/>
                </a:solidFill>
                <a:latin typeface="Consolas"/>
              </a:rPr>
              <a:t># name_Audi    0.014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9AA7A0"/>
                </a:solidFill>
                <a:latin typeface="Consolas"/>
              </a:rPr>
              <a:t># transmission_Manual  0.012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9AA7A0"/>
                </a:solidFill>
                <a:latin typeface="Consolas"/>
              </a:rPr>
              <a:t># seats        0.010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0" y="2011680"/>
            <a:ext cx="4572000" cy="4251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21031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F6F5A"/>
                </a:solidFill>
                <a:latin typeface="微软雅黑"/>
              </a:rPr>
              <a:t>📊  Top 10 (示例)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256032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4524A"/>
                </a:solidFill>
                <a:latin typeface="Consolas"/>
              </a:rPr>
              <a:t>year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69680" y="2596896"/>
            <a:ext cx="2011680" cy="201168"/>
          </a:xfrm>
          <a:prstGeom prst="roundRect">
            <a:avLst/>
          </a:prstGeom>
          <a:solidFill>
            <a:srgbClr val="E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869680" y="2596896"/>
            <a:ext cx="2011680" cy="201168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27080" y="25603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4524A"/>
                </a:solidFill>
                <a:latin typeface="Consolas"/>
              </a:rPr>
              <a:t>0.382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2889504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4524A"/>
                </a:solidFill>
                <a:latin typeface="Consolas"/>
              </a:rPr>
              <a:t>max_power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69680" y="2926080"/>
            <a:ext cx="2011680" cy="201168"/>
          </a:xfrm>
          <a:prstGeom prst="roundRect">
            <a:avLst/>
          </a:prstGeom>
          <a:solidFill>
            <a:srgbClr val="E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869680" y="2926080"/>
            <a:ext cx="1042703" cy="201168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27080" y="288950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4524A"/>
                </a:solidFill>
                <a:latin typeface="Consolas"/>
              </a:rPr>
              <a:t>0.198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321868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4524A"/>
                </a:solidFill>
                <a:latin typeface="Consolas"/>
              </a:rPr>
              <a:t>engine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69680" y="3255264"/>
            <a:ext cx="2011680" cy="201168"/>
          </a:xfrm>
          <a:prstGeom prst="roundRect">
            <a:avLst/>
          </a:prstGeom>
          <a:solidFill>
            <a:srgbClr val="E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869680" y="3255264"/>
            <a:ext cx="637207" cy="201168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27080" y="321868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4524A"/>
                </a:solidFill>
                <a:latin typeface="Consolas"/>
              </a:rPr>
              <a:t>0.121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9480" y="354787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4524A"/>
                </a:solidFill>
                <a:latin typeface="Consolas"/>
              </a:rPr>
              <a:t>km_driven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869680" y="3584448"/>
            <a:ext cx="2011680" cy="201168"/>
          </a:xfrm>
          <a:prstGeom prst="roundRect">
            <a:avLst/>
          </a:prstGeom>
          <a:solidFill>
            <a:srgbClr val="E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869680" y="3584448"/>
            <a:ext cx="458157" cy="201168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27080" y="354787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4524A"/>
                </a:solidFill>
                <a:latin typeface="Consolas"/>
              </a:rPr>
              <a:t>0.087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69480" y="3877056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4524A"/>
                </a:solidFill>
                <a:latin typeface="Consolas"/>
              </a:rPr>
              <a:t>torque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69680" y="3913632"/>
            <a:ext cx="2011680" cy="201168"/>
          </a:xfrm>
          <a:prstGeom prst="roundRect">
            <a:avLst/>
          </a:prstGeom>
          <a:solidFill>
            <a:srgbClr val="E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869680" y="3913632"/>
            <a:ext cx="331769" cy="201168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27080" y="3877056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4524A"/>
                </a:solidFill>
                <a:latin typeface="Consolas"/>
              </a:rPr>
              <a:t>0.063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69480" y="4206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4524A"/>
                </a:solidFill>
                <a:latin typeface="Consolas"/>
              </a:rPr>
              <a:t>mileage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869680" y="4242816"/>
            <a:ext cx="2011680" cy="201168"/>
          </a:xfrm>
          <a:prstGeom prst="roundRect">
            <a:avLst/>
          </a:prstGeom>
          <a:solidFill>
            <a:srgbClr val="E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869680" y="4242816"/>
            <a:ext cx="215913" cy="201168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927080" y="4206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4524A"/>
                </a:solidFill>
                <a:latin typeface="Consolas"/>
              </a:rPr>
              <a:t>0.041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69480" y="4535424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4524A"/>
                </a:solidFill>
                <a:latin typeface="Consolas"/>
              </a:rPr>
              <a:t>name_BMW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869680" y="4572000"/>
            <a:ext cx="2011680" cy="201168"/>
          </a:xfrm>
          <a:prstGeom prst="roundRect">
            <a:avLst/>
          </a:prstGeom>
          <a:solidFill>
            <a:srgbClr val="E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869680" y="4572000"/>
            <a:ext cx="94791" cy="201168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927080" y="453542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4524A"/>
                </a:solidFill>
                <a:latin typeface="Consolas"/>
              </a:rPr>
              <a:t>0.018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69480" y="486460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4524A"/>
                </a:solidFill>
                <a:latin typeface="Consolas"/>
              </a:rPr>
              <a:t>name_Audi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869680" y="4901184"/>
            <a:ext cx="2011680" cy="201168"/>
          </a:xfrm>
          <a:prstGeom prst="roundRect">
            <a:avLst/>
          </a:prstGeom>
          <a:solidFill>
            <a:srgbClr val="E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869680" y="4901184"/>
            <a:ext cx="73726" cy="201168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927080" y="486460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4524A"/>
                </a:solidFill>
                <a:latin typeface="Consolas"/>
              </a:rPr>
              <a:t>0.014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69480" y="519379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4524A"/>
                </a:solidFill>
                <a:latin typeface="Consolas"/>
              </a:rPr>
              <a:t>transmission_Manual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869680" y="5230368"/>
            <a:ext cx="2011680" cy="201168"/>
          </a:xfrm>
          <a:prstGeom prst="roundRect">
            <a:avLst/>
          </a:prstGeom>
          <a:solidFill>
            <a:srgbClr val="E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8869680" y="5230368"/>
            <a:ext cx="63194" cy="201168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927080" y="519379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4524A"/>
                </a:solidFill>
                <a:latin typeface="Consolas"/>
              </a:rPr>
              <a:t>0.012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69480" y="5522976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4524A"/>
                </a:solidFill>
                <a:latin typeface="Consolas"/>
              </a:rPr>
              <a:t>seats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869680" y="5559552"/>
            <a:ext cx="2011680" cy="201168"/>
          </a:xfrm>
          <a:prstGeom prst="roundRect">
            <a:avLst/>
          </a:prstGeom>
          <a:solidFill>
            <a:srgbClr val="E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8869680" y="5559552"/>
            <a:ext cx="52661" cy="201168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927080" y="5522976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4524A"/>
                </a:solidFill>
                <a:latin typeface="Consolas"/>
              </a:rPr>
              <a:t>0.010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48640" y="6355080"/>
            <a:ext cx="11155680" cy="41148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1520" y="644652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2A44F"/>
                </a:solidFill>
                <a:latin typeface="微软雅黑"/>
              </a:rPr>
              <a:t>💬  教师讲解要点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520" y="6739128"/>
            <a:ext cx="10789920" cy="-45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「year(车龄) 影响最大」 — 提问:这是「因果」还是「单纯相关」?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机器学习 · 第 9 章  随机森林 — 二手车价格预测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49 / 66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微软雅黑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微软雅黑"/>
              </a:rPr>
              <a:t>随机森林 — 二手车价格预测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微软雅黑"/>
              </a:rPr>
              <a:t>INTERP   排列重要性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微软雅黑"/>
              </a:rPr>
              <a:t>特征重要性 ② — Permutation Importance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微软雅黑"/>
              </a:rPr>
              <a:t>「把这个特征的值打乱, 性能下降多少?」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6675120" cy="4251960"/>
          </a:xfrm>
          <a:prstGeom prst="roundRect">
            <a:avLst/>
          </a:prstGeom>
          <a:solidFill>
            <a:srgbClr val="0E1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" y="2157984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7824" y="2157984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42416" y="2157984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2121408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9AA7A0"/>
                </a:solidFill>
                <a:latin typeface="Consolas"/>
              </a:rPr>
              <a:t>permutation_importance.py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377440"/>
            <a:ext cx="6309360" cy="3794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>
                <a:solidFill>
                  <a:srgbClr val="7BD389"/>
                </a:solidFill>
                <a:latin typeface="Consolas"/>
              </a:rPr>
              <a:t>from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sklearn</a:t>
            </a:r>
            <a:r>
              <a:rPr sz="1150">
                <a:solidFill>
                  <a:srgbClr val="E8F6EF"/>
                </a:solidFill>
                <a:latin typeface="Consolas"/>
              </a:rPr>
              <a:t>.</a:t>
            </a:r>
            <a:r>
              <a:rPr sz="1150">
                <a:solidFill>
                  <a:srgbClr val="E8F6EF"/>
                </a:solidFill>
                <a:latin typeface="Consolas"/>
              </a:rPr>
              <a:t>inspection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7BD389"/>
                </a:solidFill>
                <a:latin typeface="Consolas"/>
              </a:rPr>
              <a:t>import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permutation_importance</a:t>
            </a:r>
          </a:p>
          <a:p>
            <a:pPr>
              <a:lnSpc>
                <a:spcPct val="118000"/>
              </a:lnSpc>
            </a:pPr>
            <a:r>
              <a:rPr sz="1150">
                <a:latin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result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permutation_importance</a:t>
            </a:r>
            <a:r>
              <a:rPr sz="1150">
                <a:solidFill>
                  <a:srgbClr val="E8F6EF"/>
                </a:solidFill>
                <a:latin typeface="Consolas"/>
              </a:rPr>
              <a:t>(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model</a:t>
            </a:r>
            <a:r>
              <a:rPr sz="1150">
                <a:solidFill>
                  <a:srgbClr val="E8F6EF"/>
                </a:solidFill>
                <a:latin typeface="Consolas"/>
              </a:rPr>
              <a:t>,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X_test</a:t>
            </a:r>
            <a:r>
              <a:rPr sz="1150">
                <a:solidFill>
                  <a:srgbClr val="E8F6EF"/>
                </a:solidFill>
                <a:latin typeface="Consolas"/>
              </a:rPr>
              <a:t>,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y_test</a:t>
            </a:r>
            <a:r>
              <a:rPr sz="115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scoring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F6B26B"/>
                </a:solidFill>
                <a:latin typeface="Consolas"/>
              </a:rPr>
              <a:t>'neg_root_mean_squared_error'</a:t>
            </a:r>
            <a:r>
              <a:rPr sz="115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n_repeats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F2D45F"/>
                </a:solidFill>
                <a:latin typeface="Consolas"/>
              </a:rPr>
              <a:t>10</a:t>
            </a:r>
            <a:r>
              <a:rPr sz="1150">
                <a:solidFill>
                  <a:srgbClr val="E8F6EF"/>
                </a:solidFill>
                <a:latin typeface="Consolas"/>
              </a:rPr>
              <a:t>,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9AA7A0"/>
                </a:solidFill>
                <a:latin typeface="Consolas"/>
              </a:rPr>
              <a:t># 打乱 10 次取均值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random_state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F2D45F"/>
                </a:solidFill>
                <a:latin typeface="Consolas"/>
              </a:rPr>
              <a:t>100</a:t>
            </a:r>
            <a:r>
              <a:rPr sz="115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n_jobs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-</a:t>
            </a:r>
            <a:r>
              <a:rPr sz="1150">
                <a:solidFill>
                  <a:srgbClr val="F2D45F"/>
                </a:solidFill>
                <a:latin typeface="Consolas"/>
              </a:rPr>
              <a:t>1</a:t>
            </a:r>
            <a:r>
              <a:rPr sz="115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</a:pPr>
            <a:r>
              <a:rPr sz="1150">
                <a:latin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perm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pd</a:t>
            </a:r>
            <a:r>
              <a:rPr sz="1150">
                <a:solidFill>
                  <a:srgbClr val="E8F6EF"/>
                </a:solidFill>
                <a:latin typeface="Consolas"/>
              </a:rPr>
              <a:t>.</a:t>
            </a:r>
            <a:r>
              <a:rPr sz="1150">
                <a:solidFill>
                  <a:srgbClr val="E8F6EF"/>
                </a:solidFill>
                <a:latin typeface="Consolas"/>
              </a:rPr>
              <a:t>Series</a:t>
            </a:r>
            <a:r>
              <a:rPr sz="1150">
                <a:solidFill>
                  <a:srgbClr val="E8F6EF"/>
                </a:solidFill>
                <a:latin typeface="Consolas"/>
              </a:rPr>
              <a:t>(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result</a:t>
            </a:r>
            <a:r>
              <a:rPr sz="1150">
                <a:solidFill>
                  <a:srgbClr val="E8F6EF"/>
                </a:solidFill>
                <a:latin typeface="Consolas"/>
              </a:rPr>
              <a:t>.</a:t>
            </a:r>
            <a:r>
              <a:rPr sz="1150">
                <a:solidFill>
                  <a:srgbClr val="E8F6EF"/>
                </a:solidFill>
                <a:latin typeface="Consolas"/>
              </a:rPr>
              <a:t>importances_mean</a:t>
            </a:r>
            <a:r>
              <a:rPr sz="115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index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X_test</a:t>
            </a:r>
            <a:r>
              <a:rPr sz="1150">
                <a:solidFill>
                  <a:srgbClr val="E8F6EF"/>
                </a:solidFill>
                <a:latin typeface="Consolas"/>
              </a:rPr>
              <a:t>.</a:t>
            </a:r>
            <a:r>
              <a:rPr sz="1150">
                <a:solidFill>
                  <a:srgbClr val="E8F6EF"/>
                </a:solidFill>
                <a:latin typeface="Consolas"/>
              </a:rPr>
              <a:t>columns</a:t>
            </a:r>
            <a:r>
              <a:rPr sz="115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)</a:t>
            </a:r>
            <a:r>
              <a:rPr sz="1150">
                <a:solidFill>
                  <a:srgbClr val="E8F6EF"/>
                </a:solidFill>
                <a:latin typeface="Consolas"/>
              </a:rPr>
              <a:t>.</a:t>
            </a:r>
            <a:r>
              <a:rPr sz="1150">
                <a:solidFill>
                  <a:srgbClr val="E8F6EF"/>
                </a:solidFill>
                <a:latin typeface="Consolas"/>
              </a:rPr>
              <a:t>sort_values</a:t>
            </a:r>
            <a:r>
              <a:rPr sz="1150">
                <a:solidFill>
                  <a:srgbClr val="E8F6EF"/>
                </a:solidFill>
                <a:latin typeface="Consolas"/>
              </a:rPr>
              <a:t>(</a:t>
            </a:r>
            <a:r>
              <a:rPr sz="1150">
                <a:solidFill>
                  <a:srgbClr val="E8F6EF"/>
                </a:solidFill>
                <a:latin typeface="Consolas"/>
              </a:rPr>
              <a:t>ascending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7BD389"/>
                </a:solidFill>
                <a:latin typeface="Consolas"/>
              </a:rPr>
              <a:t>False</a:t>
            </a:r>
            <a:r>
              <a:rPr sz="11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</a:pPr>
            <a:r>
              <a:rPr sz="1150">
                <a:latin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perm</a:t>
            </a:r>
            <a:r>
              <a:rPr sz="1150">
                <a:solidFill>
                  <a:srgbClr val="E8F6EF"/>
                </a:solidFill>
                <a:latin typeface="Consolas"/>
              </a:rPr>
              <a:t>.</a:t>
            </a:r>
            <a:r>
              <a:rPr sz="1150">
                <a:solidFill>
                  <a:srgbClr val="E8F6EF"/>
                </a:solidFill>
                <a:latin typeface="Consolas"/>
              </a:rPr>
              <a:t>head</a:t>
            </a:r>
            <a:r>
              <a:rPr sz="1150">
                <a:solidFill>
                  <a:srgbClr val="E8F6EF"/>
                </a:solidFill>
                <a:latin typeface="Consolas"/>
              </a:rPr>
              <a:t>(</a:t>
            </a:r>
            <a:r>
              <a:rPr sz="1150">
                <a:solidFill>
                  <a:srgbClr val="F2D45F"/>
                </a:solidFill>
                <a:latin typeface="Consolas"/>
              </a:rPr>
              <a:t>10</a:t>
            </a:r>
            <a:r>
              <a:rPr sz="1150">
                <a:solidFill>
                  <a:srgbClr val="E8F6EF"/>
                </a:solidFill>
                <a:latin typeface="Consolas"/>
              </a:rPr>
              <a:t>)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9AA7A0"/>
                </a:solidFill>
                <a:latin typeface="Consolas"/>
              </a:rPr>
              <a:t># 与 MDI 排名差异对比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2011680"/>
            <a:ext cx="4297680" cy="4251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0" y="210312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F6F5A"/>
                </a:solidFill>
                <a:latin typeface="微软雅黑"/>
              </a:rPr>
              <a:t>🆚  MDI vs Permutation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43800" y="2651760"/>
            <a:ext cx="1280160" cy="320040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43800" y="265176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</a:rPr>
              <a:t>项目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69680" y="2651760"/>
            <a:ext cx="1371600" cy="320040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0" y="265176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</a:rPr>
              <a:t>MDI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287000" y="2651760"/>
            <a:ext cx="1280160" cy="320040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87000" y="265176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</a:rPr>
              <a:t>Permutation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43800" y="2971800"/>
            <a:ext cx="1280160" cy="457200"/>
          </a:xfrm>
          <a:prstGeom prst="rect">
            <a:avLst/>
          </a:prstGeom>
          <a:solidFill>
            <a:srgbClr val="E3E8E5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43800" y="297180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14524A"/>
                </a:solidFill>
                <a:latin typeface="微软雅黑"/>
              </a:rPr>
              <a:t>计算时机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69680" y="2971800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0" y="297180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B2B2A"/>
                </a:solidFill>
                <a:latin typeface="微软雅黑"/>
              </a:rPr>
              <a:t>训练中自动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287000" y="2971800"/>
            <a:ext cx="1280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87000" y="297180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B2B2A"/>
                </a:solidFill>
                <a:latin typeface="微软雅黑"/>
              </a:rPr>
              <a:t>训练后额外计算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43800" y="3429000"/>
            <a:ext cx="1280160" cy="457200"/>
          </a:xfrm>
          <a:prstGeom prst="rect">
            <a:avLst/>
          </a:prstGeom>
          <a:solidFill>
            <a:srgbClr val="E3E8E5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43800" y="342900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14524A"/>
                </a:solidFill>
                <a:latin typeface="微软雅黑"/>
              </a:rPr>
              <a:t>计算成本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69680" y="3429000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69680" y="342900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B2B2A"/>
                </a:solidFill>
                <a:latin typeface="微软雅黑"/>
              </a:rPr>
              <a:t>✓ 非常快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287000" y="3429000"/>
            <a:ext cx="1280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87000" y="342900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B2B2A"/>
                </a:solidFill>
                <a:latin typeface="微软雅黑"/>
              </a:rPr>
              <a:t>× 慢 (反复预测)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43800" y="3886200"/>
            <a:ext cx="1280160" cy="457200"/>
          </a:xfrm>
          <a:prstGeom prst="rect">
            <a:avLst/>
          </a:prstGeom>
          <a:solidFill>
            <a:srgbClr val="E3E8E5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43800" y="388620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14524A"/>
                </a:solidFill>
                <a:latin typeface="微软雅黑"/>
              </a:rPr>
              <a:t>基础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869680" y="3886200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69680" y="388620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B2B2A"/>
                </a:solidFill>
                <a:latin typeface="微软雅黑"/>
              </a:rPr>
              <a:t>不纯度下降累计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287000" y="3886200"/>
            <a:ext cx="1280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87000" y="388620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B2B2A"/>
                </a:solidFill>
                <a:latin typeface="微软雅黑"/>
              </a:rPr>
              <a:t>性能下降幅度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43800" y="4343400"/>
            <a:ext cx="1280160" cy="457200"/>
          </a:xfrm>
          <a:prstGeom prst="rect">
            <a:avLst/>
          </a:prstGeom>
          <a:solidFill>
            <a:srgbClr val="E3E8E5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43800" y="434340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14524A"/>
                </a:solidFill>
                <a:latin typeface="微软雅黑"/>
              </a:rPr>
              <a:t>偏差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869680" y="4343400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869680" y="434340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B2B2A"/>
                </a:solidFill>
                <a:latin typeface="微软雅黑"/>
              </a:rPr>
              <a:t>高基数变量↑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287000" y="4343400"/>
            <a:ext cx="1280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287000" y="434340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B2B2A"/>
                </a:solidFill>
                <a:latin typeface="微软雅黑"/>
              </a:rPr>
              <a:t>相对较少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43800" y="4800600"/>
            <a:ext cx="1280160" cy="457200"/>
          </a:xfrm>
          <a:prstGeom prst="rect">
            <a:avLst/>
          </a:prstGeom>
          <a:solidFill>
            <a:srgbClr val="E3E8E5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43800" y="480060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14524A"/>
                </a:solidFill>
                <a:latin typeface="微软雅黑"/>
              </a:rPr>
              <a:t>直觉度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869680" y="4800600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869680" y="480060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B2B2A"/>
                </a:solidFill>
                <a:latin typeface="微软雅黑"/>
              </a:rPr>
              <a:t>一般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287000" y="4800600"/>
            <a:ext cx="1280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287000" y="480060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B2B2A"/>
                </a:solidFill>
                <a:latin typeface="微软雅黑"/>
              </a:rPr>
              <a:t>✓ 非常直观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43800" y="5257800"/>
            <a:ext cx="1280160" cy="457200"/>
          </a:xfrm>
          <a:prstGeom prst="rect">
            <a:avLst/>
          </a:prstGeom>
          <a:solidFill>
            <a:srgbClr val="E3E8E5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43800" y="525780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14524A"/>
                </a:solidFill>
                <a:latin typeface="微软雅黑"/>
              </a:rPr>
              <a:t>推荐用途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869680" y="5257800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869680" y="525780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B2B2A"/>
                </a:solidFill>
                <a:latin typeface="微软雅黑"/>
              </a:rPr>
              <a:t>快速初步分析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287000" y="5257800"/>
            <a:ext cx="1280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287000" y="525780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B2B2A"/>
                </a:solidFill>
                <a:latin typeface="微软雅黑"/>
              </a:rPr>
              <a:t>最终汇报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机器学习 · 第 9 章  随机森林 — 二手车价格预测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50 / 66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微软雅黑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微软雅黑"/>
              </a:rPr>
              <a:t>随机森林 — 二手车价格预测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微软雅黑"/>
              </a:rPr>
              <a:t>INTERP   重要性解读注意事项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微软雅黑"/>
              </a:rPr>
              <a:t>解读重要性的 4 个「陷阱」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微软雅黑"/>
              </a:rPr>
              <a:t>「重要」不等于「原因」 — 这一点务必牢记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11155680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011680"/>
            <a:ext cx="137160" cy="960120"/>
          </a:xfrm>
          <a:prstGeom prst="rect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10312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D47A2C"/>
                </a:solidFill>
                <a:latin typeface="微软雅黑"/>
              </a:rPr>
              <a:t>①  因果 ≠ 预测贡献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103120"/>
            <a:ext cx="7680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重要性只代表「对预测的帮助」, 不是价格的「根本原因」。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例: 保险费可能很有助于预测价格, 但保险费并没有「决定」价格。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063240"/>
            <a:ext cx="11155680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063240"/>
            <a:ext cx="137160" cy="96012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15468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6F5A"/>
                </a:solidFill>
                <a:latin typeface="微软雅黑"/>
              </a:rPr>
              <a:t>②  相关变量的拆分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3154680"/>
            <a:ext cx="7680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engine 与 max_power 强正相关。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RF 在二者间「随机挑一个」分裂 → 重要性被分摊。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→ 不能因为某个低就草率结论「不重要」。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114800"/>
            <a:ext cx="11155680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114800"/>
            <a:ext cx="137160" cy="960120"/>
          </a:xfrm>
          <a:prstGeom prst="rect">
            <a:avLst/>
          </a:prstGeom>
          <a:solidFill>
            <a:srgbClr val="3B6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20624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3B6FB6"/>
                </a:solidFill>
                <a:latin typeface="微软雅黑"/>
              </a:rPr>
              <a:t>③  高基数偏差 (MDI)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4206240"/>
            <a:ext cx="7680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取值多的连续/类别变量在 MDI 中被高估。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参考 Strobl et al.(2007)。→ 改用 permutation 或 conditional importance。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166360"/>
            <a:ext cx="11155680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5166360"/>
            <a:ext cx="137160" cy="960120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25780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2A44F"/>
                </a:solidFill>
                <a:latin typeface="微软雅黑"/>
              </a:rPr>
              <a:t>④  哑变量被拆分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5257800"/>
            <a:ext cx="7680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name_BMW, name_Audi, name_Mercedes-Benz …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来自同一类别变量的哑变量, 解读时建议合并归类。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6263640"/>
            <a:ext cx="11155680" cy="45720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635508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2A44F"/>
                </a:solidFill>
                <a:latin typeface="微软雅黑"/>
              </a:rPr>
              <a:t>💬  教师讲解要点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647688"/>
            <a:ext cx="10789920" cy="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把「重要性高 = 这是原因」列为学生作业的「禁用句」, 能大幅提升因果推理意识。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机器学习 · 第 9 章  随机森林 — 二手车价格预测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51 / 66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微软雅黑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微软雅黑"/>
              </a:rPr>
              <a:t>随机森林 — 二手车价格预测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微软雅黑"/>
              </a:rPr>
              <a:t>INTERP   部分依赖图 (PDP)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微软雅黑"/>
              </a:rPr>
              <a:t>部分依赖图 (Partial Dependence Plot)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微软雅黑"/>
              </a:rPr>
              <a:t>「某特征变化时, 预测如何变」的平均形态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6400800" cy="3200400"/>
          </a:xfrm>
          <a:prstGeom prst="roundRect">
            <a:avLst/>
          </a:prstGeom>
          <a:solidFill>
            <a:srgbClr val="0E1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" y="2157984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7824" y="2157984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42416" y="2157984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21214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9AA7A0"/>
                </a:solidFill>
                <a:latin typeface="Consolas"/>
              </a:rPr>
              <a:t>pdp.py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377440"/>
            <a:ext cx="60350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00">
                <a:solidFill>
                  <a:srgbClr val="7BD389"/>
                </a:solidFill>
                <a:latin typeface="Consolas"/>
              </a:rPr>
              <a:t>from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sklearn</a:t>
            </a:r>
            <a:r>
              <a:rPr sz="1200">
                <a:solidFill>
                  <a:srgbClr val="E8F6EF"/>
                </a:solidFill>
                <a:latin typeface="Consolas"/>
              </a:rPr>
              <a:t>.</a:t>
            </a:r>
            <a:r>
              <a:rPr sz="1200">
                <a:solidFill>
                  <a:srgbClr val="E8F6EF"/>
                </a:solidFill>
                <a:latin typeface="Consolas"/>
              </a:rPr>
              <a:t>inspection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7BD389"/>
                </a:solidFill>
                <a:latin typeface="Consolas"/>
              </a:rPr>
              <a:t>import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PartialDependenceDisplay</a:t>
            </a:r>
          </a:p>
          <a:p>
            <a:pPr>
              <a:lnSpc>
                <a:spcPct val="118000"/>
              </a:lnSpc>
            </a:pPr>
            <a:r>
              <a:rPr sz="1200">
                <a:latin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PartialDependenceDisplay</a:t>
            </a:r>
            <a:r>
              <a:rPr sz="1200">
                <a:solidFill>
                  <a:srgbClr val="E8F6EF"/>
                </a:solidFill>
                <a:latin typeface="Consolas"/>
              </a:rPr>
              <a:t>.</a:t>
            </a:r>
            <a:r>
              <a:rPr sz="1200">
                <a:solidFill>
                  <a:srgbClr val="E8F6EF"/>
                </a:solidFill>
                <a:latin typeface="Consolas"/>
              </a:rPr>
              <a:t>from_estimator</a:t>
            </a:r>
            <a:r>
              <a:rPr sz="1200">
                <a:solidFill>
                  <a:srgbClr val="E8F6EF"/>
                </a:solidFill>
                <a:latin typeface="Consolas"/>
              </a:rPr>
              <a:t>(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model</a:t>
            </a:r>
            <a:r>
              <a:rPr sz="120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X_train</a:t>
            </a:r>
            <a:r>
              <a:rPr sz="120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features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=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[</a:t>
            </a:r>
            <a:r>
              <a:rPr sz="1200">
                <a:solidFill>
                  <a:srgbClr val="F6B26B"/>
                </a:solidFill>
                <a:latin typeface="Consolas"/>
              </a:rPr>
              <a:t>'year'</a:t>
            </a:r>
            <a:r>
              <a:rPr sz="1200">
                <a:solidFill>
                  <a:srgbClr val="E8F6EF"/>
                </a:solidFill>
                <a:latin typeface="Consolas"/>
              </a:rPr>
              <a:t>,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F6B26B"/>
                </a:solidFill>
                <a:latin typeface="Consolas"/>
              </a:rPr>
              <a:t>'km_driven'</a:t>
            </a:r>
            <a:r>
              <a:rPr sz="1200">
                <a:solidFill>
                  <a:srgbClr val="E8F6EF"/>
                </a:solidFill>
                <a:latin typeface="Consolas"/>
              </a:rPr>
              <a:t>,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F6B26B"/>
                </a:solidFill>
                <a:latin typeface="Consolas"/>
              </a:rPr>
              <a:t>'engine'</a:t>
            </a:r>
            <a:r>
              <a:rPr sz="1200">
                <a:solidFill>
                  <a:srgbClr val="E8F6EF"/>
                </a:solidFill>
                <a:latin typeface="Consolas"/>
              </a:rPr>
              <a:t>]</a:t>
            </a:r>
            <a:r>
              <a:rPr sz="120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kind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=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F6B26B"/>
                </a:solidFill>
                <a:latin typeface="Consolas"/>
              </a:rPr>
              <a:t>'average'</a:t>
            </a:r>
            <a:r>
              <a:rPr sz="120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grid_resolution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=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F2D45F"/>
                </a:solidFill>
                <a:latin typeface="Consolas"/>
              </a:rPr>
              <a:t>30</a:t>
            </a:r>
            <a:r>
              <a:rPr sz="120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plt</a:t>
            </a:r>
            <a:r>
              <a:rPr sz="1200">
                <a:solidFill>
                  <a:srgbClr val="E8F6EF"/>
                </a:solidFill>
                <a:latin typeface="Consolas"/>
              </a:rPr>
              <a:t>.</a:t>
            </a:r>
            <a:r>
              <a:rPr sz="1200">
                <a:solidFill>
                  <a:srgbClr val="E8F6EF"/>
                </a:solidFill>
                <a:latin typeface="Consolas"/>
              </a:rPr>
              <a:t>tight_layout</a:t>
            </a:r>
            <a:r>
              <a:rPr sz="1200">
                <a:solidFill>
                  <a:srgbClr val="E8F6EF"/>
                </a:solidFill>
                <a:latin typeface="Consolas"/>
              </a:rPr>
              <a:t>(</a:t>
            </a:r>
            <a:r>
              <a:rPr sz="120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plt</a:t>
            </a:r>
            <a:r>
              <a:rPr sz="1200">
                <a:solidFill>
                  <a:srgbClr val="E8F6EF"/>
                </a:solidFill>
                <a:latin typeface="Consolas"/>
              </a:rPr>
              <a:t>.</a:t>
            </a:r>
            <a:r>
              <a:rPr sz="1200">
                <a:solidFill>
                  <a:srgbClr val="E8F6EF"/>
                </a:solidFill>
                <a:latin typeface="Consolas"/>
              </a:rPr>
              <a:t>show</a:t>
            </a:r>
            <a:r>
              <a:rPr sz="1200">
                <a:solidFill>
                  <a:srgbClr val="E8F6EF"/>
                </a:solidFill>
                <a:latin typeface="Consolas"/>
              </a:rPr>
              <a:t>(</a:t>
            </a:r>
            <a:r>
              <a:rPr sz="1200">
                <a:solidFill>
                  <a:srgbClr val="E8F6EF"/>
                </a:solidFill>
                <a:latin typeface="Consolas"/>
              </a:rPr>
              <a:t>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349240"/>
            <a:ext cx="6400800" cy="1005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440680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6F5A"/>
                </a:solidFill>
                <a:latin typeface="微软雅黑"/>
              </a:rPr>
              <a:t>📈  示例: year ↑ → 预测价格 ↑ (与常识一致)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76072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1B2B2A"/>
                </a:solidFill>
                <a:latin typeface="微软雅黑"/>
              </a:rPr>
              <a:t>「2010 年型 → 2020 年型」时, 预测价格平均上升约 6 倍。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1B2B2A"/>
                </a:solidFill>
                <a:latin typeface="微软雅黑"/>
              </a:rPr>
              <a:t>非线性效应 (特定年份后陡升) 也能从图上看出来。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0" y="2011680"/>
            <a:ext cx="457200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0" y="2011680"/>
            <a:ext cx="91440" cy="155448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88352" y="2176272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524A"/>
                </a:solidFill>
                <a:latin typeface="微软雅黑"/>
              </a:rPr>
              <a:t>✓  优点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88352" y="2670048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一张图说清非线性·复杂效应。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把领域常识与模型解读匹配起来。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0" y="3657600"/>
            <a:ext cx="457200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132320" y="3657600"/>
            <a:ext cx="91440" cy="1325880"/>
          </a:xfrm>
          <a:prstGeom prst="rect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88352" y="3822192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524A"/>
                </a:solidFill>
                <a:latin typeface="微软雅黑"/>
              </a:rPr>
              <a:t>⚠️  局限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88352" y="4315968"/>
            <a:ext cx="4114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强相关时可能出现「不现实组合」。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→ 可用 ICE 图 · ALE 图补充。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0" y="5074920"/>
            <a:ext cx="4572000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32320" y="5074920"/>
            <a:ext cx="91440" cy="1280160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88352" y="5239512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524A"/>
                </a:solidFill>
                <a:latin typeface="微软雅黑"/>
              </a:rPr>
              <a:t>📌  重要性 + PDP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88352" y="5733288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「什么重要」+「如何影响」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→ 两者并看, 解读质量大幅提升。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机器学习 · 第 9 章  随机森林 — 二手车价格预测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52 / 66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微软雅黑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微软雅黑"/>
              </a:rPr>
              <a:t>随机森林 — 二手车价格预测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微软雅黑"/>
              </a:rPr>
              <a:t>INTERP   预测不确定性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微软雅黑"/>
              </a:rPr>
              <a:t>只看点预测难做决策 — 不确定性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微软雅黑"/>
              </a:rPr>
              <a:t>用各棵树预测的分布得到经验性区间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7315200" cy="4251960"/>
          </a:xfrm>
          <a:prstGeom prst="roundRect">
            <a:avLst/>
          </a:prstGeom>
          <a:solidFill>
            <a:srgbClr val="0E1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" y="2157984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7824" y="2157984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42416" y="2157984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212140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9AA7A0"/>
                </a:solidFill>
                <a:latin typeface="Consolas"/>
              </a:rPr>
              <a:t>prediction_interval.py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377440"/>
            <a:ext cx="6949440" cy="3794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7BD389"/>
                </a:solidFill>
                <a:latin typeface="Consolas"/>
              </a:rPr>
              <a:t>import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E8F6EF"/>
                </a:solidFill>
                <a:latin typeface="Consolas"/>
              </a:rPr>
              <a:t>numpy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7BD389"/>
                </a:solidFill>
                <a:latin typeface="Consolas"/>
              </a:rPr>
              <a:t>as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E8F6EF"/>
                </a:solidFill>
                <a:latin typeface="Consolas"/>
              </a:rPr>
              <a:t>np</a:t>
            </a:r>
          </a:p>
          <a:p>
            <a:pPr>
              <a:lnSpc>
                <a:spcPct val="115000"/>
              </a:lnSpc>
            </a:pPr>
            <a:r>
              <a:rPr sz="1100"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9AA7A0"/>
                </a:solidFill>
                <a:latin typeface="Consolas"/>
              </a:rPr>
              <a:t># 1) 收集所有树的预测  (n_trees × n_samples)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E8F6EF"/>
                </a:solidFill>
                <a:latin typeface="Consolas"/>
              </a:rPr>
              <a:t>tree_preds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E8F6EF"/>
                </a:solidFill>
                <a:latin typeface="Consolas"/>
              </a:rPr>
              <a:t>=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E8F6EF"/>
                </a:solidFill>
                <a:latin typeface="Consolas"/>
              </a:rPr>
              <a:t>np</a:t>
            </a:r>
            <a:r>
              <a:rPr sz="1100">
                <a:solidFill>
                  <a:srgbClr val="E8F6EF"/>
                </a:solidFill>
                <a:latin typeface="Consolas"/>
              </a:rPr>
              <a:t>.</a:t>
            </a:r>
            <a:r>
              <a:rPr sz="1100">
                <a:solidFill>
                  <a:srgbClr val="E8F6EF"/>
                </a:solidFill>
                <a:latin typeface="Consolas"/>
              </a:rPr>
              <a:t>array</a:t>
            </a:r>
            <a:r>
              <a:rPr sz="1100">
                <a:solidFill>
                  <a:srgbClr val="E8F6EF"/>
                </a:solidFill>
                <a:latin typeface="Consolas"/>
              </a:rPr>
              <a:t>(</a:t>
            </a:r>
            <a:r>
              <a:rPr sz="1100">
                <a:solidFill>
                  <a:srgbClr val="E8F6EF"/>
                </a:solidFill>
                <a:latin typeface="Consolas"/>
              </a:rPr>
              <a:t>[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E8F6EF"/>
                </a:solidFill>
                <a:latin typeface="Consolas"/>
              </a:rPr>
              <a:t>tree</a:t>
            </a:r>
            <a:r>
              <a:rPr sz="1100">
                <a:solidFill>
                  <a:srgbClr val="E8F6EF"/>
                </a:solidFill>
                <a:latin typeface="Consolas"/>
              </a:rPr>
              <a:t>.</a:t>
            </a:r>
            <a:r>
              <a:rPr sz="1100">
                <a:solidFill>
                  <a:srgbClr val="E8F6EF"/>
                </a:solidFill>
                <a:latin typeface="Consolas"/>
              </a:rPr>
              <a:t>predict</a:t>
            </a:r>
            <a:r>
              <a:rPr sz="1100">
                <a:solidFill>
                  <a:srgbClr val="E8F6EF"/>
                </a:solidFill>
                <a:latin typeface="Consolas"/>
              </a:rPr>
              <a:t>(</a:t>
            </a:r>
            <a:r>
              <a:rPr sz="1100">
                <a:solidFill>
                  <a:srgbClr val="E8F6EF"/>
                </a:solidFill>
                <a:latin typeface="Consolas"/>
              </a:rPr>
              <a:t>X_test</a:t>
            </a:r>
            <a:r>
              <a:rPr sz="1100">
                <a:solidFill>
                  <a:srgbClr val="E8F6EF"/>
                </a:solidFill>
                <a:latin typeface="Consolas"/>
              </a:rPr>
              <a:t>)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7BD389"/>
                </a:solidFill>
                <a:latin typeface="Consolas"/>
              </a:rPr>
              <a:t>for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E8F6EF"/>
                </a:solidFill>
                <a:latin typeface="Consolas"/>
              </a:rPr>
              <a:t>tree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7BD389"/>
                </a:solidFill>
                <a:latin typeface="Consolas"/>
              </a:rPr>
              <a:t>in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E8F6EF"/>
                </a:solidFill>
                <a:latin typeface="Consolas"/>
              </a:rPr>
              <a:t>model</a:t>
            </a:r>
            <a:r>
              <a:rPr sz="1100">
                <a:solidFill>
                  <a:srgbClr val="E8F6EF"/>
                </a:solidFill>
                <a:latin typeface="Consolas"/>
              </a:rPr>
              <a:t>.</a:t>
            </a:r>
            <a:r>
              <a:rPr sz="1100">
                <a:solidFill>
                  <a:srgbClr val="E8F6EF"/>
                </a:solidFill>
                <a:latin typeface="Consolas"/>
              </a:rPr>
              <a:t>estimators_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E8F6EF"/>
                </a:solidFill>
                <a:latin typeface="Consolas"/>
              </a:rPr>
              <a:t>]</a:t>
            </a:r>
            <a:r>
              <a:rPr sz="110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5000"/>
              </a:lnSpc>
            </a:pPr>
            <a:r>
              <a:rPr sz="1100"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9AA7A0"/>
                </a:solidFill>
                <a:latin typeface="Consolas"/>
              </a:rPr>
              <a:t># 2) 按样本取分位数得到「经验区间」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E8F6EF"/>
                </a:solidFill>
                <a:latin typeface="Consolas"/>
              </a:rPr>
              <a:t>lower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E8F6EF"/>
                </a:solidFill>
                <a:latin typeface="Consolas"/>
              </a:rPr>
              <a:t>=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E8F6EF"/>
                </a:solidFill>
                <a:latin typeface="Consolas"/>
              </a:rPr>
              <a:t>np</a:t>
            </a:r>
            <a:r>
              <a:rPr sz="1100">
                <a:solidFill>
                  <a:srgbClr val="E8F6EF"/>
                </a:solidFill>
                <a:latin typeface="Consolas"/>
              </a:rPr>
              <a:t>.</a:t>
            </a:r>
            <a:r>
              <a:rPr sz="1100">
                <a:solidFill>
                  <a:srgbClr val="E8F6EF"/>
                </a:solidFill>
                <a:latin typeface="Consolas"/>
              </a:rPr>
              <a:t>percentile</a:t>
            </a:r>
            <a:r>
              <a:rPr sz="1100">
                <a:solidFill>
                  <a:srgbClr val="E8F6EF"/>
                </a:solidFill>
                <a:latin typeface="Consolas"/>
              </a:rPr>
              <a:t>(</a:t>
            </a:r>
            <a:r>
              <a:rPr sz="1100">
                <a:solidFill>
                  <a:srgbClr val="E8F6EF"/>
                </a:solidFill>
                <a:latin typeface="Consolas"/>
              </a:rPr>
              <a:t>tree_preds</a:t>
            </a:r>
            <a:r>
              <a:rPr sz="1100">
                <a:solidFill>
                  <a:srgbClr val="E8F6EF"/>
                </a:solidFill>
                <a:latin typeface="Consolas"/>
              </a:rPr>
              <a:t>,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F2D45F"/>
                </a:solidFill>
                <a:latin typeface="Consolas"/>
              </a:rPr>
              <a:t>5</a:t>
            </a:r>
            <a:r>
              <a:rPr sz="1100">
                <a:solidFill>
                  <a:srgbClr val="E8F6EF"/>
                </a:solidFill>
                <a:latin typeface="Consolas"/>
              </a:rPr>
              <a:t>,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E8F6EF"/>
                </a:solidFill>
                <a:latin typeface="Consolas"/>
              </a:rPr>
              <a:t>axis</a:t>
            </a:r>
            <a:r>
              <a:rPr sz="1100">
                <a:solidFill>
                  <a:srgbClr val="E8F6EF"/>
                </a:solidFill>
                <a:latin typeface="Consolas"/>
              </a:rPr>
              <a:t>=</a:t>
            </a:r>
            <a:r>
              <a:rPr sz="1100">
                <a:solidFill>
                  <a:srgbClr val="F2D45F"/>
                </a:solidFill>
                <a:latin typeface="Consolas"/>
              </a:rPr>
              <a:t>0</a:t>
            </a:r>
            <a:r>
              <a:rPr sz="110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E8F6EF"/>
                </a:solidFill>
                <a:latin typeface="Consolas"/>
              </a:rPr>
              <a:t>upper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E8F6EF"/>
                </a:solidFill>
                <a:latin typeface="Consolas"/>
              </a:rPr>
              <a:t>=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E8F6EF"/>
                </a:solidFill>
                <a:latin typeface="Consolas"/>
              </a:rPr>
              <a:t>np</a:t>
            </a:r>
            <a:r>
              <a:rPr sz="1100">
                <a:solidFill>
                  <a:srgbClr val="E8F6EF"/>
                </a:solidFill>
                <a:latin typeface="Consolas"/>
              </a:rPr>
              <a:t>.</a:t>
            </a:r>
            <a:r>
              <a:rPr sz="1100">
                <a:solidFill>
                  <a:srgbClr val="E8F6EF"/>
                </a:solidFill>
                <a:latin typeface="Consolas"/>
              </a:rPr>
              <a:t>percentile</a:t>
            </a:r>
            <a:r>
              <a:rPr sz="1100">
                <a:solidFill>
                  <a:srgbClr val="E8F6EF"/>
                </a:solidFill>
                <a:latin typeface="Consolas"/>
              </a:rPr>
              <a:t>(</a:t>
            </a:r>
            <a:r>
              <a:rPr sz="1100">
                <a:solidFill>
                  <a:srgbClr val="E8F6EF"/>
                </a:solidFill>
                <a:latin typeface="Consolas"/>
              </a:rPr>
              <a:t>tree_preds</a:t>
            </a:r>
            <a:r>
              <a:rPr sz="1100">
                <a:solidFill>
                  <a:srgbClr val="E8F6EF"/>
                </a:solidFill>
                <a:latin typeface="Consolas"/>
              </a:rPr>
              <a:t>,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F2D45F"/>
                </a:solidFill>
                <a:latin typeface="Consolas"/>
              </a:rPr>
              <a:t>95</a:t>
            </a:r>
            <a:r>
              <a:rPr sz="1100">
                <a:solidFill>
                  <a:srgbClr val="E8F6EF"/>
                </a:solidFill>
                <a:latin typeface="Consolas"/>
              </a:rPr>
              <a:t>,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E8F6EF"/>
                </a:solidFill>
                <a:latin typeface="Consolas"/>
              </a:rPr>
              <a:t>axis</a:t>
            </a:r>
            <a:r>
              <a:rPr sz="1100">
                <a:solidFill>
                  <a:srgbClr val="E8F6EF"/>
                </a:solidFill>
                <a:latin typeface="Consolas"/>
              </a:rPr>
              <a:t>=</a:t>
            </a:r>
            <a:r>
              <a:rPr sz="1100">
                <a:solidFill>
                  <a:srgbClr val="F2D45F"/>
                </a:solidFill>
                <a:latin typeface="Consolas"/>
              </a:rPr>
              <a:t>0</a:t>
            </a:r>
            <a:r>
              <a:rPr sz="110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E8F6EF"/>
                </a:solidFill>
                <a:latin typeface="Consolas"/>
              </a:rPr>
              <a:t>point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E8F6EF"/>
                </a:solidFill>
                <a:latin typeface="Consolas"/>
              </a:rPr>
              <a:t>=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E8F6EF"/>
                </a:solidFill>
                <a:latin typeface="Consolas"/>
              </a:rPr>
              <a:t>model</a:t>
            </a:r>
            <a:r>
              <a:rPr sz="1100">
                <a:solidFill>
                  <a:srgbClr val="E8F6EF"/>
                </a:solidFill>
                <a:latin typeface="Consolas"/>
              </a:rPr>
              <a:t>.</a:t>
            </a:r>
            <a:r>
              <a:rPr sz="1100">
                <a:solidFill>
                  <a:srgbClr val="E8F6EF"/>
                </a:solidFill>
                <a:latin typeface="Consolas"/>
              </a:rPr>
              <a:t>predict</a:t>
            </a:r>
            <a:r>
              <a:rPr sz="1100">
                <a:solidFill>
                  <a:srgbClr val="E8F6EF"/>
                </a:solidFill>
                <a:latin typeface="Consolas"/>
              </a:rPr>
              <a:t>(</a:t>
            </a:r>
            <a:r>
              <a:rPr sz="1100">
                <a:solidFill>
                  <a:srgbClr val="E8F6EF"/>
                </a:solidFill>
                <a:latin typeface="Consolas"/>
              </a:rPr>
              <a:t>X_test</a:t>
            </a:r>
            <a:r>
              <a:rPr sz="110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5000"/>
              </a:lnSpc>
            </a:pPr>
            <a:r>
              <a:rPr sz="1100"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9AA7A0"/>
                </a:solidFill>
                <a:latin typeface="Consolas"/>
              </a:rPr>
              <a:t># 3) 例: 前 5 条 (点预测, 90% 区间)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7BD389"/>
                </a:solidFill>
                <a:latin typeface="Consolas"/>
              </a:rPr>
              <a:t>for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E8F6EF"/>
                </a:solidFill>
                <a:latin typeface="Consolas"/>
              </a:rPr>
              <a:t>i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7BD389"/>
                </a:solidFill>
                <a:latin typeface="Consolas"/>
              </a:rPr>
              <a:t>in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8FB8E0"/>
                </a:solidFill>
                <a:latin typeface="Consolas"/>
              </a:rPr>
              <a:t>range</a:t>
            </a:r>
            <a:r>
              <a:rPr sz="1100">
                <a:solidFill>
                  <a:srgbClr val="E8F6EF"/>
                </a:solidFill>
                <a:latin typeface="Consolas"/>
              </a:rPr>
              <a:t>(</a:t>
            </a:r>
            <a:r>
              <a:rPr sz="1100">
                <a:solidFill>
                  <a:srgbClr val="F2D45F"/>
                </a:solidFill>
                <a:latin typeface="Consolas"/>
              </a:rPr>
              <a:t>5</a:t>
            </a:r>
            <a:r>
              <a:rPr sz="1100">
                <a:solidFill>
                  <a:srgbClr val="E8F6EF"/>
                </a:solidFill>
                <a:latin typeface="Consolas"/>
              </a:rPr>
              <a:t>)</a:t>
            </a:r>
            <a:r>
              <a:rPr sz="1100">
                <a:solidFill>
                  <a:srgbClr val="E8F6EF"/>
                </a:solidFill>
                <a:latin typeface="Consolas"/>
              </a:rPr>
              <a:t>: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8FB8E0"/>
                </a:solidFill>
                <a:latin typeface="Consolas"/>
              </a:rPr>
              <a:t>print</a:t>
            </a:r>
            <a:r>
              <a:rPr sz="1100">
                <a:solidFill>
                  <a:srgbClr val="E8F6EF"/>
                </a:solidFill>
                <a:latin typeface="Consolas"/>
              </a:rPr>
              <a:t>(</a:t>
            </a:r>
            <a:r>
              <a:rPr sz="1100">
                <a:solidFill>
                  <a:srgbClr val="E8F6EF"/>
                </a:solidFill>
                <a:latin typeface="Consolas"/>
              </a:rPr>
              <a:t>f</a:t>
            </a:r>
            <a:r>
              <a:rPr sz="1100">
                <a:solidFill>
                  <a:srgbClr val="F6B26B"/>
                </a:solidFill>
                <a:latin typeface="Consolas"/>
              </a:rPr>
              <a:t>'{point[i]:&gt;10,.0f}  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E8F6EF"/>
                </a:solidFill>
                <a:latin typeface="Consolas"/>
              </a:rPr>
              <a:t>[</a:t>
            </a:r>
            <a:r>
              <a:rPr sz="1100">
                <a:solidFill>
                  <a:srgbClr val="E8F6EF"/>
                </a:solidFill>
                <a:latin typeface="Consolas"/>
              </a:rPr>
              <a:t>{</a:t>
            </a:r>
            <a:r>
              <a:rPr sz="1100">
                <a:solidFill>
                  <a:srgbClr val="E8F6EF"/>
                </a:solidFill>
                <a:latin typeface="Consolas"/>
              </a:rPr>
              <a:t>lower</a:t>
            </a:r>
            <a:r>
              <a:rPr sz="1100">
                <a:solidFill>
                  <a:srgbClr val="E8F6EF"/>
                </a:solidFill>
                <a:latin typeface="Consolas"/>
              </a:rPr>
              <a:t>[</a:t>
            </a:r>
            <a:r>
              <a:rPr sz="1100">
                <a:solidFill>
                  <a:srgbClr val="E8F6EF"/>
                </a:solidFill>
                <a:latin typeface="Consolas"/>
              </a:rPr>
              <a:t>i</a:t>
            </a:r>
            <a:r>
              <a:rPr sz="1100">
                <a:solidFill>
                  <a:srgbClr val="E8F6EF"/>
                </a:solidFill>
                <a:latin typeface="Consolas"/>
              </a:rPr>
              <a:t>]</a:t>
            </a:r>
            <a:r>
              <a:rPr sz="1100">
                <a:solidFill>
                  <a:srgbClr val="E8F6EF"/>
                </a:solidFill>
                <a:latin typeface="Consolas"/>
              </a:rPr>
              <a:t>:</a:t>
            </a:r>
            <a:r>
              <a:rPr sz="1100">
                <a:solidFill>
                  <a:srgbClr val="E8F6EF"/>
                </a:solidFill>
                <a:latin typeface="Consolas"/>
              </a:rPr>
              <a:t>&gt;</a:t>
            </a:r>
            <a:r>
              <a:rPr sz="1100">
                <a:solidFill>
                  <a:srgbClr val="F2D45F"/>
                </a:solidFill>
                <a:latin typeface="Consolas"/>
              </a:rPr>
              <a:t>10</a:t>
            </a:r>
            <a:r>
              <a:rPr sz="1100">
                <a:solidFill>
                  <a:srgbClr val="E8F6EF"/>
                </a:solidFill>
                <a:latin typeface="Consolas"/>
              </a:rPr>
              <a:t>,</a:t>
            </a:r>
            <a:r>
              <a:rPr sz="1100">
                <a:solidFill>
                  <a:srgbClr val="F2D45F"/>
                </a:solidFill>
                <a:latin typeface="Consolas"/>
              </a:rPr>
              <a:t>.0</a:t>
            </a:r>
            <a:r>
              <a:rPr sz="1100">
                <a:solidFill>
                  <a:srgbClr val="E8F6EF"/>
                </a:solidFill>
                <a:latin typeface="Consolas"/>
              </a:rPr>
              <a:t>f</a:t>
            </a:r>
            <a:r>
              <a:rPr sz="1100">
                <a:solidFill>
                  <a:srgbClr val="E8F6EF"/>
                </a:solidFill>
                <a:latin typeface="Consolas"/>
              </a:rPr>
              <a:t>}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E8F6EF"/>
                </a:solidFill>
                <a:latin typeface="Consolas"/>
              </a:rPr>
              <a:t>,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E8F6EF"/>
                </a:solidFill>
                <a:latin typeface="Consolas"/>
              </a:rPr>
              <a:t>{</a:t>
            </a:r>
            <a:r>
              <a:rPr sz="1100">
                <a:solidFill>
                  <a:srgbClr val="E8F6EF"/>
                </a:solidFill>
                <a:latin typeface="Consolas"/>
              </a:rPr>
              <a:t>upper</a:t>
            </a:r>
            <a:r>
              <a:rPr sz="1100">
                <a:solidFill>
                  <a:srgbClr val="E8F6EF"/>
                </a:solidFill>
                <a:latin typeface="Consolas"/>
              </a:rPr>
              <a:t>[</a:t>
            </a:r>
            <a:r>
              <a:rPr sz="1100">
                <a:solidFill>
                  <a:srgbClr val="E8F6EF"/>
                </a:solidFill>
                <a:latin typeface="Consolas"/>
              </a:rPr>
              <a:t>i</a:t>
            </a:r>
            <a:r>
              <a:rPr sz="1100">
                <a:solidFill>
                  <a:srgbClr val="E8F6EF"/>
                </a:solidFill>
                <a:latin typeface="Consolas"/>
              </a:rPr>
              <a:t>]</a:t>
            </a:r>
            <a:r>
              <a:rPr sz="1100">
                <a:solidFill>
                  <a:srgbClr val="E8F6EF"/>
                </a:solidFill>
                <a:latin typeface="Consolas"/>
              </a:rPr>
              <a:t>:</a:t>
            </a:r>
            <a:r>
              <a:rPr sz="1100">
                <a:solidFill>
                  <a:srgbClr val="E8F6EF"/>
                </a:solidFill>
                <a:latin typeface="Consolas"/>
              </a:rPr>
              <a:t>&gt;</a:t>
            </a:r>
            <a:r>
              <a:rPr sz="1100">
                <a:solidFill>
                  <a:srgbClr val="F2D45F"/>
                </a:solidFill>
                <a:latin typeface="Consolas"/>
              </a:rPr>
              <a:t>10</a:t>
            </a:r>
            <a:r>
              <a:rPr sz="1100">
                <a:solidFill>
                  <a:srgbClr val="E8F6EF"/>
                </a:solidFill>
                <a:latin typeface="Consolas"/>
              </a:rPr>
              <a:t>,</a:t>
            </a:r>
            <a:r>
              <a:rPr sz="1100">
                <a:solidFill>
                  <a:srgbClr val="F2D45F"/>
                </a:solidFill>
                <a:latin typeface="Consolas"/>
              </a:rPr>
              <a:t>.0</a:t>
            </a:r>
            <a:r>
              <a:rPr sz="1100">
                <a:solidFill>
                  <a:srgbClr val="E8F6EF"/>
                </a:solidFill>
                <a:latin typeface="Consolas"/>
              </a:rPr>
              <a:t>f</a:t>
            </a:r>
            <a:r>
              <a:rPr sz="1100">
                <a:solidFill>
                  <a:srgbClr val="E8F6EF"/>
                </a:solidFill>
                <a:latin typeface="Consolas"/>
              </a:rPr>
              <a:t>}</a:t>
            </a:r>
            <a:r>
              <a:rPr sz="1100">
                <a:solidFill>
                  <a:srgbClr val="E8F6EF"/>
                </a:solidFill>
                <a:latin typeface="Consolas"/>
              </a:rPr>
              <a:t>]</a:t>
            </a:r>
            <a:r>
              <a:rPr sz="1100">
                <a:solidFill>
                  <a:srgbClr val="F6B26B"/>
                </a:solidFill>
                <a:latin typeface="Consolas"/>
              </a:rPr>
              <a:t>')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2011680"/>
            <a:ext cx="36576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2011680"/>
            <a:ext cx="91440" cy="1828800"/>
          </a:xfrm>
          <a:prstGeom prst="rect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2752" y="217627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524A"/>
                </a:solidFill>
                <a:latin typeface="微软雅黑"/>
              </a:rPr>
              <a:t>⚠️  并非严格的统计保证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2670048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「各棵树 5~95% 的范围」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不是严格的 90% 预测区间。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只能当「粗略宽度」看。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3931920"/>
            <a:ext cx="3657600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6720" y="3931920"/>
            <a:ext cx="91440" cy="128016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02752" y="409651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524A"/>
                </a:solidFill>
                <a:latin typeface="微软雅黑"/>
              </a:rPr>
              <a:t>💡  用途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4590288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区间宽 = 模型「不确定」的样本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→ 重点收集额外数据的对象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5303520"/>
            <a:ext cx="3657600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20" y="5303520"/>
            <a:ext cx="91440" cy="960120"/>
          </a:xfrm>
          <a:prstGeom prst="rect">
            <a:avLst/>
          </a:prstGeom>
          <a:solidFill>
            <a:srgbClr val="3B6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02752" y="546811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524A"/>
                </a:solidFill>
                <a:latin typeface="微软雅黑"/>
              </a:rPr>
              <a:t>📚  参考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5961888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Mentch &amp; Hooker (2016) — RF 的统计推断扩展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机器学习 · 第 9 章  随机森林 — 二手车价格预测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53 / 66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9601200" y="4114800"/>
            <a:ext cx="1371600" cy="1371600"/>
          </a:xfrm>
          <a:prstGeom prst="triangle">
            <a:avLst/>
          </a:prstGeom>
          <a:solidFill>
            <a:srgbClr val="88D4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0515600" y="4572000"/>
            <a:ext cx="1005840" cy="1005840"/>
          </a:xfrm>
          <a:prstGeom prst="triangle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>
            <a:off x="8961120" y="4754880"/>
            <a:ext cx="822960" cy="822960"/>
          </a:xfrm>
          <a:prstGeom prst="triangle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2194560" cy="502920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PART VII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200" b="1" i="0">
                <a:solidFill>
                  <a:srgbClr val="FFFFFF"/>
                </a:solidFill>
                <a:latin typeface="微软雅黑"/>
              </a:rPr>
              <a:t>活动 · 评估 · 总结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703320"/>
            <a:ext cx="73152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8404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CFE3DA"/>
                </a:solidFill>
                <a:latin typeface="微软雅黑"/>
              </a:rPr>
              <a:t>团队实操 · 测验 · 作业 · 评分量表 — 课堂上立即可用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微软雅黑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微软雅黑"/>
              </a:rPr>
              <a:t>随机森林 — 二手车价格预测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微软雅黑"/>
              </a:rPr>
              <a:t>ACTIVITY   实操活动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微软雅黑"/>
              </a:rPr>
              <a:t>活动 1 — 预处理「审计 (Audit)」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微软雅黑"/>
              </a:rPr>
              <a:t>2~3 人小组 · 12 分钟 · 找出数据质量风险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6949440" cy="4251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011680"/>
            <a:ext cx="137160" cy="425196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10312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6F5A"/>
                </a:solidFill>
                <a:latin typeface="微软雅黑"/>
              </a:rPr>
              <a:t>🎯  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37744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微软雅黑"/>
              </a:rPr>
              <a:t>在训练模型前, 找出并汇报数据中「隐藏的陷阱」。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88036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6F5A"/>
                </a:solidFill>
                <a:latin typeface="微软雅黑"/>
              </a:rPr>
              <a:t>📝  进行步骤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3291840"/>
            <a:ext cx="146304" cy="146304"/>
          </a:xfrm>
          <a:prstGeom prst="ellipse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3200400"/>
            <a:ext cx="6126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1) 每组选一列 (mileage / engine / max_power / torque)。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3840480"/>
            <a:ext cx="146304" cy="146304"/>
          </a:xfrm>
          <a:prstGeom prst="ellipse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3749040"/>
            <a:ext cx="6126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2) 在原始数据中找出 5 个以上「异常模式」(如 bhp 单独值)。</a:t>
            </a:r>
          </a:p>
        </p:txBody>
      </p:sp>
      <p:sp>
        <p:nvSpPr>
          <p:cNvPr id="21" name="Oval 20"/>
          <p:cNvSpPr/>
          <p:nvPr/>
        </p:nvSpPr>
        <p:spPr>
          <a:xfrm>
            <a:off x="868680" y="4389120"/>
            <a:ext cx="146304" cy="146304"/>
          </a:xfrm>
          <a:prstGeom prst="ellipse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4297680"/>
            <a:ext cx="6126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3) 用代码再现一个预处理函数会失败的具体值。</a:t>
            </a:r>
          </a:p>
        </p:txBody>
      </p:sp>
      <p:sp>
        <p:nvSpPr>
          <p:cNvPr id="23" name="Oval 22"/>
          <p:cNvSpPr/>
          <p:nvPr/>
        </p:nvSpPr>
        <p:spPr>
          <a:xfrm>
            <a:off x="868680" y="4937760"/>
            <a:ext cx="146304" cy="146304"/>
          </a:xfrm>
          <a:prstGeom prst="ellipse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4846320"/>
            <a:ext cx="6126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4) 对比转换前后的 dtype, NaN 数量, 摘要统计。</a:t>
            </a:r>
          </a:p>
        </p:txBody>
      </p:sp>
      <p:sp>
        <p:nvSpPr>
          <p:cNvPr id="25" name="Oval 24"/>
          <p:cNvSpPr/>
          <p:nvPr/>
        </p:nvSpPr>
        <p:spPr>
          <a:xfrm>
            <a:off x="868680" y="5486400"/>
            <a:ext cx="146304" cy="146304"/>
          </a:xfrm>
          <a:prstGeom prst="ellipse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5394960"/>
            <a:ext cx="6126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5) 用一句话说明应采取「删除/填充/修正」哪种策略。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80960" y="2011680"/>
            <a:ext cx="40233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80960" y="2011680"/>
            <a:ext cx="91440" cy="1828800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36992" y="217627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524A"/>
                </a:solidFill>
                <a:latin typeface="微软雅黑"/>
              </a:rPr>
              <a:t>📤  提交产出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36992" y="2670048"/>
            <a:ext cx="3566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• 每列 2 个「风险模式」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• 1 段修正或验证代码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• 每组 30 秒发布展示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80960" y="3931920"/>
            <a:ext cx="4023360" cy="2331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680960" y="3931920"/>
            <a:ext cx="91440" cy="233172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36992" y="409651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524A"/>
                </a:solidFill>
                <a:latin typeface="微软雅黑"/>
              </a:rPr>
              <a:t>💡  进行提示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36992" y="4590288"/>
            <a:ext cx="356616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• Slack/共享 notebook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  按组用不同颜色标记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• 教师轮流检查进度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• 最后 3 分钟: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  各组 30 秒分享「最危险」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6355080"/>
            <a:ext cx="11155680" cy="41148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644652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2A44F"/>
                </a:solidFill>
                <a:latin typeface="微软雅黑"/>
              </a:rPr>
              <a:t>💬  教师讲解要点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6739128"/>
            <a:ext cx="10789920" cy="-45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不需给出「标准答案」 — 让学生先「预测」会出什么错, 才能锻炼调试嗅觉。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机器学习 · 第 9 章  随机森林 — 二手车价格预测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55 / 66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微软雅黑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微软雅黑"/>
              </a:rPr>
              <a:t>随机森林 — 二手车价格预测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微软雅黑"/>
              </a:rPr>
              <a:t>ACTIVITY   实操活动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微软雅黑"/>
              </a:rPr>
              <a:t>活动 2 — 模型对比 (Default vs Tuned)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微软雅黑"/>
              </a:rPr>
              <a:t>个人或小组 · 15 分钟 · 用同一标准对比两个模型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7132320" cy="4297680"/>
          </a:xfrm>
          <a:prstGeom prst="roundRect">
            <a:avLst/>
          </a:prstGeom>
          <a:solidFill>
            <a:srgbClr val="0E1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" y="2157984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7824" y="2157984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42416" y="2157984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2121408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9AA7A0"/>
                </a:solidFill>
                <a:latin typeface="Consolas"/>
              </a:rPr>
              <a:t>activity2_template.py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377440"/>
            <a:ext cx="676656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50">
                <a:solidFill>
                  <a:srgbClr val="9AA7A0"/>
                </a:solidFill>
                <a:latin typeface="Consolas"/>
              </a:rPr>
              <a:t># 活动模板: 学生需要填空</a:t>
            </a:r>
          </a:p>
          <a:p>
            <a:pPr>
              <a:lnSpc>
                <a:spcPct val="115000"/>
              </a:lnSpc>
            </a:pPr>
            <a:r>
              <a:rPr sz="1050">
                <a:solidFill>
                  <a:srgbClr val="7BD389"/>
                </a:solidFill>
                <a:latin typeface="Consolas"/>
              </a:rPr>
              <a:t>from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sklearn</a:t>
            </a:r>
            <a:r>
              <a:rPr sz="1050">
                <a:solidFill>
                  <a:srgbClr val="E8F6EF"/>
                </a:solidFill>
                <a:latin typeface="Consolas"/>
              </a:rPr>
              <a:t>.</a:t>
            </a:r>
            <a:r>
              <a:rPr sz="1050">
                <a:solidFill>
                  <a:srgbClr val="E8F6EF"/>
                </a:solidFill>
                <a:latin typeface="Consolas"/>
              </a:rPr>
              <a:t>ensemble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7BD389"/>
                </a:solidFill>
                <a:latin typeface="Consolas"/>
              </a:rPr>
              <a:t>import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RandomForestRegressor</a:t>
            </a:r>
          </a:p>
          <a:p>
            <a:pPr>
              <a:lnSpc>
                <a:spcPct val="115000"/>
              </a:lnSpc>
            </a:pPr>
            <a:r>
              <a:rPr sz="1050">
                <a:solidFill>
                  <a:srgbClr val="7BD389"/>
                </a:solidFill>
                <a:latin typeface="Consolas"/>
              </a:rPr>
              <a:t>from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sklearn</a:t>
            </a:r>
            <a:r>
              <a:rPr sz="1050">
                <a:solidFill>
                  <a:srgbClr val="E8F6EF"/>
                </a:solidFill>
                <a:latin typeface="Consolas"/>
              </a:rPr>
              <a:t>.</a:t>
            </a:r>
            <a:r>
              <a:rPr sz="1050">
                <a:solidFill>
                  <a:srgbClr val="E8F6EF"/>
                </a:solidFill>
                <a:latin typeface="Consolas"/>
              </a:rPr>
              <a:t>model_selection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7BD389"/>
                </a:solidFill>
                <a:latin typeface="Consolas"/>
              </a:rPr>
              <a:t>import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KFold</a:t>
            </a:r>
          </a:p>
          <a:p>
            <a:pPr>
              <a:lnSpc>
                <a:spcPct val="115000"/>
              </a:lnSpc>
            </a:pPr>
            <a:r>
              <a:rPr sz="1050">
                <a:solidFill>
                  <a:srgbClr val="7BD389"/>
                </a:solidFill>
                <a:latin typeface="Consolas"/>
              </a:rPr>
              <a:t>from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sklearn</a:t>
            </a:r>
            <a:r>
              <a:rPr sz="1050">
                <a:solidFill>
                  <a:srgbClr val="E8F6EF"/>
                </a:solidFill>
                <a:latin typeface="Consolas"/>
              </a:rPr>
              <a:t>.</a:t>
            </a:r>
            <a:r>
              <a:rPr sz="1050">
                <a:solidFill>
                  <a:srgbClr val="E8F6EF"/>
                </a:solidFill>
                <a:latin typeface="Consolas"/>
              </a:rPr>
              <a:t>metrics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7BD389"/>
                </a:solidFill>
                <a:latin typeface="Consolas"/>
              </a:rPr>
              <a:t>import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mean_squared_error</a:t>
            </a:r>
          </a:p>
          <a:p>
            <a:pPr>
              <a:lnSpc>
                <a:spcPct val="115000"/>
              </a:lnSpc>
            </a:pPr>
            <a:r>
              <a:rPr sz="1050">
                <a:solidFill>
                  <a:srgbClr val="7BD389"/>
                </a:solidFill>
                <a:latin typeface="Consolas"/>
              </a:rPr>
              <a:t>import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numpy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7BD389"/>
                </a:solidFill>
                <a:latin typeface="Consolas"/>
              </a:rPr>
              <a:t>as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np</a:t>
            </a:r>
          </a:p>
          <a:p>
            <a:pPr>
              <a:lnSpc>
                <a:spcPct val="115000"/>
              </a:lnSpc>
            </a:pPr>
            <a:r>
              <a:rPr sz="1050"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050">
                <a:solidFill>
                  <a:srgbClr val="7BD389"/>
                </a:solidFill>
                <a:latin typeface="Consolas"/>
              </a:rPr>
              <a:t>def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cv_rmse</a:t>
            </a:r>
            <a:r>
              <a:rPr sz="1050">
                <a:solidFill>
                  <a:srgbClr val="E8F6EF"/>
                </a:solidFill>
                <a:latin typeface="Consolas"/>
              </a:rPr>
              <a:t>(</a:t>
            </a:r>
            <a:r>
              <a:rPr sz="1050">
                <a:solidFill>
                  <a:srgbClr val="E8F6EF"/>
                </a:solidFill>
                <a:latin typeface="Consolas"/>
              </a:rPr>
              <a:t>model</a:t>
            </a:r>
            <a:r>
              <a:rPr sz="1050">
                <a:solidFill>
                  <a:srgbClr val="E8F6EF"/>
                </a:solidFill>
                <a:latin typeface="Consolas"/>
              </a:rPr>
              <a:t>,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X</a:t>
            </a:r>
            <a:r>
              <a:rPr sz="1050">
                <a:solidFill>
                  <a:srgbClr val="E8F6EF"/>
                </a:solidFill>
                <a:latin typeface="Consolas"/>
              </a:rPr>
              <a:t>,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y</a:t>
            </a:r>
            <a:r>
              <a:rPr sz="1050">
                <a:solidFill>
                  <a:srgbClr val="E8F6EF"/>
                </a:solidFill>
                <a:latin typeface="Consolas"/>
              </a:rPr>
              <a:t>,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k</a:t>
            </a:r>
            <a:r>
              <a:rPr sz="1050">
                <a:solidFill>
                  <a:srgbClr val="E8F6EF"/>
                </a:solidFill>
                <a:latin typeface="Consolas"/>
              </a:rPr>
              <a:t>=</a:t>
            </a:r>
            <a:r>
              <a:rPr sz="1050">
                <a:solidFill>
                  <a:srgbClr val="F2D45F"/>
                </a:solidFill>
                <a:latin typeface="Consolas"/>
              </a:rPr>
              <a:t>5</a:t>
            </a:r>
            <a:r>
              <a:rPr sz="1050">
                <a:solidFill>
                  <a:srgbClr val="E8F6EF"/>
                </a:solidFill>
                <a:latin typeface="Consolas"/>
              </a:rPr>
              <a:t>)</a:t>
            </a:r>
            <a:r>
              <a:rPr sz="1050">
                <a:solidFill>
                  <a:srgbClr val="E8F6EF"/>
                </a:solidFill>
                <a:latin typeface="Consolas"/>
              </a:rPr>
              <a:t>:</a:t>
            </a:r>
          </a:p>
          <a:p>
            <a:pPr>
              <a:lnSpc>
                <a:spcPct val="115000"/>
              </a:lnSpc>
            </a:pP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kf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=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KFold</a:t>
            </a:r>
            <a:r>
              <a:rPr sz="1050">
                <a:solidFill>
                  <a:srgbClr val="E8F6EF"/>
                </a:solidFill>
                <a:latin typeface="Consolas"/>
              </a:rPr>
              <a:t>(</a:t>
            </a:r>
            <a:r>
              <a:rPr sz="1050">
                <a:solidFill>
                  <a:srgbClr val="E8F6EF"/>
                </a:solidFill>
                <a:latin typeface="Consolas"/>
              </a:rPr>
              <a:t>n_splits</a:t>
            </a:r>
            <a:r>
              <a:rPr sz="1050">
                <a:solidFill>
                  <a:srgbClr val="E8F6EF"/>
                </a:solidFill>
                <a:latin typeface="Consolas"/>
              </a:rPr>
              <a:t>=</a:t>
            </a:r>
            <a:r>
              <a:rPr sz="1050">
                <a:solidFill>
                  <a:srgbClr val="E8F6EF"/>
                </a:solidFill>
                <a:latin typeface="Consolas"/>
              </a:rPr>
              <a:t>k</a:t>
            </a:r>
            <a:r>
              <a:rPr sz="1050">
                <a:solidFill>
                  <a:srgbClr val="E8F6EF"/>
                </a:solidFill>
                <a:latin typeface="Consolas"/>
              </a:rPr>
              <a:t>,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shuffle</a:t>
            </a:r>
            <a:r>
              <a:rPr sz="1050">
                <a:solidFill>
                  <a:srgbClr val="E8F6EF"/>
                </a:solidFill>
                <a:latin typeface="Consolas"/>
              </a:rPr>
              <a:t>=</a:t>
            </a:r>
            <a:r>
              <a:rPr sz="1050">
                <a:solidFill>
                  <a:srgbClr val="7BD389"/>
                </a:solidFill>
                <a:latin typeface="Consolas"/>
              </a:rPr>
              <a:t>True</a:t>
            </a:r>
            <a:r>
              <a:rPr sz="1050">
                <a:solidFill>
                  <a:srgbClr val="E8F6EF"/>
                </a:solidFill>
                <a:latin typeface="Consolas"/>
              </a:rPr>
              <a:t>,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random_state</a:t>
            </a:r>
            <a:r>
              <a:rPr sz="1050">
                <a:solidFill>
                  <a:srgbClr val="E8F6EF"/>
                </a:solidFill>
                <a:latin typeface="Consolas"/>
              </a:rPr>
              <a:t>=</a:t>
            </a:r>
            <a:r>
              <a:rPr sz="1050">
                <a:solidFill>
                  <a:srgbClr val="F2D45F"/>
                </a:solidFill>
                <a:latin typeface="Consolas"/>
              </a:rPr>
              <a:t>100</a:t>
            </a:r>
            <a:r>
              <a:rPr sz="10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5000"/>
              </a:lnSpc>
            </a:pP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scores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=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[</a:t>
            </a:r>
            <a:r>
              <a:rPr sz="1050">
                <a:solidFill>
                  <a:srgbClr val="E8F6EF"/>
                </a:solidFill>
                <a:latin typeface="Consolas"/>
              </a:rPr>
              <a:t>]</a:t>
            </a:r>
          </a:p>
          <a:p>
            <a:pPr>
              <a:lnSpc>
                <a:spcPct val="115000"/>
              </a:lnSpc>
            </a:pP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7BD389"/>
                </a:solidFill>
                <a:latin typeface="Consolas"/>
              </a:rPr>
              <a:t>for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tr</a:t>
            </a:r>
            <a:r>
              <a:rPr sz="1050">
                <a:solidFill>
                  <a:srgbClr val="E8F6EF"/>
                </a:solidFill>
                <a:latin typeface="Consolas"/>
              </a:rPr>
              <a:t>,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te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7BD389"/>
                </a:solidFill>
                <a:latin typeface="Consolas"/>
              </a:rPr>
              <a:t>in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kf</a:t>
            </a:r>
            <a:r>
              <a:rPr sz="1050">
                <a:solidFill>
                  <a:srgbClr val="E8F6EF"/>
                </a:solidFill>
                <a:latin typeface="Consolas"/>
              </a:rPr>
              <a:t>.</a:t>
            </a:r>
            <a:r>
              <a:rPr sz="1050">
                <a:solidFill>
                  <a:srgbClr val="E8F6EF"/>
                </a:solidFill>
                <a:latin typeface="Consolas"/>
              </a:rPr>
              <a:t>split</a:t>
            </a:r>
            <a:r>
              <a:rPr sz="1050">
                <a:solidFill>
                  <a:srgbClr val="E8F6EF"/>
                </a:solidFill>
                <a:latin typeface="Consolas"/>
              </a:rPr>
              <a:t>(</a:t>
            </a:r>
            <a:r>
              <a:rPr sz="1050">
                <a:solidFill>
                  <a:srgbClr val="E8F6EF"/>
                </a:solidFill>
                <a:latin typeface="Consolas"/>
              </a:rPr>
              <a:t>X</a:t>
            </a:r>
            <a:r>
              <a:rPr sz="1050">
                <a:solidFill>
                  <a:srgbClr val="E8F6EF"/>
                </a:solidFill>
                <a:latin typeface="Consolas"/>
              </a:rPr>
              <a:t>)</a:t>
            </a:r>
            <a:r>
              <a:rPr sz="1050">
                <a:solidFill>
                  <a:srgbClr val="E8F6EF"/>
                </a:solidFill>
                <a:latin typeface="Consolas"/>
              </a:rPr>
              <a:t>:</a:t>
            </a:r>
          </a:p>
          <a:p>
            <a:pPr>
              <a:lnSpc>
                <a:spcPct val="115000"/>
              </a:lnSpc>
            </a:pP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model</a:t>
            </a:r>
            <a:r>
              <a:rPr sz="1050">
                <a:solidFill>
                  <a:srgbClr val="E8F6EF"/>
                </a:solidFill>
                <a:latin typeface="Consolas"/>
              </a:rPr>
              <a:t>.</a:t>
            </a:r>
            <a:r>
              <a:rPr sz="1050">
                <a:solidFill>
                  <a:srgbClr val="E8F6EF"/>
                </a:solidFill>
                <a:latin typeface="Consolas"/>
              </a:rPr>
              <a:t>fit</a:t>
            </a:r>
            <a:r>
              <a:rPr sz="1050">
                <a:solidFill>
                  <a:srgbClr val="E8F6EF"/>
                </a:solidFill>
                <a:latin typeface="Consolas"/>
              </a:rPr>
              <a:t>(</a:t>
            </a:r>
            <a:r>
              <a:rPr sz="1050">
                <a:solidFill>
                  <a:srgbClr val="E8F6EF"/>
                </a:solidFill>
                <a:latin typeface="Consolas"/>
              </a:rPr>
              <a:t>X</a:t>
            </a:r>
            <a:r>
              <a:rPr sz="1050">
                <a:solidFill>
                  <a:srgbClr val="E8F6EF"/>
                </a:solidFill>
                <a:latin typeface="Consolas"/>
              </a:rPr>
              <a:t>.</a:t>
            </a:r>
            <a:r>
              <a:rPr sz="1050">
                <a:solidFill>
                  <a:srgbClr val="E8F6EF"/>
                </a:solidFill>
                <a:latin typeface="Consolas"/>
              </a:rPr>
              <a:t>iloc</a:t>
            </a:r>
            <a:r>
              <a:rPr sz="1050">
                <a:solidFill>
                  <a:srgbClr val="E8F6EF"/>
                </a:solidFill>
                <a:latin typeface="Consolas"/>
              </a:rPr>
              <a:t>[</a:t>
            </a:r>
            <a:r>
              <a:rPr sz="1050">
                <a:solidFill>
                  <a:srgbClr val="E8F6EF"/>
                </a:solidFill>
                <a:latin typeface="Consolas"/>
              </a:rPr>
              <a:t>tr</a:t>
            </a:r>
            <a:r>
              <a:rPr sz="1050">
                <a:solidFill>
                  <a:srgbClr val="E8F6EF"/>
                </a:solidFill>
                <a:latin typeface="Consolas"/>
              </a:rPr>
              <a:t>]</a:t>
            </a:r>
            <a:r>
              <a:rPr sz="1050">
                <a:solidFill>
                  <a:srgbClr val="E8F6EF"/>
                </a:solidFill>
                <a:latin typeface="Consolas"/>
              </a:rPr>
              <a:t>,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y</a:t>
            </a:r>
            <a:r>
              <a:rPr sz="1050">
                <a:solidFill>
                  <a:srgbClr val="E8F6EF"/>
                </a:solidFill>
                <a:latin typeface="Consolas"/>
              </a:rPr>
              <a:t>.</a:t>
            </a:r>
            <a:r>
              <a:rPr sz="1050">
                <a:solidFill>
                  <a:srgbClr val="E8F6EF"/>
                </a:solidFill>
                <a:latin typeface="Consolas"/>
              </a:rPr>
              <a:t>iloc</a:t>
            </a:r>
            <a:r>
              <a:rPr sz="1050">
                <a:solidFill>
                  <a:srgbClr val="E8F6EF"/>
                </a:solidFill>
                <a:latin typeface="Consolas"/>
              </a:rPr>
              <a:t>[</a:t>
            </a:r>
            <a:r>
              <a:rPr sz="1050">
                <a:solidFill>
                  <a:srgbClr val="E8F6EF"/>
                </a:solidFill>
                <a:latin typeface="Consolas"/>
              </a:rPr>
              <a:t>tr</a:t>
            </a:r>
            <a:r>
              <a:rPr sz="1050">
                <a:solidFill>
                  <a:srgbClr val="E8F6EF"/>
                </a:solidFill>
                <a:latin typeface="Consolas"/>
              </a:rPr>
              <a:t>]</a:t>
            </a:r>
            <a:r>
              <a:rPr sz="10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5000"/>
              </a:lnSpc>
            </a:pP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pred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=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model</a:t>
            </a:r>
            <a:r>
              <a:rPr sz="1050">
                <a:solidFill>
                  <a:srgbClr val="E8F6EF"/>
                </a:solidFill>
                <a:latin typeface="Consolas"/>
              </a:rPr>
              <a:t>.</a:t>
            </a:r>
            <a:r>
              <a:rPr sz="1050">
                <a:solidFill>
                  <a:srgbClr val="E8F6EF"/>
                </a:solidFill>
                <a:latin typeface="Consolas"/>
              </a:rPr>
              <a:t>predict</a:t>
            </a:r>
            <a:r>
              <a:rPr sz="1050">
                <a:solidFill>
                  <a:srgbClr val="E8F6EF"/>
                </a:solidFill>
                <a:latin typeface="Consolas"/>
              </a:rPr>
              <a:t>(</a:t>
            </a:r>
            <a:r>
              <a:rPr sz="1050">
                <a:solidFill>
                  <a:srgbClr val="E8F6EF"/>
                </a:solidFill>
                <a:latin typeface="Consolas"/>
              </a:rPr>
              <a:t>X</a:t>
            </a:r>
            <a:r>
              <a:rPr sz="1050">
                <a:solidFill>
                  <a:srgbClr val="E8F6EF"/>
                </a:solidFill>
                <a:latin typeface="Consolas"/>
              </a:rPr>
              <a:t>.</a:t>
            </a:r>
            <a:r>
              <a:rPr sz="1050">
                <a:solidFill>
                  <a:srgbClr val="E8F6EF"/>
                </a:solidFill>
                <a:latin typeface="Consolas"/>
              </a:rPr>
              <a:t>iloc</a:t>
            </a:r>
            <a:r>
              <a:rPr sz="1050">
                <a:solidFill>
                  <a:srgbClr val="E8F6EF"/>
                </a:solidFill>
                <a:latin typeface="Consolas"/>
              </a:rPr>
              <a:t>[</a:t>
            </a:r>
            <a:r>
              <a:rPr sz="1050">
                <a:solidFill>
                  <a:srgbClr val="E8F6EF"/>
                </a:solidFill>
                <a:latin typeface="Consolas"/>
              </a:rPr>
              <a:t>te</a:t>
            </a:r>
            <a:r>
              <a:rPr sz="1050">
                <a:solidFill>
                  <a:srgbClr val="E8F6EF"/>
                </a:solidFill>
                <a:latin typeface="Consolas"/>
              </a:rPr>
              <a:t>]</a:t>
            </a:r>
            <a:r>
              <a:rPr sz="10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5000"/>
              </a:lnSpc>
            </a:pP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scores</a:t>
            </a:r>
            <a:r>
              <a:rPr sz="1050">
                <a:solidFill>
                  <a:srgbClr val="E8F6EF"/>
                </a:solidFill>
                <a:latin typeface="Consolas"/>
              </a:rPr>
              <a:t>.</a:t>
            </a:r>
            <a:r>
              <a:rPr sz="1050">
                <a:solidFill>
                  <a:srgbClr val="E8F6EF"/>
                </a:solidFill>
                <a:latin typeface="Consolas"/>
              </a:rPr>
              <a:t>append</a:t>
            </a:r>
            <a:r>
              <a:rPr sz="1050">
                <a:solidFill>
                  <a:srgbClr val="E8F6EF"/>
                </a:solidFill>
                <a:latin typeface="Consolas"/>
              </a:rPr>
              <a:t>(</a:t>
            </a:r>
            <a:r>
              <a:rPr sz="1050">
                <a:solidFill>
                  <a:srgbClr val="E8F6EF"/>
                </a:solidFill>
                <a:latin typeface="Consolas"/>
              </a:rPr>
              <a:t>mean_squared_error</a:t>
            </a:r>
            <a:r>
              <a:rPr sz="1050">
                <a:solidFill>
                  <a:srgbClr val="E8F6EF"/>
                </a:solidFill>
                <a:latin typeface="Consolas"/>
              </a:rPr>
              <a:t>(</a:t>
            </a:r>
            <a:r>
              <a:rPr sz="1050">
                <a:solidFill>
                  <a:srgbClr val="E8F6EF"/>
                </a:solidFill>
                <a:latin typeface="Consolas"/>
              </a:rPr>
              <a:t>y</a:t>
            </a:r>
            <a:r>
              <a:rPr sz="1050">
                <a:solidFill>
                  <a:srgbClr val="E8F6EF"/>
                </a:solidFill>
                <a:latin typeface="Consolas"/>
              </a:rPr>
              <a:t>.</a:t>
            </a:r>
            <a:r>
              <a:rPr sz="1050">
                <a:solidFill>
                  <a:srgbClr val="E8F6EF"/>
                </a:solidFill>
                <a:latin typeface="Consolas"/>
              </a:rPr>
              <a:t>iloc</a:t>
            </a:r>
            <a:r>
              <a:rPr sz="1050">
                <a:solidFill>
                  <a:srgbClr val="E8F6EF"/>
                </a:solidFill>
                <a:latin typeface="Consolas"/>
              </a:rPr>
              <a:t>[</a:t>
            </a:r>
            <a:r>
              <a:rPr sz="1050">
                <a:solidFill>
                  <a:srgbClr val="E8F6EF"/>
                </a:solidFill>
                <a:latin typeface="Consolas"/>
              </a:rPr>
              <a:t>te</a:t>
            </a:r>
            <a:r>
              <a:rPr sz="1050">
                <a:solidFill>
                  <a:srgbClr val="E8F6EF"/>
                </a:solidFill>
                <a:latin typeface="Consolas"/>
              </a:rPr>
              <a:t>]</a:t>
            </a:r>
            <a:r>
              <a:rPr sz="1050">
                <a:solidFill>
                  <a:srgbClr val="E8F6EF"/>
                </a:solidFill>
                <a:latin typeface="Consolas"/>
              </a:rPr>
              <a:t>,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pred</a:t>
            </a:r>
            <a:r>
              <a:rPr sz="1050">
                <a:solidFill>
                  <a:srgbClr val="E8F6EF"/>
                </a:solidFill>
                <a:latin typeface="Consolas"/>
              </a:rPr>
              <a:t>)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*</a:t>
            </a:r>
            <a:r>
              <a:rPr sz="1050">
                <a:solidFill>
                  <a:srgbClr val="E8F6EF"/>
                </a:solidFill>
                <a:latin typeface="Consolas"/>
              </a:rPr>
              <a:t>*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F2D45F"/>
                </a:solidFill>
                <a:latin typeface="Consolas"/>
              </a:rPr>
              <a:t>0.5</a:t>
            </a:r>
            <a:r>
              <a:rPr sz="10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5000"/>
              </a:lnSpc>
            </a:pP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7BD389"/>
                </a:solidFill>
                <a:latin typeface="Consolas"/>
              </a:rPr>
              <a:t>return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np</a:t>
            </a:r>
            <a:r>
              <a:rPr sz="1050">
                <a:solidFill>
                  <a:srgbClr val="E8F6EF"/>
                </a:solidFill>
                <a:latin typeface="Consolas"/>
              </a:rPr>
              <a:t>.</a:t>
            </a:r>
            <a:r>
              <a:rPr sz="1050">
                <a:solidFill>
                  <a:srgbClr val="E8F6EF"/>
                </a:solidFill>
                <a:latin typeface="Consolas"/>
              </a:rPr>
              <a:t>mean</a:t>
            </a:r>
            <a:r>
              <a:rPr sz="1050">
                <a:solidFill>
                  <a:srgbClr val="E8F6EF"/>
                </a:solidFill>
                <a:latin typeface="Consolas"/>
              </a:rPr>
              <a:t>(</a:t>
            </a:r>
            <a:r>
              <a:rPr sz="1050">
                <a:solidFill>
                  <a:srgbClr val="E8F6EF"/>
                </a:solidFill>
                <a:latin typeface="Consolas"/>
              </a:rPr>
              <a:t>scores</a:t>
            </a:r>
            <a:r>
              <a:rPr sz="1050">
                <a:solidFill>
                  <a:srgbClr val="E8F6EF"/>
                </a:solidFill>
                <a:latin typeface="Consolas"/>
              </a:rPr>
              <a:t>)</a:t>
            </a:r>
            <a:r>
              <a:rPr sz="1050">
                <a:solidFill>
                  <a:srgbClr val="E8F6EF"/>
                </a:solidFill>
                <a:latin typeface="Consolas"/>
              </a:rPr>
              <a:t>,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np</a:t>
            </a:r>
            <a:r>
              <a:rPr sz="1050">
                <a:solidFill>
                  <a:srgbClr val="E8F6EF"/>
                </a:solidFill>
                <a:latin typeface="Consolas"/>
              </a:rPr>
              <a:t>.</a:t>
            </a:r>
            <a:r>
              <a:rPr sz="1050">
                <a:solidFill>
                  <a:srgbClr val="E8F6EF"/>
                </a:solidFill>
                <a:latin typeface="Consolas"/>
              </a:rPr>
              <a:t>std</a:t>
            </a:r>
            <a:r>
              <a:rPr sz="1050">
                <a:solidFill>
                  <a:srgbClr val="E8F6EF"/>
                </a:solidFill>
                <a:latin typeface="Consolas"/>
              </a:rPr>
              <a:t>(</a:t>
            </a:r>
            <a:r>
              <a:rPr sz="1050">
                <a:solidFill>
                  <a:srgbClr val="E8F6EF"/>
                </a:solidFill>
                <a:latin typeface="Consolas"/>
              </a:rPr>
              <a:t>scores</a:t>
            </a:r>
            <a:r>
              <a:rPr sz="10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5000"/>
              </a:lnSpc>
            </a:pPr>
            <a:r>
              <a:rPr sz="1050"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050">
                <a:solidFill>
                  <a:srgbClr val="E8F6EF"/>
                </a:solidFill>
                <a:latin typeface="Consolas"/>
              </a:rPr>
              <a:t>default_model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=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RandomForestRegressor</a:t>
            </a:r>
            <a:r>
              <a:rPr sz="1050">
                <a:solidFill>
                  <a:srgbClr val="E8F6EF"/>
                </a:solidFill>
                <a:latin typeface="Consolas"/>
              </a:rPr>
              <a:t>(</a:t>
            </a:r>
            <a:r>
              <a:rPr sz="1050">
                <a:solidFill>
                  <a:srgbClr val="E8F6EF"/>
                </a:solidFill>
                <a:latin typeface="Consolas"/>
              </a:rPr>
              <a:t>random_state</a:t>
            </a:r>
            <a:r>
              <a:rPr sz="1050">
                <a:solidFill>
                  <a:srgbClr val="E8F6EF"/>
                </a:solidFill>
                <a:latin typeface="Consolas"/>
              </a:rPr>
              <a:t>=</a:t>
            </a:r>
            <a:r>
              <a:rPr sz="1050">
                <a:solidFill>
                  <a:srgbClr val="F2D45F"/>
                </a:solidFill>
                <a:latin typeface="Consolas"/>
              </a:rPr>
              <a:t>100</a:t>
            </a:r>
            <a:r>
              <a:rPr sz="10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5000"/>
              </a:lnSpc>
            </a:pPr>
            <a:r>
              <a:rPr sz="1050">
                <a:solidFill>
                  <a:srgbClr val="E8F6EF"/>
                </a:solidFill>
                <a:latin typeface="Consolas"/>
              </a:rPr>
              <a:t>tuned_model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=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RandomForestRegressor</a:t>
            </a:r>
            <a:r>
              <a:rPr sz="1050">
                <a:solidFill>
                  <a:srgbClr val="E8F6EF"/>
                </a:solidFill>
                <a:latin typeface="Consolas"/>
              </a:rPr>
              <a:t>(</a:t>
            </a:r>
          </a:p>
          <a:p>
            <a:pPr>
              <a:lnSpc>
                <a:spcPct val="115000"/>
              </a:lnSpc>
            </a:pP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9AA7A0"/>
                </a:solidFill>
                <a:latin typeface="Consolas"/>
              </a:rPr>
              <a:t># TODO: 只改 n_estimators 或 min_samples_leaf 中的一个</a:t>
            </a:r>
          </a:p>
          <a:p>
            <a:pPr>
              <a:lnSpc>
                <a:spcPct val="115000"/>
              </a:lnSpc>
            </a:pP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random_state</a:t>
            </a:r>
            <a:r>
              <a:rPr sz="1050">
                <a:solidFill>
                  <a:srgbClr val="E8F6EF"/>
                </a:solidFill>
                <a:latin typeface="Consolas"/>
              </a:rPr>
              <a:t>=</a:t>
            </a:r>
            <a:r>
              <a:rPr sz="1050">
                <a:solidFill>
                  <a:srgbClr val="F2D45F"/>
                </a:solidFill>
                <a:latin typeface="Consolas"/>
              </a:rPr>
              <a:t>100</a:t>
            </a:r>
            <a:r>
              <a:rPr sz="10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5000"/>
              </a:lnSpc>
            </a:pPr>
            <a:r>
              <a:rPr sz="1050">
                <a:solidFill>
                  <a:srgbClr val="8FB8E0"/>
                </a:solidFill>
                <a:latin typeface="Consolas"/>
              </a:rPr>
              <a:t>print</a:t>
            </a:r>
            <a:r>
              <a:rPr sz="1050">
                <a:solidFill>
                  <a:srgbClr val="E8F6EF"/>
                </a:solidFill>
                <a:latin typeface="Consolas"/>
              </a:rPr>
              <a:t>(</a:t>
            </a:r>
            <a:r>
              <a:rPr sz="1050">
                <a:solidFill>
                  <a:srgbClr val="E8F6EF"/>
                </a:solidFill>
                <a:latin typeface="Consolas"/>
              </a:rPr>
              <a:t>cv_rmse</a:t>
            </a:r>
            <a:r>
              <a:rPr sz="1050">
                <a:solidFill>
                  <a:srgbClr val="E8F6EF"/>
                </a:solidFill>
                <a:latin typeface="Consolas"/>
              </a:rPr>
              <a:t>(</a:t>
            </a:r>
            <a:r>
              <a:rPr sz="1050">
                <a:solidFill>
                  <a:srgbClr val="E8F6EF"/>
                </a:solidFill>
                <a:latin typeface="Consolas"/>
              </a:rPr>
              <a:t>default_model</a:t>
            </a:r>
            <a:r>
              <a:rPr sz="1050">
                <a:solidFill>
                  <a:srgbClr val="E8F6EF"/>
                </a:solidFill>
                <a:latin typeface="Consolas"/>
              </a:rPr>
              <a:t>,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X</a:t>
            </a:r>
            <a:r>
              <a:rPr sz="1050">
                <a:solidFill>
                  <a:srgbClr val="E8F6EF"/>
                </a:solidFill>
                <a:latin typeface="Consolas"/>
              </a:rPr>
              <a:t>,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y</a:t>
            </a:r>
            <a:r>
              <a:rPr sz="1050">
                <a:solidFill>
                  <a:srgbClr val="E8F6EF"/>
                </a:solidFill>
                <a:latin typeface="Consolas"/>
              </a:rPr>
              <a:t>)</a:t>
            </a:r>
            <a:r>
              <a:rPr sz="10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5000"/>
              </a:lnSpc>
            </a:pPr>
            <a:r>
              <a:rPr sz="1050">
                <a:solidFill>
                  <a:srgbClr val="8FB8E0"/>
                </a:solidFill>
                <a:latin typeface="Consolas"/>
              </a:rPr>
              <a:t>print</a:t>
            </a:r>
            <a:r>
              <a:rPr sz="1050">
                <a:solidFill>
                  <a:srgbClr val="E8F6EF"/>
                </a:solidFill>
                <a:latin typeface="Consolas"/>
              </a:rPr>
              <a:t>(</a:t>
            </a:r>
            <a:r>
              <a:rPr sz="1050">
                <a:solidFill>
                  <a:srgbClr val="E8F6EF"/>
                </a:solidFill>
                <a:latin typeface="Consolas"/>
              </a:rPr>
              <a:t>cv_rmse</a:t>
            </a:r>
            <a:r>
              <a:rPr sz="1050">
                <a:solidFill>
                  <a:srgbClr val="E8F6EF"/>
                </a:solidFill>
                <a:latin typeface="Consolas"/>
              </a:rPr>
              <a:t>(</a:t>
            </a:r>
            <a:r>
              <a:rPr sz="1050">
                <a:solidFill>
                  <a:srgbClr val="E8F6EF"/>
                </a:solidFill>
                <a:latin typeface="Consolas"/>
              </a:rPr>
              <a:t>tuned_model</a:t>
            </a:r>
            <a:r>
              <a:rPr sz="1050">
                <a:solidFill>
                  <a:srgbClr val="E8F6EF"/>
                </a:solidFill>
                <a:latin typeface="Consolas"/>
              </a:rPr>
              <a:t>,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X</a:t>
            </a:r>
            <a:r>
              <a:rPr sz="1050">
                <a:solidFill>
                  <a:srgbClr val="E8F6EF"/>
                </a:solidFill>
                <a:latin typeface="Consolas"/>
              </a:rPr>
              <a:t>,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y</a:t>
            </a:r>
            <a:r>
              <a:rPr sz="1050">
                <a:solidFill>
                  <a:srgbClr val="E8F6EF"/>
                </a:solidFill>
                <a:latin typeface="Consolas"/>
              </a:rPr>
              <a:t>)</a:t>
            </a:r>
            <a:r>
              <a:rPr sz="1050">
                <a:solidFill>
                  <a:srgbClr val="E8F6EF"/>
                </a:solidFill>
                <a:latin typeface="Consolas"/>
              </a:rPr>
              <a:t>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2011680"/>
            <a:ext cx="384048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63840" y="2011680"/>
            <a:ext cx="91440" cy="1554480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19872" y="2176272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524A"/>
                </a:solidFill>
                <a:latin typeface="微软雅黑"/>
              </a:rPr>
              <a:t>🎯  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9872" y="2670048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只改「一个参数」对比。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不要同时改多个!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→ 让效果归因更清晰。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0" y="3657600"/>
            <a:ext cx="384048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63840" y="3657600"/>
            <a:ext cx="91440" cy="13716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19872" y="3822192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524A"/>
                </a:solidFill>
                <a:latin typeface="微软雅黑"/>
              </a:rPr>
              <a:t>📤  提交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4315968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• 基础/调优 (RMSE 均值 ± std)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• 训练时长变化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• 「选哪个模型, 为什么」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63840" y="5120640"/>
            <a:ext cx="384048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863840" y="5120640"/>
            <a:ext cx="91440" cy="1143000"/>
          </a:xfrm>
          <a:prstGeom prst="rect">
            <a:avLst/>
          </a:prstGeom>
          <a:solidFill>
            <a:srgbClr val="3B6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19872" y="5285232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524A"/>
                </a:solidFill>
                <a:latin typeface="微软雅黑"/>
              </a:rPr>
              <a:t>🏆  奖励项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19872" y="5779008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「std 更低 + 训练更快」的组合可加分,而不只是 RMSE 更低。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机器学习 · 第 9 章  随机森林 — 二手车价格预测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56 / 66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微软雅黑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微软雅黑"/>
              </a:rPr>
              <a:t>随机森林 — 二手车价格预测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微软雅黑"/>
              </a:rPr>
              <a:t>QUIZ   概念测验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微软雅黑"/>
              </a:rPr>
              <a:t>概念测验 1 — 课中检查 (选择题)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微软雅黑"/>
              </a:rPr>
              <a:t>课后留 5~7 分钟与学生一起答题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1115568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2011680"/>
            <a:ext cx="640080" cy="132588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011680"/>
            <a:ext cx="64008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2A44F"/>
                </a:solidFill>
                <a:latin typeface="微软雅黑"/>
              </a:rPr>
              <a:t>Q1.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21031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B2B2A"/>
                </a:solidFill>
                <a:latin typeface="微软雅黑"/>
              </a:rPr>
              <a:t>str.split() 中, 把分离结果展开成各自新列的参数是?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5146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56B68"/>
                </a:solidFill>
                <a:latin typeface="微软雅黑"/>
              </a:rPr>
              <a:t>① columns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5146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56B68"/>
                </a:solidFill>
                <a:latin typeface="微软雅黑"/>
              </a:rPr>
              <a:t>② expand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8803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56B68"/>
                </a:solidFill>
                <a:latin typeface="微软雅黑"/>
              </a:rPr>
              <a:t>③ index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8803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56B68"/>
                </a:solidFill>
                <a:latin typeface="微软雅黑"/>
              </a:rPr>
              <a:t>④ n_splits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429000"/>
            <a:ext cx="1115568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8640" y="3429000"/>
            <a:ext cx="640080" cy="132588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429000"/>
            <a:ext cx="64008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2A44F"/>
                </a:solidFill>
                <a:latin typeface="微软雅黑"/>
              </a:rPr>
              <a:t>Q2.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35204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B2B2A"/>
                </a:solidFill>
                <a:latin typeface="微软雅黑"/>
              </a:rPr>
              <a:t>关于 K 折交叉验证, 错误的是?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9319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56B68"/>
                </a:solidFill>
                <a:latin typeface="微软雅黑"/>
              </a:rPr>
              <a:t>① 用多个 train/test 组合做评估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9319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56B68"/>
                </a:solidFill>
                <a:latin typeface="微软雅黑"/>
              </a:rPr>
              <a:t>② n_splits=10 可造 10 组对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2976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56B68"/>
                </a:solidFill>
                <a:latin typeface="微软雅黑"/>
              </a:rPr>
              <a:t>③ 用 K 折后 RMSE 一定更低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2976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56B68"/>
                </a:solidFill>
                <a:latin typeface="微软雅黑"/>
              </a:rPr>
              <a:t>④ 交叉验证结果更可信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846320"/>
            <a:ext cx="1115568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48640" y="4846320"/>
            <a:ext cx="640080" cy="132588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846320"/>
            <a:ext cx="64008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2A44F"/>
                </a:solidFill>
                <a:latin typeface="微软雅黑"/>
              </a:rPr>
              <a:t>Q3.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49377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B2B2A"/>
                </a:solidFill>
                <a:latin typeface="微软雅黑"/>
              </a:rPr>
              <a:t>关于随机森林, 错误的是?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3492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56B68"/>
                </a:solidFill>
                <a:latin typeface="微软雅黑"/>
              </a:rPr>
              <a:t>① 基于决策树的算法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3492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56B68"/>
                </a:solidFill>
                <a:latin typeface="微软雅黑"/>
              </a:rPr>
              <a:t>② 用多棵树的平均/多数投票产生最终预测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57150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56B68"/>
                </a:solidFill>
                <a:latin typeface="微软雅黑"/>
              </a:rPr>
              <a:t>③ 训练速度比决策树更快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7150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56B68"/>
                </a:solidFill>
                <a:latin typeface="微软雅黑"/>
              </a:rPr>
              <a:t>④ 相比决策树, 模型解读更难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6309360"/>
            <a:ext cx="11155680" cy="41148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64008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2A44F"/>
                </a:solidFill>
                <a:latin typeface="微软雅黑"/>
              </a:rPr>
              <a:t>💬  教师讲解要点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6693408"/>
            <a:ext cx="10789920" cy="-45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答案: Q1=②, Q2=③, Q3=③。让学生举手, 立即讲解。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机器学习 · 第 9 章  随机森林 — 二手车价格预测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57 / 66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微软雅黑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微软雅黑"/>
              </a:rPr>
              <a:t>随机森林 — 二手车价格预测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微软雅黑"/>
              </a:rPr>
              <a:t>QUIZ   概念测验 2 (简答)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微软雅黑"/>
              </a:rPr>
              <a:t>概念测验 2 — 一句话作答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微软雅黑"/>
              </a:rPr>
              <a:t>检验理论与解读深度 (附参考答案)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1115568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2011680"/>
            <a:ext cx="640080" cy="777240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011680"/>
            <a:ext cx="6400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</a:rPr>
              <a:t>Q1.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2084832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4524A"/>
                </a:solidFill>
                <a:latin typeface="微软雅黑"/>
              </a:rPr>
              <a:t>自助采样中一个样本成为 OOB 的概率约为?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39572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1B2B2A"/>
                </a:solidFill>
                <a:latin typeface="微软雅黑"/>
              </a:rPr>
              <a:t>→ ≈ 36.8%。   (1 − 1/n)ⁿ → e⁻¹。 → 每棵树都有「没见过」的样本。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852928"/>
            <a:ext cx="1115568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2852928"/>
            <a:ext cx="640080" cy="777240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852928"/>
            <a:ext cx="6400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</a:rPr>
              <a:t>Q2.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9260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4524A"/>
                </a:solidFill>
                <a:latin typeface="微软雅黑"/>
              </a:rPr>
              <a:t>随机森林为什么在每次分裂只看「一部分」特征?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3236976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1B2B2A"/>
                </a:solidFill>
                <a:latin typeface="微软雅黑"/>
              </a:rPr>
              <a:t>→ 防止强特征让所有树都长得相似, 降低树间相关性 ρ。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694176"/>
            <a:ext cx="1115568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8640" y="3694176"/>
            <a:ext cx="640080" cy="777240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694176"/>
            <a:ext cx="6400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</a:rPr>
              <a:t>Q3.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376732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4524A"/>
                </a:solidFill>
                <a:latin typeface="微软雅黑"/>
              </a:rPr>
              <a:t>回归 RF 的最终预测如何产生?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4078224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1B2B2A"/>
                </a:solidFill>
                <a:latin typeface="微软雅黑"/>
              </a:rPr>
              <a:t>→ 对所有树的预测取平均 (分类用多数投票)。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535424"/>
            <a:ext cx="1115568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48640" y="4535424"/>
            <a:ext cx="640080" cy="777240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535424"/>
            <a:ext cx="6400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</a:rPr>
              <a:t>Q4.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4608576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4524A"/>
                </a:solidFill>
                <a:latin typeface="微软雅黑"/>
              </a:rPr>
              <a:t>train RMSE ≪ test RMSE 时应怀疑什么?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491947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1B2B2A"/>
                </a:solidFill>
                <a:latin typeface="微软雅黑"/>
              </a:rPr>
              <a:t>→ 过拟合。或者 train/test 分布差异。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376672"/>
            <a:ext cx="1115568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48640" y="5376672"/>
            <a:ext cx="640080" cy="777240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376672"/>
            <a:ext cx="6400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</a:rPr>
              <a:t>Q5.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25880" y="5449824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4524A"/>
                </a:solidFill>
                <a:latin typeface="微软雅黑"/>
              </a:rPr>
              <a:t>GridSearchCV 的 RMSE scoring 为何显示为负数?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25880" y="5760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1B2B2A"/>
                </a:solidFill>
                <a:latin typeface="微软雅黑"/>
              </a:rPr>
              <a:t>→ sklearn 约定 scoring 越大越好, 因此损失指标用负数返回。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机器学习 · 第 9 章  随机森林 — 二手车价格预测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58 / 66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微软雅黑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微软雅黑"/>
              </a:rPr>
              <a:t>随机森林 — 二手车价格预测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微软雅黑"/>
              </a:rPr>
              <a:t>ASSIGN   作业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微软雅黑"/>
              </a:rPr>
              <a:t>作业 — 课后 1 周, 迷你报告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微软雅黑"/>
              </a:rPr>
              <a:t>评分重点不在 RMSE 高低, 而在「验证流程的严谨性」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1115568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2011680"/>
            <a:ext cx="685800" cy="77724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011680"/>
            <a:ext cx="685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2A44F"/>
                </a:solidFill>
                <a:latin typeface="微软雅黑"/>
              </a:rPr>
              <a:t>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1031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4524A"/>
                </a:solidFill>
                <a:latin typeface="微软雅黑"/>
              </a:rPr>
              <a:t>改进 1 个预处理函数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2176272"/>
            <a:ext cx="6309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改进 torque 或 max_power 函数, 对比改进前后的「缺失/错误条目」数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862072"/>
            <a:ext cx="1115568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2862072"/>
            <a:ext cx="685800" cy="77724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862072"/>
            <a:ext cx="685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2A44F"/>
                </a:solidFill>
                <a:latin typeface="微软雅黑"/>
              </a:rPr>
              <a:t>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295351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4524A"/>
                </a:solidFill>
                <a:latin typeface="微软雅黑"/>
              </a:rPr>
              <a:t>5 折 CV 对比 3 个模型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026664"/>
            <a:ext cx="6309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基础 RF · 调优 RF · 单棵 DecisionTreeRegressor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712464"/>
            <a:ext cx="1115568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8640" y="3712464"/>
            <a:ext cx="685800" cy="77724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712464"/>
            <a:ext cx="685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2A44F"/>
                </a:solidFill>
                <a:latin typeface="微软雅黑"/>
              </a:rPr>
              <a:t>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803904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4524A"/>
                </a:solidFill>
                <a:latin typeface="微软雅黑"/>
              </a:rPr>
              <a:t>Top-15 特征重要性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3877056"/>
            <a:ext cx="6309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用 MDI 和 Permutation Importance 各计算一次, 对比上位 15 名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562856"/>
            <a:ext cx="1115568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48640" y="4562856"/>
            <a:ext cx="685800" cy="77724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562856"/>
            <a:ext cx="685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2A44F"/>
                </a:solidFill>
                <a:latin typeface="微软雅黑"/>
              </a:rPr>
              <a:t>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4654296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4524A"/>
                </a:solidFill>
                <a:latin typeface="微软雅黑"/>
              </a:rPr>
              <a:t>模型的 3 个局限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80" y="4727448"/>
            <a:ext cx="6309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从数据/模型/评估三角度各写一条 (每条 50 字以内)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413248"/>
            <a:ext cx="1115568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48640" y="5413248"/>
            <a:ext cx="685800" cy="77724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413248"/>
            <a:ext cx="685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2A44F"/>
                </a:solidFill>
                <a:latin typeface="微软雅黑"/>
              </a:rPr>
              <a:t>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550468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4524A"/>
                </a:solidFill>
                <a:latin typeface="微软雅黑"/>
              </a:rPr>
              <a:t>1 页分析总结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12080" y="5577840"/>
            <a:ext cx="6309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代码 (Jupyter) + 含表与图的 1 页 PDF 总结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6355080"/>
            <a:ext cx="11155680" cy="41148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644652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2A44F"/>
                </a:solidFill>
                <a:latin typeface="微软雅黑"/>
              </a:rPr>
              <a:t>💬  教师讲解要点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6739128"/>
            <a:ext cx="10789920" cy="-45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提交形式: GitHub 或 LMS — 代码用 .ipynb, 总结用 1 页 PDF。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机器学习 · 第 9 章  随机森林 — 二手车价格预测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59 / 66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微软雅黑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微软雅黑"/>
              </a:rPr>
              <a:t>随机森林 — 二手车价格预测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微软雅黑"/>
              </a:rPr>
              <a:t>RUBRIC   评分量表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微软雅黑"/>
              </a:rPr>
              <a:t>评分量表 — 满分 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微软雅黑"/>
              </a:rPr>
              <a:t>把权重放在「过程」而非「分数」上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011680"/>
            <a:ext cx="1463040" cy="548640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01168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微软雅黑"/>
              </a:rPr>
              <a:t>项目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0" y="2011680"/>
            <a:ext cx="914400" cy="548640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11680" y="201168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微软雅黑"/>
              </a:rPr>
              <a:t>分值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0" y="2011680"/>
            <a:ext cx="4572000" cy="548640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0" y="201168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微软雅黑"/>
              </a:rPr>
              <a:t>优秀 (Excellent)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0" y="2011680"/>
            <a:ext cx="4206240" cy="548640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0" y="2011680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微软雅黑"/>
              </a:rPr>
              <a:t>合格 (Adequate)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560320"/>
            <a:ext cx="14630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560320"/>
            <a:ext cx="12801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预处理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11680" y="2560320"/>
            <a:ext cx="9144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0" y="256032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30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80" y="2560320"/>
            <a:ext cx="4572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17520" y="2560320"/>
            <a:ext cx="4389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单位换算·缺失·dtype 验证全部可复现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80" y="2560320"/>
            <a:ext cx="42062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0" y="2560320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主要转换有, 验证有疏漏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108960"/>
            <a:ext cx="1463040" cy="54864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108960"/>
            <a:ext cx="12801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建模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11680" y="3108960"/>
            <a:ext cx="914400" cy="54864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03120" y="310896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25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26080" y="3108960"/>
            <a:ext cx="4572000" cy="54864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17520" y="3108960"/>
            <a:ext cx="4389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基础·调优·对比三个模型用同一方法评估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80" y="3108960"/>
            <a:ext cx="4206240" cy="54864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89520" y="3108960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只有基础/调优, 缺少对比模型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657600"/>
            <a:ext cx="14630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3657600"/>
            <a:ext cx="12801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验证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11680" y="3657600"/>
            <a:ext cx="9144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0" y="365760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20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26080" y="3657600"/>
            <a:ext cx="4572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17520" y="3657600"/>
            <a:ext cx="4389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用 CV 均值 + 波动一起解读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8080" y="3657600"/>
            <a:ext cx="42062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89520" y="3657600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只看均值, 缺少 std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4206240"/>
            <a:ext cx="1463040" cy="54864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4206240"/>
            <a:ext cx="12801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解读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011680" y="4206240"/>
            <a:ext cx="914400" cy="54864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103120" y="420624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15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26080" y="4206240"/>
            <a:ext cx="4572000" cy="54864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17520" y="4206240"/>
            <a:ext cx="4389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MDI vs Permutation 对比, 提及偏差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98080" y="4206240"/>
            <a:ext cx="4206240" cy="54864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89520" y="4206240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只用一种, 未提偏差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4754880"/>
            <a:ext cx="14630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4754880"/>
            <a:ext cx="12801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汇报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011680" y="4754880"/>
            <a:ext cx="9144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103120" y="475488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10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926080" y="4754880"/>
            <a:ext cx="4572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017520" y="4754880"/>
            <a:ext cx="4389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代码·表·结论一致且可复现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498080" y="4754880"/>
            <a:ext cx="42062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89520" y="4754880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结论有但与代码不一致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48640" y="5852160"/>
            <a:ext cx="11155680" cy="77724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1520" y="59436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2A44F"/>
                </a:solidFill>
                <a:latin typeface="微软雅黑"/>
              </a:rPr>
              <a:t>💬  教师讲解要点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520" y="6236208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提前公开「优秀」与「合格」的区别, 学生就知道该往什么方向努力。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刻意强调「最高分≠最低 RMSE, 而是流程可复现」。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机器学习 · 第 9 章  随机森林 — 二手车价格预测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60 / 66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微软雅黑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微软雅黑"/>
              </a:rPr>
              <a:t>随机森林 — 二手车价格预测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微软雅黑"/>
              </a:rPr>
              <a:t>WRAP-UP   一页总结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微软雅黑"/>
              </a:rPr>
              <a:t>随机森林 — 一页总结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微软雅黑"/>
              </a:rPr>
              <a:t>课程结束前学生需带走的核心要点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1115568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2011680"/>
            <a:ext cx="777240" cy="777240"/>
          </a:xfrm>
          <a:prstGeom prst="round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011680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0">
                <a:solidFill>
                  <a:srgbClr val="FFFFFF"/>
                </a:solidFill>
                <a:latin typeface="微软雅黑"/>
              </a:rPr>
              <a:t>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10312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6F5A"/>
                </a:solidFill>
                <a:latin typeface="微软雅黑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057400"/>
            <a:ext cx="76809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决策树 + 装袋 + 随机特征选择。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回归取平均  ·  分类多数投票。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862072"/>
            <a:ext cx="1115568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2862072"/>
            <a:ext cx="777240" cy="777240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862072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0">
                <a:solidFill>
                  <a:srgbClr val="FFFFFF"/>
                </a:solidFill>
                <a:latin typeface="微软雅黑"/>
              </a:rPr>
              <a:t>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295351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FA68A"/>
                </a:solidFill>
                <a:latin typeface="微软雅黑"/>
              </a:rPr>
              <a:t>多样性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2907792"/>
            <a:ext cx="76809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行 → 自助采样,  列 → max_features。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核心是「降低树间相关性 ρ」。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712464"/>
            <a:ext cx="1115568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8640" y="3712464"/>
            <a:ext cx="777240" cy="777240"/>
          </a:xfrm>
          <a:prstGeom prst="roundRect">
            <a:avLst/>
          </a:prstGeom>
          <a:solidFill>
            <a:srgbClr val="3B6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712464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0">
                <a:solidFill>
                  <a:srgbClr val="FFFFFF"/>
                </a:solidFill>
                <a:latin typeface="微软雅黑"/>
              </a:rPr>
              <a:t>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3803904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B6FB6"/>
                </a:solidFill>
                <a:latin typeface="微软雅黑"/>
              </a:rPr>
              <a:t>评估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3758184"/>
            <a:ext cx="76809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不只看一个 RMSE, 还要看 train/test gap、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K 折波动 (std)、OOB。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562856"/>
            <a:ext cx="1115568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48640" y="4562856"/>
            <a:ext cx="777240" cy="777240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562856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0">
                <a:solidFill>
                  <a:srgbClr val="FFFFFF"/>
                </a:solidFill>
                <a:latin typeface="微软雅黑"/>
              </a:rPr>
              <a:t>⚙️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4654296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2A44F"/>
                </a:solidFill>
                <a:latin typeface="微软雅黑"/>
              </a:rPr>
              <a:t>调优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4608576"/>
            <a:ext cx="76809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了解 n_estimators · max_depth · 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min_samples_leaf · max_features 的含义。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413248"/>
            <a:ext cx="1115568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48640" y="5413248"/>
            <a:ext cx="777240" cy="777240"/>
          </a:xfrm>
          <a:prstGeom prst="roundRect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413248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0">
                <a:solidFill>
                  <a:srgbClr val="FFFFFF"/>
                </a:solidFill>
                <a:latin typeface="微软雅黑"/>
              </a:rPr>
              <a:t>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63040" y="5504688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D47A2C"/>
                </a:solidFill>
                <a:latin typeface="微软雅黑"/>
              </a:rPr>
              <a:t>解读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0" y="5458968"/>
            <a:ext cx="76809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feature_importances_ 只是「贡献提示」,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B2B2A"/>
                </a:solidFill>
                <a:latin typeface="微软雅黑"/>
              </a:rPr>
              <a:t>不可作为因果结论使用。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6355080"/>
            <a:ext cx="11155680" cy="41148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644652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2A44F"/>
                </a:solidFill>
                <a:latin typeface="微软雅黑"/>
              </a:rPr>
              <a:t>💬  教师讲解要点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6739128"/>
            <a:ext cx="10789920" cy="-45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最后请一位学生说出「RF 作为 baseline 的优点 + 需注意的点」各一条。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机器学习 · 第 9 章  随机森林 — 二手车价格预测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61 / 66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微软雅黑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微软雅黑"/>
              </a:rPr>
              <a:t>随机森林 — 二手车价格预测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微软雅黑"/>
              </a:rPr>
              <a:t>REF   参考文献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微软雅黑"/>
              </a:rPr>
              <a:t>参考文献 — 推荐阅读顺序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微软雅黑"/>
              </a:rPr>
              <a:t>课后想深入的学生可按此顺序阅读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1115568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011680"/>
            <a:ext cx="137160" cy="6858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08483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6F5A"/>
                </a:solidFill>
                <a:latin typeface="微软雅黑"/>
              </a:rPr>
              <a:t>①  Breiman, L. (2001)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359152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4524A"/>
                </a:solidFill>
                <a:latin typeface="微软雅黑"/>
              </a:rPr>
              <a:t>'Random Forests', Machine Learning, 45, 5-32.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0848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→ 随机森林的原始论文。算法与 OOB 的出处。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761488"/>
            <a:ext cx="1115568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2761488"/>
            <a:ext cx="137160" cy="685800"/>
          </a:xfrm>
          <a:prstGeom prst="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28346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3FA68A"/>
                </a:solidFill>
                <a:latin typeface="微软雅黑"/>
              </a:rPr>
              <a:t>②  Liaw, A. &amp; Wiener, M. (2002)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10896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4524A"/>
                </a:solidFill>
                <a:latin typeface="微软雅黑"/>
              </a:rPr>
              <a:t>'Classification and Regression by randomForest', R News.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2834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→ 从 R 包视角的清晰解读。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511296"/>
            <a:ext cx="1115568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511296"/>
            <a:ext cx="137160" cy="685800"/>
          </a:xfrm>
          <a:prstGeom prst="rect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58444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D47A2C"/>
                </a:solidFill>
                <a:latin typeface="微软雅黑"/>
              </a:rPr>
              <a:t>③  Strobl et al. (2007)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85876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4524A"/>
                </a:solidFill>
                <a:latin typeface="微软雅黑"/>
              </a:rPr>
              <a:t>'Bias in random forest variable importance', BMC Bioinformatics.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35844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→ MDI 偏差 — 想严肃使用重要性必读。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261104"/>
            <a:ext cx="1115568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261104"/>
            <a:ext cx="137160" cy="685800"/>
          </a:xfrm>
          <a:prstGeom prst="rect">
            <a:avLst/>
          </a:prstGeom>
          <a:solidFill>
            <a:srgbClr val="3B6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33425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3B6FB6"/>
                </a:solidFill>
                <a:latin typeface="微软雅黑"/>
              </a:rPr>
              <a:t>④  Mentch &amp; Hooker (2016)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608576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4524A"/>
                </a:solidFill>
                <a:latin typeface="微软雅黑"/>
              </a:rPr>
              <a:t>'Quantifying Uncertainty in Random Forests', JMLR.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43342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→ 把 RF 扩展为统计推断工具。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010912"/>
            <a:ext cx="1115568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5010912"/>
            <a:ext cx="137160" cy="685800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508406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2A44F"/>
                </a:solidFill>
                <a:latin typeface="微软雅黑"/>
              </a:rPr>
              <a:t>⑤  Probst, P. et al. (2019)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5358384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4524A"/>
                </a:solidFill>
                <a:latin typeface="微软雅黑"/>
              </a:rPr>
              <a:t>'Hyperparameters and tuning strategies for RF', WIREs DMKD.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06240" y="508406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→ 调优指南, 经验上的优先级建议。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760720"/>
            <a:ext cx="1115568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" y="5760720"/>
            <a:ext cx="137160" cy="685800"/>
          </a:xfrm>
          <a:prstGeom prst="rect">
            <a:avLst/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583387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7B5EA7"/>
                </a:solidFill>
                <a:latin typeface="微软雅黑"/>
              </a:rPr>
              <a:t>⑥  scikit-learn User Guide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6108192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4524A"/>
                </a:solidFill>
                <a:latin typeface="微软雅黑"/>
              </a:rPr>
              <a:t>'ensemble.RandomForestRegressor' / 'inspection' 章节。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06240" y="58338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→ API 与 PDP·permutation 的代码示例。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机器学习 · 第 9 章  随机森林 — 二手车价格预测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62 / 66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微软雅黑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微软雅黑"/>
              </a:rPr>
              <a:t>随机森林 — 二手车价格预测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微软雅黑"/>
              </a:rPr>
              <a:t>APPENDIX   代码骨架 1: 预处理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微软雅黑"/>
              </a:rPr>
              <a:t>附录 ① — preprocess_car() 函数化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微软雅黑"/>
              </a:rPr>
              <a:t>下发给学生的「简化 skeleton」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11155680" cy="4297680"/>
          </a:xfrm>
          <a:prstGeom prst="roundRect">
            <a:avLst/>
          </a:prstGeom>
          <a:solidFill>
            <a:srgbClr val="0E1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" y="2157984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7824" y="2157984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42416" y="2157984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2121408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9AA7A0"/>
                </a:solidFill>
                <a:latin typeface="Consolas"/>
              </a:rPr>
              <a:t>ml9_preprocess.py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377440"/>
            <a:ext cx="1078992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850">
                <a:solidFill>
                  <a:srgbClr val="7BD389"/>
                </a:solidFill>
                <a:latin typeface="Consolas"/>
              </a:rPr>
              <a:t>import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pandas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7BD389"/>
                </a:solidFill>
                <a:latin typeface="Consolas"/>
              </a:rPr>
              <a:t>as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pd</a:t>
            </a:r>
          </a:p>
          <a:p>
            <a:pPr>
              <a:lnSpc>
                <a:spcPct val="100000"/>
              </a:lnSpc>
            </a:pPr>
            <a:r>
              <a:rPr sz="850">
                <a:solidFill>
                  <a:srgbClr val="7BD389"/>
                </a:solidFill>
                <a:latin typeface="Consolas"/>
              </a:rPr>
              <a:t>import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numpy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7BD389"/>
                </a:solidFill>
                <a:latin typeface="Consolas"/>
              </a:rPr>
              <a:t>as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np</a:t>
            </a:r>
          </a:p>
          <a:p>
            <a:pPr>
              <a:lnSpc>
                <a:spcPct val="100000"/>
              </a:lnSpc>
            </a:pPr>
            <a:r>
              <a:rPr sz="850"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850">
                <a:solidFill>
                  <a:srgbClr val="7BD389"/>
                </a:solidFill>
                <a:latin typeface="Consolas"/>
              </a:rPr>
              <a:t>def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isFloat</a:t>
            </a:r>
            <a:r>
              <a:rPr sz="850">
                <a:solidFill>
                  <a:srgbClr val="E8F6EF"/>
                </a:solidFill>
                <a:latin typeface="Consolas"/>
              </a:rPr>
              <a:t>(</a:t>
            </a:r>
            <a:r>
              <a:rPr sz="850">
                <a:solidFill>
                  <a:srgbClr val="E8F6EF"/>
                </a:solidFill>
                <a:latin typeface="Consolas"/>
              </a:rPr>
              <a:t>v</a:t>
            </a:r>
            <a:r>
              <a:rPr sz="850">
                <a:solidFill>
                  <a:srgbClr val="E8F6EF"/>
                </a:solidFill>
                <a:latin typeface="Consolas"/>
              </a:rPr>
              <a:t>)</a:t>
            </a:r>
            <a:r>
              <a:rPr sz="850">
                <a:solidFill>
                  <a:srgbClr val="E8F6E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</a:pP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7BD389"/>
                </a:solidFill>
                <a:latin typeface="Consolas"/>
              </a:rPr>
              <a:t>try</a:t>
            </a:r>
            <a:r>
              <a:rPr sz="850">
                <a:solidFill>
                  <a:srgbClr val="E8F6EF"/>
                </a:solidFill>
                <a:latin typeface="Consolas"/>
              </a:rPr>
              <a:t>: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7BD389"/>
                </a:solidFill>
                <a:latin typeface="Consolas"/>
              </a:rPr>
              <a:t>return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8FB8E0"/>
                </a:solidFill>
                <a:latin typeface="Consolas"/>
              </a:rPr>
              <a:t>float</a:t>
            </a:r>
            <a:r>
              <a:rPr sz="850">
                <a:solidFill>
                  <a:srgbClr val="E8F6EF"/>
                </a:solidFill>
                <a:latin typeface="Consolas"/>
              </a:rPr>
              <a:t>(</a:t>
            </a:r>
            <a:r>
              <a:rPr sz="850">
                <a:solidFill>
                  <a:srgbClr val="E8F6EF"/>
                </a:solidFill>
                <a:latin typeface="Consolas"/>
              </a:rPr>
              <a:t>v</a:t>
            </a:r>
            <a:r>
              <a:rPr sz="8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7BD389"/>
                </a:solidFill>
                <a:latin typeface="Consolas"/>
              </a:rPr>
              <a:t>except</a:t>
            </a:r>
            <a:r>
              <a:rPr sz="850">
                <a:solidFill>
                  <a:srgbClr val="E8F6EF"/>
                </a:solidFill>
                <a:latin typeface="Consolas"/>
              </a:rPr>
              <a:t>: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7BD389"/>
                </a:solidFill>
                <a:latin typeface="Consolas"/>
              </a:rPr>
              <a:t>return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np</a:t>
            </a:r>
            <a:r>
              <a:rPr sz="850">
                <a:solidFill>
                  <a:srgbClr val="E8F6EF"/>
                </a:solidFill>
                <a:latin typeface="Consolas"/>
              </a:rPr>
              <a:t>.</a:t>
            </a:r>
            <a:r>
              <a:rPr sz="850">
                <a:solidFill>
                  <a:srgbClr val="E8F6EF"/>
                </a:solidFill>
                <a:latin typeface="Consolas"/>
              </a:rPr>
              <a:t>NaN</a:t>
            </a:r>
          </a:p>
          <a:p>
            <a:pPr>
              <a:lnSpc>
                <a:spcPct val="100000"/>
              </a:lnSpc>
            </a:pPr>
            <a:r>
              <a:rPr sz="850"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850">
                <a:solidFill>
                  <a:srgbClr val="7BD389"/>
                </a:solidFill>
                <a:latin typeface="Consolas"/>
              </a:rPr>
              <a:t>def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split_num</a:t>
            </a:r>
            <a:r>
              <a:rPr sz="850">
                <a:solidFill>
                  <a:srgbClr val="E8F6EF"/>
                </a:solidFill>
                <a:latin typeface="Consolas"/>
              </a:rPr>
              <a:t>(</a:t>
            </a:r>
            <a:r>
              <a:rPr sz="850">
                <a:solidFill>
                  <a:srgbClr val="E8F6EF"/>
                </a:solidFill>
                <a:latin typeface="Consolas"/>
              </a:rPr>
              <a:t>x</a:t>
            </a:r>
            <a:r>
              <a:rPr sz="850">
                <a:solidFill>
                  <a:srgbClr val="E8F6EF"/>
                </a:solidFill>
                <a:latin typeface="Consolas"/>
              </a:rPr>
              <a:t>)</a:t>
            </a:r>
            <a:r>
              <a:rPr sz="850">
                <a:solidFill>
                  <a:srgbClr val="E8F6E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</a:pP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x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=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8FB8E0"/>
                </a:solidFill>
                <a:latin typeface="Consolas"/>
              </a:rPr>
              <a:t>str</a:t>
            </a:r>
            <a:r>
              <a:rPr sz="850">
                <a:solidFill>
                  <a:srgbClr val="E8F6EF"/>
                </a:solidFill>
                <a:latin typeface="Consolas"/>
              </a:rPr>
              <a:t>(</a:t>
            </a:r>
            <a:r>
              <a:rPr sz="850">
                <a:solidFill>
                  <a:srgbClr val="E8F6EF"/>
                </a:solidFill>
                <a:latin typeface="Consolas"/>
              </a:rPr>
              <a:t>x</a:t>
            </a:r>
            <a:r>
              <a:rPr sz="8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7BD389"/>
                </a:solidFill>
                <a:latin typeface="Consolas"/>
              </a:rPr>
              <a:t>for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i</a:t>
            </a:r>
            <a:r>
              <a:rPr sz="850">
                <a:solidFill>
                  <a:srgbClr val="E8F6EF"/>
                </a:solidFill>
                <a:latin typeface="Consolas"/>
              </a:rPr>
              <a:t>,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ch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7BD389"/>
                </a:solidFill>
                <a:latin typeface="Consolas"/>
              </a:rPr>
              <a:t>in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8FB8E0"/>
                </a:solidFill>
                <a:latin typeface="Consolas"/>
              </a:rPr>
              <a:t>enumerate</a:t>
            </a:r>
            <a:r>
              <a:rPr sz="850">
                <a:solidFill>
                  <a:srgbClr val="E8F6EF"/>
                </a:solidFill>
                <a:latin typeface="Consolas"/>
              </a:rPr>
              <a:t>(</a:t>
            </a:r>
            <a:r>
              <a:rPr sz="850">
                <a:solidFill>
                  <a:srgbClr val="E8F6EF"/>
                </a:solidFill>
                <a:latin typeface="Consolas"/>
              </a:rPr>
              <a:t>x</a:t>
            </a:r>
            <a:r>
              <a:rPr sz="850">
                <a:solidFill>
                  <a:srgbClr val="E8F6EF"/>
                </a:solidFill>
                <a:latin typeface="Consolas"/>
              </a:rPr>
              <a:t>)</a:t>
            </a:r>
            <a:r>
              <a:rPr sz="850">
                <a:solidFill>
                  <a:srgbClr val="E8F6E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</a:pP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7BD389"/>
                </a:solidFill>
                <a:latin typeface="Consolas"/>
              </a:rPr>
              <a:t>if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ch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7BD389"/>
                </a:solidFill>
                <a:latin typeface="Consolas"/>
              </a:rPr>
              <a:t>not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7BD389"/>
                </a:solidFill>
                <a:latin typeface="Consolas"/>
              </a:rPr>
              <a:t>in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F6B26B"/>
                </a:solidFill>
                <a:latin typeface="Consolas"/>
              </a:rPr>
              <a:t>'0123456789.'</a:t>
            </a:r>
            <a:r>
              <a:rPr sz="850">
                <a:solidFill>
                  <a:srgbClr val="E8F6EF"/>
                </a:solidFill>
                <a:latin typeface="Consolas"/>
              </a:rPr>
              <a:t>: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7BD389"/>
                </a:solidFill>
                <a:latin typeface="Consolas"/>
              </a:rPr>
              <a:t>return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x</a:t>
            </a:r>
            <a:r>
              <a:rPr sz="850">
                <a:solidFill>
                  <a:srgbClr val="E8F6EF"/>
                </a:solidFill>
                <a:latin typeface="Consolas"/>
              </a:rPr>
              <a:t>[</a:t>
            </a:r>
            <a:r>
              <a:rPr sz="850">
                <a:solidFill>
                  <a:srgbClr val="E8F6EF"/>
                </a:solidFill>
                <a:latin typeface="Consolas"/>
              </a:rPr>
              <a:t>:</a:t>
            </a:r>
            <a:r>
              <a:rPr sz="850">
                <a:solidFill>
                  <a:srgbClr val="E8F6EF"/>
                </a:solidFill>
                <a:latin typeface="Consolas"/>
              </a:rPr>
              <a:t>i</a:t>
            </a:r>
            <a:r>
              <a:rPr sz="850">
                <a:solidFill>
                  <a:srgbClr val="E8F6EF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</a:pP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7BD389"/>
                </a:solidFill>
                <a:latin typeface="Consolas"/>
              </a:rPr>
              <a:t>return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x</a:t>
            </a:r>
          </a:p>
          <a:p>
            <a:pPr>
              <a:lnSpc>
                <a:spcPct val="100000"/>
              </a:lnSpc>
            </a:pPr>
            <a:r>
              <a:rPr sz="850"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850">
                <a:solidFill>
                  <a:srgbClr val="7BD389"/>
                </a:solidFill>
                <a:latin typeface="Consolas"/>
              </a:rPr>
              <a:t>def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preprocess_car</a:t>
            </a:r>
            <a:r>
              <a:rPr sz="850">
                <a:solidFill>
                  <a:srgbClr val="E8F6EF"/>
                </a:solidFill>
                <a:latin typeface="Consolas"/>
              </a:rPr>
              <a:t>(</a:t>
            </a:r>
            <a:r>
              <a:rPr sz="850">
                <a:solidFill>
                  <a:srgbClr val="E8F6EF"/>
                </a:solidFill>
                <a:latin typeface="Consolas"/>
              </a:rPr>
              <a:t>data</a:t>
            </a:r>
            <a:r>
              <a:rPr sz="850">
                <a:solidFill>
                  <a:srgbClr val="E8F6EF"/>
                </a:solidFill>
                <a:latin typeface="Consolas"/>
              </a:rPr>
              <a:t>)</a:t>
            </a:r>
            <a:r>
              <a:rPr sz="850">
                <a:solidFill>
                  <a:srgbClr val="E8F6E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</a:pP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data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=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data</a:t>
            </a:r>
            <a:r>
              <a:rPr sz="850">
                <a:solidFill>
                  <a:srgbClr val="E8F6EF"/>
                </a:solidFill>
                <a:latin typeface="Consolas"/>
              </a:rPr>
              <a:t>.</a:t>
            </a:r>
            <a:r>
              <a:rPr sz="850">
                <a:solidFill>
                  <a:srgbClr val="E8F6EF"/>
                </a:solidFill>
                <a:latin typeface="Consolas"/>
              </a:rPr>
              <a:t>copy</a:t>
            </a:r>
            <a:r>
              <a:rPr sz="850">
                <a:solidFill>
                  <a:srgbClr val="E8F6EF"/>
                </a:solidFill>
                <a:latin typeface="Consolas"/>
              </a:rPr>
              <a:t>(</a:t>
            </a:r>
            <a:r>
              <a:rPr sz="8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9AA7A0"/>
                </a:solidFill>
                <a:latin typeface="Consolas"/>
              </a:rPr>
              <a:t># 1) engine 去掉 'CC'</a:t>
            </a:r>
          </a:p>
          <a:p>
            <a:pPr>
              <a:lnSpc>
                <a:spcPct val="100000"/>
              </a:lnSpc>
            </a:pP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data</a:t>
            </a:r>
            <a:r>
              <a:rPr sz="850">
                <a:solidFill>
                  <a:srgbClr val="E8F6EF"/>
                </a:solidFill>
                <a:latin typeface="Consolas"/>
              </a:rPr>
              <a:t>[</a:t>
            </a:r>
            <a:r>
              <a:rPr sz="850">
                <a:solidFill>
                  <a:srgbClr val="E8F6EF"/>
                </a:solidFill>
                <a:latin typeface="Consolas"/>
              </a:rPr>
              <a:t>[</a:t>
            </a:r>
            <a:r>
              <a:rPr sz="850">
                <a:solidFill>
                  <a:srgbClr val="F6B26B"/>
                </a:solidFill>
                <a:latin typeface="Consolas"/>
              </a:rPr>
              <a:t>'engine'</a:t>
            </a:r>
            <a:r>
              <a:rPr sz="850">
                <a:solidFill>
                  <a:srgbClr val="E8F6EF"/>
                </a:solidFill>
                <a:latin typeface="Consolas"/>
              </a:rPr>
              <a:t>,</a:t>
            </a:r>
            <a:r>
              <a:rPr sz="850">
                <a:solidFill>
                  <a:srgbClr val="F6B26B"/>
                </a:solidFill>
                <a:latin typeface="Consolas"/>
              </a:rPr>
              <a:t>'_u'</a:t>
            </a:r>
            <a:r>
              <a:rPr sz="850">
                <a:solidFill>
                  <a:srgbClr val="E8F6EF"/>
                </a:solidFill>
                <a:latin typeface="Consolas"/>
              </a:rPr>
              <a:t>]</a:t>
            </a:r>
            <a:r>
              <a:rPr sz="850">
                <a:solidFill>
                  <a:srgbClr val="E8F6EF"/>
                </a:solidFill>
                <a:latin typeface="Consolas"/>
              </a:rPr>
              <a:t>]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=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data</a:t>
            </a:r>
            <a:r>
              <a:rPr sz="850">
                <a:solidFill>
                  <a:srgbClr val="E8F6EF"/>
                </a:solidFill>
                <a:latin typeface="Consolas"/>
              </a:rPr>
              <a:t>[</a:t>
            </a:r>
            <a:r>
              <a:rPr sz="850">
                <a:solidFill>
                  <a:srgbClr val="F6B26B"/>
                </a:solidFill>
                <a:latin typeface="Consolas"/>
              </a:rPr>
              <a:t>'engine'</a:t>
            </a:r>
            <a:r>
              <a:rPr sz="850">
                <a:solidFill>
                  <a:srgbClr val="E8F6EF"/>
                </a:solidFill>
                <a:latin typeface="Consolas"/>
              </a:rPr>
              <a:t>]</a:t>
            </a:r>
            <a:r>
              <a:rPr sz="850">
                <a:solidFill>
                  <a:srgbClr val="E8F6EF"/>
                </a:solidFill>
                <a:latin typeface="Consolas"/>
              </a:rPr>
              <a:t>.</a:t>
            </a:r>
            <a:r>
              <a:rPr sz="850">
                <a:solidFill>
                  <a:srgbClr val="8FB8E0"/>
                </a:solidFill>
                <a:latin typeface="Consolas"/>
              </a:rPr>
              <a:t>str</a:t>
            </a:r>
            <a:r>
              <a:rPr sz="850">
                <a:solidFill>
                  <a:srgbClr val="E8F6EF"/>
                </a:solidFill>
                <a:latin typeface="Consolas"/>
              </a:rPr>
              <a:t>.</a:t>
            </a:r>
            <a:r>
              <a:rPr sz="850">
                <a:solidFill>
                  <a:srgbClr val="E8F6EF"/>
                </a:solidFill>
                <a:latin typeface="Consolas"/>
              </a:rPr>
              <a:t>split</a:t>
            </a:r>
            <a:r>
              <a:rPr sz="850">
                <a:solidFill>
                  <a:srgbClr val="E8F6EF"/>
                </a:solidFill>
                <a:latin typeface="Consolas"/>
              </a:rPr>
              <a:t>(</a:t>
            </a:r>
            <a:r>
              <a:rPr sz="850">
                <a:solidFill>
                  <a:srgbClr val="E8F6EF"/>
                </a:solidFill>
                <a:latin typeface="Consolas"/>
              </a:rPr>
              <a:t>expand</a:t>
            </a:r>
            <a:r>
              <a:rPr sz="850">
                <a:solidFill>
                  <a:srgbClr val="E8F6EF"/>
                </a:solidFill>
                <a:latin typeface="Consolas"/>
              </a:rPr>
              <a:t>=</a:t>
            </a:r>
            <a:r>
              <a:rPr sz="850">
                <a:solidFill>
                  <a:srgbClr val="7BD389"/>
                </a:solidFill>
                <a:latin typeface="Consolas"/>
              </a:rPr>
              <a:t>True</a:t>
            </a:r>
            <a:r>
              <a:rPr sz="8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data</a:t>
            </a:r>
            <a:r>
              <a:rPr sz="850">
                <a:solidFill>
                  <a:srgbClr val="E8F6EF"/>
                </a:solidFill>
                <a:latin typeface="Consolas"/>
              </a:rPr>
              <a:t>[</a:t>
            </a:r>
            <a:r>
              <a:rPr sz="850">
                <a:solidFill>
                  <a:srgbClr val="F6B26B"/>
                </a:solidFill>
                <a:latin typeface="Consolas"/>
              </a:rPr>
              <a:t>'engine'</a:t>
            </a:r>
            <a:r>
              <a:rPr sz="850">
                <a:solidFill>
                  <a:srgbClr val="E8F6EF"/>
                </a:solidFill>
                <a:latin typeface="Consolas"/>
              </a:rPr>
              <a:t>]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=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data</a:t>
            </a:r>
            <a:r>
              <a:rPr sz="850">
                <a:solidFill>
                  <a:srgbClr val="E8F6EF"/>
                </a:solidFill>
                <a:latin typeface="Consolas"/>
              </a:rPr>
              <a:t>[</a:t>
            </a:r>
            <a:r>
              <a:rPr sz="850">
                <a:solidFill>
                  <a:srgbClr val="F6B26B"/>
                </a:solidFill>
                <a:latin typeface="Consolas"/>
              </a:rPr>
              <a:t>'engine'</a:t>
            </a:r>
            <a:r>
              <a:rPr sz="850">
                <a:solidFill>
                  <a:srgbClr val="E8F6EF"/>
                </a:solidFill>
                <a:latin typeface="Consolas"/>
              </a:rPr>
              <a:t>]</a:t>
            </a:r>
            <a:r>
              <a:rPr sz="850">
                <a:solidFill>
                  <a:srgbClr val="E8F6EF"/>
                </a:solidFill>
                <a:latin typeface="Consolas"/>
              </a:rPr>
              <a:t>.</a:t>
            </a:r>
            <a:r>
              <a:rPr sz="850">
                <a:solidFill>
                  <a:srgbClr val="E8F6EF"/>
                </a:solidFill>
                <a:latin typeface="Consolas"/>
              </a:rPr>
              <a:t>astype</a:t>
            </a:r>
            <a:r>
              <a:rPr sz="850">
                <a:solidFill>
                  <a:srgbClr val="E8F6EF"/>
                </a:solidFill>
                <a:latin typeface="Consolas"/>
              </a:rPr>
              <a:t>(</a:t>
            </a:r>
            <a:r>
              <a:rPr sz="850">
                <a:solidFill>
                  <a:srgbClr val="F6B26B"/>
                </a:solidFill>
                <a:latin typeface="Consolas"/>
              </a:rPr>
              <a:t>'float32'</a:t>
            </a:r>
            <a:r>
              <a:rPr sz="8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data</a:t>
            </a:r>
            <a:r>
              <a:rPr sz="850">
                <a:solidFill>
                  <a:srgbClr val="E8F6EF"/>
                </a:solidFill>
                <a:latin typeface="Consolas"/>
              </a:rPr>
              <a:t>.</a:t>
            </a:r>
            <a:r>
              <a:rPr sz="850">
                <a:solidFill>
                  <a:srgbClr val="E8F6EF"/>
                </a:solidFill>
                <a:latin typeface="Consolas"/>
              </a:rPr>
              <a:t>drop</a:t>
            </a:r>
            <a:r>
              <a:rPr sz="850">
                <a:solidFill>
                  <a:srgbClr val="E8F6EF"/>
                </a:solidFill>
                <a:latin typeface="Consolas"/>
              </a:rPr>
              <a:t>(</a:t>
            </a:r>
            <a:r>
              <a:rPr sz="850">
                <a:solidFill>
                  <a:srgbClr val="F6B26B"/>
                </a:solidFill>
                <a:latin typeface="Consolas"/>
              </a:rPr>
              <a:t>'_u'</a:t>
            </a:r>
            <a:r>
              <a:rPr sz="850">
                <a:solidFill>
                  <a:srgbClr val="E8F6EF"/>
                </a:solidFill>
                <a:latin typeface="Consolas"/>
              </a:rPr>
              <a:t>,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axis</a:t>
            </a:r>
            <a:r>
              <a:rPr sz="850">
                <a:solidFill>
                  <a:srgbClr val="E8F6EF"/>
                </a:solidFill>
                <a:latin typeface="Consolas"/>
              </a:rPr>
              <a:t>=</a:t>
            </a:r>
            <a:r>
              <a:rPr sz="850">
                <a:solidFill>
                  <a:srgbClr val="F2D45F"/>
                </a:solidFill>
                <a:latin typeface="Consolas"/>
              </a:rPr>
              <a:t>1</a:t>
            </a:r>
            <a:r>
              <a:rPr sz="850">
                <a:solidFill>
                  <a:srgbClr val="E8F6EF"/>
                </a:solidFill>
                <a:latin typeface="Consolas"/>
              </a:rPr>
              <a:t>,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inplace</a:t>
            </a:r>
            <a:r>
              <a:rPr sz="850">
                <a:solidFill>
                  <a:srgbClr val="E8F6EF"/>
                </a:solidFill>
                <a:latin typeface="Consolas"/>
              </a:rPr>
              <a:t>=</a:t>
            </a:r>
            <a:r>
              <a:rPr sz="850">
                <a:solidFill>
                  <a:srgbClr val="7BD389"/>
                </a:solidFill>
                <a:latin typeface="Consolas"/>
              </a:rPr>
              <a:t>True</a:t>
            </a:r>
            <a:r>
              <a:rPr sz="8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850"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9AA7A0"/>
                </a:solidFill>
                <a:latin typeface="Consolas"/>
              </a:rPr>
              <a:t># 2) max_power — try/except</a:t>
            </a:r>
          </a:p>
          <a:p>
            <a:pPr>
              <a:lnSpc>
                <a:spcPct val="100000"/>
              </a:lnSpc>
            </a:pP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data</a:t>
            </a:r>
            <a:r>
              <a:rPr sz="850">
                <a:solidFill>
                  <a:srgbClr val="E8F6EF"/>
                </a:solidFill>
                <a:latin typeface="Consolas"/>
              </a:rPr>
              <a:t>[</a:t>
            </a:r>
            <a:r>
              <a:rPr sz="850">
                <a:solidFill>
                  <a:srgbClr val="E8F6EF"/>
                </a:solidFill>
                <a:latin typeface="Consolas"/>
              </a:rPr>
              <a:t>[</a:t>
            </a:r>
            <a:r>
              <a:rPr sz="850">
                <a:solidFill>
                  <a:srgbClr val="F6B26B"/>
                </a:solidFill>
                <a:latin typeface="Consolas"/>
              </a:rPr>
              <a:t>'max_power'</a:t>
            </a:r>
            <a:r>
              <a:rPr sz="850">
                <a:solidFill>
                  <a:srgbClr val="E8F6EF"/>
                </a:solidFill>
                <a:latin typeface="Consolas"/>
              </a:rPr>
              <a:t>,</a:t>
            </a:r>
            <a:r>
              <a:rPr sz="850">
                <a:solidFill>
                  <a:srgbClr val="F6B26B"/>
                </a:solidFill>
                <a:latin typeface="Consolas"/>
              </a:rPr>
              <a:t>'_u'</a:t>
            </a:r>
            <a:r>
              <a:rPr sz="850">
                <a:solidFill>
                  <a:srgbClr val="E8F6EF"/>
                </a:solidFill>
                <a:latin typeface="Consolas"/>
              </a:rPr>
              <a:t>]</a:t>
            </a:r>
            <a:r>
              <a:rPr sz="850">
                <a:solidFill>
                  <a:srgbClr val="E8F6EF"/>
                </a:solidFill>
                <a:latin typeface="Consolas"/>
              </a:rPr>
              <a:t>]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=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data</a:t>
            </a:r>
            <a:r>
              <a:rPr sz="850">
                <a:solidFill>
                  <a:srgbClr val="E8F6EF"/>
                </a:solidFill>
                <a:latin typeface="Consolas"/>
              </a:rPr>
              <a:t>[</a:t>
            </a:r>
            <a:r>
              <a:rPr sz="850">
                <a:solidFill>
                  <a:srgbClr val="F6B26B"/>
                </a:solidFill>
                <a:latin typeface="Consolas"/>
              </a:rPr>
              <a:t>'max_power'</a:t>
            </a:r>
            <a:r>
              <a:rPr sz="850">
                <a:solidFill>
                  <a:srgbClr val="E8F6EF"/>
                </a:solidFill>
                <a:latin typeface="Consolas"/>
              </a:rPr>
              <a:t>]</a:t>
            </a:r>
            <a:r>
              <a:rPr sz="850">
                <a:solidFill>
                  <a:srgbClr val="E8F6EF"/>
                </a:solidFill>
                <a:latin typeface="Consolas"/>
              </a:rPr>
              <a:t>.</a:t>
            </a:r>
            <a:r>
              <a:rPr sz="850">
                <a:solidFill>
                  <a:srgbClr val="8FB8E0"/>
                </a:solidFill>
                <a:latin typeface="Consolas"/>
              </a:rPr>
              <a:t>str</a:t>
            </a:r>
            <a:r>
              <a:rPr sz="850">
                <a:solidFill>
                  <a:srgbClr val="E8F6EF"/>
                </a:solidFill>
                <a:latin typeface="Consolas"/>
              </a:rPr>
              <a:t>.</a:t>
            </a:r>
            <a:r>
              <a:rPr sz="850">
                <a:solidFill>
                  <a:srgbClr val="E8F6EF"/>
                </a:solidFill>
                <a:latin typeface="Consolas"/>
              </a:rPr>
              <a:t>split</a:t>
            </a:r>
            <a:r>
              <a:rPr sz="850">
                <a:solidFill>
                  <a:srgbClr val="E8F6EF"/>
                </a:solidFill>
                <a:latin typeface="Consolas"/>
              </a:rPr>
              <a:t>(</a:t>
            </a:r>
            <a:r>
              <a:rPr sz="850">
                <a:solidFill>
                  <a:srgbClr val="E8F6EF"/>
                </a:solidFill>
                <a:latin typeface="Consolas"/>
              </a:rPr>
              <a:t>expand</a:t>
            </a:r>
            <a:r>
              <a:rPr sz="850">
                <a:solidFill>
                  <a:srgbClr val="E8F6EF"/>
                </a:solidFill>
                <a:latin typeface="Consolas"/>
              </a:rPr>
              <a:t>=</a:t>
            </a:r>
            <a:r>
              <a:rPr sz="850">
                <a:solidFill>
                  <a:srgbClr val="7BD389"/>
                </a:solidFill>
                <a:latin typeface="Consolas"/>
              </a:rPr>
              <a:t>True</a:t>
            </a:r>
            <a:r>
              <a:rPr sz="8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data</a:t>
            </a:r>
            <a:r>
              <a:rPr sz="850">
                <a:solidFill>
                  <a:srgbClr val="E8F6EF"/>
                </a:solidFill>
                <a:latin typeface="Consolas"/>
              </a:rPr>
              <a:t>[</a:t>
            </a:r>
            <a:r>
              <a:rPr sz="850">
                <a:solidFill>
                  <a:srgbClr val="F6B26B"/>
                </a:solidFill>
                <a:latin typeface="Consolas"/>
              </a:rPr>
              <a:t>'max_power'</a:t>
            </a:r>
            <a:r>
              <a:rPr sz="850">
                <a:solidFill>
                  <a:srgbClr val="E8F6EF"/>
                </a:solidFill>
                <a:latin typeface="Consolas"/>
              </a:rPr>
              <a:t>]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=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data</a:t>
            </a:r>
            <a:r>
              <a:rPr sz="850">
                <a:solidFill>
                  <a:srgbClr val="E8F6EF"/>
                </a:solidFill>
                <a:latin typeface="Consolas"/>
              </a:rPr>
              <a:t>[</a:t>
            </a:r>
            <a:r>
              <a:rPr sz="850">
                <a:solidFill>
                  <a:srgbClr val="F6B26B"/>
                </a:solidFill>
                <a:latin typeface="Consolas"/>
              </a:rPr>
              <a:t>'max_power'</a:t>
            </a:r>
            <a:r>
              <a:rPr sz="850">
                <a:solidFill>
                  <a:srgbClr val="E8F6EF"/>
                </a:solidFill>
                <a:latin typeface="Consolas"/>
              </a:rPr>
              <a:t>]</a:t>
            </a:r>
            <a:r>
              <a:rPr sz="850">
                <a:solidFill>
                  <a:srgbClr val="E8F6EF"/>
                </a:solidFill>
                <a:latin typeface="Consolas"/>
              </a:rPr>
              <a:t>.</a:t>
            </a:r>
            <a:r>
              <a:rPr sz="850">
                <a:solidFill>
                  <a:srgbClr val="E8F6EF"/>
                </a:solidFill>
                <a:latin typeface="Consolas"/>
              </a:rPr>
              <a:t>apply</a:t>
            </a:r>
            <a:r>
              <a:rPr sz="850">
                <a:solidFill>
                  <a:srgbClr val="E8F6EF"/>
                </a:solidFill>
                <a:latin typeface="Consolas"/>
              </a:rPr>
              <a:t>(</a:t>
            </a:r>
            <a:r>
              <a:rPr sz="850">
                <a:solidFill>
                  <a:srgbClr val="E8F6EF"/>
                </a:solidFill>
                <a:latin typeface="Consolas"/>
              </a:rPr>
              <a:t>isFloat</a:t>
            </a:r>
            <a:r>
              <a:rPr sz="8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data</a:t>
            </a:r>
            <a:r>
              <a:rPr sz="850">
                <a:solidFill>
                  <a:srgbClr val="E8F6EF"/>
                </a:solidFill>
                <a:latin typeface="Consolas"/>
              </a:rPr>
              <a:t>.</a:t>
            </a:r>
            <a:r>
              <a:rPr sz="850">
                <a:solidFill>
                  <a:srgbClr val="E8F6EF"/>
                </a:solidFill>
                <a:latin typeface="Consolas"/>
              </a:rPr>
              <a:t>drop</a:t>
            </a:r>
            <a:r>
              <a:rPr sz="850">
                <a:solidFill>
                  <a:srgbClr val="E8F6EF"/>
                </a:solidFill>
                <a:latin typeface="Consolas"/>
              </a:rPr>
              <a:t>(</a:t>
            </a:r>
            <a:r>
              <a:rPr sz="850">
                <a:solidFill>
                  <a:srgbClr val="F6B26B"/>
                </a:solidFill>
                <a:latin typeface="Consolas"/>
              </a:rPr>
              <a:t>'_u'</a:t>
            </a:r>
            <a:r>
              <a:rPr sz="850">
                <a:solidFill>
                  <a:srgbClr val="E8F6EF"/>
                </a:solidFill>
                <a:latin typeface="Consolas"/>
              </a:rPr>
              <a:t>,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axis</a:t>
            </a:r>
            <a:r>
              <a:rPr sz="850">
                <a:solidFill>
                  <a:srgbClr val="E8F6EF"/>
                </a:solidFill>
                <a:latin typeface="Consolas"/>
              </a:rPr>
              <a:t>=</a:t>
            </a:r>
            <a:r>
              <a:rPr sz="850">
                <a:solidFill>
                  <a:srgbClr val="F2D45F"/>
                </a:solidFill>
                <a:latin typeface="Consolas"/>
              </a:rPr>
              <a:t>1</a:t>
            </a:r>
            <a:r>
              <a:rPr sz="850">
                <a:solidFill>
                  <a:srgbClr val="E8F6EF"/>
                </a:solidFill>
                <a:latin typeface="Consolas"/>
              </a:rPr>
              <a:t>,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inplace</a:t>
            </a:r>
            <a:r>
              <a:rPr sz="850">
                <a:solidFill>
                  <a:srgbClr val="E8F6EF"/>
                </a:solidFill>
                <a:latin typeface="Consolas"/>
              </a:rPr>
              <a:t>=</a:t>
            </a:r>
            <a:r>
              <a:rPr sz="850">
                <a:solidFill>
                  <a:srgbClr val="7BD389"/>
                </a:solidFill>
                <a:latin typeface="Consolas"/>
              </a:rPr>
              <a:t>True</a:t>
            </a:r>
            <a:r>
              <a:rPr sz="8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850"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9AA7A0"/>
                </a:solidFill>
                <a:latin typeface="Consolas"/>
              </a:rPr>
              <a:t># 3) mileage — 按燃料单价 (简化)</a:t>
            </a:r>
          </a:p>
          <a:p>
            <a:pPr>
              <a:lnSpc>
                <a:spcPct val="100000"/>
              </a:lnSpc>
            </a:pP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9AA7A0"/>
                </a:solidFill>
                <a:latin typeface="Consolas"/>
              </a:rPr>
              <a:t># 4) torque — 4 步 + 单位换算</a:t>
            </a:r>
          </a:p>
          <a:p>
            <a:pPr>
              <a:lnSpc>
                <a:spcPct val="100000"/>
              </a:lnSpc>
            </a:pP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9AA7A0"/>
                </a:solidFill>
                <a:latin typeface="Consolas"/>
              </a:rPr>
              <a:t># 5) name — 仅保留首词, Land → Land Rover</a:t>
            </a:r>
          </a:p>
          <a:p>
            <a:pPr>
              <a:lnSpc>
                <a:spcPct val="100000"/>
              </a:lnSpc>
            </a:pP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9AA7A0"/>
                </a:solidFill>
                <a:latin typeface="Consolas"/>
              </a:rPr>
              <a:t># 6) dropna + get_dummies(drop_first=True)</a:t>
            </a:r>
          </a:p>
          <a:p>
            <a:pPr>
              <a:lnSpc>
                <a:spcPct val="100000"/>
              </a:lnSpc>
            </a:pP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7BD389"/>
                </a:solidFill>
                <a:latin typeface="Consolas"/>
              </a:rPr>
              <a:t>return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6355080"/>
            <a:ext cx="11155680" cy="41148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644652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2A44F"/>
                </a:solidFill>
                <a:latin typeface="微软雅黑"/>
              </a:rPr>
              <a:t>💬  教师讲解要点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739128"/>
            <a:ext cx="10789920" cy="-45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函数化后可在 CV 内部「用 train fit, 再 transform 到 test」(配合 Pipeline + ColumnTransformer)。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机器学习 · 第 9 章  随机森林 — 二手车价格预测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63 / 66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微软雅黑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微软雅黑"/>
              </a:rPr>
              <a:t>随机森林 — 二手车价格预测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微软雅黑"/>
              </a:rPr>
              <a:t>APPENDIX   代码骨架 2: 评估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微软雅黑"/>
              </a:rPr>
              <a:t>附录 ② — evaluate() 函数化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微软雅黑"/>
              </a:rPr>
              <a:t>用同一把尺子比较多个模型 — 可复用模式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11155680" cy="4297680"/>
          </a:xfrm>
          <a:prstGeom prst="roundRect">
            <a:avLst/>
          </a:prstGeom>
          <a:solidFill>
            <a:srgbClr val="0E1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" y="2157984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7824" y="2157984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42416" y="2157984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2121408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9AA7A0"/>
                </a:solidFill>
                <a:latin typeface="Consolas"/>
              </a:rPr>
              <a:t>ml9_evaluate.py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377440"/>
            <a:ext cx="1078992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900">
                <a:solidFill>
                  <a:srgbClr val="7BD389"/>
                </a:solidFill>
                <a:latin typeface="Consolas"/>
              </a:rPr>
              <a:t>from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sklearn</a:t>
            </a:r>
            <a:r>
              <a:rPr sz="900">
                <a:solidFill>
                  <a:srgbClr val="E8F6EF"/>
                </a:solidFill>
                <a:latin typeface="Consolas"/>
              </a:rPr>
              <a:t>.</a:t>
            </a:r>
            <a:r>
              <a:rPr sz="900">
                <a:solidFill>
                  <a:srgbClr val="E8F6EF"/>
                </a:solidFill>
                <a:latin typeface="Consolas"/>
              </a:rPr>
              <a:t>model_selection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7BD389"/>
                </a:solidFill>
                <a:latin typeface="Consolas"/>
              </a:rPr>
              <a:t>import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KFold</a:t>
            </a:r>
          </a:p>
          <a:p>
            <a:pPr>
              <a:lnSpc>
                <a:spcPct val="100000"/>
              </a:lnSpc>
            </a:pPr>
            <a:r>
              <a:rPr sz="900">
                <a:solidFill>
                  <a:srgbClr val="7BD389"/>
                </a:solidFill>
                <a:latin typeface="Consolas"/>
              </a:rPr>
              <a:t>from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sklearn</a:t>
            </a:r>
            <a:r>
              <a:rPr sz="900">
                <a:solidFill>
                  <a:srgbClr val="E8F6EF"/>
                </a:solidFill>
                <a:latin typeface="Consolas"/>
              </a:rPr>
              <a:t>.</a:t>
            </a:r>
            <a:r>
              <a:rPr sz="900">
                <a:solidFill>
                  <a:srgbClr val="E8F6EF"/>
                </a:solidFill>
                <a:latin typeface="Consolas"/>
              </a:rPr>
              <a:t>metrics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7BD389"/>
                </a:solidFill>
                <a:latin typeface="Consolas"/>
              </a:rPr>
              <a:t>import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mean_squared_error</a:t>
            </a:r>
          </a:p>
          <a:p>
            <a:pPr>
              <a:lnSpc>
                <a:spcPct val="100000"/>
              </a:lnSpc>
            </a:pPr>
            <a:r>
              <a:rPr sz="900">
                <a:solidFill>
                  <a:srgbClr val="7BD389"/>
                </a:solidFill>
                <a:latin typeface="Consolas"/>
              </a:rPr>
              <a:t>import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numpy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7BD389"/>
                </a:solidFill>
                <a:latin typeface="Consolas"/>
              </a:rPr>
              <a:t>as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np</a:t>
            </a:r>
          </a:p>
          <a:p>
            <a:pPr>
              <a:lnSpc>
                <a:spcPct val="100000"/>
              </a:lnSpc>
            </a:pPr>
            <a:r>
              <a:rPr sz="900">
                <a:solidFill>
                  <a:srgbClr val="7BD389"/>
                </a:solidFill>
                <a:latin typeface="Consolas"/>
              </a:rPr>
              <a:t>import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time</a:t>
            </a:r>
          </a:p>
          <a:p>
            <a:pPr>
              <a:lnSpc>
                <a:spcPct val="100000"/>
              </a:lnSpc>
            </a:pPr>
            <a:r>
              <a:rPr sz="900"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900">
                <a:solidFill>
                  <a:srgbClr val="7BD389"/>
                </a:solidFill>
                <a:latin typeface="Consolas"/>
              </a:rPr>
              <a:t>def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evaluate</a:t>
            </a:r>
            <a:r>
              <a:rPr sz="900">
                <a:solidFill>
                  <a:srgbClr val="E8F6EF"/>
                </a:solidFill>
                <a:latin typeface="Consolas"/>
              </a:rPr>
              <a:t>(</a:t>
            </a:r>
            <a:r>
              <a:rPr sz="900">
                <a:solidFill>
                  <a:srgbClr val="E8F6EF"/>
                </a:solidFill>
                <a:latin typeface="Consolas"/>
              </a:rPr>
              <a:t>model</a:t>
            </a:r>
            <a:r>
              <a:rPr sz="900">
                <a:solidFill>
                  <a:srgbClr val="E8F6EF"/>
                </a:solidFill>
                <a:latin typeface="Consolas"/>
              </a:rPr>
              <a:t>,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X</a:t>
            </a:r>
            <a:r>
              <a:rPr sz="900">
                <a:solidFill>
                  <a:srgbClr val="E8F6EF"/>
                </a:solidFill>
                <a:latin typeface="Consolas"/>
              </a:rPr>
              <a:t>,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y</a:t>
            </a:r>
            <a:r>
              <a:rPr sz="900">
                <a:solidFill>
                  <a:srgbClr val="E8F6EF"/>
                </a:solidFill>
                <a:latin typeface="Consolas"/>
              </a:rPr>
              <a:t>,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k</a:t>
            </a:r>
            <a:r>
              <a:rPr sz="900">
                <a:solidFill>
                  <a:srgbClr val="E8F6EF"/>
                </a:solidFill>
                <a:latin typeface="Consolas"/>
              </a:rPr>
              <a:t>=</a:t>
            </a:r>
            <a:r>
              <a:rPr sz="900">
                <a:solidFill>
                  <a:srgbClr val="F2D45F"/>
                </a:solidFill>
                <a:latin typeface="Consolas"/>
              </a:rPr>
              <a:t>5</a:t>
            </a:r>
            <a:r>
              <a:rPr sz="900">
                <a:solidFill>
                  <a:srgbClr val="E8F6EF"/>
                </a:solidFill>
                <a:latin typeface="Consolas"/>
              </a:rPr>
              <a:t>,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seed</a:t>
            </a:r>
            <a:r>
              <a:rPr sz="900">
                <a:solidFill>
                  <a:srgbClr val="E8F6EF"/>
                </a:solidFill>
                <a:latin typeface="Consolas"/>
              </a:rPr>
              <a:t>=</a:t>
            </a:r>
            <a:r>
              <a:rPr sz="900">
                <a:solidFill>
                  <a:srgbClr val="F2D45F"/>
                </a:solidFill>
                <a:latin typeface="Consolas"/>
              </a:rPr>
              <a:t>100</a:t>
            </a:r>
            <a:r>
              <a:rPr sz="900">
                <a:solidFill>
                  <a:srgbClr val="E8F6EF"/>
                </a:solidFill>
                <a:latin typeface="Consolas"/>
              </a:rPr>
              <a:t>)</a:t>
            </a:r>
            <a:r>
              <a:rPr sz="900">
                <a:solidFill>
                  <a:srgbClr val="E8F6E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</a:pP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kf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=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KFold</a:t>
            </a:r>
            <a:r>
              <a:rPr sz="900">
                <a:solidFill>
                  <a:srgbClr val="E8F6EF"/>
                </a:solidFill>
                <a:latin typeface="Consolas"/>
              </a:rPr>
              <a:t>(</a:t>
            </a:r>
            <a:r>
              <a:rPr sz="900">
                <a:solidFill>
                  <a:srgbClr val="E8F6EF"/>
                </a:solidFill>
                <a:latin typeface="Consolas"/>
              </a:rPr>
              <a:t>n_splits</a:t>
            </a:r>
            <a:r>
              <a:rPr sz="900">
                <a:solidFill>
                  <a:srgbClr val="E8F6EF"/>
                </a:solidFill>
                <a:latin typeface="Consolas"/>
              </a:rPr>
              <a:t>=</a:t>
            </a:r>
            <a:r>
              <a:rPr sz="900">
                <a:solidFill>
                  <a:srgbClr val="E8F6EF"/>
                </a:solidFill>
                <a:latin typeface="Consolas"/>
              </a:rPr>
              <a:t>k</a:t>
            </a:r>
            <a:r>
              <a:rPr sz="900">
                <a:solidFill>
                  <a:srgbClr val="E8F6EF"/>
                </a:solidFill>
                <a:latin typeface="Consolas"/>
              </a:rPr>
              <a:t>,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shuffle</a:t>
            </a:r>
            <a:r>
              <a:rPr sz="900">
                <a:solidFill>
                  <a:srgbClr val="E8F6EF"/>
                </a:solidFill>
                <a:latin typeface="Consolas"/>
              </a:rPr>
              <a:t>=</a:t>
            </a:r>
            <a:r>
              <a:rPr sz="900">
                <a:solidFill>
                  <a:srgbClr val="7BD389"/>
                </a:solidFill>
                <a:latin typeface="Consolas"/>
              </a:rPr>
              <a:t>True</a:t>
            </a:r>
            <a:r>
              <a:rPr sz="900">
                <a:solidFill>
                  <a:srgbClr val="E8F6EF"/>
                </a:solidFill>
                <a:latin typeface="Consolas"/>
              </a:rPr>
              <a:t>,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random_state</a:t>
            </a:r>
            <a:r>
              <a:rPr sz="900">
                <a:solidFill>
                  <a:srgbClr val="E8F6EF"/>
                </a:solidFill>
                <a:latin typeface="Consolas"/>
              </a:rPr>
              <a:t>=</a:t>
            </a:r>
            <a:r>
              <a:rPr sz="900">
                <a:solidFill>
                  <a:srgbClr val="E8F6EF"/>
                </a:solidFill>
                <a:latin typeface="Consolas"/>
              </a:rPr>
              <a:t>seed</a:t>
            </a:r>
            <a:r>
              <a:rPr sz="90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rmses</a:t>
            </a:r>
            <a:r>
              <a:rPr sz="900">
                <a:solidFill>
                  <a:srgbClr val="E8F6EF"/>
                </a:solidFill>
                <a:latin typeface="Consolas"/>
              </a:rPr>
              <a:t>,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times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=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[</a:t>
            </a:r>
            <a:r>
              <a:rPr sz="900">
                <a:solidFill>
                  <a:srgbClr val="E8F6EF"/>
                </a:solidFill>
                <a:latin typeface="Consolas"/>
              </a:rPr>
              <a:t>]</a:t>
            </a:r>
            <a:r>
              <a:rPr sz="900">
                <a:solidFill>
                  <a:srgbClr val="E8F6EF"/>
                </a:solidFill>
                <a:latin typeface="Consolas"/>
              </a:rPr>
              <a:t>,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[</a:t>
            </a:r>
            <a:r>
              <a:rPr sz="900">
                <a:solidFill>
                  <a:srgbClr val="E8F6EF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</a:pP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7BD389"/>
                </a:solidFill>
                <a:latin typeface="Consolas"/>
              </a:rPr>
              <a:t>for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tr</a:t>
            </a:r>
            <a:r>
              <a:rPr sz="900">
                <a:solidFill>
                  <a:srgbClr val="E8F6EF"/>
                </a:solidFill>
                <a:latin typeface="Consolas"/>
              </a:rPr>
              <a:t>,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te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7BD389"/>
                </a:solidFill>
                <a:latin typeface="Consolas"/>
              </a:rPr>
              <a:t>in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kf</a:t>
            </a:r>
            <a:r>
              <a:rPr sz="900">
                <a:solidFill>
                  <a:srgbClr val="E8F6EF"/>
                </a:solidFill>
                <a:latin typeface="Consolas"/>
              </a:rPr>
              <a:t>.</a:t>
            </a:r>
            <a:r>
              <a:rPr sz="900">
                <a:solidFill>
                  <a:srgbClr val="E8F6EF"/>
                </a:solidFill>
                <a:latin typeface="Consolas"/>
              </a:rPr>
              <a:t>split</a:t>
            </a:r>
            <a:r>
              <a:rPr sz="900">
                <a:solidFill>
                  <a:srgbClr val="E8F6EF"/>
                </a:solidFill>
                <a:latin typeface="Consolas"/>
              </a:rPr>
              <a:t>(</a:t>
            </a:r>
            <a:r>
              <a:rPr sz="900">
                <a:solidFill>
                  <a:srgbClr val="E8F6EF"/>
                </a:solidFill>
                <a:latin typeface="Consolas"/>
              </a:rPr>
              <a:t>X</a:t>
            </a:r>
            <a:r>
              <a:rPr sz="900">
                <a:solidFill>
                  <a:srgbClr val="E8F6EF"/>
                </a:solidFill>
                <a:latin typeface="Consolas"/>
              </a:rPr>
              <a:t>)</a:t>
            </a:r>
            <a:r>
              <a:rPr sz="900">
                <a:solidFill>
                  <a:srgbClr val="E8F6E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</a:pP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t0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=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time</a:t>
            </a:r>
            <a:r>
              <a:rPr sz="900">
                <a:solidFill>
                  <a:srgbClr val="E8F6EF"/>
                </a:solidFill>
                <a:latin typeface="Consolas"/>
              </a:rPr>
              <a:t>.</a:t>
            </a:r>
            <a:r>
              <a:rPr sz="900">
                <a:solidFill>
                  <a:srgbClr val="E8F6EF"/>
                </a:solidFill>
                <a:latin typeface="Consolas"/>
              </a:rPr>
              <a:t>time</a:t>
            </a:r>
            <a:r>
              <a:rPr sz="900">
                <a:solidFill>
                  <a:srgbClr val="E8F6EF"/>
                </a:solidFill>
                <a:latin typeface="Consolas"/>
              </a:rPr>
              <a:t>(</a:t>
            </a:r>
            <a:r>
              <a:rPr sz="90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model</a:t>
            </a:r>
            <a:r>
              <a:rPr sz="900">
                <a:solidFill>
                  <a:srgbClr val="E8F6EF"/>
                </a:solidFill>
                <a:latin typeface="Consolas"/>
              </a:rPr>
              <a:t>.</a:t>
            </a:r>
            <a:r>
              <a:rPr sz="900">
                <a:solidFill>
                  <a:srgbClr val="E8F6EF"/>
                </a:solidFill>
                <a:latin typeface="Consolas"/>
              </a:rPr>
              <a:t>fit</a:t>
            </a:r>
            <a:r>
              <a:rPr sz="900">
                <a:solidFill>
                  <a:srgbClr val="E8F6EF"/>
                </a:solidFill>
                <a:latin typeface="Consolas"/>
              </a:rPr>
              <a:t>(</a:t>
            </a:r>
            <a:r>
              <a:rPr sz="900">
                <a:solidFill>
                  <a:srgbClr val="E8F6EF"/>
                </a:solidFill>
                <a:latin typeface="Consolas"/>
              </a:rPr>
              <a:t>X</a:t>
            </a:r>
            <a:r>
              <a:rPr sz="900">
                <a:solidFill>
                  <a:srgbClr val="E8F6EF"/>
                </a:solidFill>
                <a:latin typeface="Consolas"/>
              </a:rPr>
              <a:t>.</a:t>
            </a:r>
            <a:r>
              <a:rPr sz="900">
                <a:solidFill>
                  <a:srgbClr val="E8F6EF"/>
                </a:solidFill>
                <a:latin typeface="Consolas"/>
              </a:rPr>
              <a:t>iloc</a:t>
            </a:r>
            <a:r>
              <a:rPr sz="900">
                <a:solidFill>
                  <a:srgbClr val="E8F6EF"/>
                </a:solidFill>
                <a:latin typeface="Consolas"/>
              </a:rPr>
              <a:t>[</a:t>
            </a:r>
            <a:r>
              <a:rPr sz="900">
                <a:solidFill>
                  <a:srgbClr val="E8F6EF"/>
                </a:solidFill>
                <a:latin typeface="Consolas"/>
              </a:rPr>
              <a:t>tr</a:t>
            </a:r>
            <a:r>
              <a:rPr sz="900">
                <a:solidFill>
                  <a:srgbClr val="E8F6EF"/>
                </a:solidFill>
                <a:latin typeface="Consolas"/>
              </a:rPr>
              <a:t>]</a:t>
            </a:r>
            <a:r>
              <a:rPr sz="900">
                <a:solidFill>
                  <a:srgbClr val="E8F6EF"/>
                </a:solidFill>
                <a:latin typeface="Consolas"/>
              </a:rPr>
              <a:t>,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y</a:t>
            </a:r>
            <a:r>
              <a:rPr sz="900">
                <a:solidFill>
                  <a:srgbClr val="E8F6EF"/>
                </a:solidFill>
                <a:latin typeface="Consolas"/>
              </a:rPr>
              <a:t>.</a:t>
            </a:r>
            <a:r>
              <a:rPr sz="900">
                <a:solidFill>
                  <a:srgbClr val="E8F6EF"/>
                </a:solidFill>
                <a:latin typeface="Consolas"/>
              </a:rPr>
              <a:t>iloc</a:t>
            </a:r>
            <a:r>
              <a:rPr sz="900">
                <a:solidFill>
                  <a:srgbClr val="E8F6EF"/>
                </a:solidFill>
                <a:latin typeface="Consolas"/>
              </a:rPr>
              <a:t>[</a:t>
            </a:r>
            <a:r>
              <a:rPr sz="900">
                <a:solidFill>
                  <a:srgbClr val="E8F6EF"/>
                </a:solidFill>
                <a:latin typeface="Consolas"/>
              </a:rPr>
              <a:t>tr</a:t>
            </a:r>
            <a:r>
              <a:rPr sz="900">
                <a:solidFill>
                  <a:srgbClr val="E8F6EF"/>
                </a:solidFill>
                <a:latin typeface="Consolas"/>
              </a:rPr>
              <a:t>]</a:t>
            </a:r>
            <a:r>
              <a:rPr sz="90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pred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=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model</a:t>
            </a:r>
            <a:r>
              <a:rPr sz="900">
                <a:solidFill>
                  <a:srgbClr val="E8F6EF"/>
                </a:solidFill>
                <a:latin typeface="Consolas"/>
              </a:rPr>
              <a:t>.</a:t>
            </a:r>
            <a:r>
              <a:rPr sz="900">
                <a:solidFill>
                  <a:srgbClr val="E8F6EF"/>
                </a:solidFill>
                <a:latin typeface="Consolas"/>
              </a:rPr>
              <a:t>predict</a:t>
            </a:r>
            <a:r>
              <a:rPr sz="900">
                <a:solidFill>
                  <a:srgbClr val="E8F6EF"/>
                </a:solidFill>
                <a:latin typeface="Consolas"/>
              </a:rPr>
              <a:t>(</a:t>
            </a:r>
            <a:r>
              <a:rPr sz="900">
                <a:solidFill>
                  <a:srgbClr val="E8F6EF"/>
                </a:solidFill>
                <a:latin typeface="Consolas"/>
              </a:rPr>
              <a:t>X</a:t>
            </a:r>
            <a:r>
              <a:rPr sz="900">
                <a:solidFill>
                  <a:srgbClr val="E8F6EF"/>
                </a:solidFill>
                <a:latin typeface="Consolas"/>
              </a:rPr>
              <a:t>.</a:t>
            </a:r>
            <a:r>
              <a:rPr sz="900">
                <a:solidFill>
                  <a:srgbClr val="E8F6EF"/>
                </a:solidFill>
                <a:latin typeface="Consolas"/>
              </a:rPr>
              <a:t>iloc</a:t>
            </a:r>
            <a:r>
              <a:rPr sz="900">
                <a:solidFill>
                  <a:srgbClr val="E8F6EF"/>
                </a:solidFill>
                <a:latin typeface="Consolas"/>
              </a:rPr>
              <a:t>[</a:t>
            </a:r>
            <a:r>
              <a:rPr sz="900">
                <a:solidFill>
                  <a:srgbClr val="E8F6EF"/>
                </a:solidFill>
                <a:latin typeface="Consolas"/>
              </a:rPr>
              <a:t>te</a:t>
            </a:r>
            <a:r>
              <a:rPr sz="900">
                <a:solidFill>
                  <a:srgbClr val="E8F6EF"/>
                </a:solidFill>
                <a:latin typeface="Consolas"/>
              </a:rPr>
              <a:t>]</a:t>
            </a:r>
            <a:r>
              <a:rPr sz="90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rmses</a:t>
            </a:r>
            <a:r>
              <a:rPr sz="900">
                <a:solidFill>
                  <a:srgbClr val="E8F6EF"/>
                </a:solidFill>
                <a:latin typeface="Consolas"/>
              </a:rPr>
              <a:t>.</a:t>
            </a:r>
            <a:r>
              <a:rPr sz="900">
                <a:solidFill>
                  <a:srgbClr val="E8F6EF"/>
                </a:solidFill>
                <a:latin typeface="Consolas"/>
              </a:rPr>
              <a:t>append</a:t>
            </a:r>
            <a:r>
              <a:rPr sz="900">
                <a:solidFill>
                  <a:srgbClr val="E8F6EF"/>
                </a:solidFill>
                <a:latin typeface="Consolas"/>
              </a:rPr>
              <a:t>(</a:t>
            </a:r>
            <a:r>
              <a:rPr sz="900">
                <a:solidFill>
                  <a:srgbClr val="E8F6EF"/>
                </a:solidFill>
                <a:latin typeface="Consolas"/>
              </a:rPr>
              <a:t>mean_squared_error</a:t>
            </a:r>
            <a:r>
              <a:rPr sz="900">
                <a:solidFill>
                  <a:srgbClr val="E8F6EF"/>
                </a:solidFill>
                <a:latin typeface="Consolas"/>
              </a:rPr>
              <a:t>(</a:t>
            </a:r>
            <a:r>
              <a:rPr sz="900">
                <a:solidFill>
                  <a:srgbClr val="E8F6EF"/>
                </a:solidFill>
                <a:latin typeface="Consolas"/>
              </a:rPr>
              <a:t>y</a:t>
            </a:r>
            <a:r>
              <a:rPr sz="900">
                <a:solidFill>
                  <a:srgbClr val="E8F6EF"/>
                </a:solidFill>
                <a:latin typeface="Consolas"/>
              </a:rPr>
              <a:t>.</a:t>
            </a:r>
            <a:r>
              <a:rPr sz="900">
                <a:solidFill>
                  <a:srgbClr val="E8F6EF"/>
                </a:solidFill>
                <a:latin typeface="Consolas"/>
              </a:rPr>
              <a:t>iloc</a:t>
            </a:r>
            <a:r>
              <a:rPr sz="900">
                <a:solidFill>
                  <a:srgbClr val="E8F6EF"/>
                </a:solidFill>
                <a:latin typeface="Consolas"/>
              </a:rPr>
              <a:t>[</a:t>
            </a:r>
            <a:r>
              <a:rPr sz="900">
                <a:solidFill>
                  <a:srgbClr val="E8F6EF"/>
                </a:solidFill>
                <a:latin typeface="Consolas"/>
              </a:rPr>
              <a:t>te</a:t>
            </a:r>
            <a:r>
              <a:rPr sz="900">
                <a:solidFill>
                  <a:srgbClr val="E8F6EF"/>
                </a:solidFill>
                <a:latin typeface="Consolas"/>
              </a:rPr>
              <a:t>]</a:t>
            </a:r>
            <a:r>
              <a:rPr sz="900">
                <a:solidFill>
                  <a:srgbClr val="E8F6EF"/>
                </a:solidFill>
                <a:latin typeface="Consolas"/>
              </a:rPr>
              <a:t>,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pred</a:t>
            </a:r>
            <a:r>
              <a:rPr sz="900">
                <a:solidFill>
                  <a:srgbClr val="E8F6EF"/>
                </a:solidFill>
                <a:latin typeface="Consolas"/>
              </a:rPr>
              <a:t>)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*</a:t>
            </a:r>
            <a:r>
              <a:rPr sz="900">
                <a:solidFill>
                  <a:srgbClr val="E8F6EF"/>
                </a:solidFill>
                <a:latin typeface="Consolas"/>
              </a:rPr>
              <a:t>*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F2D45F"/>
                </a:solidFill>
                <a:latin typeface="Consolas"/>
              </a:rPr>
              <a:t>0.5</a:t>
            </a:r>
            <a:r>
              <a:rPr sz="90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times</a:t>
            </a:r>
            <a:r>
              <a:rPr sz="900">
                <a:solidFill>
                  <a:srgbClr val="E8F6EF"/>
                </a:solidFill>
                <a:latin typeface="Consolas"/>
              </a:rPr>
              <a:t>.</a:t>
            </a:r>
            <a:r>
              <a:rPr sz="900">
                <a:solidFill>
                  <a:srgbClr val="E8F6EF"/>
                </a:solidFill>
                <a:latin typeface="Consolas"/>
              </a:rPr>
              <a:t>append</a:t>
            </a:r>
            <a:r>
              <a:rPr sz="900">
                <a:solidFill>
                  <a:srgbClr val="E8F6EF"/>
                </a:solidFill>
                <a:latin typeface="Consolas"/>
              </a:rPr>
              <a:t>(</a:t>
            </a:r>
            <a:r>
              <a:rPr sz="900">
                <a:solidFill>
                  <a:srgbClr val="E8F6EF"/>
                </a:solidFill>
                <a:latin typeface="Consolas"/>
              </a:rPr>
              <a:t>time</a:t>
            </a:r>
            <a:r>
              <a:rPr sz="900">
                <a:solidFill>
                  <a:srgbClr val="E8F6EF"/>
                </a:solidFill>
                <a:latin typeface="Consolas"/>
              </a:rPr>
              <a:t>.</a:t>
            </a:r>
            <a:r>
              <a:rPr sz="900">
                <a:solidFill>
                  <a:srgbClr val="E8F6EF"/>
                </a:solidFill>
                <a:latin typeface="Consolas"/>
              </a:rPr>
              <a:t>time</a:t>
            </a:r>
            <a:r>
              <a:rPr sz="900">
                <a:solidFill>
                  <a:srgbClr val="E8F6EF"/>
                </a:solidFill>
                <a:latin typeface="Consolas"/>
              </a:rPr>
              <a:t>(</a:t>
            </a:r>
            <a:r>
              <a:rPr sz="900">
                <a:solidFill>
                  <a:srgbClr val="E8F6EF"/>
                </a:solidFill>
                <a:latin typeface="Consolas"/>
              </a:rPr>
              <a:t>)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-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t0</a:t>
            </a:r>
            <a:r>
              <a:rPr sz="90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7BD389"/>
                </a:solidFill>
                <a:latin typeface="Consolas"/>
              </a:rPr>
              <a:t>return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</a:pP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F6B26B"/>
                </a:solidFill>
                <a:latin typeface="Consolas"/>
              </a:rPr>
              <a:t>'mean_rmse'</a:t>
            </a:r>
            <a:r>
              <a:rPr sz="900">
                <a:solidFill>
                  <a:srgbClr val="E8F6EF"/>
                </a:solidFill>
                <a:latin typeface="Consolas"/>
              </a:rPr>
              <a:t>: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8FB8E0"/>
                </a:solidFill>
                <a:latin typeface="Consolas"/>
              </a:rPr>
              <a:t>float</a:t>
            </a:r>
            <a:r>
              <a:rPr sz="900">
                <a:solidFill>
                  <a:srgbClr val="E8F6EF"/>
                </a:solidFill>
                <a:latin typeface="Consolas"/>
              </a:rPr>
              <a:t>(</a:t>
            </a:r>
            <a:r>
              <a:rPr sz="900">
                <a:solidFill>
                  <a:srgbClr val="E8F6EF"/>
                </a:solidFill>
                <a:latin typeface="Consolas"/>
              </a:rPr>
              <a:t>np</a:t>
            </a:r>
            <a:r>
              <a:rPr sz="900">
                <a:solidFill>
                  <a:srgbClr val="E8F6EF"/>
                </a:solidFill>
                <a:latin typeface="Consolas"/>
              </a:rPr>
              <a:t>.</a:t>
            </a:r>
            <a:r>
              <a:rPr sz="900">
                <a:solidFill>
                  <a:srgbClr val="E8F6EF"/>
                </a:solidFill>
                <a:latin typeface="Consolas"/>
              </a:rPr>
              <a:t>mean</a:t>
            </a:r>
            <a:r>
              <a:rPr sz="900">
                <a:solidFill>
                  <a:srgbClr val="E8F6EF"/>
                </a:solidFill>
                <a:latin typeface="Consolas"/>
              </a:rPr>
              <a:t>(</a:t>
            </a:r>
            <a:r>
              <a:rPr sz="900">
                <a:solidFill>
                  <a:srgbClr val="E8F6EF"/>
                </a:solidFill>
                <a:latin typeface="Consolas"/>
              </a:rPr>
              <a:t>rmses</a:t>
            </a:r>
            <a:r>
              <a:rPr sz="900">
                <a:solidFill>
                  <a:srgbClr val="E8F6EF"/>
                </a:solidFill>
                <a:latin typeface="Consolas"/>
              </a:rPr>
              <a:t>)</a:t>
            </a:r>
            <a:r>
              <a:rPr sz="900">
                <a:solidFill>
                  <a:srgbClr val="E8F6EF"/>
                </a:solidFill>
                <a:latin typeface="Consolas"/>
              </a:rPr>
              <a:t>)</a:t>
            </a:r>
            <a:r>
              <a:rPr sz="90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</a:pP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F6B26B"/>
                </a:solidFill>
                <a:latin typeface="Consolas"/>
              </a:rPr>
              <a:t>'std_rmse'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: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8FB8E0"/>
                </a:solidFill>
                <a:latin typeface="Consolas"/>
              </a:rPr>
              <a:t>float</a:t>
            </a:r>
            <a:r>
              <a:rPr sz="900">
                <a:solidFill>
                  <a:srgbClr val="E8F6EF"/>
                </a:solidFill>
                <a:latin typeface="Consolas"/>
              </a:rPr>
              <a:t>(</a:t>
            </a:r>
            <a:r>
              <a:rPr sz="900">
                <a:solidFill>
                  <a:srgbClr val="E8F6EF"/>
                </a:solidFill>
                <a:latin typeface="Consolas"/>
              </a:rPr>
              <a:t>np</a:t>
            </a:r>
            <a:r>
              <a:rPr sz="900">
                <a:solidFill>
                  <a:srgbClr val="E8F6EF"/>
                </a:solidFill>
                <a:latin typeface="Consolas"/>
              </a:rPr>
              <a:t>.</a:t>
            </a:r>
            <a:r>
              <a:rPr sz="900">
                <a:solidFill>
                  <a:srgbClr val="E8F6EF"/>
                </a:solidFill>
                <a:latin typeface="Consolas"/>
              </a:rPr>
              <a:t>std</a:t>
            </a:r>
            <a:r>
              <a:rPr sz="900">
                <a:solidFill>
                  <a:srgbClr val="E8F6EF"/>
                </a:solidFill>
                <a:latin typeface="Consolas"/>
              </a:rPr>
              <a:t>(</a:t>
            </a:r>
            <a:r>
              <a:rPr sz="900">
                <a:solidFill>
                  <a:srgbClr val="E8F6EF"/>
                </a:solidFill>
                <a:latin typeface="Consolas"/>
              </a:rPr>
              <a:t>rmses</a:t>
            </a:r>
            <a:r>
              <a:rPr sz="900">
                <a:solidFill>
                  <a:srgbClr val="E8F6EF"/>
                </a:solidFill>
                <a:latin typeface="Consolas"/>
              </a:rPr>
              <a:t>)</a:t>
            </a:r>
            <a:r>
              <a:rPr sz="900">
                <a:solidFill>
                  <a:srgbClr val="E8F6EF"/>
                </a:solidFill>
                <a:latin typeface="Consolas"/>
              </a:rPr>
              <a:t>)</a:t>
            </a:r>
            <a:r>
              <a:rPr sz="90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</a:pP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F6B26B"/>
                </a:solidFill>
                <a:latin typeface="Consolas"/>
              </a:rPr>
              <a:t>'mean_time'</a:t>
            </a:r>
            <a:r>
              <a:rPr sz="900">
                <a:solidFill>
                  <a:srgbClr val="E8F6EF"/>
                </a:solidFill>
                <a:latin typeface="Consolas"/>
              </a:rPr>
              <a:t>: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8FB8E0"/>
                </a:solidFill>
                <a:latin typeface="Consolas"/>
              </a:rPr>
              <a:t>float</a:t>
            </a:r>
            <a:r>
              <a:rPr sz="900">
                <a:solidFill>
                  <a:srgbClr val="E8F6EF"/>
                </a:solidFill>
                <a:latin typeface="Consolas"/>
              </a:rPr>
              <a:t>(</a:t>
            </a:r>
            <a:r>
              <a:rPr sz="900">
                <a:solidFill>
                  <a:srgbClr val="E8F6EF"/>
                </a:solidFill>
                <a:latin typeface="Consolas"/>
              </a:rPr>
              <a:t>np</a:t>
            </a:r>
            <a:r>
              <a:rPr sz="900">
                <a:solidFill>
                  <a:srgbClr val="E8F6EF"/>
                </a:solidFill>
                <a:latin typeface="Consolas"/>
              </a:rPr>
              <a:t>.</a:t>
            </a:r>
            <a:r>
              <a:rPr sz="900">
                <a:solidFill>
                  <a:srgbClr val="E8F6EF"/>
                </a:solidFill>
                <a:latin typeface="Consolas"/>
              </a:rPr>
              <a:t>mean</a:t>
            </a:r>
            <a:r>
              <a:rPr sz="900">
                <a:solidFill>
                  <a:srgbClr val="E8F6EF"/>
                </a:solidFill>
                <a:latin typeface="Consolas"/>
              </a:rPr>
              <a:t>(</a:t>
            </a:r>
            <a:r>
              <a:rPr sz="900">
                <a:solidFill>
                  <a:srgbClr val="E8F6EF"/>
                </a:solidFill>
                <a:latin typeface="Consolas"/>
              </a:rPr>
              <a:t>times</a:t>
            </a:r>
            <a:r>
              <a:rPr sz="900">
                <a:solidFill>
                  <a:srgbClr val="E8F6EF"/>
                </a:solidFill>
                <a:latin typeface="Consolas"/>
              </a:rPr>
              <a:t>)</a:t>
            </a:r>
            <a:r>
              <a:rPr sz="900">
                <a:solidFill>
                  <a:srgbClr val="E8F6EF"/>
                </a:solidFill>
                <a:latin typeface="Consolas"/>
              </a:rPr>
              <a:t>)</a:t>
            </a:r>
            <a:r>
              <a:rPr sz="90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</a:pP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900"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900">
                <a:solidFill>
                  <a:srgbClr val="9AA7A0"/>
                </a:solidFill>
                <a:latin typeface="Consolas"/>
              </a:rPr>
              <a:t># 使用示例</a:t>
            </a:r>
          </a:p>
          <a:p>
            <a:pPr>
              <a:lnSpc>
                <a:spcPct val="100000"/>
              </a:lnSpc>
            </a:pPr>
            <a:r>
              <a:rPr sz="900">
                <a:solidFill>
                  <a:srgbClr val="8FB8E0"/>
                </a:solidFill>
                <a:latin typeface="Consolas"/>
              </a:rPr>
              <a:t>print</a:t>
            </a:r>
            <a:r>
              <a:rPr sz="900">
                <a:solidFill>
                  <a:srgbClr val="E8F6EF"/>
                </a:solidFill>
                <a:latin typeface="Consolas"/>
              </a:rPr>
              <a:t>(</a:t>
            </a:r>
            <a:r>
              <a:rPr sz="900">
                <a:solidFill>
                  <a:srgbClr val="E8F6EF"/>
                </a:solidFill>
                <a:latin typeface="Consolas"/>
              </a:rPr>
              <a:t>evaluate</a:t>
            </a:r>
            <a:r>
              <a:rPr sz="900">
                <a:solidFill>
                  <a:srgbClr val="E8F6EF"/>
                </a:solidFill>
                <a:latin typeface="Consolas"/>
              </a:rPr>
              <a:t>(</a:t>
            </a:r>
            <a:r>
              <a:rPr sz="900">
                <a:solidFill>
                  <a:srgbClr val="E8F6EF"/>
                </a:solidFill>
                <a:latin typeface="Consolas"/>
              </a:rPr>
              <a:t>RandomForestRegressor</a:t>
            </a:r>
            <a:r>
              <a:rPr sz="900">
                <a:solidFill>
                  <a:srgbClr val="E8F6EF"/>
                </a:solidFill>
                <a:latin typeface="Consolas"/>
              </a:rPr>
              <a:t>(</a:t>
            </a:r>
            <a:r>
              <a:rPr sz="900">
                <a:solidFill>
                  <a:srgbClr val="E8F6EF"/>
                </a:solidFill>
                <a:latin typeface="Consolas"/>
              </a:rPr>
              <a:t>random_state</a:t>
            </a:r>
            <a:r>
              <a:rPr sz="900">
                <a:solidFill>
                  <a:srgbClr val="E8F6EF"/>
                </a:solidFill>
                <a:latin typeface="Consolas"/>
              </a:rPr>
              <a:t>=</a:t>
            </a:r>
            <a:r>
              <a:rPr sz="900">
                <a:solidFill>
                  <a:srgbClr val="F2D45F"/>
                </a:solidFill>
                <a:latin typeface="Consolas"/>
              </a:rPr>
              <a:t>100</a:t>
            </a:r>
            <a:r>
              <a:rPr sz="900">
                <a:solidFill>
                  <a:srgbClr val="E8F6EF"/>
                </a:solidFill>
                <a:latin typeface="Consolas"/>
              </a:rPr>
              <a:t>)</a:t>
            </a:r>
            <a:r>
              <a:rPr sz="900">
                <a:solidFill>
                  <a:srgbClr val="E8F6EF"/>
                </a:solidFill>
                <a:latin typeface="Consolas"/>
              </a:rPr>
              <a:t>,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X</a:t>
            </a:r>
            <a:r>
              <a:rPr sz="900">
                <a:solidFill>
                  <a:srgbClr val="E8F6EF"/>
                </a:solidFill>
                <a:latin typeface="Consolas"/>
              </a:rPr>
              <a:t>,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y</a:t>
            </a:r>
            <a:r>
              <a:rPr sz="900">
                <a:solidFill>
                  <a:srgbClr val="E8F6EF"/>
                </a:solidFill>
                <a:latin typeface="Consolas"/>
              </a:rPr>
              <a:t>)</a:t>
            </a:r>
            <a:r>
              <a:rPr sz="90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900">
                <a:solidFill>
                  <a:srgbClr val="8FB8E0"/>
                </a:solidFill>
                <a:latin typeface="Consolas"/>
              </a:rPr>
              <a:t>print</a:t>
            </a:r>
            <a:r>
              <a:rPr sz="900">
                <a:solidFill>
                  <a:srgbClr val="E8F6EF"/>
                </a:solidFill>
                <a:latin typeface="Consolas"/>
              </a:rPr>
              <a:t>(</a:t>
            </a:r>
            <a:r>
              <a:rPr sz="900">
                <a:solidFill>
                  <a:srgbClr val="E8F6EF"/>
                </a:solidFill>
                <a:latin typeface="Consolas"/>
              </a:rPr>
              <a:t>evaluate</a:t>
            </a:r>
            <a:r>
              <a:rPr sz="900">
                <a:solidFill>
                  <a:srgbClr val="E8F6EF"/>
                </a:solidFill>
                <a:latin typeface="Consolas"/>
              </a:rPr>
              <a:t>(</a:t>
            </a:r>
            <a:r>
              <a:rPr sz="900">
                <a:solidFill>
                  <a:srgbClr val="E8F6EF"/>
                </a:solidFill>
                <a:latin typeface="Consolas"/>
              </a:rPr>
              <a:t>RandomForestRegressor</a:t>
            </a:r>
            <a:r>
              <a:rPr sz="900">
                <a:solidFill>
                  <a:srgbClr val="E8F6EF"/>
                </a:solidFill>
                <a:latin typeface="Consolas"/>
              </a:rPr>
              <a:t>(</a:t>
            </a:r>
            <a:r>
              <a:rPr sz="900">
                <a:solidFill>
                  <a:srgbClr val="E8F6EF"/>
                </a:solidFill>
                <a:latin typeface="Consolas"/>
              </a:rPr>
              <a:t>n_estimators</a:t>
            </a:r>
            <a:r>
              <a:rPr sz="900">
                <a:solidFill>
                  <a:srgbClr val="E8F6EF"/>
                </a:solidFill>
                <a:latin typeface="Consolas"/>
              </a:rPr>
              <a:t>=</a:t>
            </a:r>
            <a:r>
              <a:rPr sz="900">
                <a:solidFill>
                  <a:srgbClr val="F2D45F"/>
                </a:solidFill>
                <a:latin typeface="Consolas"/>
              </a:rPr>
              <a:t>300</a:t>
            </a:r>
            <a:r>
              <a:rPr sz="90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</a:pP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max_depth</a:t>
            </a:r>
            <a:r>
              <a:rPr sz="900">
                <a:solidFill>
                  <a:srgbClr val="E8F6EF"/>
                </a:solidFill>
                <a:latin typeface="Consolas"/>
              </a:rPr>
              <a:t>=</a:t>
            </a:r>
            <a:r>
              <a:rPr sz="900">
                <a:solidFill>
                  <a:srgbClr val="F2D45F"/>
                </a:solidFill>
                <a:latin typeface="Consolas"/>
              </a:rPr>
              <a:t>50</a:t>
            </a:r>
            <a:r>
              <a:rPr sz="90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</a:pP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min_samples_split</a:t>
            </a:r>
            <a:r>
              <a:rPr sz="900">
                <a:solidFill>
                  <a:srgbClr val="E8F6EF"/>
                </a:solidFill>
                <a:latin typeface="Consolas"/>
              </a:rPr>
              <a:t>=</a:t>
            </a:r>
            <a:r>
              <a:rPr sz="900">
                <a:solidFill>
                  <a:srgbClr val="F2D45F"/>
                </a:solidFill>
                <a:latin typeface="Consolas"/>
              </a:rPr>
              <a:t>5</a:t>
            </a:r>
            <a:r>
              <a:rPr sz="90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</a:pP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n_jobs</a:t>
            </a:r>
            <a:r>
              <a:rPr sz="900">
                <a:solidFill>
                  <a:srgbClr val="E8F6EF"/>
                </a:solidFill>
                <a:latin typeface="Consolas"/>
              </a:rPr>
              <a:t>=</a:t>
            </a:r>
            <a:r>
              <a:rPr sz="900">
                <a:solidFill>
                  <a:srgbClr val="E8F6EF"/>
                </a:solidFill>
                <a:latin typeface="Consolas"/>
              </a:rPr>
              <a:t>-</a:t>
            </a:r>
            <a:r>
              <a:rPr sz="900">
                <a:solidFill>
                  <a:srgbClr val="F2D45F"/>
                </a:solidFill>
                <a:latin typeface="Consolas"/>
              </a:rPr>
              <a:t>1</a:t>
            </a:r>
            <a:r>
              <a:rPr sz="90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</a:pP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random_state</a:t>
            </a:r>
            <a:r>
              <a:rPr sz="900">
                <a:solidFill>
                  <a:srgbClr val="E8F6EF"/>
                </a:solidFill>
                <a:latin typeface="Consolas"/>
              </a:rPr>
              <a:t>=</a:t>
            </a:r>
            <a:r>
              <a:rPr sz="900">
                <a:solidFill>
                  <a:srgbClr val="F2D45F"/>
                </a:solidFill>
                <a:latin typeface="Consolas"/>
              </a:rPr>
              <a:t>100</a:t>
            </a:r>
            <a:r>
              <a:rPr sz="900">
                <a:solidFill>
                  <a:srgbClr val="E8F6EF"/>
                </a:solidFill>
                <a:latin typeface="Consolas"/>
              </a:rPr>
              <a:t>)</a:t>
            </a:r>
            <a:r>
              <a:rPr sz="900">
                <a:solidFill>
                  <a:srgbClr val="E8F6EF"/>
                </a:solidFill>
                <a:latin typeface="Consolas"/>
              </a:rPr>
              <a:t>,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X</a:t>
            </a:r>
            <a:r>
              <a:rPr sz="900">
                <a:solidFill>
                  <a:srgbClr val="E8F6EF"/>
                </a:solidFill>
                <a:latin typeface="Consolas"/>
              </a:rPr>
              <a:t>,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y</a:t>
            </a:r>
            <a:r>
              <a:rPr sz="900">
                <a:solidFill>
                  <a:srgbClr val="E8F6EF"/>
                </a:solidFill>
                <a:latin typeface="Consolas"/>
              </a:rPr>
              <a:t>)</a:t>
            </a:r>
            <a:r>
              <a:rPr sz="900">
                <a:solidFill>
                  <a:srgbClr val="E8F6EF"/>
                </a:solidFill>
                <a:latin typeface="Consolas"/>
              </a:rPr>
              <a:t>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6355080"/>
            <a:ext cx="11155680" cy="41148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644652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2A44F"/>
                </a:solidFill>
                <a:latin typeface="微软雅黑"/>
              </a:rPr>
              <a:t>💬  教师讲解要点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739128"/>
            <a:ext cx="10789920" cy="-45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「只比较通过 evaluate() 的模型」 — 让学生养成写自己评估函数的习惯。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机器学习 · 第 9 章  随机森林 — 二手车价格预测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64 / 66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微软雅黑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微软雅黑"/>
              </a:rPr>
              <a:t>随机森林 — 二手车价格预测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微软雅黑"/>
              </a:rPr>
              <a:t>APPENDIX   常见报错调试表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微软雅黑"/>
              </a:rPr>
              <a:t>课堂上常见报错 — 快速调试表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微软雅黑"/>
              </a:rPr>
              <a:t>学生最常举手的 TOP 7 错误及处理方法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011680"/>
            <a:ext cx="4023360" cy="457200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01168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症状 / 报错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2011680"/>
            <a:ext cx="3108960" cy="457200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0116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可能原因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80960" y="2011680"/>
            <a:ext cx="4023360" cy="457200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0" y="201168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处理方法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468880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46888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Consolas"/>
              </a:rPr>
              <a:t>could not convert string to float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2468880"/>
            <a:ext cx="3108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24688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残留 object 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80960" y="2468880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246888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查看 dtypes 后 astype 或编码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926080"/>
            <a:ext cx="4023360" cy="45720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92608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Consolas"/>
              </a:rPr>
              <a:t>Input contains NaN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2926080"/>
            <a:ext cx="3108960" cy="45720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29260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缺失值残留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80960" y="2926080"/>
            <a:ext cx="4023360" cy="45720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292608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isna().sum() 找出 → dropna 或填充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383280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338328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Consolas"/>
              </a:rPr>
              <a:t>KeyError in KFold 循环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3383280"/>
            <a:ext cx="3108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63440" y="33832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loc/索引不匹配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80960" y="3383280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0" y="338328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reset_index(drop=True) 或 .iloc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840480"/>
            <a:ext cx="4023360" cy="45720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384048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RMSE 异常低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0" y="3840480"/>
            <a:ext cx="3108960" cy="45720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63440" y="38404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目标泄漏到 X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80960" y="3840480"/>
            <a:ext cx="4023360" cy="45720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0" y="384048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检查 X.columns 是否含目标列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297680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429768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GridSearch 太慢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0" y="4297680"/>
            <a:ext cx="3108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63440" y="42976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组合过多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680960" y="4297680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0" y="429768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用小网格或 RandomizedSearchCV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4754880"/>
            <a:ext cx="4023360" cy="45720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475488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`oob_score` 为负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0" y="4754880"/>
            <a:ext cx="3108960" cy="45720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63440" y="47548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回归 R² 可负 (模型差)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680960" y="4754880"/>
            <a:ext cx="4023360" cy="45720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72400" y="475488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检查数据/超参数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5212080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521208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apply(axis=1) 太慢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0" y="5212080"/>
            <a:ext cx="3108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663440" y="52120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行级 Python 循环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680960" y="5212080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772400" y="521208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微软雅黑"/>
              </a:rPr>
              <a:t>用 numpy/pandas 向量化重写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机器学习 · 第 9 章  随机森林 — 二手车价格预测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65 / 66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9509760" y="3931920"/>
            <a:ext cx="1645920" cy="1645920"/>
          </a:xfrm>
          <a:prstGeom prst="triangle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0607040" y="4389120"/>
            <a:ext cx="1280160" cy="1280160"/>
          </a:xfrm>
          <a:prstGeom prst="triangle">
            <a:avLst/>
          </a:prstGeom>
          <a:solidFill>
            <a:srgbClr val="88D4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>
            <a:off x="10058400" y="4846320"/>
            <a:ext cx="1005840" cy="1005840"/>
          </a:xfrm>
          <a:prstGeom prst="triangle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>
            <a:off x="8778240" y="4572000"/>
            <a:ext cx="1097280" cy="1097280"/>
          </a:xfrm>
          <a:prstGeom prst="triangle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801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2A44F"/>
                </a:solidFill>
                <a:latin typeface="微软雅黑"/>
              </a:rPr>
              <a:t>第 09 章 — 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100584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FFFFFF"/>
                </a:solidFill>
                <a:latin typeface="微软雅黑"/>
              </a:rPr>
              <a:t>辛苦了。</a:t>
            </a:r>
          </a:p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FFFFFF"/>
                </a:solidFill>
                <a:latin typeface="微软雅黑"/>
              </a:rPr>
              <a:t>下一讲将进入更强大的树模型 — XGBoost / LightGBM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4160520"/>
            <a:ext cx="73152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2976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D9A0"/>
                </a:solidFill>
                <a:latin typeface="微软雅黑"/>
              </a:rPr>
              <a:t>Q &amp;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377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FE3DA"/>
                </a:solidFill>
                <a:latin typeface="微软雅黑"/>
              </a:rPr>
              <a:t>今天的代码都已整理在 09-Random_Forest.ipynb 中。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486400"/>
            <a:ext cx="3017520" cy="502920"/>
          </a:xfrm>
          <a:prstGeom prst="roundRect">
            <a:avLst/>
          </a:prstGeom>
          <a:solidFill>
            <a:srgbClr val="1F4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5486400"/>
            <a:ext cx="109728" cy="50292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5486400"/>
            <a:ext cx="2788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</a:rPr>
              <a:t>集成学习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23360" y="5486400"/>
            <a:ext cx="3017520" cy="502920"/>
          </a:xfrm>
          <a:prstGeom prst="roundRect">
            <a:avLst/>
          </a:prstGeom>
          <a:solidFill>
            <a:srgbClr val="1F4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23360" y="5486400"/>
            <a:ext cx="109728" cy="502920"/>
          </a:xfrm>
          <a:prstGeom prst="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51960" y="5486400"/>
            <a:ext cx="2788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</a:rPr>
              <a:t>装袋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0" y="5486400"/>
            <a:ext cx="3017520" cy="502920"/>
          </a:xfrm>
          <a:prstGeom prst="roundRect">
            <a:avLst/>
          </a:prstGeom>
          <a:solidFill>
            <a:srgbClr val="1F4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23760" y="5486400"/>
            <a:ext cx="109728" cy="502920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52360" y="5486400"/>
            <a:ext cx="2788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</a:rPr>
              <a:t>OOB · CV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2636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CFE3DA"/>
                </a:solidFill>
                <a:latin typeface="微软雅黑"/>
              </a:rPr>
              <a:t>机器学习 · 第 9 章  随机森林 — 二手车价格预测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