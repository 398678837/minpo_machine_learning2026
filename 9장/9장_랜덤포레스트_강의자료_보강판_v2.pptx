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9784080" y="4023360"/>
            <a:ext cx="1554480" cy="1554480"/>
          </a:xfrm>
          <a:prstGeom prst="triangl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0789920" y="4389120"/>
            <a:ext cx="1188720" cy="1188720"/>
          </a:xfrm>
          <a:prstGeom prst="triangle">
            <a:avLst/>
          </a:prstGeom>
          <a:solidFill>
            <a:srgbClr val="88D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10241280" y="4846320"/>
            <a:ext cx="914400" cy="914400"/>
          </a:xfrm>
          <a:prstGeom prst="triangl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9326880" y="4663440"/>
            <a:ext cx="1005840" cy="1005840"/>
          </a:xfrm>
          <a:prstGeom prst="triangl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777240"/>
            <a:ext cx="237744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8229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CHAPTER 09 · 기계학습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55448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FFFFFF"/>
                </a:solidFill>
                <a:latin typeface="맑은 고딕"/>
              </a:rPr>
              <a:t>랜덤 포레스트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D9A0"/>
                </a:solidFill>
                <a:latin typeface="맑은 고딕"/>
              </a:rPr>
              <a:t>Random Forest로 중고차 가격 예측하기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520440"/>
            <a:ext cx="73152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FE3DA"/>
                </a:solidFill>
                <a:latin typeface="맑은 고딕"/>
              </a:rPr>
              <a:t>앙상블 · 부트스트랩 · K-Fold 교차검증 · 변수 중요도 · 하이퍼파라미터 튜닝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06240"/>
            <a:ext cx="25146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206240"/>
            <a:ext cx="91440" cy="41148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결정 트리의 진화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4206240"/>
            <a:ext cx="25146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20440" y="4206240"/>
            <a:ext cx="91440" cy="411480"/>
          </a:xfrm>
          <a:prstGeom prst="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42519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배깅(Bagging)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06240"/>
            <a:ext cx="25146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206240"/>
            <a:ext cx="91440" cy="41148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519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OOB · max_features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893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교수자 강의용 · 이론 + 실습 + 평가 + 활동까지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6975" y="59893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지도학습 · 회귀(Regression)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GUIDE   교수자 운영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수업 운영 가이드 (90 / 120분 모듈)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도입→이론→실습→평가→정리, 시간 배분과 강의 포인트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20240"/>
            <a:ext cx="5486400" cy="45720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20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90분 집중 모듈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731520" cy="594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68880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Consolas"/>
              </a:rPr>
              <a:t>10′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2468880"/>
            <a:ext cx="8686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2468880"/>
            <a:ext cx="868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도입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51460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중고차 가격 예측 문제 · 결정 트리의 한계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27248"/>
            <a:ext cx="731520" cy="594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27248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Consolas"/>
              </a:rPr>
              <a:t>20′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80" y="3127248"/>
            <a:ext cx="8686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3127248"/>
            <a:ext cx="868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이론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172968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배깅 · 부트스트랩 · 랜덤 특성 선택 (직관 위주)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85616"/>
            <a:ext cx="731520" cy="594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85616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Consolas"/>
              </a:rPr>
              <a:t>35′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25880" y="3785616"/>
            <a:ext cx="8686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3785616"/>
            <a:ext cx="868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831336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텍스트 전처리 → RandomForestRegressor 학습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443984"/>
            <a:ext cx="731520" cy="594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443984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Consolas"/>
              </a:rPr>
              <a:t>15′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25880" y="4443984"/>
            <a:ext cx="8686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5880" y="4443984"/>
            <a:ext cx="868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평가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489704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RMSE · K-폴드 교차검증 결과 비교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102352"/>
            <a:ext cx="731520" cy="594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102352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Consolas"/>
              </a:rPr>
              <a:t>10′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25880" y="5102352"/>
            <a:ext cx="8686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5880" y="5102352"/>
            <a:ext cx="868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정리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5148072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변수 중요도 해석 · 실무 체크리스트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1920240"/>
            <a:ext cx="5486400" cy="45720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1920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120분 확장 모듈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2468880"/>
            <a:ext cx="731520" cy="594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2468880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Consolas"/>
              </a:rPr>
              <a:t>10′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95160" y="2468880"/>
            <a:ext cx="8686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5160" y="2468880"/>
            <a:ext cx="868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도입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0" y="251460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예측 vs 추정 · 가격을 결정하는 요인 토론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3127248"/>
            <a:ext cx="731520" cy="594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3127248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Consolas"/>
              </a:rPr>
              <a:t>30′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95160" y="3127248"/>
            <a:ext cx="8686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95160" y="3127248"/>
            <a:ext cx="868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이론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80" y="3172968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OOB · 분산 감소 공식 · max_features의 의미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3785616"/>
            <a:ext cx="731520" cy="594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3785616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Consolas"/>
              </a:rPr>
              <a:t>45′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95160" y="3785616"/>
            <a:ext cx="8686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95160" y="3785616"/>
            <a:ext cx="868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실습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80" y="3831336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전처리 5개 컬럼 + 더미 변수화 + 학습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4443984"/>
            <a:ext cx="731520" cy="594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0" y="4443984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Consolas"/>
              </a:rPr>
              <a:t>20′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95160" y="4443984"/>
            <a:ext cx="8686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95160" y="4443984"/>
            <a:ext cx="868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평가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80" y="4489704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5-Fold CV + OOB + 튜닝 전후 비교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5102352"/>
            <a:ext cx="731520" cy="594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5102352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Consolas"/>
              </a:rPr>
              <a:t>15′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995160" y="5102352"/>
            <a:ext cx="86868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95160" y="5102352"/>
            <a:ext cx="868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정리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80" y="5148072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permutation importance · PDP 시연 후 Q&amp;A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5897880"/>
            <a:ext cx="11064240" cy="50292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281928"/>
            <a:ext cx="10698480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코드 실행 자체에 시간을 다 쓰지 않는다. ‘왜 이 처리가 필요한가’를 학생이 설명하는 시간을 보장한다.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2 / 66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GUIDE   학습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학습 목표 (Learning Outcomes)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수업이 끝났을 때 학생이 설명·구현·평가할 수 있어야 하는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1097280" cy="86868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5740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맑은 고딕"/>
              </a:rPr>
              <a:t>이해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37360" y="2057400"/>
            <a:ext cx="987552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21488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B2B2A"/>
                </a:solidFill>
                <a:latin typeface="맑은 고딕"/>
              </a:rPr>
              <a:t>단일 결정 트리가 과적합에 취약한 이유, 그리고 ‘여러 트리의 평균’이 분산을 줄이는 원리를 직관과 공식으로 설명할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63240"/>
            <a:ext cx="1097280" cy="86868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맑은 고딕"/>
              </a:rPr>
              <a:t>적용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37360" y="3063240"/>
            <a:ext cx="987552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315468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B2B2A"/>
                </a:solidFill>
                <a:latin typeface="맑은 고딕"/>
              </a:rPr>
              <a:t>단위가 섞인 텍스트(1248 CC, 74 bhp, 23.4 kmpl …)를 숫자 피처로 정제하고, get_dummies로 범주형을 원-핫 인코딩한 뒤 RandomForestRegressor를 학습시킬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9080"/>
            <a:ext cx="1097280" cy="868680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6908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맑은 고딕"/>
              </a:rPr>
              <a:t>분석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37360" y="4069080"/>
            <a:ext cx="987552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41605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B2B2A"/>
                </a:solidFill>
                <a:latin typeface="맑은 고딕"/>
              </a:rPr>
              <a:t>RMSE와 K-폴드 교차검증, OOB 점수를 함께 보고 ‘한 번의 평가’가 가진 우연성을 제거한 안정적 비교를 수행할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74920"/>
            <a:ext cx="1097280" cy="86868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7492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맑은 고딕"/>
              </a:rPr>
              <a:t>평가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37360" y="5074920"/>
            <a:ext cx="987552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51663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B2B2A"/>
                </a:solidFill>
                <a:latin typeface="맑은 고딕"/>
              </a:rPr>
              <a:t>n_estimators · max_depth · min_samples_leaf · max_features의 의미를 알고 GridSearchCV로 튜닝하며, 변수 중요도 해석의 함정(상관·고카디널리티 편향)을 지적할 수 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6263640"/>
            <a:ext cx="11064240" cy="45720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647688"/>
            <a:ext cx="1069848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마지막에 ‘랜덤 포레스트가 좋은 baseline인 이유’와 ‘조심할 점’ 각 한 가지씩 학생이 말하게 한다.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3 / 66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TOC   전체 수업 목차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전체 수업 목차 — 7 Part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교재 9.1–9.8을 강의용으로 확장, 활동·해석까지 포함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371600" cy="50292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Part 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2011680"/>
            <a:ext cx="27432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201168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맑은 고딕"/>
              </a:rPr>
              <a:t>문제와 직관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011680"/>
            <a:ext cx="1188720" cy="5029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01168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9.1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07568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중고차 가격 예측 · 결정 트리의 한계 · 앙상블 직관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578608"/>
            <a:ext cx="1371600" cy="50292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57860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Part II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2578608"/>
            <a:ext cx="27432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257860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맑은 고딕"/>
              </a:rPr>
              <a:t>이론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2578608"/>
            <a:ext cx="1188720" cy="5029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257860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9.7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64261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부트스트랩 · OOB(36.8%) · 분산 감소 · 알고리즘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145536"/>
            <a:ext cx="1371600" cy="502920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145536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Part III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3145536"/>
            <a:ext cx="27432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0" y="3145536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맑은 고딕"/>
              </a:rPr>
              <a:t>데이터 전처리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3145536"/>
            <a:ext cx="1188720" cy="5029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314553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9.2-9.4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209544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engine · max_power · mileage · torque · name · 결측 · 더미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712464"/>
            <a:ext cx="1371600" cy="502920"/>
          </a:xfrm>
          <a:prstGeom prst="roundRect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712464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Part IV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11680" y="3712464"/>
            <a:ext cx="27432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03120" y="3712464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맑은 고딕"/>
              </a:rPr>
              <a:t>모델링과 평가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46320" y="3712464"/>
            <a:ext cx="1188720" cy="5029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3712464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9.5-9.6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77647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train/test · RMSE · K-Fold · OOB 평가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279392"/>
            <a:ext cx="137160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279392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Part V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11680" y="4279392"/>
            <a:ext cx="27432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03120" y="4279392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맑은 고딕"/>
              </a:rPr>
              <a:t>하이퍼파라미터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46320" y="4279392"/>
            <a:ext cx="1188720" cy="5029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0" y="4279392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9.8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43434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n_estimators · max_depth · GridSearchCV · 결과 보고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4846320"/>
            <a:ext cx="1371600" cy="502920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84632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Part VI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011680" y="4846320"/>
            <a:ext cx="27432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03120" y="484632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맑은 고딕"/>
              </a:rPr>
              <a:t>해석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46320" y="4846320"/>
            <a:ext cx="1188720" cy="5029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46320" y="484632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확장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491032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MDI · permutation importance · PDP · 예측 구간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413248"/>
            <a:ext cx="1371600" cy="502920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41324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Part VII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011680" y="5413248"/>
            <a:ext cx="27432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0" y="541324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맑은 고딕"/>
              </a:rPr>
              <a:t>활동·평가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46320" y="5413248"/>
            <a:ext cx="1188720" cy="5029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46320" y="54132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확장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547725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팀 실습 · 퀴즈 · 과제 · 루브릭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4 / 66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9601200" y="4114800"/>
            <a:ext cx="1371600" cy="1371600"/>
          </a:xfrm>
          <a:prstGeom prst="triangle">
            <a:avLst/>
          </a:prstGeom>
          <a:solidFill>
            <a:srgbClr val="88D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0515600" y="4572000"/>
            <a:ext cx="1005840" cy="1005840"/>
          </a:xfrm>
          <a:prstGeom prst="triangl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8961120" y="4754880"/>
            <a:ext cx="822960" cy="822960"/>
          </a:xfrm>
          <a:prstGeom prst="triangl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19456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PART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맑은 고딕"/>
              </a:rPr>
              <a:t>문제와 직관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03320"/>
            <a:ext cx="73152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FE3DA"/>
                </a:solidFill>
                <a:latin typeface="맑은 고딕"/>
              </a:rPr>
              <a:t>랜덤 포레스트를 배우기 전, 예측 문제의 구조와 트리 한계를 잡는다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9.1   문제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9.1 문제 정의 — 중고차 가격 예측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정가가 없는 시장에서 적정 판매가를 추정한다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548640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57400"/>
            <a:ext cx="5486400" cy="50292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5740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🎯  미션 정보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97480"/>
            <a:ext cx="201168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27432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</a:rPr>
              <a:t>미션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69748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9504" y="273405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중고차 판매 이력으로 가격 예측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108960"/>
            <a:ext cx="201168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15468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</a:rPr>
              <a:t>난이도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310896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9504" y="314553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★★★ (중상)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520440"/>
            <a:ext cx="201168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35661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</a:rPr>
              <a:t>알고리즘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52044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9504" y="355701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Random Forest (Regressor)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931920"/>
            <a:ext cx="201168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39776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</a:rPr>
              <a:t>데이터셋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93192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9504" y="396849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car.csv  (8,128행 × 13열)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343400"/>
            <a:ext cx="201168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438912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</a:rPr>
              <a:t>종속변수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434340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9504" y="437997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selling_price (판매가격)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754880"/>
            <a:ext cx="201168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48006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</a:rPr>
              <a:t>문제 유형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475488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89504" y="479145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회귀 (Regression)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166360"/>
            <a:ext cx="201168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" y="521208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</a:rPr>
              <a:t>평가 지표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516636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89504" y="520293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RMSE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577840"/>
            <a:ext cx="201168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" y="56235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</a:rPr>
              <a:t>주요 라이브러리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0" y="557784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89504" y="561441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pandas · numpy · matplotlib · seaborn · scikit-learn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2057400"/>
            <a:ext cx="54864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63640" y="2057400"/>
            <a:ext cx="91440" cy="196596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19672" y="22219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🤔  왜 어려운가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9672" y="2715768"/>
            <a:ext cx="5029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• 정가가 없는 시장 — 같은 모델·연식도 상태·옵션에 따라 가격이 다르다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• 가격을 결정하는 요소가 13개 변수에 분산되어 있다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• 단위가 섞인 텍스트(1248 CC, 74 bhp, 23.4 kmpl)가 다수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• selling_price 분포가 비대칭(저가에 몰리고 고가 꼬리)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63640" y="4114800"/>
            <a:ext cx="54864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4114800"/>
            <a:ext cx="91440" cy="214884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19672" y="42793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📌  왜 RF인가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9672" y="4773168"/>
            <a:ext cx="50292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• 단일 결정 트리는 깊을수록 train만 외워서 test가 흔들린다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• 선형 모델은 비선형 상호작용(연식 × 주행거리)을 직접 표현 못함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• 랜덤 포레스트 = 결정 트리의 진화: 다수의 트리를 평균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→ ‘좋은 baseline’으로 첫 모델로 가장 자주 선택된다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6355080"/>
            <a:ext cx="11064240" cy="45720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Warm-up 질문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739128"/>
            <a:ext cx="1069848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‘여러분이 중고차를 산다면 가격을 결정짓는 요인 3가지를 적어보세요’ → 학생 답과 피처 목록을 매칭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6 / 66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9.1   데이터 컬럼 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데이터셋 컬럼 맵 — 의미와 처리 방향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전처리 ‘무엇을 왜 해야 하는가’를 먼저 합의한다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1828800" cy="310896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컬럼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011680"/>
            <a:ext cx="2926080" cy="310896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011680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의미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2011680"/>
            <a:ext cx="1554480" cy="310896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01168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현재 dtype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011680"/>
            <a:ext cx="4754880" cy="310896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01168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처리 방향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322576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32257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name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322576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232257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차량 브랜드/모델명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2322576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2322576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object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322576"/>
            <a:ext cx="4754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322576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첫 단어 추출 → 더미 변수화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633472"/>
            <a:ext cx="182880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633472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year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2633472"/>
            <a:ext cx="29260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0" y="263347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생산년도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2633472"/>
            <a:ext cx="15544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0" y="263347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int64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633472"/>
            <a:ext cx="47548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2633472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그대로 사용 (또는 ‘연식’ 파생)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2944368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294436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selling_price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2944368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68880" y="294436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판매가격 — 타깃 (target)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2944368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60" y="294436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int64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2944368"/>
            <a:ext cx="4754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2944368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X에서 분리, 그대로 사용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255264"/>
            <a:ext cx="182880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3255264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km_driven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77440" y="3255264"/>
            <a:ext cx="29260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68880" y="325526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주행거리 (km)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0" y="3255264"/>
            <a:ext cx="15544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94960" y="325526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int64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3255264"/>
            <a:ext cx="47548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325526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수치형, 이상치 확인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3566160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3566160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fuel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77440" y="3566160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68880" y="3566160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연료 (Petrol/Diesel/LPG/CNG)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0" y="3566160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4960" y="356616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object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0" y="3566160"/>
            <a:ext cx="4754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49440" y="3566160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더미 변수화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3877056"/>
            <a:ext cx="182880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387705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seller_type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377440" y="3877056"/>
            <a:ext cx="29260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68880" y="387705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판매자 유형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03520" y="3877056"/>
            <a:ext cx="15544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94960" y="3877056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object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58000" y="3877056"/>
            <a:ext cx="47548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49440" y="3877056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더미 변수화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187952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4187952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transmission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377440" y="4187952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68880" y="418795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변속기 (Manual/Auto)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03520" y="4187952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94960" y="418795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object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58000" y="4187952"/>
            <a:ext cx="4754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49440" y="4187952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더미 변수화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4498848"/>
            <a:ext cx="182880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449884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owner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377440" y="4498848"/>
            <a:ext cx="29260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468880" y="449884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소유 변경 내역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303520" y="4498848"/>
            <a:ext cx="15544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94960" y="449884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object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58000" y="4498848"/>
            <a:ext cx="47548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949440" y="4498848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더미 변수화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" y="4809744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4809744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mileage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377440" y="4809744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468880" y="480974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연비 + 단위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303520" y="4809744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94960" y="480974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object ⚠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58000" y="4809744"/>
            <a:ext cx="4754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949440" y="480974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단위 통일 후 float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8640" y="5120640"/>
            <a:ext cx="182880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0080" y="5120640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engine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377440" y="5120640"/>
            <a:ext cx="29260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468880" y="5120640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배기량 + ‘CC’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303520" y="5120640"/>
            <a:ext cx="15544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94960" y="512064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object ⚠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858000" y="5120640"/>
            <a:ext cx="47548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949440" y="5120640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숫자만 추출 → float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8640" y="5431536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0080" y="543153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max_power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377440" y="5431536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468880" y="543153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최대 출력 + ‘bhp’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303520" y="5431536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394960" y="5431536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object ⚠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858000" y="5431536"/>
            <a:ext cx="4754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949440" y="5431536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숫자만 추출 (예외 처리)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8640" y="5742432"/>
            <a:ext cx="182880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40080" y="5742432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torque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377440" y="5742432"/>
            <a:ext cx="29260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468880" y="574243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토크 + RPM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303520" y="5742432"/>
            <a:ext cx="15544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394960" y="574243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object ⚠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858000" y="5742432"/>
            <a:ext cx="4754880" cy="310896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949440" y="5742432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앞 숫자 추출, kgm→Nm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48640" y="6053328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0080" y="605332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seats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377440" y="6053328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468880" y="605332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인승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303520" y="6053328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394960" y="605332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float64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858000" y="6053328"/>
            <a:ext cx="4754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949440" y="6053328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결측치 확인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7 / 66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INTRO   결정 트리의 한계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왜 ‘결정 트리 하나’ 만으로는 부족한가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이해는 쉽지만, 데이터 변화에 매우 민감하다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594360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📊  편향(Bias) vs 분산(Variance)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120640"/>
            <a:ext cx="5212080" cy="36576"/>
          </a:xfrm>
          <a:prstGeom prst="rect">
            <a:avLst/>
          </a:prstGeom>
          <a:solidFill>
            <a:srgbClr val="55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212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맑은 고딕"/>
              </a:rPr>
              <a:t>← 얕은 트리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212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맑은 고딕"/>
              </a:rPr>
              <a:t>깊은 트리 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474720"/>
            <a:ext cx="228600" cy="1645919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71600" y="3749039"/>
            <a:ext cx="228600" cy="1371600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74519" y="4023359"/>
            <a:ext cx="228600" cy="1097280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77440" y="4297679"/>
            <a:ext cx="228600" cy="822959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80360" y="4503420"/>
            <a:ext cx="228600" cy="617220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83280" y="4681727"/>
            <a:ext cx="228600" cy="438912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86200" y="4818888"/>
            <a:ext cx="228600" cy="301752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89120" y="4901183"/>
            <a:ext cx="228600" cy="219456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92040" y="4956048"/>
            <a:ext cx="228600" cy="164592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394960" y="4983479"/>
            <a:ext cx="228600" cy="137160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15568" y="4983479"/>
            <a:ext cx="228600" cy="137160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18488" y="4942331"/>
            <a:ext cx="228600" cy="178308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21408" y="4887468"/>
            <a:ext cx="228600" cy="233172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624328" y="4791455"/>
            <a:ext cx="228600" cy="329184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127248" y="4654296"/>
            <a:ext cx="228600" cy="466344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30168" y="4434840"/>
            <a:ext cx="228600" cy="685800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133088" y="4160520"/>
            <a:ext cx="228600" cy="960119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636008" y="3817620"/>
            <a:ext cx="228600" cy="1303019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138928" y="3474720"/>
            <a:ext cx="228600" cy="1645919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641848" y="3200400"/>
            <a:ext cx="228600" cy="1920239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37760" y="2697480"/>
            <a:ext cx="228600" cy="18288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0" y="26517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편향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2926080"/>
            <a:ext cx="228600" cy="18288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2080" y="28803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분산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5321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524A"/>
                </a:solidFill>
                <a:latin typeface="맑은 고딕"/>
              </a:rPr>
              <a:t>→ 깊은 트리: 편향↓ · 분산↑ (= 데이터 바뀌면 결과가 출렁임)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8064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524A"/>
                </a:solidFill>
                <a:latin typeface="맑은 고딕"/>
              </a:rPr>
              <a:t>→ 얕은 트리: 편향↑ · 분산↓ (= 단순해서 잘 못 맞춤)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29400" y="2057400"/>
            <a:ext cx="507492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29400" y="2057400"/>
            <a:ext cx="91440" cy="96012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85432" y="222199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524A"/>
                </a:solidFill>
                <a:latin typeface="맑은 고딕"/>
              </a:rPr>
              <a:t>📌  과적합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85432" y="2715768"/>
            <a:ext cx="4617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깊은 트리는 train 데이터의 노이즈까지 외움 → test가 흔들림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29400" y="3136392"/>
            <a:ext cx="507492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29400" y="3136392"/>
            <a:ext cx="91440" cy="960120"/>
          </a:xfrm>
          <a:prstGeom prst="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85432" y="3300984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524A"/>
                </a:solidFill>
                <a:latin typeface="맑은 고딕"/>
              </a:rPr>
              <a:t>📌  민감성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85432" y="3794760"/>
            <a:ext cx="4617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데이터 한 줄만 바뀌어도 분기 기준이 바뀔 수 있음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29400" y="4215384"/>
            <a:ext cx="507492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29400" y="4215384"/>
            <a:ext cx="91440" cy="96012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85432" y="4379976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524A"/>
                </a:solidFill>
                <a:latin typeface="맑은 고딕"/>
              </a:rPr>
              <a:t>📌  중고차에서?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85432" y="4873752"/>
            <a:ext cx="4617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특정 브랜드·모델 조합을 과하게 외울 위험 (예: BMW 2018)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29400" y="5294376"/>
            <a:ext cx="507492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629400" y="5294376"/>
            <a:ext cx="91440" cy="96012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85432" y="5458968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524A"/>
                </a:solidFill>
                <a:latin typeface="맑은 고딕"/>
              </a:rPr>
              <a:t>💡  해결 아이디어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85432" y="5952744"/>
            <a:ext cx="4617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‘깊은 트리를 여러 개 만들어 평균을 내자’ → 랜덤 포레스트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8 / 66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INTRO   앙상블 직관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앙상블의 직관 — 집단지성의 작동 원리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‘많은 의견의 평균’이 ‘한 전문가의 답’보다 나은 조건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676656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🎲  예시 — 중고차 가격을 5명이 추정한다면?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743200"/>
            <a:ext cx="1188720" cy="9144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트리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2004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4,200만원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75688" y="2743200"/>
            <a:ext cx="1188720" cy="9144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75688" y="27432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트리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5688" y="32004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3,950만원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74136" y="2743200"/>
            <a:ext cx="1188720" cy="9144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74136" y="27432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트리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32004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4,380만원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72583" y="2743200"/>
            <a:ext cx="1188720" cy="9144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2583" y="27432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트리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3" y="32004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4,100만원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71031" y="2743200"/>
            <a:ext cx="1188720" cy="9144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71031" y="27432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트리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71031" y="32004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4,020만원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4023360"/>
            <a:ext cx="3657600" cy="365760"/>
          </a:xfrm>
          <a:prstGeom prst="rect">
            <a:avLst/>
          </a:prstGeom>
          <a:solidFill>
            <a:srgbClr val="55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4023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↓  평균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4526280"/>
            <a:ext cx="3657600" cy="82296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45262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앙상블 예측  4,130 만원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5486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실제 가격: 4,100만원  →  오차 단축!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897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6F5A"/>
                </a:solidFill>
                <a:latin typeface="맑은 고딕"/>
              </a:rPr>
              <a:t>✓ 트리들이 서로 다른 방향으로 틀리면 평균에서 오차가 상쇄된다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52360" y="2057400"/>
            <a:ext cx="42519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52360" y="2057400"/>
            <a:ext cx="91440" cy="196596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08392" y="2221992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✓  앙상블이 잘 되려면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08392" y="2715768"/>
            <a:ext cx="37947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1) 각 모델이 ‘적당히’ 정확해야 함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2) 모델들의 오류 패턴이 ‘서로 달라야’ 함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3) 똑같이 틀리면 평균을 내도 똑같음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52360" y="4114800"/>
            <a:ext cx="42519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52360" y="4114800"/>
            <a:ext cx="91440" cy="214884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08392" y="4279392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🌳  랜덤 포레스트의 다양성 생성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08392" y="4773168"/>
            <a:ext cx="3794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행 다양성 ← 부트스트랩 샘플링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열 다양성 ← split마다 max_features개만 후보 검토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→ 트리 간 ‘상관(correlation)’을 낮추는 것이 핵심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9 / 66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INTRO   배깅 vs 부스팅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배깅(Bagging) vs 부스팅(Boosting) — 앙상블의 두 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이 장은 ‘배깅 = 랜덤 포레스트’를 다룬다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286000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011680"/>
            <a:ext cx="4434840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2011680"/>
            <a:ext cx="4434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배깅 (Bagging)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2011680"/>
            <a:ext cx="4434840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011680"/>
            <a:ext cx="4434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부스팅 (Boosting)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9572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39572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학습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395728"/>
            <a:ext cx="4434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239572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여러 모델 병렬 학습 (독립)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2395728"/>
            <a:ext cx="4434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239572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이전 모델의 오류를 다음 모델이 보완 (순차)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779776"/>
            <a:ext cx="228600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7977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데이터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2779776"/>
            <a:ext cx="443484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2779776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부트스트랩 샘플(중복 허용)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80" y="2779776"/>
            <a:ext cx="443484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2779776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전체 데이터 (가중치로 강조)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163824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16382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주 효과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163824"/>
            <a:ext cx="4434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3163824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분산(Variance) 감소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9480" y="3163824"/>
            <a:ext cx="4434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3163824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편향(Bias) 감소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547872"/>
            <a:ext cx="228600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54787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결합 방식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547872"/>
            <a:ext cx="443484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3547872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평균 / 다수결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69480" y="3547872"/>
            <a:ext cx="443484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0920" y="3547872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가중합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93192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93192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대표 알고리즘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3931920"/>
            <a:ext cx="4434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80" y="3931920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Random Forest, ExtraTrees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69480" y="3931920"/>
            <a:ext cx="4434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60920" y="3931920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GBM, XGBoost, LightGBM, CatBoost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315968"/>
            <a:ext cx="228600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31596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학습 속도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34640" y="4315968"/>
            <a:ext cx="443484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26080" y="431596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병렬 가능 → 빠름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69480" y="4315968"/>
            <a:ext cx="443484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60920" y="431596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순차 → 일반적으로 더 느림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70001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70001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과적합 경향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4700016"/>
            <a:ext cx="4434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26080" y="4700016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비교적 안정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69480" y="4700016"/>
            <a:ext cx="4434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60920" y="4700016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튜닝 부족 시 과적합 위험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5084064"/>
            <a:ext cx="228600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508406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이번 장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34640" y="5084064"/>
            <a:ext cx="443484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26080" y="5084064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★ 우리가 배우는 것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69480" y="5084064"/>
            <a:ext cx="443484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60920" y="5084064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10장 이후 (XGBoost 등)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6172200"/>
            <a:ext cx="11064240" cy="50292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556248"/>
            <a:ext cx="10698480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‘랜덤 포레스트는 voting/평균을 ‘병렬로’ 한다, 부스팅은 ‘순차로 보완’한다’ — 한 줄로 외우게 한다.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10 / 66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INTRO   랜덤 포레스트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랜덤 포레스트 한 문장 정의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결정 트리  +  배깅(부트스트랩)  +  랜덤 특성 선택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137160" cy="91440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21408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1B2B2A"/>
                </a:solidFill>
                <a:latin typeface="맑은 고딕"/>
              </a:rPr>
              <a:t>랜덤 포레스트는</a:t>
            </a:r>
            <a:r>
              <a:rPr sz="1400" b="0">
                <a:solidFill>
                  <a:srgbClr val="1B2B2A"/>
                </a:solidFill>
                <a:latin typeface="맑은 고딕"/>
              </a:rPr>
              <a:t>  서로 다른 부트스트랩 샘플로 학습한  </a:t>
            </a:r>
            <a:r>
              <a:rPr sz="1400" b="1">
                <a:solidFill>
                  <a:srgbClr val="1F6F5A"/>
                </a:solidFill>
                <a:latin typeface="맑은 고딕"/>
              </a:rPr>
              <a:t>깊은 결정 트리들을 </a:t>
            </a:r>
            <a:r>
              <a:rPr sz="1400" b="0">
                <a:solidFill>
                  <a:srgbClr val="1B2B2A"/>
                </a:solidFill>
                <a:latin typeface="맑은 고딕"/>
              </a:rPr>
              <a:t>만들고,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B2B2A"/>
                </a:solidFill>
                <a:latin typeface="맑은 고딕"/>
              </a:rPr>
              <a:t>각 분기에서  </a:t>
            </a:r>
            <a:r>
              <a:rPr sz="1400" b="1">
                <a:solidFill>
                  <a:srgbClr val="D47A2C"/>
                </a:solidFill>
                <a:latin typeface="맑은 고딕"/>
              </a:rPr>
              <a:t>일부 후보 피처만 검토</a:t>
            </a:r>
            <a:r>
              <a:rPr sz="1400" b="0">
                <a:solidFill>
                  <a:srgbClr val="1B2B2A"/>
                </a:solidFill>
                <a:latin typeface="맑은 고딕"/>
              </a:rPr>
              <a:t>한 뒤,  </a:t>
            </a:r>
            <a:r>
              <a:rPr sz="1400" b="1">
                <a:solidFill>
                  <a:srgbClr val="1F6F5A"/>
                </a:solidFill>
                <a:latin typeface="맑은 고딕"/>
              </a:rPr>
              <a:t>회귀는 평균  ·  분류는 다수결</a:t>
            </a:r>
            <a:r>
              <a:rPr sz="1400" b="0">
                <a:solidFill>
                  <a:srgbClr val="1B2B2A"/>
                </a:solidFill>
                <a:latin typeface="맑은 고딕"/>
              </a:rPr>
              <a:t>로 결합하는 앙상블 모델이다.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3657600" cy="146304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①  Bootstrap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94760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원본 N개에서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N개를 복원추출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200400"/>
            <a:ext cx="228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556B68"/>
                </a:solidFill>
                <a:latin typeface="맑은 고딕"/>
              </a:rPr>
              <a:t>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200400"/>
            <a:ext cx="3657600" cy="146304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32918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②  Tree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794760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깊게 성장시키되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split마다 m개 피처만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200400"/>
            <a:ext cx="228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556B68"/>
                </a:solidFill>
                <a:latin typeface="맑은 고딕"/>
              </a:rPr>
              <a:t>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200400"/>
            <a:ext cx="3657600" cy="146304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2918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③  Aggregate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794760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회귀: 평균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분류: 다수결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46320"/>
            <a:ext cx="2743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846320"/>
            <a:ext cx="109728" cy="50292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4632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부트스트랩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55848" y="4846320"/>
            <a:ext cx="2743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5848" y="4846320"/>
            <a:ext cx="109728" cy="502920"/>
          </a:xfrm>
          <a:prstGeom prst="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38728" y="484632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랜덤 특성 선택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6" y="4846320"/>
            <a:ext cx="2743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63056" y="4846320"/>
            <a:ext cx="109728" cy="50292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484632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평균/투표 결합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70264" y="4846320"/>
            <a:ext cx="2743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70264" y="4846320"/>
            <a:ext cx="109728" cy="50292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53144" y="484632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트리 간 상관 낮춤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532120"/>
            <a:ext cx="1106424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6235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핵심 질문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91616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‘랜덤’이 두 번 들어간다 — (1) 데이터 행 무작위, (2) 분기 시 피처 무작위. 학생에게 ‘랜덤이 어디서 두 번 들어가나요?’ 묻고 답을 받자.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11 / 66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9601200" y="4114800"/>
            <a:ext cx="1371600" cy="1371600"/>
          </a:xfrm>
          <a:prstGeom prst="triangle">
            <a:avLst/>
          </a:prstGeom>
          <a:solidFill>
            <a:srgbClr val="88D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0515600" y="4572000"/>
            <a:ext cx="1005840" cy="1005840"/>
          </a:xfrm>
          <a:prstGeom prst="triangl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8961120" y="4754880"/>
            <a:ext cx="822960" cy="822960"/>
          </a:xfrm>
          <a:prstGeom prst="triangl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19456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PART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맑은 고딕"/>
              </a:rPr>
              <a:t>이론과 알고리즘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03320"/>
            <a:ext cx="73152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FE3DA"/>
                </a:solidFill>
                <a:latin typeface="맑은 고딕"/>
              </a:rPr>
              <a:t>랜덤 포레스트가 ‘왜’ 작동하는지를 식과 도식으로 본다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9.7   부트스트랩 샘플링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부트스트랩(Bootstrap) — 원본에서 ‘중복 허용’으로 N개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각 트리는 원본과 같은 크기의 학습 샘플을 받지만, 내용은 다르다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1115568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214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524A"/>
                </a:solidFill>
                <a:latin typeface="맑은 고딕"/>
              </a:rPr>
              <a:t>📦  원본 데이터 (N=10)</a:t>
            </a:r>
          </a:p>
        </p:txBody>
      </p:sp>
      <p:sp>
        <p:nvSpPr>
          <p:cNvPr id="14" name="Oval 13"/>
          <p:cNvSpPr/>
          <p:nvPr/>
        </p:nvSpPr>
        <p:spPr>
          <a:xfrm>
            <a:off x="3200400" y="2194560"/>
            <a:ext cx="457200" cy="457200"/>
          </a:xfrm>
          <a:prstGeom prst="ellipse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4041648" y="2194560"/>
            <a:ext cx="457200" cy="457200"/>
          </a:xfrm>
          <a:prstGeom prst="ellipse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41648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4882896" y="2194560"/>
            <a:ext cx="457200" cy="457200"/>
          </a:xfrm>
          <a:prstGeom prst="ellipse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5724144" y="2194560"/>
            <a:ext cx="457200" cy="457200"/>
          </a:xfrm>
          <a:prstGeom prst="ellipse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24144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22" name="Oval 21"/>
          <p:cNvSpPr/>
          <p:nvPr/>
        </p:nvSpPr>
        <p:spPr>
          <a:xfrm>
            <a:off x="6565392" y="2194560"/>
            <a:ext cx="457200" cy="457200"/>
          </a:xfrm>
          <a:prstGeom prst="ellipse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24" name="Oval 23"/>
          <p:cNvSpPr/>
          <p:nvPr/>
        </p:nvSpPr>
        <p:spPr>
          <a:xfrm>
            <a:off x="7406640" y="2194560"/>
            <a:ext cx="457200" cy="457200"/>
          </a:xfrm>
          <a:prstGeom prst="ellipse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8247888" y="2194560"/>
            <a:ext cx="457200" cy="457200"/>
          </a:xfrm>
          <a:prstGeom prst="ellipse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28" name="Oval 27"/>
          <p:cNvSpPr/>
          <p:nvPr/>
        </p:nvSpPr>
        <p:spPr>
          <a:xfrm>
            <a:off x="9089136" y="2194560"/>
            <a:ext cx="457200" cy="457200"/>
          </a:xfrm>
          <a:prstGeom prst="ellipse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9136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8</a:t>
            </a:r>
          </a:p>
        </p:txBody>
      </p:sp>
      <p:sp>
        <p:nvSpPr>
          <p:cNvPr id="30" name="Oval 29"/>
          <p:cNvSpPr/>
          <p:nvPr/>
        </p:nvSpPr>
        <p:spPr>
          <a:xfrm>
            <a:off x="9930384" y="2194560"/>
            <a:ext cx="457200" cy="457200"/>
          </a:xfrm>
          <a:prstGeom prst="ellipse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30384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9</a:t>
            </a:r>
          </a:p>
        </p:txBody>
      </p:sp>
      <p:sp>
        <p:nvSpPr>
          <p:cNvPr id="32" name="Oval 31"/>
          <p:cNvSpPr/>
          <p:nvPr/>
        </p:nvSpPr>
        <p:spPr>
          <a:xfrm>
            <a:off x="10771632" y="2194560"/>
            <a:ext cx="457200" cy="457200"/>
          </a:xfrm>
          <a:prstGeom prst="ellipse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71632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2834640"/>
            <a:ext cx="1115568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" y="2834640"/>
            <a:ext cx="2377440" cy="86868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8346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부트스트랩 #1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2918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OOB: [6, 7, 10]</a:t>
            </a:r>
          </a:p>
        </p:txBody>
      </p:sp>
      <p:sp>
        <p:nvSpPr>
          <p:cNvPr id="38" name="Oval 37"/>
          <p:cNvSpPr/>
          <p:nvPr/>
        </p:nvSpPr>
        <p:spPr>
          <a:xfrm>
            <a:off x="3200400" y="3035808"/>
            <a:ext cx="457200" cy="45720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0" y="3035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40" name="Oval 39"/>
          <p:cNvSpPr/>
          <p:nvPr/>
        </p:nvSpPr>
        <p:spPr>
          <a:xfrm>
            <a:off x="4041648" y="3035808"/>
            <a:ext cx="457200" cy="45720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41648" y="3035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42" name="Oval 41"/>
          <p:cNvSpPr/>
          <p:nvPr/>
        </p:nvSpPr>
        <p:spPr>
          <a:xfrm>
            <a:off x="4882896" y="3035808"/>
            <a:ext cx="457200" cy="45720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82896" y="3035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44" name="Oval 43"/>
          <p:cNvSpPr/>
          <p:nvPr/>
        </p:nvSpPr>
        <p:spPr>
          <a:xfrm>
            <a:off x="5724144" y="3035808"/>
            <a:ext cx="457200" cy="45720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24144" y="3035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46" name="Oval 45"/>
          <p:cNvSpPr/>
          <p:nvPr/>
        </p:nvSpPr>
        <p:spPr>
          <a:xfrm>
            <a:off x="6565392" y="3035808"/>
            <a:ext cx="457200" cy="457200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65392" y="3035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8</a:t>
            </a:r>
          </a:p>
        </p:txBody>
      </p:sp>
      <p:sp>
        <p:nvSpPr>
          <p:cNvPr id="48" name="Oval 47"/>
          <p:cNvSpPr/>
          <p:nvPr/>
        </p:nvSpPr>
        <p:spPr>
          <a:xfrm>
            <a:off x="7406640" y="3035808"/>
            <a:ext cx="457200" cy="45720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06640" y="3035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50" name="Oval 49"/>
          <p:cNvSpPr/>
          <p:nvPr/>
        </p:nvSpPr>
        <p:spPr>
          <a:xfrm>
            <a:off x="8247888" y="3035808"/>
            <a:ext cx="457200" cy="457200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47888" y="3035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9</a:t>
            </a:r>
          </a:p>
        </p:txBody>
      </p:sp>
      <p:sp>
        <p:nvSpPr>
          <p:cNvPr id="52" name="Oval 51"/>
          <p:cNvSpPr/>
          <p:nvPr/>
        </p:nvSpPr>
        <p:spPr>
          <a:xfrm>
            <a:off x="9089136" y="3035808"/>
            <a:ext cx="457200" cy="457200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89136" y="3035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54" name="Oval 53"/>
          <p:cNvSpPr/>
          <p:nvPr/>
        </p:nvSpPr>
        <p:spPr>
          <a:xfrm>
            <a:off x="9930384" y="3035808"/>
            <a:ext cx="457200" cy="457200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30384" y="3035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56" name="Oval 55"/>
          <p:cNvSpPr/>
          <p:nvPr/>
        </p:nvSpPr>
        <p:spPr>
          <a:xfrm>
            <a:off x="10771632" y="3035808"/>
            <a:ext cx="457200" cy="45720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71632" y="30358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3794760"/>
            <a:ext cx="1115568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48640" y="3794760"/>
            <a:ext cx="2377440" cy="86868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37947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부트스트랩 #2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4251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OOB: [5]</a:t>
            </a:r>
          </a:p>
        </p:txBody>
      </p:sp>
      <p:sp>
        <p:nvSpPr>
          <p:cNvPr id="62" name="Oval 61"/>
          <p:cNvSpPr/>
          <p:nvPr/>
        </p:nvSpPr>
        <p:spPr>
          <a:xfrm>
            <a:off x="3200400" y="3995928"/>
            <a:ext cx="457200" cy="457200"/>
          </a:xfrm>
          <a:prstGeom prst="ellips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0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64" name="Oval 63"/>
          <p:cNvSpPr/>
          <p:nvPr/>
        </p:nvSpPr>
        <p:spPr>
          <a:xfrm>
            <a:off x="4041648" y="3995928"/>
            <a:ext cx="457200" cy="457200"/>
          </a:xfrm>
          <a:prstGeom prst="ellips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41648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66" name="Oval 65"/>
          <p:cNvSpPr/>
          <p:nvPr/>
        </p:nvSpPr>
        <p:spPr>
          <a:xfrm>
            <a:off x="4882896" y="3995928"/>
            <a:ext cx="457200" cy="457200"/>
          </a:xfrm>
          <a:prstGeom prst="ellips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82896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9</a:t>
            </a:r>
          </a:p>
        </p:txBody>
      </p:sp>
      <p:sp>
        <p:nvSpPr>
          <p:cNvPr id="68" name="Oval 67"/>
          <p:cNvSpPr/>
          <p:nvPr/>
        </p:nvSpPr>
        <p:spPr>
          <a:xfrm>
            <a:off x="5724144" y="3995928"/>
            <a:ext cx="457200" cy="45720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24144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70" name="Oval 69"/>
          <p:cNvSpPr/>
          <p:nvPr/>
        </p:nvSpPr>
        <p:spPr>
          <a:xfrm>
            <a:off x="6565392" y="3995928"/>
            <a:ext cx="457200" cy="45720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65392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72" name="Oval 71"/>
          <p:cNvSpPr/>
          <p:nvPr/>
        </p:nvSpPr>
        <p:spPr>
          <a:xfrm>
            <a:off x="7406640" y="3995928"/>
            <a:ext cx="457200" cy="457200"/>
          </a:xfrm>
          <a:prstGeom prst="ellips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06640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74" name="Oval 73"/>
          <p:cNvSpPr/>
          <p:nvPr/>
        </p:nvSpPr>
        <p:spPr>
          <a:xfrm>
            <a:off x="8247888" y="3995928"/>
            <a:ext cx="457200" cy="457200"/>
          </a:xfrm>
          <a:prstGeom prst="ellips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47888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76" name="Oval 75"/>
          <p:cNvSpPr/>
          <p:nvPr/>
        </p:nvSpPr>
        <p:spPr>
          <a:xfrm>
            <a:off x="9089136" y="3995928"/>
            <a:ext cx="457200" cy="457200"/>
          </a:xfrm>
          <a:prstGeom prst="ellips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89136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8</a:t>
            </a:r>
          </a:p>
        </p:txBody>
      </p:sp>
      <p:sp>
        <p:nvSpPr>
          <p:cNvPr id="78" name="Oval 77"/>
          <p:cNvSpPr/>
          <p:nvPr/>
        </p:nvSpPr>
        <p:spPr>
          <a:xfrm>
            <a:off x="9930384" y="3995928"/>
            <a:ext cx="457200" cy="457200"/>
          </a:xfrm>
          <a:prstGeom prst="ellips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30384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10</a:t>
            </a:r>
          </a:p>
        </p:txBody>
      </p:sp>
      <p:sp>
        <p:nvSpPr>
          <p:cNvPr id="80" name="Oval 79"/>
          <p:cNvSpPr/>
          <p:nvPr/>
        </p:nvSpPr>
        <p:spPr>
          <a:xfrm>
            <a:off x="10771632" y="3995928"/>
            <a:ext cx="457200" cy="457200"/>
          </a:xfrm>
          <a:prstGeom prst="ellips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771632" y="3995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48640" y="4754880"/>
            <a:ext cx="1115568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48640" y="4754880"/>
            <a:ext cx="2377440" cy="86868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8640" y="47548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부트스트랩 #3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5212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OOB: [4]</a:t>
            </a:r>
          </a:p>
        </p:txBody>
      </p:sp>
      <p:sp>
        <p:nvSpPr>
          <p:cNvPr id="86" name="Oval 85"/>
          <p:cNvSpPr/>
          <p:nvPr/>
        </p:nvSpPr>
        <p:spPr>
          <a:xfrm>
            <a:off x="3200400" y="4956048"/>
            <a:ext cx="457200" cy="45720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00400" y="4956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88" name="Oval 87"/>
          <p:cNvSpPr/>
          <p:nvPr/>
        </p:nvSpPr>
        <p:spPr>
          <a:xfrm>
            <a:off x="4041648" y="4956048"/>
            <a:ext cx="457200" cy="45720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041648" y="4956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90" name="Oval 89"/>
          <p:cNvSpPr/>
          <p:nvPr/>
        </p:nvSpPr>
        <p:spPr>
          <a:xfrm>
            <a:off x="4882896" y="4956048"/>
            <a:ext cx="457200" cy="457200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882896" y="4956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92" name="Oval 91"/>
          <p:cNvSpPr/>
          <p:nvPr/>
        </p:nvSpPr>
        <p:spPr>
          <a:xfrm>
            <a:off x="5724144" y="4956048"/>
            <a:ext cx="457200" cy="457200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724144" y="4956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9</a:t>
            </a:r>
          </a:p>
        </p:txBody>
      </p:sp>
      <p:sp>
        <p:nvSpPr>
          <p:cNvPr id="94" name="Oval 93"/>
          <p:cNvSpPr/>
          <p:nvPr/>
        </p:nvSpPr>
        <p:spPr>
          <a:xfrm>
            <a:off x="6565392" y="4956048"/>
            <a:ext cx="457200" cy="457200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65392" y="4956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96" name="Oval 95"/>
          <p:cNvSpPr/>
          <p:nvPr/>
        </p:nvSpPr>
        <p:spPr>
          <a:xfrm>
            <a:off x="7406640" y="4956048"/>
            <a:ext cx="457200" cy="457200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06640" y="4956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98" name="Oval 97"/>
          <p:cNvSpPr/>
          <p:nvPr/>
        </p:nvSpPr>
        <p:spPr>
          <a:xfrm>
            <a:off x="8247888" y="4956048"/>
            <a:ext cx="457200" cy="457200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247888" y="4956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00" name="Oval 99"/>
          <p:cNvSpPr/>
          <p:nvPr/>
        </p:nvSpPr>
        <p:spPr>
          <a:xfrm>
            <a:off x="9089136" y="4956048"/>
            <a:ext cx="457200" cy="457200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089136" y="4956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102" name="Oval 101"/>
          <p:cNvSpPr/>
          <p:nvPr/>
        </p:nvSpPr>
        <p:spPr>
          <a:xfrm>
            <a:off x="9930384" y="4956048"/>
            <a:ext cx="457200" cy="457200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930384" y="4956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10</a:t>
            </a:r>
          </a:p>
        </p:txBody>
      </p:sp>
      <p:sp>
        <p:nvSpPr>
          <p:cNvPr id="104" name="Oval 103"/>
          <p:cNvSpPr/>
          <p:nvPr/>
        </p:nvSpPr>
        <p:spPr>
          <a:xfrm>
            <a:off x="10771632" y="4956048"/>
            <a:ext cx="457200" cy="457200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771632" y="4956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8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48640" y="5897880"/>
            <a:ext cx="11155680" cy="45720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77240" y="5989320"/>
            <a:ext cx="274320" cy="27432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43000" y="5943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중복 추출된 관측치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114800" y="5943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→ 각 트리는 본 데이터가 달라서 ‘다른 결정 함수’를 학습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48640" y="6400800"/>
            <a:ext cx="11064240" cy="3657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1520" y="6784848"/>
            <a:ext cx="10698480" cy="-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칠판에 1-10 숫자를 적고 학생을 시켜 직접 10번 ‘추첨’ — 어떤 숫자가 빠지는지 체감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13 / 66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9.7   OOB의 수학적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왜 ‘36.8%’가 OOB가 되는가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부트스트랩에서 한 관측치가 한 번도 안 뽑힐 확률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640080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488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📐  유도 — 한 관측치가 ‘OOB’가 될 확률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606040"/>
            <a:ext cx="96012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606040"/>
            <a:ext cx="960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2A44F"/>
                </a:solidFill>
                <a:latin typeface="Consolas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2432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B2B2A"/>
                </a:solidFill>
                <a:latin typeface="맑은 고딕"/>
              </a:rPr>
              <a:t>한 번 뽑힐 때 ‘안 뽑힐 확률’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2971800"/>
            <a:ext cx="493776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2971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P(안 뽑힘, 1회) = 1 - 1/n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74720"/>
            <a:ext cx="96012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474720"/>
            <a:ext cx="960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2A44F"/>
                </a:solidFill>
                <a:latin typeface="Consolas"/>
              </a:rPr>
              <a:t>STEP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49300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B2B2A"/>
                </a:solidFill>
                <a:latin typeface="맑은 고딕"/>
              </a:rPr>
              <a:t>n번 모두 안 뽑힐 확률 (독립)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74519" y="3840480"/>
            <a:ext cx="493776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3840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P(OOB) = (1 - 1/n)ⁿ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343400"/>
            <a:ext cx="96012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43400"/>
            <a:ext cx="960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2A44F"/>
                </a:solidFill>
                <a:latin typeface="Consolas"/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36168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B2B2A"/>
                </a:solidFill>
                <a:latin typeface="맑은 고딕"/>
              </a:rPr>
              <a:t>n이 충분히 크면 (n→∞)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709160"/>
            <a:ext cx="493776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47091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(1 - 1/n)ⁿ  →  e⁻¹  ≈  0.3679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212080"/>
            <a:ext cx="96012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212080"/>
            <a:ext cx="960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2A44F"/>
                </a:solidFill>
                <a:latin typeface="Consolas"/>
              </a:rPr>
              <a:t>결론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52303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B2B2A"/>
                </a:solidFill>
                <a:latin typeface="맑은 고딕"/>
              </a:rPr>
              <a:t>약 36.8%는 ‘본 적 없는’ 샘플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74519" y="5577840"/>
            <a:ext cx="493776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55778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Consolas"/>
              </a:rPr>
              <a:t>→ 학습에 안 쓰인 OOB로 트리 검증 가능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78040" y="2011680"/>
            <a:ext cx="4526280" cy="196596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8040" y="214884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2A44F"/>
                </a:solidFill>
                <a:latin typeface="맑은 고딕"/>
              </a:rPr>
              <a:t>한 번 이상 뽑힐 확률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251460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onsolas"/>
              </a:rPr>
              <a:t>≈  63.2 %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356616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CFE3DA"/>
                </a:solidFill>
                <a:latin typeface="맑은 고딕"/>
              </a:rPr>
              <a:t>고유 관측치 약 2/3가 학습에 사용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78040" y="4069080"/>
            <a:ext cx="4526280" cy="219456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78040" y="420624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한 번도 안 뽑힐 확률 (OOB)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457200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onsolas"/>
              </a:rPr>
              <a:t>≈  36.8 %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5623560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= e⁻¹  →  각 트리마다 자동 검증셋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14 / 66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9.7   분산 감소 공식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왜 ‘평균’이 분산을 줄이는가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독립 예측기의 평균은 분산이 1/B로 줄지만, 현실은 상관 ρ가 남는다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111556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488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📐  핵심 공식 (Breiman, 2001)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468880"/>
            <a:ext cx="10698480" cy="50292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688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4524A"/>
                </a:solidFill>
                <a:latin typeface="Consolas"/>
              </a:rPr>
              <a:t>Var( 평균 )  =  ρ·σ²  +  (1 - ρ)·σ² /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0400"/>
            <a:ext cx="365760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200400"/>
            <a:ext cx="777240" cy="960120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7772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ρ (rho)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24612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트리 간 상관계수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0~1 사이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200400"/>
            <a:ext cx="365760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34840" y="3200400"/>
            <a:ext cx="777240" cy="96012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200400"/>
            <a:ext cx="7772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σ²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24612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개별 트리의 분산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(트리 하나의 흔들림)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200400"/>
            <a:ext cx="365760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1040" y="3200400"/>
            <a:ext cx="777240" cy="9601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200400"/>
            <a:ext cx="7772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24612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트리 개수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n_estimators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43400"/>
            <a:ext cx="54864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343400"/>
            <a:ext cx="91440" cy="192024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5079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📌  B를 늘리면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001768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두 번째 항 (1-ρ)σ²/B → 0 으로 작아진다.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그러나 첫 번째 항 ρ·σ²는 줄지 않는다.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→ B를 아무리 늘려도 ρ가 높으면 분산은 ‘바닥’에 부딪힌다.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343400"/>
            <a:ext cx="54864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343400"/>
            <a:ext cx="91440" cy="192024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45079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📌  ρ를 낮추려면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5001768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각 트리가 ‘다른 결정’을 내려야 한다 → 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• 행 다양성: 부트스트랩 샘플링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• 열 다양성: max_features &lt; 전체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355080"/>
            <a:ext cx="11064240" cy="4114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739128"/>
            <a:ext cx="10698480" cy="-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공식 암기보다 결론 한 문장: ‘트리 간 상관을 낮춰야 평균이 분산을 충분히 줄인다’.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15 / 66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9.7   알고리즘 의사코드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랜덤 포레스트 알고리즘 — Breiman(2001)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B개의 트리를 만들고, 회귀는 평균 · 분류는 다수결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680960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random_forest_pseudocode.py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731520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Input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: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D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{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x_i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y_i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}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i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2D45F"/>
                </a:solidFill>
                <a:latin typeface="Consolas"/>
              </a:rPr>
              <a:t>1..</a:t>
            </a:r>
            <a:r>
              <a:rPr sz="1200">
                <a:solidFill>
                  <a:srgbClr val="E8F6EF"/>
                </a:solidFill>
                <a:latin typeface="Consolas"/>
              </a:rPr>
              <a:t>n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B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m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B=트리수, m=피처후보수</a:t>
            </a:r>
          </a:p>
          <a:p>
            <a:pPr>
              <a:lnSpc>
                <a:spcPct val="122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200">
                <a:solidFill>
                  <a:srgbClr val="7BD389"/>
                </a:solidFill>
                <a:latin typeface="Consolas"/>
              </a:rPr>
              <a:t>for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b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7BD389"/>
                </a:solidFill>
                <a:latin typeface="Consolas"/>
              </a:rPr>
              <a:t>in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8FB8E0"/>
                </a:solidFill>
                <a:latin typeface="Consolas"/>
              </a:rPr>
              <a:t>range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B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22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① 부트스트랩 샘플  D_b  : 중복 허용해 n개 추출</a:t>
            </a:r>
          </a:p>
          <a:p>
            <a:pPr>
              <a:lnSpc>
                <a:spcPct val="122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D_b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bootstrap_sample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D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size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n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22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② 깊은 트리 학습 — 단, 각 split에서</a:t>
            </a:r>
          </a:p>
          <a:p>
            <a:pPr>
              <a:lnSpc>
                <a:spcPct val="122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    무작위로 선택한  m 개 후보 피처만 검토</a:t>
            </a:r>
          </a:p>
          <a:p>
            <a:pPr>
              <a:lnSpc>
                <a:spcPct val="122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tree_b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grow_decision_tree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D_b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max_features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m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22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③ 결합 — 회귀: 평균  /  분류: 다수결</a:t>
            </a:r>
          </a:p>
          <a:p>
            <a:pPr>
              <a:lnSpc>
                <a:spcPct val="122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y_hat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x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F2D45F"/>
                </a:solidFill>
                <a:latin typeface="Consolas"/>
              </a:rPr>
              <a:t>1</a:t>
            </a:r>
            <a:r>
              <a:rPr sz="1200">
                <a:solidFill>
                  <a:srgbClr val="E8F6EF"/>
                </a:solidFill>
                <a:latin typeface="Consolas"/>
              </a:rPr>
              <a:t>/</a:t>
            </a:r>
            <a:r>
              <a:rPr sz="1200">
                <a:solidFill>
                  <a:srgbClr val="E8F6EF"/>
                </a:solidFill>
                <a:latin typeface="Consolas"/>
              </a:rPr>
              <a:t>B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*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8FB8E0"/>
                </a:solidFill>
                <a:latin typeface="Consolas"/>
              </a:rPr>
              <a:t>sum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tree_b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predict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x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7BD389"/>
                </a:solidFill>
                <a:latin typeface="Consolas"/>
              </a:rPr>
              <a:t>for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b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7BD389"/>
                </a:solidFill>
                <a:latin typeface="Consolas"/>
              </a:rPr>
              <a:t>in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2D45F"/>
                </a:solidFill>
                <a:latin typeface="Consolas"/>
              </a:rPr>
              <a:t>1..</a:t>
            </a:r>
            <a:r>
              <a:rPr sz="1200">
                <a:solidFill>
                  <a:srgbClr val="E8F6EF"/>
                </a:solidFill>
                <a:latin typeface="Consolas"/>
              </a:rPr>
              <a:t>B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회귀</a:t>
            </a:r>
          </a:p>
          <a:p>
            <a:pPr>
              <a:lnSpc>
                <a:spcPct val="122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y_hat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x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majority_vote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tree_b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predict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x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7BD389"/>
                </a:solidFill>
                <a:latin typeface="Consolas"/>
              </a:rPr>
              <a:t>for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b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7BD389"/>
                </a:solidFill>
                <a:latin typeface="Consolas"/>
              </a:rPr>
              <a:t>in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2D45F"/>
                </a:solidFill>
                <a:latin typeface="Consolas"/>
              </a:rPr>
              <a:t>1..</a:t>
            </a:r>
            <a:r>
              <a:rPr sz="1200">
                <a:solidFill>
                  <a:srgbClr val="E8F6EF"/>
                </a:solidFill>
                <a:latin typeface="Consolas"/>
              </a:rPr>
              <a:t>B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분류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011680"/>
            <a:ext cx="32918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103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🔁  알고리즘 ↔ sklearn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2606040"/>
            <a:ext cx="594360" cy="77724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606040"/>
            <a:ext cx="594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2A44F"/>
                </a:solidFill>
                <a:latin typeface="Consolas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6243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Consolas"/>
              </a:rPr>
              <a:t>n_estimators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89864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트리 개수 (기본 100)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3474720"/>
            <a:ext cx="594360" cy="77724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3474720"/>
            <a:ext cx="594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2A44F"/>
                </a:solidFill>
                <a:latin typeface="Consolas"/>
              </a:rPr>
              <a:t>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4930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Consolas"/>
              </a:rPr>
              <a:t>max_features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split 후보 피처 수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(분류: √p,  회귀: p 또는 1.0)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9640" y="4343400"/>
            <a:ext cx="594360" cy="77724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4343400"/>
            <a:ext cx="594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2A44F"/>
                </a:solidFill>
                <a:latin typeface="Consolas"/>
              </a:rPr>
              <a:t>D_b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36168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Consolas"/>
              </a:rPr>
              <a:t>bootstrap=True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463600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부트스트랩 활성화 여부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49640" y="5212080"/>
            <a:ext cx="594360" cy="77724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5212080"/>
            <a:ext cx="594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2A44F"/>
                </a:solidFill>
                <a:latin typeface="Consolas"/>
              </a:rPr>
              <a:t>OOB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52303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Consolas"/>
              </a:rPr>
              <a:t>oob_score=True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550468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OOB 점수 계산 여부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16 / 66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9.7   두 가지 랜덤성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‘랜덤’ 포레스트의 두 가지 랜덤성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행(샘플)과 열(피처) — 양쪽에서 다양성을 만든다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19456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랜덤성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011680"/>
            <a:ext cx="329184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0116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적용 위치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011680"/>
            <a:ext cx="338328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0116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효과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2011680"/>
            <a:ext cx="228600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011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관련 파라미터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56032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5603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맑은 고딕"/>
              </a:rPr>
              <a:t>①  행 샘플링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2560320"/>
            <a:ext cx="3291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25603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맑은 고딕"/>
              </a:rPr>
              <a:t>각 트리의 학습 데이터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560320"/>
            <a:ext cx="33832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560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맑은 고딕"/>
              </a:rPr>
              <a:t>트리 간 다양성 증가 (ρ↓)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18320" y="256032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256032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Consolas"/>
              </a:rPr>
              <a:t>bootstrap=True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08960"/>
            <a:ext cx="219456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1089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맑은 고딕"/>
              </a:rPr>
              <a:t>②  열 샘플링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3108960"/>
            <a:ext cx="329184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31089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맑은 고딕"/>
              </a:rPr>
              <a:t>각 split의 후보 피처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108960"/>
            <a:ext cx="338328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31089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맑은 고딕"/>
              </a:rPr>
              <a:t>강한 피처 독점 방지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20" y="3108960"/>
            <a:ext cx="22860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31089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Consolas"/>
              </a:rPr>
              <a:t>max_features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65760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6576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맑은 고딕"/>
              </a:rPr>
              <a:t>(파생)  평균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3657600"/>
            <a:ext cx="3291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0" y="36576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맑은 고딕"/>
              </a:rPr>
              <a:t>최종 예측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3657600"/>
            <a:ext cx="33832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36576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맑은 고딕"/>
              </a:rPr>
              <a:t>분산(노이즈) 감소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8320" y="365760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0" y="36576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B2A"/>
                </a:solidFill>
                <a:latin typeface="Consolas"/>
              </a:rPr>
              <a:t>n_estimators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389120"/>
            <a:ext cx="111556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480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🔁  파이프라인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4937760"/>
            <a:ext cx="1920240" cy="91440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983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3492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맑은 고딕"/>
              </a:rPr>
              <a:t>원본</a:t>
            </a: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맑은 고딕"/>
              </a:rPr>
              <a:t>N개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97480" y="4937760"/>
            <a:ext cx="320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556B68"/>
                </a:solidFill>
                <a:latin typeface="맑은 고딕"/>
              </a:rPr>
              <a:t>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17520" y="4937760"/>
            <a:ext cx="1920240" cy="9144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17520" y="4983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Sample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7520" y="53492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맑은 고딕"/>
              </a:rPr>
              <a:t>Bootstrap</a:t>
            </a: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맑은 고딕"/>
              </a:rPr>
              <a:t>× 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60" y="4937760"/>
            <a:ext cx="320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556B68"/>
                </a:solidFill>
                <a:latin typeface="맑은 고딕"/>
              </a:rPr>
              <a:t>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257800" y="4937760"/>
            <a:ext cx="1920240" cy="91440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57800" y="4983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Subset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57800" y="53492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맑은 고딕"/>
              </a:rPr>
              <a:t>Feature</a:t>
            </a: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맑은 고딕"/>
              </a:rPr>
              <a:t>× 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78040" y="4937760"/>
            <a:ext cx="320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556B68"/>
                </a:solidFill>
                <a:latin typeface="맑은 고딕"/>
              </a:rPr>
              <a:t>▸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98080" y="4937760"/>
            <a:ext cx="1920240" cy="914400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80" y="4983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Trees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0" y="53492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맑은 고딕"/>
              </a:rPr>
              <a:t>B개 트리</a:t>
            </a: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맑은 고딕"/>
              </a:rPr>
              <a:t>학습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18320" y="4937760"/>
            <a:ext cx="320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556B68"/>
                </a:solidFill>
                <a:latin typeface="맑은 고딕"/>
              </a:rPr>
              <a:t>▸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38360" y="4937760"/>
            <a:ext cx="1920240" cy="914400"/>
          </a:xfrm>
          <a:prstGeom prst="roundRect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38360" y="4983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Predict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38360" y="53492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맑은 고딕"/>
              </a:rPr>
              <a:t>평균/투표</a:t>
            </a: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맑은 고딕"/>
              </a:rPr>
              <a:t>→ ŷ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6309360"/>
            <a:ext cx="11064240" cy="4114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6693408"/>
            <a:ext cx="10698480" cy="-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‘랜덤’이 두 번 들어간다 — 한 번은 ‘어떤 행을 볼지’, 또 한 번은 ‘어떤 열로 나눌지’.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17 / 66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9.7   max_features의 역할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max_features — 트리 강도 vs 상관 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‘후보 피처 수’가 작을수록 다양한데 약하고, 클수록 강한데 비슷해진다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377440" cy="45720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max_features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011680"/>
            <a:ext cx="2286000" cy="45720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0116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개별 트리 강도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011680"/>
            <a:ext cx="2286000" cy="45720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0116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트리 간 상관 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0" y="2011680"/>
            <a:ext cx="4206240" cy="45720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2011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수업 해석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46888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468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작음 (예: 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46888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24688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↓ (낮음)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246888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24688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↓ (낮음)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246888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4688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다양하지만 약한 트리 — 앙상블 효과 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926080"/>
            <a:ext cx="237744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9260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Consolas"/>
              </a:rPr>
              <a:t>sqrt(p)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2926080"/>
            <a:ext cx="228600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2926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0" y="2926080"/>
            <a:ext cx="228600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2926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0" y="2926080"/>
            <a:ext cx="420624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2926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분류 문제의 기본 권장값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38328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3832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`p` 또는 1.0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338328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0" y="33832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↑ (높음)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80" y="338328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0" y="33832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↑ (높음)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0" y="338328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0" y="33832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회귀 기본 — 단, 배깅에 가까움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840480"/>
            <a:ext cx="237744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38404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0.5 × 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3840480"/>
            <a:ext cx="228600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17520" y="38404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중상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12080" y="3840480"/>
            <a:ext cx="228600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0" y="38404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80" y="3840480"/>
            <a:ext cx="420624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89520" y="38404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회귀에서 자주 쓰이는 절충안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4434840"/>
            <a:ext cx="54864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8640" y="4434840"/>
            <a:ext cx="91440" cy="18288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" y="459943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✓  좋은 RF의 조건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" y="5093208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‘적당히 강한 트리’ + ‘낮은 상관’의 균형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→ max_features가 너무 작으면 강도↓, 너무 크면 상관↑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→ 데이터마다 다르므로 CV/OOB로 직접 확인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4434840"/>
            <a:ext cx="54864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17920" y="4434840"/>
            <a:ext cx="91440" cy="182880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73952" y="459943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📌  sklearn 기본값 (1.3+)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3952" y="5093208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RandomForestClassifier  →  ‘sqrt’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RandomForestRegressor   →  1.0 (전체 사용)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회귀에서도 0.5~0.8 정도로 줄여 보면 종종 개선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18 / 66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9.7   장점 · 한계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랜덤 포레스트의 장점과 한계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‘왜 baseline 1순위인가’와 ‘무엇을 조심해야 하는가’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548640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5486400" cy="45720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✓  장점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2633472"/>
            <a:ext cx="164592" cy="164592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603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6F5A"/>
                </a:solidFill>
                <a:latin typeface="맑은 고딕"/>
              </a:rPr>
              <a:t>자동 비선형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5603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변수 간 상호작용(연식×주행거리)을 자동 학습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227832"/>
            <a:ext cx="164592" cy="164592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1546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6F5A"/>
                </a:solidFill>
                <a:latin typeface="맑은 고딕"/>
              </a:rPr>
              <a:t>스케일 무관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15468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표준화·정규화 거의 불필요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3822192"/>
            <a:ext cx="164592" cy="164592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7490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6F5A"/>
                </a:solidFill>
                <a:latin typeface="맑은 고딕"/>
              </a:rPr>
              <a:t>이상치 강건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7490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트리 분기 → 극단값에 둔감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416552"/>
            <a:ext cx="164592" cy="164592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3434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6F5A"/>
                </a:solidFill>
                <a:latin typeface="맑은 고딕"/>
              </a:rPr>
              <a:t>범용성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43434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회귀·분류·다중클래스 모두 가능</a:t>
            </a:r>
          </a:p>
        </p:txBody>
      </p:sp>
      <p:sp>
        <p:nvSpPr>
          <p:cNvPr id="27" name="Oval 26"/>
          <p:cNvSpPr/>
          <p:nvPr/>
        </p:nvSpPr>
        <p:spPr>
          <a:xfrm>
            <a:off x="777240" y="5010912"/>
            <a:ext cx="164592" cy="164592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9377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6F5A"/>
                </a:solidFill>
                <a:latin typeface="맑은 고딕"/>
              </a:rPr>
              <a:t>진단 도구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9377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OOB · feature_importances_ · PDP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" y="5605272"/>
            <a:ext cx="164592" cy="164592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5321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6F5A"/>
                </a:solidFill>
                <a:latin typeface="맑은 고딕"/>
              </a:rPr>
              <a:t>병렬화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55321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트리들이 독립 → n_jobs로 빠르게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011680"/>
            <a:ext cx="548640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17920" y="2011680"/>
            <a:ext cx="5486400" cy="457200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2011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△  한계</a:t>
            </a:r>
          </a:p>
        </p:txBody>
      </p:sp>
      <p:sp>
        <p:nvSpPr>
          <p:cNvPr id="36" name="Oval 35"/>
          <p:cNvSpPr/>
          <p:nvPr/>
        </p:nvSpPr>
        <p:spPr>
          <a:xfrm>
            <a:off x="6446520" y="2633472"/>
            <a:ext cx="164592" cy="164592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25603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47A2C"/>
                </a:solidFill>
                <a:latin typeface="맑은 고딕"/>
              </a:rPr>
              <a:t>계산비용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56032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트리 수↑·깊이↑ → 학습·예측 느려질 수 있음</a:t>
            </a:r>
          </a:p>
        </p:txBody>
      </p:sp>
      <p:sp>
        <p:nvSpPr>
          <p:cNvPr id="39" name="Oval 38"/>
          <p:cNvSpPr/>
          <p:nvPr/>
        </p:nvSpPr>
        <p:spPr>
          <a:xfrm>
            <a:off x="6446520" y="3227832"/>
            <a:ext cx="164592" cy="164592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31546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47A2C"/>
                </a:solidFill>
                <a:latin typeface="맑은 고딕"/>
              </a:rPr>
              <a:t>해석성 낮음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1546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개별 의사결정 경로 설명이 어렵다</a:t>
            </a:r>
          </a:p>
        </p:txBody>
      </p:sp>
      <p:sp>
        <p:nvSpPr>
          <p:cNvPr id="42" name="Oval 41"/>
          <p:cNvSpPr/>
          <p:nvPr/>
        </p:nvSpPr>
        <p:spPr>
          <a:xfrm>
            <a:off x="6446520" y="3822192"/>
            <a:ext cx="164592" cy="164592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37490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47A2C"/>
                </a:solidFill>
                <a:latin typeface="맑은 고딕"/>
              </a:rPr>
              <a:t>외삽 약함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37490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학습 범위를 벗어난 가격대는 못 맞춤</a:t>
            </a:r>
          </a:p>
        </p:txBody>
      </p:sp>
      <p:sp>
        <p:nvSpPr>
          <p:cNvPr id="45" name="Oval 44"/>
          <p:cNvSpPr/>
          <p:nvPr/>
        </p:nvSpPr>
        <p:spPr>
          <a:xfrm>
            <a:off x="6446520" y="4416552"/>
            <a:ext cx="164592" cy="164592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43434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47A2C"/>
                </a:solidFill>
                <a:latin typeface="맑은 고딕"/>
              </a:rPr>
              <a:t>고카디널리티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34340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범주가 많은 변수에 인코딩 의존적</a:t>
            </a:r>
          </a:p>
        </p:txBody>
      </p:sp>
      <p:sp>
        <p:nvSpPr>
          <p:cNvPr id="48" name="Oval 47"/>
          <p:cNvSpPr/>
          <p:nvPr/>
        </p:nvSpPr>
        <p:spPr>
          <a:xfrm>
            <a:off x="6446520" y="5010912"/>
            <a:ext cx="164592" cy="164592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49377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47A2C"/>
                </a:solidFill>
                <a:latin typeface="맑은 고딕"/>
              </a:rPr>
              <a:t>메모리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93776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B × 깊은 트리 → 모델 파일이 크다</a:t>
            </a:r>
          </a:p>
        </p:txBody>
      </p:sp>
      <p:sp>
        <p:nvSpPr>
          <p:cNvPr id="51" name="Oval 50"/>
          <p:cNvSpPr/>
          <p:nvPr/>
        </p:nvSpPr>
        <p:spPr>
          <a:xfrm>
            <a:off x="6446520" y="5605272"/>
            <a:ext cx="164592" cy="164592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0840" y="55321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47A2C"/>
                </a:solidFill>
                <a:latin typeface="맑은 고딕"/>
              </a:rPr>
              <a:t>중요도 편향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553212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고유값 많은 변수가 과대평가될 수 있음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6400800"/>
            <a:ext cx="11064240" cy="3657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6784848"/>
            <a:ext cx="10698480" cy="-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‘가격 예측에서 매우 비싼 차량(외삽)을 어떻게 다룰지’ — 한계와 연결해 논의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19 / 66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9601200" y="4114800"/>
            <a:ext cx="1371600" cy="1371600"/>
          </a:xfrm>
          <a:prstGeom prst="triangle">
            <a:avLst/>
          </a:prstGeom>
          <a:solidFill>
            <a:srgbClr val="88D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0515600" y="4572000"/>
            <a:ext cx="1005840" cy="1005840"/>
          </a:xfrm>
          <a:prstGeom prst="triangl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8961120" y="4754880"/>
            <a:ext cx="822960" cy="822960"/>
          </a:xfrm>
          <a:prstGeom prst="triangl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19456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PART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맑은 고딕"/>
              </a:rPr>
              <a:t>데이터 전처리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03320"/>
            <a:ext cx="73152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FE3DA"/>
                </a:solidFill>
                <a:latin typeface="맑은 고딕"/>
              </a:rPr>
              <a:t>교재 9.2-9.4 — 텍스트가 섞인 컬럼을 모델 입력 테이블로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9.2   라이브러리 · 데이터 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9.2  라이브러리 임포트 &amp; 데이터 로드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‘노트북 첫 셀’ — 환경을 갖추고 데이터를 들여온다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6858000" cy="3108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20370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20370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20370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6712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09-Random_Forest.ipynb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423160"/>
            <a:ext cx="6492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7BD389"/>
                </a:solidFill>
                <a:latin typeface="Consolas"/>
              </a:rPr>
              <a:t>import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pandas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7BD389"/>
                </a:solidFill>
                <a:latin typeface="Consolas"/>
              </a:rPr>
              <a:t>as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pd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7BD389"/>
                </a:solidFill>
                <a:latin typeface="Consolas"/>
              </a:rPr>
              <a:t>import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numpy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7BD389"/>
                </a:solidFill>
                <a:latin typeface="Consolas"/>
              </a:rPr>
              <a:t>as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np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7BD389"/>
                </a:solidFill>
                <a:latin typeface="Consolas"/>
              </a:rPr>
              <a:t>import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matplotlib</a:t>
            </a:r>
            <a:r>
              <a:rPr sz="1300">
                <a:solidFill>
                  <a:srgbClr val="E8F6EF"/>
                </a:solidFill>
                <a:latin typeface="Consolas"/>
              </a:rPr>
              <a:t>.</a:t>
            </a:r>
            <a:r>
              <a:rPr sz="1300">
                <a:solidFill>
                  <a:srgbClr val="E8F6EF"/>
                </a:solidFill>
                <a:latin typeface="Consolas"/>
              </a:rPr>
              <a:t>pyplot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7BD389"/>
                </a:solidFill>
                <a:latin typeface="Consolas"/>
              </a:rPr>
              <a:t>as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plt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7BD389"/>
                </a:solidFill>
                <a:latin typeface="Consolas"/>
              </a:rPr>
              <a:t>import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seaborn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7BD389"/>
                </a:solidFill>
                <a:latin typeface="Consolas"/>
              </a:rPr>
              <a:t>as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sns</a:t>
            </a:r>
          </a:p>
          <a:p>
            <a:pPr>
              <a:lnSpc>
                <a:spcPct val="120000"/>
              </a:lnSpc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E8F6EF"/>
                </a:solidFill>
                <a:latin typeface="Consolas"/>
              </a:rPr>
              <a:t>file_url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=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(</a:t>
            </a:r>
            <a:r>
              <a:rPr sz="1300">
                <a:solidFill>
                  <a:srgbClr val="F6B26B"/>
                </a:solidFill>
                <a:latin typeface="Consolas"/>
              </a:rPr>
              <a:t>'https://media.githubusercontent.com/media/'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F6B26B"/>
                </a:solidFill>
                <a:latin typeface="Consolas"/>
              </a:rPr>
              <a:t>'musthave-ML10/data_source/main/car.csv'</a:t>
            </a:r>
            <a:r>
              <a:rPr sz="13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20000"/>
              </a:lnSpc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E8F6EF"/>
                </a:solidFill>
                <a:latin typeface="Consolas"/>
              </a:rPr>
              <a:t>data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=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pd</a:t>
            </a:r>
            <a:r>
              <a:rPr sz="1300">
                <a:solidFill>
                  <a:srgbClr val="E8F6EF"/>
                </a:solidFill>
                <a:latin typeface="Consolas"/>
              </a:rPr>
              <a:t>.</a:t>
            </a:r>
            <a:r>
              <a:rPr sz="1300">
                <a:solidFill>
                  <a:srgbClr val="E8F6EF"/>
                </a:solidFill>
                <a:latin typeface="Consolas"/>
              </a:rPr>
              <a:t>read_csv</a:t>
            </a:r>
            <a:r>
              <a:rPr sz="1300">
                <a:solidFill>
                  <a:srgbClr val="E8F6EF"/>
                </a:solidFill>
                <a:latin typeface="Consolas"/>
              </a:rPr>
              <a:t>(</a:t>
            </a:r>
            <a:r>
              <a:rPr sz="1300">
                <a:solidFill>
                  <a:srgbClr val="E8F6EF"/>
                </a:solidFill>
                <a:latin typeface="Consolas"/>
              </a:rPr>
              <a:t>file_url</a:t>
            </a:r>
            <a:r>
              <a:rPr sz="1300">
                <a:solidFill>
                  <a:srgbClr val="E8F6EF"/>
                </a:solidFill>
                <a:latin typeface="Consolas"/>
              </a:rPr>
              <a:t>)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9AA7A0"/>
                </a:solidFill>
                <a:latin typeface="Consolas"/>
              </a:rPr>
              <a:t># 데이터셋 읽기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E8F6EF"/>
                </a:solidFill>
                <a:latin typeface="Consolas"/>
              </a:rPr>
              <a:t>data</a:t>
            </a:r>
            <a:r>
              <a:rPr sz="1300">
                <a:solidFill>
                  <a:srgbClr val="E8F6EF"/>
                </a:solidFill>
                <a:latin typeface="Consolas"/>
              </a:rPr>
              <a:t>.</a:t>
            </a:r>
            <a:r>
              <a:rPr sz="1300">
                <a:solidFill>
                  <a:srgbClr val="E8F6EF"/>
                </a:solidFill>
                <a:latin typeface="Consolas"/>
              </a:rPr>
              <a:t>head</a:t>
            </a:r>
            <a:r>
              <a:rPr sz="1300">
                <a:solidFill>
                  <a:srgbClr val="E8F6EF"/>
                </a:solidFill>
                <a:latin typeface="Consolas"/>
              </a:rPr>
              <a:t>(</a:t>
            </a:r>
            <a:r>
              <a:rPr sz="1300">
                <a:solidFill>
                  <a:srgbClr val="E8F6EF"/>
                </a:solidFill>
                <a:latin typeface="Consolas"/>
              </a:rPr>
              <a:t>)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E8F6EF"/>
                </a:solidFill>
                <a:latin typeface="Consolas"/>
              </a:rPr>
              <a:t> </a:t>
            </a:r>
            <a:r>
              <a:rPr sz="1300">
                <a:solidFill>
                  <a:srgbClr val="9AA7A0"/>
                </a:solidFill>
                <a:latin typeface="Consolas"/>
              </a:rPr>
              <a:t># 상위 5줄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2057400"/>
            <a:ext cx="4114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2057400"/>
            <a:ext cx="91440" cy="141732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22199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맑은 고딕"/>
              </a:rPr>
              <a:t>📦  4개의 필수 모듈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2715768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pandas: 데이터프레임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numpy: 수치 연산 · NaN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matplotlib·seaborn: 시각화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(추가) sklearn: 모델·평가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3566160"/>
            <a:ext cx="41148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3566160"/>
            <a:ext cx="91440" cy="160020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373075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맑은 고딕"/>
              </a:rPr>
              <a:t>📌  read_csv 핵심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4224528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• URL / 로컬 경로 모두 OK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• dtype 자동 추론 (틀릴 수 있음 ⚠)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• 인코딩 이슈는 encoding='utf-8'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• 큰 파일은 chunksize · usecols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49240"/>
            <a:ext cx="11155680" cy="96012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4406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3328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데이터를 받자마자 head() · info() · describe() 세 줄을 ‘습관처럼’ 실행하라고 강조한다.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이 단계에서 발견되는 ‘문자형으로 잘못 인식된 숫자’와 ‘결측치 패턴’이 이후 전처리의 방향을 결정한다.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수업 환경에서 네트워크가 차단될 경우를 대비해 car.csv 백업 파일을 함께 준비하면 좋다.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21 / 66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9.2   데이터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데이터 확인 3종 세트 — info · describe · isna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결측치 위치와 잘못된 dtype을 한 번에 잡아낸다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5669280" cy="4251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48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📊  data.info() — 컬럼별 형태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42032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6F5A"/>
                </a:solidFill>
                <a:latin typeface="Consolas"/>
              </a:rPr>
              <a:t>#  Column         Non-Null  Dtype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88920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0  name           8128      object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35808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1  year           8128      int64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82696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2  selling_price  8128      int64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29584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3  km_driven      8128      int64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76472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4  fuel           8128      object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23360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5  seller_type    8128      object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70248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6  transmission   8128      object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17136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7  owner          8128      object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64024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47A2C"/>
                </a:solidFill>
                <a:latin typeface="Consolas"/>
              </a:rPr>
              <a:t>8  mileage        7907  ⚠   object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10912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47A2C"/>
                </a:solidFill>
                <a:latin typeface="Consolas"/>
              </a:rPr>
              <a:t>9  engine         7907  ⚠   object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57800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47A2C"/>
                </a:solidFill>
                <a:latin typeface="Consolas"/>
              </a:rPr>
              <a:t>10 max_power      7913  ⚠   object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04688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47A2C"/>
                </a:solidFill>
                <a:latin typeface="Consolas"/>
              </a:rPr>
              <a:t>11 torque         7906  ⚠   object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51576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47A2C"/>
                </a:solidFill>
                <a:latin typeface="Consolas"/>
              </a:rPr>
              <a:t>12 seats          7907  ⚠   float64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057400"/>
            <a:ext cx="5303520" cy="187451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1488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📈  describe() — 통계 요약 핵심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2542032"/>
            <a:ext cx="1554480" cy="2743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25420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Consolas"/>
              </a:rPr>
              <a:t>year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5603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1983 ~ 2020, 평균 ≈ 2014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2871216"/>
            <a:ext cx="1554480" cy="2743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87121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Consolas"/>
              </a:rPr>
              <a:t>selling_price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889504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29,999 ~ 10,000,000  ←  max 매우 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3200400"/>
            <a:ext cx="1554480" cy="2743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32004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Consolas"/>
              </a:rPr>
              <a:t>km_driven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21868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1 ~ 2,360,457   ←  양극단 모두 의심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9400" y="3529584"/>
            <a:ext cx="1554480" cy="2743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352958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Consolas"/>
              </a:rPr>
              <a:t>seats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354787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2 ~ 14, 평균 5.42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023360"/>
            <a:ext cx="5303520" cy="228600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4114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맑은 고딕"/>
              </a:rPr>
              <a:t>🔍  진단 결과 (액션 아이템)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443484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① 단위 섞인 4컬럼  →  split + astype으로 숫자화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② 결측치 ≈ 2~3%   →  dropna() 또는 평균 대체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③ km_driven, selling_price 이상치 의심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    → 트리 모델은 이상치에 둔감, 별도 처리 X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④ 5개 범주형  →  get_dummies(drop_first=True)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    name, fuel, seller_type, transmission, owner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22 / 66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9.3   전처리 큰 그림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9.3 전처리 전략 — 5개 컬럼 손보기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‘단위가 섞인 텍스트’를 모델 입력 가능한 숫자로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03120"/>
            <a:ext cx="219456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103120"/>
            <a:ext cx="2194560" cy="50292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031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889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맑은 고딕"/>
              </a:rPr>
              <a:t>Before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63240"/>
            <a:ext cx="1828800" cy="45720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63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B2A"/>
                </a:solidFill>
                <a:latin typeface="Consolas"/>
              </a:rPr>
              <a:t>1248 CC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F6F5A"/>
                </a:solidFill>
                <a:latin typeface="맑은 고딕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1828800" cy="45720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onsolas"/>
              </a:rPr>
              <a:t>1248.0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891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56B68"/>
                </a:solidFill>
                <a:latin typeface="맑은 고딕"/>
              </a:rPr>
              <a:t>split() + astype()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2103120"/>
            <a:ext cx="219456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34640" y="2103120"/>
            <a:ext cx="2194560" cy="50292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21031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max_power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27889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맑은 고딕"/>
              </a:rPr>
              <a:t>Before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3063240"/>
            <a:ext cx="1828800" cy="45720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0" y="3063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B2A"/>
                </a:solidFill>
                <a:latin typeface="Consolas"/>
              </a:rPr>
              <a:t>74 bhp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5661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FA68A"/>
                </a:solidFill>
                <a:latin typeface="맑은 고딕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0" y="3840480"/>
            <a:ext cx="182880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38404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onsolas"/>
              </a:rPr>
              <a:t>74.0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43891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56B68"/>
                </a:solidFill>
                <a:latin typeface="맑은 고딕"/>
              </a:rPr>
              <a:t>try/except로 ‘bhp’ 단독 처리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2103120"/>
            <a:ext cx="219456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120640" y="2103120"/>
            <a:ext cx="219456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21031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mileage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27889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맑은 고딕"/>
              </a:rPr>
              <a:t>Before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0" y="3063240"/>
            <a:ext cx="1828800" cy="45720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0" y="3063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B2A"/>
                </a:solidFill>
                <a:latin typeface="Consolas"/>
              </a:rPr>
              <a:t>23.4 kmpl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35661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2A44F"/>
                </a:solidFill>
                <a:latin typeface="맑은 고딕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0" y="3840480"/>
            <a:ext cx="1828800" cy="45720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0" y="38404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onsolas"/>
              </a:rPr>
              <a:t>0.29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43891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56B68"/>
                </a:solidFill>
                <a:latin typeface="맑은 고딕"/>
              </a:rPr>
              <a:t>연료별 단가로 단위 통일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06640" y="2103120"/>
            <a:ext cx="219456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406640" y="2103120"/>
            <a:ext cx="2194560" cy="502920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0" y="21031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torque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27889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맑은 고딕"/>
              </a:rPr>
              <a:t>Before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89520" y="3063240"/>
            <a:ext cx="1828800" cy="45720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89520" y="3063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B2A"/>
                </a:solidFill>
                <a:latin typeface="Consolas"/>
              </a:rPr>
              <a:t>190Nm@2000rpm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35661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D47A2C"/>
                </a:solidFill>
                <a:latin typeface="맑은 고딕"/>
              </a:rPr>
              <a:t>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89520" y="3840480"/>
            <a:ext cx="1828800" cy="457200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0" y="38404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onsolas"/>
              </a:rPr>
              <a:t>190.0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43800" y="43891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56B68"/>
                </a:solidFill>
                <a:latin typeface="맑은 고딕"/>
              </a:rPr>
              <a:t>단위 분리 + kgm×9.8066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92640" y="2103120"/>
            <a:ext cx="219456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692640" y="2103120"/>
            <a:ext cx="2194560" cy="502920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0" y="21031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onsolas"/>
              </a:rPr>
              <a:t>name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29800" y="27889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맑은 고딕"/>
              </a:rPr>
              <a:t>Before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75520" y="3063240"/>
            <a:ext cx="1828800" cy="45720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75520" y="3063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B2A"/>
                </a:solidFill>
                <a:latin typeface="Consolas"/>
              </a:rPr>
              <a:t>Maruti Swift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35661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B6FB6"/>
                </a:solidFill>
                <a:latin typeface="맑은 고딕"/>
              </a:rPr>
              <a:t>↓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75520" y="3840480"/>
            <a:ext cx="1828800" cy="457200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75520" y="38404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onsolas"/>
              </a:rPr>
              <a:t>Maruti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800" y="43891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56B68"/>
                </a:solidFill>
                <a:latin typeface="맑은 고딕"/>
              </a:rPr>
              <a:t>브랜드만 추출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" y="5120640"/>
            <a:ext cx="11155680" cy="137160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52120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맑은 고딕"/>
              </a:rPr>
              <a:t>🧭  전처리의 3대 원칙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" y="553212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①  ‘숫자처럼 보이지만 문자(object)’ 컬럼은 반드시 split → astype으로 변환한다.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②  단위가 섞여 있다면 단위를 먼저 통일한 다음, 텍스트는 버린다(또는 원-핫).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③  자유 텍스트(브랜드 등)는 더미 변수 폭발을 막기 위해 의미 단위만 남긴다.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23 / 66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9.3.1   engine 전처리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9.3.1  engine : '1248 CC' → 1248.0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str.split(expand=True) + astype() — 가장 단순한 케이스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6949440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engine_preprocess.py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58368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Step 1) 공백 기준 split → 두 컬럼으로 펼치기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[</a:t>
            </a:r>
            <a:r>
              <a:rPr sz="1200">
                <a:solidFill>
                  <a:srgbClr val="E8F6EF"/>
                </a:solidFill>
                <a:latin typeface="Consolas"/>
              </a:rPr>
              <a:t>[</a:t>
            </a:r>
            <a:r>
              <a:rPr sz="1200">
                <a:solidFill>
                  <a:srgbClr val="F6B26B"/>
                </a:solidFill>
                <a:latin typeface="Consolas"/>
              </a:rPr>
              <a:t>'engine'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6B26B"/>
                </a:solidFill>
                <a:latin typeface="Consolas"/>
              </a:rPr>
              <a:t>'engine_unit'</a:t>
            </a:r>
            <a:r>
              <a:rPr sz="1200">
                <a:solidFill>
                  <a:srgbClr val="E8F6EF"/>
                </a:solidFill>
                <a:latin typeface="Consolas"/>
              </a:rPr>
              <a:t>]</a:t>
            </a:r>
            <a:r>
              <a:rPr sz="1200">
                <a:solidFill>
                  <a:srgbClr val="E8F6EF"/>
                </a:solidFill>
                <a:latin typeface="Consolas"/>
              </a:rPr>
              <a:t>]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[</a:t>
            </a:r>
            <a:r>
              <a:rPr sz="1200">
                <a:solidFill>
                  <a:srgbClr val="F6B26B"/>
                </a:solidFill>
                <a:latin typeface="Consolas"/>
              </a:rPr>
              <a:t>'engine'</a:t>
            </a:r>
            <a:r>
              <a:rPr sz="1200">
                <a:solidFill>
                  <a:srgbClr val="E8F6EF"/>
                </a:solidFill>
                <a:latin typeface="Consolas"/>
              </a:rPr>
              <a:t>]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8FB8E0"/>
                </a:solidFill>
                <a:latin typeface="Consolas"/>
              </a:rPr>
              <a:t>str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split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expand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7BD389"/>
                </a:solidFill>
                <a:latin typeface="Consolas"/>
              </a:rPr>
              <a:t>True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Step 2) 숫자 부분을 float32로 변환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[</a:t>
            </a:r>
            <a:r>
              <a:rPr sz="1200">
                <a:solidFill>
                  <a:srgbClr val="F6B26B"/>
                </a:solidFill>
                <a:latin typeface="Consolas"/>
              </a:rPr>
              <a:t>'engine'</a:t>
            </a:r>
            <a:r>
              <a:rPr sz="1200">
                <a:solidFill>
                  <a:srgbClr val="E8F6EF"/>
                </a:solidFill>
                <a:latin typeface="Consolas"/>
              </a:rPr>
              <a:t>]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[</a:t>
            </a:r>
            <a:r>
              <a:rPr sz="1200">
                <a:solidFill>
                  <a:srgbClr val="F6B26B"/>
                </a:solidFill>
                <a:latin typeface="Consolas"/>
              </a:rPr>
              <a:t>'engine'</a:t>
            </a:r>
            <a:r>
              <a:rPr sz="1200">
                <a:solidFill>
                  <a:srgbClr val="E8F6EF"/>
                </a:solidFill>
                <a:latin typeface="Consolas"/>
              </a:rPr>
              <a:t>]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astype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F6B26B"/>
                </a:solidFill>
                <a:latin typeface="Consolas"/>
              </a:rPr>
              <a:t>'float32'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Step 3) 단위가 모두 'CC' 단일값인지 확인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[</a:t>
            </a:r>
            <a:r>
              <a:rPr sz="1200">
                <a:solidFill>
                  <a:srgbClr val="F6B26B"/>
                </a:solidFill>
                <a:latin typeface="Consolas"/>
              </a:rPr>
              <a:t>'engine_unit'</a:t>
            </a:r>
            <a:r>
              <a:rPr sz="1200">
                <a:solidFill>
                  <a:srgbClr val="E8F6EF"/>
                </a:solidFill>
                <a:latin typeface="Consolas"/>
              </a:rPr>
              <a:t>]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unique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array(['CC', nan])</a:t>
            </a:r>
          </a:p>
          <a:p>
            <a:pPr>
              <a:lnSpc>
                <a:spcPct val="118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Step 4) 단위 컬럼 제거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drop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F6B26B"/>
                </a:solidFill>
                <a:latin typeface="Consolas"/>
              </a:rPr>
              <a:t>'engine_unit'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axis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F2D45F"/>
                </a:solidFill>
                <a:latin typeface="Consolas"/>
              </a:rPr>
              <a:t>1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inplace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7BD389"/>
                </a:solidFill>
                <a:latin typeface="Consolas"/>
              </a:rPr>
              <a:t>True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2011680"/>
            <a:ext cx="4023360" cy="4251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1031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🔧  변환 과정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2606040"/>
            <a:ext cx="1051560" cy="50292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2606040"/>
            <a:ext cx="1051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맑은 고딕"/>
              </a:rPr>
              <a:t>Before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606040"/>
            <a:ext cx="2606040" cy="50292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6060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'1248 CC'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3246120"/>
            <a:ext cx="105156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3246120"/>
            <a:ext cx="1051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split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3246120"/>
            <a:ext cx="2606040" cy="50292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32461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['1248', 'CC']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3886200"/>
            <a:ext cx="1051560" cy="50292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3886200"/>
            <a:ext cx="1051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astype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3886200"/>
            <a:ext cx="2606040" cy="50292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388620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1248.0  +  'CC'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4526280"/>
            <a:ext cx="1051560" cy="50292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4526280"/>
            <a:ext cx="1051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drop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4526280"/>
            <a:ext cx="2606040" cy="50292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452628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1248.0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5212080"/>
            <a:ext cx="3749039" cy="96012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528523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A44F"/>
                </a:solidFill>
                <a:latin typeface="맑은 고딕"/>
              </a:rPr>
              <a:t>💡  expand=True 가 핵심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5532120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</a:rPr>
              <a:t>False(기본)면 리스트가 한 셀에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</a:rPr>
              <a:t>그대로 들어가 별도 컬럼 분리 안 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24 / 66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9.3.2   max_power 전처리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9.3.2  max_power : ‘bhp’ 단독값 때문에 astype()이 깨진다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try / except + apply로 한 줄짜리 더러운 값을 NaN으로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315200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max_power_preprocess.py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94944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Step 1) split — engine과 동일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'max_power'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6B26B"/>
                </a:solidFill>
                <a:latin typeface="Consolas"/>
              </a:rPr>
              <a:t>'max_power_unit'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'max_power'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8FB8E0"/>
                </a:solidFill>
                <a:latin typeface="Consolas"/>
              </a:rPr>
              <a:t>str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split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expand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7BD389"/>
                </a:solidFill>
                <a:latin typeface="Consolas"/>
              </a:rPr>
              <a:t>True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❌  data['max_power'].astype('float32')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   ValueError: could not convert string to float: 'bhp'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Step 2) 안전 변환 함수 정의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7BD389"/>
                </a:solidFill>
                <a:latin typeface="Consolas"/>
              </a:rPr>
              <a:t>def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isFloat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value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try</a:t>
            </a:r>
            <a:r>
              <a:rPr sz="11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return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8FB8E0"/>
                </a:solidFill>
                <a:latin typeface="Consolas"/>
              </a:rPr>
              <a:t>float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value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9AA7A0"/>
                </a:solidFill>
                <a:latin typeface="Consolas"/>
              </a:rPr>
              <a:t># 시도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except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ValueError</a:t>
            </a:r>
            <a:r>
              <a:rPr sz="11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return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np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NaN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9AA7A0"/>
                </a:solidFill>
                <a:latin typeface="Consolas"/>
              </a:rPr>
              <a:t># 실패 → NaN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'max_power'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'max_power'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apply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isFloat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drop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F6B26B"/>
                </a:solidFill>
                <a:latin typeface="Consolas"/>
              </a:rPr>
              <a:t>'max_power_unit'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axis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F2D45F"/>
                </a:solidFill>
                <a:latin typeface="Consolas"/>
              </a:rPr>
              <a:t>1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inplace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7BD389"/>
                </a:solidFill>
                <a:latin typeface="Consolas"/>
              </a:rPr>
              <a:t>True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36576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103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🛡️  Try / Except 흐름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2560320"/>
            <a:ext cx="3200400" cy="59436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56032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TRY  :  float(value)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2004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6F5A"/>
                </a:solidFill>
                <a:latin typeface="맑은 고딕"/>
              </a:rPr>
              <a:t>✓ 성공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32004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7A2C"/>
                </a:solidFill>
                <a:latin typeface="맑은 고딕"/>
              </a:rPr>
              <a:t>✗ ValueError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520440"/>
            <a:ext cx="1417320" cy="548640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5204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맑은 고딕"/>
              </a:rPr>
              <a:t>숫자 반환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3520440"/>
            <a:ext cx="1554480" cy="54864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np.NaN 반환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4251960"/>
            <a:ext cx="3200400" cy="192024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3434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맑은 고딕"/>
              </a:rPr>
              <a:t>💡  실무 패턴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617720"/>
            <a:ext cx="30175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‘더러운 한 줄’ 때문에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전체 파이프라인이 멈추는 일,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현업에서 자주 만난다.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→ try/except + apply는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실무 단골 패턴.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25 / 66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9.3.3   mileage 전처리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9.3.3  mileage : 단위가 두 종류! (kmpl vs km/kg)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연료별 단가로 나눠 ‘$1당 주행거리’로 통일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040880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mileage_preprocess.py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67512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Step 1) split &amp; float 변환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'mileage'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F6B26B"/>
                </a:solidFill>
                <a:latin typeface="Consolas"/>
              </a:rPr>
              <a:t>'mileage_unit'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'mileage'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8FB8E0"/>
                </a:solidFill>
                <a:latin typeface="Consolas"/>
              </a:rPr>
              <a:t>str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split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expand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7BD389"/>
                </a:solidFill>
                <a:latin typeface="Consolas"/>
              </a:rPr>
              <a:t>True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'mileage'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'mileage'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astype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F6B26B"/>
                </a:solidFill>
                <a:latin typeface="Consolas"/>
              </a:rPr>
              <a:t>'float32'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Step 2) 연료별 단가로 환산 (1달러당 주행거리)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7BD389"/>
                </a:solidFill>
                <a:latin typeface="Consolas"/>
              </a:rPr>
              <a:t>def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mile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x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if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x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'fuel'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6B26B"/>
                </a:solidFill>
                <a:latin typeface="Consolas"/>
              </a:rPr>
              <a:t>'Petrol'</a:t>
            </a:r>
            <a:r>
              <a:rPr sz="1150">
                <a:solidFill>
                  <a:srgbClr val="E8F6EF"/>
                </a:solidFill>
                <a:latin typeface="Consolas"/>
              </a:rPr>
              <a:t>: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return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x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'mileage'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/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2D45F"/>
                </a:solidFill>
                <a:latin typeface="Consolas"/>
              </a:rPr>
              <a:t>80.43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elif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x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'fuel'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6B26B"/>
                </a:solidFill>
                <a:latin typeface="Consolas"/>
              </a:rPr>
              <a:t>'Diesel'</a:t>
            </a:r>
            <a:r>
              <a:rPr sz="1150">
                <a:solidFill>
                  <a:srgbClr val="E8F6EF"/>
                </a:solidFill>
                <a:latin typeface="Consolas"/>
              </a:rPr>
              <a:t>: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return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x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'mileage'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/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2D45F"/>
                </a:solidFill>
                <a:latin typeface="Consolas"/>
              </a:rPr>
              <a:t>73.56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elif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x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'fuel'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6B26B"/>
                </a:solidFill>
                <a:latin typeface="Consolas"/>
              </a:rPr>
              <a:t>'LPG'</a:t>
            </a:r>
            <a:r>
              <a:rPr sz="1150">
                <a:solidFill>
                  <a:srgbClr val="E8F6EF"/>
                </a:solidFill>
                <a:latin typeface="Consolas"/>
              </a:rPr>
              <a:t>: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return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x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'mileage'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/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2D45F"/>
                </a:solidFill>
                <a:latin typeface="Consolas"/>
              </a:rPr>
              <a:t>40.85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else</a:t>
            </a:r>
            <a:r>
              <a:rPr sz="1150">
                <a:solidFill>
                  <a:srgbClr val="E8F6EF"/>
                </a:solidFill>
                <a:latin typeface="Consolas"/>
              </a:rPr>
              <a:t>: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return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x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'mileage'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/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2D45F"/>
                </a:solidFill>
                <a:latin typeface="Consolas"/>
              </a:rPr>
              <a:t>44.23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'mileage'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apply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mile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axis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F2D45F"/>
                </a:solidFill>
                <a:latin typeface="Consolas"/>
              </a:rPr>
              <a:t>1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drop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F6B26B"/>
                </a:solidFill>
                <a:latin typeface="Consolas"/>
              </a:rPr>
              <a:t>'mileage_unit'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axis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F2D45F"/>
                </a:solidFill>
                <a:latin typeface="Consolas"/>
              </a:rPr>
              <a:t>1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inplace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7BD389"/>
                </a:solidFill>
                <a:latin typeface="Consolas"/>
              </a:rPr>
              <a:t>True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011680"/>
            <a:ext cx="39319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1031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F6F5A"/>
                </a:solidFill>
                <a:latin typeface="맑은 고딕"/>
              </a:rPr>
              <a:t>⛽  연료별 단가 (수업 시점 기준)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2560320"/>
            <a:ext cx="1097280" cy="36576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2560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</a:rPr>
              <a:t>Petrol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560320"/>
            <a:ext cx="237744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2560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L당 $80.43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2971800"/>
            <a:ext cx="1097280" cy="36576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29718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</a:rPr>
              <a:t>Diesel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2971800"/>
            <a:ext cx="237744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971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L당 $73.56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3383280"/>
            <a:ext cx="1097280" cy="36576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33832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</a:rPr>
              <a:t>LPG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3383280"/>
            <a:ext cx="237744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3383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kg당 $40.85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3794760"/>
            <a:ext cx="1097280" cy="365760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37947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</a:rPr>
              <a:t>CNG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794760"/>
            <a:ext cx="237744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37947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kg당 $44.23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4526280"/>
            <a:ext cx="3931920" cy="17373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4617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A44F"/>
                </a:solidFill>
                <a:latin typeface="맑은 고딕"/>
              </a:rPr>
              <a:t>📌  apply(func, axis=1)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493776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FFFFF"/>
                </a:solidFill>
                <a:latin typeface="맑은 고딕"/>
              </a:rPr>
              <a:t>axis=1 → 행 단위 전달.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FFFFF"/>
                </a:solidFill>
                <a:latin typeface="맑은 고딕"/>
              </a:rPr>
              <a:t>함수 내부에서 여러 컬럼을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FFFFF"/>
                </a:solidFill>
                <a:latin typeface="맑은 고딕"/>
              </a:rPr>
              <a:t>동시에 참조할 수 있다.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FFFFF"/>
                </a:solidFill>
                <a:latin typeface="맑은 고딕"/>
              </a:rPr>
              <a:t>(대용량에서는 vectorize 권장)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26 / 66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9.3.4   torque 전처리 (4-Step)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9.3.4  torque : 가장 지저분한 컬럼 정복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‘190Nm@2000rpm’, ‘22.4 kgm at 1750-2750rpm’ … 패턴이 제각각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680960" cy="429768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torque_preprocess.py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7315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50">
                <a:solidFill>
                  <a:srgbClr val="9AA7A0"/>
                </a:solidFill>
                <a:latin typeface="Consolas"/>
              </a:rPr>
              <a:t># ① 대소문자 통일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8FB8E0"/>
                </a:solidFill>
                <a:latin typeface="Consolas"/>
              </a:rPr>
              <a:t>str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upper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9AA7A0"/>
                </a:solidFill>
                <a:latin typeface="Consolas"/>
              </a:rPr>
              <a:t># ② 단위 추출 함수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7BD389"/>
                </a:solidFill>
                <a:latin typeface="Consolas"/>
              </a:rPr>
              <a:t>def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torque_unit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if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6B26B"/>
                </a:solidFill>
                <a:latin typeface="Consolas"/>
              </a:rPr>
              <a:t>'NM'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in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8FB8E0"/>
                </a:solidFill>
                <a:latin typeface="Consolas"/>
              </a:rPr>
              <a:t>str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return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6B26B"/>
                </a:solidFill>
                <a:latin typeface="Consolas"/>
              </a:rPr>
              <a:t>'Nm'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elif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6B26B"/>
                </a:solidFill>
                <a:latin typeface="Consolas"/>
              </a:rPr>
              <a:t>'KGM'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in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8FB8E0"/>
                </a:solidFill>
                <a:latin typeface="Consolas"/>
              </a:rPr>
              <a:t>str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return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6B26B"/>
                </a:solidFill>
                <a:latin typeface="Consolas"/>
              </a:rPr>
              <a:t>'kgm'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'torque_unit'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apply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torque_unit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'torque_unit'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fillna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F6B26B"/>
                </a:solidFill>
                <a:latin typeface="Consolas"/>
              </a:rPr>
              <a:t>'Nm'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inplace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7BD389"/>
                </a:solidFill>
                <a:latin typeface="Consolas"/>
              </a:rPr>
              <a:t>True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9AA7A0"/>
                </a:solidFill>
                <a:latin typeface="Consolas"/>
              </a:rPr>
              <a:t># 단위 미상 → Nm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9AA7A0"/>
                </a:solidFill>
                <a:latin typeface="Consolas"/>
              </a:rPr>
              <a:t># ③ 앞쪽 숫자만 추출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7BD389"/>
                </a:solidFill>
                <a:latin typeface="Consolas"/>
              </a:rPr>
              <a:t>def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split_num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8FB8E0"/>
                </a:solidFill>
                <a:latin typeface="Consolas"/>
              </a:rPr>
              <a:t>str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for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i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ch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in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8FB8E0"/>
                </a:solidFill>
                <a:latin typeface="Consolas"/>
              </a:rPr>
              <a:t>enumerate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if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ch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not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in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6B26B"/>
                </a:solidFill>
                <a:latin typeface="Consolas"/>
              </a:rPr>
              <a:t>'0123456789.'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return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  <a:r>
              <a:rPr sz="950">
                <a:solidFill>
                  <a:srgbClr val="E8F6EF"/>
                </a:solidFill>
                <a:latin typeface="Consolas"/>
              </a:rPr>
              <a:t>i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return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apply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split_num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replace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F6B26B"/>
                </a:solidFill>
                <a:latin typeface="Consolas"/>
              </a:rPr>
              <a:t>''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np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NaN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astype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F6B26B"/>
                </a:solidFill>
                <a:latin typeface="Consolas"/>
              </a:rPr>
              <a:t>'float64'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9AA7A0"/>
                </a:solidFill>
                <a:latin typeface="Consolas"/>
              </a:rPr>
              <a:t># ④ 단위 변환: kgm × 9.8066 = Nm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7BD389"/>
                </a:solidFill>
                <a:latin typeface="Consolas"/>
              </a:rPr>
              <a:t>def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torque_trans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if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'torque_unit'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6B26B"/>
                </a:solidFill>
                <a:latin typeface="Consolas"/>
              </a:rPr>
              <a:t>'kgm'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return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*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9.8066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else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return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'torque'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apply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torque_trans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axis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F2D45F"/>
                </a:solidFill>
                <a:latin typeface="Consolas"/>
              </a:rPr>
              <a:t>1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drop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F6B26B"/>
                </a:solidFill>
                <a:latin typeface="Consolas"/>
              </a:rPr>
              <a:t>'torque_unit'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axis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F2D45F"/>
                </a:solidFill>
                <a:latin typeface="Consolas"/>
              </a:rPr>
              <a:t>1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inplace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7BD389"/>
                </a:solidFill>
                <a:latin typeface="Consolas"/>
              </a:rPr>
              <a:t>True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011680"/>
            <a:ext cx="329184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103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🪓  4-Step 정제 흐름</a:t>
            </a:r>
          </a:p>
        </p:txBody>
      </p:sp>
      <p:sp>
        <p:nvSpPr>
          <p:cNvPr id="20" name="Oval 19"/>
          <p:cNvSpPr/>
          <p:nvPr/>
        </p:nvSpPr>
        <p:spPr>
          <a:xfrm>
            <a:off x="8549640" y="2606040"/>
            <a:ext cx="502920" cy="822960"/>
          </a:xfrm>
          <a:prstGeom prst="ellips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606040"/>
            <a:ext cx="502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67004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2B2A"/>
                </a:solidFill>
                <a:latin typeface="맑은 고딕"/>
              </a:rPr>
              <a:t>대소문자 통일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99008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Consolas"/>
              </a:rPr>
              <a:t>str.upper()</a:t>
            </a:r>
          </a:p>
        </p:txBody>
      </p:sp>
      <p:sp>
        <p:nvSpPr>
          <p:cNvPr id="24" name="Oval 23"/>
          <p:cNvSpPr/>
          <p:nvPr/>
        </p:nvSpPr>
        <p:spPr>
          <a:xfrm>
            <a:off x="8549640" y="3493008"/>
            <a:ext cx="502920" cy="822960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3493008"/>
            <a:ext cx="502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557016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2B2A"/>
                </a:solidFill>
                <a:latin typeface="맑은 고딕"/>
              </a:rPr>
              <a:t>단위 추출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877056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Consolas"/>
              </a:rPr>
              <a:t>in 'NM' / 'KGM'</a:t>
            </a:r>
          </a:p>
        </p:txBody>
      </p:sp>
      <p:sp>
        <p:nvSpPr>
          <p:cNvPr id="28" name="Oval 27"/>
          <p:cNvSpPr/>
          <p:nvPr/>
        </p:nvSpPr>
        <p:spPr>
          <a:xfrm>
            <a:off x="8549640" y="4379976"/>
            <a:ext cx="502920" cy="822960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4379976"/>
            <a:ext cx="502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44398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2B2A"/>
                </a:solidFill>
                <a:latin typeface="맑은 고딕"/>
              </a:rPr>
              <a:t>숫자 추출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76402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Consolas"/>
              </a:rPr>
              <a:t>enumerate + break</a:t>
            </a:r>
          </a:p>
        </p:txBody>
      </p:sp>
      <p:sp>
        <p:nvSpPr>
          <p:cNvPr id="32" name="Oval 31"/>
          <p:cNvSpPr/>
          <p:nvPr/>
        </p:nvSpPr>
        <p:spPr>
          <a:xfrm>
            <a:off x="8549640" y="5266944"/>
            <a:ext cx="502920" cy="822960"/>
          </a:xfrm>
          <a:prstGeom prst="ellips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5266944"/>
            <a:ext cx="502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3309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2B2A"/>
                </a:solidFill>
                <a:latin typeface="맑은 고딕"/>
              </a:rPr>
              <a:t>단위 변환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65099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Consolas"/>
              </a:rPr>
              <a:t>kgm × 9.8066 = Nm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27 / 66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9.3.5   name 전처리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9.3.5  name : 모델명은 버리고 ‘브랜드’만 남기기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수많은 모델명을 그대로 더미화하면 컬럼이 폭발한다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680960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name_preprocess.py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731520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Step 1) 공백 분리 후 첫 단어(=브랜드)만 남기기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'name'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'name'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8FB8E0"/>
                </a:solidFill>
                <a:latin typeface="Consolas"/>
              </a:rPr>
              <a:t>str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split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expand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7BD389"/>
                </a:solidFill>
                <a:latin typeface="Consolas"/>
              </a:rPr>
              <a:t>True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2D45F"/>
                </a:solidFill>
                <a:latin typeface="Consolas"/>
              </a:rPr>
              <a:t>0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'name'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unique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array(['Maruti', 'Skoda', 'Honda', 'Hyundai', 'Toyota',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       'Ford', 'Renault', 'Mahindra', 'Tata', 'Chevrolet',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       'Fiat', 'Datsun', 'Jeep', 'Mercedes-Benz', 'Mitsubishi',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       'Audi', 'Volkswagen', 'BMW', 'Nissan', 'Lexus',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       'Jaguar', 'Land', 'MG', 'Volvo', 'Daewoo',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       'Kia', 'Force', 'Ambassador', 'Ashok', 'Isuzu',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       'Opel', 'Peugeot'])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Step 2) 'Land Rover'가 'Land'로만 남는 케이스 보정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'name'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data</a:t>
            </a:r>
            <a:r>
              <a:rPr sz="1150">
                <a:solidFill>
                  <a:srgbClr val="E8F6EF"/>
                </a:solidFill>
                <a:latin typeface="Consolas"/>
              </a:rPr>
              <a:t>[</a:t>
            </a:r>
            <a:r>
              <a:rPr sz="1150">
                <a:solidFill>
                  <a:srgbClr val="F6B26B"/>
                </a:solidFill>
                <a:latin typeface="Consolas"/>
              </a:rPr>
              <a:t>'name'</a:t>
            </a:r>
            <a:r>
              <a:rPr sz="1150">
                <a:solidFill>
                  <a:srgbClr val="E8F6EF"/>
                </a:solidFill>
                <a:latin typeface="Consolas"/>
              </a:rPr>
              <a:t>]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replace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F6B26B"/>
                </a:solidFill>
                <a:latin typeface="Consolas"/>
              </a:rPr>
              <a:t>'Land'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6B26B"/>
                </a:solidFill>
                <a:latin typeface="Consolas"/>
              </a:rPr>
              <a:t>'Land Rover'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011680"/>
            <a:ext cx="329184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2011680"/>
            <a:ext cx="91440" cy="192024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68512" y="217627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🤔  왜 브랜드만?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2" y="2670048"/>
            <a:ext cx="2834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• 모델명까지 더미화 시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  수백 컬럼 추가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• 모델 특성은 이미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  engine·max_power·torque가 설명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• 단, ‘브랜드 프리미엄’은 가격에 큰 영향 → 보존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4023360"/>
            <a:ext cx="3291840" cy="2240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4023360"/>
            <a:ext cx="91440" cy="224028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418795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🔧  핵심 도구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512" y="4681728"/>
            <a:ext cx="28346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str.split(expand=True)[0]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→ 첫 단어만 추출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replace(old, new)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→ ‘Land’ → ‘Land Rover’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   같은 후처리 보정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28 / 66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9.4   결측치 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9.4  결측치 처리 — 약 2~3% 행 일괄 삭제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스펙 컬럼에 집중된 결측, 평균 대체보다 dropna()가 안전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5669280" cy="4251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📊  결측치 비율 — data.isna().mean()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06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524A"/>
                </a:solidFill>
                <a:latin typeface="Consolas"/>
              </a:rPr>
              <a:t>name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2651760"/>
            <a:ext cx="320040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26060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56B68"/>
                </a:solidFill>
                <a:latin typeface="맑은 고딕"/>
              </a:rPr>
              <a:t>0.00%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9535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524A"/>
                </a:solidFill>
                <a:latin typeface="Consolas"/>
              </a:rPr>
              <a:t>year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2999232"/>
            <a:ext cx="320040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2953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56B68"/>
                </a:solidFill>
                <a:latin typeface="맑은 고딕"/>
              </a:rPr>
              <a:t>0.00%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30098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524A"/>
                </a:solidFill>
                <a:latin typeface="Consolas"/>
              </a:rPr>
              <a:t>selling_price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3346704"/>
            <a:ext cx="320040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33009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56B68"/>
                </a:solidFill>
                <a:latin typeface="맑은 고딕"/>
              </a:rPr>
              <a:t>0.00%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484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524A"/>
                </a:solidFill>
                <a:latin typeface="Consolas"/>
              </a:rPr>
              <a:t>mileage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3694176"/>
            <a:ext cx="320040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94560" y="3694176"/>
            <a:ext cx="1741017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40680" y="36484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2.72%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9959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524A"/>
                </a:solidFill>
                <a:latin typeface="Consolas"/>
              </a:rPr>
              <a:t>engine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0" y="4041648"/>
            <a:ext cx="320040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94560" y="4041648"/>
            <a:ext cx="1741017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39959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2.72%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3434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524A"/>
                </a:solidFill>
                <a:latin typeface="Consolas"/>
              </a:rPr>
              <a:t>max_power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94560" y="4389120"/>
            <a:ext cx="320040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194560" y="4389120"/>
            <a:ext cx="1702612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0680" y="43434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2.66%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6908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524A"/>
                </a:solidFill>
                <a:latin typeface="Consolas"/>
              </a:rPr>
              <a:t>torque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60" y="4736592"/>
            <a:ext cx="320040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194560" y="4736592"/>
            <a:ext cx="1747418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0680" y="46908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2.73%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03834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524A"/>
                </a:solidFill>
                <a:latin typeface="Consolas"/>
              </a:rPr>
              <a:t>seats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94560" y="5084064"/>
            <a:ext cx="320040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194560" y="5084064"/>
            <a:ext cx="1741017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40680" y="503834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2.72%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5532120"/>
            <a:ext cx="5212080" cy="6400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57784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✅  결정: data.dropna(inplace=True)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    8,128행 → 7,906행  (−2.7%)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2011680"/>
            <a:ext cx="5303520" cy="210312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6539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72998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89457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01968" y="2377440"/>
            <a:ext cx="49377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1) 비율 확인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isna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mean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2) 결측 행 일괄 제거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dropna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inplace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7BD389"/>
                </a:solidFill>
                <a:latin typeface="Consolas"/>
              </a:rPr>
              <a:t>True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3) 길이 확인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8FB8E0"/>
                </a:solidFill>
                <a:latin typeface="Consolas"/>
              </a:rPr>
              <a:t>len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7906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4206240"/>
            <a:ext cx="5303520" cy="205740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4297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4590288"/>
            <a:ext cx="49377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‘결측이 랜덤인가, 패턴인가?’를 물어 본다.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mileage·engine·seats가 같은 비율(2.72%)이라는 사실은 ‘특정 행 전체가 결측’임을 시사 — 평균 대체가 노이즈가 될 수 있다.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비율이 낮고(2~3%) 핵심 스펙이라 dropna()가 합리적.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29 / 66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9.4   더미 변수 변환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9.4  범주형 → 더미 변수 (One-Hot Encoding)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pd.get_dummies(drop_first=True) 한 줄로 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6583680" cy="420624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dummies.py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21792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pd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get_dummies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columns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[</a:t>
            </a:r>
            <a:r>
              <a:rPr sz="1200">
                <a:solidFill>
                  <a:srgbClr val="F6B26B"/>
                </a:solidFill>
                <a:latin typeface="Consolas"/>
              </a:rPr>
              <a:t>'name'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6B26B"/>
                </a:solidFill>
                <a:latin typeface="Consolas"/>
              </a:rPr>
              <a:t>'fuel'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6B26B"/>
                </a:solidFill>
                <a:latin typeface="Consolas"/>
              </a:rPr>
              <a:t>'seller_type'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6B26B"/>
                </a:solidFill>
                <a:latin typeface="Consolas"/>
              </a:rPr>
              <a:t>'transmission'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6B26B"/>
                </a:solidFill>
                <a:latin typeface="Consolas"/>
              </a:rPr>
              <a:t>'owner'</a:t>
            </a:r>
            <a:r>
              <a:rPr sz="1200">
                <a:solidFill>
                  <a:srgbClr val="E8F6EF"/>
                </a:solidFill>
                <a:latin typeface="Consolas"/>
              </a:rPr>
              <a:t>]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drop_first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7BD389"/>
                </a:solidFill>
                <a:latin typeface="Consolas"/>
              </a:rPr>
              <a:t>True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기준 범주 1개 제거 — 다중공선성 방지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dtypes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value_counts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float32     4   (engine, max_power, mileage, ...)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int64       3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uint8      45   (더미 변수들)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dtype: int64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011680"/>
            <a:ext cx="4389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2011680"/>
            <a:ext cx="91440" cy="18288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2" y="217627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💡  drop_first=True 의 이유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2" y="2670048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n개 범주 → n-1개 더미면 충분.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‘모든 더미가 0’이면 기준 범주.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다중공선성 방지 + 컬럼 1개 절약.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931920"/>
            <a:ext cx="43891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3931920"/>
            <a:ext cx="91440" cy="1280160"/>
          </a:xfrm>
          <a:prstGeom prst="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71232" y="409651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⚠️  주의: 더미 폭발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2" y="4590288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name이 32개 브랜드 → 31개 컬럼 추가.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고카디널리티 변수는 신중하게.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5303520"/>
            <a:ext cx="438912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5303520"/>
            <a:ext cx="91440" cy="96012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71232" y="546811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📌  Train/Test 후 인코딩 vs 먼저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2" y="596188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교재는 ‘먼저’ → 단순함. 실무는 train으로 fit 후 test에 transform 권장.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30 / 66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9.4   전처리 품질 체크리스트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전처리 후 1분 품질 점검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모델 fit() 호출 직전에 반드시 확인할 5가지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57400"/>
            <a:ext cx="137160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체크 항목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2057400"/>
            <a:ext cx="411480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205740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확인 질문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057400"/>
            <a:ext cx="320040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0574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실패 시 증상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057400"/>
            <a:ext cx="246888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05740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확인 코드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06040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60604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dtype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0240" y="260604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260604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object 컬럼이 남아 있는가?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606040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6060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sklearn fit() 시 ValueError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606040"/>
            <a:ext cx="2468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6060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data.dtypes.value_counts()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54680"/>
            <a:ext cx="13716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15468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NaN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3154680"/>
            <a:ext cx="41148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0" y="315468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결측치가 남았는가?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154680"/>
            <a:ext cx="32004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31546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Input contains NaN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3154680"/>
            <a:ext cx="246888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3154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data.isna().sum().sum()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703320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70332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타깃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370332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370332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selling_price를 X에서 제외했는가?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3703320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37033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데이터 누수 → RMSE 비정상 낮음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35440" y="3703320"/>
            <a:ext cx="2468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3703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X.columns.tolist()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251960"/>
            <a:ext cx="13716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25196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인덱스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20240" y="4251960"/>
            <a:ext cx="41148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11680" y="425196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KFold 사용 전 reset_index 했는가?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4251960"/>
            <a:ext cx="32004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0" y="42519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KFold에서 KeyError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35440" y="4251960"/>
            <a:ext cx="246888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42519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data.reset_index(drop=True, ...)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4800600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80060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분포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20240" y="480060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11680" y="48006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train/test 타깃 분포가 비슷한가?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35040" y="4800600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26480" y="48006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평가가 우연에 흔들림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35440" y="4800600"/>
            <a:ext cx="2468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0" y="48006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y_train.describe()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6126480"/>
            <a:ext cx="11064240" cy="45720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510528"/>
            <a:ext cx="1069848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‘체크리스트를 안 했더니 30분 디버깅’ 경험담 1개 — 학생들이 가장 기억하는 부분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31 / 66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9601200" y="4114800"/>
            <a:ext cx="1371600" cy="1371600"/>
          </a:xfrm>
          <a:prstGeom prst="triangle">
            <a:avLst/>
          </a:prstGeom>
          <a:solidFill>
            <a:srgbClr val="88D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0515600" y="4572000"/>
            <a:ext cx="1005840" cy="1005840"/>
          </a:xfrm>
          <a:prstGeom prst="triangl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8961120" y="4754880"/>
            <a:ext cx="822960" cy="822960"/>
          </a:xfrm>
          <a:prstGeom prst="triangl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19456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PART IV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맑은 고딕"/>
              </a:rPr>
              <a:t>모델링과 평가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03320"/>
            <a:ext cx="73152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FE3DA"/>
                </a:solidFill>
                <a:latin typeface="맑은 고딕"/>
              </a:rPr>
              <a:t>교재 9.5-9.6 — train/test · RMSE · K-Fold · OOB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9.5   훈련셋·시험셋 분리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9.5  Hold-out — train_test_split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한 번의 분할로 빠르게 평가 (다음 절에서 CV로 보강)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315200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train_test_split.py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94944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7BD389"/>
                </a:solidFill>
                <a:latin typeface="Consolas"/>
              </a:rPr>
              <a:t>from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sklearn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model_selection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7BD389"/>
                </a:solidFill>
                <a:latin typeface="Consolas"/>
              </a:rPr>
              <a:t>import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train_test_split</a:t>
            </a:r>
          </a:p>
          <a:p>
            <a:pPr>
              <a:lnSpc>
                <a:spcPct val="118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1) X(피처)와 y(타깃) 분리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X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drop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F6B26B"/>
                </a:solidFill>
                <a:latin typeface="Consolas"/>
              </a:rPr>
              <a:t>'selling_price'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axis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F2D45F"/>
                </a:solidFill>
                <a:latin typeface="Consolas"/>
              </a:rPr>
              <a:t>1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y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data</a:t>
            </a:r>
            <a:r>
              <a:rPr sz="1200">
                <a:solidFill>
                  <a:srgbClr val="E8F6EF"/>
                </a:solidFill>
                <a:latin typeface="Consolas"/>
              </a:rPr>
              <a:t>[</a:t>
            </a:r>
            <a:r>
              <a:rPr sz="1200">
                <a:solidFill>
                  <a:srgbClr val="F6B26B"/>
                </a:solidFill>
                <a:latin typeface="Consolas"/>
              </a:rPr>
              <a:t>'selling_price'</a:t>
            </a:r>
            <a:r>
              <a:rPr sz="120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18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9AA7A0"/>
                </a:solidFill>
                <a:latin typeface="Consolas"/>
              </a:rPr>
              <a:t># 2) 8 : 2 분할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X_train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X_test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y_train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y_test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train_test_split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X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y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test_size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F2D45F"/>
                </a:solidFill>
                <a:latin typeface="Consolas"/>
              </a:rPr>
              <a:t>0.2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시험셋 20%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random_state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F2D45F"/>
                </a:solidFill>
                <a:latin typeface="Consolas"/>
              </a:rPr>
              <a:t>100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재현성 고정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X_train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shape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X_test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shape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9AA7A0"/>
                </a:solidFill>
                <a:latin typeface="Consolas"/>
              </a:rPr>
              <a:t># ((6324, ~50), (1582, ~50))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36576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103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📊  8 : 2 분할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560320"/>
            <a:ext cx="2706624" cy="54864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560320"/>
            <a:ext cx="270662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  80%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36224" y="2560320"/>
            <a:ext cx="676656" cy="54864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36224" y="2560320"/>
            <a:ext cx="67665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2004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Consolas"/>
              </a:rPr>
              <a:t>6,324 행 + 1,582 행 = 7,906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657600"/>
            <a:ext cx="3611880" cy="2606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3657600"/>
            <a:ext cx="91440" cy="260604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38221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📌  포인트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4315968"/>
            <a:ext cx="3154680" cy="187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• test_size=0.2 → 평가 20%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• random_state 고정 → 재현 가능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• y(타깃)를 X에서 빼지 않으면 → 누수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• 분포가 한쪽으로 쏠리면 stratify는 회귀에선 직접 불가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  (구간화 후 적용)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33 / 66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9.5   기본 모델 학습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9.5  RandomForestRegressor — 첫 기준 모델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튜닝은 ‘기준선’을 만든 다음에 — 우선 default로 학습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498079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fit_first_model.py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7132319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>
                <a:solidFill>
                  <a:srgbClr val="7BD389"/>
                </a:solidFill>
                <a:latin typeface="Consolas"/>
              </a:rPr>
              <a:t>from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sklearn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ensemble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import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RandomForestRegressor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7BD389"/>
                </a:solidFill>
                <a:latin typeface="Consolas"/>
              </a:rPr>
              <a:t>from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sklearn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metrics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import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mean_squared_error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1) 모델 생성 (기본 하이퍼파라미터)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model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RandomForestRegressor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random_state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F2D45F"/>
                </a:solidFill>
                <a:latin typeface="Consolas"/>
              </a:rPr>
              <a:t>100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2) 학습 — fit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model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fit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X_train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y_train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3) 예측 — train / test 모두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train_pred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model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predict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X_train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test_pred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model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predict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X_test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4) RMSE 계산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train_rmse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mean_squared_error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y_train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train_pred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*</a:t>
            </a:r>
            <a:r>
              <a:rPr sz="1150">
                <a:solidFill>
                  <a:srgbClr val="E8F6EF"/>
                </a:solidFill>
                <a:latin typeface="Consolas"/>
              </a:rPr>
              <a:t>*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2D45F"/>
                </a:solidFill>
                <a:latin typeface="Consolas"/>
              </a:rPr>
              <a:t>0.5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test_rmse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mean_squared_error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y_test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test_pred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*</a:t>
            </a:r>
            <a:r>
              <a:rPr sz="1150">
                <a:solidFill>
                  <a:srgbClr val="E8F6EF"/>
                </a:solidFill>
                <a:latin typeface="Consolas"/>
              </a:rPr>
              <a:t>*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2D45F"/>
                </a:solidFill>
                <a:latin typeface="Consolas"/>
              </a:rPr>
              <a:t>0.5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8FB8E0"/>
                </a:solidFill>
                <a:latin typeface="Consolas"/>
              </a:rPr>
              <a:t>print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F6B26B"/>
                </a:solidFill>
                <a:latin typeface="Consolas"/>
              </a:rPr>
              <a:t>'train_rmse:'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train_rmse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6B26B"/>
                </a:solidFill>
                <a:latin typeface="Consolas"/>
              </a:rPr>
              <a:t>'test_rmse :'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test_rmse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01168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1031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📈  RMSE 결과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560320"/>
            <a:ext cx="3108960" cy="50292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56032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train  ≈   53,531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3154680"/>
            <a:ext cx="3108960" cy="502920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315468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test   ≈  131,855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7033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→ train ≪ test</a:t>
            </a:r>
          </a:p>
          <a:p>
            <a:pPr algn="ctr">
              <a:lnSpc>
                <a:spcPct val="140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   = 오버피팅 신호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343400"/>
            <a:ext cx="3474720" cy="1920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4348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727448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“훈련 RMSE는 5만, 테스트는 13만 — 모델이 학습 데이터만 잘 맞춘다는 뜻.”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다음 절에서 K-Fold CV로 ‘공정한’ 평가를 한다.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34 / 66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9.5   RMSE 해석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RMSE 숫자를 ‘말’로 바꾸기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‘평균적으로 ±13만 루피 정도 틀린다’ — 단위가 가격이라 직관적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137160" cy="82296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031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📐  RMSE = Root Mean Squared 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450592"/>
            <a:ext cx="10607040" cy="32004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45059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Consolas"/>
              </a:rPr>
              <a:t>RMSE  =  √( (1/n) · Σ (yᵢ − ŷᵢ)² 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17520"/>
            <a:ext cx="36576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017520"/>
            <a:ext cx="91440" cy="2286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1821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맑은 고딕"/>
              </a:rPr>
              <a:t>✓  같은 단위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675888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타깃이 ‘가격(₹)’이면 RMSE 단위도 ₹.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→ ‘평균 ±X원 오차’로 곧장 말할 수 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017520"/>
            <a:ext cx="36576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017520"/>
            <a:ext cx="91440" cy="2286000"/>
          </a:xfrm>
          <a:prstGeom prst="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31821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맑은 고딕"/>
              </a:rPr>
              <a:t>⚠️  큰 오차에 민감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3675888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제곱 후 평균 → 큰 오차 1개가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여러 작은 오차보다 RMSE에 더 큰 영향.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고가 차량 예측 실패 시 점수 폭락.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017520"/>
            <a:ext cx="36576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017520"/>
            <a:ext cx="91440" cy="228600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31821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524A"/>
                </a:solidFill>
                <a:latin typeface="맑은 고딕"/>
              </a:rPr>
              <a:t>🆚  MAE 보충 보기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675888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MAE = mean( |y−ŷ| )  — 절댓값 평균.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RMSE &gt; MAE 이면 ‘몇 개 큰 오차’가 있다.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둘 다 보면 잔차 분포 파악 쉬움.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86400"/>
            <a:ext cx="11155680" cy="8229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5778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704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‘test_rmse ≈ 131,855’를 학생에게 ‘평균적으로 약 13만 루피(약 200만 원) 정도 틀린다’로 해석시킨다.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지역 통화 단위로 환산하면 학생이 더 직관적으로 모델 품질을 가늠한다.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35 / 66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9.6   K-폴드 교차검증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9.6  K-폴드 교차검증 — 한 번의 분할에 의존하지 않는다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데이터를 K조각으로 나누어 K번 학습·평가 후 평균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맑은 고딕"/>
              </a:rPr>
              <a:t>Iter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82880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맑은 고딕"/>
              </a:rPr>
              <a:t>Fold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182880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맑은 고딕"/>
              </a:rPr>
              <a:t>Fold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182880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맑은 고딕"/>
              </a:rPr>
              <a:t>Fold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182880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맑은 고딕"/>
              </a:rPr>
              <a:t>Fold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82880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맑은 고딕"/>
              </a:rPr>
              <a:t>Fold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1945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맑은 고딕"/>
              </a:rPr>
              <a:t>#1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219456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21945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53512" y="219456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53512" y="21945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18304" y="219456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18304" y="21945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83096" y="219456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3096" y="21945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2194560"/>
            <a:ext cx="1691640" cy="45720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21945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20" y="2194560"/>
            <a:ext cx="1371600" cy="45720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21945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Consolas"/>
              </a:rPr>
              <a:t>RMSE = 50,825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7889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맑은 고딕"/>
              </a:rPr>
              <a:t>#2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88720" y="278892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27889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53512" y="278892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53512" y="27889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18304" y="278892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27889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83096" y="2788920"/>
            <a:ext cx="1691640" cy="45720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83096" y="27889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47888" y="278892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7888" y="27889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04120" y="2788920"/>
            <a:ext cx="1371600" cy="45720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04120" y="27889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Consolas"/>
              </a:rPr>
              <a:t>RMSE = 56,654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33832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맑은 고딕"/>
              </a:rPr>
              <a:t>#3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88720" y="338328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88720" y="33832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953512" y="338328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53512" y="33832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18304" y="3383280"/>
            <a:ext cx="1691640" cy="45720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18304" y="33832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TEST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83096" y="338328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83096" y="33832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47888" y="338328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47888" y="33832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104120" y="3383280"/>
            <a:ext cx="1371600" cy="45720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04120" y="33832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Consolas"/>
              </a:rPr>
              <a:t>RMSE = 57,904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39776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맑은 고딕"/>
              </a:rPr>
              <a:t>#4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88720" y="397764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88720" y="39776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953512" y="3977640"/>
            <a:ext cx="1691640" cy="45720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53512" y="39776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TEST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18304" y="397764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39776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83096" y="397764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83096" y="39776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47888" y="397764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47888" y="39776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104120" y="3977640"/>
            <a:ext cx="1371600" cy="45720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04120" y="39776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Consolas"/>
              </a:rPr>
              <a:t>RMSE = 56,218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45720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맑은 고딕"/>
              </a:rPr>
              <a:t>#5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188720" y="4572000"/>
            <a:ext cx="1691640" cy="45720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45720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TEST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953512" y="457200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53512" y="45720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718304" y="457200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18304" y="45720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83096" y="457200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83096" y="45720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247888" y="4572000"/>
            <a:ext cx="1691640" cy="45720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47888" y="45720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TRAIN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104120" y="4572000"/>
            <a:ext cx="1371600" cy="45720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04120" y="45720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Consolas"/>
              </a:rPr>
              <a:t>RMSE = 58,967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48640" y="5486400"/>
            <a:ext cx="11155680" cy="50292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77240" y="54864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Consolas"/>
              </a:rPr>
              <a:t>최종 평가  =  ( 50,825 + 56,654 + 57,904 + 56,218 + 58,967 ) / 5  =  56,113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" y="6080760"/>
            <a:ext cx="11155680" cy="50292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1520" y="6172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" y="6464808"/>
            <a:ext cx="10789920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비유: 학생 자리 번호로 5조 → 각 조가 한 번씩 ‘시험 보는 조’가 되어 5번 시험을 본다. 평균이 진짜 실력.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36 / 66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9.6   KFold 구현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9.6  KFold + for문 구현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reset_index() → split() 인덱스로 학습·평가 반복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955279" cy="429768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7040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kfold_loop.py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7589519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50">
                <a:solidFill>
                  <a:srgbClr val="7BD389"/>
                </a:solidFill>
                <a:latin typeface="Consolas"/>
              </a:rPr>
              <a:t>from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sklearn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model_selection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import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KFold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reset_index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drop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7BD389"/>
                </a:solidFill>
                <a:latin typeface="Consolas"/>
              </a:rPr>
              <a:t>True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inplace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7BD389"/>
                </a:solidFill>
                <a:latin typeface="Consolas"/>
              </a:rPr>
              <a:t>True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9AA7A0"/>
                </a:solidFill>
                <a:latin typeface="Consolas"/>
              </a:rPr>
              <a:t># 빈 인덱스 정리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kf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KFold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n_splits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F2D45F"/>
                </a:solidFill>
                <a:latin typeface="Consolas"/>
              </a:rPr>
              <a:t>5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drop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F6B26B"/>
                </a:solidFill>
                <a:latin typeface="Consolas"/>
              </a:rPr>
              <a:t>'selling_price'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axis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F2D45F"/>
                </a:solidFill>
                <a:latin typeface="Consolas"/>
              </a:rPr>
              <a:t>1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y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data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F6B26B"/>
                </a:solidFill>
                <a:latin typeface="Consolas"/>
              </a:rPr>
              <a:t>'selling_price'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train_rmse_total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test_rmse_total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7BD389"/>
                </a:solidFill>
                <a:latin typeface="Consolas"/>
              </a:rPr>
              <a:t>for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train_idx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test_idx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in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kf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split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X_train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X_test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iloc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train_idx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iloc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test_idx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y_train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y_test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y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iloc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train_idx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y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iloc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test_idx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model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RandomForestRegressor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random_state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F2D45F"/>
                </a:solidFill>
                <a:latin typeface="Consolas"/>
              </a:rPr>
              <a:t>100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model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fit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X_train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y_train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train_pred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model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predict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X_train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test_pred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model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predict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X_test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train_rmse_total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append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mean_squared_error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y_train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train_pred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*</a:t>
            </a:r>
            <a:r>
              <a:rPr sz="950">
                <a:solidFill>
                  <a:srgbClr val="E8F6EF"/>
                </a:solidFill>
                <a:latin typeface="Consolas"/>
              </a:rPr>
              <a:t>*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0.5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test_rmse_total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append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mean_squared_error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y_test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test_pred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*</a:t>
            </a:r>
            <a:r>
              <a:rPr sz="950">
                <a:solidFill>
                  <a:srgbClr val="E8F6EF"/>
                </a:solidFill>
                <a:latin typeface="Consolas"/>
              </a:rPr>
              <a:t>*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0.5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8FB8E0"/>
                </a:solidFill>
                <a:latin typeface="Consolas"/>
              </a:rPr>
              <a:t>print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F6B26B"/>
                </a:solidFill>
                <a:latin typeface="Consolas"/>
              </a:rPr>
              <a:t>'CV train_rmse:'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8FB8E0"/>
                </a:solidFill>
                <a:latin typeface="Consolas"/>
              </a:rPr>
              <a:t>sum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train_rmse_total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/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5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8FB8E0"/>
                </a:solidFill>
                <a:latin typeface="Consolas"/>
              </a:rPr>
              <a:t>print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F6B26B"/>
                </a:solidFill>
                <a:latin typeface="Consolas"/>
              </a:rPr>
              <a:t>'CV test_rmse :'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8FB8E0"/>
                </a:solidFill>
                <a:latin typeface="Consolas"/>
              </a:rPr>
              <a:t>sum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test_rmse_total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/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5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2011680"/>
            <a:ext cx="3017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21031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📈  5-Fold 평균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2560320"/>
            <a:ext cx="2743200" cy="50292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5603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onsolas"/>
              </a:rPr>
              <a:t>train ≈  56,553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3154680"/>
            <a:ext cx="2743200" cy="502920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315468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onsolas"/>
              </a:rPr>
              <a:t>test  ≈ 142,936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3703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56B68"/>
                </a:solidFill>
                <a:latin typeface="맑은 고딕"/>
              </a:rPr>
              <a:t>→ Hold-out 결과보다 약간 ↑</a:t>
            </a:r>
          </a:p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556B68"/>
                </a:solidFill>
                <a:latin typeface="맑은 고딕"/>
              </a:rPr>
              <a:t>   = 더 신뢰 가능한 평가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4343400"/>
            <a:ext cx="3017520" cy="1920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44348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⚠️  디버깅 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727448"/>
            <a:ext cx="2651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⚠️  자주 하는 실수: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dropna() 후 인덱스가 비어있어 KFold에서 KeyError.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→ reset_index(drop=True, inplace=True) 잊지 않기.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loc vs iloc 차이도 강조.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37 / 66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9.6   CV 결과 해석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교차검증 결과를 ‘평균’만 보지 말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fold별 변동(표준편차)이 모델 안정성을 말해준다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69494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📊  Fold별 test RMSE — 5-Fold 결과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520359"/>
            <a:ext cx="411480" cy="966041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00200" y="2784411"/>
            <a:ext cx="411480" cy="2701989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486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맑은 고딕"/>
              </a:rPr>
              <a:t>Fold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760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D47A2C"/>
                </a:solidFill>
                <a:latin typeface="Consolas"/>
              </a:rPr>
              <a:t>142.2k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39" y="4409566"/>
            <a:ext cx="411480" cy="1076834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80359" y="2745313"/>
            <a:ext cx="411480" cy="2741087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39" y="5486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맑은 고딕"/>
              </a:rPr>
              <a:t>Fold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39" y="5760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D47A2C"/>
                </a:solidFill>
                <a:latin typeface="Consolas"/>
              </a:rPr>
              <a:t>144.2k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4385807"/>
            <a:ext cx="411480" cy="1100593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60520" y="2790949"/>
            <a:ext cx="411480" cy="2695451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5486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맑은 고딕"/>
              </a:rPr>
              <a:t>Fold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760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D47A2C"/>
                </a:solidFill>
                <a:latin typeface="Consolas"/>
              </a:rPr>
              <a:t>141.8k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59" y="4417853"/>
            <a:ext cx="411480" cy="1068547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40679" y="2827576"/>
            <a:ext cx="411480" cy="2658824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59" y="5486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맑은 고딕"/>
              </a:rPr>
              <a:t>Fold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59" y="5760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D47A2C"/>
                </a:solidFill>
                <a:latin typeface="Consolas"/>
              </a:rPr>
              <a:t>139.9k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365602"/>
            <a:ext cx="411480" cy="1120798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720840" y="2699658"/>
            <a:ext cx="411480" cy="2786742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5486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맑은 고딕"/>
              </a:rPr>
              <a:t>Fold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760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D47A2C"/>
                </a:solidFill>
                <a:latin typeface="Consolas"/>
              </a:rPr>
              <a:t>146.6k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606040"/>
            <a:ext cx="228600" cy="182880"/>
          </a:xfrm>
          <a:prstGeom prst="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2560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train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2606040"/>
            <a:ext cx="228600" cy="182880"/>
          </a:xfrm>
          <a:prstGeom prst="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2560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test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5240" y="2011680"/>
            <a:ext cx="40690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35240" y="2011680"/>
            <a:ext cx="91440" cy="164592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91272" y="217627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📊  평균 + 표준편차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1272" y="2670048"/>
            <a:ext cx="3611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test 평균: 142,936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test 표준편차: ≈ 2,400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→ fold 차이가 작음 = 안정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35240" y="3749039"/>
            <a:ext cx="40690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35240" y="3749039"/>
            <a:ext cx="91440" cy="128016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91272" y="3913631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🔍  특정 fold만 나쁘다면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91272" y="4407407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데이터 정렬·이상치·표본 구성 의심.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→ KFold(shuffle=True) 시도.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35240" y="5074920"/>
            <a:ext cx="40690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635240" y="5074920"/>
            <a:ext cx="91440" cy="118872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91272" y="523951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💡  보고할 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91272" y="57332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‘mean ± std’로 함께 보고하면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튜닝 후 비교가 공정해진다.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38 / 66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9.6+   OOB 평가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OOB(Out-of-Bag) 평가 — RF만의 ‘공짜’ 검증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각 트리가 안 본 36.8% 샘플로 검증, CV 없이도 빠른 추정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🌳  OOB 평가 동작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606040"/>
            <a:ext cx="3520440" cy="19659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2697480"/>
            <a:ext cx="1828800" cy="41148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697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Tree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2697480"/>
            <a:ext cx="1417320" cy="41148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269748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OOB 36.8%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004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• 학습: 63.2% 샘플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• 미사용 36.8%로 예측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• 각 샘플은 자신을 안 본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  트리들의 평균만 사용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79" y="2606040"/>
            <a:ext cx="3520440" cy="19659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17719" y="2697480"/>
            <a:ext cx="1828800" cy="41148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19" y="2697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Tree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59" y="2697480"/>
            <a:ext cx="1417320" cy="41148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269748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OOB 36.8%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39" y="32004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• 학습: 63.2% 샘플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• 미사용 36.8%로 예측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• 각 샘플은 자신을 안 본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  트리들의 평균만 사용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19" y="2606040"/>
            <a:ext cx="3520440" cy="19659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66759" y="2697480"/>
            <a:ext cx="1828800" cy="41148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59" y="2697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Tree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86999" y="2697480"/>
            <a:ext cx="1417320" cy="41148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86999" y="269748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OOB 36.8%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9" y="32004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• 학습: 63.2% 샘플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• 미사용 36.8%로 예측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• 각 샘플은 자신을 안 본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  트리들의 평균만 사용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800600"/>
            <a:ext cx="2286000" cy="347472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800600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4800600"/>
            <a:ext cx="4434840" cy="347472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0" y="4800600"/>
            <a:ext cx="4434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OOB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9480" y="4800600"/>
            <a:ext cx="4434840" cy="347472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4800600"/>
            <a:ext cx="4434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K-Fold CV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14807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148072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계산 비용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5148072"/>
            <a:ext cx="4434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26080" y="5148072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추가 학습 X (빠름)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9480" y="5148072"/>
            <a:ext cx="4434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0920" y="5148072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K번 학습 (느림)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495544"/>
            <a:ext cx="2286000" cy="347472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495544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적용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5495544"/>
            <a:ext cx="4434840" cy="347472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26080" y="5495544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RF 전용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69480" y="5495544"/>
            <a:ext cx="4434840" cy="347472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60920" y="5495544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모든 모델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843016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843016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정확도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4640" y="5843016"/>
            <a:ext cx="4434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26080" y="5843016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근사적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69480" y="5843016"/>
            <a:ext cx="4434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60920" y="5843016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신뢰 가능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6190488"/>
            <a:ext cx="2286000" cy="347472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6190488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권장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34640" y="6190488"/>
            <a:ext cx="4434840" cy="347472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26080" y="6190488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빠른 진단 / 튜닝 중간점검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69480" y="6190488"/>
            <a:ext cx="4434840" cy="347472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60920" y="6190488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최종 모델 보고용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" y="6400800"/>
            <a:ext cx="11155680" cy="36576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64922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6784848"/>
            <a:ext cx="10789920" cy="-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‘공짜 검증’이라 매력적이지만, 최종 보고는 별도 test 또는 CV로 — 모델 간 공정 비교에는 CV가 일반적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39 / 66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9.6+   OOB 코드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OOB 코드 — oob_score=True 한 줄로 활성화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sklearn의 oob_score_ 는 회귀에서 R² (RMSE가 아님)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315200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oob_score.py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94944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model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RandomForestRegressor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n_estimators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F2D45F"/>
                </a:solidFill>
                <a:latin typeface="Consolas"/>
              </a:rPr>
              <a:t>300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oob_score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7BD389"/>
                </a:solidFill>
                <a:latin typeface="Consolas"/>
              </a:rPr>
              <a:t>True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bootstrap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7BD389"/>
                </a:solidFill>
                <a:latin typeface="Consolas"/>
              </a:rPr>
              <a:t>True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9AA7A0"/>
                </a:solidFill>
                <a:latin typeface="Consolas"/>
              </a:rPr>
              <a:t># OOB는 bootstrap=True 필수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random_state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F2D45F"/>
                </a:solidFill>
                <a:latin typeface="Consolas"/>
              </a:rPr>
              <a:t>100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n_jobs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-</a:t>
            </a:r>
            <a:r>
              <a:rPr sz="1150">
                <a:solidFill>
                  <a:srgbClr val="F2D45F"/>
                </a:solidFill>
                <a:latin typeface="Consolas"/>
              </a:rPr>
              <a:t>1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model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fit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X_train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y_train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1) 회귀에서는 oob_score_ = R²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8FB8E0"/>
                </a:solidFill>
                <a:latin typeface="Consolas"/>
              </a:rPr>
              <a:t>print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F6B26B"/>
                </a:solidFill>
                <a:latin typeface="Consolas"/>
              </a:rPr>
              <a:t>'OOB R²:'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model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oob_score_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9AA7A0"/>
                </a:solidFill>
                <a:latin typeface="Consolas"/>
              </a:rPr>
              <a:t># 예: 0.847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2) OOB RMSE는 직접 계산 (oob_prediction_)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oob_rmse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mean_squared_error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y_train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model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oob_prediction_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*</a:t>
            </a:r>
            <a:r>
              <a:rPr sz="1150">
                <a:solidFill>
                  <a:srgbClr val="E8F6EF"/>
                </a:solidFill>
                <a:latin typeface="Consolas"/>
              </a:rPr>
              <a:t>*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2D45F"/>
                </a:solidFill>
                <a:latin typeface="Consolas"/>
              </a:rPr>
              <a:t>0.5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8FB8E0"/>
                </a:solidFill>
                <a:latin typeface="Consolas"/>
              </a:rPr>
              <a:t>print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F6B26B"/>
                </a:solidFill>
                <a:latin typeface="Consolas"/>
              </a:rPr>
              <a:t>'OOB RMSE:'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oob_rmse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9AA7A0"/>
                </a:solidFill>
                <a:latin typeface="Consolas"/>
              </a:rPr>
              <a:t># 예: 124,500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011680"/>
            <a:ext cx="91440" cy="1828800"/>
          </a:xfrm>
          <a:prstGeom prst="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1762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⚠️  R²  vs  RMSE 혼동 금지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670048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R² ∈ (−∞, 1] — 클수록 좋음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RMSE ≥ 0 — 작을수록 좋음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‘oob_score_ = R²’ 표시 명확히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93192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3931920"/>
            <a:ext cx="91440" cy="128016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40965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📌  트리 수가 적으면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59028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OOB 추정이 불안정.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n_estimators ≥ 100 권장.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5303520"/>
            <a:ext cx="365760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5303520"/>
            <a:ext cx="91440" cy="96012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54681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💡  실무 패턴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59618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튜닝 중간 점검은 OOB, 최종 비교는 CV.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40 / 66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9601200" y="4114800"/>
            <a:ext cx="1371600" cy="1371600"/>
          </a:xfrm>
          <a:prstGeom prst="triangle">
            <a:avLst/>
          </a:prstGeom>
          <a:solidFill>
            <a:srgbClr val="88D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0515600" y="4572000"/>
            <a:ext cx="1005840" cy="1005840"/>
          </a:xfrm>
          <a:prstGeom prst="triangl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8961120" y="4754880"/>
            <a:ext cx="822960" cy="822960"/>
          </a:xfrm>
          <a:prstGeom prst="triangl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19456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PART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맑은 고딕"/>
              </a:rPr>
              <a:t>하이퍼파라미터 튜닝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03320"/>
            <a:ext cx="73152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FE3DA"/>
                </a:solidFill>
                <a:latin typeface="맑은 고딕"/>
              </a:rPr>
              <a:t>교재 9.8 — 의미를 알고 조정해야 GridSearch가 숫자놀이가 안 된다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9.8   주요 하이퍼파라미터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9.8  핵심 하이퍼파라미터 — 의미·효과·기본값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n_estimators · max_depth · min_samples_* · max_features · n_jobs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194560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파라미터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011680"/>
            <a:ext cx="3017520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01168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역할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2011680"/>
            <a:ext cx="2286000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↑ 효과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011680"/>
            <a:ext cx="2286000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↑ 부작용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32720" y="2011680"/>
            <a:ext cx="1280160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201168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기본값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395728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395728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n_estimators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395728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39572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트리 개수 (B)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239572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239572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분산↓·안정성↑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239572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39572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학습·예측 시간↑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32720" y="239572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2395728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100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779776"/>
            <a:ext cx="219456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779776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max_depth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2779776"/>
            <a:ext cx="301752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0" y="2779776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각 트리 최대 깊이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2779776"/>
            <a:ext cx="228600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0" y="277977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복잡한 패턴 학습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2779776"/>
            <a:ext cx="228600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277977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과적합·시간↑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332720" y="2779776"/>
            <a:ext cx="128016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0" y="2779776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None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163824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163824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min_samples_split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0" y="3163824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3163824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분할 시도 최소 샘플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720" y="3163824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52160" y="316382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정규화↑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3163824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0" y="316382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언더피팅 위험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32720" y="316382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24160" y="3163824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3547872"/>
            <a:ext cx="219456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354787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min_samples_leaf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3547872"/>
            <a:ext cx="301752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34640" y="3547872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리프 최소 샘플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60720" y="3547872"/>
            <a:ext cx="228600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52160" y="354787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예측 매끄러움↑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46720" y="3547872"/>
            <a:ext cx="228600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38160" y="354787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언더피팅 위험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32720" y="3547872"/>
            <a:ext cx="128016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24160" y="3547872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3931920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3931920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max_features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0" y="3931920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34640" y="39319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split 후보 피처 수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60720" y="393192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52160" y="393192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트리 강도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46720" y="393192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38160" y="393192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트리 상관↑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332720" y="3931920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424160" y="3931920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1.0 (회귀)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4315968"/>
            <a:ext cx="219456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" y="4315968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n_jobs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0" y="4315968"/>
            <a:ext cx="301752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834640" y="431596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병렬 코어 수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760720" y="4315968"/>
            <a:ext cx="228600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852160" y="431596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속도↑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46720" y="4315968"/>
            <a:ext cx="228600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138160" y="431596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메모리↑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332720" y="4315968"/>
            <a:ext cx="1280160" cy="384048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424160" y="4315968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None=1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8640" y="4700016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0080" y="4700016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Consolas"/>
              </a:rPr>
              <a:t>random_state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0" y="4700016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834640" y="4700016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재현성을 위한 시드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760720" y="470001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852160" y="470001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결과 고정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46720" y="470001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138160" y="470001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332720" y="470001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424160" y="4700016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None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48640" y="5349240"/>
            <a:ext cx="11155680" cy="91440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77240" y="54406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A44F"/>
                </a:solidFill>
                <a:latin typeface="맑은 고딕"/>
              </a:rPr>
              <a:t>💡  상호 연관에 주의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" y="57607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max_depth · min_samples_split · min_samples_leaf 는 모두 ‘복잡도 제어’ 노브.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작은 max_depth + 작은 min_samples_split은 서로 의미가 없어질 수 있다.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42 / 66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9.8   n_estimators의 효과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n_estimators — 가장 먼저 ‘충분히 크게’ 잡는 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트리를 늘리면 분산이 줄지만, 어느 지점 이후 둔화한다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68580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📈  B(트리 수)  vs  test RMSE (개념 그래프)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532120"/>
            <a:ext cx="6035040" cy="27432"/>
          </a:xfrm>
          <a:prstGeom prst="rect">
            <a:avLst/>
          </a:prstGeom>
          <a:solidFill>
            <a:srgbClr val="55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606040"/>
            <a:ext cx="27432" cy="2926080"/>
          </a:xfrm>
          <a:prstGeom prst="rect">
            <a:avLst/>
          </a:prstGeom>
          <a:solidFill>
            <a:srgbClr val="55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35807" y="5312664"/>
            <a:ext cx="146304" cy="146304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39" y="55778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56B68"/>
                </a:solidFill>
                <a:latin typeface="Consolas"/>
              </a:rPr>
              <a:t>10</a:t>
            </a:r>
          </a:p>
        </p:txBody>
      </p:sp>
      <p:sp>
        <p:nvSpPr>
          <p:cNvPr id="18" name="Oval 17"/>
          <p:cNvSpPr/>
          <p:nvPr/>
        </p:nvSpPr>
        <p:spPr>
          <a:xfrm>
            <a:off x="4441911" y="4581143"/>
            <a:ext cx="146304" cy="146304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0743" y="55778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56B68"/>
                </a:solidFill>
                <a:latin typeface="Consolas"/>
              </a:rPr>
              <a:t>50</a:t>
            </a:r>
          </a:p>
        </p:txBody>
      </p:sp>
      <p:sp>
        <p:nvSpPr>
          <p:cNvPr id="20" name="Oval 19"/>
          <p:cNvSpPr/>
          <p:nvPr/>
        </p:nvSpPr>
        <p:spPr>
          <a:xfrm>
            <a:off x="5047487" y="4142232"/>
            <a:ext cx="146304" cy="146304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19" y="55778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56B68"/>
                </a:solidFill>
                <a:latin typeface="Consolas"/>
              </a:rPr>
              <a:t>100</a:t>
            </a:r>
          </a:p>
        </p:txBody>
      </p:sp>
      <p:sp>
        <p:nvSpPr>
          <p:cNvPr id="22" name="Oval 21"/>
          <p:cNvSpPr/>
          <p:nvPr/>
        </p:nvSpPr>
        <p:spPr>
          <a:xfrm>
            <a:off x="5653064" y="3849624"/>
            <a:ext cx="146304" cy="146304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51896" y="55778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56B68"/>
                </a:solidFill>
                <a:latin typeface="Consolas"/>
              </a:rPr>
              <a:t>200</a:t>
            </a:r>
          </a:p>
        </p:txBody>
      </p:sp>
      <p:sp>
        <p:nvSpPr>
          <p:cNvPr id="24" name="Oval 23"/>
          <p:cNvSpPr/>
          <p:nvPr/>
        </p:nvSpPr>
        <p:spPr>
          <a:xfrm>
            <a:off x="6007303" y="3703320"/>
            <a:ext cx="146304" cy="146304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135" y="55778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56B68"/>
                </a:solidFill>
                <a:latin typeface="Consolas"/>
              </a:rPr>
              <a:t>300</a:t>
            </a:r>
          </a:p>
        </p:txBody>
      </p:sp>
      <p:sp>
        <p:nvSpPr>
          <p:cNvPr id="26" name="Oval 25"/>
          <p:cNvSpPr/>
          <p:nvPr/>
        </p:nvSpPr>
        <p:spPr>
          <a:xfrm>
            <a:off x="6453591" y="3615537"/>
            <a:ext cx="146304" cy="146304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2423" y="55778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56B68"/>
                </a:solidFill>
                <a:latin typeface="Consolas"/>
              </a:rPr>
              <a:t>500</a:t>
            </a:r>
          </a:p>
        </p:txBody>
      </p:sp>
      <p:sp>
        <p:nvSpPr>
          <p:cNvPr id="28" name="Oval 27"/>
          <p:cNvSpPr/>
          <p:nvPr/>
        </p:nvSpPr>
        <p:spPr>
          <a:xfrm>
            <a:off x="7059168" y="3586276"/>
            <a:ext cx="146304" cy="146304"/>
          </a:xfrm>
          <a:prstGeom prst="ellips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55778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56B68"/>
                </a:solidFill>
                <a:latin typeface="Consolas"/>
              </a:rPr>
              <a:t>1000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897880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Consolas"/>
              </a:rPr>
              <a:t>n_estimators (log scale)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8862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56B68"/>
                </a:solidFill>
                <a:latin typeface="Consolas"/>
              </a:rPr>
              <a:t>RMSE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520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6F5A"/>
                </a:solidFill>
                <a:latin typeface="맑은 고딕"/>
              </a:rPr>
              <a:t>← 빠른 개선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800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7A2C"/>
                </a:solidFill>
                <a:latin typeface="맑은 고딕"/>
              </a:rPr>
              <a:t>이후 개선 둔화 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2011680"/>
            <a:ext cx="4114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9520" y="2011680"/>
            <a:ext cx="91440" cy="13716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45552" y="217627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✓  과적합 ‘직접’ 원인은 아님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5552" y="267004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트리를 늘려도 train RMSE 자체는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거의 변하지 않는다. 분산만 줄어듦.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3474720"/>
            <a:ext cx="4114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3474720"/>
            <a:ext cx="91440" cy="137160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45552" y="363931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📌  비용 함수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5552" y="413308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학습 시간 · 메모리 ∝ B.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수업: 100→300 정도가 적절.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0" y="4937760"/>
            <a:ext cx="4114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89520" y="4937760"/>
            <a:ext cx="91440" cy="137160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45552" y="510235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💡  실무 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45552" y="559612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early stopping은 RF 기본 미지원.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OOB 곡선을 보고 plateau 지점 선택.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43 / 66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9.8   깊이와 리프 크기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max_depth · min_samples_leaf — 복잡도 제어의 핵심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train↓이 아니라 ‘train과 test의 격차’를 줄이는 게 목표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45720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116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2A44F"/>
                </a:solidFill>
                <a:latin typeface="맑은 고딕"/>
              </a:rPr>
              <a:t>시나리오 — train_rmse / test_rmse 격차로 보는 진단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06040"/>
            <a:ext cx="36576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3657600" cy="502920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060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과적합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맑은 고딕"/>
              </a:rPr>
              <a:t>📊  진단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Train 매우 낮음 · Test 높음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329184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4524A"/>
                </a:solidFill>
                <a:latin typeface="Consolas"/>
              </a:rPr>
              <a:t>ex)  train 5만  ·  test 14만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348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맑은 고딕"/>
              </a:rPr>
              <a:t>🔧  처방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0916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max_depth ↓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min_samples_leaf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321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556B68"/>
                </a:solidFill>
                <a:latin typeface="맑은 고딕"/>
              </a:rPr>
              <a:t>복잡도를 줄여</a:t>
            </a:r>
          </a:p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556B68"/>
                </a:solidFill>
                <a:latin typeface="맑은 고딕"/>
              </a:rPr>
              <a:t>격차 좁히기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2606040"/>
            <a:ext cx="36576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43400" y="2606040"/>
            <a:ext cx="3657600" cy="50292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26060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적절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246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맑은 고딕"/>
              </a:rPr>
              <a:t>📊  진단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520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둘 다 적당히 낮음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0" y="3931920"/>
            <a:ext cx="329184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931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4524A"/>
                </a:solidFill>
                <a:latin typeface="Consolas"/>
              </a:rPr>
              <a:t>ex)  train 7만  ·  test 11만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4348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맑은 고딕"/>
              </a:rPr>
              <a:t>🔧  처방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70916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현재 설정 유지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5321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556B68"/>
                </a:solidFill>
                <a:latin typeface="맑은 고딕"/>
              </a:rPr>
              <a:t>변동(std)만 확인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2606040"/>
            <a:ext cx="36576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38160" y="2606040"/>
            <a:ext cx="3657600" cy="502920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26060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언더피팅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246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맑은 고딕"/>
              </a:rPr>
              <a:t>📊  진단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520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Train도 높음 · Test도 높음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3931920"/>
            <a:ext cx="3291840" cy="365760"/>
          </a:xfrm>
          <a:prstGeom prst="round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3931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4524A"/>
                </a:solidFill>
                <a:latin typeface="Consolas"/>
              </a:rPr>
              <a:t>ex)  train 13만  ·  test 14만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4348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맑은 고딕"/>
              </a:rPr>
              <a:t>🔧  처방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max_depth ↑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min_samples_leaf ↓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트리 추가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5321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556B68"/>
                </a:solidFill>
                <a:latin typeface="맑은 고딕"/>
              </a:rPr>
              <a:t>더 복잡한 모델로</a:t>
            </a:r>
          </a:p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556B68"/>
                </a:solidFill>
                <a:latin typeface="맑은 고딕"/>
              </a:rPr>
              <a:t>또는 더 많은 피처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44 / 66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9.8   교재식 튜닝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9.8  교재식 튜닝 + 5-Fold CV 재평가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n_estimators=300 · max_depth=50 · min_samples_split=5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680960" cy="429768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tuned_kfold.py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7315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train_rmse_total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test_rmse_total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7BD389"/>
                </a:solidFill>
                <a:latin typeface="Consolas"/>
              </a:rPr>
              <a:t>for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train_idx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test_idx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7BD389"/>
                </a:solidFill>
                <a:latin typeface="Consolas"/>
              </a:rPr>
              <a:t>in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kf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split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X_train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X_test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iloc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train_idx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X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iloc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test_idx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y_train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y_test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y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iloc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train_idx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y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iloc</a:t>
            </a:r>
            <a:r>
              <a:rPr sz="950">
                <a:solidFill>
                  <a:srgbClr val="E8F6EF"/>
                </a:solidFill>
                <a:latin typeface="Consolas"/>
              </a:rPr>
              <a:t>[</a:t>
            </a:r>
            <a:r>
              <a:rPr sz="950">
                <a:solidFill>
                  <a:srgbClr val="E8F6EF"/>
                </a:solidFill>
                <a:latin typeface="Consolas"/>
              </a:rPr>
              <a:t>test_idx</a:t>
            </a:r>
            <a:r>
              <a:rPr sz="9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model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RandomForestRegressor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n_estimators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300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9AA7A0"/>
                </a:solidFill>
                <a:latin typeface="Consolas"/>
              </a:rPr>
              <a:t># 트리 늘려 안정성↑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max_depth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50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9AA7A0"/>
                </a:solidFill>
                <a:latin typeface="Consolas"/>
              </a:rPr>
              <a:t># 매우 깊지만 제한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min_samples_split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5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9AA7A0"/>
                </a:solidFill>
                <a:latin typeface="Consolas"/>
              </a:rPr>
              <a:t># 너무 작은 분기 차단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min_samples_leaf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1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9AA7A0"/>
                </a:solidFill>
                <a:latin typeface="Consolas"/>
              </a:rPr>
              <a:t># 기본값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n_jobs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-</a:t>
            </a:r>
            <a:r>
              <a:rPr sz="950">
                <a:solidFill>
                  <a:srgbClr val="F2D45F"/>
                </a:solidFill>
                <a:latin typeface="Consolas"/>
              </a:rPr>
              <a:t>1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9AA7A0"/>
                </a:solidFill>
                <a:latin typeface="Consolas"/>
              </a:rPr>
              <a:t># 모든 코어 사용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random_state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100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9AA7A0"/>
                </a:solidFill>
                <a:latin typeface="Consolas"/>
              </a:rPr>
              <a:t># 재현성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model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fit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X_train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y_train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train_pred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model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predict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X_train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test_pred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=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model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predict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X_test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train_rmse_total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append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mean_squared_error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y_train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train_pred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*</a:t>
            </a:r>
            <a:r>
              <a:rPr sz="950">
                <a:solidFill>
                  <a:srgbClr val="E8F6EF"/>
                </a:solidFill>
                <a:latin typeface="Consolas"/>
              </a:rPr>
              <a:t>*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0.5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test_rmse_total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.</a:t>
            </a:r>
            <a:r>
              <a:rPr sz="950">
                <a:solidFill>
                  <a:srgbClr val="E8F6EF"/>
                </a:solidFill>
                <a:latin typeface="Consolas"/>
              </a:rPr>
              <a:t>append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mean_squared_error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y_test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test_pred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*</a:t>
            </a:r>
            <a:r>
              <a:rPr sz="950">
                <a:solidFill>
                  <a:srgbClr val="E8F6EF"/>
                </a:solidFill>
                <a:latin typeface="Consolas"/>
              </a:rPr>
              <a:t>*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2D45F"/>
                </a:solidFill>
                <a:latin typeface="Consolas"/>
              </a:rPr>
              <a:t>0.5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8FB8E0"/>
                </a:solidFill>
                <a:latin typeface="Consolas"/>
              </a:rPr>
              <a:t>print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F6B26B"/>
                </a:solidFill>
                <a:latin typeface="Consolas"/>
              </a:rPr>
              <a:t>'CV train:'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8FB8E0"/>
                </a:solidFill>
                <a:latin typeface="Consolas"/>
              </a:rPr>
              <a:t>sum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train_rmse_total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/</a:t>
            </a:r>
            <a:r>
              <a:rPr sz="950">
                <a:solidFill>
                  <a:srgbClr val="F2D45F"/>
                </a:solidFill>
                <a:latin typeface="Consolas"/>
              </a:rPr>
              <a:t>5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</a:pP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F6B26B"/>
                </a:solidFill>
                <a:latin typeface="Consolas"/>
              </a:rPr>
              <a:t>'CV test :'</a:t>
            </a:r>
            <a:r>
              <a:rPr sz="950">
                <a:solidFill>
                  <a:srgbClr val="E8F6EF"/>
                </a:solidFill>
                <a:latin typeface="Consolas"/>
              </a:rPr>
              <a:t>,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8FB8E0"/>
                </a:solidFill>
                <a:latin typeface="Consolas"/>
              </a:rPr>
              <a:t>sum</a:t>
            </a:r>
            <a:r>
              <a:rPr sz="950">
                <a:solidFill>
                  <a:srgbClr val="E8F6EF"/>
                </a:solidFill>
                <a:latin typeface="Consolas"/>
              </a:rPr>
              <a:t>(</a:t>
            </a:r>
            <a:r>
              <a:rPr sz="950">
                <a:solidFill>
                  <a:srgbClr val="E8F6EF"/>
                </a:solidFill>
                <a:latin typeface="Consolas"/>
              </a:rPr>
              <a:t>test_rmse_total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  <a:r>
              <a:rPr sz="950">
                <a:solidFill>
                  <a:srgbClr val="E8F6EF"/>
                </a:solidFill>
                <a:latin typeface="Consolas"/>
              </a:rPr>
              <a:t> </a:t>
            </a:r>
            <a:r>
              <a:rPr sz="950">
                <a:solidFill>
                  <a:srgbClr val="E8F6EF"/>
                </a:solidFill>
                <a:latin typeface="Consolas"/>
              </a:rPr>
              <a:t>/</a:t>
            </a:r>
            <a:r>
              <a:rPr sz="950">
                <a:solidFill>
                  <a:srgbClr val="F2D45F"/>
                </a:solidFill>
                <a:latin typeface="Consolas"/>
              </a:rPr>
              <a:t>5</a:t>
            </a:r>
            <a:r>
              <a:rPr sz="95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011680"/>
            <a:ext cx="32918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103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📊  Default vs Tuned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2606040"/>
            <a:ext cx="64008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6060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2606040"/>
            <a:ext cx="123444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60604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Default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24160" y="2606040"/>
            <a:ext cx="1234440" cy="36576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0" y="260604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Tuned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49640" y="2971800"/>
            <a:ext cx="640080" cy="365760"/>
          </a:xfrm>
          <a:prstGeom prst="rect">
            <a:avLst/>
          </a:prstGeom>
          <a:solidFill>
            <a:srgbClr val="E3E8E5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971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맑은 고딕"/>
              </a:rPr>
              <a:t>train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2971800"/>
            <a:ext cx="1234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297180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56,553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24160" y="2971800"/>
            <a:ext cx="1234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297180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66,762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9640" y="3337560"/>
            <a:ext cx="640080" cy="365760"/>
          </a:xfrm>
          <a:prstGeom prst="rect">
            <a:avLst/>
          </a:prstGeom>
          <a:solidFill>
            <a:srgbClr val="E3E8E5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33375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맑은 고딕"/>
              </a:rPr>
              <a:t>test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3337560"/>
            <a:ext cx="1234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33375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142,936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24160" y="3337560"/>
            <a:ext cx="1234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0" y="33375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B2A"/>
                </a:solidFill>
                <a:latin typeface="Consolas"/>
              </a:rPr>
              <a:t>142,205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49640" y="3703320"/>
            <a:ext cx="640080" cy="365760"/>
          </a:xfrm>
          <a:prstGeom prst="rect">
            <a:avLst/>
          </a:prstGeom>
          <a:solidFill>
            <a:srgbClr val="E3E8E5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37033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4524A"/>
                </a:solidFill>
                <a:latin typeface="맑은 고딕"/>
              </a:rPr>
              <a:t>gap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20" y="3703320"/>
            <a:ext cx="1234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9720" y="370332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D47A2C"/>
                </a:solidFill>
                <a:latin typeface="Consolas"/>
              </a:rPr>
              <a:t>86,383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24160" y="3703320"/>
            <a:ext cx="1234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24160" y="370332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D47A2C"/>
                </a:solidFill>
                <a:latin typeface="Consolas"/>
              </a:rPr>
              <a:t>75,443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41148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F6F5A"/>
                </a:solidFill>
                <a:latin typeface="맑은 고딕"/>
              </a:rPr>
              <a:t>↓ gap 11,000 감소 = 과적합 완화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0" y="4572000"/>
            <a:ext cx="3291840" cy="16916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46634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956048"/>
            <a:ext cx="29260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‘train RMSE가 오히려 올라간 게 좋은 신호’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→ 정규화 효과로 train을 일부러 못 외우게 만든 것.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test RMSE가 미세하게 내려가면서 격차가 줄었다.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45 / 66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9.8   GridSearchCV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GridSearchCV — 조합 자동 탐색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‘랜덤’ 대신 ‘모든 조합’을 CV로 평가, 단 비용에 주의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040880" cy="429768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gridsearch.py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675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7000"/>
              </a:lnSpc>
            </a:pPr>
            <a:r>
              <a:rPr sz="1000">
                <a:solidFill>
                  <a:srgbClr val="7BD389"/>
                </a:solidFill>
                <a:latin typeface="Consolas"/>
              </a:rPr>
              <a:t>from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sklearn</a:t>
            </a:r>
            <a:r>
              <a:rPr sz="1000">
                <a:solidFill>
                  <a:srgbClr val="E8F6EF"/>
                </a:solidFill>
                <a:latin typeface="Consolas"/>
              </a:rPr>
              <a:t>.</a:t>
            </a:r>
            <a:r>
              <a:rPr sz="1000">
                <a:solidFill>
                  <a:srgbClr val="E8F6EF"/>
                </a:solidFill>
                <a:latin typeface="Consolas"/>
              </a:rPr>
              <a:t>model_selection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7BD389"/>
                </a:solidFill>
                <a:latin typeface="Consolas"/>
              </a:rPr>
              <a:t>import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GridSearchCV</a:t>
            </a:r>
          </a:p>
          <a:p>
            <a:pPr>
              <a:lnSpc>
                <a:spcPct val="107000"/>
              </a:lnSpc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param_grid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=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6B26B"/>
                </a:solidFill>
                <a:latin typeface="Consolas"/>
              </a:rPr>
              <a:t>'n_estimators'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: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[</a:t>
            </a:r>
            <a:r>
              <a:rPr sz="1000">
                <a:solidFill>
                  <a:srgbClr val="F2D45F"/>
                </a:solidFill>
                <a:latin typeface="Consolas"/>
              </a:rPr>
              <a:t>200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2D45F"/>
                </a:solidFill>
                <a:latin typeface="Consolas"/>
              </a:rPr>
              <a:t>300</a:t>
            </a:r>
            <a:r>
              <a:rPr sz="1000">
                <a:solidFill>
                  <a:srgbClr val="E8F6EF"/>
                </a:solidFill>
                <a:latin typeface="Consolas"/>
              </a:rPr>
              <a:t>]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6B26B"/>
                </a:solidFill>
                <a:latin typeface="Consolas"/>
              </a:rPr>
              <a:t>'max_depth'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: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[</a:t>
            </a:r>
            <a:r>
              <a:rPr sz="1000">
                <a:solidFill>
                  <a:srgbClr val="F2D45F"/>
                </a:solidFill>
                <a:latin typeface="Consolas"/>
              </a:rPr>
              <a:t>20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2D45F"/>
                </a:solidFill>
                <a:latin typeface="Consolas"/>
              </a:rPr>
              <a:t>50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7BD389"/>
                </a:solidFill>
                <a:latin typeface="Consolas"/>
              </a:rPr>
              <a:t>None</a:t>
            </a:r>
            <a:r>
              <a:rPr sz="1000">
                <a:solidFill>
                  <a:srgbClr val="E8F6EF"/>
                </a:solidFill>
                <a:latin typeface="Consolas"/>
              </a:rPr>
              <a:t>]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6B26B"/>
                </a:solidFill>
                <a:latin typeface="Consolas"/>
              </a:rPr>
              <a:t>'min_samples_split'</a:t>
            </a:r>
            <a:r>
              <a:rPr sz="1000">
                <a:solidFill>
                  <a:srgbClr val="E8F6EF"/>
                </a:solidFill>
                <a:latin typeface="Consolas"/>
              </a:rPr>
              <a:t>: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[</a:t>
            </a:r>
            <a:r>
              <a:rPr sz="1000">
                <a:solidFill>
                  <a:srgbClr val="F2D45F"/>
                </a:solidFill>
                <a:latin typeface="Consolas"/>
              </a:rPr>
              <a:t>2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2D45F"/>
                </a:solidFill>
                <a:latin typeface="Consolas"/>
              </a:rPr>
              <a:t>5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2D45F"/>
                </a:solidFill>
                <a:latin typeface="Consolas"/>
              </a:rPr>
              <a:t>10</a:t>
            </a:r>
            <a:r>
              <a:rPr sz="1000">
                <a:solidFill>
                  <a:srgbClr val="E8F6EF"/>
                </a:solidFill>
                <a:latin typeface="Consolas"/>
              </a:rPr>
              <a:t>]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6B26B"/>
                </a:solidFill>
                <a:latin typeface="Consolas"/>
              </a:rPr>
              <a:t>'min_samples_leaf'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: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[</a:t>
            </a:r>
            <a:r>
              <a:rPr sz="1000">
                <a:solidFill>
                  <a:srgbClr val="F2D45F"/>
                </a:solidFill>
                <a:latin typeface="Consolas"/>
              </a:rPr>
              <a:t>1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2D45F"/>
                </a:solidFill>
                <a:latin typeface="Consolas"/>
              </a:rPr>
              <a:t>2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2D45F"/>
                </a:solidFill>
                <a:latin typeface="Consolas"/>
              </a:rPr>
              <a:t>4</a:t>
            </a:r>
            <a:r>
              <a:rPr sz="1000">
                <a:solidFill>
                  <a:srgbClr val="E8F6EF"/>
                </a:solidFill>
                <a:latin typeface="Consolas"/>
              </a:rPr>
              <a:t>]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6B26B"/>
                </a:solidFill>
                <a:latin typeface="Consolas"/>
              </a:rPr>
              <a:t>'max_features'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: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[</a:t>
            </a:r>
            <a:r>
              <a:rPr sz="1000">
                <a:solidFill>
                  <a:srgbClr val="F6B26B"/>
                </a:solidFill>
                <a:latin typeface="Consolas"/>
              </a:rPr>
              <a:t>'sqrt'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2D45F"/>
                </a:solidFill>
                <a:latin typeface="Consolas"/>
              </a:rPr>
              <a:t>0.7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2D45F"/>
                </a:solidFill>
                <a:latin typeface="Consolas"/>
              </a:rPr>
              <a:t>1.0</a:t>
            </a:r>
            <a:r>
              <a:rPr sz="1000">
                <a:solidFill>
                  <a:srgbClr val="E8F6EF"/>
                </a:solidFill>
                <a:latin typeface="Consolas"/>
              </a:rPr>
              <a:t>]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search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=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GridSearchCV</a:t>
            </a:r>
            <a:r>
              <a:rPr sz="100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RandomForestRegressor</a:t>
            </a:r>
            <a:r>
              <a:rPr sz="1000">
                <a:solidFill>
                  <a:srgbClr val="E8F6EF"/>
                </a:solidFill>
                <a:latin typeface="Consolas"/>
              </a:rPr>
              <a:t>(</a:t>
            </a:r>
            <a:r>
              <a:rPr sz="1000">
                <a:solidFill>
                  <a:srgbClr val="E8F6EF"/>
                </a:solidFill>
                <a:latin typeface="Consolas"/>
              </a:rPr>
              <a:t>random_state</a:t>
            </a:r>
            <a:r>
              <a:rPr sz="1000">
                <a:solidFill>
                  <a:srgbClr val="E8F6EF"/>
                </a:solidFill>
                <a:latin typeface="Consolas"/>
              </a:rPr>
              <a:t>=</a:t>
            </a:r>
            <a:r>
              <a:rPr sz="1000">
                <a:solidFill>
                  <a:srgbClr val="F2D45F"/>
                </a:solidFill>
                <a:latin typeface="Consolas"/>
              </a:rPr>
              <a:t>100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n_jobs</a:t>
            </a:r>
            <a:r>
              <a:rPr sz="1000">
                <a:solidFill>
                  <a:srgbClr val="E8F6EF"/>
                </a:solidFill>
                <a:latin typeface="Consolas"/>
              </a:rPr>
              <a:t>=</a:t>
            </a:r>
            <a:r>
              <a:rPr sz="1000">
                <a:solidFill>
                  <a:srgbClr val="E8F6EF"/>
                </a:solidFill>
                <a:latin typeface="Consolas"/>
              </a:rPr>
              <a:t>-</a:t>
            </a:r>
            <a:r>
              <a:rPr sz="1000">
                <a:solidFill>
                  <a:srgbClr val="F2D45F"/>
                </a:solidFill>
                <a:latin typeface="Consolas"/>
              </a:rPr>
              <a:t>1</a:t>
            </a:r>
            <a:r>
              <a:rPr sz="1000">
                <a:solidFill>
                  <a:srgbClr val="E8F6EF"/>
                </a:solidFill>
                <a:latin typeface="Consolas"/>
              </a:rPr>
              <a:t>)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param_grid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=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param_grid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scoring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=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6B26B"/>
                </a:solidFill>
                <a:latin typeface="Consolas"/>
              </a:rPr>
              <a:t>'neg_root_mean_squared_error'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cv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=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F2D45F"/>
                </a:solidFill>
                <a:latin typeface="Consolas"/>
              </a:rPr>
              <a:t>5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n_jobs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=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-</a:t>
            </a:r>
            <a:r>
              <a:rPr sz="1000">
                <a:solidFill>
                  <a:srgbClr val="F2D45F"/>
                </a:solidFill>
                <a:latin typeface="Consolas"/>
              </a:rPr>
              <a:t>1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E8F6EF"/>
                </a:solidFill>
                <a:latin typeface="Consolas"/>
              </a:rPr>
              <a:t>search</a:t>
            </a:r>
            <a:r>
              <a:rPr sz="1000">
                <a:solidFill>
                  <a:srgbClr val="E8F6EF"/>
                </a:solidFill>
                <a:latin typeface="Consolas"/>
              </a:rPr>
              <a:t>.</a:t>
            </a:r>
            <a:r>
              <a:rPr sz="1000">
                <a:solidFill>
                  <a:srgbClr val="E8F6EF"/>
                </a:solidFill>
                <a:latin typeface="Consolas"/>
              </a:rPr>
              <a:t>fit</a:t>
            </a:r>
            <a:r>
              <a:rPr sz="1000">
                <a:solidFill>
                  <a:srgbClr val="E8F6EF"/>
                </a:solidFill>
                <a:latin typeface="Consolas"/>
              </a:rPr>
              <a:t>(</a:t>
            </a:r>
            <a:r>
              <a:rPr sz="1000">
                <a:solidFill>
                  <a:srgbClr val="E8F6EF"/>
                </a:solidFill>
                <a:latin typeface="Consolas"/>
              </a:rPr>
              <a:t>X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y</a:t>
            </a:r>
            <a:r>
              <a:rPr sz="10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8FB8E0"/>
                </a:solidFill>
                <a:latin typeface="Consolas"/>
              </a:rPr>
              <a:t>print</a:t>
            </a:r>
            <a:r>
              <a:rPr sz="1000">
                <a:solidFill>
                  <a:srgbClr val="E8F6EF"/>
                </a:solidFill>
                <a:latin typeface="Consolas"/>
              </a:rPr>
              <a:t>(</a:t>
            </a:r>
            <a:r>
              <a:rPr sz="1000">
                <a:solidFill>
                  <a:srgbClr val="F6B26B"/>
                </a:solidFill>
                <a:latin typeface="Consolas"/>
              </a:rPr>
              <a:t>'Best params:'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search</a:t>
            </a:r>
            <a:r>
              <a:rPr sz="1000">
                <a:solidFill>
                  <a:srgbClr val="E8F6EF"/>
                </a:solidFill>
                <a:latin typeface="Consolas"/>
              </a:rPr>
              <a:t>.</a:t>
            </a:r>
            <a:r>
              <a:rPr sz="1000">
                <a:solidFill>
                  <a:srgbClr val="E8F6EF"/>
                </a:solidFill>
                <a:latin typeface="Consolas"/>
              </a:rPr>
              <a:t>best_params_</a:t>
            </a:r>
            <a:r>
              <a:rPr sz="10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</a:pPr>
            <a:r>
              <a:rPr sz="1000">
                <a:solidFill>
                  <a:srgbClr val="8FB8E0"/>
                </a:solidFill>
                <a:latin typeface="Consolas"/>
              </a:rPr>
              <a:t>print</a:t>
            </a:r>
            <a:r>
              <a:rPr sz="1000">
                <a:solidFill>
                  <a:srgbClr val="E8F6EF"/>
                </a:solidFill>
                <a:latin typeface="Consolas"/>
              </a:rPr>
              <a:t>(</a:t>
            </a:r>
            <a:r>
              <a:rPr sz="1000">
                <a:solidFill>
                  <a:srgbClr val="F6B26B"/>
                </a:solidFill>
                <a:latin typeface="Consolas"/>
              </a:rPr>
              <a:t>'Best CV RMSE:'</a:t>
            </a:r>
            <a:r>
              <a:rPr sz="1000">
                <a:solidFill>
                  <a:srgbClr val="E8F6EF"/>
                </a:solidFill>
                <a:latin typeface="Consolas"/>
              </a:rPr>
              <a:t>,</a:t>
            </a:r>
            <a:r>
              <a:rPr sz="1000">
                <a:solidFill>
                  <a:srgbClr val="E8F6EF"/>
                </a:solidFill>
                <a:latin typeface="Consolas"/>
              </a:rPr>
              <a:t> </a:t>
            </a:r>
            <a:r>
              <a:rPr sz="1000">
                <a:solidFill>
                  <a:srgbClr val="E8F6EF"/>
                </a:solidFill>
                <a:latin typeface="Consolas"/>
              </a:rPr>
              <a:t>-</a:t>
            </a:r>
            <a:r>
              <a:rPr sz="1000">
                <a:solidFill>
                  <a:srgbClr val="E8F6EF"/>
                </a:solidFill>
                <a:latin typeface="Consolas"/>
              </a:rPr>
              <a:t>search</a:t>
            </a:r>
            <a:r>
              <a:rPr sz="1000">
                <a:solidFill>
                  <a:srgbClr val="E8F6EF"/>
                </a:solidFill>
                <a:latin typeface="Consolas"/>
              </a:rPr>
              <a:t>.</a:t>
            </a:r>
            <a:r>
              <a:rPr sz="1000">
                <a:solidFill>
                  <a:srgbClr val="E8F6EF"/>
                </a:solidFill>
                <a:latin typeface="Consolas"/>
              </a:rPr>
              <a:t>best_score_</a:t>
            </a:r>
            <a:r>
              <a:rPr sz="100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011680"/>
            <a:ext cx="3931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2011680"/>
            <a:ext cx="91440" cy="1463040"/>
          </a:xfrm>
          <a:prstGeom prst="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2" y="217627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⚠️  음수 RMSE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2" y="2670048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scoring은 ‘클수록 좋은’ 방향.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RMSE는 손실이므로 음수로 반환.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→  -search.best_score_  로 환원.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3566160"/>
            <a:ext cx="3931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0" y="3566160"/>
            <a:ext cx="91440" cy="146304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8432" y="373075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📌  계산 비용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2" y="4224528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2×3×3×3×3 = 162개 조합  × 5 fold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= 810번 학습! 작게 시작 → 확장.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5120640"/>
            <a:ext cx="3931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5120640"/>
            <a:ext cx="91440" cy="114300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28432" y="528523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💡  RandomizedSearchCV 대안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2" y="5779008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후보가 너무 많을 때 무작위 샘플링으로 더 효율적.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46 / 66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9.8   튜닝 결과 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튜닝 결과를 ‘리포트’로 — 숫자만 나열하지 않기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재현성과 의사결정 근거가 있어야 진짜 결과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286000" cy="50292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보고 항목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011680"/>
            <a:ext cx="4206240" cy="50292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201168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이유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2011680"/>
            <a:ext cx="4572000" cy="50292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01168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표시 예시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1460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5146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CV 평균 ± 표준편차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514600"/>
            <a:ext cx="4206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25146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변동성을 함께 보여 안정성 판단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2514600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251460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test RMSE: 142,205 ± 2,400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17520"/>
            <a:ext cx="2286000" cy="50292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175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Default vs Tuned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017520"/>
            <a:ext cx="4206240" cy="50292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301752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개선 폭이 ‘노력 대비’인지 판단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3017520"/>
            <a:ext cx="4572000" cy="50292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301752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−731 (0.5%) 개선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2044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5204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학습 시간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520440"/>
            <a:ext cx="4206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352044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비용을 함께 보고 → 의사결정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3520440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35204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Default 12s / Tuned 38s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23360"/>
            <a:ext cx="2286000" cy="50292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02336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선택 근거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4023360"/>
            <a:ext cx="4206240" cy="50292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402336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왜 그 파라미터를 골랐는지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4023360"/>
            <a:ext cx="4572000" cy="50292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402336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‘gap 축소 우선’ 등 한 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52628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5262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실패한 시도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4526280"/>
            <a:ext cx="4206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80" y="452628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재현성 + 학습 경험 공유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40880" y="4526280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452628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max_depth=5는 언더피팅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852160"/>
            <a:ext cx="1115568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436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623620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‘성능 1% 개선’보다 ‘재현 가능한 리포트’가 실무에서 더 가치 있을 때가 많다.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학생 과제 채점도 성능 점수가 아니라 ‘검증 절차의 타당성’으로 가중치를 두는 편이 좋다.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47 / 66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9601200" y="4114800"/>
            <a:ext cx="1371600" cy="1371600"/>
          </a:xfrm>
          <a:prstGeom prst="triangle">
            <a:avLst/>
          </a:prstGeom>
          <a:solidFill>
            <a:srgbClr val="88D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0515600" y="4572000"/>
            <a:ext cx="1005840" cy="1005840"/>
          </a:xfrm>
          <a:prstGeom prst="triangl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8961120" y="4754880"/>
            <a:ext cx="822960" cy="822960"/>
          </a:xfrm>
          <a:prstGeom prst="triangl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19456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PART 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맑은 고딕"/>
              </a:rPr>
              <a:t>해석과 주의사항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03320"/>
            <a:ext cx="73152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FE3DA"/>
                </a:solidFill>
                <a:latin typeface="맑은 고딕"/>
              </a:rPr>
              <a:t>변수 중요도 · PDP · 예측 불확실성 — ‘블랙박스’를 한 꺼풀 벗긴다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INTERP   MDI 변수 중요도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변수 중요도 ① — MDI (불순도 감소 기반)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feature_importances_ — 빠르고 쉽고, 그러나 편향이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6400800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mdi_importance.py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03504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>
                <a:solidFill>
                  <a:srgbClr val="7BD389"/>
                </a:solidFill>
                <a:latin typeface="Consolas"/>
              </a:rPr>
              <a:t>import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pandas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as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pd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importance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pd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Series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model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feature_importances_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index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X_train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columns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sort_values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ascending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7BD389"/>
                </a:solidFill>
                <a:latin typeface="Consolas"/>
              </a:rPr>
              <a:t>False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importance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head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F2D45F"/>
                </a:solidFill>
                <a:latin typeface="Consolas"/>
              </a:rPr>
              <a:t>10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year         0.382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max_power    0.198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engine       0.121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km_driven    0.087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torque       0.063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mileage      0.041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name_BMW     0.018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name_Audi    0.014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transmission_Manual  0.012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9AA7A0"/>
                </a:solidFill>
                <a:latin typeface="Consolas"/>
              </a:rPr>
              <a:t># seats        0.010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2011680"/>
            <a:ext cx="45720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103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📊  Top 10 (예시값)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5603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year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2596896"/>
            <a:ext cx="201168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69680" y="2596896"/>
            <a:ext cx="2011680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27080" y="25603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0.382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288950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max_power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2926080"/>
            <a:ext cx="201168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69680" y="2926080"/>
            <a:ext cx="1042703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27080" y="288950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0.198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2186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engine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3255264"/>
            <a:ext cx="201168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869680" y="3255264"/>
            <a:ext cx="637207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27080" y="32186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0.121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35478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km_driven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69680" y="3584448"/>
            <a:ext cx="201168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9680" y="3584448"/>
            <a:ext cx="458157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27080" y="35478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0.087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387705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torque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3913632"/>
            <a:ext cx="201168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69680" y="3913632"/>
            <a:ext cx="331769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27080" y="38770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0.063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206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mileage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69680" y="4242816"/>
            <a:ext cx="201168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869680" y="4242816"/>
            <a:ext cx="215913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27080" y="4206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0.041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453542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name_BMW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69680" y="4572000"/>
            <a:ext cx="201168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869680" y="4572000"/>
            <a:ext cx="94791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27080" y="45354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0.018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48646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name_Audi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69680" y="4901184"/>
            <a:ext cx="201168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869680" y="4901184"/>
            <a:ext cx="73726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27080" y="48646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0.014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519379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transmission_Manual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69680" y="5230368"/>
            <a:ext cx="201168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869680" y="5230368"/>
            <a:ext cx="63194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927080" y="51937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0.012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69480" y="552297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seats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869680" y="5559552"/>
            <a:ext cx="2011680" cy="201168"/>
          </a:xfrm>
          <a:prstGeom prst="roundRect">
            <a:avLst/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869680" y="5559552"/>
            <a:ext cx="52661" cy="201168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27080" y="552297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4524A"/>
                </a:solidFill>
                <a:latin typeface="Consolas"/>
              </a:rPr>
              <a:t>0.010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6355080"/>
            <a:ext cx="11155680" cy="4114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739128"/>
            <a:ext cx="10789920" cy="-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‘year(연식)가 가장 큰 영향’ — 학생에게 ‘이게 인과인가, 단순 상관인가?’ 질문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49 / 66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INTERP   순열 중요도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변수 중요도 ② — Permutation Importance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‘이 변수의 값을 섞으면 성능이 얼마나 떨어지는가?’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6675120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permutation_importance.py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30936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>
                <a:solidFill>
                  <a:srgbClr val="7BD389"/>
                </a:solidFill>
                <a:latin typeface="Consolas"/>
              </a:rPr>
              <a:t>from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sklearn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inspection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7BD389"/>
                </a:solidFill>
                <a:latin typeface="Consolas"/>
              </a:rPr>
              <a:t>import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permutation_importance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result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permutation_importance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model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X_test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y_test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scoring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6B26B"/>
                </a:solidFill>
                <a:latin typeface="Consolas"/>
              </a:rPr>
              <a:t>'neg_root_mean_squared_error'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n_repeats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2D45F"/>
                </a:solidFill>
                <a:latin typeface="Consolas"/>
              </a:rPr>
              <a:t>10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9AA7A0"/>
                </a:solidFill>
                <a:latin typeface="Consolas"/>
              </a:rPr>
              <a:t># 10번 섞어 평균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random_state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F2D45F"/>
                </a:solidFill>
                <a:latin typeface="Consolas"/>
              </a:rPr>
              <a:t>100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n_jobs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-</a:t>
            </a:r>
            <a:r>
              <a:rPr sz="1150">
                <a:solidFill>
                  <a:srgbClr val="F2D45F"/>
                </a:solidFill>
                <a:latin typeface="Consolas"/>
              </a:rPr>
              <a:t>1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perm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pd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Series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result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importances_mean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index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X_test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columns</a:t>
            </a:r>
            <a:r>
              <a:rPr sz="115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sort_values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E8F6EF"/>
                </a:solidFill>
                <a:latin typeface="Consolas"/>
              </a:rPr>
              <a:t>ascending</a:t>
            </a:r>
            <a:r>
              <a:rPr sz="1150">
                <a:solidFill>
                  <a:srgbClr val="E8F6EF"/>
                </a:solidFill>
                <a:latin typeface="Consolas"/>
              </a:rPr>
              <a:t>=</a:t>
            </a:r>
            <a:r>
              <a:rPr sz="1150">
                <a:solidFill>
                  <a:srgbClr val="7BD389"/>
                </a:solidFill>
                <a:latin typeface="Consolas"/>
              </a:rPr>
              <a:t>False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>
                <a:solidFill>
                  <a:srgbClr val="E8F6EF"/>
                </a:solidFill>
                <a:latin typeface="Consolas"/>
              </a:rPr>
              <a:t>perm</a:t>
            </a:r>
            <a:r>
              <a:rPr sz="1150">
                <a:solidFill>
                  <a:srgbClr val="E8F6EF"/>
                </a:solidFill>
                <a:latin typeface="Consolas"/>
              </a:rPr>
              <a:t>.</a:t>
            </a:r>
            <a:r>
              <a:rPr sz="1150">
                <a:solidFill>
                  <a:srgbClr val="E8F6EF"/>
                </a:solidFill>
                <a:latin typeface="Consolas"/>
              </a:rPr>
              <a:t>head</a:t>
            </a:r>
            <a:r>
              <a:rPr sz="1150">
                <a:solidFill>
                  <a:srgbClr val="E8F6EF"/>
                </a:solidFill>
                <a:latin typeface="Consolas"/>
              </a:rPr>
              <a:t>(</a:t>
            </a:r>
            <a:r>
              <a:rPr sz="1150">
                <a:solidFill>
                  <a:srgbClr val="F2D45F"/>
                </a:solidFill>
                <a:latin typeface="Consolas"/>
              </a:rPr>
              <a:t>10</a:t>
            </a:r>
            <a:r>
              <a:rPr sz="1150">
                <a:solidFill>
                  <a:srgbClr val="E8F6EF"/>
                </a:solidFill>
                <a:latin typeface="Consolas"/>
              </a:rPr>
              <a:t>)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E8F6EF"/>
                </a:solidFill>
                <a:latin typeface="Consolas"/>
              </a:rPr>
              <a:t> </a:t>
            </a:r>
            <a:r>
              <a:rPr sz="1150">
                <a:solidFill>
                  <a:srgbClr val="9AA7A0"/>
                </a:solidFill>
                <a:latin typeface="Consolas"/>
              </a:rPr>
              <a:t># MDI와 순위 차이 비교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011680"/>
            <a:ext cx="4297680" cy="4251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21031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6F5A"/>
                </a:solidFill>
                <a:latin typeface="맑은 고딕"/>
              </a:rPr>
              <a:t>🆚  MDI vs Permutation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2651760"/>
            <a:ext cx="1280160" cy="3200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651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2651760"/>
            <a:ext cx="1371600" cy="3200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26517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MDI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87000" y="2651760"/>
            <a:ext cx="1280160" cy="3200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2651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Permutation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800" y="2971800"/>
            <a:ext cx="1280160" cy="457200"/>
          </a:xfrm>
          <a:prstGeom prst="rect">
            <a:avLst/>
          </a:prstGeom>
          <a:solidFill>
            <a:srgbClr val="E3E8E5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29718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맑은 고딕"/>
              </a:rPr>
              <a:t>계산 시기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297180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29718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학습 중 자동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87000" y="297180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29718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학습 후 별도 계산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43800" y="3429000"/>
            <a:ext cx="1280160" cy="457200"/>
          </a:xfrm>
          <a:prstGeom prst="rect">
            <a:avLst/>
          </a:prstGeom>
          <a:solidFill>
            <a:srgbClr val="E3E8E5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34290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맑은 고딕"/>
              </a:rPr>
              <a:t>계산 비용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342900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34290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✓ 매우 빠름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87000" y="342900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87000" y="34290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× 느림 (재예측 ×N)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43800" y="3886200"/>
            <a:ext cx="1280160" cy="457200"/>
          </a:xfrm>
          <a:prstGeom prst="rect">
            <a:avLst/>
          </a:prstGeom>
          <a:solidFill>
            <a:srgbClr val="E3E8E5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38862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맑은 고딕"/>
              </a:rPr>
              <a:t>기반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69680" y="388620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0" y="3886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불순도 감소 누적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87000" y="388620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87000" y="38862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성능 하락 크기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43800" y="4343400"/>
            <a:ext cx="1280160" cy="457200"/>
          </a:xfrm>
          <a:prstGeom prst="rect">
            <a:avLst/>
          </a:prstGeom>
          <a:solidFill>
            <a:srgbClr val="E3E8E5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43434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맑은 고딕"/>
              </a:rPr>
              <a:t>편향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69680" y="434340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43434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고유값 多 변수 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87000" y="434340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87000" y="43434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상대적으로 적음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43800" y="4800600"/>
            <a:ext cx="1280160" cy="457200"/>
          </a:xfrm>
          <a:prstGeom prst="rect">
            <a:avLst/>
          </a:prstGeom>
          <a:solidFill>
            <a:srgbClr val="E3E8E5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43800" y="48006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맑은 고딕"/>
              </a:rPr>
              <a:t>해석 직관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69680" y="480060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69680" y="48006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보통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87000" y="480060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87000" y="48006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✓ 매우 직관적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43800" y="5257800"/>
            <a:ext cx="1280160" cy="457200"/>
          </a:xfrm>
          <a:prstGeom prst="rect">
            <a:avLst/>
          </a:prstGeom>
          <a:solidFill>
            <a:srgbClr val="E3E8E5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43800" y="52578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4524A"/>
                </a:solidFill>
                <a:latin typeface="맑은 고딕"/>
              </a:rPr>
              <a:t>권장 용도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69680" y="525780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69680" y="52578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빠른 1차 확인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287000" y="525780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287000" y="52578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최종 보고용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50 / 66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INTERP   중요도 해석 주의사항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중요도 해석의 ‘함정’ 4가지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‘중요하다 = 원인이다’가 아니다 — 이것만은 외우자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137160" cy="960120"/>
          </a:xfrm>
          <a:prstGeom prst="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031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47A2C"/>
                </a:solidFill>
                <a:latin typeface="맑은 고딕"/>
              </a:rPr>
              <a:t>①  인과 ≠ 예측 기여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10312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중요도는 ‘예측에 도움이 된 정도’일 뿐, 가격을 ‘결정하는 원인’이 아니다.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예: 보험료가 가격 예측에 큰 도움이 되더라도, 보험료가 가격을 ‘만들지’ 않는다.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63240"/>
            <a:ext cx="111556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063240"/>
            <a:ext cx="137160" cy="96012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1546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6F5A"/>
                </a:solidFill>
                <a:latin typeface="맑은 고딕"/>
              </a:rPr>
              <a:t>②  상관 변수의 분할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15468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engine과 max_power는 강한 양의 상관.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RF가 둘 사이에서 ‘아무거나’ 선택 → 중요도가 분산.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→ 한 변수만 보고 ‘중요하지 않다’ 결론은 위험.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14800"/>
            <a:ext cx="111556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137160" cy="96012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2062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3B6FB6"/>
                </a:solidFill>
                <a:latin typeface="맑은 고딕"/>
              </a:rPr>
              <a:t>③  고카디널리티 편향 (MDI)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20624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고유값이 많은 연속형/카디널리티 큰 범주는 MDI에서 과대평가.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Strobl et al.(2007) 참고. → permutation 또는 conditional importance 사용.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66360"/>
            <a:ext cx="111556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166360"/>
            <a:ext cx="137160" cy="96012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2578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2A44F"/>
                </a:solidFill>
                <a:latin typeface="맑은 고딕"/>
              </a:rPr>
              <a:t>④  더미 변수의 분산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25780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name_BMW, name_Audi, name_Mercedes-Benz … 처럼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원래 한 변수에서 나온 더미는 합산해서 해석하는 편이 낫다.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6263640"/>
            <a:ext cx="11155680" cy="45720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3550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647688"/>
            <a:ext cx="1078992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학생 보고서에서 ‘중요도가 높으니 원인이다’라는 문장을 ‘금지어’로 선언하면 좋다.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51 / 66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INTERP   부분의존도 (PDP)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부분의존도 (Partial Dependence Plot)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‘특정 피처가 변할 때 예측이 어떻게 움직이는가’ 평균적 모양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6400800" cy="320040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pdp.py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0350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7BD389"/>
                </a:solidFill>
                <a:latin typeface="Consolas"/>
              </a:rPr>
              <a:t>from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sklearn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inspection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7BD389"/>
                </a:solidFill>
                <a:latin typeface="Consolas"/>
              </a:rPr>
              <a:t>import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PartialDependenceDisplay</a:t>
            </a:r>
          </a:p>
          <a:p>
            <a:pPr>
              <a:lnSpc>
                <a:spcPct val="118000"/>
              </a:lnSpc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PartialDependenceDisplay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from_estimator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model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X_train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features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[</a:t>
            </a:r>
            <a:r>
              <a:rPr sz="1200">
                <a:solidFill>
                  <a:srgbClr val="F6B26B"/>
                </a:solidFill>
                <a:latin typeface="Consolas"/>
              </a:rPr>
              <a:t>'year'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6B26B"/>
                </a:solidFill>
                <a:latin typeface="Consolas"/>
              </a:rPr>
              <a:t>'km_driven'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6B26B"/>
                </a:solidFill>
                <a:latin typeface="Consolas"/>
              </a:rPr>
              <a:t>'engine'</a:t>
            </a:r>
            <a:r>
              <a:rPr sz="1200">
                <a:solidFill>
                  <a:srgbClr val="E8F6EF"/>
                </a:solidFill>
                <a:latin typeface="Consolas"/>
              </a:rPr>
              <a:t>]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kind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6B26B"/>
                </a:solidFill>
                <a:latin typeface="Consolas"/>
              </a:rPr>
              <a:t>'average'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grid_resolution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E8F6EF"/>
                </a:solidFill>
                <a:latin typeface="Consolas"/>
              </a:rPr>
              <a:t>=</a:t>
            </a:r>
            <a:r>
              <a:rPr sz="1200">
                <a:solidFill>
                  <a:srgbClr val="E8F6EF"/>
                </a:solidFill>
                <a:latin typeface="Consolas"/>
              </a:rPr>
              <a:t> </a:t>
            </a:r>
            <a:r>
              <a:rPr sz="1200">
                <a:solidFill>
                  <a:srgbClr val="F2D45F"/>
                </a:solidFill>
                <a:latin typeface="Consolas"/>
              </a:rPr>
              <a:t>30</a:t>
            </a:r>
            <a:r>
              <a:rPr sz="12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plt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tight_layout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F6EF"/>
                </a:solidFill>
                <a:latin typeface="Consolas"/>
              </a:rPr>
              <a:t>plt</a:t>
            </a:r>
            <a:r>
              <a:rPr sz="1200">
                <a:solidFill>
                  <a:srgbClr val="E8F6EF"/>
                </a:solidFill>
                <a:latin typeface="Consolas"/>
              </a:rPr>
              <a:t>.</a:t>
            </a:r>
            <a:r>
              <a:rPr sz="1200">
                <a:solidFill>
                  <a:srgbClr val="E8F6EF"/>
                </a:solidFill>
                <a:latin typeface="Consolas"/>
              </a:rPr>
              <a:t>show</a:t>
            </a:r>
            <a:r>
              <a:rPr sz="1200">
                <a:solidFill>
                  <a:srgbClr val="E8F6EF"/>
                </a:solidFill>
                <a:latin typeface="Consolas"/>
              </a:rPr>
              <a:t>(</a:t>
            </a:r>
            <a:r>
              <a:rPr sz="120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6400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44068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6F5A"/>
                </a:solidFill>
                <a:latin typeface="맑은 고딕"/>
              </a:rPr>
              <a:t>📈  PDP 예: year ↑ → 예측 가격 ↑ (상식과 일치)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‘2010년식 → 2020년식’ 변경 시, 평균적으로 예측 가격이 약 6배 증가하는 곡선.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1B2B2A"/>
                </a:solidFill>
                <a:latin typeface="맑은 고딕"/>
              </a:rPr>
              <a:t>비선형 효과(특정 연식 이상에서 폭증)도 시각화로 확인 가능.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2011680"/>
            <a:ext cx="45720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0" y="2011680"/>
            <a:ext cx="91440" cy="155448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8352" y="21762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✓  장점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2670048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비선형·복잡한 효과를 그림 하나로.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도메인 상식과 모델 해석 매칭 도구.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3657600"/>
            <a:ext cx="4572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0" y="3657600"/>
            <a:ext cx="91440" cy="1325880"/>
          </a:xfrm>
          <a:prstGeom prst="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88352" y="382219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⚠️  한계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4315968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강한 상관 변수에서는 ‘비현실적 조합’ 발생.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→ ICE plot · ALE plot 으로 보완.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0" y="5074920"/>
            <a:ext cx="45720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0" y="5074920"/>
            <a:ext cx="91440" cy="128016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8352" y="52395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📌  중요도 + PDP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5733288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‘무엇이 중요한가’ + ‘어떻게 영향을 주는가’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→ 함께 보면 해석 품질이 크게 향상.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52 / 66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INTERP   예측 불확실성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점 예측만으로는 의사결정이 어렵다 — 불확실성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각 트리 예측의 분포에서 경험적 구간을 얻는다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315200" cy="425196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prediction_interval.py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94944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7BD389"/>
                </a:solidFill>
                <a:latin typeface="Consolas"/>
              </a:rPr>
              <a:t>import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numpy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7BD389"/>
                </a:solidFill>
                <a:latin typeface="Consolas"/>
              </a:rPr>
              <a:t>as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np</a:t>
            </a:r>
          </a:p>
          <a:p>
            <a:pPr>
              <a:lnSpc>
                <a:spcPct val="115000"/>
              </a:lnSpc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9AA7A0"/>
                </a:solidFill>
                <a:latin typeface="Consolas"/>
              </a:rPr>
              <a:t># 1) 트리별 예측을 모두 수집  (n_trees × n_samples)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8F6EF"/>
                </a:solidFill>
                <a:latin typeface="Consolas"/>
              </a:rPr>
              <a:t>tree_preds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=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np</a:t>
            </a:r>
            <a:r>
              <a:rPr sz="1100">
                <a:solidFill>
                  <a:srgbClr val="E8F6EF"/>
                </a:solidFill>
                <a:latin typeface="Consolas"/>
              </a:rPr>
              <a:t>.</a:t>
            </a:r>
            <a:r>
              <a:rPr sz="1100">
                <a:solidFill>
                  <a:srgbClr val="E8F6EF"/>
                </a:solidFill>
                <a:latin typeface="Consolas"/>
              </a:rPr>
              <a:t>array</a:t>
            </a:r>
            <a:r>
              <a:rPr sz="1100">
                <a:solidFill>
                  <a:srgbClr val="E8F6EF"/>
                </a:solidFill>
                <a:latin typeface="Consolas"/>
              </a:rPr>
              <a:t>(</a:t>
            </a:r>
            <a:r>
              <a:rPr sz="1100">
                <a:solidFill>
                  <a:srgbClr val="E8F6EF"/>
                </a:solidFill>
                <a:latin typeface="Consolas"/>
              </a:rPr>
              <a:t>[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tree</a:t>
            </a:r>
            <a:r>
              <a:rPr sz="1100">
                <a:solidFill>
                  <a:srgbClr val="E8F6EF"/>
                </a:solidFill>
                <a:latin typeface="Consolas"/>
              </a:rPr>
              <a:t>.</a:t>
            </a:r>
            <a:r>
              <a:rPr sz="1100">
                <a:solidFill>
                  <a:srgbClr val="E8F6EF"/>
                </a:solidFill>
                <a:latin typeface="Consolas"/>
              </a:rPr>
              <a:t>predict</a:t>
            </a:r>
            <a:r>
              <a:rPr sz="1100">
                <a:solidFill>
                  <a:srgbClr val="E8F6EF"/>
                </a:solidFill>
                <a:latin typeface="Consolas"/>
              </a:rPr>
              <a:t>(</a:t>
            </a:r>
            <a:r>
              <a:rPr sz="1100">
                <a:solidFill>
                  <a:srgbClr val="E8F6EF"/>
                </a:solidFill>
                <a:latin typeface="Consolas"/>
              </a:rPr>
              <a:t>X_test</a:t>
            </a:r>
            <a:r>
              <a:rPr sz="1100">
                <a:solidFill>
                  <a:srgbClr val="E8F6EF"/>
                </a:solidFill>
                <a:latin typeface="Consolas"/>
              </a:rPr>
              <a:t>)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7BD389"/>
                </a:solidFill>
                <a:latin typeface="Consolas"/>
              </a:rPr>
              <a:t>for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tree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7BD389"/>
                </a:solidFill>
                <a:latin typeface="Consolas"/>
              </a:rPr>
              <a:t>in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model</a:t>
            </a:r>
            <a:r>
              <a:rPr sz="1100">
                <a:solidFill>
                  <a:srgbClr val="E8F6EF"/>
                </a:solidFill>
                <a:latin typeface="Consolas"/>
              </a:rPr>
              <a:t>.</a:t>
            </a:r>
            <a:r>
              <a:rPr sz="1100">
                <a:solidFill>
                  <a:srgbClr val="E8F6EF"/>
                </a:solidFill>
                <a:latin typeface="Consolas"/>
              </a:rPr>
              <a:t>estimators_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8F6EF"/>
                </a:solidFill>
                <a:latin typeface="Consolas"/>
              </a:rPr>
              <a:t>]</a:t>
            </a:r>
            <a:r>
              <a:rPr sz="11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9AA7A0"/>
                </a:solidFill>
                <a:latin typeface="Consolas"/>
              </a:rPr>
              <a:t># 2) 각 샘플별 분위수로 ‘경험적 구간’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8F6EF"/>
                </a:solidFill>
                <a:latin typeface="Consolas"/>
              </a:rPr>
              <a:t>lower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=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np</a:t>
            </a:r>
            <a:r>
              <a:rPr sz="1100">
                <a:solidFill>
                  <a:srgbClr val="E8F6EF"/>
                </a:solidFill>
                <a:latin typeface="Consolas"/>
              </a:rPr>
              <a:t>.</a:t>
            </a:r>
            <a:r>
              <a:rPr sz="1100">
                <a:solidFill>
                  <a:srgbClr val="E8F6EF"/>
                </a:solidFill>
                <a:latin typeface="Consolas"/>
              </a:rPr>
              <a:t>percentile</a:t>
            </a:r>
            <a:r>
              <a:rPr sz="1100">
                <a:solidFill>
                  <a:srgbClr val="E8F6EF"/>
                </a:solidFill>
                <a:latin typeface="Consolas"/>
              </a:rPr>
              <a:t>(</a:t>
            </a:r>
            <a:r>
              <a:rPr sz="1100">
                <a:solidFill>
                  <a:srgbClr val="E8F6EF"/>
                </a:solidFill>
                <a:latin typeface="Consolas"/>
              </a:rPr>
              <a:t>tree_preds</a:t>
            </a:r>
            <a:r>
              <a:rPr sz="1100">
                <a:solidFill>
                  <a:srgbClr val="E8F6EF"/>
                </a:solidFill>
                <a:latin typeface="Consolas"/>
              </a:rPr>
              <a:t>,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F2D45F"/>
                </a:solidFill>
                <a:latin typeface="Consolas"/>
              </a:rPr>
              <a:t>5</a:t>
            </a:r>
            <a:r>
              <a:rPr sz="1100">
                <a:solidFill>
                  <a:srgbClr val="E8F6EF"/>
                </a:solidFill>
                <a:latin typeface="Consolas"/>
              </a:rPr>
              <a:t>,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axis</a:t>
            </a:r>
            <a:r>
              <a:rPr sz="1100">
                <a:solidFill>
                  <a:srgbClr val="E8F6EF"/>
                </a:solidFill>
                <a:latin typeface="Consolas"/>
              </a:rPr>
              <a:t>=</a:t>
            </a:r>
            <a:r>
              <a:rPr sz="1100">
                <a:solidFill>
                  <a:srgbClr val="F2D45F"/>
                </a:solidFill>
                <a:latin typeface="Consolas"/>
              </a:rPr>
              <a:t>0</a:t>
            </a:r>
            <a:r>
              <a:rPr sz="11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8F6EF"/>
                </a:solidFill>
                <a:latin typeface="Consolas"/>
              </a:rPr>
              <a:t>upper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=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np</a:t>
            </a:r>
            <a:r>
              <a:rPr sz="1100">
                <a:solidFill>
                  <a:srgbClr val="E8F6EF"/>
                </a:solidFill>
                <a:latin typeface="Consolas"/>
              </a:rPr>
              <a:t>.</a:t>
            </a:r>
            <a:r>
              <a:rPr sz="1100">
                <a:solidFill>
                  <a:srgbClr val="E8F6EF"/>
                </a:solidFill>
                <a:latin typeface="Consolas"/>
              </a:rPr>
              <a:t>percentile</a:t>
            </a:r>
            <a:r>
              <a:rPr sz="1100">
                <a:solidFill>
                  <a:srgbClr val="E8F6EF"/>
                </a:solidFill>
                <a:latin typeface="Consolas"/>
              </a:rPr>
              <a:t>(</a:t>
            </a:r>
            <a:r>
              <a:rPr sz="1100">
                <a:solidFill>
                  <a:srgbClr val="E8F6EF"/>
                </a:solidFill>
                <a:latin typeface="Consolas"/>
              </a:rPr>
              <a:t>tree_preds</a:t>
            </a:r>
            <a:r>
              <a:rPr sz="1100">
                <a:solidFill>
                  <a:srgbClr val="E8F6EF"/>
                </a:solidFill>
                <a:latin typeface="Consolas"/>
              </a:rPr>
              <a:t>,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F2D45F"/>
                </a:solidFill>
                <a:latin typeface="Consolas"/>
              </a:rPr>
              <a:t>95</a:t>
            </a:r>
            <a:r>
              <a:rPr sz="1100">
                <a:solidFill>
                  <a:srgbClr val="E8F6EF"/>
                </a:solidFill>
                <a:latin typeface="Consolas"/>
              </a:rPr>
              <a:t>,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axis</a:t>
            </a:r>
            <a:r>
              <a:rPr sz="1100">
                <a:solidFill>
                  <a:srgbClr val="E8F6EF"/>
                </a:solidFill>
                <a:latin typeface="Consolas"/>
              </a:rPr>
              <a:t>=</a:t>
            </a:r>
            <a:r>
              <a:rPr sz="1100">
                <a:solidFill>
                  <a:srgbClr val="F2D45F"/>
                </a:solidFill>
                <a:latin typeface="Consolas"/>
              </a:rPr>
              <a:t>0</a:t>
            </a:r>
            <a:r>
              <a:rPr sz="11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8F6EF"/>
                </a:solidFill>
                <a:latin typeface="Consolas"/>
              </a:rPr>
              <a:t>point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=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model</a:t>
            </a:r>
            <a:r>
              <a:rPr sz="1100">
                <a:solidFill>
                  <a:srgbClr val="E8F6EF"/>
                </a:solidFill>
                <a:latin typeface="Consolas"/>
              </a:rPr>
              <a:t>.</a:t>
            </a:r>
            <a:r>
              <a:rPr sz="1100">
                <a:solidFill>
                  <a:srgbClr val="E8F6EF"/>
                </a:solidFill>
                <a:latin typeface="Consolas"/>
              </a:rPr>
              <a:t>predict</a:t>
            </a:r>
            <a:r>
              <a:rPr sz="1100">
                <a:solidFill>
                  <a:srgbClr val="E8F6EF"/>
                </a:solidFill>
                <a:latin typeface="Consolas"/>
              </a:rPr>
              <a:t>(</a:t>
            </a:r>
            <a:r>
              <a:rPr sz="1100">
                <a:solidFill>
                  <a:srgbClr val="E8F6EF"/>
                </a:solidFill>
                <a:latin typeface="Consolas"/>
              </a:rPr>
              <a:t>X_test</a:t>
            </a:r>
            <a:r>
              <a:rPr sz="11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9AA7A0"/>
                </a:solidFill>
                <a:latin typeface="Consolas"/>
              </a:rPr>
              <a:t># 3) 예: 첫 5건의 (점 예측, 90% 구간)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7BD389"/>
                </a:solidFill>
                <a:latin typeface="Consolas"/>
              </a:rPr>
              <a:t>for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i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7BD389"/>
                </a:solidFill>
                <a:latin typeface="Consolas"/>
              </a:rPr>
              <a:t>in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8FB8E0"/>
                </a:solidFill>
                <a:latin typeface="Consolas"/>
              </a:rPr>
              <a:t>range</a:t>
            </a:r>
            <a:r>
              <a:rPr sz="1100">
                <a:solidFill>
                  <a:srgbClr val="E8F6EF"/>
                </a:solidFill>
                <a:latin typeface="Consolas"/>
              </a:rPr>
              <a:t>(</a:t>
            </a:r>
            <a:r>
              <a:rPr sz="1100">
                <a:solidFill>
                  <a:srgbClr val="F2D45F"/>
                </a:solidFill>
                <a:latin typeface="Consolas"/>
              </a:rPr>
              <a:t>5</a:t>
            </a:r>
            <a:r>
              <a:rPr sz="1100">
                <a:solidFill>
                  <a:srgbClr val="E8F6EF"/>
                </a:solidFill>
                <a:latin typeface="Consolas"/>
              </a:rPr>
              <a:t>)</a:t>
            </a:r>
            <a:r>
              <a:rPr sz="110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8FB8E0"/>
                </a:solidFill>
                <a:latin typeface="Consolas"/>
              </a:rPr>
              <a:t>print</a:t>
            </a:r>
            <a:r>
              <a:rPr sz="1100">
                <a:solidFill>
                  <a:srgbClr val="E8F6EF"/>
                </a:solidFill>
                <a:latin typeface="Consolas"/>
              </a:rPr>
              <a:t>(</a:t>
            </a:r>
            <a:r>
              <a:rPr sz="1100">
                <a:solidFill>
                  <a:srgbClr val="E8F6EF"/>
                </a:solidFill>
                <a:latin typeface="Consolas"/>
              </a:rPr>
              <a:t>f</a:t>
            </a:r>
            <a:r>
              <a:rPr sz="1100">
                <a:solidFill>
                  <a:srgbClr val="F6B26B"/>
                </a:solidFill>
                <a:latin typeface="Consolas"/>
              </a:rPr>
              <a:t>'{point[i]:&gt;10,.0f}  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[</a:t>
            </a:r>
            <a:r>
              <a:rPr sz="1100">
                <a:solidFill>
                  <a:srgbClr val="E8F6EF"/>
                </a:solidFill>
                <a:latin typeface="Consolas"/>
              </a:rPr>
              <a:t>{</a:t>
            </a:r>
            <a:r>
              <a:rPr sz="1100">
                <a:solidFill>
                  <a:srgbClr val="E8F6EF"/>
                </a:solidFill>
                <a:latin typeface="Consolas"/>
              </a:rPr>
              <a:t>lower</a:t>
            </a:r>
            <a:r>
              <a:rPr sz="1100">
                <a:solidFill>
                  <a:srgbClr val="E8F6EF"/>
                </a:solidFill>
                <a:latin typeface="Consolas"/>
              </a:rPr>
              <a:t>[</a:t>
            </a:r>
            <a:r>
              <a:rPr sz="1100">
                <a:solidFill>
                  <a:srgbClr val="E8F6EF"/>
                </a:solidFill>
                <a:latin typeface="Consolas"/>
              </a:rPr>
              <a:t>i</a:t>
            </a:r>
            <a:r>
              <a:rPr sz="1100">
                <a:solidFill>
                  <a:srgbClr val="E8F6EF"/>
                </a:solidFill>
                <a:latin typeface="Consolas"/>
              </a:rPr>
              <a:t>]</a:t>
            </a:r>
            <a:r>
              <a:rPr sz="1100">
                <a:solidFill>
                  <a:srgbClr val="E8F6EF"/>
                </a:solidFill>
                <a:latin typeface="Consolas"/>
              </a:rPr>
              <a:t>:</a:t>
            </a:r>
            <a:r>
              <a:rPr sz="1100">
                <a:solidFill>
                  <a:srgbClr val="E8F6EF"/>
                </a:solidFill>
                <a:latin typeface="Consolas"/>
              </a:rPr>
              <a:t>&gt;</a:t>
            </a:r>
            <a:r>
              <a:rPr sz="1100">
                <a:solidFill>
                  <a:srgbClr val="F2D45F"/>
                </a:solidFill>
                <a:latin typeface="Consolas"/>
              </a:rPr>
              <a:t>10</a:t>
            </a:r>
            <a:r>
              <a:rPr sz="1100">
                <a:solidFill>
                  <a:srgbClr val="E8F6EF"/>
                </a:solidFill>
                <a:latin typeface="Consolas"/>
              </a:rPr>
              <a:t>,</a:t>
            </a:r>
            <a:r>
              <a:rPr sz="1100">
                <a:solidFill>
                  <a:srgbClr val="F2D45F"/>
                </a:solidFill>
                <a:latin typeface="Consolas"/>
              </a:rPr>
              <a:t>.0</a:t>
            </a:r>
            <a:r>
              <a:rPr sz="1100">
                <a:solidFill>
                  <a:srgbClr val="E8F6EF"/>
                </a:solidFill>
                <a:latin typeface="Consolas"/>
              </a:rPr>
              <a:t>f</a:t>
            </a:r>
            <a:r>
              <a:rPr sz="1100">
                <a:solidFill>
                  <a:srgbClr val="E8F6EF"/>
                </a:solidFill>
                <a:latin typeface="Consolas"/>
              </a:rPr>
              <a:t>}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,</a:t>
            </a:r>
            <a:r>
              <a:rPr sz="1100">
                <a:solidFill>
                  <a:srgbClr val="E8F6EF"/>
                </a:solidFill>
                <a:latin typeface="Consolas"/>
              </a:rPr>
              <a:t> </a:t>
            </a:r>
            <a:r>
              <a:rPr sz="1100">
                <a:solidFill>
                  <a:srgbClr val="E8F6EF"/>
                </a:solidFill>
                <a:latin typeface="Consolas"/>
              </a:rPr>
              <a:t>{</a:t>
            </a:r>
            <a:r>
              <a:rPr sz="1100">
                <a:solidFill>
                  <a:srgbClr val="E8F6EF"/>
                </a:solidFill>
                <a:latin typeface="Consolas"/>
              </a:rPr>
              <a:t>upper</a:t>
            </a:r>
            <a:r>
              <a:rPr sz="1100">
                <a:solidFill>
                  <a:srgbClr val="E8F6EF"/>
                </a:solidFill>
                <a:latin typeface="Consolas"/>
              </a:rPr>
              <a:t>[</a:t>
            </a:r>
            <a:r>
              <a:rPr sz="1100">
                <a:solidFill>
                  <a:srgbClr val="E8F6EF"/>
                </a:solidFill>
                <a:latin typeface="Consolas"/>
              </a:rPr>
              <a:t>i</a:t>
            </a:r>
            <a:r>
              <a:rPr sz="1100">
                <a:solidFill>
                  <a:srgbClr val="E8F6EF"/>
                </a:solidFill>
                <a:latin typeface="Consolas"/>
              </a:rPr>
              <a:t>]</a:t>
            </a:r>
            <a:r>
              <a:rPr sz="1100">
                <a:solidFill>
                  <a:srgbClr val="E8F6EF"/>
                </a:solidFill>
                <a:latin typeface="Consolas"/>
              </a:rPr>
              <a:t>:</a:t>
            </a:r>
            <a:r>
              <a:rPr sz="1100">
                <a:solidFill>
                  <a:srgbClr val="E8F6EF"/>
                </a:solidFill>
                <a:latin typeface="Consolas"/>
              </a:rPr>
              <a:t>&gt;</a:t>
            </a:r>
            <a:r>
              <a:rPr sz="1100">
                <a:solidFill>
                  <a:srgbClr val="F2D45F"/>
                </a:solidFill>
                <a:latin typeface="Consolas"/>
              </a:rPr>
              <a:t>10</a:t>
            </a:r>
            <a:r>
              <a:rPr sz="1100">
                <a:solidFill>
                  <a:srgbClr val="E8F6EF"/>
                </a:solidFill>
                <a:latin typeface="Consolas"/>
              </a:rPr>
              <a:t>,</a:t>
            </a:r>
            <a:r>
              <a:rPr sz="1100">
                <a:solidFill>
                  <a:srgbClr val="F2D45F"/>
                </a:solidFill>
                <a:latin typeface="Consolas"/>
              </a:rPr>
              <a:t>.0</a:t>
            </a:r>
            <a:r>
              <a:rPr sz="1100">
                <a:solidFill>
                  <a:srgbClr val="E8F6EF"/>
                </a:solidFill>
                <a:latin typeface="Consolas"/>
              </a:rPr>
              <a:t>f</a:t>
            </a:r>
            <a:r>
              <a:rPr sz="1100">
                <a:solidFill>
                  <a:srgbClr val="E8F6EF"/>
                </a:solidFill>
                <a:latin typeface="Consolas"/>
              </a:rPr>
              <a:t>}</a:t>
            </a:r>
            <a:r>
              <a:rPr sz="1100">
                <a:solidFill>
                  <a:srgbClr val="E8F6EF"/>
                </a:solidFill>
                <a:latin typeface="Consolas"/>
              </a:rPr>
              <a:t>]</a:t>
            </a:r>
            <a:r>
              <a:rPr sz="1100">
                <a:solidFill>
                  <a:srgbClr val="F6B26B"/>
                </a:solidFill>
                <a:latin typeface="Consolas"/>
              </a:rPr>
              <a:t>')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3657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011680"/>
            <a:ext cx="91440" cy="1828800"/>
          </a:xfrm>
          <a:prstGeom prst="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1762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⚠️  통계적 보장은 아님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670048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‘트리들의 5~95% 범위’는 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엄밀한 90% 예측구간이 아님.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‘대략적 폭’으로만 해석.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931920"/>
            <a:ext cx="3657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3931920"/>
            <a:ext cx="91440" cy="128016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40965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💡 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59028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구간이 큰 샘플 = 모델이 ‘덜 확신’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→ 추가 데이터 수집 대상.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5303520"/>
            <a:ext cx="365760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5303520"/>
            <a:ext cx="91440" cy="96012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54681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524A"/>
                </a:solidFill>
                <a:latin typeface="맑은 고딕"/>
              </a:rPr>
              <a:t>📚  참고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59618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Mentch &amp; Hooker (2016) — RF의 통계적 추론 확장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53 / 66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9601200" y="4114800"/>
            <a:ext cx="1371600" cy="1371600"/>
          </a:xfrm>
          <a:prstGeom prst="triangle">
            <a:avLst/>
          </a:prstGeom>
          <a:solidFill>
            <a:srgbClr val="88D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0515600" y="4572000"/>
            <a:ext cx="1005840" cy="1005840"/>
          </a:xfrm>
          <a:prstGeom prst="triangl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8961120" y="4754880"/>
            <a:ext cx="822960" cy="822960"/>
          </a:xfrm>
          <a:prstGeom prst="triangl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194560" cy="50292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PART VII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맑은 고딕"/>
              </a:rPr>
              <a:t>활동 · 평가 · 마무리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03320"/>
            <a:ext cx="73152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FE3DA"/>
                </a:solidFill>
                <a:latin typeface="맑은 고딕"/>
              </a:rPr>
              <a:t>팀 실습 · 퀴즈 · 과제 · 루브릭 — 강의 현장에서 바로 쓰는 자료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ACTIVITY   실습 활동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활동 1 — 전처리 ‘감사(Audit)’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2~3인 팀 · 12분 · 데이터 품질 위험을 찾는다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69494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137160" cy="425196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031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6F5A"/>
                </a:solidFill>
                <a:latin typeface="맑은 고딕"/>
              </a:rPr>
              <a:t>🎯  목표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3774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B2A"/>
                </a:solidFill>
                <a:latin typeface="맑은 고딕"/>
              </a:rPr>
              <a:t>모델 학습 전, 데이터에 ‘숨은 함정’을 찾아 보고한다.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803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6F5A"/>
                </a:solidFill>
                <a:latin typeface="맑은 고딕"/>
              </a:rPr>
              <a:t>📝  진행 절차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291840"/>
            <a:ext cx="146304" cy="146304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20040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1) 팀별로 mileage / engine / max_power / torque 중 하나의 컬럼을 맡는다.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840480"/>
            <a:ext cx="146304" cy="146304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74904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2) 원본 값에서 ‘이상한 패턴’ 5개 이상을 찾아 적는다 (예: bhp 단독, kgm 표기).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389120"/>
            <a:ext cx="146304" cy="146304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29768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3) 전처리 함수가 실패할 만한 값을 직접 코드로 재현해본다.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4937760"/>
            <a:ext cx="146304" cy="146304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84632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4) 변환 전후 dtype, NaN 개수, 요약통계를 비교한다.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5486400"/>
            <a:ext cx="146304" cy="146304"/>
          </a:xfrm>
          <a:prstGeom prst="ellipse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39496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5) ‘삭제 / 평균 대체 / 보정’ 중 어떤 전략이 적절한지 1문장으로 정한다.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2011680"/>
            <a:ext cx="40233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0" y="2011680"/>
            <a:ext cx="91440" cy="182880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36992" y="21762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📤  제출 산출물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2670048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• 컬럼별 ‘위험 패턴’ 2개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• 수정/검증 코드 1개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• 팀별 30초 발표 자료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3931920"/>
            <a:ext cx="4023360" cy="2331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80960" y="3931920"/>
            <a:ext cx="91440" cy="233172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36992" y="40965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💡  진행 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590288"/>
            <a:ext cx="35661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• Slack/공유 노트북에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  팀별 색깔 셀로 작성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• 강의자가 라운드로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  팀 진행도 확인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• 마지막 3분: 팀당 30초씩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  ‘가장 위험한 패턴’ 공유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355080"/>
            <a:ext cx="11155680" cy="4114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739128"/>
            <a:ext cx="10789920" cy="-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정답을 줄 필요 없다 — ‘이 데이터를 학습시키면 어떤 오류가 날까?’를 학생이 예측해보게 한다.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55 / 66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ACTIVITY   실습 활동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활동 2 — 모델 비교 (Default vs Tuned)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개별 또는 팀 · 15분 · 같은 기준으로 두 모델을 비교한다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7132320" cy="429768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activity2_template.py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67665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>
                <a:solidFill>
                  <a:srgbClr val="9AA7A0"/>
                </a:solidFill>
                <a:latin typeface="Consolas"/>
              </a:rPr>
              <a:t># 활동 템플릿: 학생이 채워 넣기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7BD389"/>
                </a:solidFill>
                <a:latin typeface="Consolas"/>
              </a:rPr>
              <a:t>from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sklearn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ensemble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7BD389"/>
                </a:solidFill>
                <a:latin typeface="Consolas"/>
              </a:rPr>
              <a:t>import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RandomForestRegressor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7BD389"/>
                </a:solidFill>
                <a:latin typeface="Consolas"/>
              </a:rPr>
              <a:t>from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sklearn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model_selection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7BD389"/>
                </a:solidFill>
                <a:latin typeface="Consolas"/>
              </a:rPr>
              <a:t>import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KFold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7BD389"/>
                </a:solidFill>
                <a:latin typeface="Consolas"/>
              </a:rPr>
              <a:t>from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sklearn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metrics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7BD389"/>
                </a:solidFill>
                <a:latin typeface="Consolas"/>
              </a:rPr>
              <a:t>import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mean_squared_error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7BD389"/>
                </a:solidFill>
                <a:latin typeface="Consolas"/>
              </a:rPr>
              <a:t>import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numpy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7BD389"/>
                </a:solidFill>
                <a:latin typeface="Consolas"/>
              </a:rPr>
              <a:t>as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np</a:t>
            </a:r>
          </a:p>
          <a:p>
            <a:pPr>
              <a:lnSpc>
                <a:spcPct val="115000"/>
              </a:lnSpc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7BD389"/>
                </a:solidFill>
                <a:latin typeface="Consolas"/>
              </a:rPr>
              <a:t>def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cv_rmse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model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X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y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k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F2D45F"/>
                </a:solidFill>
                <a:latin typeface="Consolas"/>
              </a:rPr>
              <a:t>5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  <a:r>
              <a:rPr sz="10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kf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KFold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n_splits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E8F6EF"/>
                </a:solidFill>
                <a:latin typeface="Consolas"/>
              </a:rPr>
              <a:t>k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shuffle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7BD389"/>
                </a:solidFill>
                <a:latin typeface="Consolas"/>
              </a:rPr>
              <a:t>True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random_state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F2D45F"/>
                </a:solidFill>
                <a:latin typeface="Consolas"/>
              </a:rPr>
              <a:t>100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scores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[</a:t>
            </a:r>
            <a:r>
              <a:rPr sz="10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7BD389"/>
                </a:solidFill>
                <a:latin typeface="Consolas"/>
              </a:rPr>
              <a:t>for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tr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te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7BD389"/>
                </a:solidFill>
                <a:latin typeface="Consolas"/>
              </a:rPr>
              <a:t>in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kf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split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X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  <a:r>
              <a:rPr sz="10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model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fit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X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iloc</a:t>
            </a:r>
            <a:r>
              <a:rPr sz="1050">
                <a:solidFill>
                  <a:srgbClr val="E8F6EF"/>
                </a:solidFill>
                <a:latin typeface="Consolas"/>
              </a:rPr>
              <a:t>[</a:t>
            </a:r>
            <a:r>
              <a:rPr sz="1050">
                <a:solidFill>
                  <a:srgbClr val="E8F6EF"/>
                </a:solidFill>
                <a:latin typeface="Consolas"/>
              </a:rPr>
              <a:t>tr</a:t>
            </a:r>
            <a:r>
              <a:rPr sz="1050">
                <a:solidFill>
                  <a:srgbClr val="E8F6EF"/>
                </a:solidFill>
                <a:latin typeface="Consolas"/>
              </a:rPr>
              <a:t>]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y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iloc</a:t>
            </a:r>
            <a:r>
              <a:rPr sz="1050">
                <a:solidFill>
                  <a:srgbClr val="E8F6EF"/>
                </a:solidFill>
                <a:latin typeface="Consolas"/>
              </a:rPr>
              <a:t>[</a:t>
            </a:r>
            <a:r>
              <a:rPr sz="1050">
                <a:solidFill>
                  <a:srgbClr val="E8F6EF"/>
                </a:solidFill>
                <a:latin typeface="Consolas"/>
              </a:rPr>
              <a:t>tr</a:t>
            </a:r>
            <a:r>
              <a:rPr sz="1050">
                <a:solidFill>
                  <a:srgbClr val="E8F6EF"/>
                </a:solidFill>
                <a:latin typeface="Consolas"/>
              </a:rPr>
              <a:t>]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pred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model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predict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X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iloc</a:t>
            </a:r>
            <a:r>
              <a:rPr sz="1050">
                <a:solidFill>
                  <a:srgbClr val="E8F6EF"/>
                </a:solidFill>
                <a:latin typeface="Consolas"/>
              </a:rPr>
              <a:t>[</a:t>
            </a:r>
            <a:r>
              <a:rPr sz="1050">
                <a:solidFill>
                  <a:srgbClr val="E8F6EF"/>
                </a:solidFill>
                <a:latin typeface="Consolas"/>
              </a:rPr>
              <a:t>te</a:t>
            </a:r>
            <a:r>
              <a:rPr sz="1050">
                <a:solidFill>
                  <a:srgbClr val="E8F6EF"/>
                </a:solidFill>
                <a:latin typeface="Consolas"/>
              </a:rPr>
              <a:t>]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scores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append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mean_squared_error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y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iloc</a:t>
            </a:r>
            <a:r>
              <a:rPr sz="1050">
                <a:solidFill>
                  <a:srgbClr val="E8F6EF"/>
                </a:solidFill>
                <a:latin typeface="Consolas"/>
              </a:rPr>
              <a:t>[</a:t>
            </a:r>
            <a:r>
              <a:rPr sz="1050">
                <a:solidFill>
                  <a:srgbClr val="E8F6EF"/>
                </a:solidFill>
                <a:latin typeface="Consolas"/>
              </a:rPr>
              <a:t>te</a:t>
            </a:r>
            <a:r>
              <a:rPr sz="1050">
                <a:solidFill>
                  <a:srgbClr val="E8F6EF"/>
                </a:solidFill>
                <a:latin typeface="Consolas"/>
              </a:rPr>
              <a:t>]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pred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*</a:t>
            </a:r>
            <a:r>
              <a:rPr sz="1050">
                <a:solidFill>
                  <a:srgbClr val="E8F6EF"/>
                </a:solidFill>
                <a:latin typeface="Consolas"/>
              </a:rPr>
              <a:t>*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F2D45F"/>
                </a:solidFill>
                <a:latin typeface="Consolas"/>
              </a:rPr>
              <a:t>0.5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7BD389"/>
                </a:solidFill>
                <a:latin typeface="Consolas"/>
              </a:rPr>
              <a:t>return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np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mean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scores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np</a:t>
            </a:r>
            <a:r>
              <a:rPr sz="1050">
                <a:solidFill>
                  <a:srgbClr val="E8F6EF"/>
                </a:solidFill>
                <a:latin typeface="Consolas"/>
              </a:rPr>
              <a:t>.</a:t>
            </a:r>
            <a:r>
              <a:rPr sz="1050">
                <a:solidFill>
                  <a:srgbClr val="E8F6EF"/>
                </a:solidFill>
                <a:latin typeface="Consolas"/>
              </a:rPr>
              <a:t>std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scores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default_model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RandomForestRegressor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random_state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F2D45F"/>
                </a:solidFill>
                <a:latin typeface="Consolas"/>
              </a:rPr>
              <a:t>100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tuned_model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RandomForestRegressor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9AA7A0"/>
                </a:solidFill>
                <a:latin typeface="Consolas"/>
              </a:rPr>
              <a:t># TODO: n_estimators · min_samples_leaf 중 한 개만 바꿔서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random_state</a:t>
            </a:r>
            <a:r>
              <a:rPr sz="1050">
                <a:solidFill>
                  <a:srgbClr val="E8F6EF"/>
                </a:solidFill>
                <a:latin typeface="Consolas"/>
              </a:rPr>
              <a:t>=</a:t>
            </a:r>
            <a:r>
              <a:rPr sz="1050">
                <a:solidFill>
                  <a:srgbClr val="F2D45F"/>
                </a:solidFill>
                <a:latin typeface="Consolas"/>
              </a:rPr>
              <a:t>100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8FB8E0"/>
                </a:solidFill>
                <a:latin typeface="Consolas"/>
              </a:rPr>
              <a:t>print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cv_rmse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default_model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X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y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8FB8E0"/>
                </a:solidFill>
                <a:latin typeface="Consolas"/>
              </a:rPr>
              <a:t>print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cv_rmse</a:t>
            </a:r>
            <a:r>
              <a:rPr sz="1050">
                <a:solidFill>
                  <a:srgbClr val="E8F6EF"/>
                </a:solidFill>
                <a:latin typeface="Consolas"/>
              </a:rPr>
              <a:t>(</a:t>
            </a:r>
            <a:r>
              <a:rPr sz="1050">
                <a:solidFill>
                  <a:srgbClr val="E8F6EF"/>
                </a:solidFill>
                <a:latin typeface="Consolas"/>
              </a:rPr>
              <a:t>tuned_model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X</a:t>
            </a:r>
            <a:r>
              <a:rPr sz="1050">
                <a:solidFill>
                  <a:srgbClr val="E8F6EF"/>
                </a:solidFill>
                <a:latin typeface="Consolas"/>
              </a:rPr>
              <a:t>,</a:t>
            </a:r>
            <a:r>
              <a:rPr sz="1050">
                <a:solidFill>
                  <a:srgbClr val="E8F6EF"/>
                </a:solidFill>
                <a:latin typeface="Consolas"/>
              </a:rPr>
              <a:t> </a:t>
            </a:r>
            <a:r>
              <a:rPr sz="1050">
                <a:solidFill>
                  <a:srgbClr val="E8F6EF"/>
                </a:solidFill>
                <a:latin typeface="Consolas"/>
              </a:rPr>
              <a:t>y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  <a:r>
              <a:rPr sz="105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2011680"/>
            <a:ext cx="38404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2011680"/>
            <a:ext cx="91440" cy="155448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217627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🎯  목표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2670048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‘파라미터 1개’만 바꿔 비교.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동시에 여러 개 바꾸지 말 것!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→ 효과 해석을 단순하게.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657600"/>
            <a:ext cx="38404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0" y="3657600"/>
            <a:ext cx="91440" cy="13716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2" y="382219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📤  제출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4315968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• 기본/튜닝 (RMSE 평균 ± std)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• 학습 시간 변화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• ‘선택한 모델과 이유’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5120640"/>
            <a:ext cx="38404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0" y="5120640"/>
            <a:ext cx="91440" cy="114300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9872" y="528523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24A"/>
                </a:solidFill>
                <a:latin typeface="맑은 고딕"/>
              </a:rPr>
              <a:t>🏆  보너스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2" y="5779008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더 낮은 RMSE보다 ‘낮은 std + 빠른 학습’ 조합에 가산점.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56 / 66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QUIZ   개념 퀴즈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개념 퀴즈 1 — 강의 중간 점검 (객관식)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수업 후 5~7분 — 학생들과 함께 풀어 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640080" cy="13258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11680"/>
            <a:ext cx="6400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2A44F"/>
                </a:solidFill>
                <a:latin typeface="맑은 고딕"/>
              </a:rPr>
              <a:t>Q1.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103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B2A"/>
                </a:solidFill>
                <a:latin typeface="맑은 고딕"/>
              </a:rPr>
              <a:t>str.split() 함수에서, 분리 결과를 각각의 새로운 컬럼으로 펼치는 매개변수는?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5146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맑은 고딕"/>
              </a:rPr>
              <a:t>① 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맑은 고딕"/>
              </a:rPr>
              <a:t>② expand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880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맑은 고딕"/>
              </a:rPr>
              <a:t>③ index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80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맑은 고딕"/>
              </a:rPr>
              <a:t>④ n_splits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29000"/>
            <a:ext cx="11155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429000"/>
            <a:ext cx="640080" cy="13258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29000"/>
            <a:ext cx="6400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2A44F"/>
                </a:solidFill>
                <a:latin typeface="맑은 고딕"/>
              </a:rPr>
              <a:t>Q2.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520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B2A"/>
                </a:solidFill>
                <a:latin typeface="맑은 고딕"/>
              </a:rPr>
              <a:t>다음 K-폴드 교차검증에 대한 설명 중 옳지 않은 것은?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31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맑은 고딕"/>
              </a:rPr>
              <a:t>① 여러 train/test 조합으로 평가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31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맑은 고딕"/>
              </a:rPr>
              <a:t>② n_splits=10 이면 10개 조합 생성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297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맑은 고딕"/>
              </a:rPr>
              <a:t>③ K-폴드를 쓰면 항상 RMSE가 더 낮다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97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맑은 고딕"/>
              </a:rPr>
              <a:t>④ 교차검증 결과가 더 신뢰 가능하다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46320"/>
            <a:ext cx="11155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4846320"/>
            <a:ext cx="640080" cy="13258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846320"/>
            <a:ext cx="6400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2A44F"/>
                </a:solidFill>
                <a:latin typeface="맑은 고딕"/>
              </a:rPr>
              <a:t>Q3.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937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B2A"/>
                </a:solidFill>
                <a:latin typeface="맑은 고딕"/>
              </a:rPr>
              <a:t>다음 랜덤 포레스트에 대한 설명 중 옳지 않은 것은?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349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맑은 고딕"/>
              </a:rPr>
              <a:t>① 트리 기반의 알고리즘이다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349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맑은 고딕"/>
              </a:rPr>
              <a:t>② 여러 트리의 평균/다수결로 최종 예측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715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맑은 고딕"/>
              </a:rPr>
              <a:t>③ 학습 속도가 결정 트리보다 빠르다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715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B68"/>
                </a:solidFill>
                <a:latin typeface="맑은 고딕"/>
              </a:rPr>
              <a:t>④ 결정 트리에 비해 모델 해석이 어렵다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309360"/>
            <a:ext cx="11155680" cy="4114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4008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693408"/>
            <a:ext cx="10789920" cy="-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정답: Q1=②, Q2=③, Q3=③.  손들기로 답 받고 즉시 해설.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57 / 66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QUIZ   개념 퀴즈 2 (서술형)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개념 퀴즈 2 — 한 줄로 답하기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이론·해석 깊이를 점검 (모범답안 동봉)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640080" cy="77724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11680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Q1.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08483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524A"/>
                </a:solidFill>
                <a:latin typeface="맑은 고딕"/>
              </a:rPr>
              <a:t>부트스트랩 샘플에서 한 관측치가 OOB가 될 확률은 ≈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3957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B2B2A"/>
                </a:solidFill>
                <a:latin typeface="맑은 고딕"/>
              </a:rPr>
              <a:t>→ ≈ 36.8 %.   (1 − 1/n)ⁿ → e⁻¹.  → 각 트리마다 ‘안 본’ 샘플이 생긴다.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852928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2852928"/>
            <a:ext cx="640080" cy="77724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52928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Q2.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926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524A"/>
                </a:solidFill>
                <a:latin typeface="맑은 고딕"/>
              </a:rPr>
              <a:t>랜덤 포레스트가 split마다 ‘일부 피처만’ 보는 이유는?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23697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B2B2A"/>
                </a:solidFill>
                <a:latin typeface="맑은 고딕"/>
              </a:rPr>
              <a:t>→ 강한 피처가 모든 트리를 비슷하게 만드는 것을 막아, 트리 간 상관 ρ를 낮추기 위해서.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94176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3694176"/>
            <a:ext cx="640080" cy="77724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94176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Q3.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7673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524A"/>
                </a:solidFill>
                <a:latin typeface="맑은 고딕"/>
              </a:rPr>
              <a:t>회귀 RF의 최종 예측은 어떻게 만들까?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07822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B2B2A"/>
                </a:solidFill>
                <a:latin typeface="맑은 고딕"/>
              </a:rPr>
              <a:t>→ 각 트리 예측값들의 평균 (분류는 다수결).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35424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4535424"/>
            <a:ext cx="640080" cy="77724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535424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Q4.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60857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524A"/>
                </a:solidFill>
                <a:latin typeface="맑은 고딕"/>
              </a:rPr>
              <a:t>train RMSE ≪ test RMSE 이면 무엇을 의심하나?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9194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B2B2A"/>
                </a:solidFill>
                <a:latin typeface="맑은 고딕"/>
              </a:rPr>
              <a:t>→ 과적합. 또는 train/test 분포가 다른 경우.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76672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5376672"/>
            <a:ext cx="640080" cy="77724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376672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Q5.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44982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524A"/>
                </a:solidFill>
                <a:latin typeface="맑은 고딕"/>
              </a:rPr>
              <a:t>GridSearchCV의 RMSE scoring 이 음수로 나오는 이유는?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B2B2A"/>
                </a:solidFill>
                <a:latin typeface="맑은 고딕"/>
              </a:rPr>
              <a:t>→ sklearn scoring은 ‘클수록 좋은’ 방향이므로 손실은 음수로 반환.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58 / 66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ASSIGN   과제 안내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과제 — 수업 후 1주일, 미니 리포트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성능 점수보다 ‘검증 절차의 타당성’으로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68580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11680"/>
            <a:ext cx="685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2A44F"/>
                </a:solidFill>
                <a:latin typeface="맑은 고딕"/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103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524A"/>
                </a:solidFill>
                <a:latin typeface="맑은 고딕"/>
              </a:rPr>
              <a:t>전처리 함수 1개 개선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176272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torque 또는 max_power 함수 1개를 개선해 ‘결측/오류 건수’ 전후 비교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862072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2862072"/>
            <a:ext cx="68580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62072"/>
            <a:ext cx="685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2A44F"/>
                </a:solidFill>
                <a:latin typeface="맑은 고딕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9535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524A"/>
                </a:solidFill>
                <a:latin typeface="맑은 고딕"/>
              </a:rPr>
              <a:t>3가지 모델 5-Fold CV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026664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기본 RandomForestRegressor · 튜닝 RandomForestRegressor · 단일 DecisionTreeRegressor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12464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3712464"/>
            <a:ext cx="68580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12464"/>
            <a:ext cx="685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2A44F"/>
                </a:solidFill>
                <a:latin typeface="맑은 고딕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80390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524A"/>
                </a:solidFill>
                <a:latin typeface="맑은 고딕"/>
              </a:rPr>
              <a:t>Top-15 변수 중요도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877056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MDI vs Permutation Importance 두 가지를 ‘동일 X’로 계산, 상위 15개 비교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62856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4562856"/>
            <a:ext cx="68580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562856"/>
            <a:ext cx="685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2A44F"/>
                </a:solidFill>
                <a:latin typeface="맑은 고딕"/>
              </a:rP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65429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524A"/>
                </a:solidFill>
                <a:latin typeface="맑은 고딕"/>
              </a:rPr>
              <a:t>모델의 한계 3가지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727448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데이터 · 모델 · 평가 관점에서 각 한 가지씩 (각 50자 이내)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413248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5413248"/>
            <a:ext cx="68580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413248"/>
            <a:ext cx="685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2A44F"/>
                </a:solidFill>
                <a:latin typeface="맑은 고딕"/>
              </a:rPr>
              <a:t>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5046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4524A"/>
                </a:solidFill>
                <a:latin typeface="맑은 고딕"/>
              </a:rPr>
              <a:t>1페이지 분석 요약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5577840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코드(주피터)와 함께 표·차트가 포함된 1쪽 분량의 요약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6355080"/>
            <a:ext cx="11155680" cy="4114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739128"/>
            <a:ext cx="10789920" cy="-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제출 형식: GitHub 또는 LMS — 코드는 노트북(.ipynb), 요약은 PDF 한 장.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59 / 66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RUBRIC   평가 루브릭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평가 루브릭 — 100점 만점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‘성능’보다 ‘과정’에 가중치를 둔다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146304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2011680"/>
            <a:ext cx="91440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20116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배점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011680"/>
            <a:ext cx="457200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20116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우수 (Excellent)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0" y="2011680"/>
            <a:ext cx="4206240" cy="54864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201168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</a:rPr>
              <a:t>보통 (Adequate)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560320"/>
            <a:ext cx="1463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56032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전처리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2560320"/>
            <a:ext cx="914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25603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2560320"/>
            <a:ext cx="4572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256032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단위 변환·결측·dtype 검증이 모두 재현 가능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2560320"/>
            <a:ext cx="4206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56032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주요 변환은 됨, 검증 절차 일부 누락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08960"/>
            <a:ext cx="146304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1089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모델링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3108960"/>
            <a:ext cx="9144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0" y="310896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3108960"/>
            <a:ext cx="45720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310896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기본·튜닝·비교 모델이 같은 방식으로 평가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0" y="3108960"/>
            <a:ext cx="420624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310896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기본/튜닝만, 비교 모델 없음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657600"/>
            <a:ext cx="1463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65760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검증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0" y="3657600"/>
            <a:ext cx="914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0" y="36576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80" y="3657600"/>
            <a:ext cx="4572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365760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CV 평균과 변동성을 함께 해석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0" y="3657600"/>
            <a:ext cx="4206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0" y="365760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평균만 보고, std 누락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206240"/>
            <a:ext cx="146304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20624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해석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0" y="4206240"/>
            <a:ext cx="9144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03120" y="420624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0" y="4206240"/>
            <a:ext cx="457200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420624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MDI vs Permutation 비교 + 편향 언급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80" y="4206240"/>
            <a:ext cx="4206240" cy="54864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89520" y="420624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한 가지만 사용, 편향 미언급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4754880"/>
            <a:ext cx="1463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75488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보고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11680" y="4754880"/>
            <a:ext cx="914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03120" y="47548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80" y="4754880"/>
            <a:ext cx="4572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0" y="475488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코드·표·결론이 일관되고 재현 가능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98080" y="4754880"/>
            <a:ext cx="4206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89520" y="475488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결론은 있으나 코드와 불일치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5852160"/>
            <a:ext cx="11155680" cy="77724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436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23620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‘우수’와 ‘보통’의 차이를 학생들에게 미리 공개하면 — 학생이 무엇을 향해 작업해야 하는지 명확해진다.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또한 ‘최고 점수’가 ‘낮은 RMSE’가 아니라 ‘재현 가능한 절차’임을 의도적으로 강조.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60 / 66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WRAP-UP   한 장 정리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랜덤 포레스트 — 한 장 정리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수업 마지막에 학생이 ‘이것만은 가져가야 한다’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777240"/>
          </a:xfrm>
          <a:prstGeom prst="round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1168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맑은 고딕"/>
              </a:rPr>
              <a:t>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1031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6F5A"/>
                </a:solidFill>
                <a:latin typeface="맑은 고딕"/>
              </a:rPr>
              <a:t>정의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057400"/>
            <a:ext cx="7680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결정 트리 + 배깅 + 랜덤 특성 선택.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회귀: 평균  ·  분류: 다수결.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862072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2862072"/>
            <a:ext cx="777240" cy="777240"/>
          </a:xfrm>
          <a:prstGeom prst="round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62072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맑은 고딕"/>
              </a:rPr>
              <a:t>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9535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FA68A"/>
                </a:solidFill>
                <a:latin typeface="맑은 고딕"/>
              </a:rPr>
              <a:t>다양성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907792"/>
            <a:ext cx="7680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행 → 부트스트랩,  열 → max_features.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‘트리 간 상관 ρ’ 낮추는 게 핵심.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12464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3712464"/>
            <a:ext cx="777240" cy="777240"/>
          </a:xfrm>
          <a:prstGeom prst="round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12464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맑은 고딕"/>
              </a:rPr>
              <a:t>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80390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B6FB6"/>
                </a:solidFill>
                <a:latin typeface="맑은 고딕"/>
              </a:rPr>
              <a:t>평가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758184"/>
            <a:ext cx="7680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RMSE 한 숫자 아닌 train/test gap,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K-Fold 변동(std), OOB까지 함께.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62856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4562856"/>
            <a:ext cx="777240" cy="777240"/>
          </a:xfrm>
          <a:prstGeom prst="round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562856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맑은 고딕"/>
              </a:rPr>
              <a:t>⚙️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65429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A44F"/>
                </a:solidFill>
                <a:latin typeface="맑은 고딕"/>
              </a:rPr>
              <a:t>튜닝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608576"/>
            <a:ext cx="7680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n_estimators · max_depth ·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min_samples_leaf · max_features 의미를 알고.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413248"/>
            <a:ext cx="11155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5413248"/>
            <a:ext cx="777240" cy="777240"/>
          </a:xfrm>
          <a:prstGeom prst="round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413248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맑은 고딕"/>
              </a:rPr>
              <a:t>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550468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47A2C"/>
                </a:solidFill>
                <a:latin typeface="맑은 고딕"/>
              </a:rPr>
              <a:t>해석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458968"/>
            <a:ext cx="7680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feature_importances_는 ‘기여도 힌트’.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B2B2A"/>
                </a:solidFill>
                <a:latin typeface="맑은 고딕"/>
              </a:rPr>
              <a:t>인과 해석으로 과장 금지.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6355080"/>
            <a:ext cx="11155680" cy="4114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739128"/>
            <a:ext cx="10789920" cy="-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마지막 질문: ‘RF가 좋은 baseline인 이유 1가지 · 조심할 점 1가지’ — 학생 한 명이 말하게 한다.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61 / 66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REF   참고 문헌 · 보강 자료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참고 문헌 — 학생 추천 순서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수업 후 더 깊이 들어갈 학생에게 ‘읽을 순서’ 제안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137160" cy="6858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0848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6F5A"/>
                </a:solidFill>
                <a:latin typeface="맑은 고딕"/>
              </a:rPr>
              <a:t>①  Breiman, L. (2001)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5915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4524A"/>
                </a:solidFill>
                <a:latin typeface="맑은 고딕"/>
              </a:rPr>
              <a:t>‘Random Forests’, Machine Learning, 45, 5-32.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0848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→ 랜덤 포레스트의 원전. 알고리즘과 OOB 정의.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761488"/>
            <a:ext cx="1115568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761488"/>
            <a:ext cx="137160" cy="685800"/>
          </a:xfrm>
          <a:prstGeom prst="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8346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3FA68A"/>
                </a:solidFill>
                <a:latin typeface="맑은 고딕"/>
              </a:rPr>
              <a:t>②  Liaw, A. &amp; Wiener, M. (2002)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108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4524A"/>
                </a:solidFill>
                <a:latin typeface="맑은 고딕"/>
              </a:rPr>
              <a:t>‘Classification and Regression by randomForest’, R News.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834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→ R 패키지 관점의 친절한 해설.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511296"/>
            <a:ext cx="1115568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511296"/>
            <a:ext cx="137160" cy="685800"/>
          </a:xfrm>
          <a:prstGeom prst="rect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5844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D47A2C"/>
                </a:solidFill>
                <a:latin typeface="맑은 고딕"/>
              </a:rPr>
              <a:t>③  Strobl et al. (2007)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858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4524A"/>
                </a:solidFill>
                <a:latin typeface="맑은 고딕"/>
              </a:rPr>
              <a:t>‘Bias in random forest variable importance’, BMC Bioinformatics.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5844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→ MDI 편향 — 변수 중요도 해석 시 필독.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261104"/>
            <a:ext cx="1115568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261104"/>
            <a:ext cx="137160" cy="685800"/>
          </a:xfrm>
          <a:prstGeom prst="rect">
            <a:avLst/>
          </a:prstGeom>
          <a:solidFill>
            <a:srgbClr val="3B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3342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3B6FB6"/>
                </a:solidFill>
                <a:latin typeface="맑은 고딕"/>
              </a:rPr>
              <a:t>④  Mentch &amp; Hooker (2016)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608576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4524A"/>
                </a:solidFill>
                <a:latin typeface="맑은 고딕"/>
              </a:rPr>
              <a:t>‘Quantifying Uncertainty in Random Forests’, JMLR.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3342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→ RF를 통계적 추론 도구로 확장.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010912"/>
            <a:ext cx="1115568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010912"/>
            <a:ext cx="137160" cy="68580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0840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⑤  Probst, P. et al. (2019)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3583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4524A"/>
                </a:solidFill>
                <a:latin typeface="맑은 고딕"/>
              </a:rPr>
              <a:t>‘Hyperparameters and tuning strategies for RF’, WIREs DMKD.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50840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→ 튜닝 가이드, 우선순위 파라미터 권장.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760720"/>
            <a:ext cx="1115568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5760720"/>
            <a:ext cx="137160" cy="685800"/>
          </a:xfrm>
          <a:prstGeom prst="rect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833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B5EA7"/>
                </a:solidFill>
                <a:latin typeface="맑은 고딕"/>
              </a:rPr>
              <a:t>⑥  scikit-learn User Guide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10819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4524A"/>
                </a:solidFill>
                <a:latin typeface="맑은 고딕"/>
              </a:rPr>
              <a:t>‘ensemble.RandomForestRegressor’ / ‘inspection’ 섹션.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58338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→ API와 PDP·permutation 코드 예제.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62 / 66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APPENDIX   전체 코드 뼈대 1: 전처리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부록 ① — preprocess_car() 함수화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수업 진행 후 학생 배포용 ‘축약 skeleton’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429768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ml9_preprocess.py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107899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50">
                <a:solidFill>
                  <a:srgbClr val="7BD389"/>
                </a:solidFill>
                <a:latin typeface="Consolas"/>
              </a:rPr>
              <a:t>import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pandas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as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pd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7BD389"/>
                </a:solidFill>
                <a:latin typeface="Consolas"/>
              </a:rPr>
              <a:t>import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numpy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as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np</a:t>
            </a:r>
          </a:p>
          <a:p>
            <a:pPr>
              <a:lnSpc>
                <a:spcPct val="100000"/>
              </a:lnSpc>
            </a:pPr>
            <a:r>
              <a:rPr sz="850"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7BD389"/>
                </a:solidFill>
                <a:latin typeface="Consolas"/>
              </a:rPr>
              <a:t>def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isFloat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E8F6EF"/>
                </a:solidFill>
                <a:latin typeface="Consolas"/>
              </a:rPr>
              <a:t>v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  <a:r>
              <a:rPr sz="8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try</a:t>
            </a:r>
            <a:r>
              <a:rPr sz="850">
                <a:solidFill>
                  <a:srgbClr val="E8F6EF"/>
                </a:solidFill>
                <a:latin typeface="Consolas"/>
              </a:rPr>
              <a:t>: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return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8FB8E0"/>
                </a:solidFill>
                <a:latin typeface="Consolas"/>
              </a:rPr>
              <a:t>float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E8F6EF"/>
                </a:solidFill>
                <a:latin typeface="Consolas"/>
              </a:rPr>
              <a:t>v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except</a:t>
            </a:r>
            <a:r>
              <a:rPr sz="850">
                <a:solidFill>
                  <a:srgbClr val="E8F6EF"/>
                </a:solidFill>
                <a:latin typeface="Consolas"/>
              </a:rPr>
              <a:t>: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return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np</a:t>
            </a:r>
            <a:r>
              <a:rPr sz="850">
                <a:solidFill>
                  <a:srgbClr val="E8F6EF"/>
                </a:solidFill>
                <a:latin typeface="Consolas"/>
              </a:rPr>
              <a:t>.</a:t>
            </a:r>
            <a:r>
              <a:rPr sz="850">
                <a:solidFill>
                  <a:srgbClr val="E8F6EF"/>
                </a:solidFill>
                <a:latin typeface="Consolas"/>
              </a:rPr>
              <a:t>NaN</a:t>
            </a:r>
          </a:p>
          <a:p>
            <a:pPr>
              <a:lnSpc>
                <a:spcPct val="100000"/>
              </a:lnSpc>
            </a:pPr>
            <a:r>
              <a:rPr sz="850"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7BD389"/>
                </a:solidFill>
                <a:latin typeface="Consolas"/>
              </a:rPr>
              <a:t>def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split_num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E8F6EF"/>
                </a:solidFill>
                <a:latin typeface="Consolas"/>
              </a:rPr>
              <a:t>x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  <a:r>
              <a:rPr sz="8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x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8FB8E0"/>
                </a:solidFill>
                <a:latin typeface="Consolas"/>
              </a:rPr>
              <a:t>str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E8F6EF"/>
                </a:solidFill>
                <a:latin typeface="Consolas"/>
              </a:rPr>
              <a:t>x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for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i</a:t>
            </a:r>
            <a:r>
              <a:rPr sz="850">
                <a:solidFill>
                  <a:srgbClr val="E8F6EF"/>
                </a:solidFill>
                <a:latin typeface="Consolas"/>
              </a:rPr>
              <a:t>,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ch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in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8FB8E0"/>
                </a:solidFill>
                <a:latin typeface="Consolas"/>
              </a:rPr>
              <a:t>enumerate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E8F6EF"/>
                </a:solidFill>
                <a:latin typeface="Consolas"/>
              </a:rPr>
              <a:t>x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  <a:r>
              <a:rPr sz="8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if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ch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not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in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F6B26B"/>
                </a:solidFill>
                <a:latin typeface="Consolas"/>
              </a:rPr>
              <a:t>'0123456789.'</a:t>
            </a:r>
            <a:r>
              <a:rPr sz="850">
                <a:solidFill>
                  <a:srgbClr val="E8F6EF"/>
                </a:solidFill>
                <a:latin typeface="Consolas"/>
              </a:rPr>
              <a:t>: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return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x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E8F6EF"/>
                </a:solidFill>
                <a:latin typeface="Consolas"/>
              </a:rPr>
              <a:t>:</a:t>
            </a:r>
            <a:r>
              <a:rPr sz="850">
                <a:solidFill>
                  <a:srgbClr val="E8F6EF"/>
                </a:solidFill>
                <a:latin typeface="Consolas"/>
              </a:rPr>
              <a:t>i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return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x</a:t>
            </a:r>
          </a:p>
          <a:p>
            <a:pPr>
              <a:lnSpc>
                <a:spcPct val="100000"/>
              </a:lnSpc>
            </a:pPr>
            <a:r>
              <a:rPr sz="850"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7BD389"/>
                </a:solidFill>
                <a:latin typeface="Consolas"/>
              </a:rPr>
              <a:t>def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preprocess_car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  <a:r>
              <a:rPr sz="85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.</a:t>
            </a:r>
            <a:r>
              <a:rPr sz="850">
                <a:solidFill>
                  <a:srgbClr val="E8F6EF"/>
                </a:solidFill>
                <a:latin typeface="Consolas"/>
              </a:rPr>
              <a:t>copy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9AA7A0"/>
                </a:solidFill>
                <a:latin typeface="Consolas"/>
              </a:rPr>
              <a:t># 1) engine 'CC' 제거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F6B26B"/>
                </a:solidFill>
                <a:latin typeface="Consolas"/>
              </a:rPr>
              <a:t>'engine'</a:t>
            </a:r>
            <a:r>
              <a:rPr sz="850">
                <a:solidFill>
                  <a:srgbClr val="E8F6EF"/>
                </a:solidFill>
                <a:latin typeface="Consolas"/>
              </a:rPr>
              <a:t>,</a:t>
            </a:r>
            <a:r>
              <a:rPr sz="850">
                <a:solidFill>
                  <a:srgbClr val="F6B26B"/>
                </a:solidFill>
                <a:latin typeface="Consolas"/>
              </a:rPr>
              <a:t>'_u'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F6B26B"/>
                </a:solidFill>
                <a:latin typeface="Consolas"/>
              </a:rPr>
              <a:t>'engine'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  <a:r>
              <a:rPr sz="850">
                <a:solidFill>
                  <a:srgbClr val="E8F6EF"/>
                </a:solidFill>
                <a:latin typeface="Consolas"/>
              </a:rPr>
              <a:t>.</a:t>
            </a:r>
            <a:r>
              <a:rPr sz="850">
                <a:solidFill>
                  <a:srgbClr val="8FB8E0"/>
                </a:solidFill>
                <a:latin typeface="Consolas"/>
              </a:rPr>
              <a:t>str</a:t>
            </a:r>
            <a:r>
              <a:rPr sz="850">
                <a:solidFill>
                  <a:srgbClr val="E8F6EF"/>
                </a:solidFill>
                <a:latin typeface="Consolas"/>
              </a:rPr>
              <a:t>.</a:t>
            </a:r>
            <a:r>
              <a:rPr sz="850">
                <a:solidFill>
                  <a:srgbClr val="E8F6EF"/>
                </a:solidFill>
                <a:latin typeface="Consolas"/>
              </a:rPr>
              <a:t>split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E8F6EF"/>
                </a:solidFill>
                <a:latin typeface="Consolas"/>
              </a:rPr>
              <a:t>expand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7BD389"/>
                </a:solidFill>
                <a:latin typeface="Consolas"/>
              </a:rPr>
              <a:t>True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F6B26B"/>
                </a:solidFill>
                <a:latin typeface="Consolas"/>
              </a:rPr>
              <a:t>'engine'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F6B26B"/>
                </a:solidFill>
                <a:latin typeface="Consolas"/>
              </a:rPr>
              <a:t>'engine'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  <a:r>
              <a:rPr sz="850">
                <a:solidFill>
                  <a:srgbClr val="E8F6EF"/>
                </a:solidFill>
                <a:latin typeface="Consolas"/>
              </a:rPr>
              <a:t>.</a:t>
            </a:r>
            <a:r>
              <a:rPr sz="850">
                <a:solidFill>
                  <a:srgbClr val="E8F6EF"/>
                </a:solidFill>
                <a:latin typeface="Consolas"/>
              </a:rPr>
              <a:t>astype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F6B26B"/>
                </a:solidFill>
                <a:latin typeface="Consolas"/>
              </a:rPr>
              <a:t>'float32'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.</a:t>
            </a:r>
            <a:r>
              <a:rPr sz="850">
                <a:solidFill>
                  <a:srgbClr val="E8F6EF"/>
                </a:solidFill>
                <a:latin typeface="Consolas"/>
              </a:rPr>
              <a:t>drop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F6B26B"/>
                </a:solidFill>
                <a:latin typeface="Consolas"/>
              </a:rPr>
              <a:t>'_u'</a:t>
            </a:r>
            <a:r>
              <a:rPr sz="850">
                <a:solidFill>
                  <a:srgbClr val="E8F6EF"/>
                </a:solidFill>
                <a:latin typeface="Consolas"/>
              </a:rPr>
              <a:t>,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axis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F2D45F"/>
                </a:solidFill>
                <a:latin typeface="Consolas"/>
              </a:rPr>
              <a:t>1</a:t>
            </a:r>
            <a:r>
              <a:rPr sz="850">
                <a:solidFill>
                  <a:srgbClr val="E8F6EF"/>
                </a:solidFill>
                <a:latin typeface="Consolas"/>
              </a:rPr>
              <a:t>,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inplace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7BD389"/>
                </a:solidFill>
                <a:latin typeface="Consolas"/>
              </a:rPr>
              <a:t>True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850"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9AA7A0"/>
                </a:solidFill>
                <a:latin typeface="Consolas"/>
              </a:rPr>
              <a:t># 2) max_power — try/except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F6B26B"/>
                </a:solidFill>
                <a:latin typeface="Consolas"/>
              </a:rPr>
              <a:t>'max_power'</a:t>
            </a:r>
            <a:r>
              <a:rPr sz="850">
                <a:solidFill>
                  <a:srgbClr val="E8F6EF"/>
                </a:solidFill>
                <a:latin typeface="Consolas"/>
              </a:rPr>
              <a:t>,</a:t>
            </a:r>
            <a:r>
              <a:rPr sz="850">
                <a:solidFill>
                  <a:srgbClr val="F6B26B"/>
                </a:solidFill>
                <a:latin typeface="Consolas"/>
              </a:rPr>
              <a:t>'_u'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F6B26B"/>
                </a:solidFill>
                <a:latin typeface="Consolas"/>
              </a:rPr>
              <a:t>'max_power'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  <a:r>
              <a:rPr sz="850">
                <a:solidFill>
                  <a:srgbClr val="E8F6EF"/>
                </a:solidFill>
                <a:latin typeface="Consolas"/>
              </a:rPr>
              <a:t>.</a:t>
            </a:r>
            <a:r>
              <a:rPr sz="850">
                <a:solidFill>
                  <a:srgbClr val="8FB8E0"/>
                </a:solidFill>
                <a:latin typeface="Consolas"/>
              </a:rPr>
              <a:t>str</a:t>
            </a:r>
            <a:r>
              <a:rPr sz="850">
                <a:solidFill>
                  <a:srgbClr val="E8F6EF"/>
                </a:solidFill>
                <a:latin typeface="Consolas"/>
              </a:rPr>
              <a:t>.</a:t>
            </a:r>
            <a:r>
              <a:rPr sz="850">
                <a:solidFill>
                  <a:srgbClr val="E8F6EF"/>
                </a:solidFill>
                <a:latin typeface="Consolas"/>
              </a:rPr>
              <a:t>split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E8F6EF"/>
                </a:solidFill>
                <a:latin typeface="Consolas"/>
              </a:rPr>
              <a:t>expand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7BD389"/>
                </a:solidFill>
                <a:latin typeface="Consolas"/>
              </a:rPr>
              <a:t>True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F6B26B"/>
                </a:solidFill>
                <a:latin typeface="Consolas"/>
              </a:rPr>
              <a:t>'max_power'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[</a:t>
            </a:r>
            <a:r>
              <a:rPr sz="850">
                <a:solidFill>
                  <a:srgbClr val="F6B26B"/>
                </a:solidFill>
                <a:latin typeface="Consolas"/>
              </a:rPr>
              <a:t>'max_power'</a:t>
            </a:r>
            <a:r>
              <a:rPr sz="850">
                <a:solidFill>
                  <a:srgbClr val="E8F6EF"/>
                </a:solidFill>
                <a:latin typeface="Consolas"/>
              </a:rPr>
              <a:t>]</a:t>
            </a:r>
            <a:r>
              <a:rPr sz="850">
                <a:solidFill>
                  <a:srgbClr val="E8F6EF"/>
                </a:solidFill>
                <a:latin typeface="Consolas"/>
              </a:rPr>
              <a:t>.</a:t>
            </a:r>
            <a:r>
              <a:rPr sz="850">
                <a:solidFill>
                  <a:srgbClr val="E8F6EF"/>
                </a:solidFill>
                <a:latin typeface="Consolas"/>
              </a:rPr>
              <a:t>apply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E8F6EF"/>
                </a:solidFill>
                <a:latin typeface="Consolas"/>
              </a:rPr>
              <a:t>isFloat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  <a:r>
              <a:rPr sz="850">
                <a:solidFill>
                  <a:srgbClr val="E8F6EF"/>
                </a:solidFill>
                <a:latin typeface="Consolas"/>
              </a:rPr>
              <a:t>.</a:t>
            </a:r>
            <a:r>
              <a:rPr sz="850">
                <a:solidFill>
                  <a:srgbClr val="E8F6EF"/>
                </a:solidFill>
                <a:latin typeface="Consolas"/>
              </a:rPr>
              <a:t>drop</a:t>
            </a:r>
            <a:r>
              <a:rPr sz="850">
                <a:solidFill>
                  <a:srgbClr val="E8F6EF"/>
                </a:solidFill>
                <a:latin typeface="Consolas"/>
              </a:rPr>
              <a:t>(</a:t>
            </a:r>
            <a:r>
              <a:rPr sz="850">
                <a:solidFill>
                  <a:srgbClr val="F6B26B"/>
                </a:solidFill>
                <a:latin typeface="Consolas"/>
              </a:rPr>
              <a:t>'_u'</a:t>
            </a:r>
            <a:r>
              <a:rPr sz="850">
                <a:solidFill>
                  <a:srgbClr val="E8F6EF"/>
                </a:solidFill>
                <a:latin typeface="Consolas"/>
              </a:rPr>
              <a:t>,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axis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F2D45F"/>
                </a:solidFill>
                <a:latin typeface="Consolas"/>
              </a:rPr>
              <a:t>1</a:t>
            </a:r>
            <a:r>
              <a:rPr sz="850">
                <a:solidFill>
                  <a:srgbClr val="E8F6EF"/>
                </a:solidFill>
                <a:latin typeface="Consolas"/>
              </a:rPr>
              <a:t>,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inplace</a:t>
            </a:r>
            <a:r>
              <a:rPr sz="850">
                <a:solidFill>
                  <a:srgbClr val="E8F6EF"/>
                </a:solidFill>
                <a:latin typeface="Consolas"/>
              </a:rPr>
              <a:t>=</a:t>
            </a:r>
            <a:r>
              <a:rPr sz="850">
                <a:solidFill>
                  <a:srgbClr val="7BD389"/>
                </a:solidFill>
                <a:latin typeface="Consolas"/>
              </a:rPr>
              <a:t>True</a:t>
            </a:r>
            <a:r>
              <a:rPr sz="85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850"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9AA7A0"/>
                </a:solidFill>
                <a:latin typeface="Consolas"/>
              </a:rPr>
              <a:t># 3) mileage — 연료별 단가 (간략화)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9AA7A0"/>
                </a:solidFill>
                <a:latin typeface="Consolas"/>
              </a:rPr>
              <a:t># 4) torque — 4-step + 단위 변환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9AA7A0"/>
                </a:solidFill>
                <a:latin typeface="Consolas"/>
              </a:rPr>
              <a:t># 5) name — 첫 단어만, Land → Land Rover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9AA7A0"/>
                </a:solidFill>
                <a:latin typeface="Consolas"/>
              </a:rPr>
              <a:t># 6) dropna + get_dummies(drop_first=True)</a:t>
            </a:r>
          </a:p>
          <a:p>
            <a:pPr>
              <a:lnSpc>
                <a:spcPct val="100000"/>
              </a:lnSpc>
            </a:pP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7BD389"/>
                </a:solidFill>
                <a:latin typeface="Consolas"/>
              </a:rPr>
              <a:t>return</a:t>
            </a:r>
            <a:r>
              <a:rPr sz="850">
                <a:solidFill>
                  <a:srgbClr val="E8F6EF"/>
                </a:solidFill>
                <a:latin typeface="Consolas"/>
              </a:rPr>
              <a:t> </a:t>
            </a:r>
            <a:r>
              <a:rPr sz="850">
                <a:solidFill>
                  <a:srgbClr val="E8F6EF"/>
                </a:solidFill>
                <a:latin typeface="Consolas"/>
              </a:rPr>
              <a:t>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355080"/>
            <a:ext cx="11155680" cy="4114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739128"/>
            <a:ext cx="10789920" cy="-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함수화하면 CV 안에서도 ‘train으로 fit → test에 transform’ 패턴으로 확장 가능 (Pipeline + ColumnTransformer).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63 / 66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APPENDIX   전체 코드 뼈대 2: 평가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부록 ② — evaluate() 함수화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여러 모델을 ‘같은 잣대’로 비교 — 반복 가능한 패턴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155680" cy="4297680"/>
          </a:xfrm>
          <a:prstGeom prst="roundRect">
            <a:avLst/>
          </a:prstGeom>
          <a:solidFill>
            <a:srgbClr val="0E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15798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215798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" y="215798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2140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9AA7A0"/>
                </a:solidFill>
                <a:latin typeface="Consolas"/>
              </a:rPr>
              <a:t>ml9_evaluate.py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107899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>
                <a:solidFill>
                  <a:srgbClr val="7BD389"/>
                </a:solidFill>
                <a:latin typeface="Consolas"/>
              </a:rPr>
              <a:t>from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sklearn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model_selection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7BD389"/>
                </a:solidFill>
                <a:latin typeface="Consolas"/>
              </a:rPr>
              <a:t>import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KFold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7BD389"/>
                </a:solidFill>
                <a:latin typeface="Consolas"/>
              </a:rPr>
              <a:t>from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sklearn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metrics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7BD389"/>
                </a:solidFill>
                <a:latin typeface="Consolas"/>
              </a:rPr>
              <a:t>import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mean_squared_error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7BD389"/>
                </a:solidFill>
                <a:latin typeface="Consolas"/>
              </a:rPr>
              <a:t>import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numpy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7BD389"/>
                </a:solidFill>
                <a:latin typeface="Consolas"/>
              </a:rPr>
              <a:t>as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np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7BD389"/>
                </a:solidFill>
                <a:latin typeface="Consolas"/>
              </a:rPr>
              <a:t>import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time</a:t>
            </a:r>
          </a:p>
          <a:p>
            <a:pPr>
              <a:lnSpc>
                <a:spcPct val="100000"/>
              </a:lnSpc>
            </a:pPr>
            <a:r>
              <a:rPr sz="900"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7BD389"/>
                </a:solidFill>
                <a:latin typeface="Consolas"/>
              </a:rPr>
              <a:t>def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evaluate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model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X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y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k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F2D45F"/>
                </a:solidFill>
                <a:latin typeface="Consolas"/>
              </a:rPr>
              <a:t>5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seed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F2D45F"/>
                </a:solidFill>
                <a:latin typeface="Consolas"/>
              </a:rPr>
              <a:t>100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kf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KFold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n_splits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E8F6EF"/>
                </a:solidFill>
                <a:latin typeface="Consolas"/>
              </a:rPr>
              <a:t>k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shuffle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7BD389"/>
                </a:solidFill>
                <a:latin typeface="Consolas"/>
              </a:rPr>
              <a:t>True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random_state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E8F6EF"/>
                </a:solidFill>
                <a:latin typeface="Consolas"/>
              </a:rPr>
              <a:t>seed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rmses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times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[</a:t>
            </a:r>
            <a:r>
              <a:rPr sz="900">
                <a:solidFill>
                  <a:srgbClr val="E8F6EF"/>
                </a:solidFill>
                <a:latin typeface="Consolas"/>
              </a:rPr>
              <a:t>]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[</a:t>
            </a:r>
            <a:r>
              <a:rPr sz="900">
                <a:solidFill>
                  <a:srgbClr val="E8F6EF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7BD389"/>
                </a:solidFill>
                <a:latin typeface="Consolas"/>
              </a:rPr>
              <a:t>for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tr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te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7BD389"/>
                </a:solidFill>
                <a:latin typeface="Consolas"/>
              </a:rPr>
              <a:t>in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kf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split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X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t0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time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time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model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fit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X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iloc</a:t>
            </a:r>
            <a:r>
              <a:rPr sz="900">
                <a:solidFill>
                  <a:srgbClr val="E8F6EF"/>
                </a:solidFill>
                <a:latin typeface="Consolas"/>
              </a:rPr>
              <a:t>[</a:t>
            </a:r>
            <a:r>
              <a:rPr sz="900">
                <a:solidFill>
                  <a:srgbClr val="E8F6EF"/>
                </a:solidFill>
                <a:latin typeface="Consolas"/>
              </a:rPr>
              <a:t>tr</a:t>
            </a:r>
            <a:r>
              <a:rPr sz="900">
                <a:solidFill>
                  <a:srgbClr val="E8F6EF"/>
                </a:solidFill>
                <a:latin typeface="Consolas"/>
              </a:rPr>
              <a:t>]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y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iloc</a:t>
            </a:r>
            <a:r>
              <a:rPr sz="900">
                <a:solidFill>
                  <a:srgbClr val="E8F6EF"/>
                </a:solidFill>
                <a:latin typeface="Consolas"/>
              </a:rPr>
              <a:t>[</a:t>
            </a:r>
            <a:r>
              <a:rPr sz="900">
                <a:solidFill>
                  <a:srgbClr val="E8F6EF"/>
                </a:solidFill>
                <a:latin typeface="Consolas"/>
              </a:rPr>
              <a:t>tr</a:t>
            </a:r>
            <a:r>
              <a:rPr sz="900">
                <a:solidFill>
                  <a:srgbClr val="E8F6EF"/>
                </a:solidFill>
                <a:latin typeface="Consolas"/>
              </a:rPr>
              <a:t>]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pred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model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predict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X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iloc</a:t>
            </a:r>
            <a:r>
              <a:rPr sz="900">
                <a:solidFill>
                  <a:srgbClr val="E8F6EF"/>
                </a:solidFill>
                <a:latin typeface="Consolas"/>
              </a:rPr>
              <a:t>[</a:t>
            </a:r>
            <a:r>
              <a:rPr sz="900">
                <a:solidFill>
                  <a:srgbClr val="E8F6EF"/>
                </a:solidFill>
                <a:latin typeface="Consolas"/>
              </a:rPr>
              <a:t>te</a:t>
            </a:r>
            <a:r>
              <a:rPr sz="900">
                <a:solidFill>
                  <a:srgbClr val="E8F6EF"/>
                </a:solidFill>
                <a:latin typeface="Consolas"/>
              </a:rPr>
              <a:t>]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rmses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append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mean_squared_error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y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iloc</a:t>
            </a:r>
            <a:r>
              <a:rPr sz="900">
                <a:solidFill>
                  <a:srgbClr val="E8F6EF"/>
                </a:solidFill>
                <a:latin typeface="Consolas"/>
              </a:rPr>
              <a:t>[</a:t>
            </a:r>
            <a:r>
              <a:rPr sz="900">
                <a:solidFill>
                  <a:srgbClr val="E8F6EF"/>
                </a:solidFill>
                <a:latin typeface="Consolas"/>
              </a:rPr>
              <a:t>te</a:t>
            </a:r>
            <a:r>
              <a:rPr sz="900">
                <a:solidFill>
                  <a:srgbClr val="E8F6EF"/>
                </a:solidFill>
                <a:latin typeface="Consolas"/>
              </a:rPr>
              <a:t>]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pred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*</a:t>
            </a:r>
            <a:r>
              <a:rPr sz="900">
                <a:solidFill>
                  <a:srgbClr val="E8F6EF"/>
                </a:solidFill>
                <a:latin typeface="Consolas"/>
              </a:rPr>
              <a:t>*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F2D45F"/>
                </a:solidFill>
                <a:latin typeface="Consolas"/>
              </a:rPr>
              <a:t>0.5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times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append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time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time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-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t0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7BD389"/>
                </a:solidFill>
                <a:latin typeface="Consolas"/>
              </a:rPr>
              <a:t>return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F6B26B"/>
                </a:solidFill>
                <a:latin typeface="Consolas"/>
              </a:rPr>
              <a:t>'mean_rmse'</a:t>
            </a:r>
            <a:r>
              <a:rPr sz="900">
                <a:solidFill>
                  <a:srgbClr val="E8F6EF"/>
                </a:solidFill>
                <a:latin typeface="Consolas"/>
              </a:rPr>
              <a:t>: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8FB8E0"/>
                </a:solidFill>
                <a:latin typeface="Consolas"/>
              </a:rPr>
              <a:t>float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np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mean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rmses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F6B26B"/>
                </a:solidFill>
                <a:latin typeface="Consolas"/>
              </a:rPr>
              <a:t>'std_rmse'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: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8FB8E0"/>
                </a:solidFill>
                <a:latin typeface="Consolas"/>
              </a:rPr>
              <a:t>float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np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std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rmses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F6B26B"/>
                </a:solidFill>
                <a:latin typeface="Consolas"/>
              </a:rPr>
              <a:t>'mean_time'</a:t>
            </a:r>
            <a:r>
              <a:rPr sz="900">
                <a:solidFill>
                  <a:srgbClr val="E8F6EF"/>
                </a:solidFill>
                <a:latin typeface="Consolas"/>
              </a:rPr>
              <a:t>: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8FB8E0"/>
                </a:solidFill>
                <a:latin typeface="Consolas"/>
              </a:rPr>
              <a:t>float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np</a:t>
            </a:r>
            <a:r>
              <a:rPr sz="900">
                <a:solidFill>
                  <a:srgbClr val="E8F6EF"/>
                </a:solidFill>
                <a:latin typeface="Consolas"/>
              </a:rPr>
              <a:t>.</a:t>
            </a:r>
            <a:r>
              <a:rPr sz="900">
                <a:solidFill>
                  <a:srgbClr val="E8F6EF"/>
                </a:solidFill>
                <a:latin typeface="Consolas"/>
              </a:rPr>
              <a:t>mean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times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900"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9AA7A0"/>
                </a:solidFill>
                <a:latin typeface="Consolas"/>
              </a:rPr>
              <a:t># 사용 예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8FB8E0"/>
                </a:solidFill>
                <a:latin typeface="Consolas"/>
              </a:rPr>
              <a:t>print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evaluate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RandomForestRegressor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random_state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F2D45F"/>
                </a:solidFill>
                <a:latin typeface="Consolas"/>
              </a:rPr>
              <a:t>100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X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y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8FB8E0"/>
                </a:solidFill>
                <a:latin typeface="Consolas"/>
              </a:rPr>
              <a:t>print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evaluate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RandomForestRegressor</a:t>
            </a:r>
            <a:r>
              <a:rPr sz="900">
                <a:solidFill>
                  <a:srgbClr val="E8F6EF"/>
                </a:solidFill>
                <a:latin typeface="Consolas"/>
              </a:rPr>
              <a:t>(</a:t>
            </a:r>
            <a:r>
              <a:rPr sz="900">
                <a:solidFill>
                  <a:srgbClr val="E8F6EF"/>
                </a:solidFill>
                <a:latin typeface="Consolas"/>
              </a:rPr>
              <a:t>n_estimators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F2D45F"/>
                </a:solidFill>
                <a:latin typeface="Consolas"/>
              </a:rPr>
              <a:t>300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max_depth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F2D45F"/>
                </a:solidFill>
                <a:latin typeface="Consolas"/>
              </a:rPr>
              <a:t>50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min_samples_split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F2D45F"/>
                </a:solidFill>
                <a:latin typeface="Consolas"/>
              </a:rPr>
              <a:t>5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n_jobs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E8F6EF"/>
                </a:solidFill>
                <a:latin typeface="Consolas"/>
              </a:rPr>
              <a:t>-</a:t>
            </a:r>
            <a:r>
              <a:rPr sz="900">
                <a:solidFill>
                  <a:srgbClr val="F2D45F"/>
                </a:solidFill>
                <a:latin typeface="Consolas"/>
              </a:rPr>
              <a:t>1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random_state</a:t>
            </a:r>
            <a:r>
              <a:rPr sz="900">
                <a:solidFill>
                  <a:srgbClr val="E8F6EF"/>
                </a:solidFill>
                <a:latin typeface="Consolas"/>
              </a:rPr>
              <a:t>=</a:t>
            </a:r>
            <a:r>
              <a:rPr sz="900">
                <a:solidFill>
                  <a:srgbClr val="F2D45F"/>
                </a:solidFill>
                <a:latin typeface="Consolas"/>
              </a:rPr>
              <a:t>100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X</a:t>
            </a:r>
            <a:r>
              <a:rPr sz="900">
                <a:solidFill>
                  <a:srgbClr val="E8F6EF"/>
                </a:solidFill>
                <a:latin typeface="Consolas"/>
              </a:rPr>
              <a:t>,</a:t>
            </a:r>
            <a:r>
              <a:rPr sz="900">
                <a:solidFill>
                  <a:srgbClr val="E8F6EF"/>
                </a:solidFill>
                <a:latin typeface="Consolas"/>
              </a:rPr>
              <a:t> </a:t>
            </a:r>
            <a:r>
              <a:rPr sz="900">
                <a:solidFill>
                  <a:srgbClr val="E8F6EF"/>
                </a:solidFill>
                <a:latin typeface="Consolas"/>
              </a:rPr>
              <a:t>y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  <a:r>
              <a:rPr sz="900">
                <a:solidFill>
                  <a:srgbClr val="E8F6EF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355080"/>
            <a:ext cx="11155680" cy="411480"/>
          </a:xfrm>
          <a:prstGeom prst="round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2A44F"/>
                </a:solidFill>
                <a:latin typeface="맑은 고딕"/>
              </a:rPr>
              <a:t>💬  교수자 멘트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739128"/>
            <a:ext cx="10789920" cy="-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</a:rPr>
              <a:t>‘evaluate()를 통과한 모델만 비교’ — 학생들이 자기 만의 평가 함수를 만드는 습관을 들이게 한다.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64 / 66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11247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47A2C"/>
                </a:solidFill>
                <a:latin typeface="맑은 고딕"/>
              </a:rPr>
              <a:t>CHAPTER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4524A"/>
                </a:solidFill>
                <a:latin typeface="맑은 고딕"/>
              </a:rPr>
              <a:t>랜덤 포레스트 — 중고차 가격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92608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56B68"/>
                </a:solidFill>
                <a:latin typeface="맑은 고딕"/>
              </a:rPr>
              <a:t>APPENDIX   자주 나는 오류 디버깅 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524A"/>
                </a:solidFill>
                <a:latin typeface="맑은 고딕"/>
              </a:rPr>
              <a:t>강의 중 자주 마주치는 오류 — 빠른 디버깅 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82296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82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B68"/>
                </a:solidFill>
                <a:latin typeface="맑은 고딕"/>
              </a:rPr>
              <a:t>학생이 손드는 ‘TOP 5 에러’와 즉시 해결 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4023360" cy="45720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증상 / 메시지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011680"/>
            <a:ext cx="3108960" cy="45720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원인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2011680"/>
            <a:ext cx="4023360" cy="45720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0116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처리 방법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6888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4688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could not convert string to float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46888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4688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object 컬럼 잔존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246888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24688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data.dtypes 확인 → astype 또는 인코딩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26080"/>
            <a:ext cx="402336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260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Consolas"/>
              </a:rPr>
              <a:t>Input contains NaN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926080"/>
            <a:ext cx="310896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926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결측치 잔존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2926080"/>
            <a:ext cx="402336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9260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data.isna().sum() → dropna() 또는 대체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8328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3832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`KeyError` in KFold 루프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38328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33832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loc/인덱스 불일치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338328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33832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reset_index(drop=True) 또는 .iloc 사용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840480"/>
            <a:ext cx="402336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8404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RMSE가 비정상적으로 낮음 (≈0)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840480"/>
            <a:ext cx="310896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38404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타깃이 X에 섞임 (데이터 누수)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3840480"/>
            <a:ext cx="402336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38404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X.columns 에서 selling_price 제외 확인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29768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2976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GridSearch가 너무 느림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429768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3440" y="42976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후보 조합 과다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60" y="429768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0" y="42976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작은 grid 또는 RandomizedSearchCV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754880"/>
            <a:ext cx="402336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7548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`oob_score` 출력이 음수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4754880"/>
            <a:ext cx="310896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47548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회귀 R²는 음수 가능 (모델 성능 저조)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80960" y="4754880"/>
            <a:ext cx="4023360" cy="457200"/>
          </a:xfrm>
          <a:prstGeom prst="rect">
            <a:avLst/>
          </a:prstGeom>
          <a:solidFill>
            <a:srgbClr val="F5F7F4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47548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데이터/하이퍼파라미터 점검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21208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2120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apply(axis=1) 속도가 너무 느림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0" y="521208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63440" y="5212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행 단위 Python 루프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80960" y="521208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0" y="52120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B2A"/>
                </a:solidFill>
                <a:latin typeface="맑은 고딕"/>
              </a:rPr>
              <a:t>vectorized 연산(numpy/pandas)으로 재작성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4592" y="6473952"/>
            <a:ext cx="12027103" cy="384048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6492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80015" y="6492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65 / 66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9509760" y="3931920"/>
            <a:ext cx="1645920" cy="1645920"/>
          </a:xfrm>
          <a:prstGeom prst="triangle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0607040" y="4389120"/>
            <a:ext cx="1280160" cy="1280160"/>
          </a:xfrm>
          <a:prstGeom prst="triangle">
            <a:avLst/>
          </a:prstGeom>
          <a:solidFill>
            <a:srgbClr val="88D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10058400" y="4846320"/>
            <a:ext cx="1005840" cy="1005840"/>
          </a:xfrm>
          <a:prstGeom prst="triangle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8778240" y="4572000"/>
            <a:ext cx="1097280" cy="1097280"/>
          </a:xfrm>
          <a:prstGeom prst="triangle">
            <a:avLst/>
          </a:prstGeom>
          <a:solidFill>
            <a:srgbClr val="D4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2A44F"/>
                </a:solidFill>
                <a:latin typeface="맑은 고딕"/>
              </a:rPr>
              <a:t>CHAPTER 09 —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수고하셨습니다.</a:t>
            </a:r>
          </a:p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다음 시간엔 더 강력한 트리 — XGBoost / LightGBM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731520" cy="54864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D9A0"/>
                </a:solidFill>
                <a:latin typeface="맑은 고딕"/>
              </a:rPr>
              <a:t>Q &amp;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FE3DA"/>
                </a:solidFill>
                <a:latin typeface="맑은 고딕"/>
              </a:rPr>
              <a:t>오늘 다룬 코드는 모두 09-Random_Forest.ipynb 에 정리되어 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486400"/>
            <a:ext cx="3017520" cy="502920"/>
          </a:xfrm>
          <a:prstGeom prst="roundRect">
            <a:avLst/>
          </a:prstGeom>
          <a:solidFill>
            <a:srgbClr val="1F4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5486400"/>
            <a:ext cx="109728" cy="502920"/>
          </a:xfrm>
          <a:prstGeom prst="rect">
            <a:avLst/>
          </a:prstGeom>
          <a:solidFill>
            <a:srgbClr val="1F6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486400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앙상블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5486400"/>
            <a:ext cx="3017520" cy="502920"/>
          </a:xfrm>
          <a:prstGeom prst="roundRect">
            <a:avLst/>
          </a:prstGeom>
          <a:solidFill>
            <a:srgbClr val="1F4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3360" y="5486400"/>
            <a:ext cx="109728" cy="502920"/>
          </a:xfrm>
          <a:prstGeom prst="rect">
            <a:avLst/>
          </a:prstGeom>
          <a:solidFill>
            <a:srgbClr val="3FA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5486400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배깅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5486400"/>
            <a:ext cx="3017520" cy="502920"/>
          </a:xfrm>
          <a:prstGeom prst="roundRect">
            <a:avLst/>
          </a:prstGeom>
          <a:solidFill>
            <a:srgbClr val="1F4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3760" y="5486400"/>
            <a:ext cx="109728" cy="502920"/>
          </a:xfrm>
          <a:prstGeom prst="rect">
            <a:avLst/>
          </a:prstGeom>
          <a:solidFill>
            <a:srgbClr val="F2A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5486400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OOB · CV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FE3DA"/>
                </a:solidFill>
                <a:latin typeface="맑은 고딕"/>
              </a:rPr>
              <a:t>기계학습 · Chapter 9. 랜덤 포레스트 — 중고차 가격 예측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