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rPr/>
              <a:t>Machine Learning | | | Menard (2002)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/>
              <a:t>First semester,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rPr/>
              <a:t>[ 확장 상세 버전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핵심 키워드: 분류 · 시그모이드 · 로그 손실 · 오즈비 · 소프트맥스 · 판별 모델 · 희귀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rPr/>
              <a:t>참고 논문: Cox(1958), Hosmer &amp; Lemeshow(2000), King &amp; Zeng(2001), Ng &amp; Jordan(2002), Menard(2002)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5.1 The essence of the classification problem - why it should not be classified as linear regression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5.2 Sigmoid and logit - odds ratio, logit transformation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5.3 MLE and cross-entropy - likelihood function, log-likelihood, gradient descent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5.4 Gradient descent - batch/mini-batch/SGD comparison, learning rate selection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5.5 Multi-class - Softmax, OvR, OvO strategies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5.6 Discriminant vs. generative model - comparison based on Ng&amp;Jordan (2002)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5.7 Rare events - King&amp;Zeng (2001) Imbalanced data bias correction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5.8 Model Evaluation - ROC/AUC, Confusion Matrix, Precision/Recall/F1/MCC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5.9 Paper Review - Cox (1958), Hosmer&amp;Lemeshow, Menard, etc.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5.10 Lab: Logistic Regression Scratch Implementation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5.11 Lab: Discriminant vs. Generative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5.12 Lab: Rare Events Calibration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5.13 Application cases - fraud detection, disease diagnosis, customer churn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5.14 Key summary + 10 review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Theoretical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Understand the mathematical principles of logistic regression (sigmoid, logit, MLE)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Understand log loss (cross-entropy) and gradient induction process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Theoretical comparison of discriminant model vs. generative model (Ng &amp; Jordan)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MLE bias and correction method in rare events (King &amp; Zeng)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Practical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Logistic regression Implementation from scratch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Comparison of utilization and performance of sklearn LogisticRegression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Performing evaluation of classification models such as ROC/AUC, confusion matrix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Fraud detection/disease diagnosis/customer churn application case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Reference paper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Cox (1958) - Establishment of mathematical basis of logistic 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Hosmer &amp; Lemeshow (2000) - Construction of practical model Framework 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King &amp; Zeng(2001) - 희소 사건 편향 분석 및 보정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Ng &amp; Jordan(2002) - 판별 vs 생성 모델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Menard(2002) - OLS 비교를 통한 로지스틱 회귀 입문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5.1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The essence of the classification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Why it should not be classified using linear regression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Fundamental difference between regression and classification ||| Spam/Normal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Activation Function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None (Identity Function)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Sigmoid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Cost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MSE (Mean Square Error)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Log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* Logistic regression has 'regression' in the name, but it is actually a classification algorithm.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연속 수치 (-inf ~ +inf)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클래스 확률 (0~1)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예시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주택 가격, 보험료 예측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생존/사망, 스팸/정상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활성화 함수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없음 (항등 함수)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시그모이드 (Sigmoid)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비용 함수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4114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MSE (평균제곱오차)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4114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Log Loss (로그 손실)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맑은 고딕"/>
              </a:defRPr>
            </a:pPr>
            <a:r>
              <a:rPr/>
              <a:t>* 로지스틱 회귀는 이름에 '회귀'가 있지만 실제로는 분류(Classification) 알고리즘이다.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Problems with classification with linear regression (Menard, 2002)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Problem 1: Probability range violation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Linear regression output: y_hat = w^T Variance: y_hat(1-y_hat)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Variance varies depending on predicted value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Violation of homoscedasticity assumption of 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Problem 3: Non-normal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Actual value is only 0 or 1 -&gt; Residuals are discrete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Completely violation of normality assumption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Inappropriate statistical inference such as t-test, F-test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Problem 4: Nonlinear 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Actual probability and explanatory variable: S-curve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closer it is to 0 or 1, the more saturation occurs.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This relationship cannot be expressed with a straight 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문제 4: 비선형 관계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실제 확률과 설명 변수: S자 곡선(S-curve)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0이나 1에 가까울수록 포화(saturation) 현상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직선으로는 이 관계를 표현할 수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Core idea of logistic regression - Cox (1958)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맑은 고딕"/>
              </a:defRPr>
            </a:pPr>
            <a:r>
              <a:rPr/>
              <a:t>Solve all problems with the sigmoid function!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onsolas"/>
              </a:defRPr>
            </a:pPr>
            <a:r>
              <a:rPr/>
              <a:t>Input (X) --&gt; Linear combination (z = w^T Compression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Solving the probability range violation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Expressing non-linear relationships with S-curves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differentiation is clean and suitable for gradient descent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Cox (1958)'s contribution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Systematic introduction of logit transformation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Establishment of parameter estimation based on MLE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'The Regression Analysis of Binary Sequences'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This paper is the theoretical foundation of logistic regression.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MLE 기반 파라미터 추정 정립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이 논문이 로지스틱 회귀의 이론적 토대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Sigmoid and logit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Odds ratio, logit transformation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Sigmoid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onsolas"/>
              </a:defRPr>
            </a:pPr>
            <a:r>
              <a:t>sigma(z) = 1 / (1 + e^(-z)),   z = w^T x +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Input z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0175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sigma(z)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01752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Interpretation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z -&gt; +inf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4747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Close to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4747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probability of positive class (1)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z =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9319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9319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Decision Boundary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z -&gt; -inf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3891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Close to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3891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probability of negative class (0)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02920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rPr/>
              <a:t>Differential formula (very important!):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onsolas"/>
              </a:defRPr>
            </a:pPr>
            <a:r>
              <a:t>sigma'(z) = sigma(z) * (1 - sigma(z))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Odds and Odds Ratio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Definition of Odds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Odds = P(event occurs) / P(event does not occur) = p / (1-p)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Survival p=0.75 -&gt; Odds = 3 ('Chance of survival is 3 times')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Pass p=0.50 -&gt; Odds = 1 ('same')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Incidence p=0.20 -&gt; Odds = 0.25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Odds Ratio = e^(w_i)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Odds change multiple when feature increases by 1 unit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w_i &gt; 0 -&gt; OR &gt; 1 -&gt; Increase in probability of positivity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w_i = 0 -&gt; OR = 1 -&gt; No effect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w_i &lt; 0 -&gt; OR &lt; 1 -&gt; Reduced probability of positivity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Medical Case - Smoking and Lung Cancer / Titanic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[Smoking] Lung cancer in smokers = 0.136, non-smokers = 0.0101 -&gt; OR = 13.5 times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[Titanic] Sex_male coefficient = -2.569 -&gt; OR = e^(-2.569) = 0.077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Men have a survival odds of about 92.3% lower than women.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[Titanic] Pclass coefficient = -1.182 -&gt; The odds of survival decrease as the grade increases.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Menard (2002): Comparison of various interpretation methods such as standardized logit coefficient and marginal effect in addition to odds ratio.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Logit Transformation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40080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onsolas"/>
              </a:defRPr>
            </a:pPr>
            <a:r>
              <a:t>logit(p) = ln(p / (1-p)) = z = w^T x +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rPr/>
              <a:t>Match of range - Key significance of logit transformation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747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Transformation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34747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47472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Probability 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3931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(0, 1)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3192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Original probability space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Ods p/(1-p)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43891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(0, +inf)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38912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Ratio space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Logit ln[p/(1-p)]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48463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(-inf, +inf)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84632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Linear combination possible!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Linear combination 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53035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(-inf, +inf)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30352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w^T Same range as x +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Key point: 'The logit transformation of the probability is equivalent to a linear combination of features' - Cox (1958)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5.3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MLE and cross-entropy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Likelihood function, log-likelihood, gradient descent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Why can't MSE be used as a cost function?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MSE + sigmoid = Non-convex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Because of the non-linearity of sigmoid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MSE cost function becomes a non-convex function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Problems with non-convex functions: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There are many local minima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Global minimum cannot be guaranteed using gradient descent.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Convergence in different solutions depending on initial value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Solution: Use Log Loss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It becomes a convex function and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Guaranteed global minimum ||| -ln(0.9) = 0.105 (low)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actual=0, predicted=0.9 -&gt; loss = -ln(0.1) = 2.303 (high!)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Key characteristics: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The more the prediction is wrong, the loss increases exponentially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Large penalty for confidently incorrect predictions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Low losses for correct predictions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핵심 특성: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 예측이 틀릴수록 손실이 기하급수적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 확신에 찬 잘못된 예측에 큰 페널티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- 올바른 예측에는 낮은 손실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Principles of Maximum Likelihood Estimation (MLE)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Probability of a single observation: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4008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P(y_i | x_i; w) = y_hat_i^(y_i) * (1 - y_hat_i)^(1-y_i)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If y_i=1: P = y_hat_i (positive probability itself)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If y_i=0: P = 1 - y_hat_i (negative probability)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Likelihood Function: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7315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L(w) = PROD_i [y_hat_i^(y_i) * (1 - y_hat_i)^(1-y_i)]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Log-Likelihood: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91440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l(w) = SUM_i [y_i * ln(y_hat_i) + (1-y_i) * ln(1-y_hat_i)]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Log likelihood -&gt; Binary cross entropy (Log Loss)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rPr/>
              <a:t>MLE: Maximize log likelihood -&gt; Transformed into a minimization problem in optimization practice (sign inversion + mean)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0584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onsolas"/>
              </a:defRPr>
            </a:pPr>
            <a:r>
              <a:t>J(w) = -(1/n) * SUM_i [y_i * ln(y_hat_i) + (1-y_i) * ln(1-y_hat_i)]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0584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Key insight: MLE likelihood maximization = Log loss (cross entropy) minimization [Cox, 1958]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rPr/>
              <a:t>Gradient derivation: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0584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dJ/dw_j = (1/n) * SUM_i (y_hat_i - y_i) * x_ij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dJ/db   = (1/n) * SUM_i (y_hat_i - y_i)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rPr/>
              <a:t>Vector form: nabla_w J = (1/n) * X^T * (y_hat - 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5.4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Gradient descent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Batch/mini-batch/SGD comparison, learning rate selection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Principle of Gradient Descent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rPr/>
              <a:t>Parameter update rules: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w &lt;- w - alpha * nabla_w J(w)</a:t>
            </a:r>
            <a:br/>
            <a:r>
              <a:t>b &lt;- b - alpha * dJ/db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rPr/>
              <a:t>Batch / Mini-batch / SGD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6576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Data usage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6576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Advantages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6576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Disadvantages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Batch 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All (n)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Stable convergence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Slow in large volumes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Mini-batch GD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Some (32~256)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5720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GPU efficient, compromise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B hyperparameters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SGD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5029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Fast update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Unstable convergence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맑은 고딕"/>
              </a:defRPr>
            </a:pPr>
            <a:r>
              <a:rPr/>
              <a:t>* In practice, mini-batch GD is most often used. sklearn basically uses L-BFGS (quasi-Newton method).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Importance of Choosing Learning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Learning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Phenomena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Too small (0.001)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Convergence is very slow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Excessive increase in number of iterations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Adequate (0.01~0.1)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Stable and fast convergence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Reach optimal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Too large (10)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Divergence (divergence)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Cost function increases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Guidelines for learning rate selection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1148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Explore in logarithmic scale: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{0.001, 0.003, 0.01, 0.03, 0.1, 0.3, 1.0}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Check the cost function convergence curve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Learning rate scheduling: Gradually decreasing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6576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Need for feature standardization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x_j^scaled = (x_j - mu_j) / sigma_j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Without standardization: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Contour lines are oval -&gt; zigzag path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Convergence speed greatly decreases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When standardizing: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Contour line is circular -&gt; straight path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Gradient Descent Code Implementation (Core)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09728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sigmoid(z):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z = np.clip(z, -500, 500) # Numerical stability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1.0 / (1.0 + np.exp(-z))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compute_cost(X, y, weights, bias):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 = X.shape[0]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z = np.dot(X, weights) + bias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y_hat = sigmoid(z)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epsilon = 1e-15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y_hat = np.clip(y_hat, epsilon, 1 - epsilon) # prevent log(0)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cost = -(1.0/m) * np.sum(y*np.log(y_hat) + (1-y)*np.log(1-y_hat))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cost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compute_gradients(X, y, weights, bias):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 = X.shape[0]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y_hat = sigmoid(np.dot(X, weights) + bias)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error = y_hat - 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dw = (1.0/m) * np.dot(X.T, error)  # nabla_w J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db = (1.0/m) * np.sum(error)        # dJ/db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dw, db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5.5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Multi-class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Softmax, OvR, OvO strategies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From binary classification to multi-classification||| (sum=1)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Survival/Death, Spam/Normal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Iris species classification, number recognition (0~9)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Softmax function: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All outputs are in the range (0, 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Sum of probabilities for all classes =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Mathematically equivalent to the sigmoid function when K=2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시그모이드 (Sigmoid)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소프트맥스 (Softmax)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출력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1개의 확률값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K개의 확률값 (합=1)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예시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생존/사망, 스팸/정상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붓꽃 종 분류, 숫자 인식(0~9)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14800"/>
            <a:ext cx="73152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160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rPr/>
              <a:t>소프트맥스 함수: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P(y=k|X) = e^(z_k) / SUM_j e^(z_j),   z_k = w_k^T x + b_k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모든 출력이 (0, 1) 범위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모든 클래스에 대한 확률의 합 = 1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K=2일 때 시그모이드 함수와 수학적으로 동일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Categorical Cross Entropy &amp; OvR/OvO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914400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rPr/>
              <a:t>Categorical Cross Entropy: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J = -(1/n) * SUM_i SUM_k y_ik * ln(y_hat_ik)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OvR (One-vs-Rest)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Each class: 'That class vs all the rest'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 classes -&gt; K binary classifier learning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For prediction: select the highest probability classifier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multi_class='ovr'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OvO (One-vs-One)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Learn a binary classifier for every pair of classes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 classes -&gt; K(K-1)/2 classifiers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At prediction: final decision by voting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Individual learning is fast, but the number of classifiers is large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sklearn multi-classification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model_softmax = LogisticRegression(multi_class='multinomial', solver='lbfgs', max_iter=200)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model_ovr = LogisticRegression(multi_class='ovr', solver='lbfgs', max_iter=200)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5.6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Discriminant vs. generative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Comparison based on Ng &amp; Jordan (2002)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Two fundamental approaches - Ng &amp; Jordan (2002)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Discriminative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Learning object: Direct learning of P(y|x)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Representative model: Logistic regression, SVM, neural network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Learning decision boundary directly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Asymptically more accurate (lower bias)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Estimation method: Maximize conditional likelihood P(y|x)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Generative model (Generative)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Learning target: After learning P(x|y) and P(y)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Derive P(y|x) with Bayes' theorem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Representative models: Naive Bayes, GMM, HMM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Effective even with small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Estimation method: Maximize joint likelihood P(x, 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Key discovery: Theoretical relationship between Naive Bayes and logistic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Under Naive Bayes assumptions (feature independence, exponential distribution):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ln[P(y=1|x)/P(y=0|x)] = theta_0 + SUM_j theta_j * x_j -&gt; This is the form of logistic regression!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two models share the same model family, but the parameter estimation methods are different.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Convergence Speed and Crossover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Characteristics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Naive Bayes (Generation)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Logistic Regression (Discrimination)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Asymptotic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or Equal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2860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286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Low or Equal (Excellent)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Convergence Speed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7432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O(log n) - Fast!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O(n) - Slow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Small Sample Performance || | If this holds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004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turning point appears late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2004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more data is needed for LR to reverse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if NB assumption is violated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6576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tipping point appears early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6576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LR quickly becomes dominant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14800"/>
            <a:ext cx="100584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06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전환점(Crossover Point): 소표본에서는 NB가, 대표본에서는 LR이 우수.</a:t>
            </a:r>
            <a:br/>
            <a:r>
              <a:rPr/>
              <a:t>이 전환점은 데이터 특성과 모델 가정의 정확도에 따라 달라진다.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0352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94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NB 가정이 잘 성립하면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60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전환점이 늦게 나타남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더 많은 데이터가 필요해야 LR이 역전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30352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394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NB 가정이 위반되면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760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전환점이 일찍 나타남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LR이 빠르게 우세해짐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Bias-Variance Tradeoff Perspective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Perspective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Naive Bayes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Logistic 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Bias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(strong model assumption)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2860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286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Low (flexible estimation)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Variance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7432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Low (few parameters)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(many parameters)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Small sample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004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Low variance Advantage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2004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variance is disadvantageous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High bias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6576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bias is disadvantage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6576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Low bias is advantage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1480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Practical guidelines from Ng &amp; Jordan (2002)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5720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When data is small (hundreds or less): Try Naive Bayes (generative model) first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When data is sufficient (thousands or more): Use logistic regression (discriminant model)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Train both models and It is safest to compare through cross-validation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turning point is different for each data, so it needs to be confirmed experimentally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the Naive Bayes assumption is good (text classification, etc.), NB can be superior even in large samples.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5.7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Rare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King &amp; Zeng (2001) Imbalanced data bias correction.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Rare event problem - King &amp; Zeng (2001)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Positivity ratio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Politics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International conflict occurrence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~1-3%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Finance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7432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Credit card fraud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Medicine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004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Rare disease diagnosis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Manufacturing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6576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Scam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Information security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41148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Intrusion detection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4114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72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Finite sample bias (Finite-Sample Bias) ||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29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핵심: 양성 비율이 낮을수록 MLE 편향이 커짐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편향 방향: 예측 확률의 과소추정 (실제보다 더 낮게 추정)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bias(beta_hat) = (X^T W_hat X)^(-1) X^T W_hat xi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결과: 희소 사건의 발생 확률을 과소추정하는 경향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Bias Correction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Method 1: Prior Correction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Using population-level event rate tau and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sample event rate y_bar: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beta_0_corrected = beta_0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ln[(1-tau)/tau * y_bar/(1-y_bar)]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Oversampling bias correction in case-control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Method 2: Weighted 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Inverse selection probability weighting (IPW) given: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Positive (Y=1) weight: w1 = tau / y_bar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Negative (Y=0) weight: w0 = (1-tau) / (1-y_bar)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class_weight='balanced'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Automatic calculation of weights inversely proportional to class frequencies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Practical recommendations (King &amp; Zeng, 2001):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2064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Positivity 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5120640"/>
            <a:ext cx="7315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Recommendations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57784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&gt;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5577840"/>
            <a:ext cx="7315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Can use standard 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03504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5% ~ 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6035040"/>
            <a:ext cx="7315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Weighted logistic regression Recommendation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9224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&lt; 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6492240"/>
            <a:ext cx="7315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6492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Must apply correction method (weighted or pre-correction)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Model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ROC/AUC, confusion matrix, Precision/Recall/F1/MCC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Confusion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Predicted: Negative (0)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Predicted: Positive (1)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6400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Actual: Negative (0)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931920" cy="6400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TN (True Negative)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286000"/>
            <a:ext cx="3931920" cy="6400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2860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FP (False Positive) - Type 1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2743200" cy="6400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Actual: Positive (1)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926080"/>
            <a:ext cx="3931920" cy="6400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9260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FN (False Negative) - Type 2 error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926080"/>
            <a:ext cx="3931920" cy="6400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9260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TP (True Positive)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4 indicators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3192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TN: Correctly predicting actual negative as negative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FP: Actual negative as positive Mispredicting (Type 1 error)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FN: Mispredicting an actual positive as negative (Type 2 error)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TP: Correctly predicting an actual positive as positive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47472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Example of cost asymmetry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[Disease diagnosis] FN (patient missed) &gt;&gt;&gt; FP (retesting normal people)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Maximize recall (lower threshold)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[Spam filter] FP (block normal mail) &gt;&gt; FN (pass spam)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Maximize Precision (Raise Threshold)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[Fraud Detection] FN (Fraud Missed) &gt;&gt;&gt; FP (Reconfirm Normal Transaction)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Maximize Recall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Key evaluation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(TP+TN) / (TP+TN+FP+FN)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Can be meaningless in imbalanced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Even if 1% of positives are predicted as all negative, it is 99%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TP / (TP + FP)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Precision (Precision)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Proportion of actual positives among positive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920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Measuring 'quality of prediction'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2860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TP / (TP + 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Recall (recall/sensitivity)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Proportion of predicted positives among actual positives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93192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F1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 * (Precision * Recall) / (P + 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'Detection power' Measure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Harmonic average of precision and recall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Measures the balance of the two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931920"/>
            <a:ext cx="7772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02336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MCC (Matthews Correlation Coefficient)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389120"/>
            <a:ext cx="7406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MCC = (TP*TN - FP*FN) / sqrt((TP+FP)(TP+FN)(TN+FP)(TN+FN))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Range from 0 to 1, 1 is best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Range: [-1, +1]. +1=perfect, 0=random, -1=completely opposite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Single metric more reliable than accuracy in imbalanced data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ROC curve and AUC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ROC curve (Receiver Operating Characteristic)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(Precision-Recall)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Useful than ROC in imbalanced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Acceptable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Basic classification 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Excellent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Good classification performance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Excellent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Very high classification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AUC (Area Under the ROC Curve) 해석: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AUC 범위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48463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판별력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84632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해석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035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53035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무작위 추측 수준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3035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모델이 분류 능력 없음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0.7 ~ 0.8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57607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수용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7607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기본적 분류 능력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2179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0.8 ~ 0.9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62179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우수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62179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6217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좋은 분류 성능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6751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675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&gt; 0.9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66751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6675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뛰어남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66751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6675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매우 높은 분류 성능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Threshold adjustment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Situation | 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Customer Churn Prediction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Lower (0.3)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828800"/>
            <a:ext cx="3383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Large cost of failing to prevent churn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Hosmer-Lemeshow goodness-of-fit test (Hosmer &amp; Lemeshow, 2000)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1. Split the data into g groups (usually 10) based on predicted probability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2286000"/>
            <a:ext cx="3383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2. Compare the number of observed and expected events in each group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3. Test statistic: C_hat = SUM_k (O_k - E_k)^2 / [E_k(1 - E_k/n_k)]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4. Null hypothesis: ‘The model explains the data well’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Precision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743200"/>
            <a:ext cx="3383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5. If the p-value is high, the model fit is judged to be good.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* Hosmer &amp; Lemeshow (2000) c-statistic (concordance statistic) = AUC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낮춤 (0.1)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Recall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3200400"/>
            <a:ext cx="3383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사기 놓치면 큰 손실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고객 이탈 예측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낮춤 (0.3)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Recall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3657600"/>
            <a:ext cx="3383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3657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이탈 방지 실패 비용 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11480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Hosmer-Lemeshow 적합도 검정 (Hosmer &amp; Lemeshow, 2000)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5720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예측 확률 기준으로 데이터를 g개 그룹(보통 10개)으로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각 그룹에서 관측된 사건 수와 기대 사건 수를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검정 통계량: C_hat = SUM_k (O_k - E_k)^2 / [E_k(1 - E_k/n_k)]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귀무가설: '모델이 데이터를 잘 설명한다'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5. p-value가 높으면 모델 적합도가 좋다고 판단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* Hosmer &amp; Lemeshow(2000)의 c-통계량(concordance statistic) = AUC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5.9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paper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Cox(1958), Hosmer&amp;Lemeshow, King&amp;Zeng, Ng&amp;Jordan, Menard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Paper review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Cox (1958)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'The Regression Analysis of Binary Sequences'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Systematic introduction of logit transformation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Establishment of MLE-based parameter estimation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Emphasis on the advantages of logit model compared to probit model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Application in medicine, biology, and social sciences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Hosmer &amp; Lemeshow (2000)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'Applied Logistic Regression' (2nd ed.)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Systematic model building framework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7-step purposeful variable selection (Purposeful Selection)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Hosmer-Lemeshow goodness-of-fit test proposal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Diagnostic statistic: Pearson residual, dfbeta, Cook's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Hosmer &amp; Lemeshow 7-step variable selection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Univariate analysis (based on p &lt; 0.25) -&gt; 2. Fit multivariate model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Remove non-significant variables (p &gt; 0.05) -&gt; 4. Confirm confounding variables (re-include if coefficient changes by more than 20%)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5. Check logit linearity of continuous variables -&gt; 6. Add interaction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7. Final model fit evaluation (Hosmer-Lemeshow test)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Paper Review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King &amp; Zeng (2001)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'Logistic Regression in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Rare Events Data'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MLE Bias Theoretical Proof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Prior Correction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Weighted MLE Proposal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Applying Firth (1993) Bias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8404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Ng &amp; Jordan (2002)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'On Discriminative vs.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Generative classifiers'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Proof of Sharing Same Model Family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O(log n) vs O(n) Convergence|||Confirmation of Crossover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Systematic Comparison with 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749039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Menard (2002)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383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'Applied Logistic 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Analysis' (2nd ed.)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Comparison of Various Coefficient Analysis Methods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Similar R-squared theorem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Similar R-squared indicators organized by Menard (2002):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Indicator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463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48463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84632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Based on log likelihood, maximum value of 1 not reached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McFadden's R^2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53035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[0, 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3035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Maximum value less than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Cox &amp; Snell R^2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0" y="57607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[0, &lt;1)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7607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Cox &amp; Snell normalization, maximum of 1 possible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2179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Nagelkerke R^2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62179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[0, 1]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62179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6217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Correct classification rate, most intuitive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6751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675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Count R^2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40" y="66751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6675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[0, 1]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66751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6675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정확 분류 비율, 가장 직관적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5.10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Logistic Regression Scratch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Based on Cox (1958) - Breast Cancer Dataset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Scratch implementation - 3 core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sigmoid(z):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z = np.clip(z, -500, 500)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1.0 / (1.0 + np.exp(-z))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compute_cost(X, y, w, b):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m = X.shape[0]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y_hat = sigmoid(np.dot(X, w) + b)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eps = 1e-15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y_hat = np.clip(y_hat, eps, 1-eps)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-(1/m) * np.sum(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y*np.log(y_hat) +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(1-y)*np.log(1-y_hat))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compute_gradients(X, y, w, b):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m = X.shape[0]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y_hat = sigmoid(np.dot(X, w) + b)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err = y_hat - 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dw = (1/m) * np.dot(X.T, err)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db = (1/m) * np.sum(err)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dw,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Code commentary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[sigmoid] Ensuring numerical stability with np.clip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z is extreme, exp(-z) overflow occurs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[compute_cost] epsilon=1e-15 prevents log(0)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Mathematically equivalent to the negative log-likelihood of MLE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[compute_gradients] Efficient with vectorization operations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error = y_hat - calculates all sample errors at once with 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dw = (1/m) * X^T @ error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db = (1/m) * sum(error)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This gradient is derived from Cox's (1958)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score equation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Scratch Implementation - Gradient Descent Learning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68580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logistic_regression_gd(X, y, lr=0.1, n_iter=1000):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m, n = X.shape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weights = np.zeros(n) # Parameter initialization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bias = 0.0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cost_history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i in range(n_iter):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cost = compute_cost(X, y, weights, bias)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cost_history.append(cost)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dw, db = compute_gradients(X, y, weights, bias)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weights -= lr * dw  # w = w - alpha * dw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bias -= lr * db     # b = b - alpha * db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weights, bias, cost_history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predict(X, weights, bias, threshold=0.5):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z = np.dot(X, weights) + bias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probs = sigmoid(z)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(probs &gt;= threshold).astype(int), probs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828800"/>
            <a:ext cx="41148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Execution result (Breast Cancer)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3749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Data: sklearn Breast Cancer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- 569 samples, 30 features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Malicious (0): 212, Benign (1): 357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Direct implementation (GD):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Accuracy: ~97%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(L-BFGS):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Accuracy: ~97%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Cause of slight differences: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Differences in optimization algorithms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sklearn basic L2 regularization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Difference in convergence criteria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Scratch implementation - visualization: sigmoid &amp; cost convergence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Sigmoid function visualization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z_vals = np.linspace(-10, 10, 300)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sig_vals = sigmoid(z_vals)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plt.plot(z_vals, sig_vals, 'b-', lw=2.5)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plt.axhline(y=0.5, color='r', ls='--')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plt.xlabel('z'); plt.ylabel('sigma(z)')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plt.title('Sigmoid Function')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Cost function convergence curve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plt.plot(range(len(cost_history)),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cost_history, 'b-', lw=1.5)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plt.xlabel('Iteration')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plt.ylabel('Cost (Log Loss)')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plt.title('Cost Convergence')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plt.grid(True, alpha=0.3)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Decision boundary visualization (2D reduction with PCA)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pca = PCA(n_components=2)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X_train_2d = pca.fit_transform(X_train_scaled)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weights_2d, bias_2d, _ = logistic_regression_gd(X_train_2d, y_train, lr=0.1, n_iter=1000)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xx, yy = np.meshgrid(np.linspace(x_min, x_max, 300), np.linspace(y_min, y_max, 300))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grid = np.c_[xx.ravel(), yy.ravel()]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prob_grid = sigmoid(np.dot(grid, weights_2d) + bias_2d).reshape(xx.shape)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plt.contourf(xx, yy, prob_grid, levels=50, cmap='RdYlBu') # Probability contour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plt.contour(xx, yy, prob_grid, levels=[0.5], colors='black') # decision boundary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5.11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Comparing discriminant vs. generative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Ng &amp; Jordan (2002) key findings replicated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Discriminant vs. Generative Comparison - Experimental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compare_models_by_sample_size(X, y, train_fractions, n_repeats=50):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"""Logistic Regression vs Naive Bayes for Different Training Data Sizes"""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frac in train_fractions: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n_train = max(int(n_total * (1 - test_size) * frac), 4)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seed in range(n_repeats):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Logistic regression (discriminant model)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lr_model = LogisticRegression(max_iter=2000, solver='lbfgs')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lr_model.fit(X_train_s,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lr_scores.append(accuracy_score(y_test, lr_model.predict(X_test_s)))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Naive Bayes (generative model)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nb_model = GaussianNB()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nb_model.fit(X_train_s,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nb_scores.append(accuracy_score(y_test, nb_model.predict(X_test_s)))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Run three experiments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Experiment 1: Independent features (NB assumption established) -&gt; NB small sample dominates, observe turning point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Experiment 2: Correlated features (NB assumption violated) -&gt; LR dominates faster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Experiment 3: High-dimensional (50 features) -&gt; NB's O(log n) convergence advantage highlighted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8C00"/>
                </a:solidFill>
                <a:latin typeface="맑은 고딕"/>
              </a:defRPr>
            </a:pPr>
            <a:r>
              <a:rPr/>
              <a:t>* At each size Calculate the average and standard deviation by repeating the experiment 50 times -&gt; Reproduce the Ng &amp; Jordan (2002) experiment methodology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Discriminant vs. generative comparison - Interpretation of experimental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Experiment 1: Independent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for which the NB assumption holds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NB dominates in small samples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Observation of turning point (crossover)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LR reverses in large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8404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Experiment 2: Correlated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 for which NB assumption is violated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Correlated features (n_redundant=10)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Crossover point is earlier. appears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LR quickly becomes dominant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749039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Experiment 3: High-dimensional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383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50 features (30 significant)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LR instability in small samples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NB's O(log n) convergence advantage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Confirmation of curse of dimension effect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Overall conclusion (confirmed by Ng &amp; Jordan, 2002)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Generative model (NB) converges in O(log n): data efficient in small samples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Discriminant models (LR) have asymptotically lower errors: superior in large samples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The turning point depends on the data characteristics (whether NB assumptions are made or not, number of dimensions)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In practice: It is safest to train both models and compare them through cross-validation.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5.12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Calibrating Rare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Reproducing Key Findings from King &amp; Zeng (2001)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Rare Event Correction - Core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Implementation of Prior Correction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prior_correction(model, pop_rate, sample_rate):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correction = np.log(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((1-pop_rate)/pop_rate) *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(sample_rate/(1-sample_rate))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correction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Corrected Predicted Probability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logits = X @ model.coef_[0] + model.intercept_[0]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corrected = logits - correction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prob = 1 / (1 + np.exp(-corrected))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Comparison of 3 Models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Model 1: Standard Logistic Regression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model_std = LogisticRegression(max_iter=2000)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Model 2: Weighted Logistic Regression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model_wt = LogisticRegression(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class_weight='balanced', max_iter=2000)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Model 3: Applying Prior Correction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prob_corrected = predict_with_prior_correction(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model_std, X_test, pop_rate, sample_rate)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Experimental Results: MLE Bias by Positivity Proportion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50%: Almost no bias | 20%: slight underestimation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10%: noticeable underestimation | 5%: Significant underestimation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2%: Significant underestimation | 1%: Very severe underestimation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Consistent with theoretical predictions of King &amp; Zeng (2001): Underestimation bias increases with lower positivity rate.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Rare event - ROC/PR curve &amp; threshold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ROC curve comparison (positive rate 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Standard LR: High AUC (discrimination power itself is good)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Weighted LR (balanced): AUC similar or slightly changed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Pre-correction: AUC is the same (only slope shifts)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Difficult to distinguish correction effect from AUC alone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PR curve comparison (More Useful!) || 2%):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Threshold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Accuracy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Precision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466344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66344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66344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663440"/>
            <a:ext cx="26517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F1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2064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51206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1206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1206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Good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5120640"/>
            <a:ext cx="265176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57784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55778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55778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Medium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5778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5577840"/>
            <a:ext cx="265176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5577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High/0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03504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035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60350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6035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Very Low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60350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6035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60350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6035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* Almost no positives detected at a threshold of 0.5! Threshold must be adjusted according to the positivity rate.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6035040"/>
            <a:ext cx="265176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6035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양호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49224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64922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7744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98%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64922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높음/0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64922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매우 낮음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6492240"/>
            <a:ext cx="265176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6492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낮음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545"/>
                </a:solidFill>
                <a:latin typeface="맑은 고딕"/>
              </a:defRPr>
            </a:pPr>
            <a:r>
              <a:rPr/>
              <a:t>* 임계값 0.5에서는 양성을 거의 검출 못함! 양성 비율에 맞게 임계값 조정 필수.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Fraud detection, disease diagnosis, customer churn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Case 1: Fraud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Problem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Extremely low positive rate (~0.1%)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King &amp; Zeng (2001) Rare events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Requires real-time processing (immediate transaction judgment)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Asymmetric cost: Missing fraud &gt;&gt;&gt; Blocking normal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Applying 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Using weighted LR (King &amp; Zeng recommendation)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class_weight={0:1, 1:100} # Fraud weight 100 times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Main features: Transaction amount, frequency, location, Timeline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Evaluation: PR-AUC, Recall, F1 (accuracy inadequate)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Fraud detection model example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fraud_model = LogisticRegression(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class_weight={0: 1, 1: 100}, # Morale(1) weight 100x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max_iter=1000, random_state=42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fraud_model.fit(X_train,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Set threshold low (0.1): Maximize Recall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prob = fraud_model.predict_proba(X_test)[:, 1]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pred = (prob &gt;= 0.1).astype(int) # Threshold 0.1 instead of 0.5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Case 2: Disease Diagnosis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Problem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degree of imbalance varies depending on the prevalence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FN (patient missed) cost is very high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Interpretability is important (based on doctor's judgment)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Advantages of 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Odds ratio interpretation: Quantification of risk factor impact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Probability output: '73% probability of diabetes' Intuitive communication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Coefficient interpretation: Cox (1958) Odds ratio is the medical standard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06424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Disease diagnosis model + odds ratio calculation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 = LogisticRegression()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Odds ratio calculation and interpretation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odds_ratios = np.exp(model.coef_[0])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feature_importance = pd.DataFrame({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'Feature': feature_names,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'Coefficient': model.coef_[0],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'Odds Ratio': odds_ratios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}).sort_values('Odds Ratio', ascending=False)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Example: OR of BMI=1.85 -&gt; 1 unit increase in BMI increases the odds of diabetes by 85%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Threshold: Lowered to 0.3 -&gt; Maximize Recall (risks life if missed)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Case 3: Customer Churn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Problem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Churn rate 15-30% (medium imbalance)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FN (lost customer churn) &gt; FP (unnecessary marketing)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New customer acquisition cost = 5-7 times retention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Business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Top 20% prediction probability -&gt; Retention marketing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High coefficient Feature analysis -&gt; service improvement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lower threshold to 0.3 -&gt; secure 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06424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customer churn prediction model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model_churn = LogisticRegression(max_iter=1000, random_state=42)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model_churn.fit(X_train,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pred = model_churn.predict(X_test)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prob = model_churn.predict_proba(X_test)[:, 1]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confusion matrix analysis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cm = confusion_matrix(y_test, pred)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tn, fp, fn, tp = cm.ravel()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print(f'TN (retention-&gt;retention): {tn} people')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print(f'FP (retention-&gt;churn): {fp} people &lt;- unnecessary marketing cost')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print(f'FN (churn-&gt;retention): {fn} people &lt;- Failure to prevent churn (most dangerous!)')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print(f'TP (churn-&gt;churn): {tp} people &lt;- Retention marketing target')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Formula summary, terminology, review questions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Logistic Regression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Items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7772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2860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Supervised Learning - Classification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Core Function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7432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Sigmoid: sigma(z) = 1/(1+e^(-z))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Cost Function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2004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Log Loss (Log Loss / Binary Cross Entropy)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Optimization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6576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Gradient Descent or L-BFGS (quasi-Newton method)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1148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Class probability (between 0 and 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Advantages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5720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Simple to implement, probability analysis, feature influence with coefficients, computationally efficient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Disadvantages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50292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Only linear decision boundaries are possible, limits to complex non-linear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rPr/>
              <a:t>Key messages of the 5 papers: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5778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Papers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5577840"/>
            <a:ext cx="6858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5577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messages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Cox (1958)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6035040"/>
            <a:ext cx="68580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6035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Logit transformation + MLE = logistic Mathematical basis of regression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Hosmer &amp; Lemeshow (2000)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6309360"/>
            <a:ext cx="68580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63093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Systematic model construction, diagnosis, fitness evaluation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583680"/>
            <a:ext cx="36576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King &amp; Zeng (2001)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6583680"/>
            <a:ext cx="68580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6583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MLE bias exists in rare events, correction required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858000"/>
            <a:ext cx="36576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858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Ng &amp; Jordan (2002)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6858000"/>
            <a:ext cx="68580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0" y="68580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Small sample -&gt; generative model, large sample -&gt; discriminant model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Summary of main formulas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943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943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sigma(z) = 1/(1+e^(-z))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Sigmoid function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943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logit(p) = ln(p/(1-p))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Logit (sigmoid inverse function)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J = -(1/n)SUM[y*ln(y_hat)+(1-y)*ln(1-y_hat)]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Binary cross entropy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5943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nabla_w J = (1/n)*X^T*(y_hat-y)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6576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Gradient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5943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OR = e^(w_i)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1148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Odds ratio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5943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P(y=k|X) = e^(z_k) / SUM_j e^(z_j)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5720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Softmax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548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sklearn core code summary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sklearn.linear_model import LogisticRegression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 = LogisticRegression(max_iter=1000)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pred = model.predict(X_test) # Class prediction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prob = model.predict_proba(X_test) # Probability prediction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accuracy_score(y_test, pred) # Accuracy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roc_auc_score(y_test, prob[:, 1])        # AUC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np.exp(model.coef_[0]) # Odds ratio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10 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Q1. Four problems when classifying with linear regression and how to solve them with logistic regression?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Q2. Prove that the sigmoid derivative is sigma(z)(1-sigma(z)).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Q3. Explain the meaning of odds ratio (OR)=1.5 using the Titanic example.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Q4. Show the equivalence of MLE likelihood maximization = log loss minimization.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Q5. Ng&amp;Jordan: Implications of convergence of O(log n) for NB and O(n) for LR?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Q6. King&amp;Zeng: MLE bias and two correction methods in positive 1% data?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Q7. Is 98% accuracy a good model for detecting 2% positive fraud?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Q8. Show that softmax is reduced to sigmoid when K=2.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Q9. Hosmer-Lemeshow test procedure and null/alternative hypothesis?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Q10. What are two reasons for the performance difference between direct implementation (GD) and sklearn (L-BFGS)?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rPr/>
              <a:t>Chapter 5: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Extended detailed version | 57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rPr/>
              <a:t>Key: Sigmoid + Log Loss + MLE = Logistic Regression</a:t>
            </a:r>
            <a:br/>
            <a:r>
              <a:t>Cox(1958) | Hosmer&amp;Lemeshow(2000) | King&amp;Zeng(2001) | Ng&amp;Jordan(2002) | Menard(2002)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