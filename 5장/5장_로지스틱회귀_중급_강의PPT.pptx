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9A3C"/>
                </a:solidFill>
                <a:latin typeface="맑은 고딕"/>
              </a:defRPr>
            </a:pPr>
            <a: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로지스틱 회귀 (중급)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AACC"/>
                </a:solidFill>
                <a:latin typeface="맑은 고딕"/>
              </a:defRPr>
            </a:pPr>
            <a:r>
              <a:t>Intermediate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맑은 고딕"/>
              </a:defRPr>
            </a:pPr>
            <a:r>
              <a:t>수리적 기초부터 논문 활용까지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맑은 고딕"/>
              </a:defRPr>
            </a:pPr>
            <a:r>
              <a:t>대상: 박사과정 / 연구자  |  난이도: 중급 (기본 &lt; 본 강의 &lt; 확장)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99"/>
                </a:solidFill>
                <a:latin typeface="맑은 고딕"/>
              </a:defRPr>
            </a:pPr>
            <a:r>
              <a:t>기계학습 강의 시리즈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본 강의를 통해 달성할 4가지 핵심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0515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MLE 유도 이해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로그 손실이 왜 나오는지 최대우도추정으로부터 유도할 수 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통계적 계수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오즈비, 95% 신뢰구간, p-value를 정확히 해석하고 보고할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698480" cy="10515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심화 모델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ROC-AUC, PR Curve, 보정 곡선, 적합도 검정을 수행할 수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정규화와 변수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맑은 고딕"/>
              </a:defRPr>
            </a:pPr>
            <a:r>
              <a:t>L1/L2 정규화의 원리를 이해하고 자동 변수 선택에 활용할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목차 (Contents)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3716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수리적 기초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GLM, MLE 유도, 최적화 알고리즘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3716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맑은 고딕"/>
              </a:defRPr>
            </a:pPr>
            <a: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계수의 통계적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오즈비, Wald 검정, 우도비 검정, VIF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3716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모델 평가 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ROC-AUC, PR Curve, 보정, H-L 검정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3716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맑은 고딕"/>
              </a:defRPr>
            </a:pPr>
            <a:r>
              <a:t>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정규화와 변수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L1/L2/Elastic Net, C 튜닝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13716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Part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실전과 논문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고급 피처 엔지니어링, 논문 보고 형식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9A3C"/>
                </a:solidFill>
                <a:latin typeface="맑은 고딕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수리적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맑은 고딕"/>
              </a:defRPr>
            </a:pPr>
            <a:r>
              <a:t>Generalized Linear Model, MLE Derivation, Optimization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일반화 선형 모형 (GLM)에서의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구성 요소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일반 설명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선형 회귀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로지스틱 회귀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확률 분포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(Random)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반응변수 Y의 분포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정규분포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(Normal)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베르누이 분포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(Bernoulli)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체계적 성분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(Systematic)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선형 예측자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η = Xβ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η = Xβ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링크 함수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(Link)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E(Y)와 η 연결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항등 함수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g(μ) = 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로짿 함수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g(p) = ln(p/(1-p))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비용 함수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최적화 대상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Log Loss (= -MLE)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핵심 통찰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로지스틱 회귀 = GLM(Bernoulli, Logit Link)의 특수 사례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포아송 회귀, 프로빗 회귀 등과 통일된 프레임워크로 이해 가능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논문에서 '왜 로지스틱 회귀를 선택했는가'를 정당화할 때 GLM 관점이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로짿 링크 함수와 시그모이드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73152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65D"/>
                </a:solidFill>
                <a:latin typeface="Cambria Math"/>
              </a:defRPr>
            </a:pPr>
            <a:r>
              <a:t>logit(p) = ln(p / (1-p)) = β₀ + β₁x₁ + ... + βₚxp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73152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65D"/>
                </a:solidFill>
                <a:latin typeface="Cambria Math"/>
              </a:defRPr>
            </a:pPr>
            <a:r>
              <a:t>p = σ(η) = 1 / (1 + e⁻η) = eη / (1 + eη)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5603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 단계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값의 범위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확률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(0, 1)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사건 발생 확률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오즈 p/(1-p)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(0, +∞)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확률 → 오즈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발생/미발생 비율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로짿 ln(p/(1-p))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(-∞, +∞)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오즈 → 로짿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선형 결합과 동일 범위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365D"/>
                </a:solidFill>
                <a:latin typeface="맑은 고딕"/>
              </a:defRPr>
            </a:pPr>
            <a:r>
              <a:t>역변환 관계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시그모이드 함수 σ(z) = logit⁻¹(z) : 로짿의 역함수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확률 (0,1) ↔ 로짿 (-∞,+∞) 간의 양방향 매핑이 로지스틱 회귀의 핵심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링크 함수 비교: 로짿 vs 프로빗 vs cloglog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링크 함수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특성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사용 분야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로짿 (Logit)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ln(p/(1-p))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대칭, 오즈비 해석 용이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의학, 역학, ML 전반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프로빗 (Probit)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Φ⁻¹(p)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(표준정규 역CDF)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대칭, 잠재변수 해석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계량경제학, 사회과학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보완 로그-로그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(cloglog)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ln(-ln(1-p))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비대칭</a:t>
                      </a:r>
                    </a:p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p→1 근처 빠른 변화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희귀 사건 (rare event)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C0392B"/>
                </a:solidFill>
                <a:latin typeface="맑은 고딕"/>
              </a:defRPr>
            </a:pPr>
            <a:r>
              <a:t>논문 Tip: 링크 함수 선택 정당화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의학/역학: 오즈비 해석이 관행이므로 로짿 사용 (관습적 선택으로도 충분)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계량경제학: 프로빗도 자주 사용 (잠재변수 모형과의 연결)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희귀 사건 (양성 비율 &lt; 5%): 보완 로그-로그 고려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실무적으로 로짿과 프로빗은 거의 동일한 결과 → 분야 관행을 따르는 것이 무난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최대우도추정 (MLE) 유도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왜 로그 손실인가?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0">
                <a:solidFill>
                  <a:srgbClr val="333333"/>
                </a:solidFill>
                <a:latin typeface="맑은 고딕"/>
              </a:defRPr>
            </a:pPr>
            <a:r>
              <a:t>n개의 독립 관측치 (xᵢ, yᵢ)에서 yᵢ ~ Bernoulli(pᵢ), pᵢ = σ(xᵢᵀβ)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우도함수 (Likelihood)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Cambria Math"/>
              </a:defRPr>
            </a:pPr>
            <a:r>
              <a:t>L(β) = ∏ᵢ₌₁ⁿ  pᵢ^yᵢ (1 - pᵢ)^(1-yᵢ)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로그우도함수 (Log-Likelihood)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Cambria Math"/>
              </a:defRPr>
            </a:pPr>
            <a:r>
              <a:t>ℓ(β) = Σᵢ₌₁ⁿ [ yᵢ ln(pᵢ) + (1 - yᵢ) ln(1 - pᵢ)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로그 손실과의 관계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Cambria Math"/>
              </a:defRPr>
            </a:pPr>
            <a:r>
              <a:t>Log Loss = -(1/n) × ℓ(β)    →    MLE ≡ 로그 손실 최소화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그래디언트, 헤시안, 볼록성 보장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그래디언트 (1차 도함수)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65D"/>
                </a:solidFill>
                <a:latin typeface="Cambria Math"/>
              </a:defRPr>
            </a:pPr>
            <a:r>
              <a:t>∂ℓ/∂βⱼ = Σᵢ (yᵢ - pᵢ) xᵢⱼ</a:t>
            </a:r>
            <a:br/>
            <a:br/>
            <a:r>
              <a:t>∇ℓ = Xᵀ(y - 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헤시안 (2차 도함수)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65D"/>
                </a:solidFill>
                <a:latin typeface="Cambria Math"/>
              </a:defRPr>
            </a:pPr>
            <a:r>
              <a:t>H = ∂²ℓ / ∂β∂βᵀ = -XᵀWX</a:t>
            </a:r>
            <a:br/>
            <a:br/>
            <a:r>
              <a:t>W = diag(pᵢ(1-pᵢ))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7A3D"/>
                </a:solidFill>
                <a:latin typeface="맑은 고딕"/>
              </a:defRPr>
            </a:pPr>
            <a:r>
              <a:t>볼록성 보장 (Convexity Guarantee)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H = -XᵀWX에서 W &gt; 0 (대각 원소 pᵢ(1-pᵢ) &gt; 0) → H는 음의 준정부호(NSD)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→ 로그우도는 오목(concave) → 음의 로그우도는 볼록(convex)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→ 지역 최적해 = 전역 최적해 → 경사하강법이 반드시 수렴!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C0392B"/>
                </a:solidFill>
                <a:latin typeface="맑은 고딕"/>
              </a:defRPr>
            </a:pPr>
            <a:r>
              <a:t>닫힌 해(Closed-form)가 없는 이유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∇ℓ = Xᵀ(y - p) = 0을 β에 대해 풀려면 p = σ(Xβ)의 비선형성 때문에 해석적 풀이 불가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→ 반복적 수치 최적화(iterative numerical optimization) 필요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논문 Tip: '로지스틱 회귀의 비용 함수는 볼록이므로 전역 최적해가 보장된다'는 신경망과의 중요한 차별점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최적화 알고리즘과 sklearn solver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알고리즘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sklearn solver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아이디어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적합한 상황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경사하강법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SGDClassifier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β ← β + α·Xᵀ(y-p)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대규모 데이터 (n &gt; 100K)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L-BFGS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(준뉴턴법)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lbfgs (기본값)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헤시안 근사 사용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메모리 효율적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중규모 데이터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대부분의 경우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뉴턴-랩슨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/ IRLS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newton-cg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newton-cholesky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β ← β - H⁻¹∇ℓ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정확한 헤시안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소규모 데이터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빠른 수렴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SAG / SAGA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sag / saga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확률적 평균 경사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SAGA: L1 지원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대규모 + L1 정규화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Coordinate</a:t>
                      </a:r>
                    </a:p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Descent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liblinear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좌표별 순차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소규모 + L1/L2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실전 가이드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기본값 lbfgs로 시작 → L1 필요 시 saga 또는 liblinear → 대규모 데이터 시 sag/saga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max_iter 충분히 설정 (기본 100 → 1000~5000 권장), 수렴 경고(ConvergenceWarning) 시 증가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9A3C"/>
                </a:solidFill>
                <a:latin typeface="맑은 고딕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계수의 통계적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맑은 고딕"/>
              </a:defRPr>
            </a:pPr>
            <a:r>
              <a:t>Odds Ratio, Wald Test, Likelihood Ratio Test, VIF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오즈비(Odds Ratio) 심층 이해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Cambria Math"/>
              </a:defRPr>
            </a:pPr>
            <a:r>
              <a:t>ORⱼ = Odds(xⱼ + 1) / Odds(xⱼ) = e^βⱼ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해석 규칙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βⱼ &gt; 0 → OR &gt; 1 → 양성 확률 증가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βⱼ = 0 → OR = 1 → 영향 없음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βⱼ &lt; 0 → OR &lt; 1 → 양성 확률 감소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377440"/>
            <a:ext cx="5212080" cy="13716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C0392B"/>
                </a:solidFill>
                <a:latin typeface="맑은 고딕"/>
              </a:defRPr>
            </a:pPr>
            <a:r>
              <a:t>연속형 변수의 단위 변환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Age의 OR(1세) = e^β = 0.961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Age의 OR(10세) = e^(10β) = 0.670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→ 논문에서는 해석 의미 있는 단위 선택!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41148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피처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계수 (β)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OR = e^β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Pclass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-1.182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등급 1단위↑ → 생존 오즈 69.3% 감소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-0.040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1세↑ → 생존 오즈 3.9% 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Age (10세)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-0.399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10세↑ → 생존 오즈 32.9% 감소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Sex_male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-2.569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남성 = 여성의 7.7% (92.3% 낮음)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Wald 검정과 95% 신뢰구간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Wald 검정 (개별 계수 유의성)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65D"/>
                </a:solidFill>
                <a:latin typeface="Cambria Math"/>
              </a:defRPr>
            </a:pPr>
            <a:r>
              <a:t>zⱼ = β̂ⱼ / SE(β̂ⱼ)</a:t>
            </a:r>
            <a:br/>
            <a:br/>
            <a:r>
              <a:t>H₀: βⱼ = 0 → z ~ N(0,1)</a:t>
            </a:r>
            <a:br/>
            <a:r>
              <a:t>p-value &lt; 0.05 →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오즈비의 95% 신뢰구간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65D"/>
                </a:solidFill>
                <a:latin typeface="Cambria Math"/>
              </a:defRPr>
            </a:pPr>
            <a:r>
              <a:t>CI₉₅%(OR) = exp(β̂ⱼ ± 1.96 × SE(β̂ⱼ))</a:t>
            </a:r>
            <a:br/>
            <a:br/>
            <a:r>
              <a:t>CI가 1을 포함 → 유의하지 않음</a:t>
            </a:r>
            <a:br/>
            <a:r>
              <a:t>CI가 1을 불포함 → 유의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698480" cy="13716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C0392B"/>
                </a:solidFill>
                <a:latin typeface="맑은 고딕"/>
              </a:defRPr>
            </a:pPr>
            <a:r>
              <a:t>논문 Tip: 결과 보고 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반드시 오즈비(OR) + 95% 신뢰구간(CI) + p-value를 함께 보고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예: 'Sex_male (OR = 0.077, 95% CI [0.045, 0.131], p &lt; 0.001)'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신뢰구간이 1을 포함하면 통계적으로 유의하지 않으므로 해석에 주의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statsmodels.api as sm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logit_model = sm.Logit(y_train, sm.add_constant(X_train))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result = logit_model.fit()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print(result.summary())  # coef, std err, z, P&gt;|z|, [0.025, 0.975]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# 오즈비: np.exp(result.params)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# 95% CI: np.exp(result.conf_int())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우도비 검정 (Likelihood Ratio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65D"/>
                </a:solidFill>
                <a:latin typeface="Cambria Math"/>
              </a:defRPr>
            </a:pPr>
            <a:r>
              <a:t>Λ = -2(ℓ_reduced - ℓ_full) ~ χ²(df)</a:t>
            </a:r>
            <a:br/>
            <a:r>
              <a:t>df = 풀 모형 파라미터 수 - 축소 모형 파라미터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사용 시기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변수 제거의 통계적 정당화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그룹 변수(더미 세트)의 전체 유의성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모형 적합도의 전반적 개선 여부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5029200" cy="22860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scipy import stats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full = sm.Logit(y, sm.add_constant(X)).fit(disp=0)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reduced = sm.Logit(y, sm.add_constant(X_red)).fit(disp=0)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LR = -2 * (reduced.llf - full.llf)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p = stats.chi2.sf(LR, df=1)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print(f'LR={LR:.3f}, p={p:.4f}')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C0392B"/>
                </a:solidFill>
                <a:latin typeface="맑은 고딕"/>
              </a:defRPr>
            </a:pPr>
            <a:r>
              <a:t>논문 보고 예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'Age를 제거해도 모형 적합도가 유의하게 나빠지지 않았다 (LRT, χ²=2.31, df=1, p=0.128)'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Wald 검정은 개별 계수, 우도비 검정은 모형 비교 → 변수 선택의 정당화에 활용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다중공선성과 VIF (Variance Inflation Factor)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73152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Cambria Math"/>
              </a:defRPr>
            </a:pPr>
            <a:r>
              <a:t>VIFⱼ = 1 / (1 - R²ⱼ)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VIF 값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 방법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다중공선성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조치 불필요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1 ~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약한 다중공선성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보통 허용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5 ~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중간 다중공선성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주의 필요 → 변수 결합 고려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&gt; 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심각한 다중공선성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변수 제거, PCA, 또는 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statsmodels.stats.outliers_influence import variance_inflation_factor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X_vif = sm.add_constant(X_train)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vif = pd.DataFrame({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'Feature': X_vif.columns,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'VIF': [variance_inflation_factor(X_vif.values, i) for i in range(X_vif.shape[1])]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9A3C"/>
                </a:solidFill>
                <a:latin typeface="맑은 고딕"/>
              </a:defRPr>
            </a:pPr>
            <a: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모델 평가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맑은 고딕"/>
              </a:defRPr>
            </a:pPr>
            <a:r>
              <a:t>ROC-AUC, PR Curve, Calibration, Hosmer-Lemeshow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혼동 행렬과 파생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예측: 음성 (0)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예측: 양성 (1)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실제: 음성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TN (True Negative)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FP (Type I 오류)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실제: 양성 (1)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FN (Type II 오류)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TP (True Positive)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918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중요한 상황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(TP+TN) /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전체 정답률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클래스 균형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TP / (TP+FP)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양성 예측 정확성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FP 비용이 클 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TP / (TP+FN)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양성 포착률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FN 비용이 클 때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TN / (TN+FP)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음성 포착률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TN 중요할 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2×P×R / (P+R)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Prec-Rec 조화평균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불균형 데이터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1371600"/>
            <a:ext cx="5212080" cy="1645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C0392B"/>
                </a:solidFill>
                <a:latin typeface="맑은 고딕"/>
              </a:defRPr>
            </a:pPr>
            <a:r>
              <a:t>비용의 비대칭성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의료: FN 치명적 (질환 놓침)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스팸: FP 치명적 (정상메일 차단)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→ 도메인에 따라 평가 지표 선택!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ROC 곡선과 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ROC 곡선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임계값 0→1 변화시키며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X축: FPR (1 - Specificity)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Y축: TPR (Recall/Sensitivity)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AUC의 확률적 해석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AUC = P(p̂_positive &gt; p̂_negative)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= 양성 샘플의 예측 확률이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음성 샘플보다 높을 확률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AUC 값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판별력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무작위 추측 수준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0.6 ~ 0.7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약한 판별력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0.7 ~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적절한 판별력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0.8 ~ 0.9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좋은 판별력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0.9 ~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맑은 고딕"/>
                        </a:defRPr>
                      </a:pPr>
                      <a:r>
                        <a:t>우수한 판별력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389120"/>
            <a:ext cx="10698480" cy="210312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from sklearn.metrics import roc_curve, roc_auc_score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prob = model.predict_proba(X_test)[:, 1]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fpr, tpr, thresholds = roc_curve(y_test, prob)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auc_val = roc_auc_score(y_test, prob)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# Youden's J: 최적 임계값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J = tpr - fpr</a:t>
            </a:r>
          </a:p>
          <a:p>
            <a:pPr>
              <a:defRPr sz="1300">
                <a:solidFill>
                  <a:srgbClr val="333333"/>
                </a:solidFill>
                <a:latin typeface="Consolas"/>
              </a:defRPr>
            </a:pPr>
            <a:r>
              <a:t>optimal_threshold = thresholds[np.argmax(J)]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PR Curve, 보정 곡선, Hosmer-Lemeshow 검정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PR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불균형 데이터(양성 &lt; 10%)에서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ROC보다 정보를 잘 전달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AP(Average Precision)로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보정 곡선 (Calibration)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예측 확률 0.8인 그룹에서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실제 80%가 양성인지 확인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로지스틱 회귀: 자연스럽게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잘 보정됨 (주요 장점!)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Hosmer-Lemeshow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예측 확률 10분위 그룹별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관찰 vs 기대 빈도 비교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χ² 검정 → p &gt; 0.05이면 적합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H₀: 모형이 데이터에 적합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논문에서의 평가 보고 가이드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필수: AUC + 95% CI (모든 분류 논문의 표준)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불균형 데이터: + PR Curve / AP (양성 비율이 낮을 때)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확률 활용 도메인(의료/금융): + Calibration Curve + Hosmer-Lemeshow 검정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정확도(Accuracy)만으로는 부족! → 반드시 AUC를 주요 지표로 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9A3C"/>
                </a:solidFill>
                <a:latin typeface="맑은 고딕"/>
              </a:defRPr>
            </a:pPr>
            <a: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정규화와 변수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맑은 고딕"/>
              </a:defRPr>
            </a:pPr>
            <a:r>
              <a:t>L1/L2/Elastic Net Regularization, Variable Selection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L2 정규화 (Ridge) vs L1 정규화 (Lasso)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L2 정규화 (Ridge)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400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65D"/>
                </a:solidFill>
                <a:latin typeface="Cambria Math"/>
              </a:defRPr>
            </a:pPr>
            <a:r>
              <a:t>J(β) = -ℓ(β) + (λ/2) ||β||₂²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계수를 0 근처로 축소 (shrinkage)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정확히 0이 되지는 않음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다중공선성 완화에 효과적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sklearn: penalty='l2' (기본값)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65D"/>
                </a:solidFill>
                <a:latin typeface="맑은 고딕"/>
              </a:defRPr>
            </a:pPr>
            <a:r>
              <a:t>L1 정규화 (Lasso)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6400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65D"/>
                </a:solidFill>
                <a:latin typeface="Cambria Math"/>
              </a:defRPr>
            </a:pPr>
            <a:r>
              <a:t>J(β) = -ℓ(β) + λ ||β||₁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일부 계수를 정확히 0으로 만듦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→ 자동 변수 선택 (Feature Selection)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고차원 데이터 (p &gt;&gt; n)에 유용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  •  sklearn: penalty='l1', solver='saga'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Elastic Net: J(β) = -ℓ(β) + λ[ρ||β||₁ + (1-ρ)/2 ||β||₂²]  →  L1 + L2 혼합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47548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비교 항목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L2 (Ridge)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L1 (Lasso)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Elastic Net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계수 축소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 근처로 축소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일부를 정확히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축소 + 일부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변수 선택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불가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가능 (sparse)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가능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다중공선성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잘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불안정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잘 처리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sklearn C=1/λ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C 크면 약한 정규화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C 크면 약한 정규화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l1_ratio로 비율 조절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정규화 강도(C) 튜닝과 변수 선택 실전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solidFill>
            <a:srgbClr val="EEF0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65D"/>
                </a:solidFill>
                <a:latin typeface="Cambria Math"/>
              </a:defRPr>
            </a:pPr>
            <a:r>
              <a:t>C = 1/λ    →    C 클수록 정규화 약함 (원래 모형)  |  C 작을수록 정규화 강함 (단순 모형)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22860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C 튜닝: 교차검증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sklearn.model_selection import cross_val_score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C_values = [0.001, 0.01, 0.1, 1, 10, 100]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for C in C_values: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model = LogisticRegression(C=C, penalty='l2')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auc = cross_val_score(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model, X_train, y_train,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cv=5, scoring='roc_auc'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).mean()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print(f'C={C:.3f}: AUC={auc:.4f}')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L1으로 변수 선택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model_l1 = LogisticRegression(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penalty='l1', C=0.1,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solver='saga', max_iter=5000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model_l1.fit(X_train_scaled, y_train)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coef = pd.Series(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model_l1.coef_[0], index=X.columns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selected = coef[coef != 0]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print(f'선택: {len(selected)}/{len(coef)}')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1B365D"/>
                </a:solidFill>
                <a:latin typeface="맑은 고딕"/>
              </a:defRPr>
            </a:pPr>
            <a:r>
              <a:t>실전 가이드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1. 정규화 적용 전 반드시 StandardScaler로 피처 스케일링 (스케일에 민감)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2. C 탐색 범위: 보통 10⁻³ ~ 10³ 로그 스케일로 탐색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3. 변수 선택이 목적이면 L1, 예측 성능이 목적이면 L2가 일반적으로 무난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9A3C"/>
                </a:solidFill>
                <a:latin typeface="맑은 고딕"/>
              </a:defRPr>
            </a:pPr>
            <a: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실전과 논문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맑은 고딕"/>
              </a:defRPr>
            </a:pPr>
            <a:r>
              <a:t>Advanced Feature Engineering, Paper Writing, Research Ideas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고급 피처 엔지니어링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기본 강의의 family 변수를 넘어서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 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 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호칭 추출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Name: 'Braund, Mr. Owen'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Title: 'Mr'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사회적 지위/성별 반영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가족 크기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SibSp=1, Parch=0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FamilySize=2, IsAlone=0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가족 동반 효과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나이 구간화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Age=29.3 (연속형)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AgeBin='Young' (범주형)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비선형 관계 포착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요금 구간화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Fare=71.28 (연속형)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FareBin='High' (범주형)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이상치 영향 완화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상호작용 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Pclass, Sex 개별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Pclass × Sex_male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등급별 성별 효과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호칭 추출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data['Title'] = data['Name'].str.extract(r' ([A-Za-z]+)\\.')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title_map = {'Mr':'Mr','Miss':'Miss','Mrs':'Mrs','Master':'Master'}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data['Title'] = data['Title'].map(title_map).fillna('Rare')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# 가족 크기 + 혼자 여행 여부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data['FamilySize'] = data['SibSp'] + data['Parch'] + 1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data['IsAlone'] = (data['FamilySize'] == 1).astype(int)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논문 결과 보고 형식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오즈비 테이블과 결과 서술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65D"/>
                </a:solidFill>
                <a:latin typeface="Consolas"/>
              </a:defRPr>
            </a:pPr>
            <a:r>
              <a:t>Table 2. Logistic Regression Results for Titanic Survival Prediction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Coef (β)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OR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Sig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Pclass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[0.219, 0.430]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Age (per 10y)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-0.399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0.671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[0.523, 0.861]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**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Sex_male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-2.569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[0.045, 0.131]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FamilySize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-0.156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[0.741, 0.988]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Embarked_Q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[0.512, 1.668]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Embarked_S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-0.236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[0.521, 1.198]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  <a:r>
                        <a:t>0.267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결과 서술 예시 (Results Section)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"로지스틱 회귀 분석 결과, 성별(Sex_male: OR = 0.077, 95% CI [0.045, 0.131], p &lt; 0.001)이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생존 여부에 가장 강한 영향을 미치는 것으로 나타났다. 남성의 생존 오즈는 여성에 비해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약 92.3% 낮았다. 객실 등급(Pclass: OR = 0.307, 95% CI [0.219, 0.430], p &lt; 0.001)도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유의한 예측 변수로, 등급이 한 단계 낮아질 때마다 생존 오즈가 69.3% 감소하였다.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모델의 판별력은 AUC = 0.862로 양호하였으며, Hosmer-Lemeshow 검정에서</a:t>
            </a:r>
          </a:p>
          <a:p>
            <a:pPr>
              <a:spcAft>
                <a:spcPts val="48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적합도가 충분한 것으로 확인되었다 (χ²(8) = 7.23, p = 0.512)."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논문 작성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로지스틱 회귀 결과 보고 시 필수 확인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1. 모델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사용 모델, 정규화 여부, solver, 하이퍼파라미터 명시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2. 변수 기술통계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48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각 독립변수의 평균, SD, 범위 (또는 빈도/비율)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3. 다중공선성 진단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VIF 테이블 → VIF &gt; 10인 변수 처리 내역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4. 주요 결과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11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계수(β), 오즈비(OR), 95% CI, p-value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5. 모델 적합도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43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Pseudo R² (McFadden), Log-Likelihood, AIC/BIC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6. 판별력 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074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AUC + 95% CI, K-fold 교차검증 결과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7. 보정/적합도 검정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806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Calibration Curve, Hosmer-Lemeshow 검정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한계와 대안 모델 / 로지스틱 회귀의 비교 우위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한계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선형 결정경계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선형으로만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SVM(커널), 신경망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상호작용 미학습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자동 학습 불가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트리 모델, 수동 추가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비선형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logit-선형 가정 위반시 성능↓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GAM, XGBoost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고차원 (p&gt;&gt;n)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L1 없이는 성능 저하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Elastic Net, 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그럼에도 로지스틱 회귀를 선택해야 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1. 해석 가능성: 오즈비로 직접 해석 → XAI(Explainable AI) 불필요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2. 통계적 추론: p-value, 신뢰구간, 우도비 검정 등 풍부한 추론 도구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3. 확률 보정: 자연스럽게 잘 보정된 확률 출력 (vs Random Forest, SVM)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4. 규제 요건: 의료, 금융에서 설명 가능 모델 요구 시 적합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  •  5. 소규모 데이터: 적은 데이터에서도 안정적 (딥러닝보다 유리)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논문 주제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맑은 고딕"/>
              </a:defRPr>
            </a:pPr>
            <a:r>
              <a:t>로지스틱 회귀를 중심으로 한 연구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방법론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A1. 불균형 데이터 + 정규화 전략 비교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SMOTE + L1/L2/Elastic Net 조합 체계적 비교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A2. 고차원 변수 선택: Lasso vs Stability Selection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유전체(genomics) 데이터에서 유의한 SNP 식별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A3. 해석성-성능 트레이드오프 연구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Penalized LR vs XGBoost + SHAP 비교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응용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B1. COVID-19 중증화 예측 스코어카드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임상 변수 → 위험도 점수 → Nomogram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B2. 온라인 학습 학생 이탈 예측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LMS 로그 데이터 + 조기 개입 임계값 최적화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20"/>
              </a:spcAft>
              <a:defRPr sz="1500" b="1">
                <a:solidFill>
                  <a:srgbClr val="2E75B6"/>
                </a:solidFill>
                <a:latin typeface="맑은 고딕"/>
              </a:defRPr>
            </a:pPr>
            <a:r>
              <a:t>B3. 텍스트 감성 분류 파이프라인</a:t>
            </a:r>
          </a:p>
          <a:p>
            <a:pPr>
              <a:spcAft>
                <a:spcPts val="520"/>
              </a:spcAft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TF-IDF + L1 LR vs BERT 성능-비용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700" b="1">
                <a:solidFill>
                  <a:srgbClr val="C0392B"/>
                </a:solidFill>
                <a:latin typeface="맑은 고딕"/>
              </a:defRPr>
            </a:pPr>
            <a:r>
              <a:t>연구 수행 팁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1. 로지스틱 회귀를 '단순한 베이스라인'이 아닌 '해석 가능한 주력 모델'로 포지셔닝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2. 통계적 추론(OR, CI, p-value)과 ML 평가(AUC, CV)를 모두 보고하면 리뷰어 설득력 ↑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3. 모델의 한계를 인정하되, 해석력과 보정 품질에서의 우위를 강조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핵심 요약: 기본 vs 중급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기본 강의 수준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본 중급 강의 수준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수학적 기초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시그모이드 함수 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MLE 유도, 그래디언트/헤시안, IRLS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계수 해석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양수=증가, 음수=감소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오즈비 + 95% CI + p-value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정확도(Accuracy)만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ROC-AUC, PR Curve, Calibration, H-L 검정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정규화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언급 없음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L1/L2/Elastic Net + C 튜닝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통계 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sklearn만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statsmodels (summary, Wald, LRT)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검증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단일 train/test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Stratified K-Fold 교차검증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변수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nunique() 기준 제거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VIF + LRT + L1 자동 선택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논문 활용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맑은 고딕"/>
                        </a:defRPr>
                      </a:pPr>
                      <a:r>
                        <a:t>결과 보고 형식, 서술 예시, 연구 주제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참고 문헌 및 추가 학습 자료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381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교과서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1. Hosmer, Lemeshow &amp; Sturdivant (2013). Applied Logistic Regression (3rd ed.). Wiley.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2. Agresti (2015). Foundations of Linear and Generalized Linear Models. Wiley.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3. James, Witten, Hastie &amp; Tibshirani (2021). ISLR (2nd ed.). Springer. [무료 PDF]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4. Hastie, Tibshirani &amp; Friedman (2009). ESL (2nd ed.). Springer. [무료 PDF]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6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온라인 자료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5. scikit-learn: LogisticRegression 공식 문서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6. statsmodels: Logit / GLM 공식 문서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7. Andrew Ng, Machine Learning (Coursera) - Logistic Regression 강의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560"/>
              </a:spcAft>
              <a:defRPr sz="1800" b="1">
                <a:solidFill>
                  <a:srgbClr val="1B365D"/>
                </a:solidFill>
                <a:latin typeface="맑은 고딕"/>
              </a:defRPr>
            </a:pPr>
            <a:r>
              <a:t>실습 코드</a:t>
            </a:r>
          </a:p>
          <a:p>
            <a:pPr>
              <a:spcAft>
                <a:spcPts val="560"/>
              </a:spcAft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8. 강의록: 5장_로지스틱회귀_중급_강의록.md (본 강의의 전체 코드 포함)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08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9A3C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맑은 고딕"/>
              </a:defRPr>
            </a:pPr>
            <a:r>
              <a:t>Chapter 05 - 로지스틱 회귀 (중급): 수리적 기초부터 논문 활용까지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