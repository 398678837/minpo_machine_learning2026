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맑은 고딕"/>
              </a:defRPr>
            </a:pPr>
            <a:r>
              <a:t>기계학습 (Machine Learning)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91640"/>
            <a:ext cx="274320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맑은 고딕"/>
              </a:defRPr>
            </a:pPr>
            <a:r>
              <a:t>5장: 로지스틱 회귀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BBBBCC"/>
                </a:solidFill>
                <a:latin typeface="맑은 고딕"/>
              </a:defRPr>
            </a:pPr>
            <a:r>
              <a:t>Logistic Regression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9319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8C00"/>
                </a:solidFill>
                <a:latin typeface="맑은 고딕"/>
              </a:defRPr>
            </a:pPr>
            <a:r>
              <a:t>[ 확장 상세 버전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5720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99"/>
                </a:solidFill>
                <a:latin typeface="맑은 고딕"/>
              </a:defRPr>
            </a:pPr>
            <a:r>
              <a:t>핵심 키워드: 분류 · 시그모이드 · 로그 손실 · 오즈비 · 소프트맥스 · 판별 모델 · 희귀 이벤트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029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99"/>
                </a:solidFill>
                <a:latin typeface="맑은 고딕"/>
              </a:defRPr>
            </a:pPr>
            <a:r>
              <a:t>참고 논문: Cox(1958), Hosmer &amp; Lemeshow(2000), King &amp; Zeng(2001), Ng &amp; Jordan(2002), Menard(2002)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5760720"/>
            <a:ext cx="12191695" cy="1097280"/>
          </a:xfrm>
          <a:prstGeom prst="rect">
            <a:avLst/>
          </a:prstGeom>
          <a:solidFill>
            <a:srgbClr val="0A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943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99"/>
                </a:solidFill>
                <a:latin typeface="맑은 고딕"/>
              </a:defRPr>
            </a:pPr>
            <a:r>
              <a:t>2026년 1학기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목차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Table of Contents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BBBBCC"/>
                </a:solidFill>
                <a:latin typeface="맑은 고딕"/>
              </a:defRPr>
            </a:pPr>
            <a:r>
              <a:t>5.1  분류 문제의 본질 - 왜 선형회귀로 분류하면 안 되는지</a:t>
            </a:r>
          </a:p>
          <a:p>
            <a:pPr>
              <a:spcAft>
                <a:spcPts val="1400"/>
              </a:spcAft>
              <a:defRPr sz="1800">
                <a:solidFill>
                  <a:srgbClr val="BBBBCC"/>
                </a:solidFill>
                <a:latin typeface="맑은 고딕"/>
              </a:defRPr>
            </a:pPr>
            <a:r>
              <a:t>5.2  시그모이드와 로짓 - 오즈비, 로짓 변환</a:t>
            </a:r>
          </a:p>
          <a:p>
            <a:pPr>
              <a:spcAft>
                <a:spcPts val="1400"/>
              </a:spcAft>
              <a:defRPr sz="1800">
                <a:solidFill>
                  <a:srgbClr val="BBBBCC"/>
                </a:solidFill>
                <a:latin typeface="맑은 고딕"/>
              </a:defRPr>
            </a:pPr>
            <a:r>
              <a:t>5.3  MLE와 크로스엔트로피 - 우도함수, 로그우도, 경사하강법</a:t>
            </a:r>
          </a:p>
          <a:p>
            <a:pPr>
              <a:spcAft>
                <a:spcPts val="1400"/>
              </a:spcAft>
              <a:defRPr sz="1800">
                <a:solidFill>
                  <a:srgbClr val="BBBBCC"/>
                </a:solidFill>
                <a:latin typeface="맑은 고딕"/>
              </a:defRPr>
            </a:pPr>
            <a:r>
              <a:t>5.4  경사하강법 - 배치/미니배치/SGD 비교, 학습률 선택</a:t>
            </a:r>
          </a:p>
          <a:p>
            <a:pPr>
              <a:spcAft>
                <a:spcPts val="1400"/>
              </a:spcAft>
              <a:defRPr sz="1800">
                <a:solidFill>
                  <a:srgbClr val="BBBBCC"/>
                </a:solidFill>
                <a:latin typeface="맑은 고딕"/>
              </a:defRPr>
            </a:pPr>
            <a:r>
              <a:t>5.5  다중 클래스 - 소프트맥스, OvR, OvO 전략</a:t>
            </a:r>
          </a:p>
          <a:p>
            <a:pPr>
              <a:spcAft>
                <a:spcPts val="1400"/>
              </a:spcAft>
              <a:defRPr sz="1800">
                <a:solidFill>
                  <a:srgbClr val="BBBBCC"/>
                </a:solidFill>
                <a:latin typeface="맑은 고딕"/>
              </a:defRPr>
            </a:pPr>
            <a:r>
              <a:t>5.6  판별 vs 생성 모델 - Ng&amp;Jordan(2002) 기반 비교</a:t>
            </a:r>
          </a:p>
          <a:p>
            <a:pPr>
              <a:spcAft>
                <a:spcPts val="1400"/>
              </a:spcAft>
              <a:defRPr sz="1800">
                <a:solidFill>
                  <a:srgbClr val="BBBBCC"/>
                </a:solidFill>
                <a:latin typeface="맑은 고딕"/>
              </a:defRPr>
            </a:pPr>
            <a:r>
              <a:t>5.7  희귀 이벤트 - King&amp;Zeng(2001) 불균형 데이터 편향 보정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목차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Table of Contents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BBBBCC"/>
                </a:solidFill>
                <a:latin typeface="맑은 고딕"/>
              </a:defRPr>
            </a:pPr>
            <a:r>
              <a:t>5.8   모델 평가 - ROC/AUC, 혼동행렬, Precision/Recall/F1/MCC</a:t>
            </a:r>
          </a:p>
          <a:p>
            <a:pPr>
              <a:spcAft>
                <a:spcPts val="1400"/>
              </a:spcAft>
              <a:defRPr sz="1800">
                <a:solidFill>
                  <a:srgbClr val="BBBBCC"/>
                </a:solidFill>
                <a:latin typeface="맑은 고딕"/>
              </a:defRPr>
            </a:pPr>
            <a:r>
              <a:t>5.9   논문 리뷰 - Cox(1958), Hosmer&amp;Lemeshow, Menard 등</a:t>
            </a:r>
          </a:p>
          <a:p>
            <a:pPr>
              <a:spcAft>
                <a:spcPts val="1400"/>
              </a:spcAft>
              <a:defRPr sz="1800">
                <a:solidFill>
                  <a:srgbClr val="BBBBCC"/>
                </a:solidFill>
                <a:latin typeface="맑은 고딕"/>
              </a:defRPr>
            </a:pPr>
            <a:r>
              <a:t>5.10  실습: 로지스틱 회귀 스크래치 구현</a:t>
            </a:r>
          </a:p>
          <a:p>
            <a:pPr>
              <a:spcAft>
                <a:spcPts val="1400"/>
              </a:spcAft>
              <a:defRPr sz="1800">
                <a:solidFill>
                  <a:srgbClr val="BBBBCC"/>
                </a:solidFill>
                <a:latin typeface="맑은 고딕"/>
              </a:defRPr>
            </a:pPr>
            <a:r>
              <a:t>5.11  실습: 판별 vs 생성 비교</a:t>
            </a:r>
          </a:p>
          <a:p>
            <a:pPr>
              <a:spcAft>
                <a:spcPts val="1400"/>
              </a:spcAft>
              <a:defRPr sz="1800">
                <a:solidFill>
                  <a:srgbClr val="BBBBCC"/>
                </a:solidFill>
                <a:latin typeface="맑은 고딕"/>
              </a:defRPr>
            </a:pPr>
            <a:r>
              <a:t>5.12  실습: 희귀 이벤트 보정</a:t>
            </a:r>
          </a:p>
          <a:p>
            <a:pPr>
              <a:spcAft>
                <a:spcPts val="1400"/>
              </a:spcAft>
              <a:defRPr sz="1800">
                <a:solidFill>
                  <a:srgbClr val="BBBBCC"/>
                </a:solidFill>
                <a:latin typeface="맑은 고딕"/>
              </a:defRPr>
            </a:pPr>
            <a:r>
              <a:t>5.13  응용사례 - 사기탐지, 질병진단, 고객이탈</a:t>
            </a:r>
          </a:p>
          <a:p>
            <a:pPr>
              <a:spcAft>
                <a:spcPts val="1400"/>
              </a:spcAft>
              <a:defRPr sz="1800">
                <a:solidFill>
                  <a:srgbClr val="BBBBCC"/>
                </a:solidFill>
                <a:latin typeface="맑은 고딕"/>
              </a:defRPr>
            </a:pPr>
            <a:r>
              <a:t>5.14  핵심 요약 + 복습 질문 10개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학습 목표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Learning Objectives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이론적 목표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로지스틱 회귀의 수학적 원리 (시그모이드, 로짓, MLE) 이해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로그 손실(크로스엔트로피)과 그래디언트 유도 과정 이해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판별 모델 vs 생성 모델의 이론적 비교 (Ng &amp; Jordan)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희소 사건에서의 MLE 편향과 보정 방법 (King &amp; Zeng)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실습적 목표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28600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로지스틱 회귀를 밑바닥부터(scratch) 구현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sklearn LogisticRegression 활용 및 성능 비교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ROC/AUC, 혼동행렬 등 분류 모델 평가 수행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사기탐지/질병진단/고객이탈 응용사례 분석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389120"/>
            <a:ext cx="1106424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4805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참고 논문 5편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84632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Cox(1958) - 로지스틱 회귀의 수학적 기초 정립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Hosmer &amp; Lemeshow(2000) - 실용적 모델 구축 프레임워크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King &amp; Zeng(2001) - 희소 사건 편향 분석 및 보정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Ng &amp; Jordan(2002) - 판별 vs 생성 모델 비교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Menard(2002) - OLS 비교를 통한 로지스틱 회귀 입문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96FF"/>
                </a:solidFill>
                <a:latin typeface="맑은 고딕"/>
              </a:defRPr>
            </a:pPr>
            <a:r>
              <a:t>SECTION 5.1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468880"/>
            <a:ext cx="210312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t>분류 문제의 본질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맑은 고딕"/>
              </a:defRPr>
            </a:pPr>
            <a:r>
              <a:t>왜 선형회귀로 분류하면 안 되는지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5.1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회귀와 분류의 근본적 차이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22860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구분</a:t>
            </a:r>
          </a:p>
        </p:txBody>
      </p:sp>
      <p:sp>
        <p:nvSpPr>
          <p:cNvPr id="7" name="Rectangle 6"/>
          <p:cNvSpPr/>
          <p:nvPr/>
        </p:nvSpPr>
        <p:spPr>
          <a:xfrm>
            <a:off x="2834640" y="1828800"/>
            <a:ext cx="41148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34640" y="18288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선형 회귀</a:t>
            </a:r>
          </a:p>
        </p:txBody>
      </p:sp>
      <p:sp>
        <p:nvSpPr>
          <p:cNvPr id="9" name="Rectangle 8"/>
          <p:cNvSpPr/>
          <p:nvPr/>
        </p:nvSpPr>
        <p:spPr>
          <a:xfrm>
            <a:off x="6949440" y="1828800"/>
            <a:ext cx="41148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0" y="18288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로지스틱 회귀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286000"/>
            <a:ext cx="22860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2860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문제 유형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34640" y="2286000"/>
            <a:ext cx="41148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34640" y="22860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회귀 (Regression)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49440" y="2286000"/>
            <a:ext cx="41148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9440" y="22860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분류 (Classification)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743200"/>
            <a:ext cx="22860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2743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출력값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34640" y="2743200"/>
            <a:ext cx="41148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34640" y="27432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연속 수치 (-inf ~ +inf)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49440" y="2743200"/>
            <a:ext cx="41148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49440" y="27432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클래스 확률 (0~1)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200400"/>
            <a:ext cx="22860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2004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예시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34640" y="3200400"/>
            <a:ext cx="41148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834640" y="32004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주택 가격, 보험료 예측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949440" y="3200400"/>
            <a:ext cx="41148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49440" y="32004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생존/사망, 스팸/정상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3657600"/>
            <a:ext cx="22860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3657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활성화 함수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834640" y="3657600"/>
            <a:ext cx="41148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834640" y="36576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없음 (항등 함수)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949440" y="3657600"/>
            <a:ext cx="41148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49440" y="36576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시그모이드 (Sigmoid)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4114800"/>
            <a:ext cx="22860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4114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비용 함수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834640" y="4114800"/>
            <a:ext cx="41148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834640" y="41148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MSE (평균제곱오차)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949440" y="4114800"/>
            <a:ext cx="41148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949440" y="41148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Log Loss (로그 손실)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8C00"/>
                </a:solidFill>
                <a:latin typeface="맑은 고딕"/>
              </a:defRPr>
            </a:pPr>
            <a:r>
              <a:t>* 로지스틱 회귀는 이름에 '회귀'가 있지만 실제로는 분류(Classification) 알고리즘이다.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5.1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선형 회귀로 분류 시 문제점 (Menard, 2002)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5303520" cy="2103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t>문제 1: 확률 범위 위반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4937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선형 회귀 출력: y_hat = w^T x + b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범위: (-inf, +inf) -&gt; 확률 [0,1] 위반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예측값이 0 미만 또는 1 초과 가능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5303520" cy="2103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t>문제 2: 이분산성 (Heteroscedasticity)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286000"/>
            <a:ext cx="4937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이진 종속 변수의 오차 분산: y_hat(1-y_hat)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예측값에 따라 분산이 달라짐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OLS의 등분산성 가정 위배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206240"/>
            <a:ext cx="5303520" cy="2103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2976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t>문제 3: 비정규 오차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663440"/>
            <a:ext cx="4937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실제값이 0 또는 1뿐 -&gt; 잔차가 이산적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정규성 가정 완전히 위배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t-검정, F-검정 등 통계 추론 부적절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206240"/>
            <a:ext cx="5303520" cy="2103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42976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t>문제 4: 비선형 관계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663440"/>
            <a:ext cx="4937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실제 확률과 설명 변수: S자 곡선(S-curve)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0이나 1에 가까울수록 포화(saturation) 현상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직선으로는 이 관계를 표현할 수 없음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5.1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로지스틱 회귀의 핵심 아이디어 - Cox(1958)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2FF"/>
                </a:solidFill>
                <a:latin typeface="맑은 고딕"/>
              </a:defRPr>
            </a:pPr>
            <a:r>
              <a:t>시그모이드 함수로 모든 문제를 해결!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60320"/>
            <a:ext cx="10515600" cy="10972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696"/>
                </a:solidFill>
                <a:latin typeface="Consolas"/>
              </a:defRPr>
            </a:pPr>
            <a:r>
              <a:t>입력(X)  --&gt;  선형 결합(z = w^T x + b)  --&gt;  시그모이드(sigma)  --&gt;  확률(P)  --&gt;  클래스(0 또는 1)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93192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0233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시그모이드의 역할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38912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(-inf, +inf) 범위를 (0, 1)로 압축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확률 범위 위반 문제 해결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S자 곡선으로 비선형 관계 표현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미분이 깔끔하여 경사하강법에 적합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93192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0233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Cox(1958)의 기여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38912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'The Regression Analysis of Binary Sequences'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로짓 변환의 체계적 도입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MLE 기반 파라미터 추정 정립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이 논문이 로지스틱 회귀의 이론적 토대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D2FF"/>
                </a:solidFill>
                <a:latin typeface="맑은 고딕"/>
              </a:defRPr>
            </a:pPr>
            <a:r>
              <a:t>SECTION 5.2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468880"/>
            <a:ext cx="210312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t>시그모이드와 로짓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맑은 고딕"/>
              </a:defRPr>
            </a:pPr>
            <a:r>
              <a:t>오즈비, 로짓 변환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5.2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시그모이드 함수 (Sigmoid Function)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029200" cy="9144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E696"/>
                </a:solidFill>
                <a:latin typeface="Consolas"/>
              </a:defRPr>
            </a:pPr>
            <a:r>
              <a:t>sigma(z) = 1 / (1 + e^(-z)),   z = w^T x + b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017520"/>
            <a:ext cx="27432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0175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입력값 z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3017520"/>
            <a:ext cx="27432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30175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sigma(z)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3017520"/>
            <a:ext cx="50292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0" y="30175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해석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474720"/>
            <a:ext cx="27432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474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z -&gt; +inf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91840" y="3474720"/>
            <a:ext cx="27432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91840" y="3474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1에 가까움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35040" y="3474720"/>
            <a:ext cx="50292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35040" y="3474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양성 클래스(1) 확률 높음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931920"/>
            <a:ext cx="27432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931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z = 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91840" y="3931920"/>
            <a:ext cx="27432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91840" y="3931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0.5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35040" y="3931920"/>
            <a:ext cx="50292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35040" y="3931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결정 경계 (Decision Boundary)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389120"/>
            <a:ext cx="27432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4389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z -&gt; -inf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91840" y="4389120"/>
            <a:ext cx="27432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91840" y="4389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0에 가까움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35040" y="4389120"/>
            <a:ext cx="50292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35040" y="43891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음성 클래스(0) 확률 높음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5029200"/>
            <a:ext cx="5029200" cy="10972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5120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06CFF"/>
                </a:solidFill>
                <a:latin typeface="맑은 고딕"/>
              </a:defRPr>
            </a:pPr>
            <a:r>
              <a:t>미분 공식 (매우 중요!):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54864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696"/>
                </a:solidFill>
                <a:latin typeface="Consolas"/>
              </a:defRPr>
            </a:pPr>
            <a:r>
              <a:t>sigma'(z) = sigma(z) * (1 - sigma(z))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5.2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오즈(Odds)와 오즈비(Odds Ratio)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530352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오즈(Odds) 정의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Odds = P(사건 발생) / P(사건 미발생) = p / (1-p)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생존 p=0.75 -&gt; Odds = 3 ('생존 확률이 3배')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합격 p=0.50 -&gt; Odds = 1 ('동일')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발병 p=0.20 -&gt; Odds = 0.25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530352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오즈비(Odds Ratio) = e^(w_i)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28600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피처가 1단위 증가 시 오즈 변화 배수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w_i &gt; 0 -&gt; OR &gt; 1 -&gt; 양성 확률 증가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w_i = 0 -&gt; OR = 1 -&gt; 영향 없음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w_i &lt; 0 -&gt; OR &lt; 1 -&gt; 양성 확률 감소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931920"/>
            <a:ext cx="1106424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0233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의료 사례 - 흡연과 폐암 / 타이타닉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389120"/>
            <a:ext cx="106984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[흡연] 흡연자 폐암 Odds = 0.136, 비흡연자 = 0.0101 -&gt; OR = 13.5배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[타이타닉] Sex_male 계수 = -2.569 -&gt; OR = e^(-2.569) = 0.077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=&gt; 남성은 여성보다 생존 오즈가 약 92.3% 낮다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[타이타닉] Pclass 계수 = -1.182 -&gt; 등급 높아질수록 생존 오즈 감소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Menard(2002): 오즈비 외에 표준화 로짓 계수, 한계 효과 등 다양한 해석법 비교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5.2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로짓 변환 (Logit Transformation)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6400800" cy="8229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5943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E696"/>
                </a:solidFill>
                <a:latin typeface="Consolas"/>
              </a:defRPr>
            </a:pPr>
            <a:r>
              <a:t>logit(p) = ln(p / (1-p)) = z = w^T x + 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926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맑은 고딕"/>
              </a:defRPr>
            </a:pPr>
            <a:r>
              <a:t>범위의 일치 - 로짓 변환의 핵심적 의의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474720"/>
            <a:ext cx="32004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474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변환 단계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49040" y="3474720"/>
            <a:ext cx="27432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40" y="3474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범위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92240" y="3474720"/>
            <a:ext cx="45720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3474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의미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931920"/>
            <a:ext cx="32004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931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확률 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49040" y="3931920"/>
            <a:ext cx="27432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49040" y="3931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(0, 1)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92240" y="3931920"/>
            <a:ext cx="45720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3931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원래 확률 공간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389120"/>
            <a:ext cx="32004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3891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오즈 p/(1-p)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749040" y="4389120"/>
            <a:ext cx="27432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49040" y="4389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(0, +inf)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2240" y="4389120"/>
            <a:ext cx="45720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43891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비율 공간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846320"/>
            <a:ext cx="32004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48463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로짓 ln[p/(1-p)]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749040" y="4846320"/>
            <a:ext cx="27432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49040" y="4846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(-inf, +inf)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92240" y="4846320"/>
            <a:ext cx="45720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4846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선형 결합 가능!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5303520"/>
            <a:ext cx="32004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53035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선형 결합 z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749040" y="5303520"/>
            <a:ext cx="27432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749040" y="53035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(-inf, +inf)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92240" y="5303520"/>
            <a:ext cx="45720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92240" y="53035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w^T x + b와 동일 범위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5760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C00"/>
                </a:solidFill>
                <a:latin typeface="맑은 고딕"/>
              </a:defRPr>
            </a:pPr>
            <a:r>
              <a:t>핵심: '확률을 로짓 변환하면 피처들의 선형 결합과 같다' - Cox(1958)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E696"/>
                </a:solidFill>
                <a:latin typeface="맑은 고딕"/>
              </a:defRPr>
            </a:pPr>
            <a:r>
              <a:t>SECTION 5.3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468880"/>
            <a:ext cx="2103120" cy="381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t>MLE와 크로스엔트로피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맑은 고딕"/>
              </a:defRPr>
            </a:pPr>
            <a:r>
              <a:t>우도함수, 로그우도, 경사하강법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5.3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왜 MSE를 비용 함수로 쓰면 안 되는가?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5303520" cy="4114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t>MSE + 시그모이드 = 비볼록(Non-convex)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49377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시그모이드의 비선형성 때문에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MSE 비용 함수가 비볼록 함수가 됨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비볼록 함수의 문제: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- 지역 최솟값(local minimum)이 다수 존재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- 경사하강법으로 전역 최솟값 보장 불가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- 초기값에 따라 다른 해에 수렴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해결: 로그 손실(Log Loss) 사용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-&gt; 볼록(convex) 함수가 되어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-&gt; 전역 최솟값을 보장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5303520" cy="4114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로그 손실의 직관적 이해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286000"/>
            <a:ext cx="49377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실제=1, 예측=0.9 -&gt; 손실 = -ln(0.9) = 0.105 (낮음)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실제=1, 예측=0.1 -&gt; 손실 = -ln(0.1) = 2.303 (높음!)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실제=0, 예측=0.1 -&gt; 손실 = -ln(0.9) = 0.105 (낮음)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실제=0, 예측=0.9 -&gt; 손실 = -ln(0.1) = 2.303 (높음!)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핵심 특성: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- 예측이 틀릴수록 손실이 기하급수적 증가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- 확신에 찬 잘못된 예측에 큰 페널티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- 올바른 예측에는 낮은 손실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5.3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최대우도추정 (MLE)의 원리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맑은 고딕"/>
              </a:defRPr>
            </a:pPr>
            <a:r>
              <a:t>단일 관측치의 확률: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86000"/>
            <a:ext cx="6400800" cy="6400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E696"/>
                </a:solidFill>
                <a:latin typeface="Consolas"/>
              </a:defRPr>
            </a:pPr>
            <a:r>
              <a:t>P(y_i | x_i; w) = y_hat_i^(y_i) * (1 - y_hat_i)^(1-y_i)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  <a:r>
              <a:t>y_i=1이면: P = y_hat_i (양성 확률 자체)</a:t>
            </a:r>
          </a:p>
          <a:p>
            <a:pPr>
              <a:spcAft>
                <a:spcPts val="6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  <a:r>
              <a:t>y_i=0이면: P = 1 - y_hat_i (음성 확률)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931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맑은 고딕"/>
              </a:defRPr>
            </a:pPr>
            <a:r>
              <a:t>우도 함수 (Likelihood Function):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389120"/>
            <a:ext cx="7315200" cy="6400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48056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E696"/>
                </a:solidFill>
                <a:latin typeface="Consolas"/>
              </a:defRPr>
            </a:pPr>
            <a:r>
              <a:t>L(w) = PROD_i [y_hat_i^(y_i) * (1 - y_hat_i)^(1-y_i)]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303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맑은 고딕"/>
              </a:defRPr>
            </a:pPr>
            <a:r>
              <a:t>로그 우도 (Log-Likelihood):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669280"/>
            <a:ext cx="9144000" cy="6400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76072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E696"/>
                </a:solidFill>
                <a:latin typeface="Consolas"/>
              </a:defRPr>
            </a:pPr>
            <a:r>
              <a:t>l(w) = SUM_i [y_i * ln(y_hat_i) + (1-y_i) * ln(1-y_hat_i)]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5.3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로그 우도 -&gt; 이진 교차 엔트로피 (Log Loss)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맑은 고딕"/>
              </a:defRPr>
            </a:pPr>
            <a:r>
              <a:t>MLE: 로그 우도를 최대화 -&gt; 최적화 관행상 최소화 문제로 변환 (부호 반전 + 평균)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77440"/>
            <a:ext cx="10058400" cy="9144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E696"/>
                </a:solidFill>
                <a:latin typeface="Consolas"/>
              </a:defRPr>
            </a:pPr>
            <a:r>
              <a:t>J(w) = -(1/n) * SUM_i [y_i * ln(y_hat_i) + (1-y_i) * ln(1-y_hat_i)]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10058400" cy="9144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749039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00"/>
                </a:solidFill>
                <a:latin typeface="맑은 고딕"/>
              </a:defRPr>
            </a:pPr>
            <a:r>
              <a:t>핵심 통찰: MLE 우도 최대화 = 로그 손실(크로스엔트로피) 최소화  [Cox, 1958]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846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맑은 고딕"/>
              </a:defRPr>
            </a:pPr>
            <a:r>
              <a:t>그래디언트 유도: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303520"/>
            <a:ext cx="10058400" cy="109728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440680"/>
            <a:ext cx="9692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00E696"/>
                </a:solidFill>
                <a:latin typeface="Consolas"/>
              </a:defRPr>
            </a:pPr>
            <a:r>
              <a:t>dJ/dw_j = (1/n) * SUM_i (y_hat_i - y_i) * x_ij</a:t>
            </a:r>
          </a:p>
          <a:p>
            <a:pPr>
              <a:spcAft>
                <a:spcPts val="200"/>
              </a:spcAft>
              <a:defRPr sz="1400">
                <a:solidFill>
                  <a:srgbClr val="00E696"/>
                </a:solidFill>
                <a:latin typeface="Consolas"/>
              </a:defRPr>
            </a:pPr>
            <a:r>
              <a:t>dJ/db   = (1/n) * SUM_i (y_hat_i - y_i)</a:t>
            </a:r>
          </a:p>
          <a:p>
            <a:pPr>
              <a:spcAft>
                <a:spcPts val="200"/>
              </a:spcAft>
              <a:defRPr sz="14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00E696"/>
                </a:solidFill>
                <a:latin typeface="Consolas"/>
              </a:defRPr>
            </a:pPr>
            <a:r>
              <a:t>벡터 형태: nabla_w J = (1/n) * X^T * (y_hat - y)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A06CFF"/>
                </a:solidFill>
                <a:latin typeface="맑은 고딕"/>
              </a:defRPr>
            </a:pPr>
            <a:r>
              <a:t>SECTION 5.4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468880"/>
            <a:ext cx="2103120" cy="38100"/>
          </a:xfrm>
          <a:prstGeom prst="rect">
            <a:avLst/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t>경사하강법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맑은 고딕"/>
              </a:defRPr>
            </a:pPr>
            <a:r>
              <a:t>배치/미니배치/SGD 비교, 학습률 선택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5.4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경사하강법 (Gradient Descent)의 원리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6400800" cy="10972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06CFF"/>
                </a:solidFill>
                <a:latin typeface="맑은 고딕"/>
              </a:defRPr>
            </a:pPr>
            <a:r>
              <a:t>파라미터 업데이트 규칙: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E696"/>
                </a:solidFill>
                <a:latin typeface="Consolas"/>
              </a:defRPr>
            </a:pPr>
            <a:r>
              <a:t>w &lt;- w - alpha * nabla_w J(w)</a:t>
            </a:r>
            <a:br/>
            <a:r>
              <a:t>b &lt;- b - alpha * dJ/db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00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맑은 고딕"/>
              </a:defRPr>
            </a:pPr>
            <a:r>
              <a:t>배치 / 미니배치 / SGD 비교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657600"/>
            <a:ext cx="22860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657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방법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34640" y="3657600"/>
            <a:ext cx="22860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34640" y="3657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데이터 사용량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0640" y="3657600"/>
            <a:ext cx="27432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0" y="3657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장점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63840" y="3657600"/>
            <a:ext cx="32004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3657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단점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114800"/>
            <a:ext cx="22860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114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배치 GD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34640" y="4114800"/>
            <a:ext cx="22860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34640" y="4114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전체 (n개)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120640" y="4114800"/>
            <a:ext cx="27432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20640" y="4114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안정적 수렴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863840" y="4114800"/>
            <a:ext cx="32004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63840" y="41148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대용량에서 느림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572000"/>
            <a:ext cx="22860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45720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미니배치 GD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834640" y="4572000"/>
            <a:ext cx="22860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834640" y="45720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일부 (32~256)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120640" y="4572000"/>
            <a:ext cx="27432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4572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GPU 효율적, 절충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63840" y="4572000"/>
            <a:ext cx="32004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63840" y="45720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B 하이퍼파라미터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5029200"/>
            <a:ext cx="22860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5029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SGD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834640" y="5029200"/>
            <a:ext cx="22860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834640" y="5029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1개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120640" y="5029200"/>
            <a:ext cx="27432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120640" y="5029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빠른 업데이트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863840" y="5029200"/>
            <a:ext cx="32004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863840" y="5029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불안정한 수렴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5760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8C00"/>
                </a:solidFill>
                <a:latin typeface="맑은 고딕"/>
              </a:defRPr>
            </a:pPr>
            <a:r>
              <a:t>* 실전에서는 미니배치 GD가 가장 많이 사용됨. sklearn은 기본적으로 L-BFGS(준뉴턴법) 사용.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5.4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학습률(Learning Rate) 선택의 중요성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27432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학습률</a:t>
            </a:r>
          </a:p>
        </p:txBody>
      </p:sp>
      <p:sp>
        <p:nvSpPr>
          <p:cNvPr id="7" name="Rectangle 6"/>
          <p:cNvSpPr/>
          <p:nvPr/>
        </p:nvSpPr>
        <p:spPr>
          <a:xfrm>
            <a:off x="3291840" y="1828800"/>
            <a:ext cx="32004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0" y="18288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현상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1828800"/>
            <a:ext cx="45720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결과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286000"/>
            <a:ext cx="27432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286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너무 작음 (0.001)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40" y="2286000"/>
            <a:ext cx="32004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91840" y="22860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수렴이 매우 느림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92240" y="2286000"/>
            <a:ext cx="45720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22860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반복 횟수 과도하게 증가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743200"/>
            <a:ext cx="27432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2743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적절함 (0.01~0.1)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91840" y="2743200"/>
            <a:ext cx="32004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91840" y="2743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안정적으로 빠르게 수렴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2240" y="2743200"/>
            <a:ext cx="45720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2743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최적 비용에 도달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200400"/>
            <a:ext cx="27432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2004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너무 큼 (10)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91840" y="3200400"/>
            <a:ext cx="32004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0" y="32004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발산 (divergence)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92240" y="3200400"/>
            <a:ext cx="45720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32004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비용 함수가 증가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3657600"/>
            <a:ext cx="5303520" cy="25603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37490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학습률 선택 가이드라인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11480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1. 로그 스케일로 탐색: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 {0.001, 0.003, 0.01, 0.03, 0.1, 0.3, 1.0}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2. 비용 함수 수렴 곡선 확인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3. 학습률 스케줄링: 점진적으로 감소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3657600"/>
            <a:ext cx="5303520" cy="25603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7490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특성 표준화의 필요성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11480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x_j^scaled = (x_j - mu_j) / sigma_j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표준화 없으면: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- 등고선이 타원형 -&gt; 지그재그 경로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- 수렴 속도 크게 저하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표준화 하면: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- 등고선이 원형 -&gt; 직선 경로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5.4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경사하강법 코드 구현 (핵심부)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10972800" cy="45720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106070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def sigmoid(z):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z = np.clip(z, -500, 500)  # 수치 안정성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return 1.0 / (1.0 + np.exp(-z))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def compute_cost(X, y, weights, bias):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m = X.shape[0]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z = np.dot(X, weights) + bias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y_hat = sigmoid(z)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epsilon = 1e-15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y_hat = np.clip(y_hat, epsilon, 1 - epsilon)  # log(0) 방지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cost = -(1.0/m) * np.sum(y*np.log(y_hat) + (1-y)*np.log(1-y_hat))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return cost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def compute_gradients(X, y, weights, bias):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m = X.shape[0]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y_hat = sigmoid(np.dot(X, weights) + bias)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error = y_hat - y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dw = (1.0/m) * np.dot(X.T, error)  # nabla_w J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db = (1.0/m) * np.sum(error)        # dJ/db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return dw, db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8C00"/>
                </a:solidFill>
                <a:latin typeface="맑은 고딕"/>
              </a:defRPr>
            </a:pPr>
            <a:r>
              <a:t>SECTION 5.5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468880"/>
            <a:ext cx="2103120" cy="381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t>다중 클래스 분류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맑은 고딕"/>
              </a:defRPr>
            </a:pPr>
            <a:r>
              <a:t>소프트맥스, OvR, OvO 전략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5.5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이진 분류에서 다중 분류로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22860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구분</a:t>
            </a:r>
          </a:p>
        </p:txBody>
      </p:sp>
      <p:sp>
        <p:nvSpPr>
          <p:cNvPr id="7" name="Rectangle 6"/>
          <p:cNvSpPr/>
          <p:nvPr/>
        </p:nvSpPr>
        <p:spPr>
          <a:xfrm>
            <a:off x="2834640" y="1828800"/>
            <a:ext cx="41148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34640" y="18288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이진 분류</a:t>
            </a:r>
          </a:p>
        </p:txBody>
      </p:sp>
      <p:sp>
        <p:nvSpPr>
          <p:cNvPr id="9" name="Rectangle 8"/>
          <p:cNvSpPr/>
          <p:nvPr/>
        </p:nvSpPr>
        <p:spPr>
          <a:xfrm>
            <a:off x="6949440" y="1828800"/>
            <a:ext cx="41148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0" y="18288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다중 분류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286000"/>
            <a:ext cx="22860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2860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클래스 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34640" y="2286000"/>
            <a:ext cx="41148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34640" y="22860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2개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49440" y="2286000"/>
            <a:ext cx="41148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9440" y="22860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K개 (K &gt;= 3)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743200"/>
            <a:ext cx="22860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2743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활성화 함수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34640" y="2743200"/>
            <a:ext cx="41148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34640" y="27432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시그모이드 (Sigmoid)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49440" y="2743200"/>
            <a:ext cx="41148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49440" y="27432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소프트맥스 (Softmax)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200400"/>
            <a:ext cx="22860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2004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출력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34640" y="3200400"/>
            <a:ext cx="41148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834640" y="32004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1개의 확률값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949440" y="3200400"/>
            <a:ext cx="41148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49440" y="32004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K개의 확률값 (합=1)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3657600"/>
            <a:ext cx="22860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3657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예시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834640" y="3657600"/>
            <a:ext cx="41148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834640" y="36576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생존/사망, 스팸/정상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949440" y="3657600"/>
            <a:ext cx="41148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49440" y="36576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붓꽃 종 분류, 숫자 인식(0~9)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4114800"/>
            <a:ext cx="7315200" cy="9144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416052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  <a:latin typeface="맑은 고딕"/>
              </a:defRPr>
            </a:pPr>
            <a:r>
              <a:t>소프트맥스 함수: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457200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E696"/>
                </a:solidFill>
                <a:latin typeface="Consolas"/>
              </a:defRPr>
            </a:pPr>
            <a:r>
              <a:t>P(y=k|X) = e^(z_k) / SUM_j e^(z_j),   z_k = w_k^T x + b_k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53035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t>모든 출력이 (0, 1) 범위</a:t>
            </a:r>
          </a:p>
          <a:p>
            <a:pPr>
              <a:spcAft>
                <a:spcPts val="6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t>모든 클래스에 대한 확률의 합 = 1</a:t>
            </a:r>
          </a:p>
          <a:p>
            <a:pPr>
              <a:spcAft>
                <a:spcPts val="600"/>
              </a:spcAft>
              <a:defRPr sz="1500">
                <a:solidFill>
                  <a:srgbClr val="BBBBCC"/>
                </a:solidFill>
                <a:latin typeface="맑은 고딕"/>
              </a:defRPr>
            </a:pPr>
            <a:r>
              <a:t>K=2일 때 시그모이드 함수와 수학적으로 동일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5.5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범주형 교차 엔트로피 &amp; OvR/OvO 전략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9144000" cy="82296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74519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  <a:latin typeface="맑은 고딕"/>
              </a:defRPr>
            </a:pPr>
            <a:r>
              <a:t>범주형 교차 엔트로피 (Categorical Cross Entropy):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E696"/>
                </a:solidFill>
                <a:latin typeface="Consolas"/>
              </a:defRPr>
            </a:pPr>
            <a:r>
              <a:t>J = -(1/n) * SUM_i SUM_k y_ik * ln(y_hat_ik)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92608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0175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OvR (One-vs-Rest) 전략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38328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각 클래스: '해당 클래스 vs 나머지 전부'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K개 클래스 -&gt; K개의 이진 분류기 학습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예측 시: 가장 높은 확률 분류기 선택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sklearn: multi_class='ovr'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92608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30175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06CFF"/>
                </a:solidFill>
                <a:latin typeface="맑은 고딕"/>
              </a:defRPr>
            </a:pPr>
            <a:r>
              <a:t>OvO (One-vs-One) 전략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38328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모든 클래스 쌍에 대해 이진 분류기 학습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K개 클래스 -&gt; K(K-1)/2개 분류기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예측 시: 투표(voting)로 최종 결정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개별 학습은 빠르지만 분류기 수가 많음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486400"/>
            <a:ext cx="11064240" cy="109728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56235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# sklearn 다중 분류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model_softmax = LogisticRegression(multi_class='multinomial', solver='lbfgs', max_iter=200)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model_ovr = LogisticRegression(multi_class='ovr', solver='lbfgs', max_iter=200)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4545"/>
                </a:solidFill>
                <a:latin typeface="맑은 고딕"/>
              </a:defRPr>
            </a:pPr>
            <a:r>
              <a:t>SECTION 5.6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468880"/>
            <a:ext cx="2103120" cy="381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t>판별 vs 생성 모델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맑은 고딕"/>
              </a:defRPr>
            </a:pPr>
            <a:r>
              <a:t>Ng &amp; Jordan(2002) 기반 비교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5.6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두 가지 근본적 접근법 - Ng &amp; Jordan(2002)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5303520" cy="27432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t>판별 모델 (Discriminative Model)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49377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학습 대상: P(y|x) 직접 학습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대표 모델: 로지스틱 회귀, SVM, 신경망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결정 경계를 직접 학습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점근적으로 더 정확 (낮은 편향)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추정 방법: 조건부 우도 P(y|x) 최대화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5303520" cy="27432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생성 모델 (Generative Model)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286000"/>
            <a:ext cx="49377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학습 대상: P(x|y)와 P(y) 학습 후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-&gt; 베이즈 정리로 P(y|x) 유도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대표 모델: 나이브 베이즈, GMM, HMM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적은 데이터에서도 효과적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추정 방법: 결합 우도 P(x, y) 최대화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846320"/>
            <a:ext cx="11064240" cy="16459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937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핵심 발견: 나이브 베이즈와 로지스틱 회귀의 이론적 관계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303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나이브 베이즈 가정(특성 독립성, 지수족 분포) 하에서: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ln[P(y=1|x)/P(y=0|x)] = theta_0 + SUM_j theta_j * x_j  -&gt;  이것이 바로 로지스틱 회귀의 형태!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두 모델은 동일한 모델 패밀리를 공유하지만, 파라미터 추정 방법이 다르다.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5.6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수렴 속도와 전환점 (Crossover Point)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27432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특성</a:t>
            </a:r>
          </a:p>
        </p:txBody>
      </p:sp>
      <p:sp>
        <p:nvSpPr>
          <p:cNvPr id="7" name="Rectangle 6"/>
          <p:cNvSpPr/>
          <p:nvPr/>
        </p:nvSpPr>
        <p:spPr>
          <a:xfrm>
            <a:off x="3291840" y="1828800"/>
            <a:ext cx="393192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0" y="182880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나이브 베이즈 (생성)</a:t>
            </a:r>
          </a:p>
        </p:txBody>
      </p:sp>
      <p:sp>
        <p:nvSpPr>
          <p:cNvPr id="9" name="Rectangle 8"/>
          <p:cNvSpPr/>
          <p:nvPr/>
        </p:nvSpPr>
        <p:spPr>
          <a:xfrm>
            <a:off x="7223760" y="1828800"/>
            <a:ext cx="393192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23760" y="182880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로지스틱 회귀 (판별)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286000"/>
            <a:ext cx="27432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286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점근적 오차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40" y="2286000"/>
            <a:ext cx="393192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91840" y="228600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높거나 같음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23760" y="2286000"/>
            <a:ext cx="393192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23760" y="228600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낮거나 같음 (우수)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743200"/>
            <a:ext cx="27432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2743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수렴 속도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91840" y="2743200"/>
            <a:ext cx="393192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91840" y="274320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O(log n) - 빠름!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23760" y="2743200"/>
            <a:ext cx="393192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23760" y="274320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O(n) - 느림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200400"/>
            <a:ext cx="27432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2004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소표본 성능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91840" y="3200400"/>
            <a:ext cx="393192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0" y="320040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우수 (낮은 분산)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223760" y="3200400"/>
            <a:ext cx="393192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23760" y="320040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열등 (높은 분산)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3657600"/>
            <a:ext cx="27432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3657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대표본 성능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91840" y="3657600"/>
            <a:ext cx="393192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91840" y="365760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열등 (높은 편향)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223760" y="3657600"/>
            <a:ext cx="393192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23760" y="365760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우수 (낮은 편향)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4114800"/>
            <a:ext cx="10058400" cy="9144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420624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C00"/>
                </a:solidFill>
                <a:latin typeface="맑은 고딕"/>
              </a:defRPr>
            </a:pPr>
            <a:r>
              <a:t>전환점(Crossover Point): 소표본에서는 NB가, 대표본에서는 LR이 우수.</a:t>
            </a:r>
            <a:br/>
            <a:r>
              <a:t>이 전환점은 데이터 특성과 모델 가정의 정확도에 따라 달라진다.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5303520"/>
            <a:ext cx="5303520" cy="11887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3949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NB 가정이 잘 성립하면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576072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전환점이 늦게 나타남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더 많은 데이터가 필요해야 LR이 역전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17920" y="5303520"/>
            <a:ext cx="5303520" cy="11887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0" y="53949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t>NB 가정이 위반되면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576072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전환점이 일찍 나타남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LR이 빠르게 우세해짐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5.6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편향-분산 트레이드오프 관점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27432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관점</a:t>
            </a:r>
          </a:p>
        </p:txBody>
      </p:sp>
      <p:sp>
        <p:nvSpPr>
          <p:cNvPr id="7" name="Rectangle 6"/>
          <p:cNvSpPr/>
          <p:nvPr/>
        </p:nvSpPr>
        <p:spPr>
          <a:xfrm>
            <a:off x="3291840" y="1828800"/>
            <a:ext cx="393192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0" y="182880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나이브 베이즈</a:t>
            </a:r>
          </a:p>
        </p:txBody>
      </p:sp>
      <p:sp>
        <p:nvSpPr>
          <p:cNvPr id="9" name="Rectangle 8"/>
          <p:cNvSpPr/>
          <p:nvPr/>
        </p:nvSpPr>
        <p:spPr>
          <a:xfrm>
            <a:off x="7223760" y="1828800"/>
            <a:ext cx="393192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23760" y="182880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로지스틱 회귀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286000"/>
            <a:ext cx="27432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286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편향 (Bias)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40" y="2286000"/>
            <a:ext cx="393192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91840" y="228600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높음 (강한 모델 가정)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23760" y="2286000"/>
            <a:ext cx="393192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23760" y="228600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낮음 (유연한 추정)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743200"/>
            <a:ext cx="27432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2743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분산 (Variance)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91840" y="2743200"/>
            <a:ext cx="393192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91840" y="274320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낮음 (적은 파라미터)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23760" y="2743200"/>
            <a:ext cx="393192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23760" y="274320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높음 (많은 파라미터)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200400"/>
            <a:ext cx="27432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2004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소표본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91840" y="3200400"/>
            <a:ext cx="393192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0" y="320040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낮은 분산이 유리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223760" y="3200400"/>
            <a:ext cx="393192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23760" y="320040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높은 분산이 불리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3657600"/>
            <a:ext cx="27432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3657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대표본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91840" y="3657600"/>
            <a:ext cx="393192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91840" y="365760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높은 편향이 불리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223760" y="3657600"/>
            <a:ext cx="393192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23760" y="365760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낮은 편향이 유리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4114800"/>
            <a:ext cx="1106424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42062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Ng &amp; Jordan(2002)의 실용적 가이드라인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4572000"/>
            <a:ext cx="106984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데이터가 적을 때 (수백 개 이하): 나이브 베이즈(생성 모델) 먼저 시도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데이터가 충분할 때 (수천 개 이상): 로지스틱 회귀(판별 모델) 사용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두 모델을 모두 학습시키고 교차검증으로 비교하는 것이 가장 안전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전환점은 데이터마다 다르므로, 실험적으로 확인 필요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나이브 베이즈 가정이 잘 맞는 경우 (텍스트 분류 등)에는 NB가 대표본에서도 우수할 수 있음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4545"/>
                </a:solidFill>
                <a:latin typeface="맑은 고딕"/>
              </a:defRPr>
            </a:pPr>
            <a:r>
              <a:t>SECTION 5.7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468880"/>
            <a:ext cx="2103120" cy="381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t>희귀 이벤트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맑은 고딕"/>
              </a:defRPr>
            </a:pPr>
            <a:r>
              <a:t>King &amp; Zeng(2001) 불균형 데이터 편향 보정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5.7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희귀 이벤트 문제 - King &amp; Zeng(2001)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27432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분야</a:t>
            </a:r>
          </a:p>
        </p:txBody>
      </p:sp>
      <p:sp>
        <p:nvSpPr>
          <p:cNvPr id="7" name="Rectangle 6"/>
          <p:cNvSpPr/>
          <p:nvPr/>
        </p:nvSpPr>
        <p:spPr>
          <a:xfrm>
            <a:off x="3291840" y="1828800"/>
            <a:ext cx="36576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0" y="18288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사례</a:t>
            </a:r>
          </a:p>
        </p:txBody>
      </p:sp>
      <p:sp>
        <p:nvSpPr>
          <p:cNvPr id="9" name="Rectangle 8"/>
          <p:cNvSpPr/>
          <p:nvPr/>
        </p:nvSpPr>
        <p:spPr>
          <a:xfrm>
            <a:off x="6949440" y="1828800"/>
            <a:ext cx="41148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0" y="18288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양성 비율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286000"/>
            <a:ext cx="27432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286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정치학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40" y="2286000"/>
            <a:ext cx="36576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91840" y="22860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국제 분쟁 발생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49440" y="2286000"/>
            <a:ext cx="41148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9440" y="22860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~1-3%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743200"/>
            <a:ext cx="27432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2743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금융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91840" y="2743200"/>
            <a:ext cx="36576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91840" y="27432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신용카드 사기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49440" y="2743200"/>
            <a:ext cx="41148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49440" y="27432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~0.1%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200400"/>
            <a:ext cx="27432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2004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의학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91840" y="3200400"/>
            <a:ext cx="36576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0" y="32004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희귀 질환 진단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949440" y="3200400"/>
            <a:ext cx="41148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49440" y="32004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~1%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3657600"/>
            <a:ext cx="27432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3657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제조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91840" y="3657600"/>
            <a:ext cx="36576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91840" y="3657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불량품 탐지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949440" y="3657600"/>
            <a:ext cx="41148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49440" y="36576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~0.5%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4114800"/>
            <a:ext cx="27432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4114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정보보안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91840" y="4114800"/>
            <a:ext cx="36576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91840" y="41148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침입 탐지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949440" y="4114800"/>
            <a:ext cx="41148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949440" y="41148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~0.01%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4572000"/>
            <a:ext cx="1106424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4663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t>유한표본 편향 (Finite-Sample Bias)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502920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핵심: 양성 비율이 낮을수록 MLE 편향이 커짐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편향 방향: 예측 확률의 과소추정 (실제보다 더 낮게 추정)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bias(beta_hat) = (X^T W_hat X)^(-1) X^T W_hat xi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결과: 희소 사건의 발생 확률을 과소추정하는 경향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5.7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편향 보정 방법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5303520" cy="25603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방법 1: 사전 교정 (Prior Correction)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인구 수준 사건 발생률 tau와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표본 사건 비율 y_bar를 이용: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beta_0_corrected = beta_0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- ln[(1-tau)/tau * y_bar/(1-y_bar)]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케이스-통제 설계에서 과대 표집 편향 교정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5303520" cy="25603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방법 2: 가중 로지스틱 회귀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28600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역선택확률 가중치(IPW) 부여: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양성(Y=1) 가중치: w1 = tau / y_bar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음성(Y=0) 가중치: w0 = (1-tau) / (1-y_bar)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sklearn: class_weight='balanced'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-&gt; 클래스 빈도에 반비례하는 가중치 자동 계산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6634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00"/>
                </a:solidFill>
                <a:latin typeface="맑은 고딕"/>
              </a:defRPr>
            </a:pPr>
            <a:r>
              <a:t>실용적 권고사항 (King &amp; Zeng, 2001):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120640"/>
            <a:ext cx="32004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51206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양성 비율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49040" y="5120640"/>
            <a:ext cx="73152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49040" y="51206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권고사항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577840"/>
            <a:ext cx="32004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55778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&gt; 20%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749040" y="5577840"/>
            <a:ext cx="73152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49040" y="55778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표준 로지스틱 회귀 사용 가능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6035040"/>
            <a:ext cx="32004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60350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5% ~ 20%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749040" y="6035040"/>
            <a:ext cx="73152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49040" y="60350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가중 로지스틱 회귀 권고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6492240"/>
            <a:ext cx="32004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64922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&lt; 5%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49040" y="6492240"/>
            <a:ext cx="73152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49040" y="64922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반드시 보정 방법 적용 (가중치 또는 사전 교정)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D2FF"/>
                </a:solidFill>
                <a:latin typeface="맑은 고딕"/>
              </a:defRPr>
            </a:pPr>
            <a:r>
              <a:t>SECTION 5.8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468880"/>
            <a:ext cx="210312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t>모델 평가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맑은 고딕"/>
              </a:defRPr>
            </a:pPr>
            <a:r>
              <a:t>ROC/AUC, 혼동행렬, Precision/Recall/F1/MCC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5.8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혼동 행렬 (Confusion Matrix)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27432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</a:p>
        </p:txBody>
      </p:sp>
      <p:sp>
        <p:nvSpPr>
          <p:cNvPr id="7" name="Rectangle 6"/>
          <p:cNvSpPr/>
          <p:nvPr/>
        </p:nvSpPr>
        <p:spPr>
          <a:xfrm>
            <a:off x="3291840" y="1828800"/>
            <a:ext cx="393192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0" y="182880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예측: 음성(0)</a:t>
            </a:r>
          </a:p>
        </p:txBody>
      </p:sp>
      <p:sp>
        <p:nvSpPr>
          <p:cNvPr id="9" name="Rectangle 8"/>
          <p:cNvSpPr/>
          <p:nvPr/>
        </p:nvSpPr>
        <p:spPr>
          <a:xfrm>
            <a:off x="7223760" y="1828800"/>
            <a:ext cx="393192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23760" y="182880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예측: 양성(1)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286000"/>
            <a:ext cx="2743200" cy="6400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28600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실제: 음성(0)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40" y="2286000"/>
            <a:ext cx="3931920" cy="6400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91840" y="2286000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TN (True Negative)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23760" y="2286000"/>
            <a:ext cx="3931920" cy="64008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23760" y="2286000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FP (False Positive) - 제1종 오류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926080"/>
            <a:ext cx="2743200" cy="6400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292608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실제: 양성(1)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91840" y="2926080"/>
            <a:ext cx="3931920" cy="6400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91840" y="2926080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FN (False Negative) - 제2종 오류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23760" y="2926080"/>
            <a:ext cx="3931920" cy="64008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23760" y="2926080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TP (True Positive)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474720"/>
            <a:ext cx="5303520" cy="27432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5661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4가지 지표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931920"/>
            <a:ext cx="49377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TN: 실제 음성을 음성으로 올바르게 예측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FP: 실제 음성을 양성으로 잘못 예측 (제1종 오류)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FN: 실제 양성을 음성으로 잘못 예측 (제2종 오류)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TP: 실제 양성을 양성으로 올바르게 예측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3474720"/>
            <a:ext cx="5303520" cy="27432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35661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비용 비대칭의 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931920"/>
            <a:ext cx="49377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[질병 진단] FN(환자 놓침) &gt;&gt;&gt; FP(정상인 재검사)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-&gt; Recall 극대화 (임계값 낮춤)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[스팸 필터] FP(정상 메일 차단) &gt;&gt; FN(스팸 통과)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-&gt; Precision 극대화 (임계값 높임)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[사기 탐지] FN(사기 놓침) &gt;&gt;&gt; FP(정상 거래 재확인)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-&gt; Recall 극대화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5.8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주요 평가 지표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828800"/>
            <a:ext cx="365760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Accuracy (정확도)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(TP+TN) / (TP+TN+FP+FN)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불균형 데이터에서 무의미 가능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양성 1%면 모두 음성 예측해도 99%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1828800"/>
            <a:ext cx="365760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0" y="19202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Precision (정밀도)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2286000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TP / (TP + FP)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양성 예측 중 실제 양성 비율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'예측의 품질'을 측정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1828800"/>
            <a:ext cx="393192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59" y="19202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Recall (재현율/민감도)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59" y="2286000"/>
            <a:ext cx="3566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TP / (TP + FN)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실제 양성 중 양성으로 예측한 비율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'검출력'을 측정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3931920"/>
            <a:ext cx="365760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0233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06CFF"/>
                </a:solidFill>
                <a:latin typeface="맑은 고딕"/>
              </a:defRPr>
            </a:pPr>
            <a:r>
              <a:t>F1 Score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389120"/>
            <a:ext cx="3291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2 * (Precision * Recall) / (P + R)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정밀도와 재현율의 조화평균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두 지표의 균형을 측정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0~1 범위, 1이 최선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0" y="3931920"/>
            <a:ext cx="777240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0" y="4023360"/>
            <a:ext cx="7406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t>MCC (Matthews Correlation Coefficient)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4389120"/>
            <a:ext cx="7406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MCC = (TP*TN - FP*FN) / sqrt((TP+FP)(TP+FN)(TN+FP)(TN+FN))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범위: [-1, +1]. +1=완벽, 0=무작위, -1=완전 반대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불균형 데이터에서 accuracy보다 신뢰할 수 있는 단일 지표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양성/음성 비율에 영향을 덜 받음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5.8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ROC 곡선과 AUC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ROC 곡선 (Receiver Operating Characteristic)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x축: FPR (위양성률) = FP / (FP + TN)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y축: TPR (진양성률=Recall) = TP / (TP + FN)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다양한 임계값에서의 FPR-TPR 쌍을 연결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대각선(y=x)이 무작위 기준선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PR 곡선 (Precision-Recall)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28600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불균형 데이터에서 ROC보다 유용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x축: Recall, y축: Precision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AP (Average Precision): PR 곡선 아래 면적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양성 클래스에 초점을 맞춤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389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00"/>
                </a:solidFill>
                <a:latin typeface="맑은 고딕"/>
              </a:defRPr>
            </a:pPr>
            <a:r>
              <a:t>AUC (Area Under the ROC Curve) 해석: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846320"/>
            <a:ext cx="22860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4846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AUC 범위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34640" y="4846320"/>
            <a:ext cx="32004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34640" y="48463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판별력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0" y="4846320"/>
            <a:ext cx="50292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0" y="48463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해석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303520"/>
            <a:ext cx="22860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53035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0.5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34640" y="5303520"/>
            <a:ext cx="32004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34640" y="53035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무작위 추측 수준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35040" y="5303520"/>
            <a:ext cx="50292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5040" y="53035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모델이 분류 능력 없음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760720"/>
            <a:ext cx="22860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57607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0.7 ~ 0.8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834640" y="5760720"/>
            <a:ext cx="32004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34640" y="5760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수용 가능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5760720"/>
            <a:ext cx="50292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35040" y="5760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기본적 분류 능력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6217920"/>
            <a:ext cx="22860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62179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0.8 ~ 0.9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34640" y="6217920"/>
            <a:ext cx="32004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34640" y="6217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우수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35040" y="6217920"/>
            <a:ext cx="50292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35040" y="6217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좋은 분류 성능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6675120"/>
            <a:ext cx="22860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66751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&gt; 0.9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834640" y="6675120"/>
            <a:ext cx="32004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834640" y="66751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뛰어남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6675120"/>
            <a:ext cx="50292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035040" y="66751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매우 높은 분류 성능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5.8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임계값(Threshold) 조정 전략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256032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상황</a:t>
            </a:r>
          </a:p>
        </p:txBody>
      </p:sp>
      <p:sp>
        <p:nvSpPr>
          <p:cNvPr id="7" name="Rectangle 6"/>
          <p:cNvSpPr/>
          <p:nvPr/>
        </p:nvSpPr>
        <p:spPr>
          <a:xfrm>
            <a:off x="3108960" y="1828800"/>
            <a:ext cx="22860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08960" y="1828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임계값 방향</a:t>
            </a:r>
          </a:p>
        </p:txBody>
      </p:sp>
      <p:sp>
        <p:nvSpPr>
          <p:cNvPr id="9" name="Rectangle 8"/>
          <p:cNvSpPr/>
          <p:nvPr/>
        </p:nvSpPr>
        <p:spPr>
          <a:xfrm>
            <a:off x="5394960" y="1828800"/>
            <a:ext cx="22860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94960" y="1828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강조 지표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80960" y="1828800"/>
            <a:ext cx="338328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0" y="18288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이유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286000"/>
            <a:ext cx="256032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2860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질병 진단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08960" y="2286000"/>
            <a:ext cx="22860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08960" y="22860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낮춤 (0.3)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94960" y="2286000"/>
            <a:ext cx="22860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94960" y="22860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Recall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80960" y="2286000"/>
            <a:ext cx="338328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0" y="22860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놓치면 생명 위험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2743200"/>
            <a:ext cx="256032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27432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스팸 필터링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08960" y="2743200"/>
            <a:ext cx="22860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108960" y="2743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높임 (0.7)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394960" y="2743200"/>
            <a:ext cx="22860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94960" y="2743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Precision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680960" y="2743200"/>
            <a:ext cx="338328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80960" y="27432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정상 메일 손실 방지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3200400"/>
            <a:ext cx="256032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32004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사기 탐지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08960" y="3200400"/>
            <a:ext cx="22860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108960" y="32004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낮춤 (0.1)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94960" y="3200400"/>
            <a:ext cx="22860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94960" y="32004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Recall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680960" y="3200400"/>
            <a:ext cx="338328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80960" y="32004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사기 놓치면 큰 손실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3657600"/>
            <a:ext cx="256032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36576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고객 이탈 예측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108960" y="3657600"/>
            <a:ext cx="22860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108960" y="3657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낮춤 (0.3)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394960" y="3657600"/>
            <a:ext cx="22860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394960" y="3657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Recall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680960" y="3657600"/>
            <a:ext cx="338328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680960" y="36576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이탈 방지 실패 비용 큼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4114800"/>
            <a:ext cx="1106424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" y="42062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06CFF"/>
                </a:solidFill>
                <a:latin typeface="맑은 고딕"/>
              </a:defRPr>
            </a:pPr>
            <a:r>
              <a:t>Hosmer-Lemeshow 적합도 검정 (Hosmer &amp; Lemeshow, 2000)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" y="4572000"/>
            <a:ext cx="106984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1. 예측 확률 기준으로 데이터를 g개 그룹(보통 10개)으로 분할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2. 각 그룹에서 관측된 사건 수와 기대 사건 수를 비교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3. 검정 통계량: C_hat = SUM_k (O_k - E_k)^2 / [E_k(1 - E_k/n_k)]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4. 귀무가설: '모델이 데이터를 잘 설명한다'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5. p-value가 높으면 모델 적합도가 좋다고 판단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* Hosmer &amp; Lemeshow(2000)의 c-통계량(concordance statistic) = AUC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A06CFF"/>
                </a:solidFill>
                <a:latin typeface="맑은 고딕"/>
              </a:defRPr>
            </a:pPr>
            <a:r>
              <a:t>SECTION 5.9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468880"/>
            <a:ext cx="2103120" cy="38100"/>
          </a:xfrm>
          <a:prstGeom prst="rect">
            <a:avLst/>
          </a:prstGeom>
          <a:solidFill>
            <a:srgbClr val="A0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t>논문 리뷰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맑은 고딕"/>
              </a:defRPr>
            </a:pPr>
            <a:r>
              <a:t>Cox(1958), Hosmer&amp;Lemeshow, King&amp;Zeng, Ng&amp;Jordan, Menard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5.9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논문 리뷰 (1/2)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t>Cox (1958)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'The Regression Analysis of Binary Sequences'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로짓 변환의 체계적 도입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MLE 기반 파라미터 추정 정립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프로빗 모델 대비 로짓 모델의 장점 강조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의학, 생물학, 사회과학 응용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Hosmer &amp; Lemeshow (2000)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28600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'Applied Logistic Regression' (2nd ed.)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체계적 모델 구축 프레임워크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7단계 목적적 변수 선택(Purposeful Selection)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Hosmer-Lemeshow 적합도 검정 제안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진단 통계량: 피어슨 잔차, dfbeta, Cook's 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389120"/>
            <a:ext cx="11064240" cy="2011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4805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Hosmer &amp; Lemeshow 7단계 변수 선택 과정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84632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1. 단변량 분석 (p &lt; 0.25 기준)  -&gt;  2. 다변량 모델 적합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3. 유의하지 않은 변수 제거 (p &gt; 0.05)  -&gt;  4. 교란변수 확인 (20% 이상 계수 변화 시 재포함)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5. 연속형 변수의 로짓 선형성 확인  -&gt;  6. 교호작용 추가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7. 최종 모델 적합도 평가 (Hosmer-Lemeshow 검정)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5.9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논문 리뷰 (2/2)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828800"/>
            <a:ext cx="365760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t>King &amp; Zeng (2001)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3291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'Logistic Regression in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Rare Events Data'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MLE 편향 이론적 증명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사전 교정(Prior Correction)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가중 MLE 제안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Firth(1993) 편향 축소 적용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1828800"/>
            <a:ext cx="384048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0" y="19202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Ng &amp; Jordan (2002)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2286000"/>
            <a:ext cx="3474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'On Discriminative vs.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Generative classifiers'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동일 모델 패밀리 공유 증명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O(log n) vs O(n) 수렴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전환점(crossover) 확인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828800"/>
            <a:ext cx="3749039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A06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920240"/>
            <a:ext cx="3383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06CFF"/>
                </a:solidFill>
                <a:latin typeface="맑은 고딕"/>
              </a:defRPr>
            </a:pPr>
            <a:r>
              <a:t>Menard (2002)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286000"/>
            <a:ext cx="3383279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'Applied Logistic Regression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Analysis' (2nd ed.)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OLS와의 체계적 비교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다양한 계수 해석법 비교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유사 R-squared 정리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389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맑은 고딕"/>
              </a:defRPr>
            </a:pPr>
            <a:r>
              <a:t>Menard(2002)가 정리한 유사 R-squared 지표: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846320"/>
            <a:ext cx="32004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8463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지표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49040" y="4846320"/>
            <a:ext cx="22860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49040" y="4846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범위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35040" y="4846320"/>
            <a:ext cx="50292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35040" y="48463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특징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303520"/>
            <a:ext cx="32004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53035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McFadden's R^2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749040" y="5303520"/>
            <a:ext cx="22860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49040" y="53035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[0, 1)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35040" y="5303520"/>
            <a:ext cx="50292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35040" y="53035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로그 우도 기반, 최대값 1 미도달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5760720"/>
            <a:ext cx="32004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760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Cox &amp; Snell R^2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749040" y="5760720"/>
            <a:ext cx="22860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49040" y="57607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[0, &lt;1)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35040" y="5760720"/>
            <a:ext cx="50292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35040" y="5760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최대값이 1 미만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6217920"/>
            <a:ext cx="32004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6217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Nagelkerke R^2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749040" y="6217920"/>
            <a:ext cx="22860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749040" y="62179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[0, 1]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35040" y="6217920"/>
            <a:ext cx="50292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35040" y="6217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Cox &amp; Snell 정규화, 최대 1 가능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6675120"/>
            <a:ext cx="32004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66751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Count R^2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749040" y="6675120"/>
            <a:ext cx="22860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749040" y="66751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[0, 1]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35040" y="6675120"/>
            <a:ext cx="50292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35040" y="66751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정확 분류 비율, 가장 직관적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E696"/>
                </a:solidFill>
                <a:latin typeface="맑은 고딕"/>
              </a:defRPr>
            </a:pPr>
            <a:r>
              <a:t>SECTION 5.10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468880"/>
            <a:ext cx="2103120" cy="381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t>실습: 로지스틱 회귀 스크래치 구현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맑은 고딕"/>
              </a:defRPr>
            </a:pPr>
            <a:r>
              <a:t>Cox(1958) 기반 - Breast Cancer 데이터셋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5.10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스크래치 구현 - 핵심 함수 3개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5486400" cy="45720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51206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def sigmoid(z):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z = np.clip(z, -500, 500)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return 1.0 / (1.0 + np.exp(-z))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def compute_cost(X, y, w, b):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m = X.shape[0]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y_hat = sigmoid(np.dot(X, w) + b)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eps = 1e-15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y_hat = np.clip(y_hat, eps, 1-eps)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return -(1/m) * np.sum(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y*np.log(y_hat) +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(1-y)*np.log(1-y_hat))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def compute_gradients(X, y, w, b):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m = X.shape[0]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y_hat = sigmoid(np.dot(X, w) + b)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err = y_hat - y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dw = (1/m) * np.dot(X.T, err)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db = (1/m) * np.sum(err)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return dw, db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303520" cy="4572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코드 해설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286000"/>
            <a:ext cx="4937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[sigmoid] np.clip으로 수치 안정성 확보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z가 극단적이면 exp(-z) 오버플로 발생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[compute_cost] epsilon=1e-15로 log(0) 방지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MLE의 음의 로그우도와 수학적으로 동일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[compute_gradients] 벡터화 연산으로 효율적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error = y_hat - y로 모든 샘플 오차 한번에 계산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dw = (1/m) * X^T @ error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db = (1/m) * sum(error)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이 그래디언트는 Cox(1958)의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스코어 방정식에서 유도됨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5.10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스크래치 구현 - 경사하강법 학습 루프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6858000" cy="438912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6492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def logistic_regression_gd(X, y, lr=0.1, n_iter=1000):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m, n = X.shape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weights = np.zeros(n)  # 파라미터 초기화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bias = 0.0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cost_history = []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for i in range(n_iter):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    cost = compute_cost(X, y, weights, bias)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    cost_history.append(cost)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    dw, db = compute_gradients(X, y, weights, bias)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    weights -= lr * dw  # w = w - alpha * dw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    bias -= lr * db     # b = b - alpha * db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return weights, bias, cost_history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def predict(X, weights, bias, threshold=0.5):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z = np.dot(X, weights) + bias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probs = sigmoid(z)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return (probs &gt;= threshold).astype(int), probs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89520" y="1828800"/>
            <a:ext cx="4114800" cy="4389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0" y="1920240"/>
            <a:ext cx="3749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실행 결과 (Breast Cancer)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2286000"/>
            <a:ext cx="37490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데이터: sklearn Breast Cancer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- 569 samples, 30 features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- 악성(0): 212, 양성(1): 357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직접 구현 (GD):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정확도: ~97%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sklearn (L-BFGS):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정확도: ~97%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미세 차이 원인: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1. 최적화 알고리즘 차이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2. sklearn 기본 L2 정규화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3. 수렴 기준 차이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5.10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스크래치 구현 - 시각화: 시그모이드 &amp; 비용 수렴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# 시그모이드 함수 시각화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z_vals = np.linspace(-10, 10, 300)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sig_vals = sigmoid(z_vals)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plt.plot(z_vals, sig_vals, 'b-', lw=2.5)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plt.axhline(y=0.5, color='r', ls='--')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plt.xlabel('z'); plt.ylabel('sigma(z)')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plt.title('Sigmoid Function')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303520" cy="22860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96596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# 비용 함수 수렴 곡선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plt.plot(range(len(cost_history)),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 cost_history, 'b-', lw=1.5)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plt.xlabel('Iteration')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plt.ylabel('Cost (Log Loss)')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plt.title('Cost Convergence')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plt.grid(True, alpha=0.3)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389120"/>
            <a:ext cx="11064240" cy="210312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52628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# 결정 경계 시각화 (PCA로 2D 축소)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pca = PCA(n_components=2)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X_train_2d = pca.fit_transform(X_train_scaled)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weights_2d, bias_2d, _ = logistic_regression_gd(X_train_2d, y_train, lr=0.1, n_iter=1000)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xx, yy = np.meshgrid(np.linspace(x_min, x_max, 300), np.linspace(y_min, y_max, 300))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grid = np.c_[xx.ravel(), yy.ravel()]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prob_grid = sigmoid(np.dot(grid, weights_2d) + bias_2d).reshape(xx.shape)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plt.contourf(xx, yy, prob_grid, levels=50, cmap='RdYlBu')  # 확률 등고선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plt.contour(xx, yy, prob_grid, levels=[0.5], colors='black')  # 결정 경계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96FF"/>
                </a:solidFill>
                <a:latin typeface="맑은 고딕"/>
              </a:defRPr>
            </a:pPr>
            <a:r>
              <a:t>SECTION 5.11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468880"/>
            <a:ext cx="210312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t>실습: 판별 vs 생성 비교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맑은 고딕"/>
              </a:defRPr>
            </a:pPr>
            <a:r>
              <a:t>Ng &amp; Jordan(2002) 핵심 결과 재현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5.11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판별 vs 생성 비교 - 실험 코드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11064240" cy="438912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def compare_models_by_sample_size(X, y, train_fractions, n_repeats=50):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"""다양한 학습 데이터 크기에서 로지스틱 회귀 vs 나이브 베이즈 비교"""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for frac in train_fractions: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    n_train = max(int(n_total * (1 - test_size) * frac), 4)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    for seed in range(n_repeats):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        # 로지스틱 회귀 (판별 모델)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        lr_model = LogisticRegression(max_iter=2000, solver='lbfgs')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        lr_model.fit(X_train_s, y_train)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        lr_scores.append(accuracy_score(y_test, lr_model.predict(X_test_s)))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        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        # 나이브 베이즈 (생성 모델)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        nb_model = GaussianNB()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        nb_model.fit(X_train_s, y_train)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        nb_scores.append(accuracy_score(y_test, nb_model.predict(X_test_s)))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# 3가지 실험 실행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# 실험 1: 독립적 특성 (NB 가정 성립) -&gt; NB 소표본 우세, 전환점 관찰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# 실험 2: 상관된 특성 (NB 가정 위반) -&gt; LR이 더 빨리 우세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# 실험 3: 고차원 (50개 특성) -&gt; NB의 O(log n) 수렴 이점 부각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F8C00"/>
                </a:solidFill>
                <a:latin typeface="맑은 고딕"/>
              </a:defRPr>
            </a:pPr>
            <a:r>
              <a:t>* 각 크기에서 50회 반복 실험하여 평균과 표준편차 산출 -&gt; Ng &amp; Jordan(2002) 실험 방법론 재현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5.11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판별 vs 생성 비교 - 실험 결과 해석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828800"/>
            <a:ext cx="365760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FF"/>
                </a:solidFill>
                <a:latin typeface="맑은 고딕"/>
              </a:defRPr>
            </a:pPr>
            <a:r>
              <a:t>실험 1: 독립적 특성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3291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NB 가정이 성립하는 데이터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소표본에서 NB가 우세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전환점(crossover) 관찰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대표본에서 LR이 역전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1828800"/>
            <a:ext cx="3840480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0" y="19202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실험 2: 상관된 특성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2286000"/>
            <a:ext cx="3474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NB 가정이 위반되는 데이터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상관된 특성(n_redundant=10)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전환점이 더 일찍 나타남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LR이 빠르게 우세해짐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828800"/>
            <a:ext cx="3749039" cy="22860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920240"/>
            <a:ext cx="3383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실험 3: 고차원 데이터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286000"/>
            <a:ext cx="3383279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50개 특성 (30개 유의미)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소표본에서 LR 불안정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NB의 O(log n) 수렴 이점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차원의 저주 효과 확인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389120"/>
            <a:ext cx="11064240" cy="201168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4805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t>종합 결론 (Ng &amp; Jordan, 2002 확인)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84632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1. 생성 모델(NB)은 O(log n)으로 수렴: 소표본에서 데이터 효율적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2. 판별 모델(LR)은 점근적으로 더 낮은 오차: 대표본에서 우수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3. 전환점은 데이터 특성(NB 가정 성립 여부, 차원 수)에 따라 달라짐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4. 실전: 두 모델을 모두 학습시키고 교차검증으로 비교하는 것이 가장 안전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4545"/>
                </a:solidFill>
                <a:latin typeface="맑은 고딕"/>
              </a:defRPr>
            </a:pPr>
            <a:r>
              <a:t>SECTION 5.12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468880"/>
            <a:ext cx="2103120" cy="381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t>실습: 희귀 이벤트 보정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맑은 고딕"/>
              </a:defRPr>
            </a:pPr>
            <a:r>
              <a:t>King &amp; Zeng(2001) 핵심 결과 재현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5.12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희귀 이벤트 보정 - 핵심 코드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5303520" cy="256032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4937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# 사전 교정 (Prior Correction) 구현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def prior_correction(model, pop_rate, sample_rate):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correction = np.log(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((1-pop_rate)/pop_rate) *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    (sample_rate/(1-sample_rate))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return correction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# 보정된 예측 확률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logits = X @ model.coef_[0] + model.intercept_[0]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corrected = logits - correction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prob = 1 / (1 + np.exp(-corrected))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303520" cy="256032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965960"/>
            <a:ext cx="4937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# 3가지 모델 비교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# 모델 1: 표준 로지스틱 회귀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model_std = LogisticRegression(max_iter=2000)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# 모델 2: 가중 로지스틱 회귀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model_wt = LogisticRegression(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class_weight='balanced', max_iter=2000)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# 모델 3: 사전 교정 적용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prob_corrected = predict_with_prior_correction(</a:t>
            </a:r>
          </a:p>
          <a:p>
            <a:pPr>
              <a:spcAft>
                <a:spcPts val="200"/>
              </a:spcAft>
              <a:defRPr sz="1100">
                <a:solidFill>
                  <a:srgbClr val="00E696"/>
                </a:solidFill>
                <a:latin typeface="Consolas"/>
              </a:defRPr>
            </a:pPr>
            <a:r>
              <a:t>    model_std, X_test, pop_rate, sample_rate)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663440"/>
            <a:ext cx="1106424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7548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t>실험 결과: 양성 비율별 MLE 편향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12064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50%: 편향 거의 없음 | 20%: 미세한 과소추정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10%: 눈에 띄는 과소추정 | 5%: 상당한 과소추정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2%: 심각한 과소추정 | 1%: 매우 심각한 과소추정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-&gt; King &amp; Zeng(2001)의 이론적 예측과 일치: 양성 비율이 낮을수록 과소추정 편향 증가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5.12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희귀 이벤트 - ROC/PR 곡선 &amp; 임계값 분석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5303520" cy="2103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ROC 곡선 비교 (양성 비율 2%)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4937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표준 LR: 높은 AUC (판별력 자체는 우수)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가중 LR (balanced): AUC 유사 또는 소폭 변동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사전 교정: AUC 동일 (기울기만 이동)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=&gt; AUC만으로는 보정 효과를 구분하기 어려움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5303520" cy="2103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PR 곡선 비교 (더 유용!)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286000"/>
            <a:ext cx="4937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불균형 데이터에서는 PR 곡선이 더 유용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가중 LR: AP(Average Precision) 향상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양성 클래스 검출에 초점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기준선: 양성 비율 = 0.02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206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C00"/>
                </a:solidFill>
                <a:latin typeface="맑은 고딕"/>
              </a:defRPr>
            </a:pPr>
            <a:r>
              <a:t>임계값 분석 결과 (양성 비율 2%):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663440"/>
            <a:ext cx="18288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46634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임계값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77440" y="4663440"/>
            <a:ext cx="201168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77440" y="46634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정확도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9120" y="4663440"/>
            <a:ext cx="201168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0" y="46634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정밀도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4663440"/>
            <a:ext cx="201168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46634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재현율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12480" y="4663440"/>
            <a:ext cx="265176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46634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F1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120640"/>
            <a:ext cx="18288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51206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0.01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77440" y="5120640"/>
            <a:ext cx="201168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377440" y="51206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낮음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89120" y="5120640"/>
            <a:ext cx="201168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9120" y="51206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낮음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5120640"/>
            <a:ext cx="201168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51206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높음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412480" y="5120640"/>
            <a:ext cx="265176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80" y="51206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중간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5577840"/>
            <a:ext cx="18288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55778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0.02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377440" y="5577840"/>
            <a:ext cx="201168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377440" y="55778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중간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89120" y="5577840"/>
            <a:ext cx="201168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89120" y="55778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중간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0" y="5577840"/>
            <a:ext cx="201168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0" y="55778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높음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412480" y="5577840"/>
            <a:ext cx="265176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12480" y="55778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양호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6035040"/>
            <a:ext cx="18288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60350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0.05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377440" y="6035040"/>
            <a:ext cx="201168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377440" y="60350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높음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89120" y="6035040"/>
            <a:ext cx="201168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389120" y="60350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높음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00800" y="6035040"/>
            <a:ext cx="201168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0" y="60350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중간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412480" y="6035040"/>
            <a:ext cx="265176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412480" y="60350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양호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8640" y="6492240"/>
            <a:ext cx="18288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8640" y="64922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0.50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377440" y="6492240"/>
            <a:ext cx="201168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377440" y="64922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98%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389120" y="6492240"/>
            <a:ext cx="201168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389120" y="64922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높음/0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400800" y="6492240"/>
            <a:ext cx="201168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400800" y="64922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매우 낮음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412480" y="6492240"/>
            <a:ext cx="265176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412480" y="64922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낮음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48640" y="6400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4545"/>
                </a:solidFill>
                <a:latin typeface="맑은 고딕"/>
              </a:defRPr>
            </a:pPr>
            <a:r>
              <a:t>* 임계값 0.5에서는 양성을 거의 검출 못함! 양성 비율에 맞게 임계값 조정 필수.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8C00"/>
                </a:solidFill>
                <a:latin typeface="맑은 고딕"/>
              </a:defRPr>
            </a:pPr>
            <a:r>
              <a:t>SECTION 5.13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468880"/>
            <a:ext cx="2103120" cy="381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t>응용사례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맑은 고딕"/>
              </a:defRPr>
            </a:pPr>
            <a:r>
              <a:t>사기탐지, 질병진단, 고객이탈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5.13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응용사례 1: 사기 탐지 (Fraud Detection)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5303520" cy="2103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t>문제 특성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4937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양성 비율 극히 낮음 (~0.1%)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  -&gt; King &amp; Zeng(2001) 희소 사건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실시간 처리 요구 (거래 즉시 판단)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비대칭 비용: 사기 놓침 &gt;&gt;&gt; 정상 거래 차단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5303520" cy="2103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맑은 고딕"/>
              </a:defRPr>
            </a:pPr>
            <a:r>
              <a:t>로지스틱 회귀 적용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286000"/>
            <a:ext cx="4937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가중 LR 사용 (King &amp; Zeng 권고)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class_weight={0:1, 1:100}  # 사기 가중치 100배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주요 피처: 거래금액, 빈도, 위치, 시간대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평가: PR-AUC, Recall, F1 (accuracy 부적절)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206240"/>
            <a:ext cx="11064240" cy="22860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34340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# 사기 탐지 모델 예시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fraud_model = LogisticRegression(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class_weight={0: 1, 1: 100},  # 사기(1) 가중치 100배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max_iter=1000, random_state=42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fraud_model.fit(X_train, y_train)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# 임계값을 낮게 설정 (0.1): Recall 극대화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prob = fraud_model.predict_proba(X_test)[:, 1]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pred = (prob &gt;= 0.1).astype(int)  # 임계값 0.5 대신 0.1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5.13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응용사례 2: 질병 진단 (Disease Diagnosis)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530352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545"/>
                </a:solidFill>
                <a:latin typeface="맑은 고딕"/>
              </a:defRPr>
            </a:pPr>
            <a:r>
              <a:t>문제 특성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유병률에 따라 불균형 정도 다양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FN(환자 놓침) 비용이 매우 높음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해석 가능성 중요 (의사의 판단 근거)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530352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로지스틱 회귀의 장점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28600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오즈비 해석: 위험 인자 영향 정량화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확률 출력: '당뇨 확률 73%' 직관적 소통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계수 해석: Cox(1958) 오즈비가 의학 표준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931920"/>
            <a:ext cx="11064240" cy="256032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06908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# 질병 진단 모델 + 오즈비 계산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model = LogisticRegression()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model.fit(X_train, y_train)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# 오즈비 계산 및 해석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odds_ratios = np.exp(model.coef_[0])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feature_importance = pd.DataFrame({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'Feature': feature_names,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'Coefficient': model.coef_[0],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    'Odds Ratio': odds_ratios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}).sort_values('Odds Ratio', ascending=False)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# 예: BMI의 OR=1.85 -&gt; BMI 1단위 증가 시 당뇨 오즈 85% 증가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# 임계값: 0.3으로 낮춤 -&gt; Recall 극대화 (놓치면 생명 위험)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5.13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응용사례 3: 고객 이탈 예측 (Customer Churn)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530352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맑은 고딕"/>
              </a:defRPr>
            </a:pPr>
            <a:r>
              <a:t>문제 특성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이탈률 15~30% (중간 수준 불균형)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FN(이탈 고객 놓침) &gt; FP(불필요한 마케팅)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신규 고객 유치 비용 = 유지 비용의 5~7배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5303520" cy="18288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 w="12700">
            <a:solidFill>
              <a:srgbClr val="00E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맑은 고딕"/>
              </a:defRPr>
            </a:pPr>
            <a:r>
              <a:t>비즈니스 전략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28600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예측 확률 상위 20% -&gt; 리텐션 마케팅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높은 계수 피처 분석 -&gt; 서비스 개선</a:t>
            </a:r>
          </a:p>
          <a:p>
            <a:pPr>
              <a:spcAft>
                <a:spcPts val="400"/>
              </a:spcAft>
              <a:defRPr sz="1300">
                <a:solidFill>
                  <a:srgbClr val="BBBBCC"/>
                </a:solidFill>
                <a:latin typeface="맑은 고딕"/>
              </a:defRPr>
            </a:pPr>
            <a:r>
              <a:t>임계값 0.3으로 낮춤 -&gt; Recall 확보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931920"/>
            <a:ext cx="11064240" cy="256032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06908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# 고객 이탈 예측 모델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model_churn = LogisticRegression(max_iter=1000, random_state=42)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model_churn.fit(X_train, y_train)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pred = model_churn.predict(X_test)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prob = model_churn.predict_proba(X_test)[:, 1]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# 혼동 행렬 분석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cm = confusion_matrix(y_test, pred)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tn, fp, fn, tp = cm.ravel()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print(f'TN (유지-&gt;유지): {tn}명')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print(f'FP (유지-&gt;이탈): {fp}명  &lt;- 불필요한 마케팅 비용')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print(f'FN (이탈-&gt;유지): {fn}명  &lt;- 이탈 방지 실패 (가장 위험!)')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print(f'TP (이탈-&gt;이탈): {tp}명  &lt;- 리텐션 마케팅 대상')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96FF"/>
                </a:solidFill>
                <a:latin typeface="맑은 고딕"/>
              </a:defRPr>
            </a:pPr>
            <a:r>
              <a:t>SECTION 5.14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468880"/>
            <a:ext cx="210312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t>핵심 요약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맑은 고딕"/>
              </a:defRPr>
            </a:pPr>
            <a:r>
              <a:t>수식 정리, 용어, 복습 질문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5.14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로지스틱 회귀 알고리즘 요약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27432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항목</a:t>
            </a:r>
          </a:p>
        </p:txBody>
      </p:sp>
      <p:sp>
        <p:nvSpPr>
          <p:cNvPr id="7" name="Rectangle 6"/>
          <p:cNvSpPr/>
          <p:nvPr/>
        </p:nvSpPr>
        <p:spPr>
          <a:xfrm>
            <a:off x="3291840" y="1828800"/>
            <a:ext cx="77724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0" y="18288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내용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286000"/>
            <a:ext cx="27432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286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유형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2286000"/>
            <a:ext cx="77724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0" y="22860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지도학습 - 분류 (Classification)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743200"/>
            <a:ext cx="27432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743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핵심 함수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91840" y="2743200"/>
            <a:ext cx="77724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91840" y="27432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시그모이드: sigma(z) = 1/(1+e^(-z))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200400"/>
            <a:ext cx="27432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2004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비용 함수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91840" y="3200400"/>
            <a:ext cx="77724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91840" y="32004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로그 손실 (Log Loss / Binary Cross Entropy)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657600"/>
            <a:ext cx="27432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657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최적화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91840" y="3657600"/>
            <a:ext cx="77724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91840" y="36576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경사하강법 또는 L-BFGS (준뉴턴법)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114800"/>
            <a:ext cx="27432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4114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출력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91840" y="4114800"/>
            <a:ext cx="77724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91840" y="41148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클래스 확률 (0~1 사이)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4572000"/>
            <a:ext cx="27432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4572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장점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91840" y="4572000"/>
            <a:ext cx="77724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91840" y="45720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구현 간단, 확률 해석, 계수로 피처 영향도, 연산 효율적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5029200"/>
            <a:ext cx="27432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5029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단점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91840" y="5029200"/>
            <a:ext cx="77724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91840" y="50292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선형 결정 경계만 가능, 복잡한 비선형 패턴 한계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5212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00"/>
                </a:solidFill>
                <a:latin typeface="맑은 고딕"/>
              </a:defRPr>
            </a:pPr>
            <a:r>
              <a:t>5개 논문의 핵심 메시지: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5577840"/>
            <a:ext cx="36576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55778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논문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06240" y="5577840"/>
            <a:ext cx="68580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06240" y="557784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핵심 메시지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6035040"/>
            <a:ext cx="3657600" cy="2743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6035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Cox (1958)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06240" y="6035040"/>
            <a:ext cx="6858000" cy="2743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206240" y="603504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로짓 변환 + MLE = 로지스틱 회귀의 수학적 기초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8640" y="6309360"/>
            <a:ext cx="3657600" cy="2743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8640" y="6309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Hosmer &amp; Lemeshow (2000)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206240" y="6309360"/>
            <a:ext cx="6858000" cy="2743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206240" y="630936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체계적 모델 구축, 진단, 적합도 평가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8640" y="6583680"/>
            <a:ext cx="3657600" cy="2743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8640" y="65836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King &amp; Zeng (2001)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206240" y="6583680"/>
            <a:ext cx="6858000" cy="27432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206240" y="658368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희소 사건에서 MLE 편향 존재, 보정 필수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8640" y="6858000"/>
            <a:ext cx="3657600" cy="2743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8640" y="6858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맑은 고딕"/>
              </a:defRPr>
            </a:pPr>
            <a:r>
              <a:t>Ng &amp; Jordan (2002)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206240" y="6858000"/>
            <a:ext cx="6858000" cy="27432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206240" y="685800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맑은 고딕"/>
              </a:defRPr>
            </a:pPr>
            <a:r>
              <a:t>소표본 -&gt; 생성 모델, 대표본 -&gt; 판별 모델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5.14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주요 수식 정리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59436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수식</a:t>
            </a:r>
          </a:p>
        </p:txBody>
      </p:sp>
      <p:sp>
        <p:nvSpPr>
          <p:cNvPr id="7" name="Rectangle 6"/>
          <p:cNvSpPr/>
          <p:nvPr/>
        </p:nvSpPr>
        <p:spPr>
          <a:xfrm>
            <a:off x="6492240" y="1828800"/>
            <a:ext cx="4572000" cy="4572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의미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286000"/>
            <a:ext cx="59436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28600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sigma(z) = 1/(1+e^(-z))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2286000"/>
            <a:ext cx="45720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2860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시그모이드 함수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743200"/>
            <a:ext cx="59436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74320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logit(p) = ln(p/(1-p))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92240" y="2743200"/>
            <a:ext cx="45720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2743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로짓 (시그모이드 역함수)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200400"/>
            <a:ext cx="59436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20040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J = -(1/n)SUM[y*ln(y_hat)+(1-y)*ln(1-y_hat)]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92240" y="3200400"/>
            <a:ext cx="45720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32004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이진 교차 엔트로피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657600"/>
            <a:ext cx="59436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65760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nabla_w J = (1/n)*X^T*(y_hat-y)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92240" y="3657600"/>
            <a:ext cx="45720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3657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그래디언트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114800"/>
            <a:ext cx="59436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411480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OR = e^(w_i)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92240" y="4114800"/>
            <a:ext cx="4572000" cy="457200"/>
          </a:xfrm>
          <a:prstGeom prst="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4114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오즈비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4572000"/>
            <a:ext cx="59436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457200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맑은 고딕"/>
              </a:defRPr>
            </a:pPr>
            <a:r>
              <a:t>P(y=k|X) = e^(z_k) / SUM_j e^(z_j)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92240" y="4572000"/>
            <a:ext cx="4572000" cy="457200"/>
          </a:xfrm>
          <a:prstGeom prst="rect">
            <a:avLst/>
          </a:prstGeom>
          <a:solidFill>
            <a:srgbClr val="2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45720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맑은 고딕"/>
              </a:defRPr>
            </a:pPr>
            <a:r>
              <a:t>소프트맥스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4754880"/>
            <a:ext cx="11064240" cy="1828800"/>
          </a:xfrm>
          <a:prstGeom prst="roundRect">
            <a:avLst>
              <a:gd name="adj" fmla="val 5000"/>
            </a:avLst>
          </a:prstGeom>
          <a:solidFill>
            <a:srgbClr val="1E1E30"/>
          </a:solidFill>
          <a:ln w="127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4892040"/>
            <a:ext cx="10698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# sklearn 핵심 코드 요약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from sklearn.linear_model import LogisticRegression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model = LogisticRegression(max_iter=1000)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model.fit(X_train, y_train)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pred = model.predict(X_test)            # 클래스 예측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prob = model.predict_proba(X_test)       # 확률 예측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accuracy_score(y_test, pred)             # 정확도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roc_auc_score(y_test, prob[:, 1])        # AUC</a:t>
            </a:r>
          </a:p>
          <a:p>
            <a:pPr>
              <a:spcAft>
                <a:spcPts val="200"/>
              </a:spcAft>
              <a:defRPr sz="1200">
                <a:solidFill>
                  <a:srgbClr val="00E696"/>
                </a:solidFill>
                <a:latin typeface="Consolas"/>
              </a:defRPr>
            </a:pPr>
            <a:r>
              <a:t>np.exp(model.coef_[0])                   # 오즈비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96FF"/>
                </a:solidFill>
                <a:latin typeface="맑은 고딕"/>
              </a:defRPr>
            </a:pPr>
            <a:r>
              <a:t>SECTION 5.14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복습 질문 10개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  <a:r>
              <a:t>Q1. 선형 회귀로 분류 시 4가지 문제점과 로지스틱 회귀의 해결 방법?</a:t>
            </a:r>
          </a:p>
          <a:p>
            <a:pPr>
              <a:spcAft>
                <a:spcPts val="10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  <a:r>
              <a:t>Q2. 시그모이드 미분이 sigma(z)(1-sigma(z))임을 증명하시오.</a:t>
            </a:r>
          </a:p>
          <a:p>
            <a:pPr>
              <a:spcAft>
                <a:spcPts val="10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  <a:r>
              <a:t>Q3. 오즈비(OR)=1.5의 의미를 타이타닉 예시로 설명하시오.</a:t>
            </a:r>
          </a:p>
          <a:p>
            <a:pPr>
              <a:spcAft>
                <a:spcPts val="10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  <a:r>
              <a:t>Q4. MLE 우도 최대화 = 로그 손실 최소화의 동치성을 보이시오.</a:t>
            </a:r>
          </a:p>
          <a:p>
            <a:pPr>
              <a:spcAft>
                <a:spcPts val="10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  <a:r>
              <a:t>Q5. Ng&amp;Jordan: NB는 O(log n), LR은 O(n) 수렴의 시사점?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82880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  <a:r>
              <a:t>Q6. King&amp;Zeng: 양성 1% 데이터에서 MLE 편향과 2가지 교정법?</a:t>
            </a:r>
          </a:p>
          <a:p>
            <a:pPr>
              <a:spcAft>
                <a:spcPts val="10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  <a:r>
              <a:t>Q7. 양성 2% 사기 탐지에서 정확도 98%가 좋은 모델인가?</a:t>
            </a:r>
          </a:p>
          <a:p>
            <a:pPr>
              <a:spcAft>
                <a:spcPts val="10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  <a:r>
              <a:t>Q8. K=2일 때 소프트맥스가 시그모이드로 환원됨을 보이시오.</a:t>
            </a:r>
          </a:p>
          <a:p>
            <a:pPr>
              <a:spcAft>
                <a:spcPts val="10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  <a:r>
              <a:t>Q9. Hosmer-Lemeshow 검정의 절차와 귀무/대립 가설?</a:t>
            </a:r>
          </a:p>
          <a:p>
            <a:pPr>
              <a:spcAft>
                <a:spcPts val="1000"/>
              </a:spcAft>
              <a:defRPr sz="1400">
                <a:solidFill>
                  <a:srgbClr val="BBBBCC"/>
                </a:solidFill>
                <a:latin typeface="맑은 고딕"/>
              </a:defRPr>
            </a:pPr>
            <a:r>
              <a:t>Q10. 직접 구현(GD)과 sklearn(L-BFGS) 성능 차이의 원인 2가지?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508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맑은 고딕"/>
              </a:defRPr>
            </a:pPr>
            <a:r>
              <a:t>Thank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926080"/>
            <a:ext cx="2103120" cy="3810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320040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D2FF"/>
                </a:solidFill>
                <a:latin typeface="맑은 고딕"/>
              </a:defRPr>
            </a:pPr>
            <a:r>
              <a:t>5장: 로지스틱 회귀 (Logistic Regression)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93192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99"/>
                </a:solidFill>
                <a:latin typeface="맑은 고딕"/>
              </a:defRPr>
            </a:pPr>
            <a:r>
              <a:t>확장 상세 버전 | 57 Slides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457200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99"/>
                </a:solidFill>
                <a:latin typeface="맑은 고딕"/>
              </a:defRPr>
            </a:pPr>
            <a:r>
              <a:t>핵심: 시그모이드 + 로그 손실 + MLE = 로지스틱 회귀</a:t>
            </a:r>
            <a:br/>
            <a:r>
              <a:t>Cox(1958) | Hosmer&amp;Lemeshow(2000) | King&amp;Zeng(2001) | Ng&amp;Jordan(2002) | Menard(2002)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