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645920"/>
            <a:ext cx="39620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04 Linear Regression</a:t>
            </a:r>
            <a:br/>
            <a:r>
              <a:t>실행 결과 상세 해석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00400"/>
            <a:ext cx="39620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맑은 고딕"/>
              </a:defRPr>
            </a:pPr>
            <a:r>
              <a:t>교수자: Jung, Minpo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교과목: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학기: 2026년도 1학기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Chapter 04 - 보험료 예측 선형 회귀 모델 결과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데이터 로드 및 전체 구조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1338명 보험 가입자 데이터 (6개 변수)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age  sex     bmi  children  smoker      charges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0      19    0  27.900         0       1  16884.92400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...                                                  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1337   61    0  29.070         0       1  29141.36030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[1338 rows x 6 columns]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28800"/>
            <a:ext cx="566928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해석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2860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총 1338명의 보험 가입자 데이터 정상 로드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6개 변수: age, sex, bmi, children, smoker, charges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인덱스: 0부터 1337까지 (파이썬 기본 인덱스)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첫 번째 데이터 (인덱스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19세, 여성(0), BMI 27.9, 자녀 없음, 흡연자(1)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보험료: $16,884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젊은 나이의 흡연 여성 → 비교적 높은 보험료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마지막 데이터 (인덱스 1337)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61세, 여성(0), BMI 29.07, 자녀 없음, 흡연자(1)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보험료: $29,141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고령 흡연 여성 → 나이 영향으로 더 높은 보험료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상위 5개 데이터 확인 (head)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head() 함수로 데이터 미리보기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idx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828800"/>
            <a:ext cx="7315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828800"/>
            <a:ext cx="7315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8288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828800"/>
            <a:ext cx="100584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8288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bmi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1828800"/>
            <a:ext cx="100584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8288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children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828800"/>
            <a:ext cx="100584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8288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smoker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82880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1828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charges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240280"/>
            <a:ext cx="6400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24028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2240280"/>
            <a:ext cx="7315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224028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2240280"/>
            <a:ext cx="7315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224028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240280"/>
            <a:ext cx="10058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2402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27.900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2240280"/>
            <a:ext cx="10058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22402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240280"/>
            <a:ext cx="10058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22402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240280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22402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$16,884.92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624328"/>
            <a:ext cx="6400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262432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8720" y="2624328"/>
            <a:ext cx="7315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262432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2624328"/>
            <a:ext cx="7315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262432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624328"/>
            <a:ext cx="10058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51760" y="26243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33.770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2624328"/>
            <a:ext cx="10058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6243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2624328"/>
            <a:ext cx="10058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26243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2624328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0" y="26243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$1,725.55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008376"/>
            <a:ext cx="6400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0083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88720" y="3008376"/>
            <a:ext cx="7315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8720" y="300837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20240" y="3008376"/>
            <a:ext cx="7315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0240" y="300837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51760" y="3008376"/>
            <a:ext cx="10058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51760" y="30083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33.000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3008376"/>
            <a:ext cx="10058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0" y="30083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3008376"/>
            <a:ext cx="10058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30083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0" y="3008376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0" y="30083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$4,449.46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3392424"/>
            <a:ext cx="6400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339242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88720" y="3392424"/>
            <a:ext cx="7315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88720" y="339242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20240" y="3392424"/>
            <a:ext cx="7315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20240" y="339242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3392424"/>
            <a:ext cx="10058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51760" y="33924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22.705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3392424"/>
            <a:ext cx="10058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0" y="33924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3392424"/>
            <a:ext cx="10058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63440" y="33924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0" y="3392424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69280" y="33924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$21,984.47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3776472"/>
            <a:ext cx="6400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3776472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88720" y="3776472"/>
            <a:ext cx="7315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88720" y="377647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20240" y="3776472"/>
            <a:ext cx="7315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20240" y="377647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51760" y="3776472"/>
            <a:ext cx="10058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51760" y="377647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28.880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0" y="3776472"/>
            <a:ext cx="10058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0" y="377647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63440" y="3776472"/>
            <a:ext cx="10058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63440" y="377647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69280" y="3776472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69280" y="377647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$3,866.86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48640" y="420624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152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sex 인코딩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1520" y="46634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 = 여성 (Female)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 = 남성 (Male)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범주형 → 숫자 변환 완료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023360" y="420624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0624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smoker 인코딩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6240" y="46634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 = 비흡연자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 = 흡연자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범주형 → 숫자 변환 완료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498079" y="420624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80959" y="42976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맑은 고딕"/>
              </a:defRPr>
            </a:pPr>
            <a:r>
              <a:t>인덱스 0 vs 3 비교 인사이트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80959" y="4663440"/>
            <a:ext cx="3749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0번: 19세, 흡연자 → $16,884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3번: 33세, 비흡연자 → $21,984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나이가 14살 더 많지만 비흡연자인 3번이 더 높은 보험료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흡연 여부 외에도 다른 요인이 복합적으로 작용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데이터 구조 정보 (info)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데이터 타입, 결측치, 메모리 사용량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RangeIndex: 1338 entries, 0 to 1337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Data columns (total 6 columns):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#   Column    Non-Null Count  Dtype  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---  ------    --------------  -----  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0   age       1338 non-null   int64  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1   sex       1338 non-null   int64  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2   bmi       1338 non-null   float64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3   children  1338 non-null   int64  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4   smoker    1338 non-null   int64  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5   charges   1338 non-null   float64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dtypes: float64(2), int64(4)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memory usage: 62.8 KB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2880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결측치(Missing Value)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2860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변수가 1338 non-null → 결측치 전혀 없음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실무에서는 매우 드문 경우 (교재용 사전 정제 데이터)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별도 데이터 클리닝 없이 바로 모델링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474720"/>
            <a:ext cx="56692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자료형(Dtype) 해석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9319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int64 (정수): age, sex, children, smoker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sex, smoker는 범주형이지만 숫자로 인코딩됨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float64 (실수): bmi, charges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소수점이 있는 연속형 변수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5394960"/>
            <a:ext cx="566928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5486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메모리 사용량: 62.8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8521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매우 작은 데이터셋 (실무에서는 수 GB 이상도 흔함)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학습용으로 적합한 크기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기술 통계량 (describe) - age, sex, bmi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주요 변수별 상세 해석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age (연령)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mean = 39.21  → 평균 연령 약 39세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std = 14.05  → 표준편차 14세 (분포 넓음)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min = 18.00  → 최소 18세 (성인만 포함)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50% = 39.00  → 중앙값 = 평균 (대칭 분포)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max = 64.00  → 최대 64세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평균과 중앙값이 거의 일치 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연령은 비교적 균등한 분포를 가짐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sex (성별)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mean = 0.51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남성(1) 비율 약 51%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남녀 비율이 거의 균등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변수(0/1)이므로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mean = 남성 비율로 해석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성별 균형이 잡힌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bmi (체질량지수)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mean = 30.66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WHO 기준 BMI 30+ = '비만'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평균이 비만 경계에 위치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min = 15.96  → 저체중 수준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max = 53.13  → 고도 비만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미국 보험 가입자 데이터로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비만율이 높은 특성이 반영됨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기술 통계량 (describe) - children, smoker,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종속변수 charges의 우편향 분포가 핵심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children (자녀 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mean = 1.09  → 평균 자녀 약 1명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max = 5.00  → 최대 5명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75% = 2.00  → 75%가 자녀 2명 이하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smoker (흡연 여부)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mean = 0.20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흡연자 비율 약 20%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비흡연자가 80%로 압도적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657600" cy="4663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charges (보험 청구비용) - 종속변수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mean = $13,270.42  (평균 보험료)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std = $12,110.01  (표준편차 ≒ 평균! 매우 넓은 분포)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min = $1,121.87  (최저)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50% = $9,382.03  (중앙값)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max = $63,770.43  (최고 = 최소의 약 57배)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핵심: 평균($13,270) &gt; 중앙값($9,382)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우측으로 치우친 분포 (right-skewed)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383280" cy="4663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맑은 고딕"/>
              </a:defRPr>
            </a:pPr>
            <a:r>
              <a:t>핵심 인사이트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charges의 평균 &gt; 중앙값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우편향(right-skewed) 분포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소수의 고액 청구자가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평균을 끌어올리는 구조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이는 흡연자 그룹의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높은 보험료 때문일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가능성이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선형 회귀에서 이러한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비대칭 분포는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정확도에 영향을 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예측값 vs 실제값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시험셋 268개 (전체 1338의 20%) 예측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914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인덱스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92024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실제값(actual)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92024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예측값(pred)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920240"/>
            <a:ext cx="1371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오차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18288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판정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31720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317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2331720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3317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$1,827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331720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23317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$4,765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331720"/>
            <a:ext cx="13716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3317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+$2,938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331720"/>
            <a:ext cx="18288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331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과대예측(2.6배)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15768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7157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306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2715768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27157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$20,178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2715768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27157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$4,958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2715768"/>
            <a:ext cx="13716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27157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-$15,220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715768"/>
            <a:ext cx="18288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27157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심각한 과소예측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099816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09981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318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3099816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30998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$7,421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3099816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30998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$8,299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3099816"/>
            <a:ext cx="13716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30998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+$878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3099816"/>
            <a:ext cx="18288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30998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비교적 정확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483864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48386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815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0" y="3483864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3040" y="34838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$1,878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3483864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0" y="34838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$3,079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483864"/>
            <a:ext cx="13716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348386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+$1,201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483864"/>
            <a:ext cx="18288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80" y="34838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과대예측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867912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38679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157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63040" y="3867912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63040" y="38679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$15,518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08960" y="3867912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08960" y="38679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$24,166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54880" y="3867912"/>
            <a:ext cx="13716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4880" y="386791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+$8,648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3867912"/>
            <a:ext cx="18288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6480" y="3867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과대예측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251960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2519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1015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63040" y="4251960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4251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$12,125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08960" y="4251960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08960" y="4251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$11,638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54880" y="4251960"/>
            <a:ext cx="13716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4880" y="42519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-$487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26480" y="4251960"/>
            <a:ext cx="18288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26480" y="42519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매우 정확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583680" y="192024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6656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인덱스 306 - 심각한 과소예측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66560" y="237744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 $20,178 → 예측 $4,958 (오차 -$15,220)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아마 흡연자인데 모델이 제대로 포착 못한 케이스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선형 회귀의 한계를 보여주는 사례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0" y="402336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6656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인덱스 1015 - 매우 정확한 예측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66560" y="44805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 $12,125 → 예측 $11,638 (오차 -$487)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오차율 약 4%로 매우 우수한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비흡연자 중가 보험료 구간에서 모델이 잘 작동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산점도 시각화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x축 = 실제값, y축 = 예측값 — 완벽한 모델이면 45도 대각선 위에 위치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저가 보험료 구간 ($0~$15,000)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점들이 대각선 근처에 비교적 잘 분포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예측이 양호한 구간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비흡연자 대부분이 이 구간에 위치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중가 보험료 구간 ($15,000~$35,000)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점들이 대각선에서 벗어나기 시작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과대/과소예측 혼재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흡연자와 비흡연자 경계 구간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고가 보험료 구간 ($35,000+)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점들이 크게 분산됨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예측이 불안정한 구간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고액 흡연자 보험료 예측 난항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1106424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3개 클러스터가 보이는 이유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산점도에서 데이터가 3개의 뚜렷한 군집(cluster)으로 나뉘는 것이 관찰됨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Cluster 1: 비흡연자 (저가 보험료) — 대각선에 비교적 가까이 위치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Cluster 2: 흡연자 + 낮은 BMI — 중간 보험료 구간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Cluster 3: 흡연자 + 높은 BMI — 고가 보험료 구간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원인: 흡연자/비흡연자 그룹 간 보험료 차이가 크기 때문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선형 회귀는 이런 그룹 간 비선형적 차이를 완벽히 포착하기 어렵다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RMSE (Root Mean Squared Error)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평균 예측 오차의 크기를 나타내는 지표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545"/>
                </a:solidFill>
                <a:latin typeface="맑은 고딕"/>
              </a:defRPr>
            </a:pPr>
            <a:r>
              <a:t>RMSE = $5,684.93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RMSE / 평균 = 5,685 / 13,270 = 약 42.8%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920240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0116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해석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37744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"평균적으로 예측이 실제값에서 약 $5,685 정도 벗어난다"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 보험료($13,270) 대비 약 42.8% 오차 → 상당히 큰 오차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RMSE의 절대적 기준은 없으며, 다른 모델과 상대 비교에 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64008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6035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RMSE 계산 과정: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RMSE = sqrt( (1/n) * sum( (yi - y_hat_i)^2 ) 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1. 각 데이터에 대해 (실제값 - 예측값) 차이 계산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2. 차이를 제곱 (부호 제거 + 큰 오차에 패널티)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3. 제곱 값들의 평균 구함 (MSE)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4. 평균에 루트 (원래 스케일로 복원)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566160"/>
            <a:ext cx="429768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3657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RMSE 비교 목적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402336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향후 다른 모델 적용 시 RMSE 비교: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Ridge Regression → RMSE ?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Lasso Regression → RMSE ?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Random Forest → RMSE ?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XGBoost → RMSE ?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 RMSE($5,685)를 낮추는 것이 목표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R² 결정 계수 (Coefficient of Determination)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모델의 설명력을 나타내는 핵심 지표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FF"/>
                </a:solidFill>
                <a:latin typeface="맑은 고딕"/>
              </a:defRPr>
            </a:pPr>
            <a:r>
              <a:t>R² = 0.7368 (73.7%)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독립변수 5개가 charges 변동의 73.7% 설명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920240"/>
            <a:ext cx="65836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0116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R² = SSR / SST = 1 - SSE / SST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37744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SST (총 변동량): 종속변수의 총 변동량 (평균값 대비)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SSR (회귀 변동량): 모델이 설명하는 변동량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SSE (오차 변동량): 모델이 설명하지 못하는 변동량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9184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R² 범위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3291840"/>
            <a:ext cx="4572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해석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0.9 이상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370332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매우 우수한 모델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605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0.7 ~ 0.9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416052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양호한 모델  ← 우리 모델 (0.74)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177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0.5 ~ 0.7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461772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4617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보통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749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0.5 미만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507492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설명력 부족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3474720"/>
            <a:ext cx="384048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남은 26.3%는?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393192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현재 모델에 포함되지 않은 요인: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기저 질환 유무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거주 지역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직업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운동 습관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또는 변수 간 비선형 관계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(예: 흡연자의 BMI 효과가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비흡연자와 다를 수 있음)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회귀 계수 (Coefficients)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각 독립변수가 보험료에 미치는 영향력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371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변수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92024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계수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920240"/>
            <a:ext cx="5486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20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해석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13716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smoker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331720"/>
            <a:ext cx="164592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33172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+23,469.28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331720"/>
            <a:ext cx="54864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33172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가장 큰 영향력. 흡연자는 비흡연자 대비 ~$23,469 높음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70632"/>
            <a:ext cx="13716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7063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children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770632"/>
            <a:ext cx="164592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277063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+469.34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2770632"/>
            <a:ext cx="54864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277063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자녀 1명 증가 시 보험료 약 $469 증가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09544"/>
            <a:ext cx="13716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0954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bmi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3209544"/>
            <a:ext cx="164592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320954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+297.51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3209544"/>
            <a:ext cx="54864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320954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BMI 1 증가 시 보험료 약 $298 증가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48456"/>
            <a:ext cx="13716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4845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3648456"/>
            <a:ext cx="164592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364845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+264.80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3648456"/>
            <a:ext cx="54864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3648456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나이 1살 증가 시 보험료 약 $265 증가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87368"/>
            <a:ext cx="13716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0873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sex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4087368"/>
            <a:ext cx="164592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40873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+17.34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4087368"/>
            <a:ext cx="54864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408736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남성이 여성 대비 약 $17 높음 → 사실상 영향 미미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389120"/>
            <a:ext cx="27432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1. smoker 압도적 1위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84632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계수 23,469로 다른 변수보다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수십~수백 배 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보험료의 가장 큰 결정 요인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66160" y="4389120"/>
            <a:ext cx="27432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2. sex는 거의 무의미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40" y="484632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계수 17로 실질적 영향 없음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성별보다 건강 관련 변수가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보험료에 훨씬 중요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4389120"/>
            <a:ext cx="27432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3. BMI와 나이 비슷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484632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각각 298, 265로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유사한 크기의 영향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건강/연령 요인이 비슷한 가중치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0" y="4389120"/>
            <a:ext cx="201168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4480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4. 자녀 수 유의미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48463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1명당 약 $469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부양가족 반영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절편 (Intercept)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회귀 수식의 상수항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8C00"/>
                </a:solidFill>
                <a:latin typeface="맑은 고딕"/>
              </a:defRPr>
            </a:pPr>
            <a:r>
              <a:t>Intercept = -$11,577.00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(-11576.999976112374)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절편의 의미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수식에서 모든 독립변수가 0일 때의 charges 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"0세, 여성, BMI 0, 자녀 0, 비흡연" 인 사람의 보험료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실제로 이런 사람은 존재하지 않음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따라서 절편 자체에 현실적 의미를 부여하기보다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수학적 보정값으로 이해하는 것이 적절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음수인 이유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다른 계수들의 합이 양수로 크기 때문에 절편이 음수가 되어야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전체 예측값이 합리적인 범위에 들어온다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18세 비흡연자의 경우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264.80×18 + 17.34×0 + 297.51×25 + 469.34×0 + 23469.28×0 + (-11577.00) = $4,230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절편이 0이었다면 $15,807로 과대 예측됨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최종 예측 수식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5개 독립변수와 절편으로 구성된 선형 회귀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charges = 264.80 × age + 17.34 × sex + 297.51 × bmi + 469.34 × children + 23469.28 × smoker - 11577.00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08960"/>
            <a:ext cx="5303520" cy="3383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예측 예시 1: 30세 남성 BMI 25, 자녀 1명, 비흡연자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charges = 264.80×30 + 17.34×1 + 297.51×25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+ 469.34×1 + 23469.28×0 - 11577.00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7,944.00 + 17.34 + 7,437.75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+ 469.34 + 0 - 11,577.00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$4,291.43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비흡연자의 합리적인 보험료 수준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303520" cy="3383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예측 예시 2: 같은 조건의 흡연자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charges = $4,291.43 + 23,469.28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$27,760.71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흡연 여부 하나만 바뀌어도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보험료가 약 6.5배 차이!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$4,291 vs $27,761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흡연이 보험료에 미치는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압도적 영향력을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종합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Linear Regression 모델의 성능, 강점, 한계, 개선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371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지표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920240"/>
            <a:ext cx="18288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920240"/>
            <a:ext cx="3657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평가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13716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RMSE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331720"/>
            <a:ext cx="18288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3317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$5,684.93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2331720"/>
            <a:ext cx="36576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233172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평균 보험료 대비 약 43% 오차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70632"/>
            <a:ext cx="13716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7063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R²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770632"/>
            <a:ext cx="18288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277063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0.7368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2770632"/>
            <a:ext cx="36576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277063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양호 (73.7% 설명력)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0175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강점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4747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해석이 매우 직관적: 각 변수의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영향을 정량적으로 파악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훈련 속도가 매우 빠름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흡연 = 핵심 요인 명확히 포착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0175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한계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4747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흡연자 내 세밀한 예측 부족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(비선형 관계 미포착)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우편향 분포 → 고액 구간 오차 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교호작용(interaction) 미고려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017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개선 방향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74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로그 변환: charges에 log 취해 분포 정규화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교호작용: smoker×bmi 등 상호작용 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비선형 모델: RF, XGBoost 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정규화: Ridge, Lasso, Elastic 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12064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결론: Linear Regression은 기본 모델로서 데이터의 핵심 패턴을 잘 포착하였으나,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6CFF"/>
                </a:solidFill>
                <a:latin typeface="맑은 고딕"/>
              </a:defRPr>
            </a:pPr>
            <a:r>
              <a:t>비선형성과 교호작용을 반영하는 고급 모델로의 확장이 필요하다. (다음 챕터에서 계속)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