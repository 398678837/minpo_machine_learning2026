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371600"/>
            <a:ext cx="48764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Microsoft YaHei"/>
              </a:defRPr>
            </a:pPr>
            <a:r>
              <a:t>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线性回归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Microsoft YaHei"/>
              </a:defRPr>
            </a:pPr>
            <a:r>
              <a:t>Linear Regression: OLS, Ridge, Lasso, Elastic 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从OLS到正则化技术的系统理解 + 亲手实现算法内部运作机制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机器学习 |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目录 (Table of Contents)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第4章 整体结构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Part I: 理论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4.1  历史与意义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4.2  OLS理论（正规方程、几何解释）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4.3  多重共线性（VIF、条件数）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4.4  Ridge回归（L2正则化）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4.5  Lasso回归（L1正则化）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4.6  Elastic Net（L1+L2）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4.7  坐标下降法（glmnet）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Part II: 实践 &amp; 应用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4.8   SCAD与Oracle特性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4.9   回归诊断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4.10  实践：Ridge回归实现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4.11  实践：Lasso回归实现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4.12  实践：Elastic Net实现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4.13  应用案例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4.14  核心总结 + 复习题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Microsoft YaHei"/>
              </a:defRPr>
            </a:pPr>
            <a:r>
              <a:t>1. 能够通过矩阵微分推导OLS的正规方程并进行几何解释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Microsoft YaHei"/>
              </a:defRPr>
            </a:pPr>
            <a:r>
              <a:t>2. 能够说明高斯-马尔可夫定理的意义与局限性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Microsoft YaHei"/>
              </a:defRPr>
            </a:pPr>
            <a:r>
              <a:t>3. 能够比较Ridge、Lasso、Elastic Net的数学定义与差异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Microsoft YaHei"/>
              </a:defRPr>
            </a:pPr>
            <a:r>
              <a:t>4. 能够解释L1与L2正则化的几何差异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Microsoft YaHei"/>
              </a:defRPr>
            </a:pPr>
            <a:r>
              <a:t>5. 能够亲手实现坐标下降法和软阈值算子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Microsoft YaHei"/>
              </a:defRPr>
            </a:pPr>
            <a:r>
              <a:t>6. 能够说明SCAD的Oracle性质及相对于Lasso的优势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Microsoft YaHei"/>
              </a:defRPr>
            </a:pPr>
            <a:r>
              <a:t>7. 能够执行回归诊断（残差分析、Cook's Distance）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Microsoft YaHei"/>
              </a:defRPr>
            </a:pPr>
            <a: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历史与意义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拥有200年历史的最基本ML算法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最小二乘法的诞生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Legendre (1805) vs Gauss (1809)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勒让德 (Legendre, 1805)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首次正式发表最小二乘法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根据观测数据确定彗星轨道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提出最小化残差平方和的原理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Nouvelles méthodes... (1805)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高斯 (Gauss, 1809)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声称自1795年起就开始使用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Theoria Motus Corporum Coelestium (1809)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证明在正态分布假设下与MLE等价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赋予概率论上的合理性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线性回归的现代地位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基础算法：监督学习中预测连续值的最基本模型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理论基础：代价函数优化、偏差-方差权衡、正则化的出发点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扩展基础：逻辑回归、神经网络、核方法的构成要素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基准线：新模型性能比较的基准（baseline）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线性回归的数学定义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自变量与因变量之间的线性关系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标量表示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y = β₀ + β₁x₁ + β₂x₂ + ··· + βₚxₚ + 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y: 因变量（目标）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x₁,...,xₚ: 自变量（特征）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β₀: 截距, β₁,...,βₚ: 回归系数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ε: 误差项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矩阵表示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y = Xβ + 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y ∈ R^n: 响应向量（n个观测值）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X ∈ R^(n×(p+1)): 设计矩阵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β ∈ R^(p+1): 回归系数向量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ε ∈ R^n: 误差, εᵢ ~iid~ N(0, σ²)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核心：'线性'是指对参数β为线性。y = β₁x + β₂x²也是线性回归（将x²视为新特征）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OLS理论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正规方程推导、几何解释、高斯-马尔可夫定理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正规方程推导（矩阵微分）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求使RSS最小化的β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124712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逐步推导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Step 1. 残差平方和（RSS）定义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RSS(β) = ||y - Xβ||² = (y - Xβ)ᵀ(y - Xβ)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Step 2. 展开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RSS(β) = yᵀy - 2βᵀXᵀy + βᵀXᵀXβ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Step 3. 对β求偏导（应用矩阵微分法则）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∂RSS/∂β = -2Xᵀy + 2XᵀXβ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使用的公式: ∂(aᵀx)/∂x = a,  ∂(xᵀAx)/∂x = 2Ax (A对称)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Step 4. 令其为0 → 正规方程 (Normal Equation)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XᵀXβ = Xᵀy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Step 5. 解（当XᵀX可逆时）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β̂_OLS = (XᵀX)⁻¹Xᵀy      ← 核心公式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二阶导数（海森矩阵）与凸性验证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保证正规方程的解为最小值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海森矩阵（二阶导数）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∂²RSS / ∂β∂βᵀ = 2XᵀX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XᵀX为半正定矩阵(positive semi-definite)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RSS是凸(convex)函数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正规方程的解为全局最小值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若XᵀX为正定矩阵(positive definite)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唯一最小值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凸优化的优势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局部最小值 = 全局最小值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从任何起点出发都能得到相同的解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梯度下降法保证收敛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只需适当的学习率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3. Ridge也是凸的（加λI仍保持凸性）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Lasso也是凸的（|β|是凸的）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 SCAD是非凸的 → 存在局部最小值问题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OLS的几何解释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正交投影 (Orthogonal Projection)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正交投影视角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y是R^n空间中的向量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C(X) = X的列空间 (column space)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ŷ = X(XᵀX)⁻¹Xᵀy = Hy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H = X(XᵀX)⁻¹Xᵀ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= 帽子矩阵 (hat matrix)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= 投影矩阵 (projection matrix)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ŷ是y在C(X)上的正交投影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残差 Xᵀe = 0（残差与列空间正交）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勾股定理: ||y||² = ||ŷ||² + ||e||²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TSS = ESS + RSS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931920"/>
            <a:ext cx="55778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023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Microsoft YaHei"/>
              </a:defRPr>
            </a:pPr>
            <a:r>
              <a:t>R²的几何意义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38912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R² = cos²θ  (y与ŷ之间的夹角)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R² = 1: y在C(X)内（完美拟合）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R² = 0: y与C(X)正交（无解释力）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0 &lt; R² &lt; 1: 部分解释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高斯-马尔可夫定理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OLS估计量的最优性保证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定理的条件（4个）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E[εᵢ] = 0（误差期望为0）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Var(εᵢ) = σ²（同方差性）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3. Cov(εᵢ, εⱼ) = 0, i≠j（不相关）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 X是固定的（non-random）矩阵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BLUE: 最优性的含义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Best: 在所有线性无偏估计量中方差最小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Linear: β̂是y的线性函数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Unbiased: E[β̂] = β（无偏）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Estimator: β的估计量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46320"/>
            <a:ext cx="1124712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核心局限与Ridge的动机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高斯-马尔可夫仅保证OLS在无偏估计量中是最优的！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若允许偏差，从MSE = Var + Bias²的角度，存在优于OLS的估计量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Hoerl &amp; Kennard (1970): 以少量偏差大幅降低方差，从而减小总MSE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多重共线性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VIF、条件数、解决方法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多重共线性 (Multicollinearity)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自变量之间高度线性相关的问题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当XᵀX接近奇异(singular)时：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(XᵀX)⁻¹的元素变得非常大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Var(β̂) = σ²(XᵀX)⁻¹急剧增大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回归系数估计不稳定（高方差）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VIF（方差膨胀因子）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VIFⱼ = 1 / (1 - Rⱼ²)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VIF = 1: 无多重共线性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VIF 1~5: 轻微（一般可接受）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VIF 5~10: 中等（需注意）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VIF &gt; 10: 严重（需处理）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条件数 (Condition Number)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κ(XᵀX) = λ_max / λ_min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条件数 &gt; 30 → 怀疑存在多重共线性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条件数越大，逆矩阵计算越不稳定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389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解决方法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4389120"/>
            <a:ext cx="30175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84632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4846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删除变量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4846320"/>
            <a:ext cx="30175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846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手动删除VIF较高的变量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25780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5257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主成分回归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5257800"/>
            <a:ext cx="30175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5257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PCA降维后进行回归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66928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5669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Ridge回归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5669280"/>
            <a:ext cx="30175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5669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L2正则化改善条件数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608076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6080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Lasso回归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6080760"/>
            <a:ext cx="30175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6080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L1正则化自动删除变量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6CFF"/>
                </a:solidFill>
                <a:latin typeface="Microsoft YaHei"/>
              </a:defRPr>
            </a:pPr>
            <a: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Ridge回归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L2正则化: Hoerl &amp; Kennard (1970)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Ridge回归：核心思想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偏差-方差权衡的经典案例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Microsoft YaHei"/>
              </a:defRPr>
            </a:pPr>
            <a:r>
              <a:t>偏差-方差权衡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MSE(β̂) = Var(β̂) + [Bias(β̂)]²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OLS: Bias = 0, Var = 可能很大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Ridge: Bias &gt; 0（略微）, Var = 大幅减小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总MSE减小！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核心洞察 (Hoerl &amp; Kennard, 1970):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利用高斯-马尔可夫的'漏洞'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在无偏估计量中是最优的，但是...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如果允许少量偏差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MSE可以更优！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L2正则化的数学定义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优化问题: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min ||y - Xβ||² + λ||β||²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闭式解: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β̂_ridge = (XᵀX + λI)⁻¹Xᵀy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推导: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∂/∂β [...] = -2Xᵀy + 2XᵀXβ + 2λβ =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(XᵀX + λI)β = Xᵀy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核心效果: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加λI使对角元素增大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条件数减小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数值稳定性提高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系数向0方向收缩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Ridge: 特征值分解 &amp; 贝叶斯解释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从两个角度理解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通过特征值分解理解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在XᵀX = VDVᵀ中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Ridge将每个方向的系数按 dⱼ/(dⱼ+λ) 收缩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dⱼ大: 收缩比例 ≈ 1（几乎不变）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dⱼ小: 收缩比例 ≈ 0（强烈收缩）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选择性地收缩不稳定方向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Microsoft YaHei"/>
              </a:defRPr>
            </a:pPr>
            <a:r>
              <a:t>贝叶斯解释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先验分布: β ~ N(0, τ²I)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似然: y|X,β ~ N(Xβ, σ²I)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MAP估计 = Ridge (λ = σ²/τ²)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Ridge = 对系数赋予正态先验分布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τ²越小 → λ越大 → 收缩越多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岭迹 (Ridge Trace)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x轴: λ, y轴: 各回归系数值的图形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从λ = 0 (OLS)开始 → λ增大 → 所有系数收敛于0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选择系数趋于稳定的λ值（通过交叉验证精确化）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545"/>
                </a:solidFill>
                <a:latin typeface="Microsoft YaHei"/>
              </a:defRPr>
            </a:pPr>
            <a: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Lasso回归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L1正则化: Tibshirani (1996)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Lasso: L1正则化与变量选择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收缩(shrinkage) + 变量选择同时实现！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L1正则化的数学定义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min (1/2n)||y - Xβ||² + λ||β||₁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||β||₁ = Σ|βⱼ| (L1范数)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无闭式解（在原点处不可微）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需要坐标下降法(Coordinate Descent)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Lasso的创新 (Tibshirani, 1996)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将Ridge的L2替换为L1这一简单变更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产生了根本性不同的性质：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回归系数收缩 (shrinkage)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变量选择 (variable selection) ← 核心！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3. 将部分系数精确置为0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Google Scholar引用 50,000+ (截至2024年)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软阈值算子 (Soft Thresholding)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Lasso解的核心机制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公式及运作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S(z, γ) = sign(z) · max(|z| - γ, 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三个区间的运作：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|z| ≤ γ:   结果 =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将小系数精确置为0（变量删除！）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z &gt; γ:    结果 = z - γ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将正系数收缩γ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z &lt; -γ:   结果 = z + γ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将负系数收缩γ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Ridge vs Lasso 收缩方式比较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Ridge: 比例收缩  β̂ = dⱼ/(dⱼ+λ) · β̂_OLS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接近0但永远不为0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Lasso: 平移收缩  β̂ = sign(β̂_OLS)·max(|β̂|-λ,0)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小于γ的系数精确为0！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434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Python实现（1行！）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def soft_threshold(z, gamma):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return np.sign(z) * np.maximum(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np.abs(z) - gamma, 0.0)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L1 vs L2 几何比较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为什么Lasso能进行变量选择？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L2约束 (Ridge) = 圆(Circle)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约束: β₁² + β₂² ≤ 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RSS等高线（椭圆）与圆的切点：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通常不在坐标轴上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系数难以精确为0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结果: 所有系数非零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无法进行变量选择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L1约束 (Lasso) = 菱形(Diamond)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约束: |β₁| + |β₂| ≤ 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菱形的顶点位于坐标轴上！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RSS等高线的切点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 很可能在顶点处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顶点: 一个或多个坐标 =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结果: 部分系数精确为0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变量被自动选择！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贝叶斯解释: Ridge vs Lasso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先验分布的差异决定变量选择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Ridge = 正态先验分布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p(β) = (1/√2πτ²) exp(-β²/2τ²)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钟形曲线: 在0附近平滑衰减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将系数向0收缩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但无法精确置为0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Lasso = 拉普拉斯先验分布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p(β) = (λ/2) exp(-λ|β|)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在原点处尖锐 + 厚尾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对小系数赋予高先验概率（稀疏性）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对大系数也给予适当概率（限制偏差）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核心: 拉普拉斯分布在原点处更尖锐，因此将小系数置为0的先验信念更强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Elastic 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L1 + L2混合正则化: Zou &amp; Hastie (2005)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Elastic Net: 解决Lasso的两个局限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Zou &amp; Hastie (2005)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Lasso的局限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p &gt; n问题: 当变量数 &gt; 样本数时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Lasso最多只能选择n个变量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缺乏分组效应: 在相关变量中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只任意选择一个，删除其余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Elastic Net的解决方案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min (1/2n)||y-Xβ||² + λ[α||β||₁ + (1-α)/2 ||β||₂²]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α = 1: 纯Lasso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α = 0: 纯Ridge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0 &lt; α &lt; 1: Elastic Net（最优折中）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分组效应定理 (Zou &amp; Hastie, 2005)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|β̂ᵢ - β̂ⱼ| ≤ [1 / λ(1-α)] · √(2(1-r)) · ||y||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相关性越高（r→1），两个系数的差异越小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Elastic Net遵循'相关变量一起选择或一起删除'的原则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纯Lasso (α=1)时分母=0，此性质不成立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Ridge vs Lasso vs Elastic Net 综合比较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特性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Ridge (L2)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Lasso (L1)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Elastic Net (L1+L2)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惩罚项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λ||β||₂²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λ||β||₁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2860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λ[α||β||₁+(1-α)||β||₂²/2]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变量选择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X（所有系数非零）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O（部分=0）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7432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O（部分=0）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分组效应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O（同时收缩）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X（只选一个）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2004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O（同时选择）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闭式解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36576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p&gt;n支持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最多n个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41148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贝叶斯先验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正态分布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拉普拉斯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0" y="45720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正态+拉普拉斯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约束区域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圆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菱形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0" y="5029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圆角菱形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坐标下降法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glmnet算法: Friedman, Hastie, Tibshirani (2010)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坐标下降法 (Coordinate Descent)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每次只优化一个变量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更新规则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第j个坐标更新：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β̃ⱼ = S(ρⱼ, αλ) / (Xⱼᵀ Xⱼ/n + λ(1-α))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ρⱼ = Xⱼᵀ rⱼ / 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rⱼ = y - Σ_{k≠j} Xₖβₖ  (部分残差)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S(z,γ) = sign(z)·max(|z|-γ,0)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算法：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for iteration in range(max_iter):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 for j in range(n_features):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   计算部分残差 → 应用软阈值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 检查收敛 (max|β_new - β_old| &lt; tol)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3个核心优化技巧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热启动 (Warm Start)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按λ₁ &gt; λ₂ &gt; ...顺序求解时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使用上一个解作为初始值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相邻λ的解相似 → 快速收敛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活跃集 (Active Set)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优先更新非零系数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Lasso中大部分系数=0，因此非常高效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3. λ_max计算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λ_max = (1/αn) max_j |Xⱼᵀ(y-ȳ)|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使所有系数=0的最小λ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从此处开始逐渐减小λ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6CFF"/>
                </a:solidFill>
                <a:latin typeface="Microsoft YaHei"/>
              </a:defRPr>
            </a:pPr>
            <a: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SCAD与Oracle特性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Fan &amp; Li (2001): 非凸惩罚与理想性质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SCAD: 具有Oracle性质的惩罚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Fan &amp; Li (2001)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Lasso的根本局限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L1惩罚无论系数大小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都收缩相同的量(λ)：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小系数: 适当地置为0（OK）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大系数: 不必要的过度收缩（问题！）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Oracle性质 (Oracle Properties)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一致的变量选择：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P(选中变量 = 真实变量) → 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渐近正态性：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非零系数的估计与OLS同分布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Lasso不满足Oracle性质！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区间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438912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惩罚行为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438912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效果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|θ| ≤ 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484632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与L1相同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84632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4846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将小系数置为0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4924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9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λ &lt; |θ| ≤ aλ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5349240"/>
            <a:ext cx="32004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5349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惩罚逐渐减小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5349240"/>
            <a:ext cx="5029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5349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中等系数逐步收缩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85216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852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|θ| &gt; aλ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585216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5852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惩罚导数 = 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585216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5852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对大系数不再收缩！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正则化方法的谱系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好的惩罚的3个条件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Microsoft YaHei"/>
              </a:defRPr>
            </a:pPr>
            <a:r>
              <a:t>好的惩罚的3个条件 (Fan &amp; Li)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无偏性: 对大系数无偏差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稀疏性: 将小系数置为0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3. 连续性: 估计量是数据的连续函数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同时满足三个条件 → 必定非凸！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38912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438912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4389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年份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38912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389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惩罚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43891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变量选择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3891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Oracle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3891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4632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Ridge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846320"/>
            <a:ext cx="1097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48463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1970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84632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846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L2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484632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846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84632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484632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846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5780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257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Lasso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5257800"/>
            <a:ext cx="1097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5257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1996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525780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0" y="5257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L1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525780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5257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25780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257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525780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5257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66928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SCAD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5669280"/>
            <a:ext cx="1097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0" y="5669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2001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566928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0" y="5669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非凸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0" y="566928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5669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566928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669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0" y="566928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0" y="5669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608076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080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Elastic Net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0" y="6080760"/>
            <a:ext cx="1097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86000" y="6080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2005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83280" y="608076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83280" y="6080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L1+L2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0" y="608076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0" y="6080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608076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6080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0" y="608076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400" y="6080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649224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492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Adaptive Lasso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0" y="6492240"/>
            <a:ext cx="1097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86000" y="64922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2006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83280" y="649224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83280" y="6492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加权L1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0" y="649224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0" y="6492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649224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0" y="6492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72400" y="649224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72400" y="6492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690372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" y="6903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MCP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86000" y="6903720"/>
            <a:ext cx="1097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286000" y="6903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2010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383280" y="690372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83280" y="69037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非凸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0" y="690372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29200" y="6903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00800" y="690372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00800" y="6903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72400" y="690372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72400" y="6903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回归诊断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残差分析、Q-Q Plot、Cook's Distance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残差分析 (Residual Analysis)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模型拟合度评估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残差类型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公式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普通残差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eᵢ = yᵢ - ŷᵢ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基本分析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标准化残差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rᵢ = eᵢ / (σ̂√(1-hᵢᵢ))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异常值检测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学生化残差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tᵢ = eᵢ / (σ̂₍ᵢ₎√(1-hᵢᵢ))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精确异常值检测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6576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残差图检查项目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预测值 vs 残差: 应无模式（同方差性）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残差的正态性: 通过Q-Q plot确认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3. 自相关: 时间序列数据中残差的独立性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65760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749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Q-Q Plot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1148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x轴: 理论正态分布的分位数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y轴: 残差的分位数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点在45度直线上 → 服从正态分布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偏离直线 → 判断分布偏态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Cook's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检测有影响力的观测值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Cook's Distance公式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Dᵢ = (rᵢ² / p) · (hᵢᵢ / (1-hᵢᵢ)²)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rᵢ: 标准化残差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hᵢᵢ: 杠杆值（帽子矩阵对角元素）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p: 参数个数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判定: Dᵢ &gt; 1 → 高影响力观测值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保守标准: Dᵢ &gt; 4/n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诊断项目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检查方法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违反时的措施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线性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预测值 vs 残差图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变量变换、多项式回归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同方差性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预测值 vs 残差图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WLS、变量变换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正态性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Q-Q plot, Shapiro-Wilk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变量变换、稳健回归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6576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独立性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6576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Durbin-Watson检验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36576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GLS、时间序列模型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1148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多重共线性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41148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VIF、条件数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75520" y="41148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删除变量、Ridge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5720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异常值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45720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Cook's distance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75520" y="45720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删除或稳健回归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Microsoft YaHei"/>
              </a:defRPr>
            </a:pPr>
            <a: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实践: Ridge回归实现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直接编写闭式解代码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Ridge回归直接实现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01_ridge_regression.py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class RidgeRegressionFromScratch: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"""闭式解: w = (X'X + λI)⁻¹X'y"""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__init__(self, alpha=1.0):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self.alpha = alpha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n, p = X.shape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self.X_mean_ = np.mean(X, axis=0)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self.y_mean_ = np.mean(y)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Xc = X - self.X_mean_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yc = y - self.y_mean_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# 核心: (X'X + αI)β = X'y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XtX = Xc.T @ Xc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reg = XtX + self.alpha * np.eye(p)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Xty = Xc.T @ yc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self.coef_ = np.linalg.solve(reg, Xty)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self.intercept_ = 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self.y_mean_ - self.X_mean_ @ self.coef_)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self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011680"/>
            <a:ext cx="48463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实现核心要点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6888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数据中心化 (centering)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Xc = X - mean(X)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yc = y - mean(y)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→ 截距单独处理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使用np.linalg.solve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用求解线性系统代替逆矩阵(inv)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→ 数值上更稳定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3. 与sklearn结果一致性验证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系数最大差异: ~10⁻¹²级别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 多重共线性效果验证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条件数: Ridge大幅降低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κ(XᵀX+λI) &lt;&lt; κ(XᵀX)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正则化路径 (Ridge Trace) &amp; 交叉验证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选择最优λ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正则化路径可视化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alphas = np.logspace(-2, 4, 200)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coefs_path = []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alpha in alphas: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ridge = RidgeFromScratch(alpha=alpha)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ridge.fit(X_scaled, y)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coefs_path.append(ridge.coef_.copy())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交叉验证选择最优λ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ridge_cv = RidgeCV(alphas=alphas, cv=5,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scoring='neg_mean_squared_error')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ridge_cv.fit(X_scaled, y)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print(f'最优λ: {ridge_cv.alpha_:.4f}')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011680"/>
            <a:ext cx="57607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Ridge Trace解读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x轴: log₁₀(λ), y轴: 各回归系数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λ = 0（左侧）: OLS估计值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因多重共线性而不稳定（大幅振荡）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λ增大: 所有系数收敛于0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偏差增大，方差减小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最优λ: CV MSE最小的点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偏差-方差权衡的最优点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OLS vs Ridge比较: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OLS系数的L2范数 &gt;&gt; Ridge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Ridge大幅降低条件数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545"/>
                </a:solidFill>
                <a:latin typeface="Microsoft YaHei"/>
              </a:defRPr>
            </a:pPr>
            <a: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实践: Lasso回归实现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直接编写坐标下降法代码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Lasso坐标下降法直接实现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02_lasso_regression.py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class LassoFromScratch: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n, p = X.shape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Xc = X - np.mean(X, axis=0)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yc = y - np.mean(y)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col_norms = np.sum(Xc**2, axis=0)/n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w = np.zeros(p)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residual = yc.copy()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for _ in range(self.max_iter):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w_old = w.copy()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for j in range(p):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# 恢复第j个特征对部分残差的贡献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residual += Xc[:,j] * w[j]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# X_j与部分残差的内积/n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rho = Xc[:,j] @ residual / n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# 应用软阈值！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w[j] = soft_threshold(rho,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    self.alpha) / col_norms[j]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# 更新残差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residual -= Xc[:,j] * w[j]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if np.max(np.abs(w-w_old))&lt;self.tol: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break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011680"/>
            <a:ext cx="48463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坐标下降法核心理解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6888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部分残差 (partial residual)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rⱼ = y - Σ_{k≠j} Xₖwₖ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'减去其他变量贡献后的残差'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高效残差更新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residual += Xⱼ·w_old[j]  (恢复)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residual -= Xⱼ·w_new[j]  (更新)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→ 每次只反映差异而非全部重新计算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3. 变量选择验证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零系数个数 → 与实际对比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自行实现 vs sklearn结果一致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 正则化路径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λ减小 → 选中变量数增加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红色实线: 实际非零系数个数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实践: Elastic Net实现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L1+L2混合正则化 + 分组效应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Elastic Net坐标下降法实现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03_elastic_net.py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Elastic Net更新规则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与Lasso的区别: 分母加L2项！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l1_penalty = alpha * l1_ratio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l2_penalty = alpha * (1 - l1_ratio)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j in range(p):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residual += Xc[:,j] * w[j]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rho = Xc[:,j] @ residual / 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# 核心: 分母加l2_penalty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denom = col_norms[j] + l2_penalty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w[j] = soft_threshold(rho, l1_penalty) / denom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residual -= Xc[:,j] * w[j]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011680"/>
            <a:ext cx="48463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分组效应实验结果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6888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相关特征组数据：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组1 (x0,x1,x2): 高相关, β=2.0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组2 (x3,x4): 高相关, β=-1.5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噪声 (x5~x14): β=0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Ridge: 所有系数非零，组内相似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Lasso: 变量选择O，组内只选一个！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Elastic Net: 变量选择 + 组内同时选择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组内系数方差：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Ridge &lt; Elastic Net &lt;&lt; Lasso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→ EN的分组效应最优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SECTION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应用案例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房价预测 &amp; 广告费-销售额分析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应用1: California Housing房价预测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sklearn内置数据集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RMSE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非零系数数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~0.73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~0.58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Ridge (α=1)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~0.73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~0.58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Lasso (α=0.01)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~0.74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~0.57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6~7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8404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主要系数解读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MedInc（中位收入）: 强正(+)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HouseAge（房龄）: 正(+) - 市中心效应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AveRooms（平均房间数）: 正(+) - 大房子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Latitude（纬度）: 负(-) - 北部价格下降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Longitude（经度）: 负(-) - 靠海侧较高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3840480"/>
            <a:ext cx="557784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931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局限性 &amp; 经验教训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2976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R² ≈ 0.58: 线性模型仅能解释58%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难以捕捉纬度/经度的非线性地理模式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可用RF、XGBoost等非线性模型改善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教训: 线性回归是可解释的baseline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性能 vs 可解释性的权衡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应用2: 广告费-销售额回归分析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市场营销分析案例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数据结构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电视广告费: 10~300（主效应）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广播广告费: 0~50（主效应）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报纸广告费: 0~100（弱效应）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销售额 = 0.05·TV + 0.1·Radio + 0.005·News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     + 0.001·TV·Radio + 5 + 噪声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Elastic Net结果（变量选择）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电视广告: 选中（最大正效应）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广播: 选中（单位效率最高）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报纸: 几乎收缩为0 → 实质上被删除！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营销启示：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将报纸预算重新分配给电视/广播更合理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核心: 线性回归的可解释性直接用于营销决策。每个系数代表'广告费增加1单位时销售额的变化'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Microsoft YaHei"/>
              </a:defRPr>
            </a:pPr>
            <a:r>
              <a:t>SECTION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核心总结 + 复习题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第4章 整体回顾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理论总结表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核心公式与特性一览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概念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核心公式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核心特性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β̂ = (XᵀX)⁻¹Xᵀy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BLUE, 无偏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Ridge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β̂ = (XᵀX+λI)⁻¹Xᵀy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L2, 收缩, 闭式解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Lasso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min ||y-Xβ||²/2n + λ||β||₁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L1, 变量选择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Elastic Net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79476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37947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L1+L2混合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79476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7947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分组效应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9768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2976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SCAD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429768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4297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非凸惩罚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29768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297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Oracle性质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核心论文年表 &amp; 方法选择指南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年份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论文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66751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核心贡献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1970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Hoerl &amp; Kennard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286000"/>
            <a:ext cx="66751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2860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Ridge, 偏差-方差权衡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1996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Tibshirani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743200"/>
            <a:ext cx="66751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7432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Lasso, L1变量选择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004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2001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Fan &amp; Li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200400"/>
            <a:ext cx="66751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2004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SCAD, Oracle性质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576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2005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448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Zou &amp; Hastie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657600"/>
            <a:ext cx="66751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3657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Elastic Net, 分组效应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14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2010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41148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5448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Friedman et 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4114800"/>
            <a:ext cx="66751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4114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glmnet, 坐标下降法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57200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方法选择指南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多重共线性严重？ → Ridge或Elastic Net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需要变量选择？ → Lasso或Elastic Net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存在相关变量组？ → Elastic Net（分组效应）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p &gt; n？ → Elastic Net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变量少且无多重共线性？ → OLS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复习题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公式推导 + 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Microsoft YaHei"/>
              </a:defRPr>
            </a:pPr>
            <a:r>
              <a:t>Q1. 对β进行矩阵微分RSS，推导正规方程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Microsoft YaHei"/>
              </a:defRPr>
            </a:pPr>
            <a:r>
              <a:t>Q2. 高斯-马尔可夫定理的局限：为什么Ridge可能优于OLS？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Microsoft YaHei"/>
              </a:defRPr>
            </a:pPr>
            <a:r>
              <a:t>Q3. 推导Ridge的闭式解。λI改善条件数的原因？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Microsoft YaHei"/>
              </a:defRPr>
            </a:pPr>
            <a:r>
              <a:t>Q4. 从L1（菱形）vs L2（圆）约束区域的几何角度解释变量选择的差异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Microsoft YaHei"/>
              </a:defRPr>
            </a:pPr>
            <a:r>
              <a:t>Q5. 软阈值算子S(z,γ)的三个区间运作及其在坐标下降法中的作用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复习题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深入 + 诊断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Microsoft YaHei"/>
              </a:defRPr>
            </a:pPr>
            <a:r>
              <a:t>Q6. 解释Elastic Net的分组效应定理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Microsoft YaHei"/>
              </a:defRPr>
            </a:pPr>
            <a:r>
              <a:t>Q7. 坐标下降法的效率：warm start与active set策略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Microsoft YaHei"/>
              </a:defRPr>
            </a:pPr>
            <a:r>
              <a:t>Q8. SCAD的Oracle性质两个条件及相对于Lasso的优势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Microsoft YaHei"/>
              </a:defRPr>
            </a:pPr>
            <a:r>
              <a:t>Q9. Ridge（正态分布）与Lasso（拉普拉斯）的贝叶斯解释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Microsoft YaHei"/>
              </a:defRPr>
            </a:pPr>
            <a:r>
              <a:t>Q10. 残差分析: (a) 漏斗形模式 (b) Q-Q尾部偏离 (c) Cook's D &gt;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286000"/>
            <a:ext cx="48764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Microsoft YaHei"/>
              </a:defRPr>
            </a:pPr>
            <a:r>
              <a:t>第4章: 线性回归 (Linear Regression)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icrosoft YaHei"/>
              </a:defRPr>
            </a:pPr>
            <a:r>
              <a:t>下一章: 逻辑回归 (Logistic Regression)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