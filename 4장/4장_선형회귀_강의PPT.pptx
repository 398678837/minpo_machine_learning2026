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4장: 선형회귀 (Linear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OLS, Ridge, Lasso, Elastic Net, SCAD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정규방정식 · 가우스-마르코프 · 다중공선성 · L1/L2 정규화 · 좌표 하강법 · 오라클 성질 · 회귀 진단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8308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역사와 의의 - 최소제곱법의 탄생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03704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037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0370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수학적 정의 - 선형회귀 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24328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243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OLS 이론 - 정규방정식과 기하학적 해석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44952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449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44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가우스-마르코프 정리와 BLUE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465576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6557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6557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다중공선성과 VIF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88620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886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Ridge 회귀 - L2 정규화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306824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3068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068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Lasso 회귀 - L1 정규화와 변수 선택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27448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274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274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Elastic Net - L1+L2 혼합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148072"/>
            <a:ext cx="50292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1480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1480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좌표 하강법과 SCAD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568696"/>
            <a:ext cx="502920" cy="347472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686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5686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회귀 진단과 실습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989320"/>
            <a:ext cx="502920" cy="347472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989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9893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응용사례와 핵심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역사와 의의 - 최소제곱법의 탄생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The Birth of Least Squares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르장드르 (Adrien-Marie Legendre, 1805)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최소제곱법을 최초로 공식 발표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혜성 궤도 결정 문제에서 잔차 제곱합 최소화 원리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저서: Nouvelles methodes pour la determination des orbites des cometes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가우스 (Carl Friedrich Gauss, 1809)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1795년부터 사용했다고 주장 (우선권 논쟁)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 분포 가정 하에서 MLE와 동일함을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확률론적 정당성 부여 (Theoria Motus, 1809)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통계학에서 기계학습으로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26517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기초 알고리즘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지도학습에서 연속값 예측의</a:t>
            </a:r>
            <a:br/>
            <a:r>
              <a:t>가장 기본적인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572000"/>
            <a:ext cx="26517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이론적 토대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29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비용 함수 최적화, 편향-분산</a:t>
            </a:r>
            <a:br/>
            <a:r>
              <a:t>트레이드오프의 출발점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26517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확장의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로지스틱 회귀, 신경망,</a:t>
            </a:r>
            <a:br/>
            <a:r>
              <a:t>커널 방법의 구성 요소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572000"/>
            <a:ext cx="26517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해석 가능성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029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회귀 계수를 통해 특성의</a:t>
            </a:r>
            <a:br/>
            <a:r>
              <a:t>영향력 직접 해석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선형회귀의 수학적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Mathematical Formulation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t>y = b0 + b1*x1 + b2*x2 + ... + bp*xp +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행렬 표기:   y = Xb +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6576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42900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R^n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반응 벡터</a:t>
            </a:r>
            <a:br/>
            <a:r>
              <a:t>(n개 관측치)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6576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342900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4290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R^(n x (p+1))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설계 행렬</a:t>
            </a:r>
            <a:br/>
            <a:r>
              <a:t>(첫 열은 절편용 1 벡터)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0" y="342900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4290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R^(p+1)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회귀 계수 벡터</a:t>
            </a:r>
            <a:br/>
            <a:r>
              <a:t>(추정 대상)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6576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342900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34290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R^n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80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오차 벡터</a:t>
            </a:r>
            <a:br/>
            <a:r>
              <a:t>ei ~ iid N(0, s^2)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OLS 이론 (1) - 정규방정식 유도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Normal Equation Derivation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RSS(b) = ||y - Xb||^2 = (y - Xb)^T (y - Xb) = y^Ty - 2b^T X^Ty + b^T X^TX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2004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Step 1: 행렬 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649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dRSS/db = -2X^Ty + 2X^TXb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32004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Step 2: 0으로 놓기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X^TXb = X^Ty  (정규방정식)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32004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Step 3: 해 구하기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10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b_OLS = (X^TX)^(-1) X^Ty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017520"/>
            <a:ext cx="7498079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063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b_OLS = (X^TX)^(-1) X^Ty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118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X^TX가 가역(invertible)일 때 유일한 해가 존재</a:t>
            </a:r>
            <a:br/>
            <a:r>
              <a:t>헤시안: d^2RSS/db^2 = 2X^TX (양의 반정치) =&gt; RSS는 볼록 함수 =&gt; 전역 최솟값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663440"/>
            <a:ext cx="7498079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754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사용된 행렬 미분 공식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1206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d/dx (a^T x) = 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d/dx (x^T A x) = 2Ax  (A가 대칭일 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RSS의 2차 형식 구조를 활용한 직접 미분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OLS 이론 (2) - 기하학적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Geometric Interpretation: Orthogonal 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직교 사영 (Orthogonal Projection)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y: R^n 공간의 벡터</a:t>
            </a:r>
          </a:p>
          <a:p>
            <a:pPr>
              <a:spcAft>
                <a:spcPts val="5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C(X): X의 열들이 생성하는 부분공간 (열공간)</a:t>
            </a:r>
          </a:p>
          <a:p>
            <a:pPr>
              <a:spcAft>
                <a:spcPts val="5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y_hat = Xb_OLS: y를 C(X)에 직교 사영한 것</a:t>
            </a:r>
          </a:p>
          <a:p>
            <a:pPr>
              <a:spcAft>
                <a:spcPts val="5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잔차 e = y - y_hat 는 C(X)에 직교: X^Te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햇 행렬 (Hat Matrix)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H = X(X^TX)^(-1)X^T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089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y_hat = Hy  (y에 '모자'를 씌워 예측값을 만듦)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사영 행렬: H^2 = H, H^T = H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h_ii (대각 원소) = 레버리지 (영향력 측정)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피타고라스 정리:  ||y||^2 = ||y_hat||^2 + ||e||^2   =&gt;   TSS = ESS + RSS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R^2 = cos^2(theta) : y와 y_hat 사이 각도의 코사인 제곱 = 모델의 설명력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잔차 직교성: X^T(y - Xb_hat) = 0  &lt;=&gt;  정규방정식 X^TXb = X^Ty 와 동일한 조건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가우스-마르코프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Gauss-Markov Theorem: OLS is BLUE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783080"/>
            <a:ext cx="82296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모든 선형 비편향 추정량 중</a:t>
            </a:r>
            <a:br/>
            <a:r>
              <a:t>분산이 가장 작다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783080"/>
            <a:ext cx="82296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783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Linear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b_hat가 y의 선형 함수</a:t>
            </a:r>
            <a:br/>
            <a:r>
              <a:t>b_hat = Cy (C는 상수 행렬)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0" y="1783080"/>
            <a:ext cx="82296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783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Unbiased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E[b_hat] = b</a:t>
            </a:r>
            <a:br/>
            <a:r>
              <a:t>(편향이 없다)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0" y="1783080"/>
            <a:ext cx="82296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783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Estimator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8346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b의 추정량</a:t>
            </a:r>
            <a:br/>
            <a:r>
              <a:t>(모수를 추정하는 통계량)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가우스-마르코프 조건 4가지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E[ei] = 0  (오차의 기대값이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Var(ei) = s^2  (등분산성)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Cov(ei, ej) = 0, i != j  (오차 간 무상관)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X는 고정된(non-random) 행렬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572000"/>
            <a:ext cx="5669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617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6CFF"/>
                </a:solidFill>
                <a:latin typeface="맑은 고딕"/>
              </a:defRPr>
            </a:pPr>
            <a:r>
              <a:t>Var(b_OLS) = s^2 (X^TX)^(-1)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OLS 추정량의 분산-공분산 행렬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852160"/>
            <a:ext cx="566928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8978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주의: 가우스-마르코프는 '비편향' 중 최적. 편향을 허용하면</a:t>
            </a:r>
            <a:br/>
            <a:r>
              <a:t>MSE 관점에서 OLS보다 나은 추정량 존재 =&gt; Ridge 회귀의 핵심 동기!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다중공선성 (Multicollinearity)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정의, VIF, 조건수, 해결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다중공선성이란?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독립 변수들 사이에 높은 선형 상관관계 존재 =&gt; X^TX가 특이에 가까움 =&gt; (X^TX)^(-1) 원소 폭증 =&gt; Var(b_hat) 폭증 =&gt; 계수 추정 불안정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VIF (Variance Inflation 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VIF_j = 1 / (1 - R_j^2)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21031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VIF 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4206240"/>
            <a:ext cx="21031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21031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663440"/>
            <a:ext cx="21031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다중공선성 없음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21031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1~5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5074920"/>
            <a:ext cx="21031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약한 (일반적으로 허용)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21031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5~10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5486400"/>
            <a:ext cx="21031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 수준 (주의 필요)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21031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10 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897880"/>
            <a:ext cx="21031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897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심각 (조치 필요)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338328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474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조건수 (Condition Number)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8404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k(X^TX) = lambda_max / lambda_min</a:t>
            </a:r>
            <a:br/>
            <a:r>
              <a:t>조건수 &gt; 30 이면 다중공선성 의심, 역행렬 계산 수치적 불안정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4663440"/>
            <a:ext cx="5943600" cy="1737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754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해결 방법 4가지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1206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1. 변수 제거: VIF가 높은 변수를 수동 제거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2. 주성분 회귀(PCR): PCA로 차원 축소 후 회귀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3. Ridge 회귀: L2 정규화로 조건수 개선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4. Lasso 회귀: L1 정규화로 불필요 변수 자동 제거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회귀 (1) -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Hoerl &amp; Kennard (1970): Biased but Better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2FF"/>
                </a:solidFill>
                <a:latin typeface="맑은 고딕"/>
              </a:defRPr>
            </a:pPr>
            <a:r>
              <a:t>MSE = Variance + Bias^2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OLS: 편향=0이지만 분산이 클 수 있음. Ridge: 약간의 편향 도입 =&gt; 분산을 더 크게 감소 =&gt; 전체 MSE 감소!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L2 정규화 최적화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min { ||y - Xb||^2 + lambda * ||b||^2 }</a:t>
            </a:r>
            <a:br/>
            <a:br/>
            <a:r>
              <a:t>||b||^2 = sum(bj^2) : L2 패널티 (계수 제곱합)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닫힌 형태 해 (Closed-form Solution)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b_ridge = (X^TX + lambda*I)^(-1) X^Ty</a:t>
            </a:r>
            <a:br/>
            <a:br/>
            <a:r>
              <a:t>lambda &gt;= 0 : 정규화 강도 (하이퍼파라미터)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lambda*I 를 더하는 핵심 효과 3가지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347472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1. 조건수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k(X^TX+lambda*I) &lt; k(X^TX)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5623560"/>
            <a:ext cx="347472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2. 수치적 안정성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역행렬 계산이 안정화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623560"/>
            <a:ext cx="3474720" cy="10058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3. 계수 축소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 방향으로 shrinkage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회귀 (2) - 고유값 분해와 베이지안 해석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고유값 분해를 통한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축소 비율: d_j / (d_j + lambda)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d_j 큰 방향: 비율 -&gt; 1 (거의 변하지 않음)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d_j 작은 방향: 비율 -&gt; 0 (강하게 축소)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데이터 분산이 작은(불안정한) 방향을 선택적 축소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베이지안 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사전분포: b ~ N(0, tau^2 * I)  (정규분포)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우도: y|X,b ~ N(Xb, sigma^2 * I)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 추정 = Ridge (lambda = sigma^2/tau^2)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Ridge = 회귀 계수에 정규 분포 사전 분포를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부여한 베이지안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릿지 트레이스 (Ridge Trace) - Hoerl &amp; Kennard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lambda (정규화 강도)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각 회귀 계수 b_j의 값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lambda=0 (OLS)에서 시작, lambda 증가에 따라 모든 계수가 0으로 수렴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계수가 안정화되는 lambda를 시각적으로 선택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축소 비율 d_j/(d_j+lambda) 이해: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53492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d_j = 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53492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lambda=1: 0.99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53492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맑은 고딕"/>
              </a:defRPr>
            </a:pPr>
            <a:r>
              <a:t>lambda=10: 0.91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53492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lambda=100: 0.50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57150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d_j =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7150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lambda=1: 0.91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7150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맑은 고딕"/>
              </a:defRPr>
            </a:pPr>
            <a:r>
              <a:t>lambda=10: 0.50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57150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lambda=100: 0.09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60807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d_j =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60807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lambda=1: 0.50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60807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맑은 고딕"/>
              </a:defRPr>
            </a:pPr>
            <a:r>
              <a:t>lambda=10: 0.09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60807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lambda=100: 0.01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Lasso 회귀 (1) - L1 정규화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Tibshirani (1996): Shrinkage +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Lasso = Least Absolute Shrinkage and Selection 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Ridge의 L2 패널티(||b||^2)를 L1 패널티(||b||_1)로 교체 =&gt; 축소(shrinkage) + 변수 선택(selection) 동시 수행</a:t>
            </a:r>
            <a:br/>
            <a:r>
              <a:t>Google Scholar 인용 50,000회+ (통계학/ML 역사상 가장 영향력 있는 논문 중 하나)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L1 정규화 최적화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min { (1/2n)||y - Xb||^2 + lambda * ||b||_1 }</a:t>
            </a:r>
            <a:br/>
            <a:br/>
            <a:r>
              <a:t>||b||_1 = sum(|bj|) : L1 노름 (절댓값 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Ridge와의 핵심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노름은 원점에서 미분 불가능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닫힌 형태 해가 존재하지 않음 (직교 설계 제외)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좌표 하강법 등 반복 알고리즘 필요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일부 계수를 정확히 0으로 만듦 =&gt; 변수 선택!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연성 임계값 연산자 (Soft Thresholding): S(z, gamma) = sign(z) * max(|z| - gamma, 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|z| &lt;= lambda  =&gt; 계수를 정확히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변수 제거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66928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5715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z &gt; lambda  =&gt; z - lambda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양수 방향 축소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566928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5715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z &lt; -lambda  =&gt; z + 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6035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음수 방향 축소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Lasso 회귀 (2) - 기하학적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L1: 마름모 vs L2: 원 - 왜 변수 선택이 되는가?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L2 제약 (Ridge):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b1^2 + b2^2 &lt;= t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제약 영역이 원(circle/sphere)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RSS 등고선과 원의 접점은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일반적으로 좌표축 위에 없음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=&gt; 계수가 정확히 0이 되기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L1 제약 (Lasso): 마름모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|b1| + |b2| &lt;= t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제약 영역이 마름모(diamond)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마름모의 꼭짓점이 좌표축 위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RSS 등고선이 꼭짓점에서 접할 확률 높음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=&gt; 꼭짓점에서 b1=0 또는 b2=0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베이지안 해석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Lasso = 라플라스 사전 분포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p(bj) = (lambda/2) exp(-lambda|bj|)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정규분포보다 원점에서 더 뾰족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꼬리가 더 두꺼움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=&gt; 0 근처의 작은 계수: 높은 사전 확률</a:t>
            </a:r>
          </a:p>
          <a:p>
            <a:pPr>
              <a:spcAft>
                <a:spcPts val="2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=&gt; 큰 계수: 적당한 사전 확률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축소 방식 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86400"/>
            <a:ext cx="1371600" cy="32004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2194560" y="5486400"/>
            <a:ext cx="438912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5486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Ridge (L2)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486400"/>
            <a:ext cx="484632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Lasso (L1)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852160"/>
            <a:ext cx="137160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52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축소 방식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852160"/>
            <a:ext cx="438912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852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비례 축소: bj * d_j/(d_j+lambda)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852160"/>
            <a:ext cx="484632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8521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절대값 축소: sign(bj)*max(|bj|-lambda, 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108192"/>
            <a:ext cx="1371600" cy="2286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08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0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6108192"/>
            <a:ext cx="4389120" cy="2286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61081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X (0에 가까워질 뿐 정확히 0 아님)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6108192"/>
            <a:ext cx="4846320" cy="2286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61081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O (|bj| &lt;= lambda 이면 정확히 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6364224"/>
            <a:ext cx="137160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3642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변수 선택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6364224"/>
            <a:ext cx="438912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63642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불가능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6364224"/>
            <a:ext cx="4846320" cy="2286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636422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가능 (희소 해)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Elastic Net - L1+L2 혼합 정규화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Zou &amp; Hastie (2005)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Lasso의 두 가지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p &gt; n 문제: 최대 n개 변수만 선택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그룹화 효과 부재: 상관 변수 중 하나만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Elastic Net 최적화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min { (1/2n)||y-Xb||^2</a:t>
            </a:r>
            <a:br/>
            <a:r>
              <a:t>   + lambda * [alpha*||b||_1 + (1-alpha)/2 * ||b||^2]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alpha (l1_ratio) 파라미터:  alpha=1 =&gt; 순수 Lasso  |  alpha=0 =&gt; 순수 Ridge  |  0&lt;alpha&lt;1 =&gt; Elastic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lambda &gt; 0: 전체 정규화 강도   |   alpha: L1과 L2의 혼합 비율 (sklearn에서 l1_ratio)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그룹화 효과 정리 (Grouping Effect Theorem)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|b_i - b_j| &lt;= [1 / (lambda*(1-alpha))] * sqrt(2*(1-r)) * ||y||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상관관계 높을수록 (r-&gt;1): 두 계수 차이 작아짐 =&gt; 상관 변수들을 함께 선택하거나 함께 제거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순수 Lasso (alpha=1): 분모가 0 =&gt; 이 성질 성립하지 않음 =&gt; Elastic Net만의 고유한 장점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제약 영역: L1 마름모 + L2 원 = 모서리가 둥근 마름모 (rounded diamond) =&gt; 희소성 + 안정성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vs Lasso vs Elastic Net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Comprehensive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645920" cy="5029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11680"/>
            <a:ext cx="30175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Ridge (L2)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3017520" cy="5029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Lasso (L1)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474720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Elastic Net (L1+L2)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패널티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606040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lambda*||b||_2^2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606040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606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lambda*||b||_1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06040"/>
            <a:ext cx="3474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lambda[alpha*||b||_1+(1-a)/2*||b||_2^2]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36392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363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변수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136392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3136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X (모든 계수 비영)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136392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1363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 (일부 계수=0)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136392"/>
            <a:ext cx="34747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136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 (일부 계수=0)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66744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66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그룹화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666744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3666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 (상관 변수 동시 축소)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666744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666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X (하나만 선택)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666744"/>
            <a:ext cx="3474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6667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 (상관 변수 동시 선택)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97096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970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닫힌 형태 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4197096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419709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4197096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419709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197096"/>
            <a:ext cx="34747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41970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27448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274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p &gt; n 지원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4727448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727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727448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4727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최대 n개 변수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727448"/>
            <a:ext cx="3474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727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578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베이지안 사전분포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5257800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정규 분포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5257800"/>
            <a:ext cx="30175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라플라스 분포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5257800"/>
            <a:ext cx="34747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5257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정규+라플라스 혼합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788152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788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제약 영역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5788152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3120" y="5788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원 (circle)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5788152"/>
            <a:ext cx="30175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5788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마름모 (diamond)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788152"/>
            <a:ext cx="34747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5788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둥근 마름모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좌표 하강법 (Coordinate Descent)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Friedman, Hastie, Tibshirani (2010) - glmnet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알고리즘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번에 하나의 변수(좌표)만 최적화</a:t>
            </a: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변수에 대해 반복 순환</a:t>
            </a: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j번째 좌표 업데이트:</a:t>
            </a: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b_j &lt;- S(rho_j, alpha*lambda) / (X_j'X_j/n + lambda*(1-alpha))</a:t>
            </a: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rho_j = X_j' * r^(j) / n  (부분 잔차와의 내적)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핵심 최적화 기법 3가지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따뜻한 시작</a:t>
            </a:r>
            <a:br/>
            <a:r>
              <a:t>(Warm Start)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이전 lambda의 해를</a:t>
            </a:r>
            <a:br/>
            <a:r>
              <a:t>다음 lambda 초기값으로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15468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활성 집합</a:t>
            </a:r>
            <a:br/>
            <a:r>
              <a:t>(Active 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0이 아닌 계수만</a:t>
            </a:r>
            <a:br/>
            <a:r>
              <a:t>우선 업데이트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03320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lambda_max</a:t>
            </a:r>
            <a:br/>
            <a:r>
              <a:t>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모든 계수=0인 최소</a:t>
            </a:r>
            <a:br/>
            <a:r>
              <a:t>lambda부터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좌표 하강법이 효율적인 이유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닫힌 형태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각 좌표별 최적화가 연성 임계값</a:t>
            </a:r>
            <a:br/>
            <a:r>
              <a:t>연산자로 한 번에 계산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12064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전역 수렴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532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목적 함수가 볼록 =&gt; </a:t>
            </a:r>
            <a:br/>
            <a:r>
              <a:t>전역 수렴 보장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12064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효율적 연산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32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한 좌표: O(n), 한 순환: O(np)</a:t>
            </a:r>
            <a:br/>
            <a:r>
              <a:t>LARS보다 빠르고 확장성 우수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lambda_max = (1 / alpha*n) * max_j |X_j^T (y - y_bar)|   (모든 계수가 0이 되는 최소 lambda)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SCAD와 Oracle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Fan &amp; Li (2001): 오라클 성질을 가진 패널티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Lasso의 근본적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패널티: 계수 크기와 무관하게 동일한 양(lambda) 축소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작은 계수: 적절히 0으로 제거 (OK)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큰 계수: 불필요하게 과도한 축소 =&gt; 편향 발생!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오라클 성질 (Oracle Properties) 2가지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일관성 있는 변수 선택: 진정한 변수를 올바르게 식별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점근적 정규성: 0 아닌 계수 추정이 진정한 모델의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OLS와 동일한 점근 분포 (편향 없음)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3A1A1A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Lasso는 오라클 성질을 만족하지 못한다 - 큰 계수에 대한 과도한 축소(편향) 때문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SCAD 패널티 3구간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256032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구간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4572000"/>
            <a:ext cx="274320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패널티 동작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572000"/>
            <a:ext cx="320040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25603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|theta| &lt;= lambda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029200"/>
            <a:ext cx="27432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L1과 동일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0292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작은 계수를 0으로 제거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25603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lambda &lt; |theta| &lt;= a*lambda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5486400"/>
            <a:ext cx="27432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패널티 점차 감소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5486400"/>
            <a:ext cx="32004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 계수 점진적 축소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943600"/>
            <a:ext cx="25603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|theta| &gt; a*lambda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5943600"/>
            <a:ext cx="27432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패널티 미분 =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5943600"/>
            <a:ext cx="32004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5943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큰 계수에 추가 축소 없음 (편향 없음)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a = 3.7 (통상)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좋은 패널티의 3 조건 + 정규화 방법의 계보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비편향성</a:t>
            </a:r>
            <a:br/>
            <a:r>
              <a:t>(Unbiasedness)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큰 계수에 대해</a:t>
            </a:r>
            <a:br/>
            <a:r>
              <a:t>편향이 없거나 거의 없을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희소성</a:t>
            </a:r>
            <a:br/>
            <a:r>
              <a:t>(Sparsity)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작은 계수를</a:t>
            </a:r>
            <a:br/>
            <a:r>
              <a:t>0으로 만들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연속성</a:t>
            </a:r>
            <a:br/>
            <a:r>
              <a:t>(Continuity)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추정량이 데이터의</a:t>
            </a:r>
            <a:br/>
            <a:r>
              <a:t>연속 함수일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3 조건을 동시 만족하는 패널티는 반드시 비볼록(nonconvex) =&gt; L1은 볼록이므로 비편향성 불만족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패널티 유형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변수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오라클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39319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볼록성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4434840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4818888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4818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SCAD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비볼록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5202936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0" y="52029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7744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L1+L2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6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0" y="5586984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58400" y="55869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Adaptive Lasso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7744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4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768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가중 L1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816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3816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0" y="5971032"/>
            <a:ext cx="1828800" cy="34747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0" y="5971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7744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7744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8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비볼록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1792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3816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3816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58400" y="6355080"/>
            <a:ext cx="1828800" cy="34747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58400" y="6355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 진단 - 잔차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Residual Analysis, Q-Q Plot, Cook's 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잔차의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4747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잔차 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286000"/>
            <a:ext cx="34747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공식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286000"/>
            <a:ext cx="34747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일반 잔차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743200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4320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ei = yi - yi_hat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743200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74320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기본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82112"/>
            <a:ext cx="347472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표준화 잔차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182112"/>
            <a:ext cx="347472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182112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ri = ei / (s_hat * sqrt(1-hii))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182112"/>
            <a:ext cx="347472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182112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이상치 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21024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21024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스튜던트화 잔차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21024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621024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ti = ei / (s_hat(i) * sqrt(1-hii))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621024"/>
            <a:ext cx="347472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621024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더 정밀한 이상치 탐지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Q-Q Plot (Quantile-Quantile Plot)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x축: 이론적 정규 분포의 분위수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y축: 잔차의 분위수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점들이 45도 직선 위에 놓이면 정규 분포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직선에서 벗어나면 분포 왜곡 판단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양쪽 꼬리 벗어남: 정규성 위반 (두꺼운 꼬리)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Cook's Distance (쿡의 거리)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Di = (ri^2 / p) * hii / (1-hii)^2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각 관측치의 영향력(influence) 측정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ri: 표준화 잔차, hii: 레버리지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판정: Di &gt; 1 (일반 기준), Di &gt; 4/n (보수적)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높은 Di: 영향력 큰 관측치 =&gt; 제거 검토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 진단 종합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Regression Diagnostics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011680"/>
            <a:ext cx="34747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확인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34747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위반 시 조치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73152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선형성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60604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예측값 vs 잔차 플롯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60604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6060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변수 변환, 다항 회귀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73152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004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등분산성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0040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2004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예측값 vs 잔차 플롯 (깔때기 패턴)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20040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2004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WLS, 변수 변환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9476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94760"/>
            <a:ext cx="73152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정규성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79476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3794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Q-Q plot, Shapiro-Wilk 검정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379476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7947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변수 변환, 로버스트 회귀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8912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8912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891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독립성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38912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3891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Durbin-Watson 검정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38912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43891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GLS, 시계열 모델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8348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983480"/>
            <a:ext cx="73152" cy="5029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8348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다중공선성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98348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98348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VIF, 조건수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4983480"/>
            <a:ext cx="34747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98348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변수 제거, Ridge 회귀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57784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577840"/>
            <a:ext cx="73152" cy="5029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5778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이상치/영향점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557784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55778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Cook's distance, 레버리지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5577840"/>
            <a:ext cx="34747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557784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제거 또는 로버스트 회귀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21792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잔차 플롯 핵심: 패턴이 없어야 한다! (무작위 분포) | 레버리지: hii (X 공간에서의 극단성) | 영향력: Cook's D (레버리지 x 잔차)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소개 (3개 구현 소스)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01_ridge_regression.py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Ridge 회귀 직접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다중공선성 데이터 생성 (5 기본 + 5 상관)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닫힌 형태 해 직접 구현 vs sklearn 비교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릿지 트레이스 시각화 (정규화 경로)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교차검증 최적 lambda 선택 (RidgeCV)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OLS vs Ridge: 조건수 개선 효과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02_lasso_regression.py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Lasso 회귀 좌표 하강법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연성 임계값 연산자 직접 구현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좌표 하강법 알고리즘 구현 (Friedman et al.)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희소 데이터에서 변수 선택 효과 확인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정규화 경로: 선택 변수 수 변화 시각화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LassoCV로 최적 lambda 및 변수 선택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745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03_elastic_net.py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Elastic Net 구현 &amp;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089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Elastic Net 좌표 하강법 직접 구현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상관 그룹 데이터로 그룹화 효과 시연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Ridge vs Lasso vs Elastic Net 비교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그룹 내 계수 분산으로 그룹화 효과 정량화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L1/L2/Elastic Net 제약 영역 시각화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Real-World Applications of Linear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의료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질병 진행 예측</a:t>
            </a:r>
            <a:br/>
            <a:r>
              <a:t>약물 반응 모델링</a:t>
            </a:r>
            <a:br/>
            <a:r>
              <a:t>바이오마커 선택 (Lasso)</a:t>
            </a:r>
            <a:br/>
            <a:r>
              <a:t>유전체 데이터 분석 (Elastic Net)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금융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자산 가격 모델링 (CAPM)</a:t>
            </a:r>
            <a:br/>
            <a:r>
              <a:t>리스크 팩터 분석</a:t>
            </a:r>
            <a:br/>
            <a:r>
              <a:t>포트폴리오 최적화</a:t>
            </a:r>
            <a:br/>
            <a:r>
              <a:t>신용 스코어링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제조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품질 관리 (공정 변수 영향)</a:t>
            </a:r>
            <a:br/>
            <a:r>
              <a:t>에너지 소비 예측</a:t>
            </a:r>
            <a:br/>
            <a:r>
              <a:t>설비 수명 예측</a:t>
            </a:r>
            <a:br/>
            <a:r>
              <a:t>불량률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11680"/>
            <a:ext cx="265176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광고비-매출 분석</a:t>
            </a:r>
            <a:br/>
            <a:r>
              <a:t>고객 생애 가치(CLV) 예측</a:t>
            </a:r>
            <a:br/>
            <a:r>
              <a:t>가격 탄력성 추정</a:t>
            </a:r>
            <a:br/>
            <a:r>
              <a:t>채널 기여도 분석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40080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핵심: 해석 가능성이 중요한 도메인에서 선형회귀 + 정규화는 여전히 강력한 첫 번째 선택지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Formulas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57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b_OLS = (X^TX)^(-1) X^Ty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574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BLUE, 비편향, 닫힌 형태 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b_ridge = (X^TX + lambda*I)^(-1) X^Ty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L2 정규화, 축소, 조건수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min (1/2n)||y-Xb||^2 + lambda*||b||_1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L1 정규화, 변수 선택, 좌표 하강법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89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min (1/2n)||y-Xb||^2 + lambda[a||b||_1+(1-a)/2*||b||_2^2]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389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L1+L2 혼합, 그룹화 효과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VIF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66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VIF_j = 1 / (1 - R_j^2)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1663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다중공선성 진단 (10 이상 심각)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Cook's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943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 = (ri^2/p) * hii/(1-hii)^2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9436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영향력 관측치 탐지 (Di&gt;1 주의)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OLS 이론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16459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정규방정식: b=(X^TX)^(-1)X^Ty</a:t>
            </a:r>
            <a:br/>
            <a:r>
              <a:t>기하학적: 직교 사영 + 햇 행렬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가우스-마르코프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31720"/>
            <a:ext cx="1645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OLS = BLUE (비편향 중 최소분산)</a:t>
            </a:r>
            <a:br/>
            <a:r>
              <a:t>편향 허용 =&gt; MSE 더 작아질 수 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Ridge 회귀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331720"/>
            <a:ext cx="16459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 정규화, 축소, 닫힌 형태 해</a:t>
            </a:r>
            <a:br/>
            <a:r>
              <a:t>베이지안: 정규 분포 사전 분포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Lasso 회귀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331720"/>
            <a:ext cx="16459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4231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 정규화, 변수 선택 + 축소 동시</a:t>
            </a:r>
            <a:br/>
            <a:r>
              <a:t>연성 임계값, 마름모 제약 영역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6459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006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L1+L2 혼합, 그룹화 효과</a:t>
            </a:r>
            <a:br/>
            <a:r>
              <a:t>p&gt;n 지원, 둥근 마름모 제약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20624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297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SCAD &amp; Oracle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709160"/>
            <a:ext cx="16459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8006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비볼록 패널티, 오라클 성질 만족</a:t>
            </a:r>
            <a:br/>
            <a:r>
              <a:t>큰 계수에 편향 없음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0624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297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좌표 하강법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09160"/>
            <a:ext cx="16459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8006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glmnet (Friedman 2010)</a:t>
            </a:r>
            <a:br/>
            <a:r>
              <a:t>따뜻한 시작 + 활성 집합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4206240"/>
            <a:ext cx="2697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297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회귀 진단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709160"/>
            <a:ext cx="1645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8006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잔차 분석, Q-Q Plot, Cook's D</a:t>
            </a:r>
            <a:br/>
            <a:r>
              <a:t>선형성/등분산/정규성/독립성 점검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방법 선택 가이드 (Decision Tree)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4754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3931920" cy="5486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다중공선성이 심한가?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4389120" cy="4572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변수 선택이 필요한가?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YES =&gt; Elastic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상관 그룹 있으면 특히 유리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2976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NO =&gt; 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617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조건수 개선, 모든 변수 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017520"/>
            <a:ext cx="73152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029200" cy="4572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변수 수가 많은가? (p &gt; n?)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YES =&gt; Lasso / Elastic 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변수 선택으로 차원 축소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429768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NO =&gt; 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비편향, BLUE, 해석 용이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논문 연대기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943600"/>
            <a:ext cx="9875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54480" y="580644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26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Hoerl &amp; Kennard</a:t>
            </a:r>
            <a:br/>
            <a:r>
              <a:t>Ridge 회귀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580644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6126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Tibshirani</a:t>
            </a:r>
            <a:br/>
            <a:r>
              <a:t>Lasso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580644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6126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Fan &amp; Li</a:t>
            </a:r>
            <a:br/>
            <a:r>
              <a:t>SCAD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580644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6126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Zou &amp; Hastie</a:t>
            </a:r>
            <a:br/>
            <a:r>
              <a:t>Elastic 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580644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5486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61264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Friedman et al.</a:t>
            </a:r>
            <a:br/>
            <a:r>
              <a:t>glmnet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(Review Questions)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20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Q1. OLS의 비용함수 RSS(b)를 행렬 미분하여 정규방정식을 유도하고, 헤시안으로 최솟값임을 확인하라.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0008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Q2. 가우스-마르코프 정리의 한계를 설명하고, Ridge가 OLS보다 MSE 관점에서 나을 수 있는 이유를 서술하라.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25496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Q3. Ridge의 닫힌 형태 해를 유도하고, lambda*I가 조건수를 개선하는 이유를 설명하라.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00984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Q4. L1(마름모) vs L2(원) 제약 영역의 기하학으로 Lasso의 변수 선택 원리를 설명하라.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76472"/>
            <a:ext cx="73152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Q5. 연성 임계값 연산자 S(z,gamma)의 세 구간 동작을 설명하고, 좌표 하강법에서의 역할을 서술하라.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73152" cy="2743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Q6. Elastic Net의 그룹화 효과 정리를 기술하고, Lasso의 그룹화 부재 문제를 어떻게 해결하는지 설명하라.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27448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Q7. 좌표 하강법의 따뜻한 시작(warm start)과 활성 집합(active set)이 계산 속도를 향상시키는 원리를 설명하라.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02936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57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Q8. SCAD의 오라클 성질 2가지를 기술하고, Lasso가 이를 만족하지 못하는 이유를 설명하라.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78424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327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Q9. Ridge와 Lasso를 각각 베이지안 MAP 추정 관점에서 해석하라 (정규 vs 라플라스 사전 분포).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53912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08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Q10. 회귀 진단: 깔때기 잔차 패턴, Q-Q 꼬리 이탈, Cook's D &gt; 1 관측치에 대한 조치를 서술하라.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4장: 선형회귀 (Linear Regression)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다음 장: 5장 - 로지스틱 회귀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