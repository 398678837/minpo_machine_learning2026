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28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188720"/>
            <a:ext cx="48764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  <a:latin typeface="Microsoft YaHei"/>
              </a:defRPr>
            </a:pPr>
            <a:r>
              <a:t>CHAPTER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  <a:latin typeface="Microsoft YaHei"/>
              </a:defRPr>
            </a:pPr>
            <a:r>
              <a:t>线性回归 - 预测保险费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Microsoft YaHei"/>
              </a:defRPr>
            </a:pPr>
            <a:r>
              <a:t>Linear Regression: Predicting Insurance Charges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114800"/>
            <a:ext cx="3047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Microsoft YaHei"/>
              </a:defRPr>
            </a:pPr>
            <a:r>
              <a:t>授课教师: Jung, Minpo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课程: Machine Learning  |  学期: 2026年度 第1学期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学习目标 &amp; 学习顺序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使用线性回归模型学习保险数据集，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预测保险费，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并理解线性回归的工作原理。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学习顺序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4.1  问题定义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4.2  导入库及加载数据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4.3  数据确认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4.4  预处理: 划分训练集/测试集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4.5  数据建模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4.6  使用模型进行预测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4.7  模型评估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4.8  理解: 线性回归原理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54880"/>
            <a:ext cx="548640" cy="41148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7548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4754880"/>
            <a:ext cx="548640" cy="41148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754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7548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4754880"/>
            <a:ext cx="548640" cy="41148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754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7548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40" y="4754880"/>
            <a:ext cx="548640" cy="41148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4754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7548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754880"/>
            <a:ext cx="548640" cy="41148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4754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7548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4754880"/>
            <a:ext cx="548640" cy="41148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4754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4.6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47548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4754880"/>
            <a:ext cx="548640" cy="41148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4754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4.7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4754880"/>
            <a:ext cx="228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49240" y="4754880"/>
            <a:ext cx="548640" cy="41148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47548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4.8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线性回归简介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Linear Regression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什么是 Linear Regression？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最基础的机器学习模型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预测连续型变量（例：165.5cm、172.3cm 等）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学习输入变量与输出变量之间的线性关系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入选 TOP 10 算法的原因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作为最基础的算法，必须掌握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可作为其他算法的基线（Baseline）使用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结果易于解释，在实际工作中经常使用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类别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4206240"/>
            <a:ext cx="9144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内容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66344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优点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4663440"/>
            <a:ext cx="9144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4663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简单直观，易于解释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07492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074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优点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5074920"/>
            <a:ext cx="9144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5074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学习速度快，实现简便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486400"/>
            <a:ext cx="18288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缺点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5486400"/>
            <a:ext cx="9144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5486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预测能力可能较低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897880"/>
            <a:ext cx="18288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897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缺点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5897880"/>
            <a:ext cx="9144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40" y="58978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前提条件：自变量与因变量之间存在线性关系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4.1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问题定义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Problem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任务 (Mission)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利用保险数据集，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预测保险公司收取的保险费(charges)！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1206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项目信息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难度: ★☆☆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算法: Linear Regression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数据集: insurance.csv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404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数据信息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39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数据: insurance.csv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因变量(y): charges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自变量(X): age, sex, bmi,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children, smoker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749039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8404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Microsoft YaHei"/>
              </a:defRPr>
            </a:pPr>
            <a:r>
              <a:t>评估指标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206239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RMSE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(Root Mean Squared Error)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通过预测值与实际值的差异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的均方根来衡量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749039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84047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Microsoft YaHei"/>
              </a:defRPr>
            </a:pPr>
            <a:r>
              <a:t>使用的库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206239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numpy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pandas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seaborn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matplotlib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sklearn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导入库及加载数据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Import Libraries &amp; Load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5156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file_url = 'https://media.githubusercontent.com/media/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            musthave-ML10/data_source/main/insurance.csv'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data = pd.read_csv(file_url)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50292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pandas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数据分析的核心库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以 DataFrame 结构处理数据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支持 CSV、Excel 等多种格式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572000"/>
            <a:ext cx="51206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pd.read_csv()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0292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从 URL 或本地路径读取 CSV 文件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并转换为 DataFrame 的函数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存储在 data 变量中使用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数据确认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data 输出及 data.head()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data → 1338 rows × 6 columns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变量说明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age     : 年龄（连续型）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sex     : 性别（分类型，1=男，0=女）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bmi     : 体质指数（连续型）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children: 子女数（连续型）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smoker  : 吸烟与否（分类型，1=是，0=否）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charges : 保险费（因变量，连续型）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data.head() 结果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286000"/>
            <a:ext cx="914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2286000"/>
            <a:ext cx="7315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2860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286000"/>
            <a:ext cx="914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bmi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2286000"/>
            <a:ext cx="914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children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2286000"/>
            <a:ext cx="914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smoker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32720" y="2286000"/>
            <a:ext cx="146304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charges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743200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74320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743200"/>
            <a:ext cx="7315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274320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2743200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274320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27.90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2743200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274320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18320" y="2743200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274320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332720" y="2743200"/>
            <a:ext cx="14630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0" y="27432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16884.92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127248"/>
            <a:ext cx="914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0" y="312724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3127248"/>
            <a:ext cx="7315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312724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3127248"/>
            <a:ext cx="914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0" y="312724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33.77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3127248"/>
            <a:ext cx="914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312724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3127248"/>
            <a:ext cx="914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312724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32720" y="3127248"/>
            <a:ext cx="146304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20" y="312724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1725.55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3511296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0" y="351129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0" y="3511296"/>
            <a:ext cx="7315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0" y="351129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89520" y="3511296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89520" y="351129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33.00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3511296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0" y="351129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18320" y="3511296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0" y="351129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332720" y="3511296"/>
            <a:ext cx="14630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32720" y="351129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4449.46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3895344"/>
            <a:ext cx="914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0" y="389534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33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0" y="3895344"/>
            <a:ext cx="7315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0" y="389534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89520" y="3895344"/>
            <a:ext cx="914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89520" y="389534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22.70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03920" y="3895344"/>
            <a:ext cx="914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03920" y="389534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418320" y="3895344"/>
            <a:ext cx="914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18320" y="389534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332720" y="3895344"/>
            <a:ext cx="146304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332720" y="389534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21984.47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43600" y="4279392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0" y="427939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Microsoft YaHei"/>
              </a:defRPr>
            </a:pPr>
            <a:r>
              <a:t>32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58000" y="4279392"/>
            <a:ext cx="7315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58000" y="427939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89520" y="4279392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89520" y="427939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28.88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03920" y="4279392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03920" y="427939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418320" y="4279392"/>
            <a:ext cx="914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418320" y="427939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332720" y="4279392"/>
            <a:ext cx="14630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332720" y="427939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Microsoft YaHei"/>
              </a:defRPr>
            </a:pPr>
            <a:r>
              <a:t>3866.86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数据确认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连续型 vs 分类型变量 &amp; data.info()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连续型变量 vs 分类型变量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▶ 连续型(Continuous): 连续数值（age, bmi, children, charges）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▶ 分类型(Categorical): 表示类别/分组的值（sex, smoker）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sex   : 1 = 男性(male),  0 = 女性(female)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smoker: 1 = 吸烟者(yes), 0 = 非吸烟者(no)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data.info() 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&lt;class 'pandas.core.frame.DataFrame'&gt;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RangeIndex: 1338 entries, 0 to 1337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Data columns (total 6 columns):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#  Column    Non-Null Count  Dtype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0  age       1338 non-null   int64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1  sex       1338 non-null   int64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2  bmi       1338 non-null   float64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3  children  1338 non-null   int64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4  smoker    1338 non-null   int64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5  charges   1338 non-null   float64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dtypes: float64(2), int64(4)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无缺失值(null) → 预处理负担较小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关键要点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6个列，1338行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无缺失值(Missing Value)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sex、smoker 已完成数值编码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无需额外的编码预处理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4.3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数据确认 (3)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data.describe() &amp; 四分位数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round(data.describe(),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1645920" y="228600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286000"/>
            <a:ext cx="914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2286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sex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228600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bmi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28600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children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2286000"/>
            <a:ext cx="1097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smoker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286000"/>
            <a:ext cx="1645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charges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74320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count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0" y="274320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1338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2743200"/>
            <a:ext cx="9144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2743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1338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274320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1338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74320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1338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274320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2743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1338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274320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2743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1338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10896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mean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0" y="310896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4592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39.21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3108960"/>
            <a:ext cx="9144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0" y="3108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0.51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0" y="310896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30.66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310896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1.09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60" y="310896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5216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0.20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3108960"/>
            <a:ext cx="16459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0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13270.42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347472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std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0" y="347472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4592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14.05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0" y="3474720"/>
            <a:ext cx="9144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0.50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0" y="347472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6.10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347472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5488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1.21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852160" y="347472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85216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0.40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49440" y="347472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12110.01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384048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3840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min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45920" y="384048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45920" y="3840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18.00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0" y="3840480"/>
            <a:ext cx="9144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0.00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0" y="384048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0" y="3840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15.96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754880" y="384048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54880" y="3840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0.00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852160" y="384048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852160" y="38404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0.00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49440" y="3840480"/>
            <a:ext cx="16459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49440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1121.87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420624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25%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45920" y="420624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64592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27.00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43200" y="4206240"/>
            <a:ext cx="9144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43200" y="4206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0.00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57600" y="420624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760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26.30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754880" y="420624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5488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0.00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52160" y="420624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5216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0.00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49440" y="420624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949440" y="4206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4740.29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640" y="457200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64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50%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645920" y="457200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64592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39.00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743200" y="4572000"/>
            <a:ext cx="9144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743200" y="4572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1.00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657600" y="457200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5760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30.40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754880" y="457200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5488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1.00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852160" y="457200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852160" y="45720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0.00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949440" y="4572000"/>
            <a:ext cx="16459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94944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9382.03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640" y="493776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48640" y="4937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75%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645920" y="493776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645920" y="4937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51.00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43200" y="4937760"/>
            <a:ext cx="9144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743200" y="4937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1.00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657600" y="493776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657600" y="4937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34.69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754880" y="493776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754880" y="4937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2.00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852160" y="4937760"/>
            <a:ext cx="109728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852160" y="49377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0.00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949440" y="4937760"/>
            <a:ext cx="164592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949440" y="4937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16639.91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48640" y="530352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48640" y="5303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Microsoft YaHei"/>
              </a:defRPr>
            </a:pPr>
            <a:r>
              <a:t>max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645920" y="530352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645920" y="5303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64.00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743200" y="5303520"/>
            <a:ext cx="9144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743200" y="5303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1.00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57600" y="530352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657600" y="5303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53.13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754880" y="530352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754880" y="5303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5.00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852160" y="5303520"/>
            <a:ext cx="109728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852160" y="5303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1.00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949440" y="5303520"/>
            <a:ext cx="164592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949440" y="5303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Microsoft YaHei"/>
              </a:defRPr>
            </a:pPr>
            <a:r>
              <a:t>63770.43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48640" y="5486400"/>
            <a:ext cx="109728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31520" y="55778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Microsoft YaHei"/>
              </a:defRPr>
            </a:pPr>
            <a:r>
              <a:t>四分位数 (Quantile) 概念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31520" y="59436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25% (Q1): 下位25%位置  |  50% (Q2/中位数): 正中间  |  75% (Q3): 上位25%位置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charges 均值(13270) &gt; 中位数(9382) → 右偏分布（存在高额保险费）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预处理: 划分训练集和测试集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Train/Test Split Concept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第1步: 分离自变量 / 因变量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自变量(X): age, sex, bmi, children, smoker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因变量(y): charges（预测对象）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X 是原因，y 是结果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第2步: 分离训练集 / 测试集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训练集(Train): 模型用于学习的数据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测试集(Test): 用于评估模型性能的数据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通常按 8:2 或 7:3 比例划分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  <a:latin typeface="Microsoft YaHei"/>
              </a:defRPr>
            </a:pPr>
            <a:r>
              <a:t>X_train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训练用自变量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11480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Microsoft YaHei"/>
              </a:defRPr>
            </a:pPr>
            <a:r>
              <a:t>y_train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训练用因变量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411480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00"/>
                </a:solidFill>
                <a:latin typeface="Microsoft YaHei"/>
              </a:defRPr>
            </a:pPr>
            <a:r>
              <a:t>X_test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测试用自变量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19" y="411480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19" y="4206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4545"/>
                </a:solidFill>
                <a:latin typeface="Microsoft YaHei"/>
              </a:defRPr>
            </a:pPr>
            <a:r>
              <a:t>y_test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19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测试用因变量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4.4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数据集划分（代码）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Train/Test Split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5156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分离自变量(X)和因变量(y)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X = data[['age', 'sex', 'bmi', 'children', 'smoker']]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y = data['charges']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划分训练集和测试集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from sklearn.model_selection import train_test_split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X_train, X_test, y_train, y_test = train_test_split(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    X, y, test_size=0.2, random_state=100)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2920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test_size = 0.2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将全部数据的20%划分为测试集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剩余80%作为训练集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5029200"/>
            <a:ext cx="512064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5120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random_state =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48640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固定随机采样以保证可重复性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输入相同数字则始终得到相同结果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Model 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建模三步骤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① 选择算法 (LinearRegression)  →  ② 创建模型 (model 对象)  →  ③ 训练模型 (fit)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105156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1. 选择算法 &amp; 创建模型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from sklearn.linear_model import LinearRegression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model = LinearRegression()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2. 训练模型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model.fit(X_train, y_train)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77840"/>
            <a:ext cx="50292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LinearRegression()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35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sklearn 提供的线性回归模型类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5577840"/>
            <a:ext cx="512064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56692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model.fit(X_train, y_train)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6035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输入训练集(X, y)来训练模型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4.6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使用模型进行预测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00E696"/>
                </a:solidFill>
                <a:latin typeface="Consolas"/>
              </a:defRPr>
            </a:pPr>
            <a:r>
              <a:t>pred = model.predict(X_test)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49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predict() 函数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将测试集(X_test)输入已训练的模型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只需输入自变量(X)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不要输入因变量(y)！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pred 中存储了预测的保险费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6576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749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注意事项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1148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只能输入 X_test（不能输入 y_test）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必须使用未参与训练的数据进行预测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才能评估模型的泛化性能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将 pred 结果与 y_test 比较进行评估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4.7.1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通过表格评估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Evaluation with 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6400800" cy="16459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comparison = pd.DataFrame({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'actual': y_test,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'pred': pred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comparison  # 268 rows x 2 columns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011680"/>
            <a:ext cx="42062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2103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结果解读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246888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针对268条测试数据，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创建实际值(actual)与预测值(pred)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并排对比的 DataFrame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comparison 结果（部分）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8912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index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43891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actual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43891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764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484632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9095.07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484632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11834.68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1208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12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887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521208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5272.18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521208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8292.14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57784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577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890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557784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29330.98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557784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34069.01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943600"/>
            <a:ext cx="13716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943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1293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594360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0240" y="5943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9301.89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5943600"/>
            <a:ext cx="2286000" cy="36576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5943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12077.35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309360"/>
            <a:ext cx="13716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259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20240" y="630936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20240" y="6309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44202.65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6309360"/>
            <a:ext cx="2286000" cy="36576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6309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Microsoft YaHei"/>
              </a:defRPr>
            </a:pPr>
            <a:r>
              <a:t>36553.34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0" y="4114800"/>
            <a:ext cx="475488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40880" y="4206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actual vs pred 对比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457200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actual: 实际保险费（正确答案）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pred: 模型预测的保险费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值越接近则预测越好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差异大则预测失败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仅凭表格难以把握整体模式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4.7.2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通过图表评估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Evaluation with Scatter Plot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9436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577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import seaborn as sns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plt.figure(figsize=(10, 10))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sns.scatterplot(x='actual', y='pred',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        data=comparison)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011680"/>
            <a:ext cx="475488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散点图(Scatter Plot)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68880"/>
            <a:ext cx="4389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▶ x轴: 实际值(actual)，y轴: 预测值(pred)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绿色虚线（对角线）附近：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actual ≈ pred → 预测准确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对角线上方：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pred &gt; actual → 过高预测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对角线下方：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pred &lt; actual → 过低预测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点越靠近对角线，模型越好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59436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三个区域划分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✅ 对角线附近 = 预测准确 (ideal zone)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⚠️ 对角线上方 = 过高预测 (over-prediction)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⚠️ 对角线下方 = 过低预测 (under-prediction)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大部分点集中在对角线附近，但也存在离群值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4.7.3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RMSE 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Root Mean Squared Error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371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201168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公式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201168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特点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MAE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246888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|实际-预测| 均值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246888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直观，对异常值不太敏感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26080"/>
            <a:ext cx="1371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MSE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292608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(实际-预测)² 均值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292608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对大误差施加更大惩罚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8328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RMSE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338328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024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√MSE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338328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Microsoft YaHei"/>
              </a:defRPr>
            </a:pPr>
            <a:r>
              <a:t>单位与原始数据相同，易于解读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84048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931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Table A vs Table B 对比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2976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即使绝对值之和(MAE)相同，平方和(MSE)也可能不同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一个大误差会大幅增加 MSE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RMSE 是对大误差敏感的指标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394960"/>
            <a:ext cx="10515600" cy="11887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5321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from sklearn.metrics import mean_squared_error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mean_squared_error(y_test, pred) ** 0.5   # RMSE: 5684.93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3840480"/>
            <a:ext cx="512064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Microsoft YaHei"/>
              </a:defRPr>
            </a:pPr>
            <a:r>
              <a:t>结果: RMSE = 5684.93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2976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预测值与实际值的平均误差约为 $5,685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需结合保险费范围(1121~63770)来判断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单独来看难以判断好坏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4.7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R² (决定系数)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Coefficient of Determination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R² = SSR / SST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SST (总变异): 实际值与均值之差的平方和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SSR (已解释变异): 预测值与均值之差的平方和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SSE (未解释变异): 实际值与预测值之差的平方和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SST = SSR + SSE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R² = SSR / SST = 1 - (SSE / SST)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值在 0~1 之间，越接近1越好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model.score(X_train, y_train)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# 结果: 0.7368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R² 解读标准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9319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R² = 0.7368 → 约 73.7% 的解释力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自变量解释了因变量变异的 73.7%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0.7~0.8 属于还不错(decent)的水平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0.9 以上属于非常好的模型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5488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Microsoft YaHei"/>
              </a:defRPr>
            </a:pPr>
            <a:r>
              <a:t>R² vs RMSE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R² 是相对指标 (0~1)，RMSE 是绝对指标（单位：美元）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R² 越高则 RMSE 相对越低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两个指标结合来看，可以综合判断模型性能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4.8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理解: 线性回归原理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How Linear Regression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y = ax +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a: 斜率 (coefficient, 系数)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b: y截距 (intercept)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自变量(x)与因变量(y)的线性关系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多个自变量: y = a₁x₁ + a₂x₂ + ... +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损失函数 (Loss Function)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最小化预测值与实际值的差异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OLS: 找到使(实际-预测)²之和最小的线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找到最优斜率(a)和截距(b)就是学习过程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Microsoft YaHei"/>
              </a:defRPr>
            </a:pPr>
            <a:r>
              <a:t>保险费预测公式（已训练模型）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Consolas"/>
              </a:defRPr>
            </a:pPr>
            <a:r>
              <a:t>charges = 264.8×age + 17.3×sex + 297.5×bmi + 469.3×children + 23469.3×smoker - 11577.0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86400"/>
            <a:ext cx="109728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Microsoft YaHei"/>
              </a:defRPr>
            </a:pPr>
            <a:r>
              <a:t>公式解读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age 增加1 → charges 约增加265  |  smoker=1(吸烟) → charges 约增加23,469  |  截距(b) = -11,577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  <a:r>
              <a:t>SECTION 4.8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系数与截距确认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Coefficients &amp; Intercept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6400800" cy="27432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6035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确认系数（斜率）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model.coef_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array([ 264.8, 17.3, 297.5, 469.3, 23469.3])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以易读格式输出系数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pd.Series(model.coef_, index=X.columns)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age        264.8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sex         17.3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bmi        297.5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children   469.3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smoker   23469.3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确认截距(y-intercept)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model.intercept_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-11576.999976112367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011680"/>
            <a:ext cx="420624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2103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系数解读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246888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age: 年龄增加1岁 → 保险费约增加 $265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sex: 性别差异约 $17（非常小）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bmi: BMI 增加1 → 保险费约增加 $298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children: 子女增加1人 → 约增加 $469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smoker: 吸烟者 → 约增加 $23,469！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→ 吸烟与否对保险费影响最大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02920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Microsoft YaHei"/>
              </a:defRPr>
            </a:pPr>
            <a:r>
              <a:t>截距 (Intercept) = -11,577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所有自变量为0时的基础值（实际上不会发生的理论值）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将系数(coef_)与截距(intercept_)结合即可得到完整的预测公式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Microsoft YaHe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学习总结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Chapter 04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问题定义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2103120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210312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数据加载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03120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210312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数据确认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19" y="2103120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210312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预处理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03120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210312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建模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103120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210312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103120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0" y="2103120"/>
            <a:ext cx="1371600" cy="731520"/>
          </a:xfrm>
          <a:prstGeom prst="roundRect">
            <a:avLst>
              <a:gd name="adj" fmla="val 5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2103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评估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20040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核心摘要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65760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线性回归: y = a₁x₁ + a₂x₂ + ... + b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用于连续型变量预测的基础算法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可用 sklearn 简单实现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   LinearRegression().fit() → predict()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评估: RMSE = 5,685 / R² = 0.7368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吸烟与否(smoker)对保险费影响最大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优点: 简单、易于解释、学习速度快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• 局限: 难以捕捉非线性关系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20040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完整代码流水线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65760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1. import pandas as pd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2. data = pd.read_csv(file_url)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3. data.head() / data.info() / data.describe()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4. X, y 分离 → train_test_split()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5. model = LinearRegression()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6. model.fit(X_train, y_train)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7. pred = model.predict(X_test)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8. pd.DataFrame({'actual':y_test, 'pred':pred})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9. sns.scatterplot(x='actual', y='pred', ...)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10. mean_squared_error(y_test, pred)**0.5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Microsoft YaHei"/>
              </a:defRPr>
            </a:pPr>
            <a:r>
              <a:t>11. model.score() / model.coef_ / model.intercept_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