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371600"/>
            <a:ext cx="48764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t>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선형회귀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맑은 고딕"/>
              </a:defRPr>
            </a:pPr>
            <a:r>
              <a:t>Linear Regression: OLS, Ridge, Lasso, Elastic 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OLS부터 정규화 기법까지 체계적 이해 + 직접 구현으로 알고리즘 내부 동작 파악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기계학습 |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(Table of Contents)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Chapter 4 전체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Part I: 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4.1  역사와 의의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4.2  OLS 이론 (정규방정식, 기하학적 해석)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4.3  다중공선성 (VIF, 조건수)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4.4  Ridge 회귀 (L2 정규화)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4.5  Lasso 회귀 (L1 정규화)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4.6  Elastic Net (L1+L2)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4.7  좌표 하강법 (glmnet)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Part II: 실습 &amp; 응용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4.8   SCAD와 Oracle 특성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4.9   회귀 진단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4.10  실습: Ridge 회귀 구현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4.11  실습: Lasso 회귀 구현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4.12  실습: Elastic Net 구현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4.13  응용사례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4.14  핵심 요약 + 복습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학습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1. OLS의 정규방정식을 행렬 미분으로 유도하고 기하학적으로 해석할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2. 가우스-마르코프 정리의 의미와 한계를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3. Ridge, Lasso, Elastic Net의 수학적 정의와 차이를 비교할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4. L1 vs L2 정규화의 기하학적 차이를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5. 좌표 하강법과 연성 임계값 연산자를 직접 구현할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6. SCAD의 오라클 성질과 Lasso 대비 장점을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7. 회귀 진단(잔차 분석, Cook's Distance)을 수행할 수 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역사와 의의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200년 역사의 가장 기본적인 ML 알고리즘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최소제곱법의 탄생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Legendre (1805) vs Gauss (1809)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르장드르 (Legendre, 1805)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최초로 최소제곱법을 공식 발표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혜성 궤도를 관측 데이터로부터 결정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잔차 제곱합을 최소화하는 원리 제안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Nouvelles méthodes... (1805)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가우스 (Gauss, 1809)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1795년부터 사용해왔다고 주장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Theoria Motus Corporum Coelestium (1809)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정규분포 가정 하에서 MLE와 동일함을 증명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확률론적 정당성 부여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선형회귀의 현대적 위치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기초 알고리즘: 지도학습에서 연속값을 예측하는 가장 기본 모델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이론적 토대: 비용함수 최적화, 편향-분산 트레이드오프, 정규화의 출발점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확장의 기반: 로지스틱 회귀, 신경망, 커널 방법의 구성 요소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벤치마크: 새로운 모델의 성능 비교 기준선 (baseline)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선형회귀의 수학적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독립변수와 종속변수 사이의 선형 관계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스칼라 표기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 = β₀ + β₁x₁ + β₂x₂ + ··· + βₚxₚ + 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y: 종속변수 (타겟)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x₁,...,xₚ: 독립변수 (특성)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β₀: 절편, β₁,...,βₚ: 회귀 계수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ε: 오차항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행렬 표기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 = Xβ + 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 ∈ R^n: 반응 벡터 (n개 관측치)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 ∈ R^(n×(p+1)): 설계 행렬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β ∈ R^(p+1): 회귀 계수 벡터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ε ∈ R^n: 오차, εᵢ ~iid~ N(0, σ²)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핵심: '선형'은 파라미터 β에 대해 선형이라는 의미. y = β₁x + β₂x²도 선형회귀 (x²를 새 특성으로 취급)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OLS 이론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정규방정식 유도, 기하학적 해석, 가우스-마르코프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정규방정식 유도 (행렬 미분)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RSS를 최소화하는 β를 찾는다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124712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단계별 유도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Step 1. 잔차 제곱합 (RSS) 정의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RSS(β) = ||y - Xβ||² = (y - Xβ)ᵀ(y - Xβ)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Step 2. 전개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RSS(β) = yᵀy - 2βᵀXᵀy + βᵀXᵀXβ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Step 3. β에 대해 편미분 (행렬 미분 규칙 적용)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∂RSS/∂β = -2Xᵀy + 2XᵀXβ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사용된 공식: ∂(aᵀx)/∂x = a,  ∂(xᵀAx)/∂x = 2Ax (A 대칭)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Step 4. 0으로 놓기 → 정규방정식 (Normal Equation)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XᵀXβ = Xᵀy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Step 5. 해 (XᵀX가 가역일 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β̂_OLS = (XᵀX)⁻¹Xᵀy      ← 핵심 수식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2차 미분(헤시안)과 볼록성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정규방정식의 해가 최솟값임을 보장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헤시안 (2차 미분)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∂²RSS / ∂β∂βᵀ = 2XᵀX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XᵀX는 양의 반정치(positive semi-definite)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RSS는 볼록(convex) 함수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정규방정식의 해는 전역 최솟값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XᵀX가 양정치(positive definite)이면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유일한 최솟값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볼록 최적화의 이점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지역 최솟값 = 전역 최솟값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어디서 시작해도 동일한 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경사하강법이 수렴 보장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학습률만 적절하면 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Ridge도 볼록 (λI 추가해도 볼록 유지)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Lasso도 볼록 (|β|가 볼록)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SCAD는 비볼록 → 지역 최솟값 문제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OLS의 기하학적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직교 사영 (Orthogonal Projection)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직교 사영 관점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y는 R^n 공간의 벡터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C(X) = X의 열공간 (column space)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ŷ = X(XᵀX)⁻¹Xᵀy = Hy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 = X(XᵀX)⁻¹Xᵀ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= 햇 행렬 (hat matrix)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= 사영 행렬 (projection matrix)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ŷ는 y를 C(X)에 직교 사영한 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핵심 성질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잔차 Xᵀe = 0 (잔차와 열공간 직교)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피타고라스: ||y||² = ||ŷ||² + ||e||²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TSS = ESS + RSS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931920"/>
            <a:ext cx="55778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023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R²의 기하학적 의미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38912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R² = cos²θ  (y와 ŷ 사이 각도)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R² = 1: y가 C(X) 안에 있음 (완벽 적합)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R² = 0: y가 C(X)에 직교 (설명력 없음)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0 &lt; R² &lt; 1: 부분적 설명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가우스-마르코프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OLS 추정량의 최적성 보장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정리의 조건 (4가지)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E[εᵢ] = 0 (오차 기대값 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Var(εᵢ) = σ² (등분산성)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Cov(εᵢ, εⱼ) = 0, i≠j (무상관)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X는 고정된(non-random) 행렬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BLUE: 최적성의 의미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Best: 모든 선형 비편향 추정량 중 분산 최소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Linear: β̂이 y의 선형 함수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Unbiased: E[β̂] = β (편향 없음)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Estimator: β의 추정량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46320"/>
            <a:ext cx="1124712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핵심 한계와 Ridge의 동기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가우스-마르코프는 OLS가 비편향 추정량 중 최적임을 보장할 뿐!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편향을 허용하면 MSE = Var + Bias² 관점에서 OLS보다 나은 추정량이 존재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Hoerl &amp; Kennard (1970): 약간의 편향으로 분산을 크게 줄여 전체 MSE 감소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다중공선성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VIF, 조건수, 해결 방법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다중공선성 (Multicollinearity)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독립변수 간 높은 선형 상관관계 문제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문제점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XᵀX가 특이(singular)에 가까워지면: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(XᵀX)⁻¹의 원소가 매우 커짐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Var(β̂) = σ²(XᵀX)⁻¹이 폭증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회귀 계수 추정이 불안정 (높은 분산)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VIF (Variance Inflation Factor)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VIFⱼ = 1 / (1 - Rⱼ²)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VIF = 1: 다중공선성 없음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VIF 1~5: 약한 (일반적으로 허용)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VIF 5~10: 중간 (주의 필요)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VIF &gt; 10: 심각 (조치 필요)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조건수 (Condition Number)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κ(XᵀX) = λ_max / λ_min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조건수 &gt; 30 → 다중공선성 의심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조건수가 크면 역행렬 계산 불안정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389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해결 방법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4389120"/>
            <a:ext cx="30175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84632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4846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변수 제거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4846320"/>
            <a:ext cx="30175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846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VIF 높은 변수를 수동 제거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25780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5257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주성분 회귀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5257800"/>
            <a:ext cx="30175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5257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PCA로 차원 축소 후 회귀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66928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5669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Ridge 회귀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5669280"/>
            <a:ext cx="30175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5669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L2 정규화로 조건수 개선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608076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6080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Lasso 회귀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6080760"/>
            <a:ext cx="30175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6080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L1 정규화로 변수 자동 제거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Ridge 회귀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L2 정규화: Hoerl &amp; Kennard (1970)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Ridge 회귀: 핵심 아이디어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편향-분산 트레이드오프의 고전적 예시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편향-분산 트레이드오프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MSE(β̂) = Var(β̂) + [Bias(β̂)]²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OLS: Bias = 0, Var = 클 수 있음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Ridge: Bias &gt; 0 (약간), Var = 크게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전체 MSE 감소!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통찰 (Hoerl &amp; Kennard, 1970):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가우스-마르코프의 '허점' 이용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비편향 중 최적이지만...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약간의 편향을 허용하면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MSE가 더 좋아질 수 있다!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L2 정규화의 수학적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최적화 문제: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min ||y - Xβ||² + λ||β||²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닫힌 형태 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β̂_ridge = (XᵀX + λI)⁻¹Xᵀy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유도: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∂/∂β [...] = -2Xᵀy + 2XᵀXβ + 2λβ =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(XᵀX + λI)β = Xᵀy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효과: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λI를 더해 대각 원소 증가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조건수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수치적 안정성 확보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계수를 0 방향으로 축소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Ridge: 고유값 분해 &amp; 베이지안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두 가지 관점에서의 이해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고유값 분해를 통한 이해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XᵀX = VDVᵀ에서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Ridge는 각 방향의 계수를 dⱼ/(dⱼ+λ) 축소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dⱼ 큼: 축소 비율 ≈ 1 (거의 변화 없음)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dⱼ 작음: 축소 비율 ≈ 0 (강하게 축소)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불안정한 방향을 선택적으로 축소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베이지안 해석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사전분포: β ~ N(0, τ²I)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우도: y|X,β ~ N(Xβ, σ²I)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MAP 추정 = Ridge (λ = σ²/τ²)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Ridge = 계수에 정규분포 사전분포 부여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τ² 작을수록 → λ 커짐 → 더 많이 축소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릿지 트레이스 (Ridge Trace)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x축: λ, y축: 각 회귀 계수 값을 그린 그래프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λ = 0 (OLS)에서 시작 → λ 증가 → 모든 계수가 0으로 수렴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계수가 안정화되는 λ 값을 시각적으로 선택 (교차 검증으로 정밀화)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545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Lasso 회귀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L1 정규화: Tibshirani (1996)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Lasso: L1 정규화와 변수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축소(shrinkage) + 변수 선택을 동시에!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L1 정규화의 수학적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min (1/2n)||y - Xβ||² + λ||β||₁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||β||₁ = Σ|βⱼ| (L1 노름)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닫힌 형태 해 없음 (원점에서 미분 불가능)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좌표 하강법(Coordinate Descent) 필요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Lasso의 혁신 (Tibshirani, 1996)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Ridge의 L2를 L1으로 교체한 간단한 변경이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근본적으로 다른 성질을 만들어냄: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회귀 계수 축소 (shrinkage)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변수 선택 (variable selection) ← 핵심!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일부 계수를 정확히 0으로 만듦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Google Scholar 인용 50,000+ (2024 기준)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연성 임계값 연산자 (Soft Thresholding)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Lasso 해의 핵심 메커니즘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수식 및 동작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S(z, γ) = sign(z) · max(|z| - γ, 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세 구간별 동작: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|z| ≤ γ:   결과 =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작은 계수를 정확히 0으로 (변수 제거!)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&gt; γ:    결과 = z - γ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양수 계수를 γ만큼 축소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&lt; -γ:   결과 = z + γ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음수 계수를 γ만큼 축소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Ridge vs Lasso 축소 방식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Ridge: 비례 축소  β̂ = dⱼ/(dⱼ+λ) · β̂_OLS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0에 가깝게 만들지만 절대 0이 아님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Lasso: 이동 축소  β̂ = sign(β̂_OLS)·max(|β̂|-λ,0)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γ보다 작은 계수는 정확히 0!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434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Python 구현 (1줄!)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def soft_threshold(z, gamma):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return np.sign(z) * np.maximum(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np.abs(z) - gamma, 0.0)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L1 vs L2 기하학적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왜 Lasso는 변수 선택이 가능한가?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L2 제약 (Ridge) = 원(Circle)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제약: β₁² + β₂² ≤ 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RSS 등고선(타원)과 원의 접점: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일반적으로 좌표축 위에 있지 않음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계수가 정확히 0이 되기 어려움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결과: 모든 계수가 비영(非零)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변수 선택 불가능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L1 제약 (Lasso) = 마름모(Diamond)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제약: |β₁| + |β₂| ≤ 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마름모의 꼭짓점이 좌표축 위에 위치!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RSS 등고선과의 접점이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꼭짓점에서 만날 확률이 높음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꼭짓점: 하나 이상의 좌표 =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결과: 일부 계수가 정확히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변수가 자동으로 선택됨!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베이지안 해석: Ridge vs Lasso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사전분포의 차이가 변수 선택을 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Ridge = 정규분포 사전분포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p(β) = (1/√2πτ²) exp(-β²/2τ²)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종 모양: 0 근처에서 부드럽게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계수를 0 근처로 축소하지만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정확히 0으로는 만들지 못함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Lasso = 라플라스 사전분포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p(β) = (λ/2) exp(-λ|β|)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원점에서 뾰족 + 꼬리 두꺼움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작은 계수에 높은 사전 확률 (희소성)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큰 계수에도 적당한 확률 (편향 제한)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핵심: 라플라스 분포가 원점에서 더 뾰족하기 때문에 작은 계수를 0으로 만드는 사전 믿음이 더 강함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Elastic 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L1 + L2 혼합 정규화: Zou &amp; Hastie (2005)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Elastic Net: Lasso의 두 가지 한계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Zou &amp; Hastie (2005)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Lasso의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p &gt; n 문제: 변수 수 &gt; 표본 수이면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Lasso는 최대 n개 변수만 선택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그룹화 효과 부재: 상관된 변수 중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하나만 임의로 선택, 나머지 제거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Elastic Net의 해결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min (1/2n)||y-Xβ||² + λ[α||β||₁ + (1-α)/2 ||β||₂²]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α = 1: 순수 Lasso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α = 0: 순수 Ridge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0 &lt; α &lt; 1: Elastic Net (최적의 절충)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2471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그룹화 효과 정리 (Zou &amp; Hastie, 2005)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|β̂ᵢ - β̂ⱼ| ≤ [1 / λ(1-α)] · √(2(1-r)) · ||y||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상관관계 높을수록 (r→1) 두 계수의 차이가 작아짐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Elastic Net은 '상관된 변수들은 함께 선택하거나 함께 제거'하는 원칙을 따름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순수 Lasso (α=1)에서는 분모=0이 되어 이 성질 성립하지 않음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Ridge vs Lasso vs Elastic Net 종합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특성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Ridge (L2)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Lasso (L1)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8288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Elastic Net (L1+L2)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패널티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λ||β||₂²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λ||β||₁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2860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λ[α||β||₁+(1-α)||β||₂²/2]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변수 선택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 (모든 계수 비영)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 (일부=0)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27432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 (일부=0)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그룹화 효과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 (동시 축소)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 (하나만 선택)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32004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 (동시 선택)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닫힌 형태 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0" y="36576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p&gt;n 지원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최대 n개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0" y="41148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5720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베이지안 사전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0" y="45720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정규분포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0" y="45720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라플라스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0" y="45720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정규+라플라스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0292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제약 영역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0" y="50292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0" y="50292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마름모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0" y="50292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둥근 마름모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좌표 하강법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glmnet 알고리즘: Friedman, Hastie, Tibshirani (2010)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좌표 하강법 (Coordinate Descent)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한 번에 하나의 변수만 최적화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업데이트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j번째 좌표 업데이트: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β̃ⱼ = S(ρⱼ, αλ) / (Xⱼᵀ Xⱼ/n + λ(1-α))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ρⱼ = Xⱼᵀ rⱼ / 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rⱼ = y - Σ_{k≠j} Xₖβₖ  (부분 잔차)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S(z,γ) = sign(z)·max(|z|-γ,0)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알고리즘: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for iteration in range(max_iter):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for j in range(n_features):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부분 잔차 계산 → 연성 임계값 적용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수렴 확인 (max|β_new - β_old| &lt; tol)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핵심 최적화 기법 3가지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따뜻한 시작 (Warm Start)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λ₁ &gt; λ₂ &gt; ... 순차적으로 풀 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이전 해를 초기값으로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인접 λ의 해가 유사 → 빠른 수렴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활성 집합 (Active Set)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0이 아닌 계수만 우선 업데이트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Lasso에서 대부분 계수=0이므로 효과적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λ_max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λ_max = (1/αn) max_j |Xⱼᵀ(y-ȳ)|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모든 계수=0이 되는 최소 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여기서 시작해 λ를 줄여감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SCAD와 Oracle 특성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Fan &amp; Li (2001): 비볼록 패널티와 이상적 성질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SCAD: 오라클 성질을 가진 패널티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Fan &amp; Li (2001)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Lasso의 근본적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 패널티는 계수 크기에 관계없이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동일한 양(λ)만큼 축소: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작은 계수: 적절히 0으로 제거 (OK)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큰 계수: 불필요하게 과도한 축소 (문제!)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오라클 성질 (Oracle Properties)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일관성 있는 변수 선택: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P(선택된 변수 = 진정한 변수) → 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점근적 정규성: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비영 계수의 추정이 OLS와 동일 분포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Lasso는 오라클 성질을 만족하지 못함!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구간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438912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패널티 동작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438912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효과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|θ| ≤ 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484632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L1과 동일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846320"/>
            <a:ext cx="5029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4846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작은 계수를 0으로 제거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4924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9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λ &lt; |θ| ≤ aλ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5349240"/>
            <a:ext cx="32004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5349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패널티 점차 감소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5349240"/>
            <a:ext cx="5029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5349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중간 계수 점진적 축소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85216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852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|θ| &gt; aλ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585216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58521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패널티 미분 = 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5852160"/>
            <a:ext cx="5029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5852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큰 계수에 추가 축소 없음!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정규화 방법의 계보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좋은 패널티의 3가지 조건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좋은 패널티의 3가지 조건 (Fan &amp; Li)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비편향성: 큰 계수에 편향 없을 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희소성: 작은 계수를 0으로 만들 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연속성: 추정량이 데이터의 연속 함수일 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세 조건 동시 만족 → 반드시 비볼록!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38912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방법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438912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4389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연도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38912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389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패널티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43891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변수선택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3891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오라클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3891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볼록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4632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Ridge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4846320"/>
            <a:ext cx="1097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48463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1970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84632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846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484632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846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84632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846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484632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846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5780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257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Lasso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5257800"/>
            <a:ext cx="1097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5257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1996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525780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0" y="5257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525780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5257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25780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257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525780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5257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66928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SCAD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5669280"/>
            <a:ext cx="1097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0" y="5669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2001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0" y="566928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0" y="5669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비볼록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0" y="566928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5669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566928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5669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0" y="566928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0" y="5669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608076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080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Elastic Net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0" y="6080760"/>
            <a:ext cx="1097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86000" y="6080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2005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83280" y="608076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83280" y="6080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L1+L2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0" y="608076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0" y="6080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608076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6080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0" y="608076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72400" y="6080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649224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6492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Adaptive Lasso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0" y="6492240"/>
            <a:ext cx="1097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86000" y="64922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2006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83280" y="649224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83280" y="6492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가중 L1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0" y="649224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0" y="6492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649224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0" y="6492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72400" y="649224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72400" y="6492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690372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" y="6903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MCP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86000" y="6903720"/>
            <a:ext cx="1097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286000" y="6903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2010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383280" y="690372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83280" y="69037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비볼록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0" y="690372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29200" y="6903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00800" y="690372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00800" y="6903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72400" y="690372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772400" y="6903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회귀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잔차 분석, Q-Q Plot, Cook's Distance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잔차 분석 (Residual Analysis)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모델 적합성 평가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잔차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공식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용도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일반 잔차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286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eᵢ = yᵢ - ŷᵢ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286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기본 분석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표준화 잔차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788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rᵢ = eᵢ / (σ̂√(1-hᵢᵢ))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788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이상치 탐지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스튜던트화 잔차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291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tᵢ = eᵢ / (σ̂₍ᵢ₎√(1-hᵢᵢ))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291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정밀 이상치 탐지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6576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잔차 플롯 확인 사항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예측값 vs 잔차: 패턴이 없어야 함 (등분산성)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잔차의 정규성: Q-Q plot으로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자기상관: 시계열 데이터에서 잔차 독립성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65760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749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Q-Q Plot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1148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x축: 이론적 정규분포의 분위수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y축: 잔차의 분위수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점들이 45도 직선 위 → 정규분포 따름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직선 벗어남 → 분포 왜곡 판단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Cook's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영향력 있는 관측치 탐지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Cook's Distance 공식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Dᵢ = (rᵢ² / p) · (hᵢᵢ / (1-hᵢᵢ)²)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rᵢ: 표준화 잔차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hᵢᵢ: 레버리지 (햇 행렬 대각 원소)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p: 모수의 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판정: Dᵢ &gt; 1 → 영향력 큰 관측치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보수적: Dᵢ &gt; 4/n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진단 항목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확인 방법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위반 시 조치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선형성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예측값 vs 잔차 플롯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변수 변환, 다항 회귀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등분산성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예측값 vs 잔차 플롯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WLS, 변수 변환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정규성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Q-Q plot, Shapiro-Wilk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변수 변환, 로버스트 회귀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6576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독립성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6576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Durbin-Watson 검정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36576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GLS, 시계열 모델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1148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다중공선성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41148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VIF, 조건수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75520" y="41148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변수 제거, Ridge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5720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이상치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45720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Cook's distance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75520" y="45720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제거 또는 로버스트 회귀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실습: Ridge 회귀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닫힌 형태 해를 직접 코딩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Ridge 회귀 직접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01_ridge_regression.py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class RidgeRegressionFromScratch: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"""닫힌 형태 해: w = (X'X + λI)⁻¹X'y"""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__init__(self, alpha=1.0):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self.alpha = alpha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fit(self, 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n, p = X.shape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self.X_mean_ = np.mean(X, axis=0)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self.y_mean_ = np.mean(y)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Xc = X - self.X_mean_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yc = y - self.y_mean_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# 핵심: (X'X + αI)β = X'y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XtX = Xc.T @ Xc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reg = XtX + self.alpha * np.eye(p)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Xty = Xc.T @ yc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self.coef_ = np.linalg.solve(reg, Xty)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self.intercept_ = 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self.y_mean_ - self.X_mean_ @ self.coef_)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self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011680"/>
            <a:ext cx="48463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구현 핵심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6888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데이터 중심화 (centering)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Xc = X - mean(X)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yc = y - mean(y)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→ 절편 별도 처리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np.linalg.solve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역행렬(inv) 대신 선형시스템 풀기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→ 수치적으로 더 안정적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sklearn과 결과 일치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계수 최대 차이: ~10⁻¹² 수준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다중공선성 효과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조건수: Ridge로 크게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κ(XᵀX+λI) &lt;&lt; κ(XᵀX)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정규화 경로 (Ridge Trace) &amp; 교차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최적 λ 선택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정규화 경로 시각화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alphas = np.logspace(-2, 4, 200)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coefs_path = []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alpha in alphas: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ridge = RidgeFromScratch(alpha=alpha)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ridge.fit(X_scaled, y)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coefs_path.append(ridge.coef_.copy())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교차 검증으로 최적 λ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ridge_cv = RidgeCV(alphas=alphas, cv=5,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scoring='neg_mean_squared_error')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ridge_cv.fit(X_scaled, y)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print(f'최적 λ: {ridge_cv.alpha_:.4f}')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011680"/>
            <a:ext cx="57607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Ridge Trace 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x축: log₁₀(λ), y축: 각 회귀 계수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λ = 0 (왼쪽): OLS 추정치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다중공선성으로 불안정 (큰 진동)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λ 증가: 모든 계수가 0으로 수렴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편향 증가, 분산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최적 λ: CV MSE가 최소인 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편향-분산 트레이드오프의 최적점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OLS vs Ridge 비교: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OLS 계수의 L2 노름 &gt;&gt; Ridge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Ridge로 조건수 크게 감소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545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실습: Lasso 회귀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좌표 하강법 직접 코딩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Lasso 좌표 하강법 직접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02_lasso_regression.py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class LassoFromScratch: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def fit(self, X, y):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n, p = X.shape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Xc = X - np.mean(X, axis=0)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yc = y - np.mean(y)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col_norms = np.sum(Xc**2, axis=0)/n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w = np.zeros(p)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residual = yc.copy()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for _ in range(self.max_iter):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w_old = w.copy()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for j in range(p):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# 부분 잔차에 j번째 기여 복원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residual += Xc[:,j] * w[j]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# X_j와 부분 잔차의 내적/n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rho = Xc[:,j] @ residual / n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# 연성 임계값 적용!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w[j] = soft_threshold(rho,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    self.alpha) / col_norms[j]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# 잔차 업데이트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residual -= Xc[:,j] * w[j]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if np.max(np.abs(w-w_old))&lt;self.tol: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break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011680"/>
            <a:ext cx="48463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좌표 하강법 핵심 이해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6888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부분 잔차 (partial residual)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rⱼ = y - Σ_{k≠j} Xₖwₖ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'다른 변수들의 기여를 뺀 잔차'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효율적 잔차 업데이트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residual += Xⱼ·w_old[j]  (복원)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residual -= Xⱼ·w_new[j]  (갱신)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→ 매번 전체 계산 대신 차이만 반영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변수 선택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0인 계수 수 → 실제와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직접 구현 vs sklearn 결과 일치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정규화 경로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λ 감소 → 선택 변수 수 증가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빨간 실선: 실제 비영 계수 수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실습: Elastic Net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L1+L2 혼합 정규화 + 그룹화 효과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Elastic Net 좌표 하강법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03_elastic_net.py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Elastic Net 업데이트 규칙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Lasso와의 차이: 분모에 L2 항 추가!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l1_penalty = alpha * l1_ratio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l2_penalty = alpha * (1 - l1_ratio)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j in range(p):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residual += Xc[:,j] * w[j]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rho = Xc[:,j] @ residual / 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# 핵심: 분모에 l2_penalty 추가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denom = col_norms[j] + l2_penalty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w[j] = soft_threshold(rho, l1_penalty) / denom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residual -= Xc[:,j] * w[j]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011680"/>
            <a:ext cx="48463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그룹화 효과 실험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6888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상관된 특성 그룹 데이터: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그룹1 (x0,x1,x2): 높은 상관, β=2.0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그룹2 (x3,x4): 높은 상관, β=-1.5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노이즈 (x5~x14): β=0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Ridge: 모든 계수 비영, 그룹 내 유사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Lasso: 변수 선택 O, 그룹 중 하나만!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Elastic Net: 변수 선택 + 그룹 동시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그룹 내 계수 분산: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Ridge &lt; Elastic Net &lt;&lt; Lasso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EN이 그룹화 효과 가장 우수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응용사례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부동산 가격 예측 &amp; 광고비-매출 분석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 1: California Housing 가격 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sklearn 내장 데이터셋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RMSE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R²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비영 계수 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~0.73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~0.58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Ridge (α=1)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~0.73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~0.58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Lasso (α=0.01)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~0.74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~0.57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6~7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8404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주요 계수 해석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MedInc (중위 소득): 강한 양(+)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HouseAge (주택 연령): 양(+) - 도심 효과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AveRooms (평균 방 수): 양(+) - 넓은 집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Latitude (위도): 음(-) - 북쪽 가격 하락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Longitude (경도): 음(-) - 해안 쪽 높음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3840480"/>
            <a:ext cx="557784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931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한계점 &amp; 교훈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29768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R² ≈ 0.58: 선형 모델로 58%만 설명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위도/경도의 비선형 지리 패턴 포착 어려움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RF, XGBoost 등 비선형 모델로 개선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교훈: 선형회귀는 해석 가능한 baseline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성능 vs 해석가능성 트레이드오프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 2: 광고비-매출 회귀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마케팅 분석 사례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데이터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TV 광고비: 10~300 (주효과)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라디오 광고비: 0~50 (주효과)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신문 광고비: 0~100 (약한 효과)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매출 = 0.05·TV + 0.1·Radio + 0.005·News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+ 0.001·TV·Radio + 5 + 노이즈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Elastic Net 결과 (변수 선택)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TV 광고: 선택 (가장 큰 양의 효과)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라디오: 선택 (단위당 효율 가장 높음)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신문: 거의 0으로 축소 → 실질적 제거!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마케팅 시사점: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신문 예산 → TV/라디오로 재배분이 합리적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핵심: 선형회귀의 해석 가능성이 마케팅 의사결정에 직접 활용됨. 각 계수가 '광고비 1단위 증가 시 매출 변화'를 의미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핵심 요약 + 복습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4장 전체 정리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이론 요약표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핵심 수식과 특성 한눈에 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개념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핵심 수식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핵심 특성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286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β̂ = (XᵀX)⁻¹Xᵀy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86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BLUE, 비편향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Ridge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788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β̂ = (XᵀX+λI)⁻¹Xᵀy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788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L2, 축소, 닫힌 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Lasso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291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min ||y-Xβ||²/2n + λ||β||₁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291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L1, 변수 선택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9476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Elastic Net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79476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37947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L1+L2 혼합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79476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7947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그룹화 효과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9768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2976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SCAD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429768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4297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비볼록 패널티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29768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297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오라클 성질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논문 연대기 &amp; 방법 선택 가이드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연도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논문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66751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핵심 기여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1970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Hoerl &amp; Kennard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286000"/>
            <a:ext cx="66751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2860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Ridge, 편향-분산 트레이드오프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1996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Tibshirani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743200"/>
            <a:ext cx="66751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7432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Lasso, L1 변수 선택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004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00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Fan &amp; Li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200400"/>
            <a:ext cx="66751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2004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SCAD, 오라클 성질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576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36576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5448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Zou &amp; Hastie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657600"/>
            <a:ext cx="66751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3657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Elastic Net, 그룹화 효과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114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41148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5448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Friedman et al.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4114800"/>
            <a:ext cx="66751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4114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glmnet, 좌표 하강법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57200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방법 선택 가이드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다중공선성 심함? → Ridge 또는 Elastic Net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변수 선택 필요? → Lasso 또는 Elastic Net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상관된 변수 그룹? → Elastic Net (그룹화 효과)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 &gt; n? → Elastic Net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변수 수 적고 다중공선성 없음? → OLS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수식 유도 + 이론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Q1. RSS를 β에 대해 행렬 미분하여 정규방정식을 유도하라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Q2. 가우스-마르코프 정리의 한계: 왜 Ridge가 OLS보다 나을 수 있는가?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Q3. Ridge의 닫힌 형태 해를 유도하라. λI가 조건수를 개선하는 이유?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Q4. L1(마름모) vs L2(원) 제약 영역에서 변수 선택 차이를 기하학적으로 설명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Q5. 연성 임계값 연산자 S(z,γ)의 세 구간 동작과 좌표 하강법에서의 역할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심화 +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Q6. Elastic Net의 그룹화 효과 정리를 설명하라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Q7. 좌표 하강법의 효율성: warm start와 active set 전략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Q8. SCAD의 오라클 성질 두 가지 조건과 Lasso 대비 장점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Q9. Ridge(정규분포)와 Lasso(라플라스)의 베이지안 해석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Q10. 잔차 분석: (a) 깔때기 패턴 (b) Q-Q 꼬리 벗어남 (c) Cook's D &gt; 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286000"/>
            <a:ext cx="48764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맑은 고딕"/>
              </a:defRPr>
            </a:pPr>
            <a:r>
              <a:t>Chapter 4: 선형회귀 (Linear Regression)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다음 장: 로지스틱 회귀 (Logistic Regression)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