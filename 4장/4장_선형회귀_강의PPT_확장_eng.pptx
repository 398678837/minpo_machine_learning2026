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371600"/>
            <a:ext cx="48764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  <a:latin typeface="맑은 고딕"/>
              </a:defRPr>
            </a:pPr>
            <a:r>
              <a:t>CHAPTER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rPr/>
              <a:t>Linear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맑은 고딕"/>
              </a:defRPr>
            </a:pPr>
            <a:r>
              <a:t>Linear Regression: OLS, Ridge, Lasso, Elastic 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rPr/>
              <a:t>Systematic understanding from OLS to regularization techniques + Understanding the inner workings of the algorithm through direct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rPr/>
              <a:t>Machine learning |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Table of Contents (Table of Contents) ||| Descent (glmnet)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Part II: Lab &amp; 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4.8 SCAD and Oracle Characteristics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4.9 Regression Diagnosis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4.10 Lab: Implementing Ridge Regression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4.11 Lab: Implementing Lasso Regression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4.12 Lab: Implementing Elastic Net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4.13 Applications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4.6  Elastic Net (L1+L2)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4.14 Key Summary + Review Questions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Part II: 실습 &amp; 응용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4.8   SCAD와 Oracle 특성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4.9   회귀 진단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4.10  실습: Ridge 회귀 구현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4.11  실습: Lasso 회귀 구현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4.12  실습: Elastic Net 구현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4.13  응용사례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4.14  핵심 요약 + 복습 질문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1. The regular equations of OLS can be derived by matrix differentiation and interpreted geometrically.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2. Can explain the meaning and limitations of the Gauss-Markov theorem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3. You can compare the mathematical definitions and differences between Ridge, Lasso, and Elastic Net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4. Can explain geometric differences in L1 vs L2 regularization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5. Coordinate descent and soft threshold operators can be directly implemented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6. Can explain the oracle nature of SCAD and its advantages over Lasso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7. Regression diagnosis (residual analysis, Cook's Distance) can be performed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History and Significance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The most basic ML algorithm with 200 years of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Birth of the least squares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Legendre (1805) vs Gauss (1809)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Legendre (1805)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First official announcement of the least squares method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Determination of comet orbits from observational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Proposal of the principle of minimizing the residual sum of squares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Nouvelles méthodes... (1805)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Gauss (1809)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claimed to have been used since 1795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Theoria Motus Corporum Coelestium (1809)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Proof that it is equivalent to MLE under the assumption of normal distribution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Probabilistic justification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Modern position of linear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Basic algorithm: The most basic model for predicting continuous values in supervised learning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Theoretical foundation: Cost function optimization, bias-variance trade-off, starting point of regularization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Base for expansion: Components of logistic regression, neural networks, and kernel methods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Benchmark: Baseline for comparing the performance of new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Mathematical definition of linear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Linear relationship between independent variable and dependent variable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Scalar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 = β₀ + β₁x₁ + β₂x₂ + ··· + βₚxₚ + 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y: Dependent variable (target)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Response vector (n observations)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y = β₁x + β₂x² is also a linear regression (treating x² as a new feature)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ε: 오차항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행렬 표기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 = Xβ + 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y ∈ R^n: 반응 벡터 (n개 관측치)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X ∈ R^(n×(p+1)): 설계 행렬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β ∈ R^(p+1): 회귀 계수 벡터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ε ∈ R^n: 오차, εᵢ ~iid~ N(0, σ²)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rPr/>
              <a:t>핵심: '선형'은 파라미터 β에 대해 선형이라는 의미. y = β₁x + β₂x²도 선형회귀 (x²를 새 특성으로 취급)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OLS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Normal equation derivation, geometric analysis, Gauss-Markov theorem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Derivation of normal equation (matrix differentiation)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Find β that minimizes RSS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124712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Step-by-step derivation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Step 1. Define residual sum of squares (RSS)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RSS(β) = ||y - Xβ||² = (y - Xβ)ᵀ(y - Xβ)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Step 2. Expansion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RSS(β) = yᵀy - 2βᵀXᵀy + βᵀXᵀXβ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Step 3. Partial differentiation for β (applying matrix differentiation rules)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∂RSS/∂β = -2Xᵀy + 2XᵀXβ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Formulas used: ∂(aᵀx)/∂x = a, ∂(xᵀAx)/∂x = 2Ax (A symmetry)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Step 4. Set to 0 → Normal Equation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XᵀXβ = Xᵀy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Step 5. Solution (when XᵀX is reversible)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β̂_OLS = (XᵀX)⁻¹Xᵀy ← Core formula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Second derivative (Hessian) and convexity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Guarantee that the solution of the regular equation is the minimum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Hessian (second derivative)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∂²RSS / ∂β∂βᵀ = 2XᵀX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XᵀX is positive semi-definite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RSS is a convex function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The solution of a regular equation is the global minimum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If  → Unique minimum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Benefits of convex optimization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1. Local minimum = global minimum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The same year no matter where you start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Gradient descent guarantees convergence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All you need is an appropriate learning rate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Ridge is also convex (remains convex even if λI is added)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Lasso is also convex (|β| is convex)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SCAD is non-convex → local minimum problem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SCAD는 비볼록 → 지역 최솟값 문제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Geometric Analysis of 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Orthogonal Projection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Orthogonal Projection Perspective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y is a vector in R^n space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C(X) = column space of 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ŷ = X(XᵀX)⁻¹Xᵀy = Hy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H = X(XᵀX)⁻¹Xᵀ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 hat matrix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 projection matrix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ŷ is an orthogonal projection of y onto C(X)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Key properties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Residual angle)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R² = 1: y is in C(X) (perfect fit)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TSS = ESS + RSS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931920"/>
            <a:ext cx="55778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023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R² = 0: y is orthogonal to C(X) (no explanatory power)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38912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0 &lt; R² &lt; 1: partial explanation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R² = 1: y가 C(X) 안에 있음 (완벽 적합)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R² = 0: y가 C(X)에 직교 (설명력 없음)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0 &lt; R² &lt; 1: 부분적 설명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Gauss-Markov theorem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Guaranteed optimality of OLS estimator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Conditions of the theorem (4 types)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E[εᵢ] = 0 (expected error value 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Var(εᵢ) = σ² (homoscedasticity)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Cov(εᵢ, εⱼ) = 0, i≠j (no correlation)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where is only guaranteed to be optimal!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If we allow for bias, there is a better estimator than OLS in terms of MSE = Var + Bias²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Hoerl &amp; Kennard (1970): A little bias significantly reduces the variance, reducing the overall MSE.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Linear: β̂이 y의 선형 함수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Unbiased: E[β̂] = β (편향 없음)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Estimator: β의 추정량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46320"/>
            <a:ext cx="1124712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핵심 한계와 Ridge의 동기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가우스-마르코프는 OLS가 비편향 추정량 중 최적임을 보장할 뿐!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편향을 허용하면 MSE = Var + Bias² 관점에서 OLS보다 나은 추정량이 존재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Hoerl &amp; Kennard (1970): 약간의 편향으로 분산을 크게 줄여 전체 MSE 감소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Multicollinearity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VIF, condition number, solution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Multicollinearity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Problem of high linear correlation between independent variables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When Xᵀ variance)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VIF = 1: No multicollinearity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VIF 1~5: Weak (generally acceptable)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VIF 5~10: Moderate (needs caution)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VIF (Variance Inflation Factor)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VIFⱼ = 1 / (1 - Rⱼ²)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VIF &gt; 10: Severe (action required)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Condition Number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Condition number &gt; 30 → Multicollinearity suspected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Inverse matrix calculation unstable when condition number is large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Solution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κ(XᵀX) = λ_max / λ_min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Description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Removing variables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3891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Manual removal of variables with high VIF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4389120"/>
            <a:ext cx="30175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4389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Principal component regression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84632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4846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Regression after dimensionality reduction with PCA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4846320"/>
            <a:ext cx="30175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846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Ridge regression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25780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5257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Improvement of condition number with L2 regularization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5257800"/>
            <a:ext cx="30175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5257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Lasso regression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66928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5669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Automatic removal of variables with L1 regularization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5669280"/>
            <a:ext cx="30175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5669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L2 정규화로 조건수 개선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608076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6080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Lasso 회귀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6080760"/>
            <a:ext cx="30175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6080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L1 정규화로 변수 자동 제거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6C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Ridge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L2 regularization: Hoerl &amp; Kennard (1970)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Ridge regression: Key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Classic example of bias-variance trade-off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Bias-variance trade-off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MSE(β̂) = Var(β̂) + [Bias(β̂)]²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OLS: Bias = 0, Var = can be large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Ridge: Bias &gt; 0 (slightly), Var = greatly reduced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Reduces overall MSE!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Key insight (Hoerl &amp; Kennard, 1970):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Exploiting the ‘loophole’ of Gauss-Markov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It is optimal among unbiased, but...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Allowing for a bit of bias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MSE Could Be Better!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Mathematical Definition of L2 Regularization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Optimization Problem: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min ||y - Xβ||² + λ||β||²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Closed Form Solution: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β̂_ridge = (XᵀX + λI)⁻¹Xᵀy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Induction: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∂/∂β [...] = -2Xᵀy + 2XᵀXβ + 2λβ =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(XᵀX + λI)β = Xᵀy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Key Effects: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Increase diagonal elements by adding λI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Decrease condition number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Ensuring numerical stability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Reduce the coefficient toward 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Ridge: Eigenvalue decomposition &amp; Bayesian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Understanding from two perspectives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Understanding through eigenvalue decomposition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From 0 (strongly reduced)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Selectively reduced in unstable direction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Bayesian interpretation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Prior distribution: β ~ N(0, τ²I)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Likelihood: y| Zoom out more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Ridge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사전분포: β ~ N(0, τ²I)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우도: y|X,β ~ N(Xβ, σ²I)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MAP 추정 = Ridge (λ = σ²/τ²)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Ridge = 계수에 정규분포 사전분포 부여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τ² 작을수록 → λ 커짐 → 더 많이 축소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릿지 트레이스 (Ridge Trace)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x축: λ, y축: 각 회귀 계수 값을 그린 그래프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λ = 0 (OLS)에서 시작 → λ 증가 → 모든 계수가 0으로 수렴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계수가 안정화되는 λ 값을 시각적으로 선택 (교차 검증으로 정밀화)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545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Lasso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L1 regularization: Tibshirani (1996)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Lasso: L1 regularization and variable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Shrinkage + variable selection at the same time!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Mathematical definition of L1 regularization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min (1/2n)||y - Xβ||² + λ||β||₁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||β||₁ = Σ|βⱼ| (L1 Norm) || Regression coefficient shrinkage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Variable selection ← Key!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Make some coefficients exactly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Google Scholar Citations 50,000+ (as of 2024)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Ridge의 L2를 L1으로 교체한 간단한 변경이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근본적으로 다른 성질을 만들어냄: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회귀 계수 축소 (shrinkage)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변수 선택 (variable selection) ← 핵심!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일부 계수를 정확히 0으로 만듦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Google Scholar 인용 50,000+ (2024 기준)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Soft Thresholding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Core mechanism of Lasso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Formula and 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S(z, γ) = sign(z) · max(|z| - γ, 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Three-section operation: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|z| ≤ γ: result =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set small coefficients to exactly 0 (remove variables!)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z &gt; γ: Result = z - γ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Reduce the positive coefficient by γ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z &lt; -γ: Result = z + γ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Reduce negative coefficients by 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Comparison of Ridge vs Lasso reduction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Ridge: Proportional reduction β̂ = dⱼ/(dⱼ+λ) · β̂_OLS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Make it close to 0, but never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Lasso: Shift reduction β̂ = sign(β̂_OLS)·max(|β̂|-λ,0)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Coefficients less than γ are exactly 0!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3434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# Python implementation (1 line!)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def soft_threshold(z, gamma):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return np.sign(z) * np.maximum(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np.abs(z) - gamma, 0.0)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L1 vs L2 Geometric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Why is Lasso capable of variable selection?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L2 Constraint (Ridge) = Circle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Constraint: β₁² + β₂² ≤ 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RSS Tangent point of contour (ellipse) and circle: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Usually not on the coordinate axes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It is difficult for the coefficients to be exactly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Result: All coefficients are non-zero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Variable selection is not possible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L1 Constraint (Lasso) = Diamond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Constraint: |β₁| + |β₂| ≤ 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The vertex of the rhombus is located on the coordinate axis!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The point of contact with the RSS contour line is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High probability of meeting at a vertex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Vertex: One or more coordinates =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Result: Some coefficients are exactly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Variables are automatically selected!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Bayesian interpretation: Ridge vs Lasso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Differences in prior distributions determine variable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Ridge = Normal prior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p(β) = (1/√2πτ²) exp(-β²/2τ²)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Bell-shaped: Smoothly decreasing near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Coefficients shrink near 0, but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Can't make it exactly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Lasso = Laplace prior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p(β) = (λ/2) exp(-λ|β|)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Sharp at the origin + thick tail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High prior probability for small coefficients (sparsity)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Moderate probability for large coefficients (bias limit)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rPr/>
              <a:t>Key point: Because the Laplace distribution is sharper at the origin, the prior belief in making small coefficients 0 is stronger.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Elastic 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L1 + L2 mixed regularization: Zou &amp; Hastie (2005)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Elastic Net: Addressing two limitations of Lasso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Zou &amp; Hastie (2005)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Limitations of Lasso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p &gt; n Problem: If number of variables &gt; number of samples then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Lasso can only select up to n variables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Absence of grouping effect: Among correlated variables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Randomly select one, remove the rest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Elastic Net's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min (1/2n)||y-Xβ||² + λ[α||β||₁ + (1-α)/2 ||β||₂²]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α = 1: pure Lasso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α = 0: pure Ridge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0 &lt; α &lt; 1: Elastic Net (optimal compromise)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12471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Grouping effect theorem (Zou &amp; Hastie, 2005)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|β̂ᵢ - β̂ⱼ| ≤ [1 / λ(1-α)] · √(2(1-r)) · ||y||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The higher the correlation (r→1), the smaller the difference between the two coefficients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Elastic Net is 'correlated variables are together Follows the principle of ‘select or remove all together’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In pure Lasso (α=1), denominator = 0 and this property does not hold.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Ridge vs Lasso vs Elastic Net Comprehensive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/>
              <a:t>Characteristics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Ridge (L2)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Lasso (L1)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8288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Elastic Net (L1+L2)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Penalty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λ||β||₂²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λ||β||₁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22860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λ[α||β||₁+(1-α)||β||₂²/2]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Variable Selection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Support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Max.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27432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O (일부=0)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그룹화 효과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O (동시 축소)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X (하나만 선택)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32004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O (동시 선택)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닫힌 형태 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0" y="36576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1148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p&gt;n 지원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41148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0" y="41148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최대 n개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0" y="41148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5720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베이지안 사전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0" y="45720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정규분포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0" y="45720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라플라스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0" y="45720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정규+라플라스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50292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제약 영역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0" y="50292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원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0" y="50292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마름모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0" y="50292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둥근 마름모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Coordinate Descent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glmnet Algorithm: Friedman, Hastie, Tibshirani (2010)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Coordinate Descent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Optimize only one variable at a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Update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Update jth coordinate: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β̃ⱼ = S(ρⱼ, αλ) / (Xⱼᵀ Xⱼ/n + λ(1-α))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ρⱼ = Xⱼᵀ rⱼ / 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rⱼ = y - Σ_{k≠j}      Calculate partial residuals → apply soft threshold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S(z,γ) = sign(z)·max(|z|-γ,0)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Check convergence (max|β_new - β_old| &lt; tol)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for iteration in range(max_iter):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for j in range(n_features):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 core optimization techniques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Warm Start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λ₁ &gt; λ₂ &gt; ... when solving sequentially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Use previous year as initial value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Solutions of adjacent λ are similar → fast convergence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Active Set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Update only non-zero coefficients first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 Lasso, most coefficients = 0, so it is effective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Calculate λ_max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Minimum λ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such that all coefficients = 0  Start here and reduce λ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λ_max = (1/αn) max_j |Xⱼᵀ(y-ȳ)|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모든 계수=0이 되는 최소 λ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여기서 시작해 λ를 줄여감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6C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SCAD and Oracle properties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Fan &amp; Li (2001): Non-convex penalty and ideal properties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SCAD: Penalty with oracle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Fan &amp; Li (2001)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Fundamental limitations of Lasso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L1 penalty is scaled by the same amount (λ) regardless of coefficient size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동일한 양(λ)만큼 축소: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|→ Small coefficients: Appropriately removed to 0 (OK)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Large coefficients: Unnecessarily excessive reduction (problem!)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Oracle properties (Oracle Properties)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Select consistent variables: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P(selected variable = true variable) → 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Asymptotic normality: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Estimation of non-zero coefficients is the same distribution as OLS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Lasso does not satisfy the oracle property!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Interval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438912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Penalty operation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438912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Effect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4632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|θ| ≤ 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4846320"/>
            <a:ext cx="3200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4846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Same as L1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4846320"/>
            <a:ext cx="5029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4846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Remove small coefficients to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4924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492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λ &lt; |θ| ≤ aλ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5349240"/>
            <a:ext cx="32004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53492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Gradually reduce penalty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5349240"/>
            <a:ext cx="5029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5349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Gradually reduce intermediate coefficients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85216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852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|θ| &gt; aλ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5852160"/>
            <a:ext cx="3200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58521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Penalty differentiation = 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5852160"/>
            <a:ext cx="5029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5852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No additional reduction for large coefficients!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Genealogy of regularization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3 conditions of a good penalty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3 conditions of a good penalty (Fan &amp; Li)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Non-bias: No bias in large coefficients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Sparsity: make small coefficients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Continuity: The estimator must be a continuous function of the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Simultaneous satisfaction of the three conditions → Must be non-convex!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38912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방법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438912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43891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연도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38912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4389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패널티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43891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변수선택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3891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오라클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43891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볼록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4632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Ridge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4846320"/>
            <a:ext cx="10972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48463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1970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84632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4846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484632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846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84632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846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484632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4846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25780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257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Lasso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5257800"/>
            <a:ext cx="10972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52578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1996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525780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0" y="5257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525780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5257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25780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257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525780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5257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66928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SCAD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0" y="5669280"/>
            <a:ext cx="10972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0" y="56692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2001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80" y="566928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83280" y="56692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비볼록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0" y="566928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0" y="56692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566928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56692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0" y="566928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0" y="56692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608076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080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Elastic Net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0" y="6080760"/>
            <a:ext cx="10972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86000" y="60807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2005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83280" y="608076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83280" y="6080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L1+L2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0" y="608076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0" y="6080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608076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0" y="6080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0" y="608076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72400" y="6080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649224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6492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Adaptive Lasso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0" y="6492240"/>
            <a:ext cx="10972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86000" y="64922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2006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383280" y="649224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83280" y="6492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가중 L1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0" y="649224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0" y="6492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0" y="649224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0" y="6492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72400" y="6492240"/>
            <a:ext cx="13716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72400" y="6492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690372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7200" y="6903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MCP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286000" y="6903720"/>
            <a:ext cx="10972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286000" y="6903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2010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383280" y="690372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383280" y="69037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비볼록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0" y="690372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29200" y="6903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00800" y="690372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00800" y="6903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72400" y="6903720"/>
            <a:ext cx="13716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772400" y="6903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Regression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Residual Analysis, Q-Q Plot, Cook's Distance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Residual Analysis ||| Predicted values ​​vs. residuals: There should be no pattern (homoscedasticity)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2. Normality of residuals: confirmed with Q-Q plot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3. Autocorrelation: Independence of residuals in time series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공식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용도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일반 잔차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28600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286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eᵢ = yᵢ - ŷᵢ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28600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286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기본 분석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표준화 잔차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78892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2788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rᵢ = eᵢ / (σ̂√(1-hᵢᵢ))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78892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788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이상치 탐지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스튜던트화 잔차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29184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3291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tᵢ = eᵢ / (σ̂₍ᵢ₎√(1-hᵢᵢ))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29184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3291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정밀 이상치 탐지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6576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749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잔차 플롯 확인 사항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148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예측값 vs 잔차: 패턴이 없어야 함 (등분산성)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잔차의 정규성: Q-Q plot으로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자기상관: 시계열 데이터에서 잔차 독립성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3657600"/>
            <a:ext cx="557784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749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Q-Q Plot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11480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x축: 이론적 정규분포의 분위수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y축: 잔차의 분위수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점들이 45도 직선 위 → 정규분포 따름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직선 벗어남 → 분포 왜곡 판단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Cook's Distance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Influential observation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Cook's Distance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Dᵢ = (rᵢ² / p) · (hᵢᵢ / (1-hᵢᵢ)²)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rᵢ: Standardized residual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hᵢᵢ: Leverage (hat matrix diagonal elements)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p: Number of parameters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Judgment: Dᵢ &gt; 1 → Influential observation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Conservative: Dᵢ &gt; 4/n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rPr/>
              <a:t>Diagnostic items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rPr/>
              <a:t>Check 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rPr/>
              <a:t>In case of violation Measures |||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rPr/>
              <a:t>Multicollinearity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2860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VIF, condition number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22860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variable removal, Ridge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7432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rPr/>
              <a:t>outliers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27432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removal or robust regression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27432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WLS, 변수 변환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2004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rPr/>
              <a:t>정규성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32004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Q-Q plot, Shapiro-Wilk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0" y="32004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변수 변환, 로버스트 회귀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6576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rPr/>
              <a:t>독립성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6576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Durbin-Watson 검정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36576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0" y="3657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GLS, 시계열 모델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1148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rPr/>
              <a:t>다중공선성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41148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VIF, 조건수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75520" y="411480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2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변수 제거, Ridge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5720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rPr/>
              <a:t>이상치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20" y="45720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Cook's distance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75520" y="457200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7552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rPr/>
              <a:t>제거 또는 로버스트 회귀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Hands-on: Implementing Ridge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Hand-coded closed-form solutions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Direct implementation of Ridge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01_ridge_regression.py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94360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class RidgeRegressionFromScratch: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"""Closed form solution: w = (X'X + λI)⁻¹X'y"""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__init__(self, alpha=1.0):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self.alpha = alpha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def fit(self, X, y):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n, p = X.shape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self.X_mean_ = np.mean(X, axis=0)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self.y_mean_ = np.mean(y)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Xc = X - self.X_mean_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yc = y - self.y_mean_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Key point: (X'X + αI)β = X'y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XtX = Xc.T @ Xc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reg = XtX + self.alpha * np.eye(p)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Xty = Xc.T @ yc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self.coef_ = np.linalg.solve(reg, Xty)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self.intercept_ = 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self.y_mean_ - self.X_mean_ @ self.coef_)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return self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011680"/>
            <a:ext cx="48463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Implementation key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6888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data centering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Xc = X - mean(X)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yc = y - mean(y)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Separate processing of sections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Use np.linalg.solve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Solving a linear system instead of inverting a matrix (inv)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Numerically more stable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Check results match with sklearn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Coefficient maximum difference: ~10⁻¹² level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Check multicollinearity effect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Condition number: Significantly reduced by Ridge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κ(XᵀX+λI) &lt;&lt; κ(XᵀX)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Normalization Path (Ridge Trace) &amp; Cross-Validation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Select Optimal 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Visualize Normalization Path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alphas = np.logspace(-2, 4, 200)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coefs_path = []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for alpha in alphas: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ridge = RidgeFromScratch(alpha=alpha)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ridge.fit(X_scaled, y)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coefs_path.append(ridge.coef_.copy())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Optimal λ with Cross-Validation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ridge_cv = RidgeCV(alphas=alphas, cv=5,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scoring='neg_mean_squared_error')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ridge_cv.fit(X_scaled, y)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print(f'Optimal λ: {ridge_cv.alpha_:.4f}')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011680"/>
            <a:ext cx="57607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Ridge Trace 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Estimate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Unstability due to multicollinearity (large oscillation)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λ increases: all coefficients converge to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Increased bias, decreased variance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Optimal λ: Point where CV MSE is minimum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Optimal point of bias-variance tradeoff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OLS vs Ridge comparison: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L2 norm of OLS coefficients &gt;&gt; Ridge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Ridge significantly reduces condition number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Ridge로 조건수 크게 감소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545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Hands-on: Implementing Lasso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Coding coordinate descent yourself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Direct implementation of Lasso coordinate descent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02_lasso_regression.py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94360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class LassoFromScratch: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def fit(self, X, y):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n, p = X.shape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Xc = X - np.mean(X, axis=0)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yc = y - np.mean(y)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col_norms = np.sum(Xc**2, axis=0)/n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w = np.zeros(p)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residual = yc.copy()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for _ in range(self.max_iter):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w_old = w.copy()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for j in range(p):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# Restore the jth contribution to the partial residuals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residual += Xc[:,j] * w[j]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# Dot product of X_j and partial residuals/n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rho = Xc[:,j] @ residual / n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# Apply soft threshold!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w[j] = soft_threshold(rho,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    self.alpha) / col_norms[j]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rPr/>
              <a:t># Residual update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residual -= Xc[:,j] * w[j]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if np.max(np.abs(w-w_old))&lt;self.tol:</a:t>
            </a:r>
          </a:p>
          <a:p>
            <a:pPr>
              <a:spcAft>
                <a:spcPts val="2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              break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011680"/>
            <a:ext cx="48463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Key understanding of coordinate descent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6888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partial residual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rⱼ = y - Σ_{k≠j} Xₖwₖ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‘Residual after subtracting the contributions of other variables’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Efficient residual update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residual += Xⱼ·w_old[j] (restore)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residual -= Xⱼ·w_new[j] (update)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Only the difference is reflected instead of the entire calculation each time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Confirm variable selection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Number of coefficients that are 0 → Compare with actual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Direct implementation vs sklearn result matching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Normalization Path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Decrease λ → Increase number of selection variables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Solid red line: actual non-zero coefficients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Hands-On: Elastic Net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L1+L2 Mixed Normalization + Grouping Effect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Elastic Net Coordinate Descent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03_elastic_net.py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9436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577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Elastic Net Update Rules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Difference from Lasso: Add L2 term in denominator!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l1_penalty = alpha * l1_ratio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l2_penalty = alpha * (1 - l1_ratio)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for j in range(p):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residual += Xc[:,j] * w[j]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rho = Xc[:,j] @ residual / n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Key: Add l2_penalty to denominator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denom = col_norms[j] + l2_penalty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w[j] = soft_threshold(rho, l1_penalty) / denom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residual -= Xc[:,j] * w[j]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011680"/>
            <a:ext cx="48463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Grouping effect experiment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6888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Correlated feature group data: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Group 1 (x0,x1,x2): High correlation, β=2.0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Group 2 (x3,x4): High correlation, β=-1.5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Noise (x5~x14): β=0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Ridge: All coefficients non-zero, similar within groups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Lasso: Variable selection O, only one of the groups!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Elastic Net: Variable selection + simultaneous selection of groups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Coefficient variance within groups: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Ridge &lt; Elastic Net &lt;&lt; Lasso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EN has the best grouping effect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SECTION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Application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Real estate price prediction &amp; advertising cost-sales analysis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Application 1: California Housing Price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sklearn Built-in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RMSE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R²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Non-zero coefficients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~0.73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~0.58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28600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88920"/>
            <a:ext cx="27432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88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Ridge (α=1)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~0.73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~0.58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2788920"/>
            <a:ext cx="22860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91840"/>
            <a:ext cx="27432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291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Lasso (α=0.01)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~0.74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~0.57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3291840"/>
            <a:ext cx="22860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6~7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8404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Interpretation of main coefficients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297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MedInc (median income): strong positive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HouseAge (house age): positive (+) - inner city effect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AveRooms (average number of rooms): positive (+) - spacious house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Latitude: negative (-) - north Price drop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Longitude (-) - high towards the coast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3840480"/>
            <a:ext cx="557784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931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Limitations &amp; Lessons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29768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R² ≈ 0.58: Only 58% explained by linear models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Difficult to capture non-linear geographic patterns in latitude/longitude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→ Improvements with non-linear models such as RF,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교훈: 선형회귀는 해석 가능한 baseline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성능 vs 해석가능성 트레이드오프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Application 2: Advertising cost-sales regression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Marketing analysis 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Data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TV advertising cost: 10~300 (main effect)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Radio advertising cost: 0~50 (main effect)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Newspaper advertising cost: 0~100 (weak effect)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Sales = 0.05·TV + 0.1·Radio + 0.005·News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+ 0.001 · TV · Radio + 5 + Noise ||  Reallocation of newspaper budget → TV/radio is reasonable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57784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Key point: The interpretability of linear regression is directly used in marketing decision-making. Each coefficient means ‘change in sales when advertising cost increases by 1 unit’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TV 광고: 선택 (가장 큰 양의 효과)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라디오: 선택 (단위당 효율 가장 높음)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신문: 거의 0으로 축소 → 실질적 제거!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마케팅 시사점: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신문 예산 → TV/라디오로 재배분이 합리적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핵심: 선형회귀의 해석 가능성이 마케팅 의사결정에 직접 활용됨. 각 계수가 '광고비 1단위 증가 시 매출 변화'를 의미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377440"/>
            <a:ext cx="21332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rPr/>
              <a:t>Key Summary + Review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Summary of Chapter 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Theory summary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Key formulas and properties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Concept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Key formulas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Key properties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28600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2286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β̂ = (XᵀX)⁻¹Xᵀy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8600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BLUE, unbiased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88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Ridge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78892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2788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β̂ = (XᵀX+λI)⁻¹Xᵀy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78892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788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L2, reduction, closed solution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91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Lasso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329184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3291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min ||y-Xβ||²/2n + λ||β||₁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29184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291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L1, variable selection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9476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794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Elastic Net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379476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0" y="37947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L1+L2 mixing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79476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7947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Grouping effect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29768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2976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SCAD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429768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42976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Non-convex penalty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29768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2976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Oracle properties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Key Paper Chronology &amp; Method Selection Guide ||| → Ridge or Elastic 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Need to select variable? → Lasso or Elastic 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Group of correlated variables? → Elastic Net (grouping effect)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66751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Few variables and no multicollinearity? → 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1970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2860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Hoerl &amp; Kennard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286000"/>
            <a:ext cx="66751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2860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Ridge, 편향-분산 트레이드오프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1996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27432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Tibshirani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743200"/>
            <a:ext cx="66751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27432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Lasso, L1 변수 선택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004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200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2001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32004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Fan &amp; Li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200400"/>
            <a:ext cx="66751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32004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SCAD, 오라클 성질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5760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57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2005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36576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5448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Zou &amp; Hastie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3657600"/>
            <a:ext cx="66751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3657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Elastic Net, 그룹화 효과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114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2010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41148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5448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Friedman et al.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4114800"/>
            <a:ext cx="66751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41148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glmnet, 좌표 하강법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57200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6634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방법 선택 가이드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다중공선성 심함? → Ridge 또는 Elastic Net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변수 선택 필요? → Lasso 또는 Elastic Net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상관된 변수 그룹? → Elastic Net (그룹화 효과)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 &gt; n? → Elastic Net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변수 수 적고 다중공선성 없음? → OLS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Review questions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Formula derivation +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Q1. Derive the normal equation by matrix differentiating RSS with respect to β.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Q2. Limitations of Gauss-Markov Theorem: Why can Ridge be better than OLS?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Q3. Derive the closed form solution of the Ridge. Why does λI improve the condition number?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Q4. Geometrically explain the difference in variable selection in the L1 (rhombus) vs. L2 (circle) constraint domain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Q5. Three-interval operation of the soft threshold operator S(z,γ) and its role in coordinate descent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Review questions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Advanced +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Q6. Explain the grouping effect theorem of Elastic Net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Q7. Efficiency of coordinate descent: warm start and active set strategy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Q8. Two conditions of SCAD's oracle nature and its advantages over Lasso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Q9. Bayesian interpretation of Ridge (normal distribution) and Lasso (Laplace)</a:t>
            </a:r>
          </a:p>
          <a:p>
            <a:pPr>
              <a:spcAft>
                <a:spcPts val="1400"/>
              </a:spcAft>
              <a:defRPr sz="1700">
                <a:solidFill>
                  <a:srgbClr val="BBBBCC"/>
                </a:solidFill>
                <a:latin typeface="맑은 고딕"/>
              </a:defRPr>
            </a:pPr>
            <a:r>
              <a:rPr/>
              <a:t>Q10. Residual analysis: (a) funnel pattern (b) Q-Q tail deviation (c) Cook's D &gt; 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2286000"/>
            <a:ext cx="48764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맑은 고딕"/>
              </a:defRPr>
            </a:pPr>
            <a:r>
              <a:rPr/>
              <a:t>Chapter 4: Linear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Next Chapter: Logistic Regression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