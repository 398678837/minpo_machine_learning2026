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2장: 머신러닝을 위한 파이썬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Python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 키워드: Python 역사 · 동적 타이핑 · 자료구조 · 함수/클래스 · 벡터화 · GIL · 개발환경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(Contents)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왜 Python인가 - ML 표준 언어의 역사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Python vs R / Julia / MATLAB 비교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7432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43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기초 문법 - 변수, 자료형, 조건문, 반복문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2004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004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자료구조 심화 - list / tuple / dict /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576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576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함수와 클래스 - sklearn 패턴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1148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148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14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성능 최적화 - 프로파일링과 벡터화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5720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GIL과 메모리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0292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029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개발환경 - conda / venv / Jupyter / 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4864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864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4864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논문 리뷰 (5편) &amp; 실습 소개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9436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9436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943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핵심 요약 &amp;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왜 Python인가?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ML 표준 언어가 된 역사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40"/>
            <a:ext cx="10972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Python 0.9</a:t>
            </a:r>
            <a:br/>
            <a:r>
              <a:t>공개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van Rossum</a:t>
            </a:r>
            <a:br/>
            <a:r>
              <a:t>배터리 포함 철학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SciPy</a:t>
            </a:r>
            <a:br/>
            <a:r>
              <a:t>프로젝트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과학 컴퓨팅</a:t>
            </a:r>
            <a:br/>
            <a:r>
              <a:t>생태계의 씨앗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NumPy 1.0</a:t>
            </a:r>
            <a:br/>
            <a:r>
              <a:t>(Oliphant)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고성능 ndarray</a:t>
            </a:r>
            <a:br/>
            <a:r>
              <a:t>ML 핵심 인프라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scikit-learn</a:t>
            </a:r>
            <a:br/>
            <a:r>
              <a:t>0.1 공개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fit/predict/</a:t>
            </a:r>
            <a:br/>
            <a:r>
              <a:t>transform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Jupyter</a:t>
            </a:r>
            <a:br/>
            <a:r>
              <a:t>Notebook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언어 독립적</a:t>
            </a:r>
            <a:br/>
            <a:r>
              <a:t>리터릿 컴퓨팅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TensorFlow</a:t>
            </a:r>
            <a:br/>
            <a:r>
              <a:t>(Google)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딥러닝 프레임워크</a:t>
            </a:r>
            <a:br/>
            <a:r>
              <a:t>시대 개막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PyTorch</a:t>
            </a:r>
            <a:br/>
            <a:r>
              <a:t>(Facebook)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동적 계산 그래프</a:t>
            </a:r>
            <a:br/>
            <a:r>
              <a:t>연구 친화적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52760" y="315468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Raschka</a:t>
            </a:r>
            <a:br/>
            <a:r>
              <a:t>et al. 서베이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6576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파이썬 ML 생태계</a:t>
            </a:r>
            <a:br/>
            <a:r>
              <a:t>전체 조망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8463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접착 언어 (Glue Language)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03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C/Fortran 고성능 라이브러리</a:t>
            </a:r>
            <a:br/>
            <a:r>
              <a:t>(BLAS, LAPACK, cuDNN)를</a:t>
            </a:r>
            <a:br/>
            <a:r>
              <a:t>파이썬 인터페이스로 감싸서 사용</a:t>
            </a:r>
            <a:br/>
            <a:r>
              <a:t>→ 생산성 + 성능 동시 확보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48463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풍부한 생태계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303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NumPy, Pandas, scikit-learn,</a:t>
            </a:r>
            <a:br/>
            <a:r>
              <a:t>TensorFlow, PyTorch, matplotlib</a:t>
            </a:r>
            <a:br/>
            <a:r>
              <a:t>→ ML 파이프라인의 모든 단계를</a:t>
            </a:r>
            <a:br/>
            <a:r>
              <a:t>하나의 언어로 커버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8463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낮은 진입 장벽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303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동적 타이핑, 간결한 문법,</a:t>
            </a:r>
            <a:br/>
            <a:r>
              <a:t>들여쓰기 기반 블록 구조</a:t>
            </a:r>
            <a:br/>
            <a:r>
              <a:t>→ 비전공자도 빠르게 학습</a:t>
            </a:r>
            <a:br/>
            <a:r>
              <a:t>→ ML 교육의 표준 언어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Python vs R / Julia /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언어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48840" cy="54864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103120"/>
            <a:ext cx="2148840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103120"/>
            <a:ext cx="214884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103120"/>
            <a:ext cx="2148840" cy="54864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1031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Julia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103120"/>
            <a:ext cx="214884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1031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MATLAB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주력 분야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74320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743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FF"/>
                </a:solidFill>
                <a:latin typeface="맑은 고딕"/>
              </a:defRPr>
            </a:pPr>
            <a:r>
              <a:t>범용 + ML/DL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74320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743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통계 분석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74320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743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고성능 수치 계산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74320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743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공학 시뮬레이션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9184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성능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29184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3291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FF"/>
                </a:solidFill>
                <a:latin typeface="맑은 고딕"/>
              </a:defRPr>
            </a:pPr>
            <a:r>
              <a:t>중간 (NumPy 보완)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329184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291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느림 (Rcpp 보완)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29184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빠름 (C 수준)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329184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3291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84048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8404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DL 프레임워크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84048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8404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FF"/>
                </a:solidFill>
                <a:latin typeface="맑은 고딕"/>
              </a:defRPr>
            </a:pPr>
            <a:r>
              <a:t>TF, PyTorch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84048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38404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84048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38404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Flux.jl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384048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38404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38912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커뮤니티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FF"/>
                </a:solidFill>
                <a:latin typeface="맑은 고딕"/>
              </a:defRPr>
            </a:pPr>
            <a:r>
              <a:t>매우 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438912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통계 중심 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438912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성장 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438912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학교/기업 중심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3776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9377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라이선스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493776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49377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FF"/>
                </a:solidFill>
                <a:latin typeface="맑은 고딕"/>
              </a:defRPr>
            </a:pPr>
            <a:r>
              <a:t>오픈소스 (무료)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493776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49377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오픈소스 (무료)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493776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0" y="49377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오픈소스 (무료)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4937760"/>
            <a:ext cx="214884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49377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상용 (유료)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48640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4864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산업 채택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548640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0" y="54864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FF"/>
                </a:solidFill>
                <a:latin typeface="맑은 고딕"/>
              </a:defRPr>
            </a:pPr>
            <a:r>
              <a:t>매우 높음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0" y="548640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0" y="54864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548640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0" y="54864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01200" y="5486400"/>
            <a:ext cx="214884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01200" y="54864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6126480"/>
            <a:ext cx="1124712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핵심: ML 전체 파이프라인(데이터 수집 - 전처리 - 모델링 - 배포)을 하나의 언어로 커버하는 생태계의 폭에서 파이썬을 능가하는 언어는 현재 없다.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변수와 동적 타이핑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Basic Syntax - Variables &amp; Dynamic 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동적 타이핑 (Dynamic Typing)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변수 선언 시 자료형을 명시하지 않음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대입되는 값에 따라 자료형 자동 결정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같은 변수에 다른 타입 재할당 가능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x = 42 (int) → x = "문자열" (str)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type(x) 함수로 타입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기본 자료형 (Data Types)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클래스 레이블, 인덱스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53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float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953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3.14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53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특성값, 가중치, 손실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009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str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009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"hello"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009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범주형 특성, 텍스트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484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bool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6484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True/False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마스크, 조건 필터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ML 변수 이름 관례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63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 = 특성 행렬 (대문자)  |  y = 타겟 벡터 (소문자)  |  X_train, X_test = 분할 데이터  |  n_samples, n_features = 차원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float 정밀도 주의!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715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0.1 + 0.2 == 0.3 → False (IEEE 754)  |  math.isclose()로 비교  |  경사하강법 학습률 소실, log(p) 발산 → np.clip(p, 1e-15,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조건문, 반복문, 리스트 컴프리헨션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Control Flow &amp; List 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조건문 (if-elif-else)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if score &gt;= 90: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grade = 'A'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elif score &gt;= 80: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grade = 'B'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grade = 'C'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반복문 (for / while)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for i in range(5): ...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while a &gt; 0: a -= 1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enumerate: 인덱스+값 동시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for idx, val in enumerate(lst):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print(f"{idx}: {val}")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리스트 컴프리헨션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[x**2 for x in range(1,6)]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→ [1, 4, 9, 16, 25]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[x for x in data if x%2==0]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→ 조건 필터링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[1 if x&gt;0 else 0 for x in data]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f-string 포매팅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f"{name}의 정확도: {accuracy:.2%}"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→ 홍길동의 정확도: 95.43%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ML 출력 패턴: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f"Epoch {epoch:3d} | Loss: {loss:.4f} | Acc: {acc:.4f}"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비교 &amp; 논리 연산자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비교: ==, !=, &gt;, &lt;, &gt;=, &lt;=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논리: and, or, not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산술: +, -, *, /, //(몫), %(나머지), **(거듭제곱)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주의: / 연산은 항상 float 반환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자료구조 심화: 4가지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list / tuple / dict /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자료구조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19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19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기호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8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8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변경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7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7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순서 보장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6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6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중복 허용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795" y="2011680"/>
            <a:ext cx="17830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795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해시 기반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리스트 (list)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19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19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[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38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38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7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57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6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6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795" y="25603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795" y="2560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튜플 (tuple)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19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19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( 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8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38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 (immutable)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57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57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6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6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795" y="30175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795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딕셔너리 (dict)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19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31719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38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38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57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57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(3.7+)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6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6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키 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795" y="3474720"/>
            <a:ext cx="17830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9795" y="3474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세트 (set)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19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19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38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38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57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57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76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76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29795" y="3931920"/>
            <a:ext cx="17830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9795" y="3931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시간 복잡도 (Big-O) 비교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937760"/>
            <a:ext cx="2148840" cy="4114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937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연산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4937760"/>
            <a:ext cx="21488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0" y="4937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0" y="4937760"/>
            <a:ext cx="2148840" cy="411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0" y="4937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tuple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4937760"/>
            <a:ext cx="214884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0" y="4937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dict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0" y="4937760"/>
            <a:ext cx="214884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0" y="4937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39496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인덱스 접근 [i]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0" y="539496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0" y="539496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0" y="539496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01200" y="539496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0120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76072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760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탐색 (in)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576072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0" y="5760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0" y="576072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0" y="5760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15200" y="576072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0" y="5760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01200" y="576072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0" y="57607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612648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61264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끝 삽입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0" y="612648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0" y="61264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O(1)*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29200" y="612648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0" y="61264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15200" y="612648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315200" y="61264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6126480"/>
            <a:ext cx="214884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01200" y="61264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649224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7200" y="64922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앞 삽입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0" y="649224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0" y="64922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0" y="649224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29200" y="64922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0" y="649224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15200" y="64922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01200" y="6492240"/>
            <a:ext cx="214884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01200" y="64922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자료구조: ML에서의 활용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어떤 상황에 어떤 자료구조?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517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특성값 저장 (순서 중요)</a:t>
            </a:r>
            <a:br/>
            <a:r>
              <a:t>인덱스 접근 O(1)</a:t>
            </a:r>
            <a:br/>
            <a:r>
              <a:t>append()로 데이터 수집</a:t>
            </a:r>
            <a:br/>
            <a:r>
              <a:t>슬라이싱으로 데이터 분할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54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846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onsolas"/>
              </a:defRPr>
            </a:pPr>
            <a:r>
              <a:t>data = [1, 2, 3, 4, 5]</a:t>
            </a:r>
            <a:br/>
            <a:r>
              <a:t>data[2:5]  # [3, 4, 5]</a:t>
            </a:r>
            <a:br/>
            <a:r>
              <a:t>data.append(6)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tuple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517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하이퍼파라미터 조합 (불변)</a:t>
            </a:r>
            <a:br/>
            <a:r>
              <a:t>모델 설정, shape 정보</a:t>
            </a:r>
            <a:br/>
            <a:r>
              <a:t>딕셔너리 키로 사용 가능</a:t>
            </a:r>
            <a:br/>
            <a:r>
              <a:t>실수로 변경 방지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4754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846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onsolas"/>
              </a:defRPr>
            </a:pPr>
            <a:r>
              <a:t>config = ('relu', 0.001, 32)</a:t>
            </a:r>
            <a:br/>
            <a:r>
              <a:t>activation, lr, batch =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517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하이퍼파라미터 관리</a:t>
            </a:r>
            <a:br/>
            <a:r>
              <a:t>범주 레이블 매핑</a:t>
            </a:r>
            <a:br/>
            <a:r>
              <a:t>이름으로 접근, 유연한 구조</a:t>
            </a:r>
            <a:br/>
            <a:r>
              <a:t>**kwargs 언패킹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54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846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onsolas"/>
              </a:defRPr>
            </a:pPr>
            <a:r>
              <a:t>params = {'lr': 0.01,</a:t>
            </a:r>
            <a:br/>
            <a:r>
              <a:t>  'epochs': 100}</a:t>
            </a:r>
            <a:br/>
            <a:r>
              <a:t>model = XGB(**params)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517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고유 카테고리 추출</a:t>
            </a:r>
            <a:br/>
            <a:r>
              <a:t>중복 자동 제거</a:t>
            </a:r>
            <a:br/>
            <a:r>
              <a:t>빠른 멤버십 검사 O(1)</a:t>
            </a:r>
            <a:br/>
            <a:r>
              <a:t>특성 비교 (집합 연산)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754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846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onsolas"/>
              </a:defRPr>
            </a:pPr>
            <a:r>
              <a:t>train_feat - test_feat</a:t>
            </a:r>
            <a:br/>
            <a:r>
              <a:t>→ 누락된 특성 감지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함수: def, *args, **kwargs, lambda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Functions &amp; Lambda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기본 함수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train(data, epochs=10, lr=0.01):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print(f"학습: {epochs} 에폭")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기본값 매개변수로 유연한 호출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여러 값 반환: return total, avg, min_v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튜플로 반환, 언패킹으로 받기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*args와 **kwargs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*args: 가변 위치 인자 (튜플로 수집)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def add_all(*args): return sum(args)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**kwargs: 가변 키워드 인자 (딕셔너리)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def create_model(**kwargs):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for k, v in kwargs.items():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lambda 함수 - 익명 함수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lambda 기본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square = lambda x: x **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sorted + 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49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sorted(features, key=lambda x: x[1], reverse=True)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filter + lambda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list(filter(lambda x: x &gt; 0, data))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map + lambda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172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list(map(lambda x: x ** 2, data))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sklearn Estimator API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fit / predict /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scikit-learn의 일관된 인터페이스: 모든 모델/전처리기가 동일한 메서드 패턴을 따른다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"There should be one obvious way to do it." — The Zen of Python → sklearn API 설계 철학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4747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34747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fit(X)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 데이터에서</a:t>
            </a:r>
            <a:br/>
            <a:r>
              <a:t>파라미터 학습</a:t>
            </a:r>
            <a:br/>
            <a:r>
              <a:t>(평균, 분산, 가중치)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학습 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4747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34747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predict(X)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14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학습된 모델로</a:t>
            </a:r>
            <a:br/>
            <a:r>
              <a:t>예측 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추론 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747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transform(X)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학습된 파라미터로</a:t>
            </a:r>
            <a:br/>
            <a:r>
              <a:t>데이터 변환</a:t>
            </a:r>
            <a:br/>
            <a:r>
              <a:t>(전처리기)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학습/추론 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4747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34747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fit_transform(X)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114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fit + transform을</a:t>
            </a:r>
            <a:br/>
            <a:r>
              <a:t>한 번에 수행</a:t>
            </a:r>
            <a:br/>
            <a:r>
              <a:t>(편의 메서드)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t>학습 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03504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80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중요 원칙: fit()은 반드시 학습 데이터에서만 호출! 테스트 데이터에 fit()을 호출하면 데이터 누출(data leakage)이 발생하여 모델 평가 왜곡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클래스 상속과 다형성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BaseModel 패턴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추상 기반 클래스: BaseModel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class BaseModel: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def predict(self, X):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def score(self, X, y):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predictions = self.predict(X)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correct = sum(p==t for p,t in zip(...))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return correct / len(y)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구체적 구현: MajorityClassifier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class MajorityClassifier(BaseModel):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self.majority_ = Counter(y)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    .most_common(1)[0][0]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return self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def predict(self, X):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  return [self.majority_] * len(X)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→ 다형성: 동일 인터페이스로 다른 모델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029200"/>
            <a:ext cx="356616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상속 (Inheritance)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BaseModel → MajorityClassifier</a:t>
            </a:r>
            <a:br/>
            <a:r>
              <a:t>부모 클래스의 메서드/속성 물려받기</a:t>
            </a:r>
            <a:br/>
            <a:r>
              <a:t>공통 인터페이스 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5029200"/>
            <a:ext cx="356616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다형성 (Polymorphism)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486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동일한 predict() 호출, 다른 동작</a:t>
            </a:r>
            <a:br/>
            <a:r>
              <a:t>for model in models:</a:t>
            </a:r>
            <a:br/>
            <a:r>
              <a:t>    model.fit(X, y).predict(X_test)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5029200"/>
            <a:ext cx="356616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캡슐화 (Encapsulation)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486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학습된 파라미터: self.majority_</a:t>
            </a:r>
            <a:br/>
            <a:r>
              <a:t>밑줄 접미사(_)는 학습 후 생성</a:t>
            </a:r>
            <a:br/>
            <a:r>
              <a:t>sklearn 컨벤션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성능 최적화: 프로파일링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"측정하지 않으면 최적화하지 마라"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1. time.perf_counter()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6FF"/>
                </a:solidFill>
                <a:latin typeface="맑은 고딕"/>
              </a:defRPr>
            </a:pPr>
            <a:r>
              <a:t>간단한 구간 측정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start = time.perf_counter()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result = sum(x**2 for x in range(10**6))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elapsed = time.perf_counter() - start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print(f"실행 시간: {elapsed:.4f}초")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2. cProfile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함수별 상세 프로파일링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import cProfile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def my_function():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  data = [x**2 for x in range(100000)]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  return sorted(data, reverse=True)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cProfile.run('my_function()')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3. Jupyter %timeit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맑은 고딕"/>
              </a:defRPr>
            </a:pPr>
            <a:r>
              <a:t>자동 반복 실행 후 평균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17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%timeit sum(range(1000))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→ 자동으로 여러 번 실행 후 평균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%%timeit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→ 셀 전체 시간 측정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벡터화의 위력: Python Loop vs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Vectorization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n = 1,000,000 데이터에서 제곱 연산 (x²) 성능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for 루프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624328"/>
            <a:ext cx="8229600" cy="1371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0" y="2606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545"/>
                </a:solidFill>
                <a:latin typeface="맑은 고딕"/>
              </a:defRPr>
            </a:pPr>
            <a:r>
              <a:t>~150ms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리스트 컴프리헨션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07208"/>
            <a:ext cx="5486400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7889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맑은 고딕"/>
              </a:defRPr>
            </a:pPr>
            <a:r>
              <a:t>~100ms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map() + lambda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990088"/>
            <a:ext cx="6035040" cy="13716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6CFF"/>
                </a:solidFill>
                <a:latin typeface="맑은 고딕"/>
              </a:defRPr>
            </a:pPr>
            <a:r>
              <a:t>~110ms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NumPy 벡터화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172968"/>
            <a:ext cx="137160" cy="1371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1546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~2ms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벡터화가 빠른 3가지 이유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2336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114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C 수준 내부 루프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파이썬 인터프리터의 오버헤드를</a:t>
            </a:r>
            <a:br/>
            <a:r>
              <a:t>완전히 제거. CPython의 바이트코드</a:t>
            </a:r>
            <a:br/>
            <a:r>
              <a:t>해석 과정을 건너뜀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02336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114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연속 메모리 접근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ndarray는 연속 메모리 블록에 저장.</a:t>
            </a:r>
            <a:br/>
            <a:r>
              <a:t>CPU 캐시 효율 극대화.</a:t>
            </a:r>
            <a:br/>
            <a:r>
              <a:t>리스트처럼 포인터 추적 불필요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02336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83880" y="4114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SIMD 명령어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하드웨어 수준 병렬 처리.</a:t>
            </a:r>
            <a:br/>
            <a:r>
              <a:t>하나의 CPU 명령어로 여러 데이터</a:t>
            </a:r>
            <a:br/>
            <a:r>
              <a:t>동시 처리 (Single Instruction, Multiple Data)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GIL과 메모리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Global Interpreter Lock &amp;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GIL (Global Interpreter Lock)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CPython의 전역 잠금 메커니즘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번에 하나의 스레드만 바이트코드 실행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CPU 바운드: 멀티스레딩 성능 향상 불가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I/O 바운드: 멀티스레딩 효과 있음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(GIL이 I/O 대기 중 해제)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ML에서의 GIL 대처 방안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멀티프로세싱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multiprocessing, joblib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CPU 병렬 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53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NumPy 내부 병렬화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BLAS/MKL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행렬 연산 자동 병렬화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00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외부 라이브러리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00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TF, PyTorch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GPU 연산 (GIL 무관)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48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n_jobs 파라미터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6484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sklearn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6484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RandomForest(n_jobs=-1)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메모리 사용량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list(range(10000)):   ~87 KB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tuple(range(10000)):  ~80 KB (더 작음)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dict (10000 항목):    ~300+ KB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generator:            ~200 bytes (!)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제너레이터: 메모리 절약 비법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292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gen = (x**2 for x in range(10**6))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리스트 대비 수만 배 메모리 절약!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 활용: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배치 데이터 로딩, np.memmap,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pandas.read_csv(chunksize=...)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개발환경: 가상환경 &amp; 편집기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conda / venv / Jupyter /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가상환경: conda vs venv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737360" cy="4114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기준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194560"/>
            <a:ext cx="173736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venv + pip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94560"/>
            <a:ext cx="173736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conda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패키지 소스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65176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651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PyPI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65176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651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Anaconda + PyPI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1752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바이너리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01752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30175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01752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0175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우수 (C/Fortran 자동 해결)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8328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383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GPU 설정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38328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3383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수동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38328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383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conda install pytorch 간편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4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49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환경 크기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374904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3749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작음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74904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3749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상대적으로 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14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추천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411480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4114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가벼운 프로젝트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11480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4114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ML/DL 프로젝트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Jupyter Notebook vs IDE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194560"/>
            <a:ext cx="1737360" cy="4114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기준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2194560"/>
            <a:ext cx="173736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Jupyter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2194560"/>
            <a:ext cx="1737360" cy="41148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2194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IDE (VS Code)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65176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2651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강점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265176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2651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탐색적 분석, 시각화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20" y="265176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0" y="2651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디버깅, 리팩토링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01752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30175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적합한 작업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301752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0" y="30175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EDA, 프로토타이핑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301752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0" y="30175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프로덕션, 패키지 개발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38328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3383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매직 명령어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338328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0" y="3383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%timeit, %matplotlib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75520" y="3383280"/>
            <a:ext cx="173736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75520" y="3383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374904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3749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버전 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374904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0" y="3749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.ipynb (diff 불편)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5520" y="3749040"/>
            <a:ext cx="173736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75520" y="3749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.py (Git 친화적)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8640" y="475488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실무 워크플로우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Jupyter에서 프로토타이핑  →  .py 모듈로 리팩토링  →  IDE에서 테스트/배포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566928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print 디버깅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6035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f"[DEBUG] type: {type(data)}"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91840" y="566928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290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assert 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29000" y="6035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assert len(X) == len(y)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566928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5508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pdb 디버거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5080" y="6035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import pdb; pdb.set_trace()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144000" y="566928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811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try-except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81160" y="6035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예외 처리로 안전한 실행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리뷰 (5편)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Paper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0574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Van Rossum</a:t>
            </a:r>
            <a:br/>
            <a:r>
              <a:t>(2007)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Python Programming</a:t>
            </a:r>
            <a:br/>
            <a:r>
              <a:t>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1148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파이썬 설계 철학</a:t>
            </a:r>
            <a:br/>
            <a:r>
              <a:t>동적 타이핑, GIL</a:t>
            </a:r>
            <a:br/>
            <a:r>
              <a:t>C 확장 인터페이스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0574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Millman &amp;</a:t>
            </a:r>
            <a:br/>
            <a:r>
              <a:t>Aivazis (2011)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Python for Scientists</a:t>
            </a:r>
            <a:br/>
            <a:r>
              <a:t>and Engineers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9319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1148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SciPy 스택 정립</a:t>
            </a:r>
            <a:br/>
            <a:r>
              <a:t>과학 컴퓨팅 생태계</a:t>
            </a:r>
            <a:br/>
            <a:r>
              <a:t>소프트웨어 공학 관행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0574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Oliphant</a:t>
            </a:r>
            <a:br/>
            <a:r>
              <a:t>(2007)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Python for Scientific</a:t>
            </a:r>
            <a:br/>
            <a:r>
              <a:t>Computing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39319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1148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NumPy ndarray 구조</a:t>
            </a:r>
            <a:br/>
            <a:r>
              <a:t>stride 기반 레이아웃</a:t>
            </a:r>
            <a:br/>
            <a:r>
              <a:t>BLAS/LAPACK 활용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0574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Perez &amp;</a:t>
            </a:r>
            <a:br/>
            <a:r>
              <a:t>Granger (2007)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IPython: Interactive</a:t>
            </a:r>
            <a:br/>
            <a:r>
              <a:t>Scientific Computing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93192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1148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Jupyter 전신</a:t>
            </a:r>
            <a:br/>
            <a:r>
              <a:t>매직 명령어, 커널 분리</a:t>
            </a:r>
            <a:br/>
            <a:r>
              <a:t>리터릿 컴퓨팅 비전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0574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Raschka et al.</a:t>
            </a:r>
            <a:br/>
            <a:r>
              <a:t>(2020)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Machine Learning</a:t>
            </a:r>
            <a:br/>
            <a:r>
              <a:t>in Python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393192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41148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ML 생태계 서베이</a:t>
            </a:r>
            <a:br/>
            <a:r>
              <a:t>sklearn vs TF vs PyTorch</a:t>
            </a:r>
            <a:br/>
            <a:r>
              <a:t>AutoML, MLOps 트렌드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Raschka et al. (2020)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Machine Learning in Python - 필독 논문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역사적 발전 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NumPy (2006)  →  scikit-learn (2010)  →  TensorFlow (2015)  →  PyTorch (2016)</a:t>
            </a:r>
            <a:br/>
            <a:br/>
            <a:r>
              <a:t>프레임워크 비교: sklearn(일관 API) vs TF(분산 학습) vs PyTorch(동적 그래프)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데이터 처리 도구 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Pandas  →  Dask (분산 처리)  →  RAPIDS (GPU 가속)</a:t>
            </a:r>
            <a:br/>
            <a:br/>
            <a:r>
              <a:t>대용량 데이터 처리의 병목을 해결하는 방향으로 진화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1148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265176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AutoML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Auto-sklearn, TPOT</a:t>
            </a:r>
            <a:br/>
            <a:r>
              <a:t>자동 알고리즘 선택</a:t>
            </a:r>
            <a:br/>
            <a:r>
              <a:t>하이퍼파라미터 튜닝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41148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4114800"/>
            <a:ext cx="265176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4160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Interpretable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709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SHAP, LIME</a:t>
            </a:r>
            <a:br/>
            <a:r>
              <a:t>블랙박스 모델 해석</a:t>
            </a:r>
            <a:br/>
            <a:r>
              <a:t>공정성, 투명성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265176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160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MLOps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09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MLflow, Kubeflow</a:t>
            </a:r>
            <a:br/>
            <a:r>
              <a:t>모델 배포, 모니터링</a:t>
            </a:r>
            <a:br/>
            <a:r>
              <a:t>재현 가능한 파이프라인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148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4114800"/>
            <a:ext cx="265176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160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Federated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709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분산 학습</a:t>
            </a:r>
            <a:br/>
            <a:r>
              <a:t>데이터 프라이버시 보호</a:t>
            </a:r>
            <a:br/>
            <a:r>
              <a:t>엣지 디바이스 학습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소개 (3개 구현 소스)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01_python_profiling.py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파이썬 성능 프로파일링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for 루프 vs 리스트 컴프리헨션 vs map vs NumPy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제곱, 합산, 필터링 연산 비교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데이터 크기별 스케일링 테스트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matplotlib 시각화로 결과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02_data_structure_benchmark.py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자료구조 벤치마크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list/tuple/dict/set 탐색 성능 비교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삽입(append vs insert) 성능 차이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삭제 연산 성능 비교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메모리 사용량 측정 및 시각화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03_functional_ml.py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함수형 프로그래밍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map/filter/reduce를 활용한 데이터 전처리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sklearn 패턴 직접 구현 (SimpleScaler)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클래스 상속으로 모델 구현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파이프라인 패턴 실습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(Key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맑은 고딕"/>
              </a:defRPr>
            </a:pPr>
            <a:r>
              <a:t>왜 Python인가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접착 언어 + 풍부한 생태계 + 낮은 진입 장벽</a:t>
            </a:r>
            <a:br/>
            <a:r>
              <a:t>R/Julia/MATLAB 대비 ML 파이프라인 전체 커버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기초 문법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동적 타이핑, 4가지 기본 자료형</a:t>
            </a:r>
            <a:br/>
            <a:r>
              <a:t>float 정밀도 주의, f-string 포매팅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자료구조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list(순서) / tuple(불변) / dict(해시) / set(고유)</a:t>
            </a:r>
            <a:br/>
            <a:r>
              <a:t>dict/set은 O(1) 탐색, list는 O(n)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함수와 클래스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sklearn fit/predict/transform 패턴</a:t>
            </a:r>
            <a:br/>
            <a:r>
              <a:t>상속과 다형성으로 일관된 API 설계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맑은 고딕"/>
              </a:defRPr>
            </a:pPr>
            <a:r>
              <a:t>성능 최적화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84632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프로파일링 → 벡터화(NumPy)</a:t>
            </a:r>
            <a:br/>
            <a:r>
              <a:t>for 루프 대비 수십~수백 배 성능 향상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FF"/>
                </a:solidFill>
                <a:latin typeface="맑은 고딕"/>
              </a:defRPr>
            </a:pPr>
            <a:r>
              <a:t>개발환경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84632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conda(ML/DL) vs venv(가벼운 프로젝트)</a:t>
            </a:r>
            <a:br/>
            <a:r>
              <a:t>Jupyter(탐색) → IDE(프로덕션)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유클리드 거리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57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d(x, y) = sqrt( sum( (xi - yi)^2 )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574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벡터 간 거리 측정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Min-Max 정규화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x' = (x - x_min) / (x_max - x_min)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값을 [0, 1] 범위로 변환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Z-score 표준화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z = (x - mu) / sigma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118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평균 0, 분산 1로 표준화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정확도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Acc = (TP + TN) / (TP + TN + FP + FN)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전체 중 맞춘 비율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시간 복잡도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66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list 탐색: O(n)  vs  dict/set 탐색: O(1)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66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해시 테이블의 이점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벡터화 속도비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943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NumPy: ~2ms  vs  for 루프: ~150ms (75x)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9436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C 내부 루프 + SIMD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(Review Questions)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20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Q1. 파이썬의 동적 타이핑이란 무엇이며, ML 개발에서 어떤 장단점이 있는가?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50008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Q2. 0.1 + 0.2 == 0.3이 False를 반환하는 이유를 IEEE 754와 ML 관점에서 설명하시오.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25496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Q3. 리스트의 append()가 O(1)이고 insert(0)가 O(n)인 이유를 내부 구조로 설명하시오.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00984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55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Q4. 100만 개 정수에서 멤버십 검사 시 list와 set 중 어떤 것을 사용해야 하는가?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76472"/>
            <a:ext cx="73152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Q5. sklearn의 fit()/transform()에서 테스트 데이터에 fit()을 호출하면 안 되는 이유는?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73152" cy="27432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Q6. [x**2 for x in range(10) if x%3==0]의 실행 결과를 예측하고 동작 원리를 설명하시오.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27448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Q7. NumPy 벡터화가 파이썬 for 루프보다 수십~수백 배 빠른 이유 3가지를 제시하시오.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02936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572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Q8. GIL이란 무엇이며, ML 학습에서 CPU 병렬 처리가 필요할 때 어떻게 우회하는가?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78424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327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Q9. 제너레이터가 리스트 대비 메모리를 절약하는 원리와 ML 활용 사례를 기술하시오.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53912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08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Q10. map/filter와 리스트 컴프리헨션으로 전처리 파이프라인을 각각 구현하시오.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2장: 머신러닝을 위한 파이썬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다음 장: 3장 - 판다스와 넘파이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