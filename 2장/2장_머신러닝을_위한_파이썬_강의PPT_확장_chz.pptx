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37160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第2章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rPr/>
              <a:t>机器学习中的Python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t>机器学习中的Python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rPr/>
              <a:t>Python语言历史、基础语法、数据结构、函数/类设计、性能优化、开发环境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机器学习 |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目录 ||| GIL) ||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第2章 整体结构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第一部分：理论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2.1  为什么选择Python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2.2  基础语法（变量、运算符、控制语句）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2.3  数据结构进阶（list、tuple、dict、set）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2.4  函数与类（sklearn模式）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2.5  性能优化（性能分析、向量化、GIL）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2.6  开发环境（conda、Jupyter、IDE）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第二部分：实践 &amp; 论文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2.7   论文综述（5篇）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2.8   实践：Python性能分析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2.9   实践：数据结构基准测试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2.10  实践：函数式编程ML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2.11  端到端ML流水线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2.12  核心总结 + 复习问题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完成本章后能做到的事情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1. 能够解释Python成为ML标准语言的历史背景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2. 能够使用变量、数据类型、运算符和控制语句等基础语法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3. 能够比较list、tuple、dict和set的时间复杂度并进行适当选择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4. 能够实现函数、类以及sklearn的fit/predict/transform模式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 能够应用NumPy向量化、性能分析和GIL绕过等性能优化技术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6. 能够搭建conda/venv虚拟环境和Jupyter Notebook环境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7. 能够仅使用纯Python实现端到端ML流水线。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第1节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为什么选择Python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ML标准语言的历史与原因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成为ML标准语言的历程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从1991年至今的里程碑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年份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里程碑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6400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意义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1991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2860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Python 0.9发布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2860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286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van Rossum的“自带电池”哲学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432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7432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SciPy项目启动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743200"/>
            <a:ext cx="6400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科学计算生态系统的种子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004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00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2004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NumPy 1.0（Oliphant）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32004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3200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高性能ndarray——ML的核心基础设施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6576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657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36576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IPython发布 ||| 综述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657600"/>
            <a:ext cx="6400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Python ML生态系统全景概览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1148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114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41148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scikit-learn 0.1发布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41148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统一的fit/predict/transform 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5720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45720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Jupyter Notebook独立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4572000"/>
            <a:ext cx="6400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语言无关的文学化计算平台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0292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029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2015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0" y="5029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TensorFlow发布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50292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深度学习框架时代开启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4864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486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54864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PyTorch发布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5486400"/>
            <a:ext cx="6400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动态计算图，研究友好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9436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43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2020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0" y="59436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2880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Raschka等人综述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0" y="5943600"/>
            <a:ext cx="6400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0" y="5943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Python ML生态系统全景展望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Python成为ML标准的3个原因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1. 胶水语言 || 丰富的生态系统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支持ML流水线的所有阶段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数据收集 → 预处理 → 建模 → 部署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低入门门槛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动态类型，简洁语法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基于缩进的代码块结构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NumPy、Pandas、scikit-learn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TensorFlow、PyTorch、matplotlib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非专业人士也能快速学习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TIOBE指数第1名（2024~）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3. 低入门门槛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动态类型，简洁语法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基于缩进的代码块结构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非专业人士也能快速学习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TIOBE指数第1名（2024~）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Python vs R vs Julia vs MATLAB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各语言优势与ML适用性比较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标准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01168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01168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Julia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011680"/>
            <a:ext cx="237744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MATLAB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主要领域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4688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通用+ML/DL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4688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统计分析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4688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高性能数值计算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46888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工程仿真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性能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29260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中等（NumPy补充）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29260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慢（Rcpp补充）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9260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快速（C级别）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292608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中等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深度学习框架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33832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TF、PyTorch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33832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有限 || | | 有限 | 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3832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383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Flux.jl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38328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中等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低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38404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8600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中等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38404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关键：在生态系统的广度上，没有任何语言能超越Python，用一种语言覆盖整个ML流水线。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8404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840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增长中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384048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以学校/企业为中心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2976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许可证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42976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开源（免费）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42976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976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开源（免费）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29768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开源（免费）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4297680"/>
            <a:ext cx="237744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4297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商用（付费）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7548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行业采用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0" y="47548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8600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非常高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97680" y="47548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9768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中等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475488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低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4754880"/>
            <a:ext cx="237744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104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中等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关键：在生态系统的广度上，没有任何语言能超越Python，用一种语言覆盖整个ML流水线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Python设计哲学：The Zen of Python |||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import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400800" cy="32004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import this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Beautiful is better than ugly.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rPr/>
              <a:t>#   → 可读性优先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Explicit is better than implicit.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rPr/>
              <a:t>#   → 偏好显式代码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Simple is better than complex.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rPr/>
              <a:t>#   → 追求简单的解法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There should be one obvious way to do it.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rPr/>
              <a:t>#   → 统一的API设计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011680"/>
            <a:ext cx="402336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在scikit-learn中体现的哲学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fit() → 训练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predict() → 预测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transform() → 转换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统一的API = 'one obvious way'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所有模型遵循相同模式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第2节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基础语法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变量、数据类型、运算符、控制语句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第2节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变量与动态类型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无需声明数据类型，根据值自动确定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变量赋值——无需声明数据类型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x = 42          # int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y = 3.14        # float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name = 'ML'     # str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is_valid = True  # bool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动态类型：可以将不同类型重新赋值给同一变量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x = 'Now string' # 从int → str的类型转换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print(type(x))     # &lt;class 'str'&gt;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ML变量命名规范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 || 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X_train / X_test = 分割后的数据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n_samples, n_features = 数据维度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93192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注意：静态 vs 动态类型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891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静态（C、Java）：编译时发现类型错误 → 安全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动态（Python）：运行时发现类型错误 → 灵活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第2节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数据类型与算术运算符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4种基本数据类型 + 7种运算符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数据类型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2880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表示法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ML上下文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整数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28600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28600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286000"/>
            <a:ext cx="4572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286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类别标签，索引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9748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697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实数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69748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float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269748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2697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3.14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697480"/>
            <a:ext cx="4572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2697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特征值，权重，损失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字符串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10896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3108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str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310896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'hello'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3108960"/>
            <a:ext cx="4572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3108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分类特征，文本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52044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520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逻辑类型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352044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3520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bool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True/False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0" y="3520440"/>
            <a:ext cx="4572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0" y="3520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掩码，条件过滤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02336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运算符 |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402336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含义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02336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示例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402336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结果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48056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+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448056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加法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448056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 + 2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4480560"/>
            <a:ext cx="5029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80060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480060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2880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减法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0" y="480060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3 - 2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0" y="4800600"/>
            <a:ext cx="5029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12064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120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*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512064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828800" y="5120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乘法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0" y="512064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 * 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0" y="5120640"/>
            <a:ext cx="5029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44068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/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544068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2880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除法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0" y="544068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040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7 / 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0" y="5440680"/>
            <a:ext cx="5029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2920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3.5（始终为float）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576072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5760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//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576072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828800" y="5760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商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576072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00400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7 // 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0" y="5760720"/>
            <a:ext cx="5029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608076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6080760"/>
            <a:ext cx="13716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2880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余数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0" y="6080760"/>
            <a:ext cx="18288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0" y="6080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7 % 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9200" y="6080760"/>
            <a:ext cx="50292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29200" y="6080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640080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72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**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6400800"/>
            <a:ext cx="1371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8288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幂运算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0" y="6400800"/>
            <a:ext cx="1828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004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 ** 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29200" y="6400800"/>
            <a:ext cx="50292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029200" y="6400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第2节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float精度对ML的影响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IEEE 754浮点数的局限性及应对方法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IEEE 754浮点数的局限性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print(0.1 + 0.2)         # 0.30000000000000004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print(0.1 + 0.2 == 0.3)  # False !!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正确的比较方法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import math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print(math.isclose(0.1 + 0.2, 0.3))  # 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为什么精度在ML中很重要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float32 精度 ≈ 10⁻⁷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float64 精度 ≈ 10⁻¹⁶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梯度下降：float32中当η=10⁻⁶时梯度消失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损失函数：log(p)中若p→0，则发散至-∞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需要np.clip(p, 1e-15, 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混合精度：使用float16 + float32进行GPU优化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rPr/>
              <a:t>公式：float32精度 ≈ 10⁻⁷，float64精度 ≈ 10⁻¹⁶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第2节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条件语句与循环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if-elif-else、for、while、enumerate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条件语句：if-elif-else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score = 85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if score &gt;= 90: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grade = 'A'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elif score &gt;= 80: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grade = 'B'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else: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grade = 'C'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for循环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i in range(5):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print(i, end=' ')  # 0 1 2 3 4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enumerate：同时获取索引+值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fruits = ['apple', 'banana', 'cherry']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idx, fruit in enumerate(fruits):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print(f'{idx}: {fruit}')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f-string：ML中常用的输出模式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epoch, loss, acc = 10, 0.0342, 0.9821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print(f'Epoch {epoch:3d} | Loss: {loss:.4f}'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f' | Acc: {acc:.4f}')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Epoch  10 | Loss: 0.0342 | Acc: 0.9821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f-string格式化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:3d = 3位整数，:.4f = 小数点后4位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:.2% = 百分比显示（0.95 → 95.00%）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第2节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列表推导式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Python独特的语法，将for循环缩减为一行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3657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基础：[表达式 for 变量 in 可迭代对象]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squares = [x ** 2 for x in range(1, 6)]       # [1, 4, 9, 16, 25]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含条件：[表达式 for 变量 in 可迭代对象 if 条件]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evens = [x for x in range(1, 21) if x % 2 == 0]  # [2, 4, ..., 20]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含if-else：[表达式1 if 条件 else 表达式2 for 变量 in 可迭代对象]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labels = [1 if x &gt; 0 else 0 for x in [-1, 3, -2, 5, 0]]  # [0, 1, 0, 1, 0]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ML使用示例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数据预处理：缺失值删除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cleaned = [x for x in raw_data if x is not None]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标签编码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encoded = [1 if label == 'positive' else 0 for label in labels]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rPr/>
              <a:t>ML核心用途：在数据预处理、特征提取、标签编码中使用非常频繁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第3节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数据结构进阶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list、tuple、dict和set的特性与时间复杂度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第3节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四种基本数据结构的比较 ||| O(1)。在大数据量下远超list的O(n)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特性与用途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数据结构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288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符号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可变性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有序性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允许重复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基于哈希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列表（list）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28600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2860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286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O（可变）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286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2286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2286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2286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元组（tuple）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278892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27889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 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78892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27889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X（不可变）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278892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27889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0" y="278892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27889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278892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27889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字典（dict）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329184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32918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{ 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329184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O（可变）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0" y="329184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O（3.7+）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0" y="329184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键 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329184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集合（set）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379476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0" y="379476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{ 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0" y="379476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0480" y="3794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O（可变）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379476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0" y="3794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0" y="379476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0" y="3794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78240" y="379476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78240" y="3794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rPr/>
              <a:t>关键：dict和set基于哈希表，查找为O(1)。在大数据量下远超list的O(n)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第3节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时间复杂度比较（Big-O）||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各操作的性能特性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tuple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8288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索引访问 [i]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22860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查找（in）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27432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2743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末尾插入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32004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前端插入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80" y="36576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8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末尾删除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1752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6344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80" y="411480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5528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前端删除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17520" y="45720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1752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45720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6344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45720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55280" y="457200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5528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*O(1) 均摊时间(amortized)：当列表容量超出时，内部数组扩大为2倍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第3节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list详解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可变、有序、索引/切片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创建与索引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 = [1, 2, 3, 4, 5, 6, 7, 8, 9, 10]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print(data[0]) # 1（第一个）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print(data[-1]) # 10（最后一个）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切片：[起始:结束:步长]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print(data[2:5])   # [3, 4, 5]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print(data[::2])   # [1, 3, 5, 7, 9]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print(data[::-1]) # [10, 9, ..., 1] 逆序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主要方法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data.append(100) # 末尾追加 O(1)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data.insert(0, 99) # 前端插入 O(n)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data.remove(100) # 按值删除 O(n)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removed = data.pop() # 末尾删除 O(1)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切片规则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[start:end] → 不包含end索引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[::步长] → 按步长跳跃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[::-1] → 逆序（反转整个顺序）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在ML中常用：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X_train = data[:split]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X_test = data[split:]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性能注意事项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0292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append → O(1)，insert(0) → O(n)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如果频繁进行前端插入，使用collections.deque。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第3节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字典（dict）与集合（set）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基于哈希表的O(1)查找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字典：{键: 值}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params = {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'n_estimators': 100,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'max_depth': 5,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'learning_rate': 0.1,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model = dict（传递**kwargs）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映射类别标签 → dict（字符串 → 整数编码）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train_feats = {'age', 'income', 'score'}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test_feats = {'age', 'income', 'name'}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missing = train_feats - test_feats  # {'score'}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提取唯一类别 → set（去重，O(1)查找）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模型设置（不可变）→ tuple（防止意外修改）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快速成员检查 → set / dict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类别标签映射 → dict（字符串→整数编码）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提取唯一类别 → set（去重，O(1)查找）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模型设置（不可变）→ tuple（防止意外修改）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快速成员检查 → set / dict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第4节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函数与类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def、lambda、类、sklearn模式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第4节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函数定义与高级特性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默认参数、*args、**kwargs、多返回值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默认参数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train(data, epochs=10, lr=0.01):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print(f'train: {epochs} epochs, learning rate={lr}')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train(data) # 使用默认值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train(data, epochs=50) # 仅更改epochs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*args：可变位置参数（元组）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add_all(*args):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sum(args)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**kwargs：可变关键字参数（字典）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create_model(**kwargs):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for key, val in kwargs.items():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print(f'  {key} = {val}')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多值返回（元组）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def calc_stats(numbers):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total = sum(numbers)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avg = total / len(numbers)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return total, avg, min(numbers)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total, avg, min_v = calc_stats([85,90,78])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在ML中使用**kwargs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0292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params = {'n_estimators':100, 'max_depth':5}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 = RandomForestClassifier(**params)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第4节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lambda函数与高阶函数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在sorted、map、filter中使用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lambda：匿名函数（单行函数）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square = lambda x: x ** 2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print(square(5))  # 25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sorted() + lambda：对特征重要性排序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feature_importance = [('age', 0.35), ('income', 0.52), ('score', 0.13)]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sorted_features = sorted(feature_importance, key=lambda x: x[1], reverse=True)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[('income', 0.52), ('age', 0.35), ('score', 0.13)]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map()：数据转换 |  filter()：数据过滤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data = [1, -2, 3, -4, 5]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positives = list(filter(lambda x: x &gt; 0, data))   # [1, 3, 5]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squared = list(map(lambda x: x ** 2, data))        # [1, 4, 9, 16, 25]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第4节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sklearn的fit/predict/transform模式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Estimator API——所有模型的统一接口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400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class SimpleScaler: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__init__(self, feature_range=(0, 1)):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self.feature_range = feature_range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self.min_ = None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self.max_ = None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fit(self, X): # 从训练数据中学习统计量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self.min_ = min(X)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self.max_ = max(X)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self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transform(self,（便捷方式）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range_ = self.max_ - self.min_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lo, hi = self.feature_range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[(x-self.min_)/range_*(hi-lo)+lo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for x in X]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重要：fit()只能在训练数据上使用！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在测试数据上调用fit() = 数据泄露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0" y="201168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调用时机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246888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468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fit(X)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46888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468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从训练数据中学习参数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0" y="246888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24688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训练时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97180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971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predict(X)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97180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971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使用训练好的模型进行预测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0" y="297180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29718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推理时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347472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transform(X)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347472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34747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使用学习到的参数进行数据转换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20" y="347472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0" y="3474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训练/推理时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397764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977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fit_transform(X)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397764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3977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一次完成fit + transform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89920" y="397764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0" y="3977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训练时（便捷方式）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572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rPr/>
              <a:t>重要：fit()只能在训练数据上使用！</a:t>
            </a:r>
            <a:br/>
            <a:r>
              <a:rPr/>
              <a:t>在测试数据上调用fit() = 数据泄露（data leakage）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第4节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类继承与多态 |||  全部支持fit() → predict() → score()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BaseModel → 具体模型实现模式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基础模型类（抽象基类）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class BaseModel: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raise NotImplementedError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predict(self, X):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raise NotImplementedError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score(self, 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preds = self.predict(X)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correct = sum(1 for p,t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      in zip(preds,y) if p==t)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correct / len(y)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具体模型实现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class MajorityClassifier(BaseModel):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from collections import Counter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self.majority_ = Counter(y)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.most_common(1)[0][0]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多态（Polymorphism）的优势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可以使用相同的接口调用不同的模型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 = MajorityClassifier()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model.fit(None, [0,0,1,0,1,0])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model.predict([1,2,3])  # [0, 0, 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model.score(None, [0,0,1])  # 0.667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sklearn的所有模型都遵循此模式：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LogisticRegression, SVC, RandomForest...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全部支持fit() → predict() → score()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45"/>
                </a:solidFill>
                <a:latin typeface="맑은 고딕"/>
              </a:defRPr>
            </a:pPr>
            <a:r>
              <a:t>第5节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性能优化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性能分析、向量化、GIL、内存管理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第5节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性能分析：发现瓶颈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不测量就不要优化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time, cProfile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方法1：time.perf_counter()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start = time.perf_counter()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result = sum(x**2 for x in range(1_000_000))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elapsed = time.perf_counter() - start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print(f'运行时间：{elapsed:.4f}秒')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方法2：cProfile（按函数的详细信息）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my_function():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data = [x**2 for x in range(100_000)]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sorted(data, reverse=True)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cProfile.run('my_function()')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方法3：Jupyter %timeit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%timeit sum(range(1000))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8463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性能分析三步骤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步骤1：time.perf_counter()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简单的区间测量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尽快识别瓶颈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步骤2：cProfile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每个函数的调用次数，累计时间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深入分析哪些函数较慢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步骤3：line_profiler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逐行执行时间分析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精确定位瓶颈点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第5节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向量化：NumPy的力量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比纯Python循环快数十到数百倍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 = 1_000_000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data_list = list(range(n))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data_array = np.arange(n)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纯Python循环：~0.15秒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result_loop = [x ** 2 for x in data_list]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NumPy向量化：~0.002秒（快约75倍！）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result_numpy = data_array **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9436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向量化快速的3个原因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C级内部循环：消除解释器开销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连续内存访问：最大化CPU缓存效率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SIMD指令：硬件级并行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01168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速度比较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4688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for循环     ~150ms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列表推导   ~100ms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map()        ~120ms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         ~2ms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NumPy比for循环快约75倍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关键经验：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数值计算务必使用NumPy！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在纯Python中，推导式是最优的。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第5节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GIL（全局解释器锁）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CPython的全局锁及其在ML中的应对策略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什么是GIL？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CPython的全局锁机制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同一时间只有一个线程执行Python字节码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CPU密集型：多线程无法提升性能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I/O密集型：多线程有效（GIL被释放）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45720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工具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57200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应用场景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多进程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5029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multiprocessing、joblib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502920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CPU并行学习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864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NumPy内部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54864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BLAS/MKL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548640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矩阵计算自动并行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9436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外部库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59436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TensorFlow、PyTorch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94360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GPU计算（与GIL无关）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4008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异步I/O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64008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6400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asyncio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640080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6400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数据加载流水线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1488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scikit-learn的n_jobs参数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内部使用多进程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sklearn.ensemble import RandomForestClassifier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 = RandomForestClassifier(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n_estimators=100, n_jobs=-1 # 所有核心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第5节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内存管理 ||| 高效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dict：~300+ KB → 哈希表开销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sys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set：~500+ KB → 哈希表开销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list_mem  = sys.getsizeof(list(range(10000)))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tuple_mem = sys.getsizeof(tuple(range(10000)))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dict_mem  = sys.getsizeof({i:i for i in range(10000)})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大数据处理策略：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gen = (x ** 2 for x in range(1_000_000))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print(sys.getsizeof(gen))  # ~200字节！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1. 生成器批量加载（yield）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011680"/>
            <a:ext cx="57607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2. np.memmap（磁盘映射数组）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float64 → float32降精度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tuple：~80 KB → 不可变，内存高效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dict：~300+ KB → 哈希表开销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set：~500+ KB → 哈希表开销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大数据处理策略：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1. 生成器批量加载（yield）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2. np.memmap（磁盘映射数组）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3. pd.read_csv(chunksize=1000)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4. float64 → float32降精度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第6节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开发环境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虚拟环境、Jupyter、IDE、调试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第6节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虚拟环境：conda vs venv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为每个项目构建独立环境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venv（Python内置）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python -m venv ml_env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source ml_env/bin/activate     # Linux/Mac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ml_env\Scripts\activate      # Windows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pip install numpy pandas scikit-learn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conda（Anaconda/Miniconda）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conda create -n ml_env python=3.11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conda activate ml_env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conda install numpy pandas scikit-learn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venv + pip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conda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46888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包来源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4688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PyPI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24688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Anaconda + PyPI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二进制管理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9260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有限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9260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优秀（C依赖自动处理）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83280"/>
            <a:ext cx="1645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GPU设置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3832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手动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338328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简单（cudatoolkit）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840480"/>
            <a:ext cx="1645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推荐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8404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轻量级项目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38404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ML/DL项目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第6节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Jupyter Notebook vs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探索性分析 vs 生产代码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Jupyter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优势：逐单元执行、内联可视化、markdown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适用于：EDA、原型开发、讲座/演示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魔术命令：%timeit、%matplotlib inline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局限性：.ipynb JSON格式 → Git diff不便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IDE（VS Code、PyCharm）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优势：调试、重构、自动补全、Git集成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适用于：生产代码、包开发 ||| == len(y), 'X和y长度不同！'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.py文件 → Git友好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VS Code + Jupyter扩展 = 最佳组合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实战工作流程 &amp; 调试技巧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在Jupyter中原型开发 → 重构为.py模块 → 在IDE中测试/部署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调试4步骤：print() → assert → pdb.set_trace() → IDE调试器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防御性编程：assert len(X) == len(y), 'X和y长度不同！'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第7节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论文综述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5篇重要论文分析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第7节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重要论文综述（1/2）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奠定Python生态系统基础的论文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Van Rossum（2007）- Python编程语言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USENIX年度技术会议（特邀报告）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Python创始人阐述的设计哲学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动态类型、GIL、可扩展性架构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Millman &amp; Aivazis（2011）- 面向科学家的Python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Computing in Science &amp; Engineering, 13(2)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SciPy技术栈是科学计算的基础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软件工程实践的重要性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Oliphant（2007）- 面向科学计算的Python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NumPy创始人阐述的技术基础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ndarray：连续内存 + 基于步幅的布局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利用BLAS/LAPACK，f2py/Cython优化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ML核心：ndarray是所有ML算法的基础设施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Perez &amp; Granger（2007）- IPython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Jupyter Notebook的前身（内核-前端分离）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交互式计算：思考→编码→执行→确认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魔术命令：%timeit、%debug、%matplotlib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文学化计算：代码+结果+解释的整合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第7节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推荐论文：Raschka等人（2020）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Python机器学习——生态系统综述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Raschka等人（2020）- Python中的ML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Information, Vol. 11, No. 4, Article 193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历史发展：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NumPy(2006) → scikit-learn(2010)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TensorFlow(2015) → PyTorch(2016)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框架比较：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scikit-learn：统一的API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TensorFlow：分布式学习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PyTorch：动态图，研究友好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最新趋势：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AutoML, Interpretable ML (SHAP/LIME)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MLOps (MLflow/Kubeflow)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与本课程的联系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这篇综述论文在以下背景下提供了对整个课程的理解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Python生态系统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数据处理工具演进：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Pandas → Dask（分布式）→ RAPIDS（GPU）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将涵盖的算法脉络：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线性回归、逻辑回归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决策树、随机森林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XGBoost, LightGBM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KMeans, PCA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生态系统课题：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GIL、生产性能、库兼容性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第8节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实践：Python性能分析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for循环 vs 推导式 vs map vs NumPy性能比较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第8节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实践代码：性能测量工具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01_python_profiling.py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time, numpy as np, matplotlib.pyplot as plt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时间测量(函数, *args, 重复次数=5):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"""测量函数的执行时间（多次执行后取平均）"""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时间列表 = []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for _ in range(重复次数):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start = time.perf_counter()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函数(*args)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end = time.perf_counter()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时间列表.append(end - start)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return np.mean(times)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用4种方式比较平方运算（数据量：1,000,000）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for循环_平方(data): result = []; [result.append(x**2) for x in data]; return result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推导式_平方(data): return [x**2 for x in data]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map_平方(data): return list(map(lambda x: x**2, data))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numpy_平方(data): return data ** 2 # ← 关键！C级内部循环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第8节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性能分析实验结果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4种运算 + 3组实验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平方运算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求和运算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过滤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速度比（与NumPy相比）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for循环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~0.15秒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~0.05秒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~0.10秒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慢约75倍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列表推导式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~0.10秒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~0.07秒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慢约50倍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map()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~0.12秒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~0.09秒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慢约60倍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NumPy向量化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~0.002秒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~0.001秒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~0.003秒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基准（1x）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关键经验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数值计算务必使用NumPy（数十到数百倍的差距）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在纯Python中，列表推导式是最高效的。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数据量越大，NumPy的优势越明显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由于lambda开销，map()通常比推导式慢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第9节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实践：数据结构基准测试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list、tuple、dict和set的查找/插入/删除性能比较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第9节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实践代码：查找性能比较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02_data_structures_benchmark.py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查找性能比较：测量O(n) vs O(1)的真实差异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数据规模 = [1000, 5000, 10000, 50000, 100000, 500000]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for size in 数据规模: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list_data = list(range(size))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字典_data = {x: x for x in range(size)}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set_data = set(range(size))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查找值 = [random.randint(size//2, size-1) for _ in range(100)]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list：O(n) - 顺序查找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list_查找():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for v in 查找值: _ = v in list_data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dict/set：O(1) - 哈希表即时查找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def set_查找():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for v in 查找值: _ = v in set_data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第9节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基准测试结果总结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基于哈希的数据结构的压倒性查找性能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dict/set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差异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查找（500,000项）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~0.5秒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~0.00005秒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约10,000倍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末尾插入（100,000项）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~0.005秒（append）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~0.006秒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相似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前端插入（10,000项）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~0.3秒（insert）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list较慢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79476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末尾删除（10,000项）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~0.001秒（pop）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~0.001秒（del）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79476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相似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2976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前端删除（10,000项）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429768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~0.05秒（pop(0)）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429768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N/A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2976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list较慢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75488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实际意义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如果成员检查（in）频繁：使用set或dict（O(1) vs O(n)）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数据量越大：基于哈希的数据结构优势越明显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内存：由于哈希表开销，dict/set占用更多内存（权衡）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第10节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实践：函数式编程ML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map/filter/reduce、装饰器、生成器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第10节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map/filter/reduce数据流水线 ||| 删除缺失值（None）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03_functional_programming_ml.py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有效 = list(filter(lambda x: list(map(lambda c: round(c * 9/5 + 32, 1), 正常))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步骤4：reduce → 计算统计量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总和 = reduce(lambda acc, x: acc + x, 正常)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原始_温度数据[75] = None    # 缺失值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步骤1：filter → 删除缺失值（None）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有效 = list(filter(lambda x: x is not None, 原始_温度数据))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步骤2：filter → 删除异常值（0~50度范围）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正常 = list(filter(lambda x: 0 &lt;= x &lt;= 50, 有效))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步骤3：map → 摄氏 → 华氏转换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华氏 = list(map(lambda c: round(c * 9/5 + 32, 1), 正常))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步骤4：reduce → 计算统计量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functools import reduce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总和 = reduce(lambda acc, x: acc + x, 正常)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第10节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装饰器与生成器模式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函数扩展与内存高效的数据加载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装饰器：函数扩展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计时(函数):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@functools.wraps(函数)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wrapper(*args, **kwargs):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start = time.perf_counter()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result = 函数(*args, **kwargs)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end = time.perf_counter()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print(f'{函数.__name__}：{end-start:.4f}秒')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return result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return wrapper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@计时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数据预处理(data):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自动测量执行时间！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return [x for x in data if x &gt; 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生成器：批量数据加载器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batch_loader(data, batchsize=32):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index = list(range(len(data)))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random.shuffle(index)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for start in range(0, len(index), 批量大小):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batch = index[start:start+batchsize]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yield [data[i] for i in batch]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使用：不将全部数据加载到内存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for batch in batch_loader(data, 32):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训练(batch) # 按批次训练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0292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120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@lru_cache：记忆化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4864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@functools.lru_cache(maxsize=128)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def 斐波那契(n): ... # O(2^n) → O(n)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第10节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函数组合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sklearn Pipeline的函数式版本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流水线(*函数列表):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"""按顺序组合函数的流水线"""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组合函数(输入):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result = 输入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for 函数 in 函数列表: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result = 函数(result)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return result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return 组合函数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预处理函数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缺失值删除(d): return [x for x in d if x]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def 异常值删除(d): return [x for 标准化)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结果 = ML_预处理(原始数据)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μ = sum(d)/len(d)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σ = (sum((x-μ)**2 for x in d)/len(d))**0.5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[(x-μ)/σ for x in 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输入：100 → 缺失值删除 → 异常值删除 → 标准化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函数式编程要点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map()：数据转换（1:1映射）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filter()：数据过滤（条件筛选）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114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reduce()：聚合（列表 → 单一值）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572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装饰器：@计时、@日志、@lru_cache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生成器：基于yield的批量加载，节省内存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函数组合：sklearn Pipeline的函数式版本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装饰器：@计时、@日志、@lru_cache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生成器：基于yield的批量加载，节省内存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函数组合：sklearn Pipeline的函数式版本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第11节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端到端ML流水线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用纯Python实现KNN分类器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第11节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纯Python KNN分类器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不使用外部库的5阶段ML流水线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步骤1：数据生成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合成2D数据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类别0：质心 (2,2)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类别1：质心 (5,5)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每类100个，共200个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步骤2：预处理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Min-Max归一化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x' = (x-min)/(max-min)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所有特征统一缩放到0~1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步骤3：分割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训练/测试分割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28600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80%训练，20%测试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test_ratio = 0.2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random.shuffle()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步骤4：实现KNN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246888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计算欧几里得距离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28600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选择k个最近邻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通过多数投票预测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比较k=1,3,5,7,9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步骤5：评估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828800"/>
            <a:ext cx="21031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准确率（Accuracy）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286000"/>
            <a:ext cx="1737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精确率（Precision）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召回率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召回率（Recall）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F1分数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第11节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核心代码：KNN分类器实现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欧几里得距离 + 多数投票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math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euclidean_distance(a, b):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"""欧几里得距离计算"""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math.sqrt(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sum((ai-bi)**2 for ai,bi in zip(a,b)))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knn_predict(X_train, y_train, x_query, k=5):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"""KNN预测：k个最近邻的多数投票"""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distances = [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(euclidean_distance(x_query, x_tr), label)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x_tr, label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in zip(X_train, y_train)]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distances.sort(key=lambda x: x[0])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k_nearest = distances[:k]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votes = [label for _, label in k_nearest]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max(set(votes), key=votes.count)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第2章使用的概念映射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数据生成 → 函数、列表、for循环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预处理 → 列表推导式、min/max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分割 → 切片、random.shuffle()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KNN → lambda、sorted()、zip()、tuple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评估 → f-string、算术运算 ||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公式：d(x,y) = √Σ(xi - yi)²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各k值性能比较：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k=1：对噪声敏感（过拟合）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k=5：适当的泛化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k=9：过度平滑（欠拟合）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第12节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核心总结 + 复习问题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第2章总结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第12节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核心总结表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第2章学习的所有概念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主题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828800"/>
            <a:ext cx="7772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关键内容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为什么选择Python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2860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286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胶水语言 + 丰富的生态系统 + 低入门门槛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数据类型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7432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743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int、float、str、bool + 动态类型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列表/元组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2004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可变 vs 不可变，切片，O(1)访问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字典/集合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6576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3657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基于哈希的O(1)查找，超参数管理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函数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1148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def、lambda、*args、**kwargs、多返回值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5720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fit/predict/transform模式 = sklearn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292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性能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50292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5029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性能分析 → NumPy向量化 → GIL绕过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4864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开发环境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4864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5486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conda/venv + Jupyter（探索） + IDE（生产）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第12节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公式总结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第2章出现的关键公式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欧几里得距离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 y) = sqrt( Σ (xi - yi)²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KNN和K-Means等基于距离的算法基础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Min-Max归一化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x' = (x - x_min) / (x_max - x_min)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将所有特征转换到[0, 1]范围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Z-score标准化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= (x - μ) / 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转换为均值=0，标准差=1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023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准确率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8912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Acc = (TP + TN) / (TP + TN + FP + FN)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所有预测中正确预测的比例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第12节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复习问题（1/2）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检验理论 + 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Q1. 什么是动态类型？与静态类型相比，在ML开发中有什么优缺点？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Q2. 为什么0.1 + 0.2 == 0.3是False？在ML中如何处理？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Q3. 为什么list.append()是O(1)而insert(0)是O(n)？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Q4. 对100万数据进行成员检查：为什么选择list vs set？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Q5. 为什么不能在测试数据上调用fit()？（数据泄露）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第12节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复习问题（2/2）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编程 + 进阶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Q6. [x**2 for x in range(10) if x%3==0]的结果是什么？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Q7. NumPy向量化比for循环快数十到数百倍的3个原因？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Q8. 什么是GIL？在ML中如何进行CPU并行处理？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Q9. 生成器的内存节省原理以及ML批量加载的应用？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Q10. 删除缺失值 → 负值截断为0 → 2倍缩放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分别用map/filter和列表推导式实现。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28600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맑은 고딕"/>
              </a:defRPr>
            </a:pPr>
            <a:r>
              <a:rPr/>
              <a:t>第2章：机器学习中的Python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下一章：NumPy与Pandas深入讲解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