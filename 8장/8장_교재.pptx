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오늘 강의는 머신러닝 10대 알고리즘 8장 결정 트리입니다. 결정 트리는 트리 모델 계열의 근간이 되는 알고리즘으로, 이후에 배울 랜덤 포레스트·XGBoost·LightGBM의 모태가 됩니다. 오늘 우리는 미국 인구조사 데이터를 사용해 "이 사람의 연봉이 50K 달러를 넘느냐 아니냐"를 예측하는 모델을 직접 만들 것입니다. 나이·학력·교육 연수·혼인 상태·직업·인종·성별 등 13개 변수를 사용합니다. 단순한 모델이지만 데이터 전처리, 더미 변수 변환, 모델링, 매개변수 튜닝, 그리고 트리 시각화까지 머신러닝 워크플로 전 과정을 한 번에 경험할 수 있습니다. 특히 오버피팅 문제와 그 해결을 위한 max_depth 매개변수 튜닝은 모든 머신러닝 모델에서 공통적으로 다뤄야 하는 핵심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강의의 학습목표와 진행순서를 정리한 슬라이드입니다. 왼쪽 8개는 본 장에서 도달해야 할 학습목표이고, 오른쪽은 9개 절을 순서대로 따라가는 학습순서입니다. 핵심은 두 가지인데, 첫째 데이터 전처리에서 범주형 변수 3가지를 서로 다른 방식(서열화·더미 변수·평균값 치환)으로 다루는 부분이고, 둘째 8.7~8.8절의 오버피팅과 매개변수 튜닝 부분입니다. 이 두 부분만 확실히 이해하셔도 본 장을 마스터한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결정 트리가 무엇인지부터 살펴봅시다. 결정 트리는 관측값(독립변수들)과 목푯값(종속변수)을 연결시켜주는 예측 모델로, 이름 그대로 나무 모양으로 데이터를 분류합니다. 선형 모델은 각 변수에 대한 기울기 값을 최적화하면서 모델을 만들어가지만, 트리 모델은 완전히 다른 방식입니다. 각 변수의 특정 지점을 기준으로 데이터를 분류해가는데, 예를 들어 "성별이 남자인가 여자인가?" "나이가 30세 이상인가?" 같은 질문을 반복하면서 데이터를 점점 작은 그룹으로 나누어 갑니다. 그렇다면 왜 TOP 10에 들어갔을까요? 사실 예측력과 성능만 보면 결정 트리를 단독으로 쓸 일은 거의 없습니다. 시각화가 뛰어나다는 것이 거의 유일한 장점이지만, 앞으로 배울 랜덤 포레스트, XGBoost, LightGBM 같은 트리 기반 모델을 이해하려면 반드시 결정 트리를 알아야 합니다. 딥러닝을 제외하면 트리 기반 모델이 현재 가장 많이 쓰이는 트렌드이므로, 결정 트리는 머신러닝 입문자의 "필수 교양"이라 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머신러닝 알고리즘을 선택할 때 가장 중요한 두 축이 예측력과 설명력입니다. 예측력은 말 그대로 "얼마나 정확하게 맞히느냐"이고, 설명력은 "왜 그런 예측을 했는지 해석할 수 있느냐"입니다. 안타깝게도 두 개념은 반비례 관계입니다. 알고리즘이 복잡해질수록 예측력은 좋아지지만 설명력은 떨어집니다. 결정 트리와 회귀 분석은 상대적으로 단순해 설명력이 높고, 9장부터 배울 트리 앙상블은 예측력은 높지만 해석이 어렵습니다. 딥러닝은 가장 복잡한 알고리즘으로 종종 블랙박스라 불립니다. 예측력과 설명력 중 어느 쪽을 택해야 하는가는 상황에 따라 다릅니다. 예를 들어 의학 분야에서 특정 질병의 발병률을 예측하는 모델은 발병률을 높이거나 억제하는 핵심 요인을 찾아내는 것이 목적이므로 설명력이 높은 모델이 적합합니다. 반면 주가 예측 모델은 요인보다는 시세를 정확하게 잡아내는 것이 더 중요하므로 예측력이 높은 알고리즘이 더 적합합니다. 결정 트리는 정확히 이 양극단의 중간 지점에서 "설명력이 매우 높다"는 강점으로 자리 잡고 있는 알고리즘입니다.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 트리의 장단점을 정리해 보겠습니다. 먼저 가장 큰 장점은 비모수 모델이라는 것입니다. 즉 데이터의 분포에 대한 어떤 가정도 하지 않습니다. 선형 회귀는 정규분포·독립변수와 종속변수의 선형 관계 등 여러 가정을 전제하지만, 결정 트리는 이런 가정 없이 어디에나 자유롭게 적용할 수 있습니다. 두 번째 장점은 아웃라이어의 영향을 거의 받지 않는다는 점입니다. 트리는 값을 비교해 분류만 하므로 극단값이 있어도 분류 결과만 같으면 영향이 없습니다. 세 번째 장점은 시각화입니다. 트리 그래프를 통해 비전문가도 모델의 동작을 이해할 수 있습니다. 단점은 두 가지인데, 첫째는 오버피팅 위험이 매우 높다는 것이고, 둘째는 단독 사용 시 예측력이 떨어진다는 점입니다. 이 두 단점은 8.7절의 매개변수 튜닝과 9장 이후의 앙상블 모델에서 해결합니다.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본격적으로 문제 정의 단계로 들어갑니다. 8.1절에서는 우리가 무엇을 예측할지, 어떤 데이터를 쓸지, 어떤 알고리즘과 평가지표를 사용할지를 정의합니다. 데이터 분석가와 개발자의 몸값이 하루가 다르게 뛰어오르는 요즘, "내 연봉 수준이 적절한가?"라는 질문에 답해 보는 것이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목표를 정리한 표입니다. 데이터셋은 미국 인구조사 데이터로, 약 4만 8천 명의 정보가 들어 있습니다. 종속변수는 class 한 개로 50K를 초과하면 1, 아니면 0입니다. 여기서 50K는 5만 달러를 의미하며, 약 6천만 원 정도입니다. 독립변수는 13개로 나이, 직업 분류, 교육, 혼인 상태, 직업, 가족관계, 인종, 성별 등 다양한 정보를 담고 있습니다. 특히 미국은 다인종 국가라서 인종 정보까지 포함되어 있는 점이 특이합니다. 문제 유형은 분류이고 평가 지표는 정확도, 사용할 모델은 scikit-learn의 DecisionTreeClassifier입니다. 필요한 라이브러리는 numpy, pandas, seaborn, matplotlib, scikit-learn 5개입니다.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8.2절은 코드 작성의 첫 단계로, 필요한 라이브러리를 가져오고 데이터를 불러옵니다. 그리고 head, info, describe 함수로 데이터의 전반적인 모습을 파악하는 탐색적 데이터 분석(EDA)을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4가지 필수 라이브러리(pandas, numpy, matplotlib, seaborn)를 임포트하고 salary.csv 파일을 불러옵니다. 여기서 read_csv의 skipinitialspace=True 옵션이 매우 중요합니다. 이 데이터에는 각 셀 값의 첫 자리에 공백이 들어 있어서 예를 들어 " Male"처럼 저장되어 있습니다. skipinitialspace 옵션을 주면 이런 공백을 자동으로 제거해 "Male"로 정리해 줍니다. 뒤에서 class 변수의 값이 " &lt;=50K"처럼 공백이 들어가 있는데, 이 옵션 덕분에 단순히 "&lt;=50K"로 비교할 수 있게 됩니다. 데이터를 불러왔으면 head, info, describe 세 함수로 데이터의 전반적 모습을 살펴봐야 합니다. head는 상위 5개 행, info는 변수별 자료형과 결측치, describe는 통계량을 보여 줍니다. describe는 기본적으로 숫자형 변수만 보여 주는데, include="all" 옵션을 주면 object 형 범주형 변수의 unique·top·freq 정보도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확인한 결과를 정리한 슬라이드입니다. 총 48,842행 14열이며, 5개는 숫자형이고 9개는 범주형입니다. info 함수로 보면 workclass, occupation, native-country 세 변수에 결측치가 있다는 것을 확인할 수 있습니다. 특히 workclass와 occupation은 5.7~5.8%, native-country는 1.7% 정도의 결측이 있어 이번 데이터에서는 이런 범주형 변수들과 결측치 처리가 핵심 작업이 될 것입니다. 범주형 변수가 많기 때문에 더미 변수 변환이 필수이고, 그 과정에서 변수 개수가 폭증할 수 있으니 주의해야 합니다. 특히 native-country는 41개 국가가 있어 그대로 더미 변수로 변환하면 변수가 41개나 늘어나므로 다른 처리 방법을 고민해야 합니다. 이 부분은 8.3절에서 자세히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8.3절은 본 장에서 가장 비중이 큰 부분으로, 범주형 데이터를 어떻게 전처리하는지를 다룹니다. 핵심은 세 가지 변수(education, occupation, native-country)를 각각 다른 방법으로 처리하는 실습입니다. 이 부분만 확실히 이해하셔도 데이터 전처리의 핵심 패턴을 익힌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종속변수 class를 0과 1로 변환합니다. &lt;=50K는 0, &gt;50K는 1로 매핑합니다. 원본 데이터의 class 값에는 사실 앞에 공백이 하나 들어있지만, 8.2절에서 skipinitialspace=True로 이미 제거했기 때문에 그대로 비교할 수 있습니다. 다음으로 모든 변수의 자료형을 for 루프로 확인합니다. 변수가 13개 정도면 눈으로도 구분할 수 있지만, 100개 이상이면 자동화가 필수입니다. 그래서 if 조건을 추가해 object형 변수만 obj_list에 모읍니다. 결과적으로 8개의 object형 독립변수가 나옵니다. 마지막으로 각 변수의 고윳값 개수를 nunique 함수로 확인합니다. workclass는 8가지, education은 16가지, native-country는 무려 41가지나 됩니다. 값의 종류가 10개 미만이면 그대로 더미 변수로 가도 큰 부담이 없지만, 10개 이상인 education, occupation, native-country는 별도의 처리 전략을 세워야 합니다. 이 세 변수가 다음 슬라이드들의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 변수는 16개의 카테고리를 가집니다. 미국 교육 시스템이라 완전히 이해하기는 어렵지만, 초중고에 해당하는 1~12학년과 Bachelors, Masters 같은 학위가 섞여 있습니다. 여기서 중요한 점은 학력이 서열형 데이터라는 것입니다. 즉 "유치원 &lt; 초등학교 &lt; … &lt; 학사 &lt; 석사 &lt; 박사" 같은 자연스러운 순서가 있습니다. 서열형 데이터는 단순히 숫자로 바꾸어도 모델에 의미를 잘 전달할 수 있습니다. 그런데 우연찮게도 이 데이터에는 education-num이라는 변수가 이미 준비되어 있습니다. 확인 코드로 매핑을 확인해 보면 1=Preschool, 2=1st-4th, …, 16=Doctorate로 완벽히 1대1 매핑됩니다. 같은 정보가 두 변수로 중복되어 있으므로 education 변수는 drop 함수로 제거합니다. 이것이 첫 번째 처리 패턴입니다 — 이미 서열화된 다른 변수가 있으면 그것을 활용하고 원본은 제거하는 방식.</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occupation 변수는 14개의 직업군을 가집니다. 먼저 value_counts로 분포를 보면, 비슷한 직업들이 이미 묶인 형태로 정리되어 있는 것을 알 수 있습니다. 예를 들어 Farming(농사)과 Fishing(어업)이 Farming-fishing이라는 하나의 카테고리로 묶여 있습니다. 그리고 직업 간에는 서열이 없습니다. Sales가 Craft-repair보다 위라거나 아래라고 할 수 없죠. 따라서 education처럼 서열화는 부적절하고, 더미 변수로 변환하는 것이 가장 자연스럽습니다. 14개 카테고리는 더미 변수로 만들어도 14개 정도의 변수가 추가될 뿐이므로 충분히 감당할 수 있는 수준입니다. 그래서 별도의 처리 없이 8.4절에서 pd.get_dummies로 일괄 변환합니다. 이것이 두 번째 처리 패턴입니다 — 카테고리 수가 적당하면 그냥 더미 변수로.</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native-country는 41개 국가가 있고 United-States가 압도적으로 많은 90%를 차지합니다. 이 변수를 처리하는 데는 세 가지 방법을 검토해야 합니다. 첫 번째는 단순히 미국 외 모든 국가를 Others로 묶는 방법입니다. 데이터가 간소화되지만 정보 손실이 큽니다. groupby로 국가별 class 평균을 보면 미국이 0.24인데 다른 국가들은 매우 다양합니다. 두 번째는 대륙별로 묶는 방법입니다. 같은 지역 국가끼리 class 평균이 비슷해야 의미가 있는데, 같은 유럽인 France는 0.42, Portugal은 0.18로 큰 차이를 보입니다. Cuba 0.25와 Dominican Republic 0.05도 마찬가지로 큰 차이입니다. 지역 내 편차가 너무 커서 부적합합니다. 세 번째 방법은 각 국가를 그 국가의 class 평균값으로 치환하는 것입니다. 예를 들어 France는 0.42, United-States는 0.24로 바꿉니다. 이 방법이 채택됩니다. 단, 이 방법은 종속변수 정보를 독립변수에 일부 밀어넣는 셈이라 오버피팅 위험이 있다는 점은 8.7절에서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국가별 class 평균값을 구해 원본에 합치는 코드입니다. 먼저 groupby로 국가별 class 평균을 계산하고, reset_index로 인덱스를 컬럼으로 변환합니다. reset_index를 사용하지 않으면 국가 이름이 인덱스에 들어가 있어 merge 시 키로 쓸 수 없습니다. 그다음 merge 함수로 native-country를 키로 left join 합니다. 여기서 한 가지 문제가 발생하는데, 양쪽 데이터프레임에 모두 class 컬럼이 있어서 자동으로 class_x와 class_y로 이름이 바뀝니다. 우리는 class_y(국가별 평균값)를 원래 native-country 자리에 넣고 싶으므로, 기존 native-country 컬럼은 drop하고 rename으로 컬럼 이름을 정리합니다. 결과적으로 native-country는 더 이상 문자열이 아니라 0~1 사이의 실수값(해당 국가의 class 평균)을 가지게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8.4절은 전처리의 마지막 단계로, 결측치를 처리하고 남아있는 범주형 변수를 더미 변수로 변환합니다. 결측치 처리는 변수의 특성에 따라 세 가지 다른 방법을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결측치 처리 전략을 정리한 표입니다. data.isna().mean()으로 보면 세 변수에 결측이 있습니다. native-country는 8.3절에서 이미 평균값으로 변환되어 숫자가 되었으므로 -99 같은 임의의 숫자로 채울 수 있습니다. 여기서 "왜 평균이나 중앙값이 아닌 -99인가?"라는 의문이 생길 수 있는데, 트리 기반 모델은 이런 임의값에 강건합니다. 단 선형 모델에서는 -99 같은 값이 데이터 왜곡을 불러일으킬 수 있으니 주의해야 합니다. workclass는 Private이 약 70%로 압도적이라 최빈값인 Private으로 채웁니다. 70%가 좀 아쉽긴 하지만 연습 차원에서 사용합니다. occupation은 어떤 특정 값이 압도적이지 않으므로 최빈값 대체가 적절치 않아 "Unknown"이라는 별도 카테고리를 신설합니다. 이렇게 변수의 특성에 따라 결측치 처리를 다르게 하는 것이 머신러닝 전처리의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결측치를 처리하는 fillna 코드와 더미 변수 변환 코드입니다. fillna 함수는 결측치를 인자값으로 채워주는 함수로, 변수마다 다른 값을 사용합니다. native-country는 -99, workclass는 "Private", occupation은 "Unknown"으로 채웁니다. 모든 결측치가 해결되면 마지막으로 pd.get_dummies로 모든 범주형 변수를 한 번에 더미 변수로 변환합니다. 여기서 drop_first=True 옵션이 중요한데, 이는 다중공선성 방지를 위해 첫 번째 더미 컬럼을 자동으로 제거하는 옵션입니다. 예를 들어 workclass에 Federal-gov, Local-gov, Private 등이 있으면 workclass_Private 컬럼은 제거되고, 나머지 모든 더미 컬럼이 0이면 자동으로 Private이라는 의미가 됩니다. 이 한 줄로 8개의 범주형 변수가 모두 적절한 수의 더미 변수로 변환되며, 전처리가 완료됩니다.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8.5절은 드디어 모델을 학습시키고 평가하는 단계입니다. scikit-learn의 train_test_split, DecisionTreeClassifier, accuracy_score 세 함수만 사용합니다. 이전 장들에서 이미 익숙한 패턴이므로 코드 작성 자체는 어렵지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4단계로 진행됩니다. 먼저 train_test_split으로 데이터를 훈련셋과 시험셋으로 나눕니다. 이번에는 데이터가 비교적 크기 때문에 test_size를 0.4로 설정해 40%를 시험셋으로 분리했습니다. random_state=100은 결과 재현을 위한 시드값입니다. 두 번째 단계는 DecisionTreeClassifier 객체를 생성하는 것입니다. 회귀 문제라면 DecisionTreeRegressor를 쓰지만, 우리는 0과 1 분류이므로 Classifier를 사용합니다. 괄호 안에 아무것도 넣지 않으면 매개변수가 모두 기본값으로 설정됩니다. 세 번째는 fit과 predict로 학습하고 예측합니다. 마지막으로 accuracy_score로 정확도를 계산하면 약 81%의 결과가 나옵니다. 81%는 나쁘지 않지만, 8.7~8.8절에서 매개변수 튜닝으로 85%까지 올릴 수 있다는 것을 곧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8.5절에서 약 81% 정확도를 얻었습니다. 이제 결정 트리가 어떤 원리로 작동하는지 깊이 들여다볼 차례입니다. 8.6절에서는 분류 결정 트리가 사용하는 두 가지 분할 기준 — 지니 인덱스와 교차 엔트로피 — 을 수식과 예시로 자세히 설명하고, 회귀 결정 트리의 MSE 기준도 함께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 트리의 작동을 직관적인 예시로 살펴보겠습니다. 먼저 가장 단순한 예시로, 지름이라는 한 변수만으로 사과와 귤을 구분하는 경우입니다. 데이터를 보면 사과는 지름 6, 7, 7.5이고 귤은 4, 4.5입니다. "지름이 5보다 큰가?"라는 질문 하나로 두 종류를 명확하게 구분할 수 있습니다. 이것이 결정 트리의 가장 단순한 형태입니다. 실제 데이터에서는 이렇게 한 질문으로 끝나는 경우는 거의 없고, 두 번째 예시처럼 여러 단계의 분류가 필요합니다. 두 번째 예시에서는 지름과 무게라는 두 변수가 있는데, 각 변수만으로는 사과와 복숭아가 중첩되어 구분할 수 없습니다. 하지만 1단계에서 "지름이 7 이상인가?"로 한 번 나누고, 그다음 2단계에서 각 그룹을 무게로 다시 나누면 사과와 복숭아를 완전히 분리할 수 있습니다. 여기서 핵심 포인트는 "각 단계에서 어떤 변수와 어떤 기준점을 선택할 것인가"가 모델 성능을 결정한다는 것입니다. 이 선택을 어떻게 하는지가 다음 슬라이드의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 트리는 각 노드의 순도가 가장 높은 방향으로 분류해 나갑니다. 순도는 "한 노드 안에 한 종류의 목푯값만 있는 상태에 대한 지표"입니다. 예를 들어 노드 안에 사과 3개와 복숭아 3개가 있으면 순도가 매우 낮고, 사과 3개와 복숭아 0개가 있으면 순도가 높다고 봅니다. 순도를 평가하는 첫 번째 방법이 지니 인덱스입니다. 수식은 1에서 각 클래스 비율의 제곱합을 빼는 단순한 형태입니다. 예를 들어 사과 2개 복숭아 2개일 때, 각각 50%이므로 0.5의 제곱 두 개의 합은 0.5이고, 1에서 빼면 지니가 0.5입니다. 사과 1개 복숭아 3개라면 0.25의 제곱과 0.75의 제곱을 더하면 0.625, 1에서 빼면 0.375입니다. 사과 0개 복숭아 4개로 완전히 한쪽으로 분류된 경우 지니는 0이 됩니다. 즉 순도가 높을수록 지니는 0에 가까워지고, 50:50일 때 최댓값 0.5가 나옵니다. 결정 트리는 매 단계에서 지니가 가장 낮아지는 변수와 기준점을 선택해 분할합니다. 사이킷런의 기본 분할 기준이 바로 이 지니 인덱스입니다.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분할 기준은 교차 엔트로피입니다. 수식은 음의 확률 곱하기 로그 확률의 합으로, 정보이론에서 유래된 개념입니다. 계산 방식은 지니와 비슷합니다. 사과 2개 복숭아 2개일 때 각 50%에 대해 0.5 곱하기 log2(0.5)는 -0.5, 두 부분을 더하면 -1, 맨 앞의 마이너스를 반영하면 엔트로피는 1입니다. 사과 1개 복숭아 3개일 때는 약 0.81, 사과 0개 복숭아 4개로 완전 분류되면 0입니다. 교차 엔트로피도 순도가 높을수록 낮은 값을 보이는데, 차이점은 이진 분류 최댓값이 1까지 나올 수 있다는 점입니다 (지니는 0.5). 지니와 엔트로피 중 어느 로직이 더 좋은가에 대해서는 정답이 없습니다. 둘 다 결정 트리에서 비슷한 성능을 보여줍니다. 사이킷런은 기본값으로 지니를 사용하지만, criterion="entropy" 매개변수로 엔트로피를 지정할 수도 있습니다. 실무에서는 둘 중 어느 것을 써도 큰 차이가 없으므로 기본값(Gini)을 그대로 쓰는 것이 일반적입니다.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문제는 0과 1 같은 클래스가 아니라 연속형 숫자를 예측합니다. 따라서 지니나 엔트로피를 사용할 수 없고, MSE를 평가 기준으로 사용합니다. MSE는 실젯값과 예측값의 차이를 제곱한 평균입니다. 회귀 트리에서 예측값은 해당 노드 안에 있는 y들의 평균값이 됩니다. 예시를 보면, X와 y 5쌍의 데이터에서 첫 분할이 X &gt; 15라고 가정합시다. 오른쪽 노드에는 X=20일 때 y=0, X=35일 때 y=6 두 개가 들어갑니다. 평균은 3이고, 각 값과 평균의 차이는 -3과 3, 제곱하면 9와 9, 합은 18, 관측치 개수 2로 나누면 MSE는 9입니다. 결정 트리 회귀는 이 MSE가 가장 낮아지는 분할을 선택해 나갑니다. MSE는 사이킷런의 기본 평가 기준이고, 필요에 따라 MAE나 Poisson 등으로 변경할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 트리는 가지를 무한정 뻗으면 훈련 데이터를 100% 정확하게 분류할 수 있습니다. 하지만 그것이 곧 좋은 모델은 아닙니다. 8.7절에서는 머신러닝의 가장 중요한 개념인 오버피팅과 언더피팅, 그리고 그 배경이 되는 편향-분산 트레이드오프를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오버피팅, 언더피팅, 좋은 모델 세 상태를 비교한 슬라이드입니다. 오버피팅은 모델이 훈련셋의 노이즈와 아웃라이어까지 학습해서, 훈련셋에서는 거의 100% 정확도를 보이지만 새로운 데이터인 시험셋에서는 성능이 크게 떨어지는 상태입니다. 결정 트리는 깊이를 제한하지 않으면 거의 항상 오버피팅이 발생합니다. 실제로 우리가 8.5절에서 만든 기본 모델은 훈련 정확도 0.978, 시험 정확도 0.815로 16%의 큰 격차가 있습니다. 언더피팅은 반대 상황으로, 모델이 너무 단순해서 훈련셋조차 제대로 학습하지 못하는 상태입니다. 오버피팅보다 더 나쁘다고 평가되는 이유는, 언더피팅 상태에서는 시험셋 결과를 신뢰할 근거조차 없기 때문입니다. 좋은 모델은 노이즈는 무시하고 핵심 패턴만 학습한 상태로, 훈련셋과 시험셋의 정확도가 비슷하면서도 충분히 높은 상태입니다. 예를 들어 max_depth=7로 제한하면 훈련 0.860, 시험 0.854로 격차가 단 0.6%로 줄어듭니다. 이것이 8.8절에서 다룰 매개변수 튜닝의 효과입니다.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오버피팅과 언더피팅을 통계학 관점에서 설명하는 개념이 편향-분산 트레이드오프입니다. 편향은 모델이 적절치 못하거나 중요한 부분을 놓쳐서 제대로 된 예측을 하지 못할 때 높아집니다. 예를 들어 곡선 형태의 데이터를 직선으로만 예측하는 단순 모델은 편향이 높습니다. 이것이 언더피팅 상황입니다. 분산은 훈련셋의 노이즈에 의해 발생하는 오차입니다. 모든 점을 정확히 통과하려는 모델은 노이즈까지 모두 학습하기 때문에 분산이 높아지고, 데이터가 약간만 달라지면 결과가 크게 바뀝니다. 이것이 오버피팅 상황입니다. 여기서 핵심은 편향과 분산이 반비례 관계라는 것입니다. 분산을 낮추면 편향이 올라가고, 편향을 낮추면 분산이 올라갑니다. 두 오차의 합이 전체 모델 오차이므로, 두 오차의 합이 가장 낮은 중간 지점을 찾는 것이 우리의 목표입니다. 이것이 편향-분산 트레이드오프이며, 그래프로 보면 우측이 오버피팅 영역, 좌측이 언더피팅 영역, 그 사이가 최적점입니다.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8.8절은 8.7절에서 다룬 오버피팅 문제를 실제로 해결하는 매개변수 튜닝 단계입니다. 결정 트리에서 가장 중요한 매개변수는 max_depth, 즉 트리의 최대 깊이입니다. 이를 제한하지 않으면 기본값이 None이라 트리가 가능한 한 깊이 자라며 오버피팅이 발생합니다.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salary.csv 데이터로 max_depth를 변화시키며 측정한 결과입니다. 기본값 None일 때 훈련 0.978, 시험 0.816으로 약 16%의 큰 격차가 발생합니다. 이것이 오버피팅의 전형적 증상입니다. max_depth=5로 제한하면 훈련 0.854, 시험 0.850으로 격차가 0.4%로 급격히 줄어듭니다. 다만 시험 정확도 자체는 0.85로 약간 올랐습니다. max_depth=7로 더 약간 깊게 하면 훈련 0.860, 시험 0.854로 정확도가 더 올라가면서도 격차는 0.6%로 양호합니다. 이상적인 max_depth 값은 데이터마다 다르므로 직접 다양한 값을 시도하면서 오버피팅을 낮추는 노력이 필요합니다. 실무에서는 cross_val_score와 GridSearchCV를 함께 사용해 최적 max_depth를 자동으로 찾는 것이 일반적입니다.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매개변수 튜닝 코드입니다. 먼저 매개변수를 모두 기본값으로 두고 학습한 뒤, 훈련셋과 시험셋의 정확도를 함께 출력해 비교합니다. 두 정확도의 격차를 보면 오버피팅 여부를 진단할 수 있습니다. 다음으로 DecisionTreeClassifier 생성 시 max_depth=5를 지정해 트리 깊이를 5로 제한하고 같은 방식으로 평가합니다. 비슷한 방식으로 max_depth=7도 테스트해서 가장 좋은 값을 찾아냅니다. max_depth 외에도 min_samples_split(분할에 필요한 최소 샘플 수), min_samples_leaf(리프 노드의 최소 샘플 수), criterion(분할 기준 gini/entropy) 등의 매개변수가 있으니 함께 활용해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8.9절은 결정 트리의 가장 큰 장점인 시각화를 다룹니다. sklearn.tree.plot_tree 함수를 사용해 학습된 트리의 구조를 그래프로 출력하고, 각 노드의 의미를 해석하는 방법을 배웁니다.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plot_tree 함수는 다른 그래프와 다르게 matplotlib나 seaborn이 아니라 sklearn의 tree 모듈에서 불러옵니다. 먼저 figsize로 그래프 크기를 설정합니다. 단위는 인치이고 가로 30 × 세로 15로 크게 잡았습니다. 하지만 max_depth=7 모델을 그대로 그리면 트리가 너무 거대해서 내용을 알아볼 수 없습니다. 그래서 plot_tree 안에 max_depth=3 매개변수를 추가해 시각화 깊이를 3단계까지로 제한합니다. fontsize=15로 폰트 크기도 키워 가독성을 확보합니다. 마지막으로 가장 중요한 옵션이 feature_names입니다. 이 옵션을 주지 않으면 변수가 X[0], X[1] 같은 인덱스로 표시되어 해석이 어렵습니다. X_train.columns를 넣어주면 marital-status_Married-civ-spouse 같은 실제 변수 이름으로 표시되어 한눈에 해석할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plot_tree로 그린 트리 그래프를 해석하는 방법입니다. 첫 번째 노드는 루트 노드로, 우리 모델에서 가장 중요한 분할이 일어나는 곳입니다. 각 노드에는 네 가지 정보가 표시됩니다. 첫 줄은 분류 기준입니다. 예를 들어 marital-status_Married-civ-spouse ≤ 0.5라면, 이는 더미 변수에서 파생된 것으로 혼인 상태가 Married-civ-spouse(배우자 있음)에 해당하는지 아닌지가 가장 중요한 변수로 꼽혔다는 뜻입니다. 두 번째는 지니 인덱스, 세 번째는 해당 노드의 샘플 수, 네 번째는 value인데 이는 목푯값 0과 1의 개수를 보여 줍니다. 노드 분류 시 조건이 True이면 왼쪽으로, False이면 오른쪽으로 분기합니다. 즉 marital-status_Married-civ-spouse ≤ 0.5의 경우, 결혼하지 않은 사람이 왼쪽으로 갑니다. 두 번째 노드의 지니 인덱스가 0.12로 꽤 많이 낮아졌고, value를 보면 0(저소득)이 훨씬 많이 분류되었습니다. 즉 미혼·이혼·사별 등은 저소득 가능성이 크다는 패턴이 학습되었음을 알 수 있습니다. 이렇게 트리 그래프는 비전문가에게도 모델의 동작을 설명할 수 있어 강력한 의사결정 도구로 사용됩니다.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강의 전체 흐름을 한 번 더 정리하겠습니다. 8.1절에서 연봉 50K 초과 여부를 예측하는 문제를 정의했고, 8.2절에서 salary.csv 데이터를 로딩해 head·info·describe로 구조를 파악했습니다. 8.3절에서는 범주형 데이터 전처리의 핵심을 배웠습니다 — education은 서열형이라 기존 education-num 활용, occupation은 더미 변수, native-country는 평균값 치환. 8.4절에서 결측치를 변수별로 다르게 처리하고 pd.get_dummies로 더미 변환을 마무리했습니다. 8.5절에서 train_test_split, DecisionTreeClassifier, accuracy_score로 첫 모델을 만들어 81% 정확도를 얻었습니다. 8.6절은 결정 트리의 원리 — 지니 인덱스, 교차 엔트로피, MSE를 자세히 살펴봤고, 8.7절에서 오버피팅 진단(Train·Test 격차 16%), 8.8절에서 max_depth=7로 격차를 0.6%까지 줄이고 정확도를 85%로 올렸습니다. 마지막 8.9절에서 plot_tree로 트리를 시각화하고 노드 정보를 해석하는 방법까지 배웠습니다. 이제 이 흐름이 머릿속에 남아 있어야 9장의 랜덤 포레스트로 자연스럽게 넘어갈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장에서 반드시 기억해야 할 핵심 키워드 4가지를 정리했습니다. 첫째 결정 트리, 둘째 지니 인덱스와 교차 엔트로피, 셋째 오버피팅, 넷째 언더피팅입니다. 오른쪽은 본 장에서 새로 사용한 pandas와 sklearn의 함수들입니다. 특히 merge, reset_index, rename은 데이터 합치기와 컬럼 이름 정리 시 자주 사용하는 핵심 함수이므로 꼭 익혀 두세요. sort_values는 정렬, DecisionTreeClassifier와 plot_tree는 본 장의 주인공입니다.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마무리로 연습문제 3개를 풀어 봅시다. 1번은 범주형 데이터의 결측치 처리 방법 중 옳지 않은 것으로, 정답은 3번 평균값으로 대체입니다. 평균값은 숫자형에서만 의미가 있으므로 범주형에는 적용할 수 없습니다. 2번은 분류 결정 트리의 분할 기준으로, 정답은 1번 지니 인덱스입니다. RMSE와 R²는 회귀 모델의 평가지표이고, 사후확률은 나이브 베이즈에서 사용하는 개념입니다. 3번은 오버피팅 설명 중 틀린 것으로, 정답은 3번입니다. 일반적으로 오버피팅보다 언더피팅이 더 나쁜 모델로 평가됩니다. 시험셋 결과가 우연히 좋아 보여도 훈련셋조차 제대로 학습하지 못한 상태이므로 결과를 신뢰할 수 없기 때문입니다. 세 문제 모두 본 장의 핵심 개념이므로 꼭 정확히 이해하고 넘어가시기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강의는 여기서 마칩니다. 오늘 우리는 미국 인구조사 데이터로 연봉 50K 초과 여부를 예측하는 결정 트리 모델을 처음부터 끝까지 만들어 봤습니다. 데이터 로딩, 범주형 전처리(서열화·더미·평균값 치환), 결측치 처리, 모델링, 오버피팅 진단, 매개변수 튜닝, 시각화까지 머신러닝 워크플로 전 과정을 한 번에 경험했습니다. 핵심은 정확도 81%에서 매개변수 튜닝으로 85%까지 끌어올린 과정이며, 이때 사용한 max_depth가 결정 트리의 핵심 매개변수입니다. 다음 장에서는 결정 트리의 약점인 높은 분산을 극복하기 위한 랜덤 포레스트를 배웁니다. 오늘 배운 결정 트리가 9장 랜덤 포레스트, 10장 XGBoost, 11장 LightGBM의 모든 출발점이므로 반드시 이 장을 확실히 익히고 다음 장으로 넘어가시기 바랍니다. 수고하셨습니다.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457200" y="457200"/>
            <a:ext cx="11247120" cy="5943600"/>
          </a:xfrm>
          <a:prstGeom prst="roundRect">
            <a:avLst>
              <a:gd name="adj" fmla="val 5000"/>
            </a:avLst>
          </a:prstGeom>
          <a:solidFill>
            <a:srgbClr val="101028"/>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97280"/>
            <a:ext cx="2286000" cy="3810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058400" cy="365760"/>
          </a:xfrm>
          <a:prstGeom prst="rect">
            <a:avLst/>
          </a:prstGeom>
          <a:noFill/>
        </p:spPr>
        <p:txBody>
          <a:bodyPr wrap="square">
            <a:spAutoFit/>
          </a:bodyPr>
          <a:lstStyle/>
          <a:p>
            <a:pPr algn="l">
              <a:defRPr sz="1400" b="1">
                <a:solidFill>
                  <a:srgbClr val="00D2FF"/>
                </a:solidFill>
                <a:latin typeface="맑은 고딕"/>
              </a:defRPr>
            </a:pPr>
            <a:r>
              <a:t>머스트 해브 (MUST HAVE) · 머신러닝 10대 알고리즘</a:t>
            </a:r>
          </a:p>
        </p:txBody>
      </p:sp>
      <p:sp>
        <p:nvSpPr>
          <p:cNvPr id="5" name="TextBox 4"/>
          <p:cNvSpPr txBox="1"/>
          <p:nvPr/>
        </p:nvSpPr>
        <p:spPr>
          <a:xfrm>
            <a:off x="914400" y="1554480"/>
            <a:ext cx="10058400" cy="457200"/>
          </a:xfrm>
          <a:prstGeom prst="rect">
            <a:avLst/>
          </a:prstGeom>
          <a:noFill/>
        </p:spPr>
        <p:txBody>
          <a:bodyPr wrap="square">
            <a:spAutoFit/>
          </a:bodyPr>
          <a:lstStyle/>
          <a:p>
            <a:pPr algn="l">
              <a:defRPr sz="1800" b="0">
                <a:solidFill>
                  <a:srgbClr val="BBBBCC"/>
                </a:solidFill>
                <a:latin typeface="맑은 고딕"/>
              </a:defRPr>
            </a:pPr>
            <a:r>
              <a:t>CHAPTER 08</a:t>
            </a:r>
          </a:p>
        </p:txBody>
      </p:sp>
      <p:sp>
        <p:nvSpPr>
          <p:cNvPr id="6" name="TextBox 5"/>
          <p:cNvSpPr txBox="1"/>
          <p:nvPr/>
        </p:nvSpPr>
        <p:spPr>
          <a:xfrm>
            <a:off x="914400" y="2194560"/>
            <a:ext cx="10058400" cy="1371600"/>
          </a:xfrm>
          <a:prstGeom prst="rect">
            <a:avLst/>
          </a:prstGeom>
          <a:noFill/>
        </p:spPr>
        <p:txBody>
          <a:bodyPr wrap="square">
            <a:spAutoFit/>
          </a:bodyPr>
          <a:lstStyle/>
          <a:p>
            <a:pPr algn="l">
              <a:defRPr sz="7200" b="1">
                <a:solidFill>
                  <a:srgbClr val="FFFFFF"/>
                </a:solidFill>
                <a:latin typeface="맑은 고딕"/>
              </a:defRPr>
            </a:pPr>
            <a:r>
              <a:t>결정 트리</a:t>
            </a:r>
          </a:p>
        </p:txBody>
      </p:sp>
      <p:sp>
        <p:nvSpPr>
          <p:cNvPr id="7" name="TextBox 6"/>
          <p:cNvSpPr txBox="1"/>
          <p:nvPr/>
        </p:nvSpPr>
        <p:spPr>
          <a:xfrm>
            <a:off x="914400" y="3383280"/>
            <a:ext cx="10058400" cy="548640"/>
          </a:xfrm>
          <a:prstGeom prst="rect">
            <a:avLst/>
          </a:prstGeom>
          <a:noFill/>
        </p:spPr>
        <p:txBody>
          <a:bodyPr wrap="square">
            <a:spAutoFit/>
          </a:bodyPr>
          <a:lstStyle/>
          <a:p>
            <a:pPr algn="l">
              <a:defRPr sz="2800" b="0">
                <a:solidFill>
                  <a:srgbClr val="00D2FF"/>
                </a:solidFill>
                <a:latin typeface="맑은 고딕"/>
              </a:defRPr>
            </a:pPr>
            <a:r>
              <a:t>Decision Tree — 연봉 예측하기</a:t>
            </a:r>
          </a:p>
        </p:txBody>
      </p:sp>
      <p:sp>
        <p:nvSpPr>
          <p:cNvPr id="8" name="Rectangle 7"/>
          <p:cNvSpPr/>
          <p:nvPr/>
        </p:nvSpPr>
        <p:spPr>
          <a:xfrm>
            <a:off x="914400" y="4114800"/>
            <a:ext cx="36576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97680"/>
            <a:ext cx="10058400" cy="457200"/>
          </a:xfrm>
          <a:prstGeom prst="rect">
            <a:avLst/>
          </a:prstGeom>
          <a:noFill/>
        </p:spPr>
        <p:txBody>
          <a:bodyPr wrap="square">
            <a:spAutoFit/>
          </a:bodyPr>
          <a:lstStyle/>
          <a:p>
            <a:pPr algn="l">
              <a:defRPr sz="1800" b="0">
                <a:solidFill>
                  <a:srgbClr val="BBBBCC"/>
                </a:solidFill>
                <a:latin typeface="맑은 고딕"/>
              </a:defRPr>
            </a:pPr>
            <a:r>
              <a:t>나이·학력·직업 정보로 연봉 50K 초과 여부를 예측한다</a:t>
            </a:r>
          </a:p>
        </p:txBody>
      </p:sp>
      <p:sp>
        <p:nvSpPr>
          <p:cNvPr id="10" name="TextBox 9"/>
          <p:cNvSpPr txBox="1"/>
          <p:nvPr/>
        </p:nvSpPr>
        <p:spPr>
          <a:xfrm>
            <a:off x="914400" y="5852160"/>
            <a:ext cx="10058400" cy="365760"/>
          </a:xfrm>
          <a:prstGeom prst="rect">
            <a:avLst/>
          </a:prstGeom>
          <a:noFill/>
        </p:spPr>
        <p:txBody>
          <a:bodyPr wrap="square">
            <a:spAutoFit/>
          </a:bodyPr>
          <a:lstStyle/>
          <a:p>
            <a:pPr algn="l">
              <a:defRPr sz="1200" b="0">
                <a:solidFill>
                  <a:srgbClr val="888899"/>
                </a:solidFill>
                <a:latin typeface="맑은 고딕"/>
              </a:defRPr>
            </a:pPr>
            <a:r>
              <a:t>강의 교재 PPT | Lecture Textbook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MUST HAVE — 학습목표 &amp; 학습순서</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8장에서 무엇을 배우고, 어떤 순서로 진행하는가?</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학습목표</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트리 모델 계열의 근간인 결정 트리를 학습</a:t>
            </a:r>
          </a:p>
          <a:p>
            <a:pPr>
              <a:spcAft>
                <a:spcPts val="800"/>
              </a:spcAft>
              <a:defRPr sz="1400">
                <a:solidFill>
                  <a:srgbClr val="BBBBCC"/>
                </a:solidFill>
                <a:latin typeface="맑은 고딕"/>
              </a:defRPr>
            </a:pPr>
            <a:r>
              <a:t>연봉(Salary) 데이터로 50K 초과 여부 예측</a:t>
            </a:r>
          </a:p>
          <a:p>
            <a:pPr>
              <a:spcAft>
                <a:spcPts val="800"/>
              </a:spcAft>
              <a:defRPr sz="1400">
                <a:solidFill>
                  <a:srgbClr val="BBBBCC"/>
                </a:solidFill>
                <a:latin typeface="맑은 고딕"/>
              </a:defRPr>
            </a:pPr>
            <a:r>
              <a:t>범주형 변수 처리 + 결측치 처리 실습</a:t>
            </a:r>
          </a:p>
          <a:p>
            <a:pPr>
              <a:spcAft>
                <a:spcPts val="800"/>
              </a:spcAft>
              <a:defRPr sz="1400">
                <a:solidFill>
                  <a:srgbClr val="BBBBCC"/>
                </a:solidFill>
                <a:latin typeface="맑은 고딕"/>
              </a:defRPr>
            </a:pPr>
            <a:r>
              <a:t>더미 변수 변환과 그 한계점 이해</a:t>
            </a:r>
          </a:p>
          <a:p>
            <a:pPr>
              <a:spcAft>
                <a:spcPts val="800"/>
              </a:spcAft>
              <a:defRPr sz="1400">
                <a:solidFill>
                  <a:srgbClr val="BBBBCC"/>
                </a:solidFill>
                <a:latin typeface="맑은 고딕"/>
              </a:defRPr>
            </a:pPr>
            <a:r>
              <a:t>모델링·평가 + 정확도 측정</a:t>
            </a:r>
          </a:p>
          <a:p>
            <a:pPr>
              <a:spcAft>
                <a:spcPts val="800"/>
              </a:spcAft>
              <a:defRPr sz="1400">
                <a:solidFill>
                  <a:srgbClr val="BBBBCC"/>
                </a:solidFill>
                <a:latin typeface="맑은 고딕"/>
              </a:defRPr>
            </a:pPr>
            <a:r>
              <a:t>오버피팅 개념과 해결 방법(max_depth) 학습</a:t>
            </a:r>
          </a:p>
          <a:p>
            <a:pPr>
              <a:spcAft>
                <a:spcPts val="800"/>
              </a:spcAft>
              <a:defRPr sz="1400">
                <a:solidFill>
                  <a:srgbClr val="BBBBCC"/>
                </a:solidFill>
                <a:latin typeface="맑은 고딕"/>
              </a:defRPr>
            </a:pPr>
            <a:r>
              <a:t>편향-분산 트레이드오프 이해</a:t>
            </a:r>
          </a:p>
          <a:p>
            <a:pPr>
              <a:spcAft>
                <a:spcPts val="800"/>
              </a:spcAft>
              <a:defRPr sz="1400">
                <a:solidFill>
                  <a:srgbClr val="BBBBCC"/>
                </a:solidFill>
                <a:latin typeface="맑은 고딕"/>
              </a:defRPr>
            </a:pPr>
            <a:r>
              <a:t>트리 그래프 시각화로 결과 해석</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학습순서 (8.1 ~ 8.9)</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8.1 문제 정의</a:t>
            </a:r>
          </a:p>
          <a:p>
            <a:pPr>
              <a:spcAft>
                <a:spcPts val="800"/>
              </a:spcAft>
              <a:defRPr sz="1400">
                <a:solidFill>
                  <a:srgbClr val="BBBBCC"/>
                </a:solidFill>
                <a:latin typeface="맑은 고딕"/>
              </a:defRPr>
            </a:pPr>
            <a:r>
              <a:t>8.2 라이브러리 &amp; 데이터 불러오기·확인</a:t>
            </a:r>
          </a:p>
          <a:p>
            <a:pPr>
              <a:spcAft>
                <a:spcPts val="800"/>
              </a:spcAft>
              <a:defRPr sz="1400">
                <a:solidFill>
                  <a:srgbClr val="BBBBCC"/>
                </a:solidFill>
                <a:latin typeface="맑은 고딕"/>
              </a:defRPr>
            </a:pPr>
            <a:r>
              <a:t>8.3 전처리: 범주형 데이터</a:t>
            </a:r>
          </a:p>
          <a:p>
            <a:pPr>
              <a:spcAft>
                <a:spcPts val="800"/>
              </a:spcAft>
              <a:defRPr sz="1400">
                <a:solidFill>
                  <a:srgbClr val="BBBBCC"/>
                </a:solidFill>
                <a:latin typeface="맑은 고딕"/>
              </a:defRPr>
            </a:pPr>
            <a:r>
              <a:t>8.4 전처리: 결측치 처리 &amp; 더미 변수</a:t>
            </a:r>
          </a:p>
          <a:p>
            <a:pPr>
              <a:spcAft>
                <a:spcPts val="800"/>
              </a:spcAft>
              <a:defRPr sz="1400">
                <a:solidFill>
                  <a:srgbClr val="BBBBCC"/>
                </a:solidFill>
                <a:latin typeface="맑은 고딕"/>
              </a:defRPr>
            </a:pPr>
            <a:r>
              <a:t>8.5 모델링 및 평가하기</a:t>
            </a:r>
          </a:p>
          <a:p>
            <a:pPr>
              <a:spcAft>
                <a:spcPts val="800"/>
              </a:spcAft>
              <a:defRPr sz="1400">
                <a:solidFill>
                  <a:srgbClr val="BBBBCC"/>
                </a:solidFill>
                <a:latin typeface="맑은 고딕"/>
              </a:defRPr>
            </a:pPr>
            <a:r>
              <a:t>8.6 이해하기: 결정 트리(분류·회귀)</a:t>
            </a:r>
          </a:p>
          <a:p>
            <a:pPr>
              <a:spcAft>
                <a:spcPts val="800"/>
              </a:spcAft>
              <a:defRPr sz="1400">
                <a:solidFill>
                  <a:srgbClr val="BBBBCC"/>
                </a:solidFill>
                <a:latin typeface="맑은 고딕"/>
              </a:defRPr>
            </a:pPr>
            <a:r>
              <a:t>8.7 오버피팅 문제</a:t>
            </a:r>
          </a:p>
          <a:p>
            <a:pPr>
              <a:spcAft>
                <a:spcPts val="800"/>
              </a:spcAft>
              <a:defRPr sz="1400">
                <a:solidFill>
                  <a:srgbClr val="BBBBCC"/>
                </a:solidFill>
                <a:latin typeface="맑은 고딕"/>
              </a:defRPr>
            </a:pPr>
            <a:r>
              <a:t>8.8 매개변수 튜닝(max_depth)</a:t>
            </a:r>
          </a:p>
          <a:p>
            <a:pPr>
              <a:spcAft>
                <a:spcPts val="800"/>
              </a:spcAft>
              <a:defRPr sz="1400">
                <a:solidFill>
                  <a:srgbClr val="BBBBCC"/>
                </a:solidFill>
                <a:latin typeface="맑은 고딕"/>
              </a:defRPr>
            </a:pPr>
            <a:r>
              <a:t>8.9 트리 그래프 시각화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결정 트리 소개 &amp; TOP 10 선정 이유</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관측값과 목푯값을 연결시켜주는 예측 모델</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결정 트리란?</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관측값과 목푯값을 연결시켜주는 예측 모델</a:t>
            </a:r>
          </a:p>
          <a:p>
            <a:pPr>
              <a:spcAft>
                <a:spcPts val="800"/>
              </a:spcAft>
              <a:defRPr sz="1400">
                <a:solidFill>
                  <a:srgbClr val="BBBBCC"/>
                </a:solidFill>
                <a:latin typeface="맑은 고딕"/>
              </a:defRPr>
            </a:pPr>
            <a:r>
              <a:t>나무 모양으로 데이터를 분류</a:t>
            </a:r>
          </a:p>
          <a:p>
            <a:pPr>
              <a:spcAft>
                <a:spcPts val="800"/>
              </a:spcAft>
              <a:defRPr sz="1400">
                <a:solidFill>
                  <a:srgbClr val="BBBBCC"/>
                </a:solidFill>
                <a:latin typeface="맑은 고딕"/>
              </a:defRPr>
            </a:pPr>
            <a:r>
              <a:t>수많은 트리 기반 모델의 기본·기초가 되는 핵심</a:t>
            </a:r>
          </a:p>
          <a:p>
            <a:pPr>
              <a:spcAft>
                <a:spcPts val="800"/>
              </a:spcAft>
              <a:defRPr sz="1400">
                <a:solidFill>
                  <a:srgbClr val="BBBBCC"/>
                </a:solidFill>
                <a:latin typeface="맑은 고딕"/>
              </a:defRPr>
            </a:pPr>
            <a:r>
              <a:t>선형 모델: 변수별 기울기를 최적화</a:t>
            </a:r>
          </a:p>
          <a:p>
            <a:pPr>
              <a:spcAft>
                <a:spcPts val="800"/>
              </a:spcAft>
              <a:defRPr sz="1400">
                <a:solidFill>
                  <a:srgbClr val="BBBBCC"/>
                </a:solidFill>
                <a:latin typeface="맑은 고딕"/>
              </a:defRPr>
            </a:pPr>
            <a:r>
              <a:t>트리 모델: 변수의 특정 지점을 기준으로 분류</a:t>
            </a:r>
          </a:p>
          <a:p>
            <a:pPr>
              <a:spcAft>
                <a:spcPts val="800"/>
              </a:spcAft>
              <a:defRPr sz="1400">
                <a:solidFill>
                  <a:srgbClr val="BBBBCC"/>
                </a:solidFill>
                <a:latin typeface="맑은 고딕"/>
              </a:defRPr>
            </a:pPr>
            <a:r>
              <a:t>예: 남자/여자, 나이 X세 이상/미만 …</a:t>
            </a:r>
          </a:p>
          <a:p>
            <a:pPr>
              <a:spcAft>
                <a:spcPts val="800"/>
              </a:spcAft>
              <a:defRPr sz="1400">
                <a:solidFill>
                  <a:srgbClr val="BBBBCC"/>
                </a:solidFill>
                <a:latin typeface="맑은 고딕"/>
              </a:defRPr>
            </a:pPr>
            <a:r>
              <a:t>데이터를 무수히 포개며 각 그룹의 예측치 산출</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TOP 10에 선정된 이유</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예측력만 보면 단독 사용은 거의 없음</a:t>
            </a:r>
          </a:p>
          <a:p>
            <a:pPr>
              <a:spcAft>
                <a:spcPts val="800"/>
              </a:spcAft>
              <a:defRPr sz="1400">
                <a:solidFill>
                  <a:srgbClr val="BBBBCC"/>
                </a:solidFill>
                <a:latin typeface="맑은 고딕"/>
              </a:defRPr>
            </a:pPr>
            <a:r>
              <a:t>✓ 시각화가 매우 뛰어남 (유일하지만 결정적)</a:t>
            </a:r>
          </a:p>
          <a:p>
            <a:pPr>
              <a:spcAft>
                <a:spcPts val="800"/>
              </a:spcAft>
              <a:defRPr sz="1400">
                <a:solidFill>
                  <a:srgbClr val="BBBBCC"/>
                </a:solidFill>
                <a:latin typeface="맑은 고딕"/>
              </a:defRPr>
            </a:pPr>
            <a:r>
              <a:t>✓ 다른 트리 기반 모델 학습의 전제 조건</a:t>
            </a:r>
          </a:p>
          <a:p>
            <a:pPr>
              <a:spcAft>
                <a:spcPts val="800"/>
              </a:spcAft>
              <a:defRPr sz="1400">
                <a:solidFill>
                  <a:srgbClr val="BBBBCC"/>
                </a:solidFill>
                <a:latin typeface="맑은 고딕"/>
              </a:defRPr>
            </a:pPr>
            <a:r>
              <a:t>✓ 9~12장 RF, XGBoost, LightGBM의 토대</a:t>
            </a:r>
          </a:p>
          <a:p>
            <a:pPr>
              <a:spcAft>
                <a:spcPts val="800"/>
              </a:spcAft>
              <a:defRPr sz="1400">
                <a:solidFill>
                  <a:srgbClr val="BBBBCC"/>
                </a:solidFill>
                <a:latin typeface="맑은 고딕"/>
              </a:defRPr>
            </a:pPr>
            <a:r>
              <a:t>✓ 딥러닝 제외 시 가장 유용한 트렌드</a:t>
            </a:r>
          </a:p>
          <a:p>
            <a:pPr>
              <a:spcAft>
                <a:spcPts val="800"/>
              </a:spcAft>
              <a:defRPr sz="1400">
                <a:solidFill>
                  <a:srgbClr val="BBBBCC"/>
                </a:solidFill>
                <a:latin typeface="맑은 고딕"/>
              </a:defRPr>
            </a:pPr>
            <a:r>
              <a:t>→ 결정 트리는 "필수 교양"이다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예측력 vs 설명력 — 알고리즘 선택의 트레이드오프</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복잡도 ↑ → 예측력 ↑ · 설명력 ↓ (반비례)</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두 개념 정의</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예측력 (Predictability)</a:t>
            </a:r>
          </a:p>
          <a:p>
            <a:pPr>
              <a:spcAft>
                <a:spcPts val="800"/>
              </a:spcAft>
              <a:defRPr sz="1400">
                <a:solidFill>
                  <a:srgbClr val="BBBBCC"/>
                </a:solidFill>
                <a:latin typeface="맑은 고딕"/>
              </a:defRPr>
            </a:pPr>
            <a:r>
              <a:t>   = 모델 학습으로 얼마나 좋은 예측을 보여주는가</a:t>
            </a:r>
          </a:p>
          <a:p>
            <a:pPr>
              <a:spcAft>
                <a:spcPts val="800"/>
              </a:spcAft>
              <a:defRPr sz="1400">
                <a:solidFill>
                  <a:srgbClr val="BBBBCC"/>
                </a:solidFill>
                <a:latin typeface="맑은 고딕"/>
              </a:defRPr>
            </a:pPr>
            <a:r>
              <a:t>설명력 (Interpretability)</a:t>
            </a:r>
          </a:p>
          <a:p>
            <a:pPr>
              <a:spcAft>
                <a:spcPts val="800"/>
              </a:spcAft>
              <a:defRPr sz="1400">
                <a:solidFill>
                  <a:srgbClr val="BBBBCC"/>
                </a:solidFill>
                <a:latin typeface="맑은 고딕"/>
              </a:defRPr>
            </a:pPr>
            <a:r>
              <a:t>   = 학습된 모델을 얼마나 쉽게 해석할 수 있는가</a:t>
            </a:r>
          </a:p>
          <a:p>
            <a:pPr>
              <a:spcAft>
                <a:spcPts val="800"/>
              </a:spcAft>
              <a:defRPr sz="1400">
                <a:solidFill>
                  <a:srgbClr val="BBBBCC"/>
                </a:solidFill>
                <a:latin typeface="맑은 고딕"/>
              </a:defRPr>
            </a:pPr>
            <a:r>
              <a:t>복잡도 ↑  →  예측력 ↑  /  설명력 ↓</a:t>
            </a:r>
          </a:p>
          <a:p>
            <a:pPr>
              <a:spcAft>
                <a:spcPts val="800"/>
              </a:spcAft>
              <a:defRPr sz="1400">
                <a:solidFill>
                  <a:srgbClr val="BBBBCC"/>
                </a:solidFill>
                <a:latin typeface="맑은 고딕"/>
              </a:defRPr>
            </a:pPr>
            <a:r>
              <a:t>단순한 알고리즘일수록 예측력은 떨어지나 해석 용이</a:t>
            </a:r>
          </a:p>
          <a:p>
            <a:pPr>
              <a:spcAft>
                <a:spcPts val="800"/>
              </a:spcAft>
              <a:defRPr sz="1400">
                <a:solidFill>
                  <a:srgbClr val="BBBBCC"/>
                </a:solidFill>
                <a:latin typeface="맑은 고딕"/>
              </a:defRPr>
            </a:pPr>
            <a:r>
              <a:t>복잡한 알고리즘일수록 예측력은 뛰어나나 해석 어려움</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실무 선택 기준</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결정 트리·회귀 분석 → 학습이 쉬워 설명력 높음</a:t>
            </a:r>
          </a:p>
          <a:p>
            <a:pPr>
              <a:spcAft>
                <a:spcPts val="800"/>
              </a:spcAft>
              <a:defRPr sz="1400">
                <a:solidFill>
                  <a:srgbClr val="BBBBCC"/>
                </a:solidFill>
                <a:latin typeface="맑은 고딕"/>
              </a:defRPr>
            </a:pPr>
            <a:r>
              <a:t>9장~ 트리 앙상블 → 예측력 ↑, 해석 어려움</a:t>
            </a:r>
          </a:p>
          <a:p>
            <a:pPr>
              <a:spcAft>
                <a:spcPts val="800"/>
              </a:spcAft>
              <a:defRPr sz="1400">
                <a:solidFill>
                  <a:srgbClr val="BBBBCC"/>
                </a:solidFill>
                <a:latin typeface="맑은 고딕"/>
              </a:defRPr>
            </a:pPr>
            <a:r>
              <a:t>딥러닝 → 매우 복잡, 흔히 "블랙박스"라 불림</a:t>
            </a:r>
          </a:p>
          <a:p>
            <a:pPr>
              <a:spcAft>
                <a:spcPts val="800"/>
              </a:spcAft>
              <a:defRPr sz="1400">
                <a:solidFill>
                  <a:srgbClr val="BBBBCC"/>
                </a:solidFill>
                <a:latin typeface="맑은 고딕"/>
              </a:defRPr>
            </a:pPr>
            <a:r>
              <a:t>【의학 진단 모델】</a:t>
            </a:r>
          </a:p>
          <a:p>
            <a:pPr>
              <a:spcAft>
                <a:spcPts val="800"/>
              </a:spcAft>
              <a:defRPr sz="1400">
                <a:solidFill>
                  <a:srgbClr val="BBBBCC"/>
                </a:solidFill>
                <a:latin typeface="맑은 고딕"/>
              </a:defRPr>
            </a:pPr>
            <a:r>
              <a:t>   원인 변수 규명이 중요 → 설명력 모델 선호</a:t>
            </a:r>
          </a:p>
          <a:p>
            <a:pPr>
              <a:spcAft>
                <a:spcPts val="800"/>
              </a:spcAft>
              <a:defRPr sz="1400">
                <a:solidFill>
                  <a:srgbClr val="BBBBCC"/>
                </a:solidFill>
                <a:latin typeface="맑은 고딕"/>
              </a:defRPr>
            </a:pPr>
            <a:r>
              <a:t>【주가 예측 모델】</a:t>
            </a:r>
          </a:p>
          <a:p>
            <a:pPr>
              <a:spcAft>
                <a:spcPts val="800"/>
              </a:spcAft>
              <a:defRPr sz="1400">
                <a:solidFill>
                  <a:srgbClr val="BBBBCC"/>
                </a:solidFill>
                <a:latin typeface="맑은 고딕"/>
              </a:defRPr>
            </a:pPr>
            <a:r>
              <a:t>   수익률 정확 추적이 핵심 → 예측력 모델 선호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결정 트리의 장단점 &amp; 유용한 곳</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언제 쓰면 좋고, 언제 피해야 하는가?</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 장점 (Strengths)</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데이터에 대한 가정이 없는 비모수 모델</a:t>
            </a:r>
          </a:p>
          <a:p>
            <a:pPr>
              <a:spcAft>
                <a:spcPts val="800"/>
              </a:spcAft>
              <a:defRPr sz="1400">
                <a:solidFill>
                  <a:srgbClr val="BBBBCC"/>
                </a:solidFill>
                <a:latin typeface="맑은 고딕"/>
              </a:defRPr>
            </a:pPr>
            <a:r>
              <a:t>   (선형 모델은 정규성·선형성 가정 필요)</a:t>
            </a:r>
          </a:p>
          <a:p>
            <a:pPr>
              <a:spcAft>
                <a:spcPts val="800"/>
              </a:spcAft>
              <a:defRPr sz="1400">
                <a:solidFill>
                  <a:srgbClr val="BBBBCC"/>
                </a:solidFill>
                <a:latin typeface="맑은 고딕"/>
              </a:defRPr>
            </a:pPr>
            <a:r>
              <a:t>아웃라이어의 영향을 거의 받지 않음</a:t>
            </a:r>
          </a:p>
          <a:p>
            <a:pPr>
              <a:spcAft>
                <a:spcPts val="800"/>
              </a:spcAft>
              <a:defRPr sz="1400">
                <a:solidFill>
                  <a:srgbClr val="BBBBCC"/>
                </a:solidFill>
                <a:latin typeface="맑은 고딕"/>
              </a:defRPr>
            </a:pPr>
            <a:r>
              <a:t>트리 그래프로 직관적 이해·설명 가능</a:t>
            </a:r>
          </a:p>
          <a:p>
            <a:pPr>
              <a:spcAft>
                <a:spcPts val="800"/>
              </a:spcAft>
              <a:defRPr sz="1400">
                <a:solidFill>
                  <a:srgbClr val="BBBBCC"/>
                </a:solidFill>
                <a:latin typeface="맑은 고딕"/>
              </a:defRPr>
            </a:pPr>
            <a:r>
              <a:t>시각화에 굉장히 탁월함</a:t>
            </a:r>
          </a:p>
          <a:p>
            <a:pPr>
              <a:spcAft>
                <a:spcPts val="800"/>
              </a:spcAft>
              <a:defRPr sz="1400">
                <a:solidFill>
                  <a:srgbClr val="BBBBCC"/>
                </a:solidFill>
                <a:latin typeface="맑은 고딕"/>
              </a:defRPr>
            </a:pPr>
            <a:r>
              <a:t>범주형·연속형 데이터 모두 처리 가능</a:t>
            </a:r>
          </a:p>
          <a:p>
            <a:pPr>
              <a:spcAft>
                <a:spcPts val="800"/>
              </a:spcAft>
              <a:defRPr sz="1400">
                <a:solidFill>
                  <a:srgbClr val="BBBBCC"/>
                </a:solidFill>
                <a:latin typeface="맑은 고딕"/>
              </a:defRPr>
            </a:pPr>
            <a:r>
              <a:t>전처리(스케일링) 거의 불필요</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 단점 + 유용한 곳</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【단점】</a:t>
            </a:r>
          </a:p>
          <a:p>
            <a:pPr>
              <a:spcAft>
                <a:spcPts val="800"/>
              </a:spcAft>
              <a:defRPr sz="1400">
                <a:solidFill>
                  <a:srgbClr val="BBBBCC"/>
                </a:solidFill>
                <a:latin typeface="맑은 고딕"/>
              </a:defRPr>
            </a:pPr>
            <a:r>
              <a:t>트리가 무한정 깊어지면 오버피팅 발생</a:t>
            </a:r>
          </a:p>
          <a:p>
            <a:pPr>
              <a:spcAft>
                <a:spcPts val="800"/>
              </a:spcAft>
              <a:defRPr sz="1400">
                <a:solidFill>
                  <a:srgbClr val="BBBBCC"/>
                </a:solidFill>
                <a:latin typeface="맑은 고딕"/>
              </a:defRPr>
            </a:pPr>
            <a:r>
              <a:t>발전된 트리 기반 모델보다 예측력 낮음</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【유용한 곳】</a:t>
            </a:r>
          </a:p>
          <a:p>
            <a:pPr>
              <a:spcAft>
                <a:spcPts val="800"/>
              </a:spcAft>
              <a:defRPr sz="1400">
                <a:solidFill>
                  <a:srgbClr val="BBBBCC"/>
                </a:solidFill>
                <a:latin typeface="맑은 고딕"/>
              </a:defRPr>
            </a:pPr>
            <a:r>
              <a:t>종속변수가 연속형/범주형 모두 가능</a:t>
            </a:r>
          </a:p>
          <a:p>
            <a:pPr>
              <a:spcAft>
                <a:spcPts val="800"/>
              </a:spcAft>
              <a:defRPr sz="1400">
                <a:solidFill>
                  <a:srgbClr val="BBBBCC"/>
                </a:solidFill>
                <a:latin typeface="맑은 고딕"/>
              </a:defRPr>
            </a:pPr>
            <a:r>
              <a:t>모델링 결과 시각화 목적에 가장 유용</a:t>
            </a:r>
          </a:p>
          <a:p>
            <a:pPr>
              <a:spcAft>
                <a:spcPts val="800"/>
              </a:spcAft>
              <a:defRPr sz="1400">
                <a:solidFill>
                  <a:srgbClr val="BBBBCC"/>
                </a:solidFill>
                <a:latin typeface="맑은 고딕"/>
              </a:defRPr>
            </a:pPr>
            <a:r>
              <a:t>아웃라이어가 많을 때 선형 모델 대안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8.1</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8.1</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문제 정의</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한눈에 보는 예측 목표 — 미국 인구조사 데이터로 연봉 등급 예측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8.1 예측 목표 정의</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Adult Salary 데이터셋 — 13개 독립변수로 연봉 50K 초과 예측</a:t>
            </a:r>
          </a:p>
        </p:txBody>
      </p:sp>
      <p:sp>
        <p:nvSpPr>
          <p:cNvPr id="5" name="Rectangle 4"/>
          <p:cNvSpPr/>
          <p:nvPr/>
        </p:nvSpPr>
        <p:spPr>
          <a:xfrm>
            <a:off x="548640" y="2011680"/>
            <a:ext cx="237744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2377440" cy="411480"/>
          </a:xfrm>
          <a:prstGeom prst="rect">
            <a:avLst/>
          </a:prstGeom>
          <a:noFill/>
        </p:spPr>
        <p:txBody>
          <a:bodyPr wrap="square">
            <a:spAutoFit/>
          </a:bodyPr>
          <a:lstStyle/>
          <a:p>
            <a:pPr algn="ctr">
              <a:defRPr sz="1300" b="1">
                <a:solidFill>
                  <a:srgbClr val="FFFFFF"/>
                </a:solidFill>
                <a:latin typeface="맑은 고딕"/>
              </a:defRPr>
            </a:pPr>
            <a:r>
              <a:t>항목</a:t>
            </a:r>
          </a:p>
        </p:txBody>
      </p:sp>
      <p:sp>
        <p:nvSpPr>
          <p:cNvPr id="7" name="Rectangle 6"/>
          <p:cNvSpPr/>
          <p:nvPr/>
        </p:nvSpPr>
        <p:spPr>
          <a:xfrm>
            <a:off x="2926080" y="2011680"/>
            <a:ext cx="877824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011680"/>
            <a:ext cx="8778240" cy="411480"/>
          </a:xfrm>
          <a:prstGeom prst="rect">
            <a:avLst/>
          </a:prstGeom>
          <a:noFill/>
        </p:spPr>
        <p:txBody>
          <a:bodyPr wrap="square">
            <a:spAutoFit/>
          </a:bodyPr>
          <a:lstStyle/>
          <a:p>
            <a:pPr algn="ctr">
              <a:defRPr sz="1300" b="1">
                <a:solidFill>
                  <a:srgbClr val="FFFFFF"/>
                </a:solidFill>
                <a:latin typeface="맑은 고딕"/>
              </a:defRPr>
            </a:pPr>
            <a:r>
              <a:t>내용</a:t>
            </a:r>
          </a:p>
        </p:txBody>
      </p:sp>
      <p:sp>
        <p:nvSpPr>
          <p:cNvPr id="9" name="Rectangle 8"/>
          <p:cNvSpPr/>
          <p:nvPr/>
        </p:nvSpPr>
        <p:spPr>
          <a:xfrm>
            <a:off x="548640" y="2423160"/>
            <a:ext cx="23774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23160"/>
            <a:ext cx="2286000" cy="416051"/>
          </a:xfrm>
          <a:prstGeom prst="rect">
            <a:avLst/>
          </a:prstGeom>
          <a:noFill/>
        </p:spPr>
        <p:txBody>
          <a:bodyPr wrap="square">
            <a:spAutoFit/>
          </a:bodyPr>
          <a:lstStyle/>
          <a:p>
            <a:pPr algn="ctr">
              <a:defRPr sz="1200" b="1">
                <a:solidFill>
                  <a:srgbClr val="00D2FF"/>
                </a:solidFill>
                <a:latin typeface="맑은 고딕"/>
              </a:defRPr>
            </a:pPr>
            <a:r>
              <a:t>예측 목표</a:t>
            </a:r>
          </a:p>
        </p:txBody>
      </p:sp>
      <p:sp>
        <p:nvSpPr>
          <p:cNvPr id="11" name="Rectangle 10"/>
          <p:cNvSpPr/>
          <p:nvPr/>
        </p:nvSpPr>
        <p:spPr>
          <a:xfrm>
            <a:off x="2926080" y="2423160"/>
            <a:ext cx="87782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423160"/>
            <a:ext cx="8686800" cy="416051"/>
          </a:xfrm>
          <a:prstGeom prst="rect">
            <a:avLst/>
          </a:prstGeom>
          <a:noFill/>
        </p:spPr>
        <p:txBody>
          <a:bodyPr wrap="square">
            <a:spAutoFit/>
          </a:bodyPr>
          <a:lstStyle/>
          <a:p>
            <a:pPr algn="ctr">
              <a:defRPr sz="1200" b="0">
                <a:solidFill>
                  <a:srgbClr val="BBBBCC"/>
                </a:solidFill>
                <a:latin typeface="맑은 고딕"/>
              </a:defRPr>
            </a:pPr>
            <a:r>
              <a:t>학력·교육 연수·혼인 상태·직업 등으로 연봉 50K 초과 여부 예측</a:t>
            </a:r>
          </a:p>
        </p:txBody>
      </p:sp>
      <p:sp>
        <p:nvSpPr>
          <p:cNvPr id="13" name="Rectangle 12"/>
          <p:cNvSpPr/>
          <p:nvPr/>
        </p:nvSpPr>
        <p:spPr>
          <a:xfrm>
            <a:off x="548640" y="2839211"/>
            <a:ext cx="23774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39211"/>
            <a:ext cx="2286000" cy="416051"/>
          </a:xfrm>
          <a:prstGeom prst="rect">
            <a:avLst/>
          </a:prstGeom>
          <a:noFill/>
        </p:spPr>
        <p:txBody>
          <a:bodyPr wrap="square">
            <a:spAutoFit/>
          </a:bodyPr>
          <a:lstStyle/>
          <a:p>
            <a:pPr algn="ctr">
              <a:defRPr sz="1200" b="1">
                <a:solidFill>
                  <a:srgbClr val="00D2FF"/>
                </a:solidFill>
                <a:latin typeface="맑은 고딕"/>
              </a:defRPr>
            </a:pPr>
            <a:r>
              <a:t>난이도</a:t>
            </a:r>
          </a:p>
        </p:txBody>
      </p:sp>
      <p:sp>
        <p:nvSpPr>
          <p:cNvPr id="15" name="Rectangle 14"/>
          <p:cNvSpPr/>
          <p:nvPr/>
        </p:nvSpPr>
        <p:spPr>
          <a:xfrm>
            <a:off x="2926080" y="2839211"/>
            <a:ext cx="87782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839211"/>
            <a:ext cx="8686800" cy="416051"/>
          </a:xfrm>
          <a:prstGeom prst="rect">
            <a:avLst/>
          </a:prstGeom>
          <a:noFill/>
        </p:spPr>
        <p:txBody>
          <a:bodyPr wrap="square">
            <a:spAutoFit/>
          </a:bodyPr>
          <a:lstStyle/>
          <a:p>
            <a:pPr algn="ctr">
              <a:defRPr sz="1200" b="0">
                <a:solidFill>
                  <a:srgbClr val="BBBBCC"/>
                </a:solidFill>
                <a:latin typeface="맑은 고딕"/>
              </a:defRPr>
            </a:pPr>
            <a:r>
              <a:t>★★☆ (중급)</a:t>
            </a:r>
          </a:p>
        </p:txBody>
      </p:sp>
      <p:sp>
        <p:nvSpPr>
          <p:cNvPr id="17" name="Rectangle 16"/>
          <p:cNvSpPr/>
          <p:nvPr/>
        </p:nvSpPr>
        <p:spPr>
          <a:xfrm>
            <a:off x="548640" y="3255262"/>
            <a:ext cx="23774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55262"/>
            <a:ext cx="2286000" cy="416051"/>
          </a:xfrm>
          <a:prstGeom prst="rect">
            <a:avLst/>
          </a:prstGeom>
          <a:noFill/>
        </p:spPr>
        <p:txBody>
          <a:bodyPr wrap="square">
            <a:spAutoFit/>
          </a:bodyPr>
          <a:lstStyle/>
          <a:p>
            <a:pPr algn="ctr">
              <a:defRPr sz="1200" b="1">
                <a:solidFill>
                  <a:srgbClr val="00D2FF"/>
                </a:solidFill>
                <a:latin typeface="맑은 고딕"/>
              </a:defRPr>
            </a:pPr>
            <a:r>
              <a:t>알고리즘</a:t>
            </a:r>
          </a:p>
        </p:txBody>
      </p:sp>
      <p:sp>
        <p:nvSpPr>
          <p:cNvPr id="19" name="Rectangle 18"/>
          <p:cNvSpPr/>
          <p:nvPr/>
        </p:nvSpPr>
        <p:spPr>
          <a:xfrm>
            <a:off x="2926080" y="3255262"/>
            <a:ext cx="87782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255262"/>
            <a:ext cx="8686800" cy="416051"/>
          </a:xfrm>
          <a:prstGeom prst="rect">
            <a:avLst/>
          </a:prstGeom>
          <a:noFill/>
        </p:spPr>
        <p:txBody>
          <a:bodyPr wrap="square">
            <a:spAutoFit/>
          </a:bodyPr>
          <a:lstStyle/>
          <a:p>
            <a:pPr algn="ctr">
              <a:defRPr sz="1200" b="0">
                <a:solidFill>
                  <a:srgbClr val="BBBBCC"/>
                </a:solidFill>
                <a:latin typeface="맑은 고딕"/>
              </a:defRPr>
            </a:pPr>
            <a:r>
              <a:t>Decision Tree (결정 트리)</a:t>
            </a:r>
          </a:p>
        </p:txBody>
      </p:sp>
      <p:sp>
        <p:nvSpPr>
          <p:cNvPr id="21" name="Rectangle 20"/>
          <p:cNvSpPr/>
          <p:nvPr/>
        </p:nvSpPr>
        <p:spPr>
          <a:xfrm>
            <a:off x="548640" y="3671313"/>
            <a:ext cx="23774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671313"/>
            <a:ext cx="2286000" cy="416051"/>
          </a:xfrm>
          <a:prstGeom prst="rect">
            <a:avLst/>
          </a:prstGeom>
          <a:noFill/>
        </p:spPr>
        <p:txBody>
          <a:bodyPr wrap="square">
            <a:spAutoFit/>
          </a:bodyPr>
          <a:lstStyle/>
          <a:p>
            <a:pPr algn="ctr">
              <a:defRPr sz="1200" b="1">
                <a:solidFill>
                  <a:srgbClr val="00D2FF"/>
                </a:solidFill>
                <a:latin typeface="맑은 고딕"/>
              </a:defRPr>
            </a:pPr>
            <a:r>
              <a:t>데이터셋 파일</a:t>
            </a:r>
          </a:p>
        </p:txBody>
      </p:sp>
      <p:sp>
        <p:nvSpPr>
          <p:cNvPr id="23" name="Rectangle 22"/>
          <p:cNvSpPr/>
          <p:nvPr/>
        </p:nvSpPr>
        <p:spPr>
          <a:xfrm>
            <a:off x="2926080" y="3671313"/>
            <a:ext cx="87782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3671313"/>
            <a:ext cx="8686800" cy="416051"/>
          </a:xfrm>
          <a:prstGeom prst="rect">
            <a:avLst/>
          </a:prstGeom>
          <a:noFill/>
        </p:spPr>
        <p:txBody>
          <a:bodyPr wrap="square">
            <a:spAutoFit/>
          </a:bodyPr>
          <a:lstStyle/>
          <a:p>
            <a:pPr algn="ctr">
              <a:defRPr sz="1200" b="0">
                <a:solidFill>
                  <a:srgbClr val="BBBBCC"/>
                </a:solidFill>
                <a:latin typeface="맑은 고딕"/>
              </a:defRPr>
            </a:pPr>
            <a:r>
              <a:t>salary.csv  (총 48,842행 · 14개 변수)</a:t>
            </a:r>
          </a:p>
        </p:txBody>
      </p:sp>
      <p:sp>
        <p:nvSpPr>
          <p:cNvPr id="25" name="Rectangle 24"/>
          <p:cNvSpPr/>
          <p:nvPr/>
        </p:nvSpPr>
        <p:spPr>
          <a:xfrm>
            <a:off x="548640" y="4087364"/>
            <a:ext cx="23774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087364"/>
            <a:ext cx="2286000" cy="416051"/>
          </a:xfrm>
          <a:prstGeom prst="rect">
            <a:avLst/>
          </a:prstGeom>
          <a:noFill/>
        </p:spPr>
        <p:txBody>
          <a:bodyPr wrap="square">
            <a:spAutoFit/>
          </a:bodyPr>
          <a:lstStyle/>
          <a:p>
            <a:pPr algn="ctr">
              <a:defRPr sz="1200" b="1">
                <a:solidFill>
                  <a:srgbClr val="00D2FF"/>
                </a:solidFill>
                <a:latin typeface="맑은 고딕"/>
              </a:defRPr>
            </a:pPr>
            <a:r>
              <a:t>종속변수</a:t>
            </a:r>
          </a:p>
        </p:txBody>
      </p:sp>
      <p:sp>
        <p:nvSpPr>
          <p:cNvPr id="27" name="Rectangle 26"/>
          <p:cNvSpPr/>
          <p:nvPr/>
        </p:nvSpPr>
        <p:spPr>
          <a:xfrm>
            <a:off x="2926080" y="4087364"/>
            <a:ext cx="87782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71800" y="4087364"/>
            <a:ext cx="8686800" cy="416051"/>
          </a:xfrm>
          <a:prstGeom prst="rect">
            <a:avLst/>
          </a:prstGeom>
          <a:noFill/>
        </p:spPr>
        <p:txBody>
          <a:bodyPr wrap="square">
            <a:spAutoFit/>
          </a:bodyPr>
          <a:lstStyle/>
          <a:p>
            <a:pPr algn="ctr">
              <a:defRPr sz="1200" b="0">
                <a:solidFill>
                  <a:srgbClr val="BBBBCC"/>
                </a:solidFill>
                <a:latin typeface="맑은 고딕"/>
              </a:defRPr>
            </a:pPr>
            <a:r>
              <a:t>class — &lt;=50K (0) / &gt;50K (1)</a:t>
            </a:r>
          </a:p>
        </p:txBody>
      </p:sp>
      <p:sp>
        <p:nvSpPr>
          <p:cNvPr id="29" name="Rectangle 28"/>
          <p:cNvSpPr/>
          <p:nvPr/>
        </p:nvSpPr>
        <p:spPr>
          <a:xfrm>
            <a:off x="548640" y="4503415"/>
            <a:ext cx="23774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503415"/>
            <a:ext cx="2286000" cy="416051"/>
          </a:xfrm>
          <a:prstGeom prst="rect">
            <a:avLst/>
          </a:prstGeom>
          <a:noFill/>
        </p:spPr>
        <p:txBody>
          <a:bodyPr wrap="square">
            <a:spAutoFit/>
          </a:bodyPr>
          <a:lstStyle/>
          <a:p>
            <a:pPr algn="ctr">
              <a:defRPr sz="1200" b="1">
                <a:solidFill>
                  <a:srgbClr val="00D2FF"/>
                </a:solidFill>
                <a:latin typeface="맑은 고딕"/>
              </a:defRPr>
            </a:pPr>
            <a:r>
              <a:t>독립변수</a:t>
            </a:r>
          </a:p>
        </p:txBody>
      </p:sp>
      <p:sp>
        <p:nvSpPr>
          <p:cNvPr id="31" name="Rectangle 30"/>
          <p:cNvSpPr/>
          <p:nvPr/>
        </p:nvSpPr>
        <p:spPr>
          <a:xfrm>
            <a:off x="2926080" y="4503415"/>
            <a:ext cx="87782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71800" y="4503415"/>
            <a:ext cx="8686800" cy="416051"/>
          </a:xfrm>
          <a:prstGeom prst="rect">
            <a:avLst/>
          </a:prstGeom>
          <a:noFill/>
        </p:spPr>
        <p:txBody>
          <a:bodyPr wrap="square">
            <a:spAutoFit/>
          </a:bodyPr>
          <a:lstStyle/>
          <a:p>
            <a:pPr algn="ctr">
              <a:defRPr sz="1200" b="0">
                <a:solidFill>
                  <a:srgbClr val="BBBBCC"/>
                </a:solidFill>
                <a:latin typeface="맑은 고딕"/>
              </a:defRPr>
            </a:pPr>
            <a:r>
              <a:t>age, workclass, education, education-num, marital-status, occupation, relationship, race, sex, capital-gain, capital-loss, hours-per-week, native-country</a:t>
            </a:r>
          </a:p>
        </p:txBody>
      </p:sp>
      <p:sp>
        <p:nvSpPr>
          <p:cNvPr id="33" name="Rectangle 32"/>
          <p:cNvSpPr/>
          <p:nvPr/>
        </p:nvSpPr>
        <p:spPr>
          <a:xfrm>
            <a:off x="548640" y="4919466"/>
            <a:ext cx="23774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4919466"/>
            <a:ext cx="2286000" cy="416051"/>
          </a:xfrm>
          <a:prstGeom prst="rect">
            <a:avLst/>
          </a:prstGeom>
          <a:noFill/>
        </p:spPr>
        <p:txBody>
          <a:bodyPr wrap="square">
            <a:spAutoFit/>
          </a:bodyPr>
          <a:lstStyle/>
          <a:p>
            <a:pPr algn="ctr">
              <a:defRPr sz="1200" b="1">
                <a:solidFill>
                  <a:srgbClr val="00D2FF"/>
                </a:solidFill>
                <a:latin typeface="맑은 고딕"/>
              </a:defRPr>
            </a:pPr>
            <a:r>
              <a:t>문제 유형</a:t>
            </a:r>
          </a:p>
        </p:txBody>
      </p:sp>
      <p:sp>
        <p:nvSpPr>
          <p:cNvPr id="35" name="Rectangle 34"/>
          <p:cNvSpPr/>
          <p:nvPr/>
        </p:nvSpPr>
        <p:spPr>
          <a:xfrm>
            <a:off x="2926080" y="4919466"/>
            <a:ext cx="87782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71800" y="4919466"/>
            <a:ext cx="8686800" cy="416051"/>
          </a:xfrm>
          <a:prstGeom prst="rect">
            <a:avLst/>
          </a:prstGeom>
          <a:noFill/>
        </p:spPr>
        <p:txBody>
          <a:bodyPr wrap="square">
            <a:spAutoFit/>
          </a:bodyPr>
          <a:lstStyle/>
          <a:p>
            <a:pPr algn="ctr">
              <a:defRPr sz="1200" b="0">
                <a:solidFill>
                  <a:srgbClr val="BBBBCC"/>
                </a:solidFill>
                <a:latin typeface="맑은 고딕"/>
              </a:defRPr>
            </a:pPr>
            <a:r>
              <a:t>분류 (Classification)</a:t>
            </a:r>
          </a:p>
        </p:txBody>
      </p:sp>
      <p:sp>
        <p:nvSpPr>
          <p:cNvPr id="37" name="Rectangle 36"/>
          <p:cNvSpPr/>
          <p:nvPr/>
        </p:nvSpPr>
        <p:spPr>
          <a:xfrm>
            <a:off x="548640" y="5335517"/>
            <a:ext cx="23774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5335517"/>
            <a:ext cx="2286000" cy="416051"/>
          </a:xfrm>
          <a:prstGeom prst="rect">
            <a:avLst/>
          </a:prstGeom>
          <a:noFill/>
        </p:spPr>
        <p:txBody>
          <a:bodyPr wrap="square">
            <a:spAutoFit/>
          </a:bodyPr>
          <a:lstStyle/>
          <a:p>
            <a:pPr algn="ctr">
              <a:defRPr sz="1200" b="1">
                <a:solidFill>
                  <a:srgbClr val="00D2FF"/>
                </a:solidFill>
                <a:latin typeface="맑은 고딕"/>
              </a:defRPr>
            </a:pPr>
            <a:r>
              <a:t>평가 지표</a:t>
            </a:r>
          </a:p>
        </p:txBody>
      </p:sp>
      <p:sp>
        <p:nvSpPr>
          <p:cNvPr id="39" name="Rectangle 38"/>
          <p:cNvSpPr/>
          <p:nvPr/>
        </p:nvSpPr>
        <p:spPr>
          <a:xfrm>
            <a:off x="2926080" y="5335517"/>
            <a:ext cx="87782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71800" y="5335517"/>
            <a:ext cx="8686800" cy="416051"/>
          </a:xfrm>
          <a:prstGeom prst="rect">
            <a:avLst/>
          </a:prstGeom>
          <a:noFill/>
        </p:spPr>
        <p:txBody>
          <a:bodyPr wrap="square">
            <a:spAutoFit/>
          </a:bodyPr>
          <a:lstStyle/>
          <a:p>
            <a:pPr algn="ctr">
              <a:defRPr sz="1200" b="0">
                <a:solidFill>
                  <a:srgbClr val="BBBBCC"/>
                </a:solidFill>
                <a:latin typeface="맑은 고딕"/>
              </a:defRPr>
            </a:pPr>
            <a:r>
              <a:t>정확도 (Accuracy)</a:t>
            </a:r>
          </a:p>
        </p:txBody>
      </p:sp>
      <p:sp>
        <p:nvSpPr>
          <p:cNvPr id="41" name="Rectangle 40"/>
          <p:cNvSpPr/>
          <p:nvPr/>
        </p:nvSpPr>
        <p:spPr>
          <a:xfrm>
            <a:off x="548640" y="5751568"/>
            <a:ext cx="23774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5751568"/>
            <a:ext cx="2286000" cy="416051"/>
          </a:xfrm>
          <a:prstGeom prst="rect">
            <a:avLst/>
          </a:prstGeom>
          <a:noFill/>
        </p:spPr>
        <p:txBody>
          <a:bodyPr wrap="square">
            <a:spAutoFit/>
          </a:bodyPr>
          <a:lstStyle/>
          <a:p>
            <a:pPr algn="ctr">
              <a:defRPr sz="1200" b="1">
                <a:solidFill>
                  <a:srgbClr val="00D2FF"/>
                </a:solidFill>
                <a:latin typeface="맑은 고딕"/>
              </a:defRPr>
            </a:pPr>
            <a:r>
              <a:t>사용 모델</a:t>
            </a:r>
          </a:p>
        </p:txBody>
      </p:sp>
      <p:sp>
        <p:nvSpPr>
          <p:cNvPr id="43" name="Rectangle 42"/>
          <p:cNvSpPr/>
          <p:nvPr/>
        </p:nvSpPr>
        <p:spPr>
          <a:xfrm>
            <a:off x="2926080" y="5751568"/>
            <a:ext cx="8778240" cy="416051"/>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71800" y="5751568"/>
            <a:ext cx="8686800" cy="416051"/>
          </a:xfrm>
          <a:prstGeom prst="rect">
            <a:avLst/>
          </a:prstGeom>
          <a:noFill/>
        </p:spPr>
        <p:txBody>
          <a:bodyPr wrap="square">
            <a:spAutoFit/>
          </a:bodyPr>
          <a:lstStyle/>
          <a:p>
            <a:pPr algn="ctr">
              <a:defRPr sz="1200" b="0">
                <a:solidFill>
                  <a:srgbClr val="BBBBCC"/>
                </a:solidFill>
                <a:latin typeface="맑은 고딕"/>
              </a:defRPr>
            </a:pPr>
            <a:r>
              <a:t>sklearn.tree.DecisionTreeClassifier</a:t>
            </a:r>
          </a:p>
        </p:txBody>
      </p:sp>
      <p:sp>
        <p:nvSpPr>
          <p:cNvPr id="45" name="Rectangle 44"/>
          <p:cNvSpPr/>
          <p:nvPr/>
        </p:nvSpPr>
        <p:spPr>
          <a:xfrm>
            <a:off x="548640" y="6167619"/>
            <a:ext cx="23774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6167619"/>
            <a:ext cx="2286000" cy="416051"/>
          </a:xfrm>
          <a:prstGeom prst="rect">
            <a:avLst/>
          </a:prstGeom>
          <a:noFill/>
        </p:spPr>
        <p:txBody>
          <a:bodyPr wrap="square">
            <a:spAutoFit/>
          </a:bodyPr>
          <a:lstStyle/>
          <a:p>
            <a:pPr algn="ctr">
              <a:defRPr sz="1200" b="1">
                <a:solidFill>
                  <a:srgbClr val="00D2FF"/>
                </a:solidFill>
                <a:latin typeface="맑은 고딕"/>
              </a:defRPr>
            </a:pPr>
            <a:r>
              <a:t>라이브러리</a:t>
            </a:r>
          </a:p>
        </p:txBody>
      </p:sp>
      <p:sp>
        <p:nvSpPr>
          <p:cNvPr id="47" name="Rectangle 46"/>
          <p:cNvSpPr/>
          <p:nvPr/>
        </p:nvSpPr>
        <p:spPr>
          <a:xfrm>
            <a:off x="2926080" y="6167619"/>
            <a:ext cx="8778240" cy="416051"/>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71800" y="6167619"/>
            <a:ext cx="8686800" cy="416051"/>
          </a:xfrm>
          <a:prstGeom prst="rect">
            <a:avLst/>
          </a:prstGeom>
          <a:noFill/>
        </p:spPr>
        <p:txBody>
          <a:bodyPr wrap="square">
            <a:spAutoFit/>
          </a:bodyPr>
          <a:lstStyle/>
          <a:p>
            <a:pPr algn="ctr">
              <a:defRPr sz="1200" b="0">
                <a:solidFill>
                  <a:srgbClr val="BBBBCC"/>
                </a:solidFill>
                <a:latin typeface="맑은 고딕"/>
              </a:defRPr>
            </a:pPr>
            <a:r>
              <a:t>numpy, pandas, seaborn, matplotlib, scikit-learn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8.2</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8.2</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라이브러리 &amp; 데이터 불러오기</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salary.csv 로딩 + head / info / describe 로 데이터 확인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8.2 라이브러리 임포트 + CSV 로딩</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skipinitialspace=True 옵션이 핵심 (앞 공백 자동 제거)</a:t>
            </a:r>
          </a:p>
        </p:txBody>
      </p:sp>
      <p:sp>
        <p:nvSpPr>
          <p:cNvPr id="5" name="Rounded Rectangle 4"/>
          <p:cNvSpPr/>
          <p:nvPr/>
        </p:nvSpPr>
        <p:spPr>
          <a:xfrm>
            <a:off x="548640" y="1920240"/>
            <a:ext cx="11155680" cy="466344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10789920" cy="4389120"/>
          </a:xfrm>
          <a:prstGeom prst="rect">
            <a:avLst/>
          </a:prstGeom>
          <a:noFill/>
        </p:spPr>
        <p:txBody>
          <a:bodyPr wrap="square">
            <a:spAutoFit/>
          </a:bodyPr>
          <a:lstStyle/>
          <a:p>
            <a:pPr>
              <a:spcAft>
                <a:spcPts val="200"/>
              </a:spcAft>
              <a:defRPr sz="1100">
                <a:solidFill>
                  <a:srgbClr val="00E696"/>
                </a:solidFill>
                <a:latin typeface="Consolas"/>
              </a:defRPr>
            </a:pPr>
            <a:r>
              <a:t>import pandas as pd</a:t>
            </a:r>
          </a:p>
          <a:p>
            <a:pPr>
              <a:spcAft>
                <a:spcPts val="200"/>
              </a:spcAft>
              <a:defRPr sz="1100">
                <a:solidFill>
                  <a:srgbClr val="00E696"/>
                </a:solidFill>
                <a:latin typeface="Consolas"/>
              </a:defRPr>
            </a:pPr>
            <a:r>
              <a:t>import numpy as np</a:t>
            </a:r>
          </a:p>
          <a:p>
            <a:pPr>
              <a:spcAft>
                <a:spcPts val="200"/>
              </a:spcAft>
              <a:defRPr sz="1100">
                <a:solidFill>
                  <a:srgbClr val="00E696"/>
                </a:solidFill>
                <a:latin typeface="Consolas"/>
              </a:defRPr>
            </a:pPr>
            <a:r>
              <a:t>import matplotlib.pyplot as plt</a:t>
            </a:r>
          </a:p>
          <a:p>
            <a:pPr>
              <a:spcAft>
                <a:spcPts val="200"/>
              </a:spcAft>
              <a:defRPr sz="1100">
                <a:solidFill>
                  <a:srgbClr val="00E696"/>
                </a:solidFill>
                <a:latin typeface="Consolas"/>
              </a:defRPr>
            </a:pPr>
            <a:r>
              <a:t>import seaborn as sns</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salary.csv 데이터 로딩</a:t>
            </a:r>
          </a:p>
          <a:p>
            <a:pPr>
              <a:spcAft>
                <a:spcPts val="200"/>
              </a:spcAft>
              <a:defRPr sz="1100">
                <a:solidFill>
                  <a:srgbClr val="00E696"/>
                </a:solidFill>
                <a:latin typeface="Consolas"/>
              </a:defRPr>
            </a:pPr>
            <a:r>
              <a:t>file_url = ('https://media.githubusercontent.com/media/'</a:t>
            </a:r>
          </a:p>
          <a:p>
            <a:pPr>
              <a:spcAft>
                <a:spcPts val="200"/>
              </a:spcAft>
              <a:defRPr sz="1100">
                <a:solidFill>
                  <a:srgbClr val="00E696"/>
                </a:solidFill>
                <a:latin typeface="Consolas"/>
              </a:defRPr>
            </a:pPr>
            <a:r>
              <a:t>            'musthave-ML10/data_source/main/salary.csv')</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data = pd.read_csv(file_url, skipinitialspace=True)</a:t>
            </a:r>
          </a:p>
          <a:p>
            <a:pPr>
              <a:spcAft>
                <a:spcPts val="200"/>
              </a:spcAft>
              <a:defRPr sz="1100">
                <a:solidFill>
                  <a:srgbClr val="00E696"/>
                </a:solidFill>
                <a:latin typeface="Consolas"/>
              </a:defRPr>
            </a:pPr>
            <a:r>
              <a:t># ↑ skipinitialspace=True : 각 데이터의 첫 자리 공백 자동 제거</a:t>
            </a:r>
          </a:p>
          <a:p>
            <a:pPr>
              <a:spcAft>
                <a:spcPts val="200"/>
              </a:spcAft>
              <a:defRPr sz="1100">
                <a:solidFill>
                  <a:srgbClr val="00E696"/>
                </a:solidFill>
                <a:latin typeface="Consolas"/>
              </a:defRPr>
            </a:pPr>
            <a:r>
              <a:t>#   예) ' Male' → 'Male' 로 정리</a:t>
            </a:r>
          </a:p>
          <a:p>
            <a:pPr>
              <a:spcAft>
                <a:spcPts val="200"/>
              </a:spcAft>
              <a:defRPr sz="1100">
                <a:solidFill>
                  <a:srgbClr val="00E696"/>
                </a:solidFill>
                <a:latin typeface="Consolas"/>
              </a:defRPr>
            </a:pPr>
            <a:r>
              <a:t>#   본 CSV 파일은 불필요한 공란이 많아 반드시 적용</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데이터의 전반적 모습 확인</a:t>
            </a:r>
          </a:p>
          <a:p>
            <a:pPr>
              <a:spcAft>
                <a:spcPts val="200"/>
              </a:spcAft>
              <a:defRPr sz="1100">
                <a:solidFill>
                  <a:srgbClr val="00E696"/>
                </a:solidFill>
                <a:latin typeface="Consolas"/>
              </a:defRPr>
            </a:pPr>
            <a:r>
              <a:t>data.head()       # 상위 5개 행 출력</a:t>
            </a:r>
          </a:p>
          <a:p>
            <a:pPr>
              <a:spcAft>
                <a:spcPts val="200"/>
              </a:spcAft>
              <a:defRPr sz="1100">
                <a:solidFill>
                  <a:srgbClr val="00E696"/>
                </a:solidFill>
                <a:latin typeface="Consolas"/>
              </a:defRPr>
            </a:pPr>
            <a:r>
              <a:t>data.info()       # 자료형·결측치 확인</a:t>
            </a:r>
          </a:p>
          <a:p>
            <a:pPr>
              <a:spcAft>
                <a:spcPts val="200"/>
              </a:spcAft>
              <a:defRPr sz="1100">
                <a:solidFill>
                  <a:srgbClr val="00E696"/>
                </a:solidFill>
                <a:latin typeface="Consolas"/>
              </a:defRPr>
            </a:pPr>
            <a:r>
              <a:t>data.describe()   # 통계량 확인 (숫자형만)</a:t>
            </a:r>
          </a:p>
          <a:p>
            <a:pPr>
              <a:spcAft>
                <a:spcPts val="200"/>
              </a:spcAft>
              <a:defRPr sz="1100">
                <a:solidFill>
                  <a:srgbClr val="00E696"/>
                </a:solidFill>
                <a:latin typeface="Consolas"/>
              </a:defRPr>
            </a:pPr>
            <a:r>
              <a:t>data.describe(include='all')  # object형까지 포함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8.2 데이터 확인 결과 요약</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범주형 9개 + 숫자형 5개 + 결측치 3개 변수</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데이터 구조</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총 48,842 entries × 14 columns</a:t>
            </a:r>
          </a:p>
          <a:p>
            <a:pPr>
              <a:spcAft>
                <a:spcPts val="800"/>
              </a:spcAft>
              <a:defRPr sz="1400">
                <a:solidFill>
                  <a:srgbClr val="BBBBCC"/>
                </a:solidFill>
                <a:latin typeface="맑은 고딕"/>
              </a:defRPr>
            </a:pPr>
            <a:r>
              <a:t>메모리 사용량: 5.2 MB</a:t>
            </a:r>
          </a:p>
          <a:p>
            <a:pPr>
              <a:spcAft>
                <a:spcPts val="800"/>
              </a:spcAft>
              <a:defRPr sz="1400">
                <a:solidFill>
                  <a:srgbClr val="BBBBCC"/>
                </a:solidFill>
                <a:latin typeface="맑은 고딕"/>
              </a:defRPr>
            </a:pPr>
            <a:r>
              <a:t>숫자형 (int64) 5개:</a:t>
            </a:r>
          </a:p>
          <a:p>
            <a:pPr>
              <a:spcAft>
                <a:spcPts val="800"/>
              </a:spcAft>
              <a:defRPr sz="1400">
                <a:solidFill>
                  <a:srgbClr val="BBBBCC"/>
                </a:solidFill>
                <a:latin typeface="맑은 고딕"/>
              </a:defRPr>
            </a:pPr>
            <a:r>
              <a:t>   age, education-num, capital-gain,</a:t>
            </a:r>
          </a:p>
          <a:p>
            <a:pPr>
              <a:spcAft>
                <a:spcPts val="800"/>
              </a:spcAft>
              <a:defRPr sz="1400">
                <a:solidFill>
                  <a:srgbClr val="BBBBCC"/>
                </a:solidFill>
                <a:latin typeface="맑은 고딕"/>
              </a:defRPr>
            </a:pPr>
            <a:r>
              <a:t>   capital-loss, hours-per-week</a:t>
            </a:r>
          </a:p>
          <a:p>
            <a:pPr>
              <a:spcAft>
                <a:spcPts val="800"/>
              </a:spcAft>
              <a:defRPr sz="1400">
                <a:solidFill>
                  <a:srgbClr val="BBBBCC"/>
                </a:solidFill>
                <a:latin typeface="맑은 고딕"/>
              </a:defRPr>
            </a:pPr>
            <a:r>
              <a:t>범주형 (object) 9개:</a:t>
            </a:r>
          </a:p>
          <a:p>
            <a:pPr>
              <a:spcAft>
                <a:spcPts val="800"/>
              </a:spcAft>
              <a:defRPr sz="1400">
                <a:solidFill>
                  <a:srgbClr val="BBBBCC"/>
                </a:solidFill>
                <a:latin typeface="맑은 고딕"/>
              </a:defRPr>
            </a:pPr>
            <a:r>
              <a:t>   workclass, education, marital-status,</a:t>
            </a:r>
          </a:p>
          <a:p>
            <a:pPr>
              <a:spcAft>
                <a:spcPts val="800"/>
              </a:spcAft>
              <a:defRPr sz="1400">
                <a:solidFill>
                  <a:srgbClr val="BBBBCC"/>
                </a:solidFill>
                <a:latin typeface="맑은 고딕"/>
              </a:defRPr>
            </a:pPr>
            <a:r>
              <a:t>   occupation, relationship, race, sex,</a:t>
            </a:r>
          </a:p>
          <a:p>
            <a:pPr>
              <a:spcAft>
                <a:spcPts val="800"/>
              </a:spcAft>
              <a:defRPr sz="1400">
                <a:solidFill>
                  <a:srgbClr val="BBBBCC"/>
                </a:solidFill>
                <a:latin typeface="맑은 고딕"/>
              </a:defRPr>
            </a:pPr>
            <a:r>
              <a:t>   native-country, class</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결측치 현황 (info 결과)</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workclass:        46,043 / 48,842  (≈ 5.7%)</a:t>
            </a:r>
          </a:p>
          <a:p>
            <a:pPr>
              <a:spcAft>
                <a:spcPts val="800"/>
              </a:spcAft>
              <a:defRPr sz="1400">
                <a:solidFill>
                  <a:srgbClr val="BBBBCC"/>
                </a:solidFill>
                <a:latin typeface="맑은 고딕"/>
              </a:defRPr>
            </a:pPr>
            <a:r>
              <a:t>occupation:       46,033 / 48,842  (≈ 5.8%)</a:t>
            </a:r>
          </a:p>
          <a:p>
            <a:pPr>
              <a:spcAft>
                <a:spcPts val="800"/>
              </a:spcAft>
              <a:defRPr sz="1400">
                <a:solidFill>
                  <a:srgbClr val="BBBBCC"/>
                </a:solidFill>
                <a:latin typeface="맑은 고딕"/>
              </a:defRPr>
            </a:pPr>
            <a:r>
              <a:t>native-country:   47,985 / 48,842  (≈ 1.7%)</a:t>
            </a:r>
          </a:p>
          <a:p>
            <a:pPr>
              <a:spcAft>
                <a:spcPts val="800"/>
              </a:spcAft>
              <a:defRPr sz="1400">
                <a:solidFill>
                  <a:srgbClr val="BBBBCC"/>
                </a:solidFill>
                <a:latin typeface="맑은 고딕"/>
              </a:defRPr>
            </a:pPr>
            <a:r>
              <a:t>나머지 11개 변수: 결측치 없음</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 8.4절에서 처리 예정</a:t>
            </a:r>
          </a:p>
          <a:p>
            <a:pPr>
              <a:spcAft>
                <a:spcPts val="800"/>
              </a:spcAft>
              <a:defRPr sz="1400">
                <a:solidFill>
                  <a:srgbClr val="BBBBCC"/>
                </a:solidFill>
                <a:latin typeface="맑은 고딕"/>
              </a:defRPr>
            </a:pPr>
            <a:r>
              <a:t>   workclass : "Private"으로 채우기</a:t>
            </a:r>
          </a:p>
          <a:p>
            <a:pPr>
              <a:spcAft>
                <a:spcPts val="800"/>
              </a:spcAft>
              <a:defRPr sz="1400">
                <a:solidFill>
                  <a:srgbClr val="BBBBCC"/>
                </a:solidFill>
                <a:latin typeface="맑은 고딕"/>
              </a:defRPr>
            </a:pPr>
            <a:r>
              <a:t>   occupation: "Unknown"으로 채우기</a:t>
            </a:r>
          </a:p>
          <a:p>
            <a:pPr>
              <a:spcAft>
                <a:spcPts val="800"/>
              </a:spcAft>
              <a:defRPr sz="1400">
                <a:solidFill>
                  <a:srgbClr val="BBBBCC"/>
                </a:solidFill>
                <a:latin typeface="맑은 고딕"/>
              </a:defRPr>
            </a:pPr>
            <a:r>
              <a:t>   native-country : -99로 채우기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8.3</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8.3</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전처리: 범주형 데이터</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종속변수 변환 → object 변수 식별 → education / occupation / native-country 처리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8.3 종속변수 변환 + object형 변수 식별</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class : &lt;=50K → 0, &gt;50K → 1   ·   obj_list 추출</a:t>
            </a:r>
          </a:p>
        </p:txBody>
      </p:sp>
      <p:sp>
        <p:nvSpPr>
          <p:cNvPr id="5" name="Rounded Rectangle 4"/>
          <p:cNvSpPr/>
          <p:nvPr/>
        </p:nvSpPr>
        <p:spPr>
          <a:xfrm>
            <a:off x="548640" y="1920240"/>
            <a:ext cx="11155680" cy="466344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10789920" cy="4389120"/>
          </a:xfrm>
          <a:prstGeom prst="rect">
            <a:avLst/>
          </a:prstGeom>
          <a:noFill/>
        </p:spPr>
        <p:txBody>
          <a:bodyPr wrap="square">
            <a:spAutoFit/>
          </a:bodyPr>
          <a:lstStyle/>
          <a:p>
            <a:pPr>
              <a:spcAft>
                <a:spcPts val="200"/>
              </a:spcAft>
              <a:defRPr sz="1100">
                <a:solidFill>
                  <a:srgbClr val="00E696"/>
                </a:solidFill>
                <a:latin typeface="Consolas"/>
              </a:defRPr>
            </a:pPr>
            <a:r>
              <a:t># (1) 종속변수 class 를 0/1 로 변환 — 차후 해석 일관성</a:t>
            </a:r>
          </a:p>
          <a:p>
            <a:pPr>
              <a:spcAft>
                <a:spcPts val="200"/>
              </a:spcAft>
              <a:defRPr sz="1100">
                <a:solidFill>
                  <a:srgbClr val="00E696"/>
                </a:solidFill>
                <a:latin typeface="Consolas"/>
              </a:defRPr>
            </a:pPr>
            <a:r>
              <a:t>data['class'] = data['class'].map({'&lt;=50K': 0, '&gt;50K': 1})</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(2) 변수별 자료형 확인 (for 루프)</a:t>
            </a:r>
          </a:p>
          <a:p>
            <a:pPr>
              <a:spcAft>
                <a:spcPts val="200"/>
              </a:spcAft>
              <a:defRPr sz="1100">
                <a:solidFill>
                  <a:srgbClr val="00E696"/>
                </a:solidFill>
                <a:latin typeface="Consolas"/>
              </a:defRPr>
            </a:pPr>
            <a:r>
              <a:t>for i in data.columns:</a:t>
            </a:r>
          </a:p>
          <a:p>
            <a:pPr>
              <a:spcAft>
                <a:spcPts val="200"/>
              </a:spcAft>
              <a:defRPr sz="1100">
                <a:solidFill>
                  <a:srgbClr val="00E696"/>
                </a:solidFill>
                <a:latin typeface="Consolas"/>
              </a:defRPr>
            </a:pPr>
            <a:r>
              <a:t>    print(i, data[i].dtype)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(3) object형 변수 이름만 별도 리스트로 모으기</a:t>
            </a:r>
          </a:p>
          <a:p>
            <a:pPr>
              <a:spcAft>
                <a:spcPts val="200"/>
              </a:spcAft>
              <a:defRPr sz="1100">
                <a:solidFill>
                  <a:srgbClr val="00E696"/>
                </a:solidFill>
                <a:latin typeface="Consolas"/>
              </a:defRPr>
            </a:pPr>
            <a:r>
              <a:t>obj_list = []</a:t>
            </a:r>
          </a:p>
          <a:p>
            <a:pPr>
              <a:spcAft>
                <a:spcPts val="200"/>
              </a:spcAft>
              <a:defRPr sz="1100">
                <a:solidFill>
                  <a:srgbClr val="00E696"/>
                </a:solidFill>
                <a:latin typeface="Consolas"/>
              </a:defRPr>
            </a:pPr>
            <a:r>
              <a:t>for i in data.columns:</a:t>
            </a:r>
          </a:p>
          <a:p>
            <a:pPr>
              <a:spcAft>
                <a:spcPts val="200"/>
              </a:spcAft>
              <a:defRPr sz="1100">
                <a:solidFill>
                  <a:srgbClr val="00E696"/>
                </a:solidFill>
                <a:latin typeface="Consolas"/>
              </a:defRPr>
            </a:pPr>
            <a:r>
              <a:t>    if data[i].dtype == 'object':</a:t>
            </a:r>
          </a:p>
          <a:p>
            <a:pPr>
              <a:spcAft>
                <a:spcPts val="200"/>
              </a:spcAft>
              <a:defRPr sz="1100">
                <a:solidFill>
                  <a:srgbClr val="00E696"/>
                </a:solidFill>
                <a:latin typeface="Consolas"/>
              </a:defRPr>
            </a:pPr>
            <a:r>
              <a:t>        obj_list.append(i)</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결과: 8개의 object형 독립변수</a:t>
            </a:r>
          </a:p>
          <a:p>
            <a:pPr>
              <a:spcAft>
                <a:spcPts val="200"/>
              </a:spcAft>
              <a:defRPr sz="1100">
                <a:solidFill>
                  <a:srgbClr val="00E696"/>
                </a:solidFill>
                <a:latin typeface="Consolas"/>
              </a:defRPr>
            </a:pPr>
            <a:r>
              <a:t># ['workclass', 'education', 'marital-status', 'occupation',</a:t>
            </a:r>
          </a:p>
          <a:p>
            <a:pPr>
              <a:spcAft>
                <a:spcPts val="200"/>
              </a:spcAft>
              <a:defRPr sz="1100">
                <a:solidFill>
                  <a:srgbClr val="00E696"/>
                </a:solidFill>
                <a:latin typeface="Consolas"/>
              </a:defRPr>
            </a:pPr>
            <a:r>
              <a:t>#  'relationship', 'race', 'sex', 'native-country']</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(4) 각 object 변수의 고윳값 개수 확인</a:t>
            </a:r>
          </a:p>
          <a:p>
            <a:pPr>
              <a:spcAft>
                <a:spcPts val="200"/>
              </a:spcAft>
              <a:defRPr sz="1100">
                <a:solidFill>
                  <a:srgbClr val="00E696"/>
                </a:solidFill>
                <a:latin typeface="Consolas"/>
              </a:defRPr>
            </a:pPr>
            <a:r>
              <a:t>for i in obj_list:</a:t>
            </a:r>
          </a:p>
          <a:p>
            <a:pPr>
              <a:spcAft>
                <a:spcPts val="200"/>
              </a:spcAft>
              <a:defRPr sz="1100">
                <a:solidFill>
                  <a:srgbClr val="00E696"/>
                </a:solidFill>
                <a:latin typeface="Consolas"/>
              </a:defRPr>
            </a:pPr>
            <a:r>
              <a:t>    print(i, data[i].nunique())</a:t>
            </a:r>
          </a:p>
          <a:p>
            <a:pPr>
              <a:spcAft>
                <a:spcPts val="200"/>
              </a:spcAft>
              <a:defRPr sz="1100">
                <a:solidFill>
                  <a:srgbClr val="00E696"/>
                </a:solidFill>
                <a:latin typeface="Consolas"/>
              </a:defRPr>
            </a:pPr>
            <a:r>
              <a:t>#   workclass 8        education 16        marital-status 7</a:t>
            </a:r>
          </a:p>
          <a:p>
            <a:pPr>
              <a:spcAft>
                <a:spcPts val="200"/>
              </a:spcAft>
              <a:defRPr sz="1100">
                <a:solidFill>
                  <a:srgbClr val="00E696"/>
                </a:solidFill>
                <a:latin typeface="Consolas"/>
              </a:defRPr>
            </a:pPr>
            <a:r>
              <a:t>#   occupation 14      relationship 6      race 5</a:t>
            </a:r>
          </a:p>
          <a:p>
            <a:pPr>
              <a:spcAft>
                <a:spcPts val="200"/>
              </a:spcAft>
              <a:defRPr sz="1100">
                <a:solidFill>
                  <a:srgbClr val="00E696"/>
                </a:solidFill>
                <a:latin typeface="Consolas"/>
              </a:defRPr>
            </a:pPr>
            <a:r>
              <a:t>#   sex 2              native-country 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8.3.3 education 변수 처리 — 서열화 활용</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이미 동일 정보의 서열형 변수 education-num이 존재 → drop</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값의 분포 확인</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data['education'].value_counts()</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HS-grad         15784   (고졸)</a:t>
            </a:r>
          </a:p>
          <a:p>
            <a:pPr>
              <a:spcAft>
                <a:spcPts val="800"/>
              </a:spcAft>
              <a:defRPr sz="1400">
                <a:solidFill>
                  <a:srgbClr val="BBBBCC"/>
                </a:solidFill>
                <a:latin typeface="맑은 고딕"/>
              </a:defRPr>
            </a:pPr>
            <a:r>
              <a:t>Some-college    10878   (대학중퇴/재학)</a:t>
            </a:r>
          </a:p>
          <a:p>
            <a:pPr>
              <a:spcAft>
                <a:spcPts val="800"/>
              </a:spcAft>
              <a:defRPr sz="1400">
                <a:solidFill>
                  <a:srgbClr val="BBBBCC"/>
                </a:solidFill>
                <a:latin typeface="맑은 고딕"/>
              </a:defRPr>
            </a:pPr>
            <a:r>
              <a:t>Bachelors        8025   (학사)</a:t>
            </a:r>
          </a:p>
          <a:p>
            <a:pPr>
              <a:spcAft>
                <a:spcPts val="800"/>
              </a:spcAft>
              <a:defRPr sz="1400">
                <a:solidFill>
                  <a:srgbClr val="BBBBCC"/>
                </a:solidFill>
                <a:latin typeface="맑은 고딕"/>
              </a:defRPr>
            </a:pPr>
            <a:r>
              <a:t>Masters          2657   (석사)</a:t>
            </a:r>
          </a:p>
          <a:p>
            <a:pPr>
              <a:spcAft>
                <a:spcPts val="800"/>
              </a:spcAft>
              <a:defRPr sz="1400">
                <a:solidFill>
                  <a:srgbClr val="BBBBCC"/>
                </a:solidFill>
                <a:latin typeface="맑은 고딕"/>
              </a:defRPr>
            </a:pPr>
            <a:r>
              <a:t>Assoc-voc        2061</a:t>
            </a:r>
          </a:p>
          <a:p>
            <a:pPr>
              <a:spcAft>
                <a:spcPts val="800"/>
              </a:spcAft>
              <a:defRPr sz="1400">
                <a:solidFill>
                  <a:srgbClr val="BBBBCC"/>
                </a:solidFill>
                <a:latin typeface="맑은 고딕"/>
              </a:defRPr>
            </a:pPr>
            <a:r>
              <a:t>11th             1812</a:t>
            </a:r>
          </a:p>
          <a:p>
            <a:pPr>
              <a:spcAft>
                <a:spcPts val="800"/>
              </a:spcAft>
              <a:defRPr sz="1400">
                <a:solidFill>
                  <a:srgbClr val="BBBBCC"/>
                </a:solidFill>
                <a:latin typeface="맑은 고딕"/>
              </a:defRPr>
            </a:pPr>
            <a:r>
              <a:t>… (전 16개 카테고리)</a:t>
            </a:r>
          </a:p>
          <a:p>
            <a:pPr>
              <a:spcAft>
                <a:spcPts val="800"/>
              </a:spcAft>
              <a:defRPr sz="1400">
                <a:solidFill>
                  <a:srgbClr val="BBBBCC"/>
                </a:solidFill>
                <a:latin typeface="맑은 고딕"/>
              </a:defRPr>
            </a:pPr>
            <a:r>
              <a:t>Doctorate         594   (박사)</a:t>
            </a:r>
          </a:p>
          <a:p>
            <a:pPr>
              <a:spcAft>
                <a:spcPts val="800"/>
              </a:spcAft>
              <a:defRPr sz="1400">
                <a:solidFill>
                  <a:srgbClr val="BBBBCC"/>
                </a:solidFill>
                <a:latin typeface="맑은 고딕"/>
              </a:defRPr>
            </a:pPr>
            <a:r>
              <a:t>Preschool          83   (유치원)</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핵심 통찰: 이미 서열화 되어 있다</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서열형 범주: 학력은 자연스러운 순서가 있음</a:t>
            </a:r>
          </a:p>
          <a:p>
            <a:pPr>
              <a:spcAft>
                <a:spcPts val="800"/>
              </a:spcAft>
              <a:defRPr sz="1400">
                <a:solidFill>
                  <a:srgbClr val="BBBBCC"/>
                </a:solidFill>
                <a:latin typeface="맑은 고딕"/>
              </a:defRPr>
            </a:pPr>
            <a:r>
              <a:t>   Preschool &lt; 1st-4th &lt; … &lt; Bachelors &lt; … &lt; Doctorate</a:t>
            </a:r>
          </a:p>
          <a:p>
            <a:pPr>
              <a:spcAft>
                <a:spcPts val="800"/>
              </a:spcAft>
              <a:defRPr sz="1400">
                <a:solidFill>
                  <a:srgbClr val="BBBBCC"/>
                </a:solidFill>
                <a:latin typeface="맑은 고딕"/>
              </a:defRPr>
            </a:pPr>
            <a:r>
              <a:t>데이터에 education-num 변수가 이미 존재!</a:t>
            </a:r>
          </a:p>
          <a:p>
            <a:pPr>
              <a:spcAft>
                <a:spcPts val="800"/>
              </a:spcAft>
              <a:defRPr sz="1400">
                <a:solidFill>
                  <a:srgbClr val="BBBBCC"/>
                </a:solidFill>
                <a:latin typeface="맑은 고딕"/>
              </a:defRPr>
            </a:pPr>
            <a:r>
              <a:t>   1=Preschool, 2=1st-4th, …, 16=Doctorate</a:t>
            </a:r>
          </a:p>
          <a:p>
            <a:pPr>
              <a:spcAft>
                <a:spcPts val="800"/>
              </a:spcAft>
              <a:defRPr sz="1400">
                <a:solidFill>
                  <a:srgbClr val="BBBBCC"/>
                </a:solidFill>
                <a:latin typeface="맑은 고딕"/>
              </a:defRPr>
            </a:pPr>
            <a:r>
              <a:t>확인 코드:</a:t>
            </a:r>
          </a:p>
          <a:p>
            <a:pPr>
              <a:spcAft>
                <a:spcPts val="800"/>
              </a:spcAft>
              <a:defRPr sz="1400">
                <a:solidFill>
                  <a:srgbClr val="BBBBCC"/>
                </a:solidFill>
                <a:latin typeface="맑은 고딕"/>
              </a:defRPr>
            </a:pPr>
            <a:r>
              <a:t>for i in np.sort(data['education-num'].unique()):</a:t>
            </a:r>
          </a:p>
          <a:p>
            <a:pPr>
              <a:spcAft>
                <a:spcPts val="800"/>
              </a:spcAft>
              <a:defRPr sz="1400">
                <a:solidFill>
                  <a:srgbClr val="BBBBCC"/>
                </a:solidFill>
                <a:latin typeface="맑은 고딕"/>
              </a:defRPr>
            </a:pPr>
            <a:r>
              <a:t>    print(i, data[data['education-num']==i]['education'].unique())</a:t>
            </a:r>
          </a:p>
          <a:p>
            <a:pPr>
              <a:spcAft>
                <a:spcPts val="800"/>
              </a:spcAft>
              <a:defRPr sz="1400">
                <a:solidFill>
                  <a:srgbClr val="BBBBCC"/>
                </a:solidFill>
                <a:latin typeface="맑은 고딕"/>
              </a:defRPr>
            </a:pPr>
            <a:r>
              <a:t>→ 완벽히 1대1 매핑됨 (중복 정보)</a:t>
            </a:r>
          </a:p>
          <a:p>
            <a:pPr>
              <a:spcAft>
                <a:spcPts val="800"/>
              </a:spcAft>
              <a:defRPr sz="1400">
                <a:solidFill>
                  <a:srgbClr val="BBBBCC"/>
                </a:solidFill>
                <a:latin typeface="맑은 고딕"/>
              </a:defRPr>
            </a:pPr>
            <a:r>
              <a:t>data.drop('education', axis=1, inplace=True)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8.3.4 occupation 변수 처리 — 그대로 더미 변수로</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14개 카테고리, 서열 없음 → 더미 변수가 가장 자연스러움</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값의 분포</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data['occupation'].value_counts()</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Prof-specialty       6172</a:t>
            </a:r>
          </a:p>
          <a:p>
            <a:pPr>
              <a:spcAft>
                <a:spcPts val="800"/>
              </a:spcAft>
              <a:defRPr sz="1400">
                <a:solidFill>
                  <a:srgbClr val="BBBBCC"/>
                </a:solidFill>
                <a:latin typeface="맑은 고딕"/>
              </a:defRPr>
            </a:pPr>
            <a:r>
              <a:t>Craft-repair         6112</a:t>
            </a:r>
          </a:p>
          <a:p>
            <a:pPr>
              <a:spcAft>
                <a:spcPts val="800"/>
              </a:spcAft>
              <a:defRPr sz="1400">
                <a:solidFill>
                  <a:srgbClr val="BBBBCC"/>
                </a:solidFill>
                <a:latin typeface="맑은 고딕"/>
              </a:defRPr>
            </a:pPr>
            <a:r>
              <a:t>Exec-managerial      6086</a:t>
            </a:r>
          </a:p>
          <a:p>
            <a:pPr>
              <a:spcAft>
                <a:spcPts val="800"/>
              </a:spcAft>
              <a:defRPr sz="1400">
                <a:solidFill>
                  <a:srgbClr val="BBBBCC"/>
                </a:solidFill>
                <a:latin typeface="맑은 고딕"/>
              </a:defRPr>
            </a:pPr>
            <a:r>
              <a:t>Adm-clerical         5611</a:t>
            </a:r>
          </a:p>
          <a:p>
            <a:pPr>
              <a:spcAft>
                <a:spcPts val="800"/>
              </a:spcAft>
              <a:defRPr sz="1400">
                <a:solidFill>
                  <a:srgbClr val="BBBBCC"/>
                </a:solidFill>
                <a:latin typeface="맑은 고딕"/>
              </a:defRPr>
            </a:pPr>
            <a:r>
              <a:t>Sales                5504</a:t>
            </a:r>
          </a:p>
          <a:p>
            <a:pPr>
              <a:spcAft>
                <a:spcPts val="800"/>
              </a:spcAft>
              <a:defRPr sz="1400">
                <a:solidFill>
                  <a:srgbClr val="BBBBCC"/>
                </a:solidFill>
                <a:latin typeface="맑은 고딕"/>
              </a:defRPr>
            </a:pPr>
            <a:r>
              <a:t>Other-service        4923</a:t>
            </a:r>
          </a:p>
          <a:p>
            <a:pPr>
              <a:spcAft>
                <a:spcPts val="800"/>
              </a:spcAft>
              <a:defRPr sz="1400">
                <a:solidFill>
                  <a:srgbClr val="BBBBCC"/>
                </a:solidFill>
                <a:latin typeface="맑은 고딕"/>
              </a:defRPr>
            </a:pPr>
            <a:r>
              <a:t>Machine-op-inspct    3022</a:t>
            </a:r>
          </a:p>
          <a:p>
            <a:pPr>
              <a:spcAft>
                <a:spcPts val="800"/>
              </a:spcAft>
              <a:defRPr sz="1400">
                <a:solidFill>
                  <a:srgbClr val="BBBBCC"/>
                </a:solidFill>
                <a:latin typeface="맑은 고딕"/>
              </a:defRPr>
            </a:pPr>
            <a:r>
              <a:t>… (총 14개)</a:t>
            </a:r>
          </a:p>
          <a:p>
            <a:pPr>
              <a:spcAft>
                <a:spcPts val="800"/>
              </a:spcAft>
              <a:defRPr sz="1400">
                <a:solidFill>
                  <a:srgbClr val="BBBBCC"/>
                </a:solidFill>
                <a:latin typeface="맑은 고딕"/>
              </a:defRPr>
            </a:pPr>
            <a:r>
              <a:t>Armed-Forces           15</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판단과 처리 방침</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특징: 비슷한 직업끼리 이미 묶여 있음</a:t>
            </a:r>
          </a:p>
          <a:p>
            <a:pPr>
              <a:spcAft>
                <a:spcPts val="800"/>
              </a:spcAft>
              <a:defRPr sz="1400">
                <a:solidFill>
                  <a:srgbClr val="BBBBCC"/>
                </a:solidFill>
                <a:latin typeface="맑은 고딕"/>
              </a:defRPr>
            </a:pPr>
            <a:r>
              <a:t>   예) Farming-fishing 한 묶음</a:t>
            </a:r>
          </a:p>
          <a:p>
            <a:pPr>
              <a:spcAft>
                <a:spcPts val="800"/>
              </a:spcAft>
              <a:defRPr sz="1400">
                <a:solidFill>
                  <a:srgbClr val="BBBBCC"/>
                </a:solidFill>
                <a:latin typeface="맑은 고딕"/>
              </a:defRPr>
            </a:pPr>
            <a:r>
              <a:t>서열성 없음: 어느 직업이 위/아래라고 할 수 없음</a:t>
            </a:r>
          </a:p>
          <a:p>
            <a:pPr>
              <a:spcAft>
                <a:spcPts val="800"/>
              </a:spcAft>
              <a:defRPr sz="1400">
                <a:solidFill>
                  <a:srgbClr val="BBBBCC"/>
                </a:solidFill>
                <a:latin typeface="맑은 고딕"/>
              </a:defRPr>
            </a:pPr>
            <a:r>
              <a:t>카테고리 수 14개 → 더미 변수로 14개 추가</a:t>
            </a:r>
          </a:p>
          <a:p>
            <a:pPr>
              <a:spcAft>
                <a:spcPts val="800"/>
              </a:spcAft>
              <a:defRPr sz="1400">
                <a:solidFill>
                  <a:srgbClr val="BBBBCC"/>
                </a:solidFill>
                <a:latin typeface="맑은 고딕"/>
              </a:defRPr>
            </a:pPr>
            <a:r>
              <a:t>→ 감당 가능한 수준</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 별도 처리 없이 8.4절에서 더미 변수로 일괄 변환</a:t>
            </a:r>
          </a:p>
          <a:p>
            <a:pPr>
              <a:spcAft>
                <a:spcPts val="800"/>
              </a:spcAft>
              <a:defRPr sz="1400">
                <a:solidFill>
                  <a:srgbClr val="BBBBCC"/>
                </a:solidFill>
                <a:latin typeface="맑은 고딕"/>
              </a:defRPr>
            </a:pPr>
            <a:r>
              <a:t>   pd.get_dummies(data, drop_first=True)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8.3.5 native-country 변수 처리 — 평균값 치환</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41개 국가 + United-States 90% → 어떤 방법이 가장 좋은가?</a:t>
            </a:r>
          </a:p>
        </p:txBody>
      </p:sp>
      <p:sp>
        <p:nvSpPr>
          <p:cNvPr id="5" name="Rounded Rectangle 4"/>
          <p:cNvSpPr/>
          <p:nvPr/>
        </p:nvSpPr>
        <p:spPr>
          <a:xfrm>
            <a:off x="548640" y="2011680"/>
            <a:ext cx="3657600" cy="365760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94560"/>
            <a:ext cx="3200400" cy="457200"/>
          </a:xfrm>
          <a:prstGeom prst="rect">
            <a:avLst/>
          </a:prstGeom>
          <a:noFill/>
        </p:spPr>
        <p:txBody>
          <a:bodyPr wrap="square">
            <a:spAutoFit/>
          </a:bodyPr>
          <a:lstStyle/>
          <a:p>
            <a:pPr algn="l">
              <a:defRPr sz="1500" b="1">
                <a:solidFill>
                  <a:srgbClr val="0096FF"/>
                </a:solidFill>
                <a:latin typeface="맑은 고딕"/>
              </a:defRPr>
            </a:pPr>
            <a:r>
              <a:t>① 후보 1 : Others로 묶기</a:t>
            </a:r>
          </a:p>
        </p:txBody>
      </p:sp>
      <p:sp>
        <p:nvSpPr>
          <p:cNvPr id="7" name="TextBox 6"/>
          <p:cNvSpPr txBox="1"/>
          <p:nvPr/>
        </p:nvSpPr>
        <p:spPr>
          <a:xfrm>
            <a:off x="777240" y="2788920"/>
            <a:ext cx="3200400" cy="2743200"/>
          </a:xfrm>
          <a:prstGeom prst="rect">
            <a:avLst/>
          </a:prstGeom>
          <a:noFill/>
        </p:spPr>
        <p:txBody>
          <a:bodyPr wrap="square">
            <a:spAutoFit/>
          </a:bodyPr>
          <a:lstStyle/>
          <a:p>
            <a:pPr>
              <a:spcAft>
                <a:spcPts val="200"/>
              </a:spcAft>
              <a:defRPr sz="1100">
                <a:solidFill>
                  <a:srgbClr val="BBBBCC"/>
                </a:solidFill>
                <a:latin typeface="맑은 고딕"/>
              </a:defRPr>
            </a:pPr>
            <a:r>
              <a:t>• United-States가 약 90% → 나머지를 Others로</a:t>
            </a:r>
          </a:p>
          <a:p>
            <a:pPr>
              <a:spcAft>
                <a:spcPts val="200"/>
              </a:spcAft>
              <a:defRPr sz="1100">
                <a:solidFill>
                  <a:srgbClr val="BBBBCC"/>
                </a:solidFill>
                <a:latin typeface="맑은 고딕"/>
              </a:defRPr>
            </a:pPr>
            <a:r>
              <a:t>• 데이터 간소화 ✓</a:t>
            </a:r>
          </a:p>
          <a:p>
            <a:pPr>
              <a:spcAft>
                <a:spcPts val="200"/>
              </a:spcAft>
              <a:defRPr sz="1100">
                <a:solidFill>
                  <a:srgbClr val="BBBBCC"/>
                </a:solidFill>
                <a:latin typeface="맑은 고딕"/>
              </a:defRPr>
            </a:pPr>
            <a:r>
              <a:t>• 정보 손실 ✗</a:t>
            </a:r>
          </a:p>
          <a:p>
            <a:pPr>
              <a:spcAft>
                <a:spcPts val="200"/>
              </a:spcAft>
              <a:defRPr sz="1100">
                <a:solidFill>
                  <a:srgbClr val="BBBBCC"/>
                </a:solidFill>
                <a:latin typeface="맑은 고딕"/>
              </a:defRPr>
            </a:pPr>
            <a:r>
              <a:t>• groupby class 평균 확인 결과,</a:t>
            </a:r>
          </a:p>
          <a:p>
            <a:pPr>
              <a:spcAft>
                <a:spcPts val="200"/>
              </a:spcAft>
              <a:defRPr sz="1100">
                <a:solidFill>
                  <a:srgbClr val="BBBBCC"/>
                </a:solidFill>
                <a:latin typeface="맑은 고딕"/>
              </a:defRPr>
            </a:pPr>
            <a:r>
              <a:t>   미국(0.24) vs 다른 국가들이 </a:t>
            </a:r>
          </a:p>
          <a:p>
            <a:pPr>
              <a:spcAft>
                <a:spcPts val="200"/>
              </a:spcAft>
              <a:defRPr sz="1100">
                <a:solidFill>
                  <a:srgbClr val="BBBBCC"/>
                </a:solidFill>
                <a:latin typeface="맑은 고딕"/>
              </a:defRPr>
            </a:pPr>
            <a:r>
              <a:t>   매우 다양 → 부적합</a:t>
            </a:r>
          </a:p>
        </p:txBody>
      </p:sp>
      <p:sp>
        <p:nvSpPr>
          <p:cNvPr id="8" name="Rounded Rectangle 7"/>
          <p:cNvSpPr/>
          <p:nvPr/>
        </p:nvSpPr>
        <p:spPr>
          <a:xfrm>
            <a:off x="4343400" y="2011680"/>
            <a:ext cx="3657600" cy="36576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3200400" cy="457200"/>
          </a:xfrm>
          <a:prstGeom prst="rect">
            <a:avLst/>
          </a:prstGeom>
          <a:noFill/>
        </p:spPr>
        <p:txBody>
          <a:bodyPr wrap="square">
            <a:spAutoFit/>
          </a:bodyPr>
          <a:lstStyle/>
          <a:p>
            <a:pPr algn="l">
              <a:defRPr sz="1500" b="1">
                <a:solidFill>
                  <a:srgbClr val="00E696"/>
                </a:solidFill>
                <a:latin typeface="맑은 고딕"/>
              </a:defRPr>
            </a:pPr>
            <a:r>
              <a:t>② 후보 2 : 지역(대륙)별 묶기</a:t>
            </a:r>
          </a:p>
        </p:txBody>
      </p:sp>
      <p:sp>
        <p:nvSpPr>
          <p:cNvPr id="10" name="TextBox 9"/>
          <p:cNvSpPr txBox="1"/>
          <p:nvPr/>
        </p:nvSpPr>
        <p:spPr>
          <a:xfrm>
            <a:off x="4572000" y="2788920"/>
            <a:ext cx="3200400" cy="2743200"/>
          </a:xfrm>
          <a:prstGeom prst="rect">
            <a:avLst/>
          </a:prstGeom>
          <a:noFill/>
        </p:spPr>
        <p:txBody>
          <a:bodyPr wrap="square">
            <a:spAutoFit/>
          </a:bodyPr>
          <a:lstStyle/>
          <a:p>
            <a:pPr>
              <a:spcAft>
                <a:spcPts val="200"/>
              </a:spcAft>
              <a:defRPr sz="1100">
                <a:solidFill>
                  <a:srgbClr val="BBBBCC"/>
                </a:solidFill>
                <a:latin typeface="맑은 고딕"/>
              </a:defRPr>
            </a:pPr>
            <a:r>
              <a:t>• North America / Asia / Europe …</a:t>
            </a:r>
          </a:p>
          <a:p>
            <a:pPr>
              <a:spcAft>
                <a:spcPts val="200"/>
              </a:spcAft>
              <a:defRPr sz="1100">
                <a:solidFill>
                  <a:srgbClr val="BBBBCC"/>
                </a:solidFill>
                <a:latin typeface="맑은 고딕"/>
              </a:defRPr>
            </a:pPr>
            <a:r>
              <a:t>• 같은 지역끼리 class 평균이 비슷해야 함</a:t>
            </a:r>
          </a:p>
          <a:p>
            <a:pPr>
              <a:spcAft>
                <a:spcPts val="200"/>
              </a:spcAft>
              <a:defRPr sz="1100">
                <a:solidFill>
                  <a:srgbClr val="BBBBCC"/>
                </a:solidFill>
                <a:latin typeface="맑은 고딕"/>
              </a:defRPr>
            </a:pPr>
            <a:r>
              <a:t>• 그러나 France 0.42 vs Portugal 0.18</a:t>
            </a:r>
          </a:p>
          <a:p>
            <a:pPr>
              <a:spcAft>
                <a:spcPts val="200"/>
              </a:spcAft>
              <a:defRPr sz="1100">
                <a:solidFill>
                  <a:srgbClr val="BBBBCC"/>
                </a:solidFill>
                <a:latin typeface="맑은 고딕"/>
              </a:defRPr>
            </a:pPr>
            <a:r>
              <a:t>   Cuba 0.25 vs Dominican R. 0.05</a:t>
            </a:r>
          </a:p>
          <a:p>
            <a:pPr>
              <a:spcAft>
                <a:spcPts val="200"/>
              </a:spcAft>
              <a:defRPr sz="1100">
                <a:solidFill>
                  <a:srgbClr val="BBBBCC"/>
                </a:solidFill>
                <a:latin typeface="맑은 고딕"/>
              </a:defRPr>
            </a:pPr>
            <a:r>
              <a:t>• 지역 내 편차가 크므로 → 부적합</a:t>
            </a:r>
          </a:p>
        </p:txBody>
      </p:sp>
      <p:sp>
        <p:nvSpPr>
          <p:cNvPr id="11" name="Rounded Rectangle 10"/>
          <p:cNvSpPr/>
          <p:nvPr/>
        </p:nvSpPr>
        <p:spPr>
          <a:xfrm>
            <a:off x="8138160" y="2011680"/>
            <a:ext cx="3657600" cy="36576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2194560"/>
            <a:ext cx="3200400" cy="457200"/>
          </a:xfrm>
          <a:prstGeom prst="rect">
            <a:avLst/>
          </a:prstGeom>
          <a:noFill/>
        </p:spPr>
        <p:txBody>
          <a:bodyPr wrap="square">
            <a:spAutoFit/>
          </a:bodyPr>
          <a:lstStyle/>
          <a:p>
            <a:pPr algn="l">
              <a:defRPr sz="1500" b="1">
                <a:solidFill>
                  <a:srgbClr val="FF8C00"/>
                </a:solidFill>
                <a:latin typeface="맑은 고딕"/>
              </a:defRPr>
            </a:pPr>
            <a:r>
              <a:t>③ ✅ 후보 3 : groupby 평균값 치환 (채택)</a:t>
            </a:r>
          </a:p>
        </p:txBody>
      </p:sp>
      <p:sp>
        <p:nvSpPr>
          <p:cNvPr id="13" name="TextBox 12"/>
          <p:cNvSpPr txBox="1"/>
          <p:nvPr/>
        </p:nvSpPr>
        <p:spPr>
          <a:xfrm>
            <a:off x="8366760" y="2788920"/>
            <a:ext cx="3200400" cy="2743200"/>
          </a:xfrm>
          <a:prstGeom prst="rect">
            <a:avLst/>
          </a:prstGeom>
          <a:noFill/>
        </p:spPr>
        <p:txBody>
          <a:bodyPr wrap="square">
            <a:spAutoFit/>
          </a:bodyPr>
          <a:lstStyle/>
          <a:p>
            <a:pPr>
              <a:spcAft>
                <a:spcPts val="200"/>
              </a:spcAft>
              <a:defRPr sz="1100">
                <a:solidFill>
                  <a:srgbClr val="BBBBCC"/>
                </a:solidFill>
                <a:latin typeface="맑은 고딕"/>
              </a:defRPr>
            </a:pPr>
            <a:r>
              <a:t>• country_group = data.groupby(</a:t>
            </a:r>
          </a:p>
          <a:p>
            <a:pPr>
              <a:spcAft>
                <a:spcPts val="200"/>
              </a:spcAft>
              <a:defRPr sz="1100">
                <a:solidFill>
                  <a:srgbClr val="BBBBCC"/>
                </a:solidFill>
                <a:latin typeface="맑은 고딕"/>
              </a:defRPr>
            </a:pPr>
            <a:r>
              <a:t>        'native-country').mean()['class']</a:t>
            </a:r>
          </a:p>
          <a:p>
            <a:pPr>
              <a:spcAft>
                <a:spcPts val="200"/>
              </a:spcAft>
              <a:defRPr sz="1100">
                <a:solidFill>
                  <a:srgbClr val="BBBBCC"/>
                </a:solidFill>
                <a:latin typeface="맑은 고딕"/>
              </a:defRPr>
            </a:pPr>
            <a:r>
              <a:t>• 각 국가 → 그 국가의 class 평균값으로 치환</a:t>
            </a:r>
          </a:p>
          <a:p>
            <a:pPr>
              <a:spcAft>
                <a:spcPts val="200"/>
              </a:spcAft>
              <a:defRPr sz="1100">
                <a:solidFill>
                  <a:srgbClr val="BBBBCC"/>
                </a:solidFill>
                <a:latin typeface="맑은 고딕"/>
              </a:defRPr>
            </a:pPr>
            <a:r>
              <a:t>• 트리 모델은 이런 변환에 강건함</a:t>
            </a:r>
          </a:p>
          <a:p>
            <a:pPr>
              <a:spcAft>
                <a:spcPts val="200"/>
              </a:spcAft>
              <a:defRPr sz="1100">
                <a:solidFill>
                  <a:srgbClr val="BBBBCC"/>
                </a:solidFill>
                <a:latin typeface="맑은 고딕"/>
              </a:defRPr>
            </a:pPr>
            <a:r>
              <a:t>• ⚠ 답을 일부 밀어넣는 셈 → 오버피팅 주의</a:t>
            </a:r>
          </a:p>
        </p:txBody>
      </p:sp>
      <p:sp>
        <p:nvSpPr>
          <p:cNvPr id="14" name="Rounded Rectangle 13"/>
          <p:cNvSpPr/>
          <p:nvPr/>
        </p:nvSpPr>
        <p:spPr>
          <a:xfrm>
            <a:off x="548640" y="5852160"/>
            <a:ext cx="11155680" cy="640080"/>
          </a:xfrm>
          <a:prstGeom prst="roundRect">
            <a:avLst>
              <a:gd name="adj" fmla="val 5000"/>
            </a:avLst>
          </a:prstGeom>
          <a:solidFill>
            <a:srgbClr val="101028"/>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943600"/>
            <a:ext cx="10789920" cy="457200"/>
          </a:xfrm>
          <a:prstGeom prst="rect">
            <a:avLst/>
          </a:prstGeom>
          <a:noFill/>
        </p:spPr>
        <p:txBody>
          <a:bodyPr wrap="square">
            <a:spAutoFit/>
          </a:bodyPr>
          <a:lstStyle/>
          <a:p>
            <a:pPr algn="l">
              <a:defRPr sz="1400" b="1">
                <a:solidFill>
                  <a:srgbClr val="FFD700"/>
                </a:solidFill>
                <a:latin typeface="맑은 고딕"/>
              </a:defRPr>
            </a:pPr>
            <a:r>
              <a:t>🔑 국가 41개를 평균값으로 치환 → 변수 1개로 압축 + 의미 보존 (단, 오버피팅 주의)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8.3.5 native-country 평균값 치환 — 코드</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groupby → reset_index → merge 패턴</a:t>
            </a:r>
          </a:p>
        </p:txBody>
      </p:sp>
      <p:sp>
        <p:nvSpPr>
          <p:cNvPr id="5" name="Rounded Rectangle 4"/>
          <p:cNvSpPr/>
          <p:nvPr/>
        </p:nvSpPr>
        <p:spPr>
          <a:xfrm>
            <a:off x="548640" y="1920240"/>
            <a:ext cx="11155680" cy="466344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10789920" cy="4389120"/>
          </a:xfrm>
          <a:prstGeom prst="rect">
            <a:avLst/>
          </a:prstGeom>
          <a:noFill/>
        </p:spPr>
        <p:txBody>
          <a:bodyPr wrap="square">
            <a:spAutoFit/>
          </a:bodyPr>
          <a:lstStyle/>
          <a:p>
            <a:pPr>
              <a:spcAft>
                <a:spcPts val="200"/>
              </a:spcAft>
              <a:defRPr sz="1100">
                <a:solidFill>
                  <a:srgbClr val="00E696"/>
                </a:solidFill>
                <a:latin typeface="Consolas"/>
              </a:defRPr>
            </a:pPr>
            <a:r>
              <a:t># (1) 국가별 class 평균값 계산</a:t>
            </a:r>
          </a:p>
          <a:p>
            <a:pPr>
              <a:spcAft>
                <a:spcPts val="200"/>
              </a:spcAft>
              <a:defRPr sz="1100">
                <a:solidFill>
                  <a:srgbClr val="00E696"/>
                </a:solidFill>
                <a:latin typeface="Consolas"/>
              </a:defRPr>
            </a:pPr>
            <a:r>
              <a:t>country_group = data.groupby('native-country').mean()['class']</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(2) 인덱스를 컬럼으로 빼서 merge 가능하게 만들기</a:t>
            </a:r>
          </a:p>
          <a:p>
            <a:pPr>
              <a:spcAft>
                <a:spcPts val="200"/>
              </a:spcAft>
              <a:defRPr sz="1100">
                <a:solidFill>
                  <a:srgbClr val="00E696"/>
                </a:solidFill>
                <a:latin typeface="Consolas"/>
              </a:defRPr>
            </a:pPr>
            <a:r>
              <a:t>country_group = country_group.reset_index()</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(3) 원본 데이터와 left-join으로 합치기</a:t>
            </a:r>
          </a:p>
          <a:p>
            <a:pPr>
              <a:spcAft>
                <a:spcPts val="200"/>
              </a:spcAft>
              <a:defRPr sz="1100">
                <a:solidFill>
                  <a:srgbClr val="00E696"/>
                </a:solidFill>
                <a:latin typeface="Consolas"/>
              </a:defRPr>
            </a:pPr>
            <a:r>
              <a:t>data = data.merge(country_group,</a:t>
            </a:r>
          </a:p>
          <a:p>
            <a:pPr>
              <a:spcAft>
                <a:spcPts val="200"/>
              </a:spcAft>
              <a:defRPr sz="1100">
                <a:solidFill>
                  <a:srgbClr val="00E696"/>
                </a:solidFill>
                <a:latin typeface="Consolas"/>
              </a:defRPr>
            </a:pPr>
            <a:r>
              <a:t>                  on='native-country', how='left')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(4) 컬럼 이름 정리 — class_x, class_y 충돌 해결</a:t>
            </a:r>
          </a:p>
          <a:p>
            <a:pPr>
              <a:spcAft>
                <a:spcPts val="200"/>
              </a:spcAft>
              <a:defRPr sz="1100">
                <a:solidFill>
                  <a:srgbClr val="00E696"/>
                </a:solidFill>
                <a:latin typeface="Consolas"/>
              </a:defRPr>
            </a:pPr>
            <a:r>
              <a:t>data.drop('native-country', axis=1, inplace=True)</a:t>
            </a:r>
          </a:p>
          <a:p>
            <a:pPr>
              <a:spcAft>
                <a:spcPts val="200"/>
              </a:spcAft>
              <a:defRPr sz="1100">
                <a:solidFill>
                  <a:srgbClr val="00E696"/>
                </a:solidFill>
                <a:latin typeface="Consolas"/>
              </a:defRPr>
            </a:pPr>
            <a:r>
              <a:t>data = data.rename(columns={</a:t>
            </a:r>
          </a:p>
          <a:p>
            <a:pPr>
              <a:spcAft>
                <a:spcPts val="200"/>
              </a:spcAft>
              <a:defRPr sz="1100">
                <a:solidFill>
                  <a:srgbClr val="00E696"/>
                </a:solidFill>
                <a:latin typeface="Consolas"/>
              </a:defRPr>
            </a:pPr>
            <a:r>
              <a:t>    'class_x': 'class',</a:t>
            </a:r>
          </a:p>
          <a:p>
            <a:pPr>
              <a:spcAft>
                <a:spcPts val="200"/>
              </a:spcAft>
              <a:defRPr sz="1100">
                <a:solidFill>
                  <a:srgbClr val="00E696"/>
                </a:solidFill>
                <a:latin typeface="Consolas"/>
              </a:defRPr>
            </a:pPr>
            <a:r>
              <a:t>    'class_y': 'native-country'</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결과:</a:t>
            </a:r>
          </a:p>
          <a:p>
            <a:pPr>
              <a:spcAft>
                <a:spcPts val="200"/>
              </a:spcAft>
              <a:defRPr sz="1100">
                <a:solidFill>
                  <a:srgbClr val="00E696"/>
                </a:solidFill>
                <a:latin typeface="Consolas"/>
              </a:defRPr>
            </a:pPr>
            <a:r>
              <a:t>#   native-country 변수 = 해당 국가의 class 평균 (실수)</a:t>
            </a:r>
          </a:p>
          <a:p>
            <a:pPr>
              <a:spcAft>
                <a:spcPts val="200"/>
              </a:spcAft>
              <a:defRPr sz="1100">
                <a:solidFill>
                  <a:srgbClr val="00E696"/>
                </a:solidFill>
                <a:latin typeface="Consolas"/>
              </a:defRPr>
            </a:pPr>
            <a:r>
              <a:t>#   예) France → 0.421053  /  United-States → 0.243977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8.4</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8.4</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전처리: 결측치 처리 &amp; 더미 변수 변환</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fillna 3종 + pd.get_dummies(drop_first=True)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8.4 결측치 처리 전략 — 변수별 맞춤 처리</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data.isna().mean() 으로 결측 비율 확인 후 변수마다 다르게 처리</a:t>
            </a:r>
          </a:p>
        </p:txBody>
      </p:sp>
      <p:sp>
        <p:nvSpPr>
          <p:cNvPr id="5" name="Rectangle 4"/>
          <p:cNvSpPr/>
          <p:nvPr/>
        </p:nvSpPr>
        <p:spPr>
          <a:xfrm>
            <a:off x="548640" y="2011680"/>
            <a:ext cx="228600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2286000" cy="411480"/>
          </a:xfrm>
          <a:prstGeom prst="rect">
            <a:avLst/>
          </a:prstGeom>
          <a:noFill/>
        </p:spPr>
        <p:txBody>
          <a:bodyPr wrap="square">
            <a:spAutoFit/>
          </a:bodyPr>
          <a:lstStyle/>
          <a:p>
            <a:pPr algn="ctr">
              <a:defRPr sz="1300" b="1">
                <a:solidFill>
                  <a:srgbClr val="FFFFFF"/>
                </a:solidFill>
                <a:latin typeface="맑은 고딕"/>
              </a:defRPr>
            </a:pPr>
            <a:r>
              <a:t>변수</a:t>
            </a:r>
          </a:p>
        </p:txBody>
      </p:sp>
      <p:sp>
        <p:nvSpPr>
          <p:cNvPr id="7" name="Rectangle 6"/>
          <p:cNvSpPr/>
          <p:nvPr/>
        </p:nvSpPr>
        <p:spPr>
          <a:xfrm>
            <a:off x="2834640" y="2011680"/>
            <a:ext cx="137160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40" y="2011680"/>
            <a:ext cx="1371600" cy="411480"/>
          </a:xfrm>
          <a:prstGeom prst="rect">
            <a:avLst/>
          </a:prstGeom>
          <a:noFill/>
        </p:spPr>
        <p:txBody>
          <a:bodyPr wrap="square">
            <a:spAutoFit/>
          </a:bodyPr>
          <a:lstStyle/>
          <a:p>
            <a:pPr algn="ctr">
              <a:defRPr sz="1300" b="1">
                <a:solidFill>
                  <a:srgbClr val="FFFFFF"/>
                </a:solidFill>
                <a:latin typeface="맑은 고딕"/>
              </a:defRPr>
            </a:pPr>
            <a:r>
              <a:t>결측 비율</a:t>
            </a:r>
          </a:p>
        </p:txBody>
      </p:sp>
      <p:sp>
        <p:nvSpPr>
          <p:cNvPr id="9" name="Rectangle 8"/>
          <p:cNvSpPr/>
          <p:nvPr/>
        </p:nvSpPr>
        <p:spPr>
          <a:xfrm>
            <a:off x="4206240" y="2011680"/>
            <a:ext cx="320040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2011680"/>
            <a:ext cx="3200400" cy="411480"/>
          </a:xfrm>
          <a:prstGeom prst="rect">
            <a:avLst/>
          </a:prstGeom>
          <a:noFill/>
        </p:spPr>
        <p:txBody>
          <a:bodyPr wrap="square">
            <a:spAutoFit/>
          </a:bodyPr>
          <a:lstStyle/>
          <a:p>
            <a:pPr algn="ctr">
              <a:defRPr sz="1300" b="1">
                <a:solidFill>
                  <a:srgbClr val="FFFFFF"/>
                </a:solidFill>
                <a:latin typeface="맑은 고딕"/>
              </a:defRPr>
            </a:pPr>
            <a:r>
              <a:t>처리 방법</a:t>
            </a:r>
          </a:p>
        </p:txBody>
      </p:sp>
      <p:sp>
        <p:nvSpPr>
          <p:cNvPr id="11" name="Rectangle 10"/>
          <p:cNvSpPr/>
          <p:nvPr/>
        </p:nvSpPr>
        <p:spPr>
          <a:xfrm>
            <a:off x="7406640" y="2011680"/>
            <a:ext cx="429768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2011680"/>
            <a:ext cx="4297680" cy="411480"/>
          </a:xfrm>
          <a:prstGeom prst="rect">
            <a:avLst/>
          </a:prstGeom>
          <a:noFill/>
        </p:spPr>
        <p:txBody>
          <a:bodyPr wrap="square">
            <a:spAutoFit/>
          </a:bodyPr>
          <a:lstStyle/>
          <a:p>
            <a:pPr algn="ctr">
              <a:defRPr sz="1300" b="1">
                <a:solidFill>
                  <a:srgbClr val="FFFFFF"/>
                </a:solidFill>
                <a:latin typeface="맑은 고딕"/>
              </a:defRPr>
            </a:pPr>
            <a:r>
              <a:t>근거</a:t>
            </a:r>
          </a:p>
        </p:txBody>
      </p:sp>
      <p:sp>
        <p:nvSpPr>
          <p:cNvPr id="13" name="Rectangle 12"/>
          <p:cNvSpPr/>
          <p:nvPr/>
        </p:nvSpPr>
        <p:spPr>
          <a:xfrm>
            <a:off x="548640" y="2423160"/>
            <a:ext cx="2286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423160"/>
            <a:ext cx="2194560" cy="502920"/>
          </a:xfrm>
          <a:prstGeom prst="rect">
            <a:avLst/>
          </a:prstGeom>
          <a:noFill/>
        </p:spPr>
        <p:txBody>
          <a:bodyPr wrap="square">
            <a:spAutoFit/>
          </a:bodyPr>
          <a:lstStyle/>
          <a:p>
            <a:pPr algn="ctr">
              <a:defRPr sz="1200" b="1">
                <a:solidFill>
                  <a:srgbClr val="00D2FF"/>
                </a:solidFill>
                <a:latin typeface="맑은 고딕"/>
              </a:defRPr>
            </a:pPr>
            <a:r>
              <a:t>native-country</a:t>
            </a:r>
          </a:p>
        </p:txBody>
      </p:sp>
      <p:sp>
        <p:nvSpPr>
          <p:cNvPr id="15" name="Rectangle 14"/>
          <p:cNvSpPr/>
          <p:nvPr/>
        </p:nvSpPr>
        <p:spPr>
          <a:xfrm>
            <a:off x="2834640" y="2423160"/>
            <a:ext cx="13716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360" y="2423160"/>
            <a:ext cx="1280160" cy="502920"/>
          </a:xfrm>
          <a:prstGeom prst="rect">
            <a:avLst/>
          </a:prstGeom>
          <a:noFill/>
        </p:spPr>
        <p:txBody>
          <a:bodyPr wrap="square">
            <a:spAutoFit/>
          </a:bodyPr>
          <a:lstStyle/>
          <a:p>
            <a:pPr algn="ctr">
              <a:defRPr sz="1200" b="0">
                <a:solidFill>
                  <a:srgbClr val="BBBBCC"/>
                </a:solidFill>
                <a:latin typeface="맑은 고딕"/>
              </a:defRPr>
            </a:pPr>
            <a:r>
              <a:t>1.7%</a:t>
            </a:r>
          </a:p>
        </p:txBody>
      </p:sp>
      <p:sp>
        <p:nvSpPr>
          <p:cNvPr id="17" name="Rectangle 16"/>
          <p:cNvSpPr/>
          <p:nvPr/>
        </p:nvSpPr>
        <p:spPr>
          <a:xfrm>
            <a:off x="4206240" y="2423160"/>
            <a:ext cx="32004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2423160"/>
            <a:ext cx="3108960" cy="502920"/>
          </a:xfrm>
          <a:prstGeom prst="rect">
            <a:avLst/>
          </a:prstGeom>
          <a:noFill/>
        </p:spPr>
        <p:txBody>
          <a:bodyPr wrap="square">
            <a:spAutoFit/>
          </a:bodyPr>
          <a:lstStyle/>
          <a:p>
            <a:pPr algn="ctr">
              <a:defRPr sz="1200" b="0">
                <a:solidFill>
                  <a:srgbClr val="BBBBCC"/>
                </a:solidFill>
                <a:latin typeface="맑은 고딕"/>
              </a:defRPr>
            </a:pPr>
            <a:r>
              <a:t>-99 로 채우기 (fillna)</a:t>
            </a:r>
          </a:p>
        </p:txBody>
      </p:sp>
      <p:sp>
        <p:nvSpPr>
          <p:cNvPr id="19" name="Rectangle 18"/>
          <p:cNvSpPr/>
          <p:nvPr/>
        </p:nvSpPr>
        <p:spPr>
          <a:xfrm>
            <a:off x="7406640" y="2423160"/>
            <a:ext cx="429768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423160"/>
            <a:ext cx="4206240" cy="502920"/>
          </a:xfrm>
          <a:prstGeom prst="rect">
            <a:avLst/>
          </a:prstGeom>
          <a:noFill/>
        </p:spPr>
        <p:txBody>
          <a:bodyPr wrap="square">
            <a:spAutoFit/>
          </a:bodyPr>
          <a:lstStyle/>
          <a:p>
            <a:pPr algn="ctr">
              <a:defRPr sz="1200" b="0">
                <a:solidFill>
                  <a:srgbClr val="BBBBCC"/>
                </a:solidFill>
                <a:latin typeface="맑은 고딕"/>
              </a:defRPr>
            </a:pPr>
            <a:r>
              <a:t>이미 평균값으로 변환됨, 트리 모델은 임의값에 강건</a:t>
            </a:r>
          </a:p>
        </p:txBody>
      </p:sp>
      <p:sp>
        <p:nvSpPr>
          <p:cNvPr id="21" name="Rectangle 20"/>
          <p:cNvSpPr/>
          <p:nvPr/>
        </p:nvSpPr>
        <p:spPr>
          <a:xfrm>
            <a:off x="548640" y="2926080"/>
            <a:ext cx="22860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926080"/>
            <a:ext cx="2194560" cy="502920"/>
          </a:xfrm>
          <a:prstGeom prst="rect">
            <a:avLst/>
          </a:prstGeom>
          <a:noFill/>
        </p:spPr>
        <p:txBody>
          <a:bodyPr wrap="square">
            <a:spAutoFit/>
          </a:bodyPr>
          <a:lstStyle/>
          <a:p>
            <a:pPr algn="ctr">
              <a:defRPr sz="1200" b="1">
                <a:solidFill>
                  <a:srgbClr val="00D2FF"/>
                </a:solidFill>
                <a:latin typeface="맑은 고딕"/>
              </a:defRPr>
            </a:pPr>
            <a:r>
              <a:t>workclass</a:t>
            </a:r>
          </a:p>
        </p:txBody>
      </p:sp>
      <p:sp>
        <p:nvSpPr>
          <p:cNvPr id="23" name="Rectangle 22"/>
          <p:cNvSpPr/>
          <p:nvPr/>
        </p:nvSpPr>
        <p:spPr>
          <a:xfrm>
            <a:off x="2834640" y="2926080"/>
            <a:ext cx="13716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80360" y="2926080"/>
            <a:ext cx="1280160" cy="502920"/>
          </a:xfrm>
          <a:prstGeom prst="rect">
            <a:avLst/>
          </a:prstGeom>
          <a:noFill/>
        </p:spPr>
        <p:txBody>
          <a:bodyPr wrap="square">
            <a:spAutoFit/>
          </a:bodyPr>
          <a:lstStyle/>
          <a:p>
            <a:pPr algn="ctr">
              <a:defRPr sz="1200" b="0">
                <a:solidFill>
                  <a:srgbClr val="BBBBCC"/>
                </a:solidFill>
                <a:latin typeface="맑은 고딕"/>
              </a:defRPr>
            </a:pPr>
            <a:r>
              <a:t>5.7%</a:t>
            </a:r>
          </a:p>
        </p:txBody>
      </p:sp>
      <p:sp>
        <p:nvSpPr>
          <p:cNvPr id="25" name="Rectangle 24"/>
          <p:cNvSpPr/>
          <p:nvPr/>
        </p:nvSpPr>
        <p:spPr>
          <a:xfrm>
            <a:off x="4206240" y="2926080"/>
            <a:ext cx="32004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51960" y="2926080"/>
            <a:ext cx="3108960" cy="502920"/>
          </a:xfrm>
          <a:prstGeom prst="rect">
            <a:avLst/>
          </a:prstGeom>
          <a:noFill/>
        </p:spPr>
        <p:txBody>
          <a:bodyPr wrap="square">
            <a:spAutoFit/>
          </a:bodyPr>
          <a:lstStyle/>
          <a:p>
            <a:pPr algn="ctr">
              <a:defRPr sz="1200" b="0">
                <a:solidFill>
                  <a:srgbClr val="BBBBCC"/>
                </a:solidFill>
                <a:latin typeface="맑은 고딕"/>
              </a:defRPr>
            </a:pPr>
            <a:r>
              <a:t>"Private" 으로 채우기</a:t>
            </a:r>
          </a:p>
        </p:txBody>
      </p:sp>
      <p:sp>
        <p:nvSpPr>
          <p:cNvPr id="27" name="Rectangle 26"/>
          <p:cNvSpPr/>
          <p:nvPr/>
        </p:nvSpPr>
        <p:spPr>
          <a:xfrm>
            <a:off x="7406640" y="2926080"/>
            <a:ext cx="429768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52360" y="2926080"/>
            <a:ext cx="4206240" cy="502920"/>
          </a:xfrm>
          <a:prstGeom prst="rect">
            <a:avLst/>
          </a:prstGeom>
          <a:noFill/>
        </p:spPr>
        <p:txBody>
          <a:bodyPr wrap="square">
            <a:spAutoFit/>
          </a:bodyPr>
          <a:lstStyle/>
          <a:p>
            <a:pPr algn="ctr">
              <a:defRPr sz="1200" b="0">
                <a:solidFill>
                  <a:srgbClr val="BBBBCC"/>
                </a:solidFill>
                <a:latin typeface="맑은 고딕"/>
              </a:defRPr>
            </a:pPr>
            <a:r>
              <a:t>Private이 약 70%로 압도적, 최빈값 대체</a:t>
            </a:r>
          </a:p>
        </p:txBody>
      </p:sp>
      <p:sp>
        <p:nvSpPr>
          <p:cNvPr id="29" name="Rectangle 28"/>
          <p:cNvSpPr/>
          <p:nvPr/>
        </p:nvSpPr>
        <p:spPr>
          <a:xfrm>
            <a:off x="548640" y="3429000"/>
            <a:ext cx="2286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429000"/>
            <a:ext cx="2194560" cy="502920"/>
          </a:xfrm>
          <a:prstGeom prst="rect">
            <a:avLst/>
          </a:prstGeom>
          <a:noFill/>
        </p:spPr>
        <p:txBody>
          <a:bodyPr wrap="square">
            <a:spAutoFit/>
          </a:bodyPr>
          <a:lstStyle/>
          <a:p>
            <a:pPr algn="ctr">
              <a:defRPr sz="1200" b="1">
                <a:solidFill>
                  <a:srgbClr val="00D2FF"/>
                </a:solidFill>
                <a:latin typeface="맑은 고딕"/>
              </a:defRPr>
            </a:pPr>
            <a:r>
              <a:t>occupation</a:t>
            </a:r>
          </a:p>
        </p:txBody>
      </p:sp>
      <p:sp>
        <p:nvSpPr>
          <p:cNvPr id="31" name="Rectangle 30"/>
          <p:cNvSpPr/>
          <p:nvPr/>
        </p:nvSpPr>
        <p:spPr>
          <a:xfrm>
            <a:off x="2834640" y="3429000"/>
            <a:ext cx="13716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80360" y="3429000"/>
            <a:ext cx="1280160" cy="502920"/>
          </a:xfrm>
          <a:prstGeom prst="rect">
            <a:avLst/>
          </a:prstGeom>
          <a:noFill/>
        </p:spPr>
        <p:txBody>
          <a:bodyPr wrap="square">
            <a:spAutoFit/>
          </a:bodyPr>
          <a:lstStyle/>
          <a:p>
            <a:pPr algn="ctr">
              <a:defRPr sz="1200" b="0">
                <a:solidFill>
                  <a:srgbClr val="BBBBCC"/>
                </a:solidFill>
                <a:latin typeface="맑은 고딕"/>
              </a:defRPr>
            </a:pPr>
            <a:r>
              <a:t>5.8%</a:t>
            </a:r>
          </a:p>
        </p:txBody>
      </p:sp>
      <p:sp>
        <p:nvSpPr>
          <p:cNvPr id="33" name="Rectangle 32"/>
          <p:cNvSpPr/>
          <p:nvPr/>
        </p:nvSpPr>
        <p:spPr>
          <a:xfrm>
            <a:off x="4206240" y="3429000"/>
            <a:ext cx="32004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60" y="3429000"/>
            <a:ext cx="3108960" cy="502920"/>
          </a:xfrm>
          <a:prstGeom prst="rect">
            <a:avLst/>
          </a:prstGeom>
          <a:noFill/>
        </p:spPr>
        <p:txBody>
          <a:bodyPr wrap="square">
            <a:spAutoFit/>
          </a:bodyPr>
          <a:lstStyle/>
          <a:p>
            <a:pPr algn="ctr">
              <a:defRPr sz="1200" b="0">
                <a:solidFill>
                  <a:srgbClr val="BBBBCC"/>
                </a:solidFill>
                <a:latin typeface="맑은 고딕"/>
              </a:defRPr>
            </a:pPr>
            <a:r>
              <a:t>"Unknown" 텍스트로 채우기</a:t>
            </a:r>
          </a:p>
        </p:txBody>
      </p:sp>
      <p:sp>
        <p:nvSpPr>
          <p:cNvPr id="35" name="Rectangle 34"/>
          <p:cNvSpPr/>
          <p:nvPr/>
        </p:nvSpPr>
        <p:spPr>
          <a:xfrm>
            <a:off x="7406640" y="3429000"/>
            <a:ext cx="429768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3429000"/>
            <a:ext cx="4206240" cy="502920"/>
          </a:xfrm>
          <a:prstGeom prst="rect">
            <a:avLst/>
          </a:prstGeom>
          <a:noFill/>
        </p:spPr>
        <p:txBody>
          <a:bodyPr wrap="square">
            <a:spAutoFit/>
          </a:bodyPr>
          <a:lstStyle/>
          <a:p>
            <a:pPr algn="ctr">
              <a:defRPr sz="1200" b="0">
                <a:solidFill>
                  <a:srgbClr val="BBBBCC"/>
                </a:solidFill>
                <a:latin typeface="맑은 고딕"/>
              </a:defRPr>
            </a:pPr>
            <a:r>
              <a:t>특정 값이 압도적이지 않음 → 별도 카테고리 신설</a:t>
            </a:r>
          </a:p>
        </p:txBody>
      </p:sp>
      <p:sp>
        <p:nvSpPr>
          <p:cNvPr id="37" name="Rectangle 36"/>
          <p:cNvSpPr/>
          <p:nvPr/>
        </p:nvSpPr>
        <p:spPr>
          <a:xfrm>
            <a:off x="548640" y="3931920"/>
            <a:ext cx="22860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3931920"/>
            <a:ext cx="2194560" cy="502920"/>
          </a:xfrm>
          <a:prstGeom prst="rect">
            <a:avLst/>
          </a:prstGeom>
          <a:noFill/>
        </p:spPr>
        <p:txBody>
          <a:bodyPr wrap="square">
            <a:spAutoFit/>
          </a:bodyPr>
          <a:lstStyle/>
          <a:p>
            <a:pPr algn="ctr">
              <a:defRPr sz="1200" b="1">
                <a:solidFill>
                  <a:srgbClr val="00D2FF"/>
                </a:solidFill>
                <a:latin typeface="맑은 고딕"/>
              </a:defRPr>
            </a:pPr>
            <a:r>
              <a:t>(나머지 11개)</a:t>
            </a:r>
          </a:p>
        </p:txBody>
      </p:sp>
      <p:sp>
        <p:nvSpPr>
          <p:cNvPr id="39" name="Rectangle 38"/>
          <p:cNvSpPr/>
          <p:nvPr/>
        </p:nvSpPr>
        <p:spPr>
          <a:xfrm>
            <a:off x="2834640" y="3931920"/>
            <a:ext cx="13716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80360" y="3931920"/>
            <a:ext cx="1280160" cy="502920"/>
          </a:xfrm>
          <a:prstGeom prst="rect">
            <a:avLst/>
          </a:prstGeom>
          <a:noFill/>
        </p:spPr>
        <p:txBody>
          <a:bodyPr wrap="square">
            <a:spAutoFit/>
          </a:bodyPr>
          <a:lstStyle/>
          <a:p>
            <a:pPr algn="ctr">
              <a:defRPr sz="1200" b="0">
                <a:solidFill>
                  <a:srgbClr val="BBBBCC"/>
                </a:solidFill>
                <a:latin typeface="맑은 고딕"/>
              </a:defRPr>
            </a:pPr>
            <a:r>
              <a:t>0%</a:t>
            </a:r>
          </a:p>
        </p:txBody>
      </p:sp>
      <p:sp>
        <p:nvSpPr>
          <p:cNvPr id="41" name="Rectangle 40"/>
          <p:cNvSpPr/>
          <p:nvPr/>
        </p:nvSpPr>
        <p:spPr>
          <a:xfrm>
            <a:off x="4206240" y="3931920"/>
            <a:ext cx="32004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51960" y="3931920"/>
            <a:ext cx="3108960" cy="502920"/>
          </a:xfrm>
          <a:prstGeom prst="rect">
            <a:avLst/>
          </a:prstGeom>
          <a:noFill/>
        </p:spPr>
        <p:txBody>
          <a:bodyPr wrap="square">
            <a:spAutoFit/>
          </a:bodyPr>
          <a:lstStyle/>
          <a:p>
            <a:pPr algn="ctr">
              <a:defRPr sz="1200" b="0">
                <a:solidFill>
                  <a:srgbClr val="BBBBCC"/>
                </a:solidFill>
                <a:latin typeface="맑은 고딕"/>
              </a:defRPr>
            </a:pPr>
            <a:r>
              <a:t>처리 불필요</a:t>
            </a:r>
          </a:p>
        </p:txBody>
      </p:sp>
      <p:sp>
        <p:nvSpPr>
          <p:cNvPr id="43" name="Rectangle 42"/>
          <p:cNvSpPr/>
          <p:nvPr/>
        </p:nvSpPr>
        <p:spPr>
          <a:xfrm>
            <a:off x="7406640" y="3931920"/>
            <a:ext cx="429768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52360" y="3931920"/>
            <a:ext cx="4206240" cy="502920"/>
          </a:xfrm>
          <a:prstGeom prst="rect">
            <a:avLst/>
          </a:prstGeom>
          <a:noFill/>
        </p:spPr>
        <p:txBody>
          <a:bodyPr wrap="square">
            <a:spAutoFit/>
          </a:bodyPr>
          <a:lstStyle/>
          <a:p>
            <a:pPr algn="ctr">
              <a:defRPr sz="1200" b="0">
                <a:solidFill>
                  <a:srgbClr val="BBBBCC"/>
                </a:solidFill>
                <a:latin typeface="맑은 고딕"/>
              </a:defRPr>
            </a:pPr>
            <a:r>
              <a:t>결측치 없음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8.4 결측치 fillna 코드 + 더미 변수 변환</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최종 전처리 — pd.get_dummies(drop_first=True) 1줄로 마무리</a:t>
            </a:r>
          </a:p>
        </p:txBody>
      </p:sp>
      <p:sp>
        <p:nvSpPr>
          <p:cNvPr id="5" name="Rounded Rectangle 4"/>
          <p:cNvSpPr/>
          <p:nvPr/>
        </p:nvSpPr>
        <p:spPr>
          <a:xfrm>
            <a:off x="548640" y="1920240"/>
            <a:ext cx="11155680" cy="466344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10789920" cy="4389120"/>
          </a:xfrm>
          <a:prstGeom prst="rect">
            <a:avLst/>
          </a:prstGeom>
          <a:noFill/>
        </p:spPr>
        <p:txBody>
          <a:bodyPr wrap="square">
            <a:spAutoFit/>
          </a:bodyPr>
          <a:lstStyle/>
          <a:p>
            <a:pPr>
              <a:spcAft>
                <a:spcPts val="200"/>
              </a:spcAft>
              <a:defRPr sz="1100">
                <a:solidFill>
                  <a:srgbClr val="00E696"/>
                </a:solidFill>
                <a:latin typeface="Consolas"/>
              </a:defRPr>
            </a:pPr>
            <a:r>
              <a:t># (1) 결측 비율 확인</a:t>
            </a:r>
          </a:p>
          <a:p>
            <a:pPr>
              <a:spcAft>
                <a:spcPts val="200"/>
              </a:spcAft>
              <a:defRPr sz="1100">
                <a:solidFill>
                  <a:srgbClr val="00E696"/>
                </a:solidFill>
                <a:latin typeface="Consolas"/>
              </a:defRPr>
            </a:pPr>
            <a:r>
              <a:t>data.isna().mean()</a:t>
            </a:r>
          </a:p>
          <a:p>
            <a:pPr>
              <a:spcAft>
                <a:spcPts val="200"/>
              </a:spcAft>
              <a:defRPr sz="1100">
                <a:solidFill>
                  <a:srgbClr val="00E696"/>
                </a:solidFill>
                <a:latin typeface="Consolas"/>
              </a:defRPr>
            </a:pPr>
            <a:r>
              <a:t>#   workclass         0.057307</a:t>
            </a:r>
          </a:p>
          <a:p>
            <a:pPr>
              <a:spcAft>
                <a:spcPts val="200"/>
              </a:spcAft>
              <a:defRPr sz="1100">
                <a:solidFill>
                  <a:srgbClr val="00E696"/>
                </a:solidFill>
                <a:latin typeface="Consolas"/>
              </a:defRPr>
            </a:pPr>
            <a:r>
              <a:t>#   occupation        0.057512</a:t>
            </a:r>
          </a:p>
          <a:p>
            <a:pPr>
              <a:spcAft>
                <a:spcPts val="200"/>
              </a:spcAft>
              <a:defRPr sz="1100">
                <a:solidFill>
                  <a:srgbClr val="00E696"/>
                </a:solidFill>
                <a:latin typeface="Consolas"/>
              </a:defRPr>
            </a:pPr>
            <a:r>
              <a:t>#   native-country    0.017546</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(2) 변수별 결측치 채우기</a:t>
            </a:r>
          </a:p>
          <a:p>
            <a:pPr>
              <a:spcAft>
                <a:spcPts val="200"/>
              </a:spcAft>
              <a:defRPr sz="1100">
                <a:solidFill>
                  <a:srgbClr val="00E696"/>
                </a:solidFill>
                <a:latin typeface="Consolas"/>
              </a:defRPr>
            </a:pPr>
            <a:r>
              <a:t>data['native-country'] = data['native-country'].fillna(-99)</a:t>
            </a:r>
          </a:p>
          <a:p>
            <a:pPr>
              <a:spcAft>
                <a:spcPts val="200"/>
              </a:spcAft>
              <a:defRPr sz="1100">
                <a:solidFill>
                  <a:srgbClr val="00E696"/>
                </a:solidFill>
                <a:latin typeface="Consolas"/>
              </a:defRPr>
            </a:pPr>
            <a:r>
              <a:t>data['workclass'] = data['workclass'].fillna('Private')</a:t>
            </a:r>
          </a:p>
          <a:p>
            <a:pPr>
              <a:spcAft>
                <a:spcPts val="200"/>
              </a:spcAft>
              <a:defRPr sz="1100">
                <a:solidFill>
                  <a:srgbClr val="00E696"/>
                </a:solidFill>
                <a:latin typeface="Consolas"/>
              </a:defRPr>
            </a:pPr>
            <a:r>
              <a:t>data['occupation'] = data['occupation'].fillna('Unknown')</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(3) 모든 결측치 해결 후 — 더미 변수 변환 (1줄!)</a:t>
            </a:r>
          </a:p>
          <a:p>
            <a:pPr>
              <a:spcAft>
                <a:spcPts val="200"/>
              </a:spcAft>
              <a:defRPr sz="1100">
                <a:solidFill>
                  <a:srgbClr val="00E696"/>
                </a:solidFill>
                <a:latin typeface="Consolas"/>
              </a:defRPr>
            </a:pPr>
            <a:r>
              <a:t>data = pd.get_dummies(data, drop_first=True)</a:t>
            </a:r>
          </a:p>
          <a:p>
            <a:pPr>
              <a:spcAft>
                <a:spcPts val="200"/>
              </a:spcAft>
              <a:defRPr sz="1100">
                <a:solidFill>
                  <a:srgbClr val="00E696"/>
                </a:solidFill>
                <a:latin typeface="Consolas"/>
              </a:defRPr>
            </a:pPr>
            <a:r>
              <a:t>#   drop_first=True : 다중공선성 방지를 위해</a:t>
            </a:r>
          </a:p>
          <a:p>
            <a:pPr>
              <a:spcAft>
                <a:spcPts val="200"/>
              </a:spcAft>
              <a:defRPr sz="1100">
                <a:solidFill>
                  <a:srgbClr val="00E696"/>
                </a:solidFill>
                <a:latin typeface="Consolas"/>
              </a:defRPr>
            </a:pPr>
            <a:r>
              <a:t>#                     첫 더미 컬럼 자동 제거</a:t>
            </a:r>
          </a:p>
          <a:p>
            <a:pPr>
              <a:spcAft>
                <a:spcPts val="200"/>
              </a:spcAft>
              <a:defRPr sz="1100">
                <a:solidFill>
                  <a:srgbClr val="00E696"/>
                </a:solidFill>
                <a:latin typeface="Consolas"/>
              </a:defRPr>
            </a:pPr>
            <a:r>
              <a:t>#   (예) workclass_Federal-gov, workclass_Local-gov, …</a:t>
            </a:r>
          </a:p>
          <a:p>
            <a:pPr>
              <a:spcAft>
                <a:spcPts val="200"/>
              </a:spcAft>
              <a:defRPr sz="1100">
                <a:solidFill>
                  <a:srgbClr val="00E696"/>
                </a:solidFill>
                <a:latin typeface="Consolas"/>
              </a:defRPr>
            </a:pPr>
            <a:r>
              <a:t>#         workclass_Private 은 제거됨 (= 모두 0이면 Private)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8.5</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8.5</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모델링 및 평가하기</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train_test_split → DecisionTreeClassifier → accuracy_score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8.5 모델링 코드 — 4단계</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훈련셋·시험셋 분리 → 학습 → 예측 → 정확도 계산</a:t>
            </a:r>
          </a:p>
        </p:txBody>
      </p:sp>
      <p:sp>
        <p:nvSpPr>
          <p:cNvPr id="5" name="Rounded Rectangle 4"/>
          <p:cNvSpPr/>
          <p:nvPr/>
        </p:nvSpPr>
        <p:spPr>
          <a:xfrm>
            <a:off x="548640" y="1920240"/>
            <a:ext cx="11155680" cy="466344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10789920" cy="4389120"/>
          </a:xfrm>
          <a:prstGeom prst="rect">
            <a:avLst/>
          </a:prstGeom>
          <a:noFill/>
        </p:spPr>
        <p:txBody>
          <a:bodyPr wrap="square">
            <a:spAutoFit/>
          </a:bodyPr>
          <a:lstStyle/>
          <a:p>
            <a:pPr>
              <a:spcAft>
                <a:spcPts val="200"/>
              </a:spcAft>
              <a:defRPr sz="1100">
                <a:solidFill>
                  <a:srgbClr val="00E696"/>
                </a:solidFill>
                <a:latin typeface="Consolas"/>
              </a:defRPr>
            </a:pPr>
            <a:r>
              <a:t># (1) 훈련셋 / 시험셋 분리 (test_size=0.4 → 데이터가 크므로 40%)</a:t>
            </a:r>
          </a:p>
          <a:p>
            <a:pPr>
              <a:spcAft>
                <a:spcPts val="200"/>
              </a:spcAft>
              <a:defRPr sz="1100">
                <a:solidFill>
                  <a:srgbClr val="00E696"/>
                </a:solidFill>
                <a:latin typeface="Consolas"/>
              </a:defRPr>
            </a:pPr>
            <a:r>
              <a:t>from sklearn.model_selection import train_test_split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X_train, X_test, y_train, y_test = train_test_split(</a:t>
            </a:r>
          </a:p>
          <a:p>
            <a:pPr>
              <a:spcAft>
                <a:spcPts val="200"/>
              </a:spcAft>
              <a:defRPr sz="1100">
                <a:solidFill>
                  <a:srgbClr val="00E696"/>
                </a:solidFill>
                <a:latin typeface="Consolas"/>
              </a:defRPr>
            </a:pPr>
            <a:r>
              <a:t>    data.drop('class', axis=1),    # 독립변수</a:t>
            </a:r>
          </a:p>
          <a:p>
            <a:pPr>
              <a:spcAft>
                <a:spcPts val="200"/>
              </a:spcAft>
              <a:defRPr sz="1100">
                <a:solidFill>
                  <a:srgbClr val="00E696"/>
                </a:solidFill>
                <a:latin typeface="Consolas"/>
              </a:defRPr>
            </a:pPr>
            <a:r>
              <a:t>    data['class'],                  # 종속변수</a:t>
            </a:r>
          </a:p>
          <a:p>
            <a:pPr>
              <a:spcAft>
                <a:spcPts val="200"/>
              </a:spcAft>
              <a:defRPr sz="1100">
                <a:solidFill>
                  <a:srgbClr val="00E696"/>
                </a:solidFill>
                <a:latin typeface="Consolas"/>
              </a:defRPr>
            </a:pPr>
            <a:r>
              <a:t>    test_size=0.4,                  # 시험셋 비율</a:t>
            </a:r>
          </a:p>
          <a:p>
            <a:pPr>
              <a:spcAft>
                <a:spcPts val="200"/>
              </a:spcAft>
              <a:defRPr sz="1100">
                <a:solidFill>
                  <a:srgbClr val="00E696"/>
                </a:solidFill>
                <a:latin typeface="Consolas"/>
              </a:defRPr>
            </a:pPr>
            <a:r>
              <a:t>    random_state=100                # 재현성 보장</a:t>
            </a:r>
          </a:p>
          <a:p>
            <a:pPr>
              <a:spcAft>
                <a:spcPts val="200"/>
              </a:spcAft>
              <a:defRPr sz="1100">
                <a:solidFill>
                  <a:srgbClr val="00E696"/>
                </a:solidFill>
                <a:latin typeface="Consolas"/>
              </a:defRPr>
            </a:pPr>
            <a:r>
              <a:t>)</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(2) 결정 트리 분류 모델 객체 생성</a:t>
            </a:r>
          </a:p>
          <a:p>
            <a:pPr>
              <a:spcAft>
                <a:spcPts val="200"/>
              </a:spcAft>
              <a:defRPr sz="1100">
                <a:solidFill>
                  <a:srgbClr val="00E696"/>
                </a:solidFill>
                <a:latin typeface="Consolas"/>
              </a:defRPr>
            </a:pPr>
            <a:r>
              <a:t>from sklearn.tree import DecisionTreeClassifier</a:t>
            </a:r>
          </a:p>
          <a:p>
            <a:pPr>
              <a:spcAft>
                <a:spcPts val="200"/>
              </a:spcAft>
              <a:defRPr sz="1100">
                <a:solidFill>
                  <a:srgbClr val="00E696"/>
                </a:solidFill>
                <a:latin typeface="Consolas"/>
              </a:defRPr>
            </a:pPr>
            <a:r>
              <a:t>model = DecisionTreeClassifier()        # 매개변수 모두 기본값</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(3) 학습 + 예측</a:t>
            </a:r>
          </a:p>
          <a:p>
            <a:pPr>
              <a:spcAft>
                <a:spcPts val="200"/>
              </a:spcAft>
              <a:defRPr sz="1100">
                <a:solidFill>
                  <a:srgbClr val="00E696"/>
                </a:solidFill>
                <a:latin typeface="Consolas"/>
              </a:defRPr>
            </a:pPr>
            <a:r>
              <a:t>model.fit(X_train, y_train)             # 학습</a:t>
            </a:r>
          </a:p>
          <a:p>
            <a:pPr>
              <a:spcAft>
                <a:spcPts val="200"/>
              </a:spcAft>
              <a:defRPr sz="1100">
                <a:solidFill>
                  <a:srgbClr val="00E696"/>
                </a:solidFill>
                <a:latin typeface="Consolas"/>
              </a:defRPr>
            </a:pPr>
            <a:r>
              <a:t>pred = model.predict(X_test)            # 예측</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(4) 정확도 계산</a:t>
            </a:r>
          </a:p>
          <a:p>
            <a:pPr>
              <a:spcAft>
                <a:spcPts val="200"/>
              </a:spcAft>
              <a:defRPr sz="1100">
                <a:solidFill>
                  <a:srgbClr val="00E696"/>
                </a:solidFill>
                <a:latin typeface="Consolas"/>
              </a:defRPr>
            </a:pPr>
            <a:r>
              <a:t>from sklearn.metrics import accuracy_score</a:t>
            </a:r>
          </a:p>
          <a:p>
            <a:pPr>
              <a:spcAft>
                <a:spcPts val="200"/>
              </a:spcAft>
              <a:defRPr sz="1100">
                <a:solidFill>
                  <a:srgbClr val="00E696"/>
                </a:solidFill>
                <a:latin typeface="Consolas"/>
              </a:defRPr>
            </a:pPr>
            <a:r>
              <a:t>accuracy_score(y_test, pred)</a:t>
            </a:r>
          </a:p>
          <a:p>
            <a:pPr>
              <a:spcAft>
                <a:spcPts val="200"/>
              </a:spcAft>
              <a:defRPr sz="1100">
                <a:solidFill>
                  <a:srgbClr val="00E696"/>
                </a:solidFill>
                <a:latin typeface="Consolas"/>
              </a:defRPr>
            </a:pPr>
            <a:r>
              <a:t>#   결과: 0.8134309259354047  (약 81%)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8.6</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8.6</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이해하기: 결정 트리</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분류 결정 트리 (Gini · Entropy) + 회귀 결정 트리 (MSE)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8.6 결정 트리의 작동 원리 — 직관 예시</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"지름 ≥ 5 ?" 한 번의 질문으로 사과/귤 구분</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예시 1: 단순 데이터</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 지름 (독립) → 종류 (종속) 】</a:t>
            </a:r>
          </a:p>
          <a:p>
            <a:pPr>
              <a:spcAft>
                <a:spcPts val="800"/>
              </a:spcAft>
              <a:defRPr sz="1400">
                <a:solidFill>
                  <a:srgbClr val="BBBBCC"/>
                </a:solidFill>
                <a:latin typeface="맑은 고딕"/>
              </a:defRPr>
            </a:pPr>
            <a:r>
              <a:t>   6  →  사과</a:t>
            </a:r>
          </a:p>
          <a:p>
            <a:pPr>
              <a:spcAft>
                <a:spcPts val="800"/>
              </a:spcAft>
              <a:defRPr sz="1400">
                <a:solidFill>
                  <a:srgbClr val="BBBBCC"/>
                </a:solidFill>
                <a:latin typeface="맑은 고딕"/>
              </a:defRPr>
            </a:pPr>
            <a:r>
              <a:t>   4.5 →  귤</a:t>
            </a:r>
          </a:p>
          <a:p>
            <a:pPr>
              <a:spcAft>
                <a:spcPts val="800"/>
              </a:spcAft>
              <a:defRPr sz="1400">
                <a:solidFill>
                  <a:srgbClr val="BBBBCC"/>
                </a:solidFill>
                <a:latin typeface="맑은 고딕"/>
              </a:defRPr>
            </a:pPr>
            <a:r>
              <a:t>   4  →  귤</a:t>
            </a:r>
          </a:p>
          <a:p>
            <a:pPr>
              <a:spcAft>
                <a:spcPts val="800"/>
              </a:spcAft>
              <a:defRPr sz="1400">
                <a:solidFill>
                  <a:srgbClr val="BBBBCC"/>
                </a:solidFill>
                <a:latin typeface="맑은 고딕"/>
              </a:defRPr>
            </a:pPr>
            <a:r>
              <a:t>   7  →  사과</a:t>
            </a:r>
          </a:p>
          <a:p>
            <a:pPr>
              <a:spcAft>
                <a:spcPts val="800"/>
              </a:spcAft>
              <a:defRPr sz="1400">
                <a:solidFill>
                  <a:srgbClr val="BBBBCC"/>
                </a:solidFill>
                <a:latin typeface="맑은 고딕"/>
              </a:defRPr>
            </a:pPr>
            <a:r>
              <a:t>   7.5 →  사과</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 질문: "지름 ≥ 5 ?" 한 번에 완전 분리</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예시 2: 복잡 데이터 (2개 변수)</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 지름·무게 → 사과/복숭아 】</a:t>
            </a:r>
          </a:p>
          <a:p>
            <a:pPr>
              <a:spcAft>
                <a:spcPts val="800"/>
              </a:spcAft>
              <a:defRPr sz="1400">
                <a:solidFill>
                  <a:srgbClr val="BBBBCC"/>
                </a:solidFill>
                <a:latin typeface="맑은 고딕"/>
              </a:defRPr>
            </a:pPr>
            <a:r>
              <a:t>두 변수 모두 단독으로는 구분 불가</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1단계: "지름 ≥ 7 ?" 분기</a:t>
            </a:r>
          </a:p>
          <a:p>
            <a:pPr>
              <a:spcAft>
                <a:spcPts val="800"/>
              </a:spcAft>
              <a:defRPr sz="1400">
                <a:solidFill>
                  <a:srgbClr val="BBBBCC"/>
                </a:solidFill>
                <a:latin typeface="맑은 고딕"/>
              </a:defRPr>
            </a:pPr>
            <a:r>
              <a:t>   → 사과 2,복숭아 1  /  사과 1,복숭아 2</a:t>
            </a:r>
          </a:p>
          <a:p>
            <a:pPr>
              <a:spcAft>
                <a:spcPts val="800"/>
              </a:spcAft>
              <a:defRPr sz="1400">
                <a:solidFill>
                  <a:srgbClr val="BBBBCC"/>
                </a:solidFill>
                <a:latin typeface="맑은 고딕"/>
              </a:defRPr>
            </a:pPr>
            <a:r>
              <a:t>2단계: 각 노드에서 "무게" 기준 재분기</a:t>
            </a:r>
          </a:p>
          <a:p>
            <a:pPr>
              <a:spcAft>
                <a:spcPts val="800"/>
              </a:spcAft>
              <a:defRPr sz="1400">
                <a:solidFill>
                  <a:srgbClr val="BBBBCC"/>
                </a:solidFill>
                <a:latin typeface="맑은 고딕"/>
              </a:defRPr>
            </a:pPr>
            <a:r>
              <a:t>   → 사과·복숭아 완전 분리</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 좋은 모델: 각 단계에서 최적 변수·기준점 채택</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8.6.1 분류 결정 트리 — 지니 인덱스 (Gini Index)</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노드의 순도(purity)를 평가 — sklearn의 기본값</a:t>
            </a:r>
          </a:p>
        </p:txBody>
      </p:sp>
      <p:sp>
        <p:nvSpPr>
          <p:cNvPr id="5" name="Rounded Rectangle 4"/>
          <p:cNvSpPr/>
          <p:nvPr/>
        </p:nvSpPr>
        <p:spPr>
          <a:xfrm>
            <a:off x="548640" y="1920240"/>
            <a:ext cx="11155680" cy="1097280"/>
          </a:xfrm>
          <a:prstGeom prst="roundRect">
            <a:avLst>
              <a:gd name="adj" fmla="val 5000"/>
            </a:avLst>
          </a:prstGeom>
          <a:solidFill>
            <a:srgbClr val="1E1E3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1155680" cy="640080"/>
          </a:xfrm>
          <a:prstGeom prst="rect">
            <a:avLst/>
          </a:prstGeom>
          <a:noFill/>
        </p:spPr>
        <p:txBody>
          <a:bodyPr wrap="square">
            <a:spAutoFit/>
          </a:bodyPr>
          <a:lstStyle/>
          <a:p>
            <a:pPr algn="ctr">
              <a:defRPr sz="2400" b="1">
                <a:solidFill>
                  <a:srgbClr val="FFD700"/>
                </a:solidFill>
                <a:latin typeface="Consolas"/>
              </a:defRPr>
            </a:pPr>
            <a:r>
              <a:t>Gini(t)  =  1  −  Σᵢ pᵢ²</a:t>
            </a:r>
          </a:p>
        </p:txBody>
      </p:sp>
      <p:sp>
        <p:nvSpPr>
          <p:cNvPr id="7" name="TextBox 6"/>
          <p:cNvSpPr txBox="1"/>
          <p:nvPr/>
        </p:nvSpPr>
        <p:spPr>
          <a:xfrm>
            <a:off x="548640" y="2606040"/>
            <a:ext cx="11155680" cy="365760"/>
          </a:xfrm>
          <a:prstGeom prst="rect">
            <a:avLst/>
          </a:prstGeom>
          <a:noFill/>
        </p:spPr>
        <p:txBody>
          <a:bodyPr wrap="square">
            <a:spAutoFit/>
          </a:bodyPr>
          <a:lstStyle/>
          <a:p>
            <a:pPr algn="ctr">
              <a:defRPr sz="1100" b="0">
                <a:solidFill>
                  <a:srgbClr val="BBBBCC"/>
                </a:solidFill>
                <a:latin typeface="맑은 고딕"/>
              </a:defRPr>
            </a:pPr>
            <a:r>
              <a:t>pᵢ : 노드 안에서 클래스 i의 비율   /   범위: 0 (완전 순수) ~ 0.5 (이진 5:5)</a:t>
            </a:r>
          </a:p>
        </p:txBody>
      </p:sp>
      <p:sp>
        <p:nvSpPr>
          <p:cNvPr id="8" name="Rounded Rectangle 7"/>
          <p:cNvSpPr/>
          <p:nvPr/>
        </p:nvSpPr>
        <p:spPr>
          <a:xfrm>
            <a:off x="548640" y="3154680"/>
            <a:ext cx="5486400" cy="329184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46120"/>
            <a:ext cx="5212080" cy="457200"/>
          </a:xfrm>
          <a:prstGeom prst="rect">
            <a:avLst/>
          </a:prstGeom>
          <a:noFill/>
        </p:spPr>
        <p:txBody>
          <a:bodyPr wrap="square">
            <a:spAutoFit/>
          </a:bodyPr>
          <a:lstStyle/>
          <a:p>
            <a:pPr algn="l">
              <a:defRPr sz="1500" b="1">
                <a:solidFill>
                  <a:srgbClr val="00E696"/>
                </a:solidFill>
                <a:latin typeface="맑은 고딕"/>
              </a:defRPr>
            </a:pPr>
            <a:r>
              <a:t>직관적 의미</a:t>
            </a:r>
          </a:p>
        </p:txBody>
      </p:sp>
      <p:sp>
        <p:nvSpPr>
          <p:cNvPr id="10" name="TextBox 9"/>
          <p:cNvSpPr txBox="1"/>
          <p:nvPr/>
        </p:nvSpPr>
        <p:spPr>
          <a:xfrm>
            <a:off x="731520" y="3703320"/>
            <a:ext cx="5212080" cy="2651760"/>
          </a:xfrm>
          <a:prstGeom prst="rect">
            <a:avLst/>
          </a:prstGeom>
          <a:noFill/>
        </p:spPr>
        <p:txBody>
          <a:bodyPr wrap="square">
            <a:spAutoFit/>
          </a:bodyPr>
          <a:lstStyle/>
          <a:p>
            <a:pPr>
              <a:spcAft>
                <a:spcPts val="300"/>
              </a:spcAft>
              <a:defRPr sz="1200">
                <a:solidFill>
                  <a:srgbClr val="BBBBCC"/>
                </a:solidFill>
                <a:latin typeface="맑은 고딕"/>
              </a:defRPr>
            </a:pPr>
            <a:r>
              <a:t>"한 노드에서 임의로 두 샘플을 뽑았을 때</a:t>
            </a:r>
          </a:p>
          <a:p>
            <a:pPr>
              <a:spcAft>
                <a:spcPts val="300"/>
              </a:spcAft>
              <a:defRPr sz="1200">
                <a:solidFill>
                  <a:srgbClr val="BBBBCC"/>
                </a:solidFill>
                <a:latin typeface="맑은 고딕"/>
              </a:defRPr>
            </a:pPr>
            <a:r>
              <a:t>   서로 다른 클래스일 확률"</a:t>
            </a:r>
          </a:p>
          <a:p>
            <a:pPr>
              <a:spcAft>
                <a:spcPts val="300"/>
              </a:spcAft>
              <a:defRPr sz="1200">
                <a:solidFill>
                  <a:srgbClr val="BBBBCC"/>
                </a:solidFill>
                <a:latin typeface="맑은 고딕"/>
              </a:defRPr>
            </a:pPr>
          </a:p>
          <a:p>
            <a:pPr>
              <a:spcAft>
                <a:spcPts val="300"/>
              </a:spcAft>
              <a:defRPr sz="1200">
                <a:solidFill>
                  <a:srgbClr val="BBBBCC"/>
                </a:solidFill>
                <a:latin typeface="맑은 고딕"/>
              </a:defRPr>
            </a:pPr>
            <a:r>
              <a:t>• 순도 ↑  →  Gini ↓</a:t>
            </a:r>
          </a:p>
          <a:p>
            <a:pPr>
              <a:spcAft>
                <a:spcPts val="300"/>
              </a:spcAft>
              <a:defRPr sz="1200">
                <a:solidFill>
                  <a:srgbClr val="BBBBCC"/>
                </a:solidFill>
                <a:latin typeface="맑은 고딕"/>
              </a:defRPr>
            </a:pPr>
            <a:r>
              <a:t>• 결정 트리는 Gini가 가장 낮은 분할을 선택</a:t>
            </a:r>
          </a:p>
          <a:p>
            <a:pPr>
              <a:spcAft>
                <a:spcPts val="300"/>
              </a:spcAft>
              <a:defRPr sz="1200">
                <a:solidFill>
                  <a:srgbClr val="BBBBCC"/>
                </a:solidFill>
                <a:latin typeface="맑은 고딕"/>
              </a:defRPr>
            </a:pPr>
            <a:r>
              <a:t>• 사이킷런 DecisionTreeClassifier 기본값</a:t>
            </a:r>
          </a:p>
        </p:txBody>
      </p:sp>
      <p:sp>
        <p:nvSpPr>
          <p:cNvPr id="11" name="Rectangle 10"/>
          <p:cNvSpPr/>
          <p:nvPr/>
        </p:nvSpPr>
        <p:spPr>
          <a:xfrm>
            <a:off x="6217920" y="3200400"/>
            <a:ext cx="1721223"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200400"/>
            <a:ext cx="1721223" cy="411480"/>
          </a:xfrm>
          <a:prstGeom prst="rect">
            <a:avLst/>
          </a:prstGeom>
          <a:noFill/>
        </p:spPr>
        <p:txBody>
          <a:bodyPr wrap="square">
            <a:spAutoFit/>
          </a:bodyPr>
          <a:lstStyle/>
          <a:p>
            <a:pPr algn="ctr">
              <a:defRPr sz="1200" b="1">
                <a:solidFill>
                  <a:srgbClr val="FFFFFF"/>
                </a:solidFill>
                <a:latin typeface="맑은 고딕"/>
              </a:defRPr>
            </a:pPr>
            <a:r>
              <a:t>예시</a:t>
            </a:r>
          </a:p>
        </p:txBody>
      </p:sp>
      <p:sp>
        <p:nvSpPr>
          <p:cNvPr id="13" name="Rectangle 12"/>
          <p:cNvSpPr/>
          <p:nvPr/>
        </p:nvSpPr>
        <p:spPr>
          <a:xfrm>
            <a:off x="7939143" y="3200400"/>
            <a:ext cx="803237"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9143" y="3200400"/>
            <a:ext cx="803237" cy="411480"/>
          </a:xfrm>
          <a:prstGeom prst="rect">
            <a:avLst/>
          </a:prstGeom>
          <a:noFill/>
        </p:spPr>
        <p:txBody>
          <a:bodyPr wrap="square">
            <a:spAutoFit/>
          </a:bodyPr>
          <a:lstStyle/>
          <a:p>
            <a:pPr algn="ctr">
              <a:defRPr sz="1200" b="1">
                <a:solidFill>
                  <a:srgbClr val="FFFFFF"/>
                </a:solidFill>
                <a:latin typeface="맑은 고딕"/>
              </a:defRPr>
            </a:pPr>
            <a:r>
              <a:t>비율</a:t>
            </a:r>
          </a:p>
        </p:txBody>
      </p:sp>
      <p:sp>
        <p:nvSpPr>
          <p:cNvPr id="15" name="Rectangle 14"/>
          <p:cNvSpPr/>
          <p:nvPr/>
        </p:nvSpPr>
        <p:spPr>
          <a:xfrm>
            <a:off x="8742380" y="3200400"/>
            <a:ext cx="195072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42380" y="3200400"/>
            <a:ext cx="1950720" cy="411480"/>
          </a:xfrm>
          <a:prstGeom prst="rect">
            <a:avLst/>
          </a:prstGeom>
          <a:noFill/>
        </p:spPr>
        <p:txBody>
          <a:bodyPr wrap="square">
            <a:spAutoFit/>
          </a:bodyPr>
          <a:lstStyle/>
          <a:p>
            <a:pPr algn="ctr">
              <a:defRPr sz="1200" b="1">
                <a:solidFill>
                  <a:srgbClr val="FFFFFF"/>
                </a:solidFill>
                <a:latin typeface="맑은 고딕"/>
              </a:defRPr>
            </a:pPr>
            <a:r>
              <a:t>계산</a:t>
            </a:r>
          </a:p>
        </p:txBody>
      </p:sp>
      <p:sp>
        <p:nvSpPr>
          <p:cNvPr id="17" name="Rectangle 16"/>
          <p:cNvSpPr/>
          <p:nvPr/>
        </p:nvSpPr>
        <p:spPr>
          <a:xfrm>
            <a:off x="10693100" y="3200400"/>
            <a:ext cx="1376978"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3100" y="3200400"/>
            <a:ext cx="1376978" cy="411480"/>
          </a:xfrm>
          <a:prstGeom prst="rect">
            <a:avLst/>
          </a:prstGeom>
          <a:noFill/>
        </p:spPr>
        <p:txBody>
          <a:bodyPr wrap="square">
            <a:spAutoFit/>
          </a:bodyPr>
          <a:lstStyle/>
          <a:p>
            <a:pPr algn="ctr">
              <a:defRPr sz="1200" b="1">
                <a:solidFill>
                  <a:srgbClr val="FFFFFF"/>
                </a:solidFill>
                <a:latin typeface="맑은 고딕"/>
              </a:defRPr>
            </a:pPr>
            <a:r>
              <a:t>Gini</a:t>
            </a:r>
          </a:p>
        </p:txBody>
      </p:sp>
      <p:sp>
        <p:nvSpPr>
          <p:cNvPr id="19" name="Rectangle 18"/>
          <p:cNvSpPr/>
          <p:nvPr/>
        </p:nvSpPr>
        <p:spPr>
          <a:xfrm>
            <a:off x="6217920" y="3611880"/>
            <a:ext cx="1721223"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611880"/>
            <a:ext cx="1629783" cy="457200"/>
          </a:xfrm>
          <a:prstGeom prst="rect">
            <a:avLst/>
          </a:prstGeom>
          <a:noFill/>
        </p:spPr>
        <p:txBody>
          <a:bodyPr wrap="square">
            <a:spAutoFit/>
          </a:bodyPr>
          <a:lstStyle/>
          <a:p>
            <a:pPr algn="ctr">
              <a:defRPr sz="1100" b="1">
                <a:solidFill>
                  <a:srgbClr val="00D2FF"/>
                </a:solidFill>
                <a:latin typeface="맑은 고딕"/>
              </a:defRPr>
            </a:pPr>
            <a:r>
              <a:t>사과 2 / 복숭아 2</a:t>
            </a:r>
          </a:p>
        </p:txBody>
      </p:sp>
      <p:sp>
        <p:nvSpPr>
          <p:cNvPr id="21" name="Rectangle 20"/>
          <p:cNvSpPr/>
          <p:nvPr/>
        </p:nvSpPr>
        <p:spPr>
          <a:xfrm>
            <a:off x="7939143" y="3611880"/>
            <a:ext cx="803237"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4863" y="3611880"/>
            <a:ext cx="711797" cy="457200"/>
          </a:xfrm>
          <a:prstGeom prst="rect">
            <a:avLst/>
          </a:prstGeom>
          <a:noFill/>
        </p:spPr>
        <p:txBody>
          <a:bodyPr wrap="square">
            <a:spAutoFit/>
          </a:bodyPr>
          <a:lstStyle/>
          <a:p>
            <a:pPr algn="ctr">
              <a:defRPr sz="1100" b="0">
                <a:solidFill>
                  <a:srgbClr val="BBBBCC"/>
                </a:solidFill>
                <a:latin typeface="맑은 고딕"/>
              </a:defRPr>
            </a:pPr>
            <a:r>
              <a:t>50:50</a:t>
            </a:r>
          </a:p>
        </p:txBody>
      </p:sp>
      <p:sp>
        <p:nvSpPr>
          <p:cNvPr id="23" name="Rectangle 22"/>
          <p:cNvSpPr/>
          <p:nvPr/>
        </p:nvSpPr>
        <p:spPr>
          <a:xfrm>
            <a:off x="8742380" y="3611880"/>
            <a:ext cx="19507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88100" y="3611880"/>
            <a:ext cx="1859280" cy="457200"/>
          </a:xfrm>
          <a:prstGeom prst="rect">
            <a:avLst/>
          </a:prstGeom>
          <a:noFill/>
        </p:spPr>
        <p:txBody>
          <a:bodyPr wrap="square">
            <a:spAutoFit/>
          </a:bodyPr>
          <a:lstStyle/>
          <a:p>
            <a:pPr algn="ctr">
              <a:defRPr sz="1100" b="0">
                <a:solidFill>
                  <a:srgbClr val="BBBBCC"/>
                </a:solidFill>
                <a:latin typeface="맑은 고딕"/>
              </a:defRPr>
            </a:pPr>
            <a:r>
              <a:t>0.5² + 0.5² = 0.5</a:t>
            </a:r>
          </a:p>
        </p:txBody>
      </p:sp>
      <p:sp>
        <p:nvSpPr>
          <p:cNvPr id="25" name="Rectangle 24"/>
          <p:cNvSpPr/>
          <p:nvPr/>
        </p:nvSpPr>
        <p:spPr>
          <a:xfrm>
            <a:off x="10693100" y="3611880"/>
            <a:ext cx="1376978"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38820" y="3611880"/>
            <a:ext cx="1285538" cy="457200"/>
          </a:xfrm>
          <a:prstGeom prst="rect">
            <a:avLst/>
          </a:prstGeom>
          <a:noFill/>
        </p:spPr>
        <p:txBody>
          <a:bodyPr wrap="square">
            <a:spAutoFit/>
          </a:bodyPr>
          <a:lstStyle/>
          <a:p>
            <a:pPr algn="ctr">
              <a:defRPr sz="1100" b="0">
                <a:solidFill>
                  <a:srgbClr val="BBBBCC"/>
                </a:solidFill>
                <a:latin typeface="맑은 고딕"/>
              </a:defRPr>
            </a:pPr>
            <a:r>
              <a:t>1 − 0.5 = 0.500</a:t>
            </a:r>
          </a:p>
        </p:txBody>
      </p:sp>
      <p:sp>
        <p:nvSpPr>
          <p:cNvPr id="27" name="Rectangle 26"/>
          <p:cNvSpPr/>
          <p:nvPr/>
        </p:nvSpPr>
        <p:spPr>
          <a:xfrm>
            <a:off x="6217920" y="4069080"/>
            <a:ext cx="1721223"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069080"/>
            <a:ext cx="1629783" cy="457200"/>
          </a:xfrm>
          <a:prstGeom prst="rect">
            <a:avLst/>
          </a:prstGeom>
          <a:noFill/>
        </p:spPr>
        <p:txBody>
          <a:bodyPr wrap="square">
            <a:spAutoFit/>
          </a:bodyPr>
          <a:lstStyle/>
          <a:p>
            <a:pPr algn="ctr">
              <a:defRPr sz="1100" b="1">
                <a:solidFill>
                  <a:srgbClr val="00D2FF"/>
                </a:solidFill>
                <a:latin typeface="맑은 고딕"/>
              </a:defRPr>
            </a:pPr>
            <a:r>
              <a:t>사과 1 / 복숭아 3</a:t>
            </a:r>
          </a:p>
        </p:txBody>
      </p:sp>
      <p:sp>
        <p:nvSpPr>
          <p:cNvPr id="29" name="Rectangle 28"/>
          <p:cNvSpPr/>
          <p:nvPr/>
        </p:nvSpPr>
        <p:spPr>
          <a:xfrm>
            <a:off x="7939143" y="4069080"/>
            <a:ext cx="803237"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84863" y="4069080"/>
            <a:ext cx="711797" cy="457200"/>
          </a:xfrm>
          <a:prstGeom prst="rect">
            <a:avLst/>
          </a:prstGeom>
          <a:noFill/>
        </p:spPr>
        <p:txBody>
          <a:bodyPr wrap="square">
            <a:spAutoFit/>
          </a:bodyPr>
          <a:lstStyle/>
          <a:p>
            <a:pPr algn="ctr">
              <a:defRPr sz="1100" b="0">
                <a:solidFill>
                  <a:srgbClr val="BBBBCC"/>
                </a:solidFill>
                <a:latin typeface="맑은 고딕"/>
              </a:defRPr>
            </a:pPr>
            <a:r>
              <a:t>25:75</a:t>
            </a:r>
          </a:p>
        </p:txBody>
      </p:sp>
      <p:sp>
        <p:nvSpPr>
          <p:cNvPr id="31" name="Rectangle 30"/>
          <p:cNvSpPr/>
          <p:nvPr/>
        </p:nvSpPr>
        <p:spPr>
          <a:xfrm>
            <a:off x="8742380" y="4069080"/>
            <a:ext cx="195072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88100" y="4069080"/>
            <a:ext cx="1859280" cy="457200"/>
          </a:xfrm>
          <a:prstGeom prst="rect">
            <a:avLst/>
          </a:prstGeom>
          <a:noFill/>
        </p:spPr>
        <p:txBody>
          <a:bodyPr wrap="square">
            <a:spAutoFit/>
          </a:bodyPr>
          <a:lstStyle/>
          <a:p>
            <a:pPr algn="ctr">
              <a:defRPr sz="1100" b="0">
                <a:solidFill>
                  <a:srgbClr val="BBBBCC"/>
                </a:solidFill>
                <a:latin typeface="맑은 고딕"/>
              </a:defRPr>
            </a:pPr>
            <a:r>
              <a:t>0.25² + 0.75² = 0.625</a:t>
            </a:r>
          </a:p>
        </p:txBody>
      </p:sp>
      <p:sp>
        <p:nvSpPr>
          <p:cNvPr id="33" name="Rectangle 32"/>
          <p:cNvSpPr/>
          <p:nvPr/>
        </p:nvSpPr>
        <p:spPr>
          <a:xfrm>
            <a:off x="10693100" y="4069080"/>
            <a:ext cx="1376978"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38820" y="4069080"/>
            <a:ext cx="1285538" cy="457200"/>
          </a:xfrm>
          <a:prstGeom prst="rect">
            <a:avLst/>
          </a:prstGeom>
          <a:noFill/>
        </p:spPr>
        <p:txBody>
          <a:bodyPr wrap="square">
            <a:spAutoFit/>
          </a:bodyPr>
          <a:lstStyle/>
          <a:p>
            <a:pPr algn="ctr">
              <a:defRPr sz="1100" b="0">
                <a:solidFill>
                  <a:srgbClr val="BBBBCC"/>
                </a:solidFill>
                <a:latin typeface="맑은 고딕"/>
              </a:defRPr>
            </a:pPr>
            <a:r>
              <a:t>1 − 0.625 = 0.375</a:t>
            </a:r>
          </a:p>
        </p:txBody>
      </p:sp>
      <p:sp>
        <p:nvSpPr>
          <p:cNvPr id="35" name="Rectangle 34"/>
          <p:cNvSpPr/>
          <p:nvPr/>
        </p:nvSpPr>
        <p:spPr>
          <a:xfrm>
            <a:off x="6217920" y="4526280"/>
            <a:ext cx="1721223"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4526280"/>
            <a:ext cx="1629783" cy="457200"/>
          </a:xfrm>
          <a:prstGeom prst="rect">
            <a:avLst/>
          </a:prstGeom>
          <a:noFill/>
        </p:spPr>
        <p:txBody>
          <a:bodyPr wrap="square">
            <a:spAutoFit/>
          </a:bodyPr>
          <a:lstStyle/>
          <a:p>
            <a:pPr algn="ctr">
              <a:defRPr sz="1100" b="1">
                <a:solidFill>
                  <a:srgbClr val="00D2FF"/>
                </a:solidFill>
                <a:latin typeface="맑은 고딕"/>
              </a:defRPr>
            </a:pPr>
            <a:r>
              <a:t>사과 0 / 복숭아 4</a:t>
            </a:r>
          </a:p>
        </p:txBody>
      </p:sp>
      <p:sp>
        <p:nvSpPr>
          <p:cNvPr id="37" name="Rectangle 36"/>
          <p:cNvSpPr/>
          <p:nvPr/>
        </p:nvSpPr>
        <p:spPr>
          <a:xfrm>
            <a:off x="7939143" y="4526280"/>
            <a:ext cx="803237"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84863" y="4526280"/>
            <a:ext cx="711797" cy="457200"/>
          </a:xfrm>
          <a:prstGeom prst="rect">
            <a:avLst/>
          </a:prstGeom>
          <a:noFill/>
        </p:spPr>
        <p:txBody>
          <a:bodyPr wrap="square">
            <a:spAutoFit/>
          </a:bodyPr>
          <a:lstStyle/>
          <a:p>
            <a:pPr algn="ctr">
              <a:defRPr sz="1100" b="0">
                <a:solidFill>
                  <a:srgbClr val="BBBBCC"/>
                </a:solidFill>
                <a:latin typeface="맑은 고딕"/>
              </a:defRPr>
            </a:pPr>
            <a:r>
              <a:t>0:100</a:t>
            </a:r>
          </a:p>
        </p:txBody>
      </p:sp>
      <p:sp>
        <p:nvSpPr>
          <p:cNvPr id="39" name="Rectangle 38"/>
          <p:cNvSpPr/>
          <p:nvPr/>
        </p:nvSpPr>
        <p:spPr>
          <a:xfrm>
            <a:off x="8742380" y="4526280"/>
            <a:ext cx="195072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88100" y="4526280"/>
            <a:ext cx="1859280" cy="457200"/>
          </a:xfrm>
          <a:prstGeom prst="rect">
            <a:avLst/>
          </a:prstGeom>
          <a:noFill/>
        </p:spPr>
        <p:txBody>
          <a:bodyPr wrap="square">
            <a:spAutoFit/>
          </a:bodyPr>
          <a:lstStyle/>
          <a:p>
            <a:pPr algn="ctr">
              <a:defRPr sz="1100" b="0">
                <a:solidFill>
                  <a:srgbClr val="BBBBCC"/>
                </a:solidFill>
                <a:latin typeface="맑은 고딕"/>
              </a:defRPr>
            </a:pPr>
            <a:r>
              <a:t>0² + 1² = 1</a:t>
            </a:r>
          </a:p>
        </p:txBody>
      </p:sp>
      <p:sp>
        <p:nvSpPr>
          <p:cNvPr id="41" name="Rectangle 40"/>
          <p:cNvSpPr/>
          <p:nvPr/>
        </p:nvSpPr>
        <p:spPr>
          <a:xfrm>
            <a:off x="10693100" y="4526280"/>
            <a:ext cx="1376978"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38820" y="4526280"/>
            <a:ext cx="1285538" cy="457200"/>
          </a:xfrm>
          <a:prstGeom prst="rect">
            <a:avLst/>
          </a:prstGeom>
          <a:noFill/>
        </p:spPr>
        <p:txBody>
          <a:bodyPr wrap="square">
            <a:spAutoFit/>
          </a:bodyPr>
          <a:lstStyle/>
          <a:p>
            <a:pPr algn="ctr">
              <a:defRPr sz="1100" b="0">
                <a:solidFill>
                  <a:srgbClr val="BBBBCC"/>
                </a:solidFill>
                <a:latin typeface="맑은 고딕"/>
              </a:defRPr>
            </a:pPr>
            <a:r>
              <a:t>1 − 1 = 0.000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8.6.1 분류 결정 트리 — 교차 엔트로피 (Cross-Entropy)</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criterion="entropy" 옵션으로 사용 — 지니와 거의 동일한 성능</a:t>
            </a:r>
          </a:p>
        </p:txBody>
      </p:sp>
      <p:sp>
        <p:nvSpPr>
          <p:cNvPr id="5" name="Rounded Rectangle 4"/>
          <p:cNvSpPr/>
          <p:nvPr/>
        </p:nvSpPr>
        <p:spPr>
          <a:xfrm>
            <a:off x="548640" y="1920240"/>
            <a:ext cx="11155680" cy="1097280"/>
          </a:xfrm>
          <a:prstGeom prst="roundRect">
            <a:avLst>
              <a:gd name="adj" fmla="val 5000"/>
            </a:avLst>
          </a:prstGeom>
          <a:solidFill>
            <a:srgbClr val="1E1E3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1155680" cy="640080"/>
          </a:xfrm>
          <a:prstGeom prst="rect">
            <a:avLst/>
          </a:prstGeom>
          <a:noFill/>
        </p:spPr>
        <p:txBody>
          <a:bodyPr wrap="square">
            <a:spAutoFit/>
          </a:bodyPr>
          <a:lstStyle/>
          <a:p>
            <a:pPr algn="ctr">
              <a:defRPr sz="2400" b="1">
                <a:solidFill>
                  <a:srgbClr val="FFD700"/>
                </a:solidFill>
                <a:latin typeface="Consolas"/>
              </a:defRPr>
            </a:pPr>
            <a:r>
              <a:t>H(t)  =  −  Σᵢ  pᵢ · log₂ pᵢ</a:t>
            </a:r>
          </a:p>
        </p:txBody>
      </p:sp>
      <p:sp>
        <p:nvSpPr>
          <p:cNvPr id="7" name="TextBox 6"/>
          <p:cNvSpPr txBox="1"/>
          <p:nvPr/>
        </p:nvSpPr>
        <p:spPr>
          <a:xfrm>
            <a:off x="548640" y="2606040"/>
            <a:ext cx="11155680" cy="365760"/>
          </a:xfrm>
          <a:prstGeom prst="rect">
            <a:avLst/>
          </a:prstGeom>
          <a:noFill/>
        </p:spPr>
        <p:txBody>
          <a:bodyPr wrap="square">
            <a:spAutoFit/>
          </a:bodyPr>
          <a:lstStyle/>
          <a:p>
            <a:pPr algn="ctr">
              <a:defRPr sz="1100" b="0">
                <a:solidFill>
                  <a:srgbClr val="BBBBCC"/>
                </a:solidFill>
                <a:latin typeface="맑은 고딕"/>
              </a:defRPr>
            </a:pPr>
            <a:r>
              <a:t>범위: 0 (완전 순수) ~ 1 (이진 5:5)   /   순도 ↑ → H ↓</a:t>
            </a:r>
          </a:p>
        </p:txBody>
      </p:sp>
      <p:sp>
        <p:nvSpPr>
          <p:cNvPr id="8" name="Rounded Rectangle 7"/>
          <p:cNvSpPr/>
          <p:nvPr/>
        </p:nvSpPr>
        <p:spPr>
          <a:xfrm>
            <a:off x="548640" y="3154680"/>
            <a:ext cx="5486400" cy="329184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46120"/>
            <a:ext cx="5212080" cy="457200"/>
          </a:xfrm>
          <a:prstGeom prst="rect">
            <a:avLst/>
          </a:prstGeom>
          <a:noFill/>
        </p:spPr>
        <p:txBody>
          <a:bodyPr wrap="square">
            <a:spAutoFit/>
          </a:bodyPr>
          <a:lstStyle/>
          <a:p>
            <a:pPr algn="l">
              <a:defRPr sz="1500" b="1">
                <a:solidFill>
                  <a:srgbClr val="00E696"/>
                </a:solidFill>
                <a:latin typeface="맑은 고딕"/>
              </a:defRPr>
            </a:pPr>
            <a:r>
              <a:t>지니 vs 엔트로피</a:t>
            </a:r>
          </a:p>
        </p:txBody>
      </p:sp>
      <p:sp>
        <p:nvSpPr>
          <p:cNvPr id="10" name="TextBox 9"/>
          <p:cNvSpPr txBox="1"/>
          <p:nvPr/>
        </p:nvSpPr>
        <p:spPr>
          <a:xfrm>
            <a:off x="731520" y="3703320"/>
            <a:ext cx="5212080" cy="2651760"/>
          </a:xfrm>
          <a:prstGeom prst="rect">
            <a:avLst/>
          </a:prstGeom>
          <a:noFill/>
        </p:spPr>
        <p:txBody>
          <a:bodyPr wrap="square">
            <a:spAutoFit/>
          </a:bodyPr>
          <a:lstStyle/>
          <a:p>
            <a:pPr>
              <a:spcAft>
                <a:spcPts val="300"/>
              </a:spcAft>
              <a:defRPr sz="1200">
                <a:solidFill>
                  <a:srgbClr val="BBBBCC"/>
                </a:solidFill>
                <a:latin typeface="맑은 고딕"/>
              </a:defRPr>
            </a:pPr>
            <a:r>
              <a:t>두 기준 모두 "노드의 순도"를 평가</a:t>
            </a:r>
          </a:p>
          <a:p>
            <a:pPr>
              <a:spcAft>
                <a:spcPts val="300"/>
              </a:spcAft>
              <a:defRPr sz="1200">
                <a:solidFill>
                  <a:srgbClr val="BBBBCC"/>
                </a:solidFill>
                <a:latin typeface="맑은 고딕"/>
              </a:defRPr>
            </a:pPr>
            <a:r>
              <a:t>→ 결정 트리에서 거의 비슷한 성능</a:t>
            </a:r>
          </a:p>
          <a:p>
            <a:pPr>
              <a:spcAft>
                <a:spcPts val="300"/>
              </a:spcAft>
              <a:defRPr sz="1200">
                <a:solidFill>
                  <a:srgbClr val="BBBBCC"/>
                </a:solidFill>
                <a:latin typeface="맑은 고딕"/>
              </a:defRPr>
            </a:pPr>
          </a:p>
          <a:p>
            <a:pPr>
              <a:spcAft>
                <a:spcPts val="300"/>
              </a:spcAft>
              <a:defRPr sz="1200">
                <a:solidFill>
                  <a:srgbClr val="BBBBCC"/>
                </a:solidFill>
                <a:latin typeface="맑은 고딕"/>
              </a:defRPr>
            </a:pPr>
            <a:r>
              <a:t>• Gini  : 최댓값 0.5, 로그 연산 없음 (빠름)</a:t>
            </a:r>
          </a:p>
          <a:p>
            <a:pPr>
              <a:spcAft>
                <a:spcPts val="300"/>
              </a:spcAft>
              <a:defRPr sz="1200">
                <a:solidFill>
                  <a:srgbClr val="BBBBCC"/>
                </a:solidFill>
                <a:latin typeface="맑은 고딕"/>
              </a:defRPr>
            </a:pPr>
            <a:r>
              <a:t>• Entropy: 최댓값 1.0, 로그 연산 (정보이론 기반)</a:t>
            </a:r>
          </a:p>
          <a:p>
            <a:pPr>
              <a:spcAft>
                <a:spcPts val="300"/>
              </a:spcAft>
              <a:defRPr sz="1200">
                <a:solidFill>
                  <a:srgbClr val="BBBBCC"/>
                </a:solidFill>
                <a:latin typeface="맑은 고딕"/>
              </a:defRPr>
            </a:pPr>
          </a:p>
          <a:p>
            <a:pPr>
              <a:spcAft>
                <a:spcPts val="300"/>
              </a:spcAft>
              <a:defRPr sz="1200">
                <a:solidFill>
                  <a:srgbClr val="BBBBCC"/>
                </a:solidFill>
                <a:latin typeface="맑은 고딕"/>
              </a:defRPr>
            </a:pPr>
            <a:r>
              <a:t>→ sklearn 기본값은 Gini</a:t>
            </a:r>
          </a:p>
          <a:p>
            <a:pPr>
              <a:spcAft>
                <a:spcPts val="300"/>
              </a:spcAft>
              <a:defRPr sz="1200">
                <a:solidFill>
                  <a:srgbClr val="BBBBCC"/>
                </a:solidFill>
                <a:latin typeface="맑은 고딕"/>
              </a:defRPr>
            </a:pPr>
            <a:r>
              <a:t>   (criterion="entropy" 로 변경 가능)</a:t>
            </a:r>
          </a:p>
        </p:txBody>
      </p:sp>
      <p:sp>
        <p:nvSpPr>
          <p:cNvPr id="11" name="Rectangle 10"/>
          <p:cNvSpPr/>
          <p:nvPr/>
        </p:nvSpPr>
        <p:spPr>
          <a:xfrm>
            <a:off x="6217920" y="3200400"/>
            <a:ext cx="162560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200400"/>
            <a:ext cx="1625600" cy="411480"/>
          </a:xfrm>
          <a:prstGeom prst="rect">
            <a:avLst/>
          </a:prstGeom>
          <a:noFill/>
        </p:spPr>
        <p:txBody>
          <a:bodyPr wrap="square">
            <a:spAutoFit/>
          </a:bodyPr>
          <a:lstStyle/>
          <a:p>
            <a:pPr algn="ctr">
              <a:defRPr sz="1200" b="1">
                <a:solidFill>
                  <a:srgbClr val="FFFFFF"/>
                </a:solidFill>
                <a:latin typeface="맑은 고딕"/>
              </a:defRPr>
            </a:pPr>
            <a:r>
              <a:t>예시</a:t>
            </a:r>
          </a:p>
        </p:txBody>
      </p:sp>
      <p:sp>
        <p:nvSpPr>
          <p:cNvPr id="13" name="Rectangle 12"/>
          <p:cNvSpPr/>
          <p:nvPr/>
        </p:nvSpPr>
        <p:spPr>
          <a:xfrm>
            <a:off x="7843520" y="3200400"/>
            <a:ext cx="758613"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3520" y="3200400"/>
            <a:ext cx="758613" cy="411480"/>
          </a:xfrm>
          <a:prstGeom prst="rect">
            <a:avLst/>
          </a:prstGeom>
          <a:noFill/>
        </p:spPr>
        <p:txBody>
          <a:bodyPr wrap="square">
            <a:spAutoFit/>
          </a:bodyPr>
          <a:lstStyle/>
          <a:p>
            <a:pPr algn="ctr">
              <a:defRPr sz="1200" b="1">
                <a:solidFill>
                  <a:srgbClr val="FFFFFF"/>
                </a:solidFill>
                <a:latin typeface="맑은 고딕"/>
              </a:defRPr>
            </a:pPr>
            <a:r>
              <a:t>비율</a:t>
            </a:r>
          </a:p>
        </p:txBody>
      </p:sp>
      <p:sp>
        <p:nvSpPr>
          <p:cNvPr id="15" name="Rectangle 14"/>
          <p:cNvSpPr/>
          <p:nvPr/>
        </p:nvSpPr>
        <p:spPr>
          <a:xfrm>
            <a:off x="8602133" y="3200400"/>
            <a:ext cx="2492586"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02133" y="3200400"/>
            <a:ext cx="2492586" cy="411480"/>
          </a:xfrm>
          <a:prstGeom prst="rect">
            <a:avLst/>
          </a:prstGeom>
          <a:noFill/>
        </p:spPr>
        <p:txBody>
          <a:bodyPr wrap="square">
            <a:spAutoFit/>
          </a:bodyPr>
          <a:lstStyle/>
          <a:p>
            <a:pPr algn="ctr">
              <a:defRPr sz="1200" b="1">
                <a:solidFill>
                  <a:srgbClr val="FFFFFF"/>
                </a:solidFill>
                <a:latin typeface="맑은 고딕"/>
              </a:defRPr>
            </a:pPr>
            <a:r>
              <a:t>중간 계산</a:t>
            </a:r>
          </a:p>
        </p:txBody>
      </p:sp>
      <p:sp>
        <p:nvSpPr>
          <p:cNvPr id="17" name="Rectangle 16"/>
          <p:cNvSpPr/>
          <p:nvPr/>
        </p:nvSpPr>
        <p:spPr>
          <a:xfrm>
            <a:off x="11094719" y="3200400"/>
            <a:ext cx="97536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94719" y="3200400"/>
            <a:ext cx="975360" cy="411480"/>
          </a:xfrm>
          <a:prstGeom prst="rect">
            <a:avLst/>
          </a:prstGeom>
          <a:noFill/>
        </p:spPr>
        <p:txBody>
          <a:bodyPr wrap="square">
            <a:spAutoFit/>
          </a:bodyPr>
          <a:lstStyle/>
          <a:p>
            <a:pPr algn="ctr">
              <a:defRPr sz="1200" b="1">
                <a:solidFill>
                  <a:srgbClr val="FFFFFF"/>
                </a:solidFill>
                <a:latin typeface="맑은 고딕"/>
              </a:defRPr>
            </a:pPr>
            <a:r>
              <a:t>엔트로피</a:t>
            </a:r>
          </a:p>
        </p:txBody>
      </p:sp>
      <p:sp>
        <p:nvSpPr>
          <p:cNvPr id="19" name="Rectangle 18"/>
          <p:cNvSpPr/>
          <p:nvPr/>
        </p:nvSpPr>
        <p:spPr>
          <a:xfrm>
            <a:off x="6217920" y="3611880"/>
            <a:ext cx="16256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611880"/>
            <a:ext cx="1534160" cy="457200"/>
          </a:xfrm>
          <a:prstGeom prst="rect">
            <a:avLst/>
          </a:prstGeom>
          <a:noFill/>
        </p:spPr>
        <p:txBody>
          <a:bodyPr wrap="square">
            <a:spAutoFit/>
          </a:bodyPr>
          <a:lstStyle/>
          <a:p>
            <a:pPr algn="ctr">
              <a:defRPr sz="1100" b="1">
                <a:solidFill>
                  <a:srgbClr val="00D2FF"/>
                </a:solidFill>
                <a:latin typeface="맑은 고딕"/>
              </a:defRPr>
            </a:pPr>
            <a:r>
              <a:t>사과 2 / 복숭아 2</a:t>
            </a:r>
          </a:p>
        </p:txBody>
      </p:sp>
      <p:sp>
        <p:nvSpPr>
          <p:cNvPr id="21" name="Rectangle 20"/>
          <p:cNvSpPr/>
          <p:nvPr/>
        </p:nvSpPr>
        <p:spPr>
          <a:xfrm>
            <a:off x="7843520" y="3611880"/>
            <a:ext cx="758613"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89240" y="3611880"/>
            <a:ext cx="667173" cy="457200"/>
          </a:xfrm>
          <a:prstGeom prst="rect">
            <a:avLst/>
          </a:prstGeom>
          <a:noFill/>
        </p:spPr>
        <p:txBody>
          <a:bodyPr wrap="square">
            <a:spAutoFit/>
          </a:bodyPr>
          <a:lstStyle/>
          <a:p>
            <a:pPr algn="ctr">
              <a:defRPr sz="1100" b="0">
                <a:solidFill>
                  <a:srgbClr val="BBBBCC"/>
                </a:solidFill>
                <a:latin typeface="맑은 고딕"/>
              </a:defRPr>
            </a:pPr>
            <a:r>
              <a:t>50:50</a:t>
            </a:r>
          </a:p>
        </p:txBody>
      </p:sp>
      <p:sp>
        <p:nvSpPr>
          <p:cNvPr id="23" name="Rectangle 22"/>
          <p:cNvSpPr/>
          <p:nvPr/>
        </p:nvSpPr>
        <p:spPr>
          <a:xfrm>
            <a:off x="8602133" y="3611880"/>
            <a:ext cx="2492586"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47853" y="3611880"/>
            <a:ext cx="2401146" cy="457200"/>
          </a:xfrm>
          <a:prstGeom prst="rect">
            <a:avLst/>
          </a:prstGeom>
          <a:noFill/>
        </p:spPr>
        <p:txBody>
          <a:bodyPr wrap="square">
            <a:spAutoFit/>
          </a:bodyPr>
          <a:lstStyle/>
          <a:p>
            <a:pPr algn="ctr">
              <a:defRPr sz="1100" b="0">
                <a:solidFill>
                  <a:srgbClr val="BBBBCC"/>
                </a:solidFill>
                <a:latin typeface="맑은 고딕"/>
              </a:defRPr>
            </a:pPr>
            <a:r>
              <a:t>0.5·log₂0.5 × 2 = -1</a:t>
            </a:r>
          </a:p>
        </p:txBody>
      </p:sp>
      <p:sp>
        <p:nvSpPr>
          <p:cNvPr id="25" name="Rectangle 24"/>
          <p:cNvSpPr/>
          <p:nvPr/>
        </p:nvSpPr>
        <p:spPr>
          <a:xfrm>
            <a:off x="11094719" y="3611880"/>
            <a:ext cx="97536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40439" y="3611880"/>
            <a:ext cx="883920" cy="457200"/>
          </a:xfrm>
          <a:prstGeom prst="rect">
            <a:avLst/>
          </a:prstGeom>
          <a:noFill/>
        </p:spPr>
        <p:txBody>
          <a:bodyPr wrap="square">
            <a:spAutoFit/>
          </a:bodyPr>
          <a:lstStyle/>
          <a:p>
            <a:pPr algn="ctr">
              <a:defRPr sz="1100" b="0">
                <a:solidFill>
                  <a:srgbClr val="BBBBCC"/>
                </a:solidFill>
                <a:latin typeface="맑은 고딕"/>
              </a:defRPr>
            </a:pPr>
            <a:r>
              <a:t>−(−1) = 1.000</a:t>
            </a:r>
          </a:p>
        </p:txBody>
      </p:sp>
      <p:sp>
        <p:nvSpPr>
          <p:cNvPr id="27" name="Rectangle 26"/>
          <p:cNvSpPr/>
          <p:nvPr/>
        </p:nvSpPr>
        <p:spPr>
          <a:xfrm>
            <a:off x="6217920" y="4069080"/>
            <a:ext cx="162560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069080"/>
            <a:ext cx="1534160" cy="457200"/>
          </a:xfrm>
          <a:prstGeom prst="rect">
            <a:avLst/>
          </a:prstGeom>
          <a:noFill/>
        </p:spPr>
        <p:txBody>
          <a:bodyPr wrap="square">
            <a:spAutoFit/>
          </a:bodyPr>
          <a:lstStyle/>
          <a:p>
            <a:pPr algn="ctr">
              <a:defRPr sz="1100" b="1">
                <a:solidFill>
                  <a:srgbClr val="00D2FF"/>
                </a:solidFill>
                <a:latin typeface="맑은 고딕"/>
              </a:defRPr>
            </a:pPr>
            <a:r>
              <a:t>사과 1 / 복숭아 3</a:t>
            </a:r>
          </a:p>
        </p:txBody>
      </p:sp>
      <p:sp>
        <p:nvSpPr>
          <p:cNvPr id="29" name="Rectangle 28"/>
          <p:cNvSpPr/>
          <p:nvPr/>
        </p:nvSpPr>
        <p:spPr>
          <a:xfrm>
            <a:off x="7843520" y="4069080"/>
            <a:ext cx="758613"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89240" y="4069080"/>
            <a:ext cx="667173" cy="457200"/>
          </a:xfrm>
          <a:prstGeom prst="rect">
            <a:avLst/>
          </a:prstGeom>
          <a:noFill/>
        </p:spPr>
        <p:txBody>
          <a:bodyPr wrap="square">
            <a:spAutoFit/>
          </a:bodyPr>
          <a:lstStyle/>
          <a:p>
            <a:pPr algn="ctr">
              <a:defRPr sz="1100" b="0">
                <a:solidFill>
                  <a:srgbClr val="BBBBCC"/>
                </a:solidFill>
                <a:latin typeface="맑은 고딕"/>
              </a:defRPr>
            </a:pPr>
            <a:r>
              <a:t>25:75</a:t>
            </a:r>
          </a:p>
        </p:txBody>
      </p:sp>
      <p:sp>
        <p:nvSpPr>
          <p:cNvPr id="31" name="Rectangle 30"/>
          <p:cNvSpPr/>
          <p:nvPr/>
        </p:nvSpPr>
        <p:spPr>
          <a:xfrm>
            <a:off x="8602133" y="4069080"/>
            <a:ext cx="2492586"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7853" y="4069080"/>
            <a:ext cx="2401146" cy="457200"/>
          </a:xfrm>
          <a:prstGeom prst="rect">
            <a:avLst/>
          </a:prstGeom>
          <a:noFill/>
        </p:spPr>
        <p:txBody>
          <a:bodyPr wrap="square">
            <a:spAutoFit/>
          </a:bodyPr>
          <a:lstStyle/>
          <a:p>
            <a:pPr algn="ctr">
              <a:defRPr sz="1100" b="0">
                <a:solidFill>
                  <a:srgbClr val="BBBBCC"/>
                </a:solidFill>
                <a:latin typeface="맑은 고딕"/>
              </a:defRPr>
            </a:pPr>
            <a:r>
              <a:t>0.25·log₂0.25 + 0.75·log₂0.75 ≈ -0.81</a:t>
            </a:r>
          </a:p>
        </p:txBody>
      </p:sp>
      <p:sp>
        <p:nvSpPr>
          <p:cNvPr id="33" name="Rectangle 32"/>
          <p:cNvSpPr/>
          <p:nvPr/>
        </p:nvSpPr>
        <p:spPr>
          <a:xfrm>
            <a:off x="11094719" y="4069080"/>
            <a:ext cx="975360"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140439" y="4069080"/>
            <a:ext cx="883920" cy="457200"/>
          </a:xfrm>
          <a:prstGeom prst="rect">
            <a:avLst/>
          </a:prstGeom>
          <a:noFill/>
        </p:spPr>
        <p:txBody>
          <a:bodyPr wrap="square">
            <a:spAutoFit/>
          </a:bodyPr>
          <a:lstStyle/>
          <a:p>
            <a:pPr algn="ctr">
              <a:defRPr sz="1100" b="0">
                <a:solidFill>
                  <a:srgbClr val="BBBBCC"/>
                </a:solidFill>
                <a:latin typeface="맑은 고딕"/>
              </a:defRPr>
            </a:pPr>
            <a:r>
              <a:t>약 0.811</a:t>
            </a:r>
          </a:p>
        </p:txBody>
      </p:sp>
      <p:sp>
        <p:nvSpPr>
          <p:cNvPr id="35" name="Rectangle 34"/>
          <p:cNvSpPr/>
          <p:nvPr/>
        </p:nvSpPr>
        <p:spPr>
          <a:xfrm>
            <a:off x="6217920" y="4526280"/>
            <a:ext cx="162560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4526280"/>
            <a:ext cx="1534160" cy="457200"/>
          </a:xfrm>
          <a:prstGeom prst="rect">
            <a:avLst/>
          </a:prstGeom>
          <a:noFill/>
        </p:spPr>
        <p:txBody>
          <a:bodyPr wrap="square">
            <a:spAutoFit/>
          </a:bodyPr>
          <a:lstStyle/>
          <a:p>
            <a:pPr algn="ctr">
              <a:defRPr sz="1100" b="1">
                <a:solidFill>
                  <a:srgbClr val="00D2FF"/>
                </a:solidFill>
                <a:latin typeface="맑은 고딕"/>
              </a:defRPr>
            </a:pPr>
            <a:r>
              <a:t>사과 0 / 복숭아 4</a:t>
            </a:r>
          </a:p>
        </p:txBody>
      </p:sp>
      <p:sp>
        <p:nvSpPr>
          <p:cNvPr id="37" name="Rectangle 36"/>
          <p:cNvSpPr/>
          <p:nvPr/>
        </p:nvSpPr>
        <p:spPr>
          <a:xfrm>
            <a:off x="7843520" y="4526280"/>
            <a:ext cx="758613"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89240" y="4526280"/>
            <a:ext cx="667173" cy="457200"/>
          </a:xfrm>
          <a:prstGeom prst="rect">
            <a:avLst/>
          </a:prstGeom>
          <a:noFill/>
        </p:spPr>
        <p:txBody>
          <a:bodyPr wrap="square">
            <a:spAutoFit/>
          </a:bodyPr>
          <a:lstStyle/>
          <a:p>
            <a:pPr algn="ctr">
              <a:defRPr sz="1100" b="0">
                <a:solidFill>
                  <a:srgbClr val="BBBBCC"/>
                </a:solidFill>
                <a:latin typeface="맑은 고딕"/>
              </a:defRPr>
            </a:pPr>
            <a:r>
              <a:t>0:100</a:t>
            </a:r>
          </a:p>
        </p:txBody>
      </p:sp>
      <p:sp>
        <p:nvSpPr>
          <p:cNvPr id="39" name="Rectangle 38"/>
          <p:cNvSpPr/>
          <p:nvPr/>
        </p:nvSpPr>
        <p:spPr>
          <a:xfrm>
            <a:off x="8602133" y="4526280"/>
            <a:ext cx="2492586"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47853" y="4526280"/>
            <a:ext cx="2401146" cy="457200"/>
          </a:xfrm>
          <a:prstGeom prst="rect">
            <a:avLst/>
          </a:prstGeom>
          <a:noFill/>
        </p:spPr>
        <p:txBody>
          <a:bodyPr wrap="square">
            <a:spAutoFit/>
          </a:bodyPr>
          <a:lstStyle/>
          <a:p>
            <a:pPr algn="ctr">
              <a:defRPr sz="1100" b="0">
                <a:solidFill>
                  <a:srgbClr val="BBBBCC"/>
                </a:solidFill>
                <a:latin typeface="맑은 고딕"/>
              </a:defRPr>
            </a:pPr>
            <a:r>
              <a:t>0·log0 + 1·log1 = 0</a:t>
            </a:r>
          </a:p>
        </p:txBody>
      </p:sp>
      <p:sp>
        <p:nvSpPr>
          <p:cNvPr id="41" name="Rectangle 40"/>
          <p:cNvSpPr/>
          <p:nvPr/>
        </p:nvSpPr>
        <p:spPr>
          <a:xfrm>
            <a:off x="11094719" y="4526280"/>
            <a:ext cx="975360"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140439" y="4526280"/>
            <a:ext cx="883920" cy="457200"/>
          </a:xfrm>
          <a:prstGeom prst="rect">
            <a:avLst/>
          </a:prstGeom>
          <a:noFill/>
        </p:spPr>
        <p:txBody>
          <a:bodyPr wrap="square">
            <a:spAutoFit/>
          </a:bodyPr>
          <a:lstStyle/>
          <a:p>
            <a:pPr algn="ctr">
              <a:defRPr sz="1100" b="0">
                <a:solidFill>
                  <a:srgbClr val="BBBBCC"/>
                </a:solidFill>
                <a:latin typeface="맑은 고딕"/>
              </a:defRPr>
            </a:pPr>
            <a:r>
              <a:t>−0 = 0.000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8.6.2 회귀 결정 트리 — MSE (Mean Squared Error)</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연속형 종속변수 → DecisionTreeRegressor → MSE 기준 분할</a:t>
            </a:r>
          </a:p>
        </p:txBody>
      </p:sp>
      <p:sp>
        <p:nvSpPr>
          <p:cNvPr id="5" name="Rounded Rectangle 4"/>
          <p:cNvSpPr/>
          <p:nvPr/>
        </p:nvSpPr>
        <p:spPr>
          <a:xfrm>
            <a:off x="548640" y="1920240"/>
            <a:ext cx="11155680" cy="1097280"/>
          </a:xfrm>
          <a:prstGeom prst="roundRect">
            <a:avLst>
              <a:gd name="adj" fmla="val 5000"/>
            </a:avLst>
          </a:prstGeom>
          <a:solidFill>
            <a:srgbClr val="1E1E3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1155680" cy="640080"/>
          </a:xfrm>
          <a:prstGeom prst="rect">
            <a:avLst/>
          </a:prstGeom>
          <a:noFill/>
        </p:spPr>
        <p:txBody>
          <a:bodyPr wrap="square">
            <a:spAutoFit/>
          </a:bodyPr>
          <a:lstStyle/>
          <a:p>
            <a:pPr algn="ctr">
              <a:defRPr sz="2400" b="1">
                <a:solidFill>
                  <a:srgbClr val="FFD700"/>
                </a:solidFill>
                <a:latin typeface="Consolas"/>
              </a:defRPr>
            </a:pPr>
            <a:r>
              <a:t>MSE  =  (1/N)  Σᵢ  (yᵢ − ŷ)²</a:t>
            </a:r>
          </a:p>
        </p:txBody>
      </p:sp>
      <p:sp>
        <p:nvSpPr>
          <p:cNvPr id="7" name="TextBox 6"/>
          <p:cNvSpPr txBox="1"/>
          <p:nvPr/>
        </p:nvSpPr>
        <p:spPr>
          <a:xfrm>
            <a:off x="548640" y="2606040"/>
            <a:ext cx="11155680" cy="365760"/>
          </a:xfrm>
          <a:prstGeom prst="rect">
            <a:avLst/>
          </a:prstGeom>
          <a:noFill/>
        </p:spPr>
        <p:txBody>
          <a:bodyPr wrap="square">
            <a:spAutoFit/>
          </a:bodyPr>
          <a:lstStyle/>
          <a:p>
            <a:pPr algn="ctr">
              <a:defRPr sz="1100" b="0">
                <a:solidFill>
                  <a:srgbClr val="BBBBCC"/>
                </a:solidFill>
                <a:latin typeface="맑은 고딕"/>
              </a:defRPr>
            </a:pPr>
            <a:r>
              <a:t>예측값 ŷ = 해당 노드 안 y들의 평균   /   분할 기준: 가장 낮은 MSE</a:t>
            </a:r>
          </a:p>
        </p:txBody>
      </p:sp>
      <p:sp>
        <p:nvSpPr>
          <p:cNvPr id="8" name="Rounded Rectangle 7"/>
          <p:cNvSpPr/>
          <p:nvPr/>
        </p:nvSpPr>
        <p:spPr>
          <a:xfrm>
            <a:off x="548640" y="3154680"/>
            <a:ext cx="5486400" cy="329184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46120"/>
            <a:ext cx="5212080" cy="457200"/>
          </a:xfrm>
          <a:prstGeom prst="rect">
            <a:avLst/>
          </a:prstGeom>
          <a:noFill/>
        </p:spPr>
        <p:txBody>
          <a:bodyPr wrap="square">
            <a:spAutoFit/>
          </a:bodyPr>
          <a:lstStyle/>
          <a:p>
            <a:pPr algn="l">
              <a:defRPr sz="1500" b="1">
                <a:solidFill>
                  <a:srgbClr val="00E696"/>
                </a:solidFill>
                <a:latin typeface="맑은 고딕"/>
              </a:defRPr>
            </a:pPr>
            <a:r>
              <a:t>계산 예시</a:t>
            </a:r>
          </a:p>
        </p:txBody>
      </p:sp>
      <p:sp>
        <p:nvSpPr>
          <p:cNvPr id="10" name="TextBox 9"/>
          <p:cNvSpPr txBox="1"/>
          <p:nvPr/>
        </p:nvSpPr>
        <p:spPr>
          <a:xfrm>
            <a:off x="731520" y="3703320"/>
            <a:ext cx="5212080" cy="2651760"/>
          </a:xfrm>
          <a:prstGeom prst="rect">
            <a:avLst/>
          </a:prstGeom>
          <a:noFill/>
        </p:spPr>
        <p:txBody>
          <a:bodyPr wrap="square">
            <a:spAutoFit/>
          </a:bodyPr>
          <a:lstStyle/>
          <a:p>
            <a:pPr>
              <a:spcAft>
                <a:spcPts val="300"/>
              </a:spcAft>
              <a:defRPr sz="1200">
                <a:solidFill>
                  <a:srgbClr val="BBBBCC"/>
                </a:solidFill>
                <a:latin typeface="맑은 고딕"/>
              </a:defRPr>
            </a:pPr>
            <a:r>
              <a:t>예시 데이터:</a:t>
            </a:r>
          </a:p>
          <a:p>
            <a:pPr>
              <a:spcAft>
                <a:spcPts val="300"/>
              </a:spcAft>
              <a:defRPr sz="1200">
                <a:solidFill>
                  <a:srgbClr val="BBBBCC"/>
                </a:solidFill>
                <a:latin typeface="맑은 고딕"/>
              </a:defRPr>
            </a:pPr>
            <a:r>
              <a:t>  X=10 → y=8     X=20 → y=0</a:t>
            </a:r>
          </a:p>
          <a:p>
            <a:pPr>
              <a:spcAft>
                <a:spcPts val="300"/>
              </a:spcAft>
              <a:defRPr sz="1200">
                <a:solidFill>
                  <a:srgbClr val="BBBBCC"/>
                </a:solidFill>
                <a:latin typeface="맑은 고딕"/>
              </a:defRPr>
            </a:pPr>
            <a:r>
              <a:t>  X=35 → y=6     X=5  → y=4</a:t>
            </a:r>
          </a:p>
          <a:p>
            <a:pPr>
              <a:spcAft>
                <a:spcPts val="300"/>
              </a:spcAft>
              <a:defRPr sz="1200">
                <a:solidFill>
                  <a:srgbClr val="BBBBCC"/>
                </a:solidFill>
                <a:latin typeface="맑은 고딕"/>
              </a:defRPr>
            </a:pPr>
            <a:r>
              <a:t>  X=15 → y=8</a:t>
            </a:r>
          </a:p>
          <a:p>
            <a:pPr>
              <a:spcAft>
                <a:spcPts val="300"/>
              </a:spcAft>
              <a:defRPr sz="1200">
                <a:solidFill>
                  <a:srgbClr val="BBBBCC"/>
                </a:solidFill>
                <a:latin typeface="맑은 고딕"/>
              </a:defRPr>
            </a:pPr>
          </a:p>
          <a:p>
            <a:pPr>
              <a:spcAft>
                <a:spcPts val="300"/>
              </a:spcAft>
              <a:defRPr sz="1200">
                <a:solidFill>
                  <a:srgbClr val="BBBBCC"/>
                </a:solidFill>
                <a:latin typeface="맑은 고딕"/>
              </a:defRPr>
            </a:pPr>
            <a:r>
              <a:t>첫 분할 "X &gt; 15"  →  오른쪽 노드: y=0, 6</a:t>
            </a:r>
          </a:p>
          <a:p>
            <a:pPr>
              <a:spcAft>
                <a:spcPts val="300"/>
              </a:spcAft>
              <a:defRPr sz="1200">
                <a:solidFill>
                  <a:srgbClr val="BBBBCC"/>
                </a:solidFill>
                <a:latin typeface="맑은 고딕"/>
              </a:defRPr>
            </a:pPr>
            <a:r>
              <a:t>  • 평균 ŷ = 3</a:t>
            </a:r>
          </a:p>
          <a:p>
            <a:pPr>
              <a:spcAft>
                <a:spcPts val="300"/>
              </a:spcAft>
              <a:defRPr sz="1200">
                <a:solidFill>
                  <a:srgbClr val="BBBBCC"/>
                </a:solidFill>
                <a:latin typeface="맑은 고딕"/>
              </a:defRPr>
            </a:pPr>
            <a:r>
              <a:t>  • 편차: 0−3=−3,  6−3=3</a:t>
            </a:r>
          </a:p>
          <a:p>
            <a:pPr>
              <a:spcAft>
                <a:spcPts val="300"/>
              </a:spcAft>
              <a:defRPr sz="1200">
                <a:solidFill>
                  <a:srgbClr val="BBBBCC"/>
                </a:solidFill>
                <a:latin typeface="맑은 고딕"/>
              </a:defRPr>
            </a:pPr>
            <a:r>
              <a:t>  • 제곱 합: 9 + 9 = 18</a:t>
            </a:r>
          </a:p>
          <a:p>
            <a:pPr>
              <a:spcAft>
                <a:spcPts val="300"/>
              </a:spcAft>
              <a:defRPr sz="1200">
                <a:solidFill>
                  <a:srgbClr val="BBBBCC"/>
                </a:solidFill>
                <a:latin typeface="맑은 고딕"/>
              </a:defRPr>
            </a:pPr>
            <a:r>
              <a:t>  • MSE = 18 / 2 = 9</a:t>
            </a:r>
          </a:p>
        </p:txBody>
      </p:sp>
      <p:sp>
        <p:nvSpPr>
          <p:cNvPr id="11" name="Rectangle 10"/>
          <p:cNvSpPr/>
          <p:nvPr/>
        </p:nvSpPr>
        <p:spPr>
          <a:xfrm>
            <a:off x="6217920" y="3200400"/>
            <a:ext cx="1439055"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200400"/>
            <a:ext cx="1439055" cy="411480"/>
          </a:xfrm>
          <a:prstGeom prst="rect">
            <a:avLst/>
          </a:prstGeom>
          <a:noFill/>
        </p:spPr>
        <p:txBody>
          <a:bodyPr wrap="square">
            <a:spAutoFit/>
          </a:bodyPr>
          <a:lstStyle/>
          <a:p>
            <a:pPr algn="ctr">
              <a:defRPr sz="1200" b="1">
                <a:solidFill>
                  <a:srgbClr val="FFFFFF"/>
                </a:solidFill>
                <a:latin typeface="맑은 고딕"/>
              </a:defRPr>
            </a:pPr>
            <a:r>
              <a:t>항목</a:t>
            </a:r>
          </a:p>
        </p:txBody>
      </p:sp>
      <p:sp>
        <p:nvSpPr>
          <p:cNvPr id="13" name="Rectangle 12"/>
          <p:cNvSpPr/>
          <p:nvPr/>
        </p:nvSpPr>
        <p:spPr>
          <a:xfrm>
            <a:off x="7656975" y="3200400"/>
            <a:ext cx="4413104"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56975" y="3200400"/>
            <a:ext cx="4413104" cy="411480"/>
          </a:xfrm>
          <a:prstGeom prst="rect">
            <a:avLst/>
          </a:prstGeom>
          <a:noFill/>
        </p:spPr>
        <p:txBody>
          <a:bodyPr wrap="square">
            <a:spAutoFit/>
          </a:bodyPr>
          <a:lstStyle/>
          <a:p>
            <a:pPr algn="ctr">
              <a:defRPr sz="1200" b="1">
                <a:solidFill>
                  <a:srgbClr val="FFFFFF"/>
                </a:solidFill>
                <a:latin typeface="맑은 고딕"/>
              </a:defRPr>
            </a:pPr>
            <a:r>
              <a:t>내용</a:t>
            </a:r>
          </a:p>
        </p:txBody>
      </p:sp>
      <p:sp>
        <p:nvSpPr>
          <p:cNvPr id="15" name="Rectangle 14"/>
          <p:cNvSpPr/>
          <p:nvPr/>
        </p:nvSpPr>
        <p:spPr>
          <a:xfrm>
            <a:off x="6217920" y="3611880"/>
            <a:ext cx="1439055"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3611880"/>
            <a:ext cx="1347615" cy="457200"/>
          </a:xfrm>
          <a:prstGeom prst="rect">
            <a:avLst/>
          </a:prstGeom>
          <a:noFill/>
        </p:spPr>
        <p:txBody>
          <a:bodyPr wrap="square">
            <a:spAutoFit/>
          </a:bodyPr>
          <a:lstStyle/>
          <a:p>
            <a:pPr algn="ctr">
              <a:defRPr sz="1100" b="1">
                <a:solidFill>
                  <a:srgbClr val="00D2FF"/>
                </a:solidFill>
                <a:latin typeface="맑은 고딕"/>
              </a:defRPr>
            </a:pPr>
            <a:r>
              <a:t>모델</a:t>
            </a:r>
          </a:p>
        </p:txBody>
      </p:sp>
      <p:sp>
        <p:nvSpPr>
          <p:cNvPr id="17" name="Rectangle 16"/>
          <p:cNvSpPr/>
          <p:nvPr/>
        </p:nvSpPr>
        <p:spPr>
          <a:xfrm>
            <a:off x="7656975" y="3611880"/>
            <a:ext cx="4413104"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02695" y="3611880"/>
            <a:ext cx="4321664" cy="457200"/>
          </a:xfrm>
          <a:prstGeom prst="rect">
            <a:avLst/>
          </a:prstGeom>
          <a:noFill/>
        </p:spPr>
        <p:txBody>
          <a:bodyPr wrap="square">
            <a:spAutoFit/>
          </a:bodyPr>
          <a:lstStyle/>
          <a:p>
            <a:pPr algn="ctr">
              <a:defRPr sz="1100" b="0">
                <a:solidFill>
                  <a:srgbClr val="BBBBCC"/>
                </a:solidFill>
                <a:latin typeface="맑은 고딕"/>
              </a:defRPr>
            </a:pPr>
            <a:r>
              <a:t>sklearn.tree.DecisionTreeRegressor</a:t>
            </a:r>
          </a:p>
        </p:txBody>
      </p:sp>
      <p:sp>
        <p:nvSpPr>
          <p:cNvPr id="19" name="Rectangle 18"/>
          <p:cNvSpPr/>
          <p:nvPr/>
        </p:nvSpPr>
        <p:spPr>
          <a:xfrm>
            <a:off x="6217920" y="4069080"/>
            <a:ext cx="1439055"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4069080"/>
            <a:ext cx="1347615" cy="457200"/>
          </a:xfrm>
          <a:prstGeom prst="rect">
            <a:avLst/>
          </a:prstGeom>
          <a:noFill/>
        </p:spPr>
        <p:txBody>
          <a:bodyPr wrap="square">
            <a:spAutoFit/>
          </a:bodyPr>
          <a:lstStyle/>
          <a:p>
            <a:pPr algn="ctr">
              <a:defRPr sz="1100" b="1">
                <a:solidFill>
                  <a:srgbClr val="00D2FF"/>
                </a:solidFill>
                <a:latin typeface="맑은 고딕"/>
              </a:defRPr>
            </a:pPr>
            <a:r>
              <a:t>기본 기준</a:t>
            </a:r>
          </a:p>
        </p:txBody>
      </p:sp>
      <p:sp>
        <p:nvSpPr>
          <p:cNvPr id="21" name="Rectangle 20"/>
          <p:cNvSpPr/>
          <p:nvPr/>
        </p:nvSpPr>
        <p:spPr>
          <a:xfrm>
            <a:off x="7656975" y="4069080"/>
            <a:ext cx="4413104"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02695" y="4069080"/>
            <a:ext cx="4321664" cy="457200"/>
          </a:xfrm>
          <a:prstGeom prst="rect">
            <a:avLst/>
          </a:prstGeom>
          <a:noFill/>
        </p:spPr>
        <p:txBody>
          <a:bodyPr wrap="square">
            <a:spAutoFit/>
          </a:bodyPr>
          <a:lstStyle/>
          <a:p>
            <a:pPr algn="ctr">
              <a:defRPr sz="1100" b="0">
                <a:solidFill>
                  <a:srgbClr val="BBBBCC"/>
                </a:solidFill>
                <a:latin typeface="맑은 고딕"/>
              </a:defRPr>
            </a:pPr>
            <a:r>
              <a:t>MSE  (squared_error)</a:t>
            </a:r>
          </a:p>
        </p:txBody>
      </p:sp>
      <p:sp>
        <p:nvSpPr>
          <p:cNvPr id="23" name="Rectangle 22"/>
          <p:cNvSpPr/>
          <p:nvPr/>
        </p:nvSpPr>
        <p:spPr>
          <a:xfrm>
            <a:off x="6217920" y="4526280"/>
            <a:ext cx="1439055"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4526280"/>
            <a:ext cx="1347615" cy="457200"/>
          </a:xfrm>
          <a:prstGeom prst="rect">
            <a:avLst/>
          </a:prstGeom>
          <a:noFill/>
        </p:spPr>
        <p:txBody>
          <a:bodyPr wrap="square">
            <a:spAutoFit/>
          </a:bodyPr>
          <a:lstStyle/>
          <a:p>
            <a:pPr algn="ctr">
              <a:defRPr sz="1100" b="1">
                <a:solidFill>
                  <a:srgbClr val="00D2FF"/>
                </a:solidFill>
                <a:latin typeface="맑은 고딕"/>
              </a:defRPr>
            </a:pPr>
            <a:r>
              <a:t>선택 가능</a:t>
            </a:r>
          </a:p>
        </p:txBody>
      </p:sp>
      <p:sp>
        <p:nvSpPr>
          <p:cNvPr id="25" name="Rectangle 24"/>
          <p:cNvSpPr/>
          <p:nvPr/>
        </p:nvSpPr>
        <p:spPr>
          <a:xfrm>
            <a:off x="7656975" y="4526280"/>
            <a:ext cx="4413104"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02695" y="4526280"/>
            <a:ext cx="4321664" cy="457200"/>
          </a:xfrm>
          <a:prstGeom prst="rect">
            <a:avLst/>
          </a:prstGeom>
          <a:noFill/>
        </p:spPr>
        <p:txBody>
          <a:bodyPr wrap="square">
            <a:spAutoFit/>
          </a:bodyPr>
          <a:lstStyle/>
          <a:p>
            <a:pPr algn="ctr">
              <a:defRPr sz="1100" b="0">
                <a:solidFill>
                  <a:srgbClr val="BBBBCC"/>
                </a:solidFill>
                <a:latin typeface="맑은 고딕"/>
              </a:defRPr>
            </a:pPr>
            <a:r>
              <a:t>MAE, Poisson, friedman_mse</a:t>
            </a:r>
          </a:p>
        </p:txBody>
      </p:sp>
      <p:sp>
        <p:nvSpPr>
          <p:cNvPr id="27" name="Rectangle 26"/>
          <p:cNvSpPr/>
          <p:nvPr/>
        </p:nvSpPr>
        <p:spPr>
          <a:xfrm>
            <a:off x="6217920" y="4983480"/>
            <a:ext cx="1439055"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983480"/>
            <a:ext cx="1347615" cy="457200"/>
          </a:xfrm>
          <a:prstGeom prst="rect">
            <a:avLst/>
          </a:prstGeom>
          <a:noFill/>
        </p:spPr>
        <p:txBody>
          <a:bodyPr wrap="square">
            <a:spAutoFit/>
          </a:bodyPr>
          <a:lstStyle/>
          <a:p>
            <a:pPr algn="ctr">
              <a:defRPr sz="1100" b="1">
                <a:solidFill>
                  <a:srgbClr val="00D2FF"/>
                </a:solidFill>
                <a:latin typeface="맑은 고딕"/>
              </a:defRPr>
            </a:pPr>
            <a:r>
              <a:t>리프 노드 예측값</a:t>
            </a:r>
          </a:p>
        </p:txBody>
      </p:sp>
      <p:sp>
        <p:nvSpPr>
          <p:cNvPr id="29" name="Rectangle 28"/>
          <p:cNvSpPr/>
          <p:nvPr/>
        </p:nvSpPr>
        <p:spPr>
          <a:xfrm>
            <a:off x="7656975" y="4983480"/>
            <a:ext cx="4413104" cy="45720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02695" y="4983480"/>
            <a:ext cx="4321664" cy="457200"/>
          </a:xfrm>
          <a:prstGeom prst="rect">
            <a:avLst/>
          </a:prstGeom>
          <a:noFill/>
        </p:spPr>
        <p:txBody>
          <a:bodyPr wrap="square">
            <a:spAutoFit/>
          </a:bodyPr>
          <a:lstStyle/>
          <a:p>
            <a:pPr algn="ctr">
              <a:defRPr sz="1100" b="0">
                <a:solidFill>
                  <a:srgbClr val="BBBBCC"/>
                </a:solidFill>
                <a:latin typeface="맑은 고딕"/>
              </a:defRPr>
            </a:pPr>
            <a:r>
              <a:t>해당 노드 y의 평균</a:t>
            </a:r>
          </a:p>
        </p:txBody>
      </p:sp>
      <p:sp>
        <p:nvSpPr>
          <p:cNvPr id="31" name="Rectangle 30"/>
          <p:cNvSpPr/>
          <p:nvPr/>
        </p:nvSpPr>
        <p:spPr>
          <a:xfrm>
            <a:off x="6217920" y="5440680"/>
            <a:ext cx="1439055"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5440680"/>
            <a:ext cx="1347615" cy="457200"/>
          </a:xfrm>
          <a:prstGeom prst="rect">
            <a:avLst/>
          </a:prstGeom>
          <a:noFill/>
        </p:spPr>
        <p:txBody>
          <a:bodyPr wrap="square">
            <a:spAutoFit/>
          </a:bodyPr>
          <a:lstStyle/>
          <a:p>
            <a:pPr algn="ctr">
              <a:defRPr sz="1100" b="1">
                <a:solidFill>
                  <a:srgbClr val="00D2FF"/>
                </a:solidFill>
                <a:latin typeface="맑은 고딕"/>
              </a:defRPr>
            </a:pPr>
            <a:r>
              <a:t>모델 형태</a:t>
            </a:r>
          </a:p>
        </p:txBody>
      </p:sp>
      <p:sp>
        <p:nvSpPr>
          <p:cNvPr id="33" name="Rectangle 32"/>
          <p:cNvSpPr/>
          <p:nvPr/>
        </p:nvSpPr>
        <p:spPr>
          <a:xfrm>
            <a:off x="7656975" y="5440680"/>
            <a:ext cx="4413104" cy="45720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02695" y="5440680"/>
            <a:ext cx="4321664" cy="457200"/>
          </a:xfrm>
          <a:prstGeom prst="rect">
            <a:avLst/>
          </a:prstGeom>
          <a:noFill/>
        </p:spPr>
        <p:txBody>
          <a:bodyPr wrap="square">
            <a:spAutoFit/>
          </a:bodyPr>
          <a:lstStyle/>
          <a:p>
            <a:pPr algn="ctr">
              <a:defRPr sz="1100" b="0">
                <a:solidFill>
                  <a:srgbClr val="BBBBCC"/>
                </a:solidFill>
                <a:latin typeface="맑은 고딕"/>
              </a:defRPr>
            </a:pPr>
            <a:r>
              <a:t>구간별 상수 모델 (piecewise constant)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8.7</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8.7</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오버피팅 문제</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훈련셋에 너무 잘 맞춰진 모델 → 시험셋 성능 저하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8.7 오버피팅 vs 언더피팅 vs 좋은 모델</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훈련셋 정확도와 시험셋 정확도의 관계</a:t>
            </a:r>
          </a:p>
        </p:txBody>
      </p:sp>
      <p:sp>
        <p:nvSpPr>
          <p:cNvPr id="5" name="Rounded Rectangle 4"/>
          <p:cNvSpPr/>
          <p:nvPr/>
        </p:nvSpPr>
        <p:spPr>
          <a:xfrm>
            <a:off x="548640" y="2011680"/>
            <a:ext cx="3657600" cy="365760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94560"/>
            <a:ext cx="3200400" cy="457200"/>
          </a:xfrm>
          <a:prstGeom prst="rect">
            <a:avLst/>
          </a:prstGeom>
          <a:noFill/>
        </p:spPr>
        <p:txBody>
          <a:bodyPr wrap="square">
            <a:spAutoFit/>
          </a:bodyPr>
          <a:lstStyle/>
          <a:p>
            <a:pPr algn="l">
              <a:defRPr sz="1500" b="1">
                <a:solidFill>
                  <a:srgbClr val="0096FF"/>
                </a:solidFill>
                <a:latin typeface="맑은 고딕"/>
              </a:defRPr>
            </a:pPr>
            <a:r>
              <a:t>❌ 오버피팅 (Overfitting)</a:t>
            </a:r>
          </a:p>
        </p:txBody>
      </p:sp>
      <p:sp>
        <p:nvSpPr>
          <p:cNvPr id="7" name="TextBox 6"/>
          <p:cNvSpPr txBox="1"/>
          <p:nvPr/>
        </p:nvSpPr>
        <p:spPr>
          <a:xfrm>
            <a:off x="777240" y="2788920"/>
            <a:ext cx="3200400" cy="2743200"/>
          </a:xfrm>
          <a:prstGeom prst="rect">
            <a:avLst/>
          </a:prstGeom>
          <a:noFill/>
        </p:spPr>
        <p:txBody>
          <a:bodyPr wrap="square">
            <a:spAutoFit/>
          </a:bodyPr>
          <a:lstStyle/>
          <a:p>
            <a:pPr>
              <a:spcAft>
                <a:spcPts val="200"/>
              </a:spcAft>
              <a:defRPr sz="1100">
                <a:solidFill>
                  <a:srgbClr val="BBBBCC"/>
                </a:solidFill>
                <a:latin typeface="맑은 고딕"/>
              </a:defRPr>
            </a:pPr>
            <a:r>
              <a:t>훈련셋에 지나치게 잘 맞춰짐</a:t>
            </a:r>
          </a:p>
          <a:p>
            <a:pPr>
              <a:spcAft>
                <a:spcPts val="200"/>
              </a:spcAft>
              <a:defRPr sz="1100">
                <a:solidFill>
                  <a:srgbClr val="BBBBCC"/>
                </a:solidFill>
                <a:latin typeface="맑은 고딕"/>
              </a:defRPr>
            </a:pPr>
          </a:p>
          <a:p>
            <a:pPr>
              <a:spcAft>
                <a:spcPts val="200"/>
              </a:spcAft>
              <a:defRPr sz="1100">
                <a:solidFill>
                  <a:srgbClr val="BBBBCC"/>
                </a:solidFill>
                <a:latin typeface="맑은 고딕"/>
              </a:defRPr>
            </a:pPr>
            <a:r>
              <a:t>• 훈련셋 정확도: 매우 높음 (~100%)</a:t>
            </a:r>
          </a:p>
          <a:p>
            <a:pPr>
              <a:spcAft>
                <a:spcPts val="200"/>
              </a:spcAft>
              <a:defRPr sz="1100">
                <a:solidFill>
                  <a:srgbClr val="BBBBCC"/>
                </a:solidFill>
                <a:latin typeface="맑은 고딕"/>
              </a:defRPr>
            </a:pPr>
            <a:r>
              <a:t>• 시험셋 정확도: 낮음</a:t>
            </a:r>
          </a:p>
          <a:p>
            <a:pPr>
              <a:spcAft>
                <a:spcPts val="200"/>
              </a:spcAft>
              <a:defRPr sz="1100">
                <a:solidFill>
                  <a:srgbClr val="BBBBCC"/>
                </a:solidFill>
                <a:latin typeface="맑은 고딕"/>
              </a:defRPr>
            </a:pPr>
            <a:r>
              <a:t>• 노이즈·아웃라이어까지 학습</a:t>
            </a:r>
          </a:p>
          <a:p>
            <a:pPr>
              <a:spcAft>
                <a:spcPts val="200"/>
              </a:spcAft>
              <a:defRPr sz="1100">
                <a:solidFill>
                  <a:srgbClr val="BBBBCC"/>
                </a:solidFill>
                <a:latin typeface="맑은 고딕"/>
              </a:defRPr>
            </a:pPr>
            <a:r>
              <a:t>• 트리가 너무 깊을 때 발생</a:t>
            </a:r>
          </a:p>
          <a:p>
            <a:pPr>
              <a:spcAft>
                <a:spcPts val="200"/>
              </a:spcAft>
              <a:defRPr sz="1100">
                <a:solidFill>
                  <a:srgbClr val="BBBBCC"/>
                </a:solidFill>
                <a:latin typeface="맑은 고딕"/>
              </a:defRPr>
            </a:pPr>
          </a:p>
          <a:p>
            <a:pPr>
              <a:spcAft>
                <a:spcPts val="200"/>
              </a:spcAft>
              <a:defRPr sz="1100">
                <a:solidFill>
                  <a:srgbClr val="BBBBCC"/>
                </a:solidFill>
                <a:latin typeface="맑은 고딕"/>
              </a:defRPr>
            </a:pPr>
            <a:r>
              <a:t>예) Train=0.978,  Test=0.815  → 격차 16%</a:t>
            </a:r>
          </a:p>
        </p:txBody>
      </p:sp>
      <p:sp>
        <p:nvSpPr>
          <p:cNvPr id="8" name="Rounded Rectangle 7"/>
          <p:cNvSpPr/>
          <p:nvPr/>
        </p:nvSpPr>
        <p:spPr>
          <a:xfrm>
            <a:off x="4343400" y="2011680"/>
            <a:ext cx="3657600" cy="36576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3200400" cy="457200"/>
          </a:xfrm>
          <a:prstGeom prst="rect">
            <a:avLst/>
          </a:prstGeom>
          <a:noFill/>
        </p:spPr>
        <p:txBody>
          <a:bodyPr wrap="square">
            <a:spAutoFit/>
          </a:bodyPr>
          <a:lstStyle/>
          <a:p>
            <a:pPr algn="l">
              <a:defRPr sz="1500" b="1">
                <a:solidFill>
                  <a:srgbClr val="00E696"/>
                </a:solidFill>
                <a:latin typeface="맑은 고딕"/>
              </a:defRPr>
            </a:pPr>
            <a:r>
              <a:t>❌ 언더피팅 (Underfitting)</a:t>
            </a:r>
          </a:p>
        </p:txBody>
      </p:sp>
      <p:sp>
        <p:nvSpPr>
          <p:cNvPr id="10" name="TextBox 9"/>
          <p:cNvSpPr txBox="1"/>
          <p:nvPr/>
        </p:nvSpPr>
        <p:spPr>
          <a:xfrm>
            <a:off x="4572000" y="2788920"/>
            <a:ext cx="3200400" cy="2743200"/>
          </a:xfrm>
          <a:prstGeom prst="rect">
            <a:avLst/>
          </a:prstGeom>
          <a:noFill/>
        </p:spPr>
        <p:txBody>
          <a:bodyPr wrap="square">
            <a:spAutoFit/>
          </a:bodyPr>
          <a:lstStyle/>
          <a:p>
            <a:pPr>
              <a:spcAft>
                <a:spcPts val="200"/>
              </a:spcAft>
              <a:defRPr sz="1100">
                <a:solidFill>
                  <a:srgbClr val="BBBBCC"/>
                </a:solidFill>
                <a:latin typeface="맑은 고딕"/>
              </a:defRPr>
            </a:pPr>
            <a:r>
              <a:t>훈련셋조차 제대로 학습 못함</a:t>
            </a:r>
          </a:p>
          <a:p>
            <a:pPr>
              <a:spcAft>
                <a:spcPts val="200"/>
              </a:spcAft>
              <a:defRPr sz="1100">
                <a:solidFill>
                  <a:srgbClr val="BBBBCC"/>
                </a:solidFill>
                <a:latin typeface="맑은 고딕"/>
              </a:defRPr>
            </a:pPr>
          </a:p>
          <a:p>
            <a:pPr>
              <a:spcAft>
                <a:spcPts val="200"/>
              </a:spcAft>
              <a:defRPr sz="1100">
                <a:solidFill>
                  <a:srgbClr val="BBBBCC"/>
                </a:solidFill>
                <a:latin typeface="맑은 고딕"/>
              </a:defRPr>
            </a:pPr>
            <a:r>
              <a:t>• 훈련셋 정확도: 낮음</a:t>
            </a:r>
          </a:p>
          <a:p>
            <a:pPr>
              <a:spcAft>
                <a:spcPts val="200"/>
              </a:spcAft>
              <a:defRPr sz="1100">
                <a:solidFill>
                  <a:srgbClr val="BBBBCC"/>
                </a:solidFill>
                <a:latin typeface="맑은 고딕"/>
              </a:defRPr>
            </a:pPr>
            <a:r>
              <a:t>• 시험셋 정확도: 낮음</a:t>
            </a:r>
          </a:p>
          <a:p>
            <a:pPr>
              <a:spcAft>
                <a:spcPts val="200"/>
              </a:spcAft>
              <a:defRPr sz="1100">
                <a:solidFill>
                  <a:srgbClr val="BBBBCC"/>
                </a:solidFill>
                <a:latin typeface="맑은 고딕"/>
              </a:defRPr>
            </a:pPr>
            <a:r>
              <a:t>• 너무 단순한 모델</a:t>
            </a:r>
          </a:p>
          <a:p>
            <a:pPr>
              <a:spcAft>
                <a:spcPts val="200"/>
              </a:spcAft>
              <a:defRPr sz="1100">
                <a:solidFill>
                  <a:srgbClr val="BBBBCC"/>
                </a:solidFill>
                <a:latin typeface="맑은 고딕"/>
              </a:defRPr>
            </a:pPr>
            <a:r>
              <a:t>• 트리 깊이가 너무 얕거나, 변수 부족</a:t>
            </a:r>
          </a:p>
          <a:p>
            <a:pPr>
              <a:spcAft>
                <a:spcPts val="200"/>
              </a:spcAft>
              <a:defRPr sz="1100">
                <a:solidFill>
                  <a:srgbClr val="BBBBCC"/>
                </a:solidFill>
                <a:latin typeface="맑은 고딕"/>
              </a:defRPr>
            </a:pPr>
          </a:p>
          <a:p>
            <a:pPr>
              <a:spcAft>
                <a:spcPts val="200"/>
              </a:spcAft>
              <a:defRPr sz="1100">
                <a:solidFill>
                  <a:srgbClr val="BBBBCC"/>
                </a:solidFill>
                <a:latin typeface="맑은 고딕"/>
              </a:defRPr>
            </a:pPr>
            <a:r>
              <a:t>→ 오버피팅보다 더 나쁨</a:t>
            </a:r>
          </a:p>
          <a:p>
            <a:pPr>
              <a:spcAft>
                <a:spcPts val="200"/>
              </a:spcAft>
              <a:defRPr sz="1100">
                <a:solidFill>
                  <a:srgbClr val="BBBBCC"/>
                </a:solidFill>
                <a:latin typeface="맑은 고딕"/>
              </a:defRPr>
            </a:pPr>
            <a:r>
              <a:t>   (훈련조차 안 됨)</a:t>
            </a:r>
          </a:p>
        </p:txBody>
      </p:sp>
      <p:sp>
        <p:nvSpPr>
          <p:cNvPr id="11" name="Rounded Rectangle 10"/>
          <p:cNvSpPr/>
          <p:nvPr/>
        </p:nvSpPr>
        <p:spPr>
          <a:xfrm>
            <a:off x="8138160" y="2011680"/>
            <a:ext cx="3657600" cy="3657600"/>
          </a:xfrm>
          <a:prstGeom prst="roundRect">
            <a:avLst>
              <a:gd name="adj" fmla="val 5000"/>
            </a:avLst>
          </a:prstGeom>
          <a:solidFill>
            <a:srgbClr val="25253D"/>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2194560"/>
            <a:ext cx="3200400" cy="457200"/>
          </a:xfrm>
          <a:prstGeom prst="rect">
            <a:avLst/>
          </a:prstGeom>
          <a:noFill/>
        </p:spPr>
        <p:txBody>
          <a:bodyPr wrap="square">
            <a:spAutoFit/>
          </a:bodyPr>
          <a:lstStyle/>
          <a:p>
            <a:pPr algn="l">
              <a:defRPr sz="1500" b="1">
                <a:solidFill>
                  <a:srgbClr val="FF8C00"/>
                </a:solidFill>
                <a:latin typeface="맑은 고딕"/>
              </a:defRPr>
            </a:pPr>
            <a:r>
              <a:t>✅ 좋은 모델 (Just Right)</a:t>
            </a:r>
          </a:p>
        </p:txBody>
      </p:sp>
      <p:sp>
        <p:nvSpPr>
          <p:cNvPr id="13" name="TextBox 12"/>
          <p:cNvSpPr txBox="1"/>
          <p:nvPr/>
        </p:nvSpPr>
        <p:spPr>
          <a:xfrm>
            <a:off x="8366760" y="2788920"/>
            <a:ext cx="3200400" cy="2743200"/>
          </a:xfrm>
          <a:prstGeom prst="rect">
            <a:avLst/>
          </a:prstGeom>
          <a:noFill/>
        </p:spPr>
        <p:txBody>
          <a:bodyPr wrap="square">
            <a:spAutoFit/>
          </a:bodyPr>
          <a:lstStyle/>
          <a:p>
            <a:pPr>
              <a:spcAft>
                <a:spcPts val="200"/>
              </a:spcAft>
              <a:defRPr sz="1100">
                <a:solidFill>
                  <a:srgbClr val="BBBBCC"/>
                </a:solidFill>
                <a:latin typeface="맑은 고딕"/>
              </a:defRPr>
            </a:pPr>
            <a:r>
              <a:t>훈련셋·시험셋 모두 적절</a:t>
            </a:r>
          </a:p>
          <a:p>
            <a:pPr>
              <a:spcAft>
                <a:spcPts val="200"/>
              </a:spcAft>
              <a:defRPr sz="1100">
                <a:solidFill>
                  <a:srgbClr val="BBBBCC"/>
                </a:solidFill>
                <a:latin typeface="맑은 고딕"/>
              </a:defRPr>
            </a:pPr>
          </a:p>
          <a:p>
            <a:pPr>
              <a:spcAft>
                <a:spcPts val="200"/>
              </a:spcAft>
              <a:defRPr sz="1100">
                <a:solidFill>
                  <a:srgbClr val="BBBBCC"/>
                </a:solidFill>
                <a:latin typeface="맑은 고딕"/>
              </a:defRPr>
            </a:pPr>
            <a:r>
              <a:t>• 훈련셋·시험셋 정확도가 비슷</a:t>
            </a:r>
          </a:p>
          <a:p>
            <a:pPr>
              <a:spcAft>
                <a:spcPts val="200"/>
              </a:spcAft>
              <a:defRPr sz="1100">
                <a:solidFill>
                  <a:srgbClr val="BBBBCC"/>
                </a:solidFill>
                <a:latin typeface="맑은 고딕"/>
              </a:defRPr>
            </a:pPr>
            <a:r>
              <a:t>• 두 정확도 모두 충분히 높음</a:t>
            </a:r>
          </a:p>
          <a:p>
            <a:pPr>
              <a:spcAft>
                <a:spcPts val="200"/>
              </a:spcAft>
              <a:defRPr sz="1100">
                <a:solidFill>
                  <a:srgbClr val="BBBBCC"/>
                </a:solidFill>
                <a:latin typeface="맑은 고딕"/>
              </a:defRPr>
            </a:pPr>
            <a:r>
              <a:t>• 노이즈는 무시, 핵심 패턴만 학습</a:t>
            </a:r>
          </a:p>
          <a:p>
            <a:pPr>
              <a:spcAft>
                <a:spcPts val="200"/>
              </a:spcAft>
              <a:defRPr sz="1100">
                <a:solidFill>
                  <a:srgbClr val="BBBBCC"/>
                </a:solidFill>
                <a:latin typeface="맑은 고딕"/>
              </a:defRPr>
            </a:pPr>
            <a:r>
              <a:t>• 너무 과하지도 부족하지도 않음</a:t>
            </a:r>
          </a:p>
          <a:p>
            <a:pPr>
              <a:spcAft>
                <a:spcPts val="200"/>
              </a:spcAft>
              <a:defRPr sz="1100">
                <a:solidFill>
                  <a:srgbClr val="BBBBCC"/>
                </a:solidFill>
                <a:latin typeface="맑은 고딕"/>
              </a:defRPr>
            </a:pPr>
          </a:p>
          <a:p>
            <a:pPr>
              <a:spcAft>
                <a:spcPts val="200"/>
              </a:spcAft>
              <a:defRPr sz="1100">
                <a:solidFill>
                  <a:srgbClr val="BBBBCC"/>
                </a:solidFill>
                <a:latin typeface="맑은 고딕"/>
              </a:defRPr>
            </a:pPr>
            <a:r>
              <a:t>예) Train=0.860,  Test=0.854  → 격차 0.6%</a:t>
            </a:r>
          </a:p>
        </p:txBody>
      </p:sp>
      <p:sp>
        <p:nvSpPr>
          <p:cNvPr id="14" name="Rounded Rectangle 13"/>
          <p:cNvSpPr/>
          <p:nvPr/>
        </p:nvSpPr>
        <p:spPr>
          <a:xfrm>
            <a:off x="548640" y="5852160"/>
            <a:ext cx="11155680" cy="640080"/>
          </a:xfrm>
          <a:prstGeom prst="roundRect">
            <a:avLst>
              <a:gd name="adj" fmla="val 5000"/>
            </a:avLst>
          </a:prstGeom>
          <a:solidFill>
            <a:srgbClr val="101028"/>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943600"/>
            <a:ext cx="10789920" cy="457200"/>
          </a:xfrm>
          <a:prstGeom prst="rect">
            <a:avLst/>
          </a:prstGeom>
          <a:noFill/>
        </p:spPr>
        <p:txBody>
          <a:bodyPr wrap="square">
            <a:spAutoFit/>
          </a:bodyPr>
          <a:lstStyle/>
          <a:p>
            <a:pPr algn="l">
              <a:defRPr sz="1400" b="1">
                <a:solidFill>
                  <a:srgbClr val="FFD700"/>
                </a:solidFill>
                <a:latin typeface="맑은 고딕"/>
              </a:defRPr>
            </a:pPr>
            <a:r>
              <a:t>🔑 훈련셋 정확도가 시험셋보다 크게 높으면 오버피팅 — 그 격차를 줄이는 것이 목표.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8.7 편향-분산 트레이드오프 (Bias-Variance Tradeoff)</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높은 편향 = 언더피팅 / 높은 분산 = 오버피팅</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편향 (Bias)</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독립변수↔종속변수 모델링이 적절치 못함</a:t>
            </a:r>
          </a:p>
          <a:p>
            <a:pPr>
              <a:spcAft>
                <a:spcPts val="800"/>
              </a:spcAft>
              <a:defRPr sz="1400">
                <a:solidFill>
                  <a:srgbClr val="BBBBCC"/>
                </a:solidFill>
                <a:latin typeface="맑은 고딕"/>
              </a:defRPr>
            </a:pPr>
            <a:r>
              <a:t>중요한 부분을 놓쳐서 예측 부실</a:t>
            </a:r>
          </a:p>
          <a:p>
            <a:pPr>
              <a:spcAft>
                <a:spcPts val="800"/>
              </a:spcAft>
              <a:defRPr sz="1400">
                <a:solidFill>
                  <a:srgbClr val="BBBBCC"/>
                </a:solidFill>
                <a:latin typeface="맑은 고딕"/>
              </a:defRPr>
            </a:pPr>
            <a:r>
              <a:t>높은 편향  =  언더피팅 상황</a:t>
            </a:r>
          </a:p>
          <a:p>
            <a:pPr>
              <a:spcAft>
                <a:spcPts val="800"/>
              </a:spcAft>
              <a:defRPr sz="1400">
                <a:solidFill>
                  <a:srgbClr val="BBBBCC"/>
                </a:solidFill>
                <a:latin typeface="맑은 고딕"/>
              </a:defRPr>
            </a:pPr>
            <a:r>
              <a:t>예: 직선으로만 예측하는 단순 모델</a:t>
            </a:r>
          </a:p>
          <a:p>
            <a:pPr>
              <a:spcAft>
                <a:spcPts val="800"/>
              </a:spcAft>
              <a:defRPr sz="1400">
                <a:solidFill>
                  <a:srgbClr val="BBBBCC"/>
                </a:solidFill>
                <a:latin typeface="맑은 고딕"/>
              </a:defRPr>
            </a:pPr>
            <a:r>
              <a:t>   → 곡선 데이터의 패턴을 놓침</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해결: 모델을 더 복잡하게 (트리 깊이 ↑)</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분산 (Variance)</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훈련셋 노이즈에 의해 발생하는 오차</a:t>
            </a:r>
          </a:p>
          <a:p>
            <a:pPr>
              <a:spcAft>
                <a:spcPts val="800"/>
              </a:spcAft>
              <a:defRPr sz="1400">
                <a:solidFill>
                  <a:srgbClr val="BBBBCC"/>
                </a:solidFill>
                <a:latin typeface="맑은 고딕"/>
              </a:defRPr>
            </a:pPr>
            <a:r>
              <a:t>데이터가 약간만 달라져도 모델이 크게 변함</a:t>
            </a:r>
          </a:p>
          <a:p>
            <a:pPr>
              <a:spcAft>
                <a:spcPts val="800"/>
              </a:spcAft>
              <a:defRPr sz="1400">
                <a:solidFill>
                  <a:srgbClr val="BBBBCC"/>
                </a:solidFill>
                <a:latin typeface="맑은 고딕"/>
              </a:defRPr>
            </a:pPr>
            <a:r>
              <a:t>높은 분산  =  오버피팅 상황</a:t>
            </a:r>
          </a:p>
          <a:p>
            <a:pPr>
              <a:spcAft>
                <a:spcPts val="800"/>
              </a:spcAft>
              <a:defRPr sz="1400">
                <a:solidFill>
                  <a:srgbClr val="BBBBCC"/>
                </a:solidFill>
                <a:latin typeface="맑은 고딕"/>
              </a:defRPr>
            </a:pPr>
            <a:r>
              <a:t>예: 모든 점을 정확히 통과하는 곡선</a:t>
            </a:r>
          </a:p>
          <a:p>
            <a:pPr>
              <a:spcAft>
                <a:spcPts val="800"/>
              </a:spcAft>
              <a:defRPr sz="1400">
                <a:solidFill>
                  <a:srgbClr val="BBBBCC"/>
                </a:solidFill>
                <a:latin typeface="맑은 고딕"/>
              </a:defRPr>
            </a:pPr>
            <a:r>
              <a:t>   → 노이즈까지 모두 모델에 포함</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해결: 모델을 더 단순하게 (트리 깊이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8.8</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8.8</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매개변수 튜닝</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max_depth — 트리 깊이를 제한해 오버피팅 줄이기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8.8 max_depth 튜닝 결과 비교</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salary.csv 실제 실험 — Train/Test 격차로 오버피팅 진단</a:t>
            </a:r>
          </a:p>
        </p:txBody>
      </p:sp>
      <p:sp>
        <p:nvSpPr>
          <p:cNvPr id="5" name="Rectangle 4"/>
          <p:cNvSpPr/>
          <p:nvPr/>
        </p:nvSpPr>
        <p:spPr>
          <a:xfrm>
            <a:off x="548640" y="2011680"/>
            <a:ext cx="219455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2194559" cy="411480"/>
          </a:xfrm>
          <a:prstGeom prst="rect">
            <a:avLst/>
          </a:prstGeom>
          <a:noFill/>
        </p:spPr>
        <p:txBody>
          <a:bodyPr wrap="square">
            <a:spAutoFit/>
          </a:bodyPr>
          <a:lstStyle/>
          <a:p>
            <a:pPr algn="ctr">
              <a:defRPr sz="1300" b="1">
                <a:solidFill>
                  <a:srgbClr val="FFFFFF"/>
                </a:solidFill>
                <a:latin typeface="맑은 고딕"/>
              </a:defRPr>
            </a:pPr>
            <a:r>
              <a:t>max_depth</a:t>
            </a:r>
          </a:p>
        </p:txBody>
      </p:sp>
      <p:sp>
        <p:nvSpPr>
          <p:cNvPr id="7" name="Rectangle 6"/>
          <p:cNvSpPr/>
          <p:nvPr/>
        </p:nvSpPr>
        <p:spPr>
          <a:xfrm>
            <a:off x="2743199" y="2011680"/>
            <a:ext cx="246887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199" y="2011680"/>
            <a:ext cx="2468879" cy="411480"/>
          </a:xfrm>
          <a:prstGeom prst="rect">
            <a:avLst/>
          </a:prstGeom>
          <a:noFill/>
        </p:spPr>
        <p:txBody>
          <a:bodyPr wrap="square">
            <a:spAutoFit/>
          </a:bodyPr>
          <a:lstStyle/>
          <a:p>
            <a:pPr algn="ctr">
              <a:defRPr sz="1300" b="1">
                <a:solidFill>
                  <a:srgbClr val="FFFFFF"/>
                </a:solidFill>
                <a:latin typeface="맑은 고딕"/>
              </a:defRPr>
            </a:pPr>
            <a:r>
              <a:t>Train Accuracy</a:t>
            </a:r>
          </a:p>
        </p:txBody>
      </p:sp>
      <p:sp>
        <p:nvSpPr>
          <p:cNvPr id="9" name="Rectangle 8"/>
          <p:cNvSpPr/>
          <p:nvPr/>
        </p:nvSpPr>
        <p:spPr>
          <a:xfrm>
            <a:off x="5212078" y="2011680"/>
            <a:ext cx="246887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78" y="2011680"/>
            <a:ext cx="2468879" cy="411480"/>
          </a:xfrm>
          <a:prstGeom prst="rect">
            <a:avLst/>
          </a:prstGeom>
          <a:noFill/>
        </p:spPr>
        <p:txBody>
          <a:bodyPr wrap="square">
            <a:spAutoFit/>
          </a:bodyPr>
          <a:lstStyle/>
          <a:p>
            <a:pPr algn="ctr">
              <a:defRPr sz="1300" b="1">
                <a:solidFill>
                  <a:srgbClr val="FFFFFF"/>
                </a:solidFill>
                <a:latin typeface="맑은 고딕"/>
              </a:defRPr>
            </a:pPr>
            <a:r>
              <a:t>Test Accuracy</a:t>
            </a:r>
          </a:p>
        </p:txBody>
      </p:sp>
      <p:sp>
        <p:nvSpPr>
          <p:cNvPr id="11" name="Rectangle 10"/>
          <p:cNvSpPr/>
          <p:nvPr/>
        </p:nvSpPr>
        <p:spPr>
          <a:xfrm>
            <a:off x="7680957" y="2011680"/>
            <a:ext cx="155447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57" y="2011680"/>
            <a:ext cx="1554479" cy="411480"/>
          </a:xfrm>
          <a:prstGeom prst="rect">
            <a:avLst/>
          </a:prstGeom>
          <a:noFill/>
        </p:spPr>
        <p:txBody>
          <a:bodyPr wrap="square">
            <a:spAutoFit/>
          </a:bodyPr>
          <a:lstStyle/>
          <a:p>
            <a:pPr algn="ctr">
              <a:defRPr sz="1300" b="1">
                <a:solidFill>
                  <a:srgbClr val="FFFFFF"/>
                </a:solidFill>
                <a:latin typeface="맑은 고딕"/>
              </a:defRPr>
            </a:pPr>
            <a:r>
              <a:t>격차</a:t>
            </a:r>
          </a:p>
        </p:txBody>
      </p:sp>
      <p:sp>
        <p:nvSpPr>
          <p:cNvPr id="13" name="Rectangle 12"/>
          <p:cNvSpPr/>
          <p:nvPr/>
        </p:nvSpPr>
        <p:spPr>
          <a:xfrm>
            <a:off x="9235436" y="2011680"/>
            <a:ext cx="246887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36" y="2011680"/>
            <a:ext cx="2468879" cy="411480"/>
          </a:xfrm>
          <a:prstGeom prst="rect">
            <a:avLst/>
          </a:prstGeom>
          <a:noFill/>
        </p:spPr>
        <p:txBody>
          <a:bodyPr wrap="square">
            <a:spAutoFit/>
          </a:bodyPr>
          <a:lstStyle/>
          <a:p>
            <a:pPr algn="ctr">
              <a:defRPr sz="1300" b="1">
                <a:solidFill>
                  <a:srgbClr val="FFFFFF"/>
                </a:solidFill>
                <a:latin typeface="맑은 고딕"/>
              </a:defRPr>
            </a:pPr>
            <a:r>
              <a:t>진단</a:t>
            </a:r>
          </a:p>
        </p:txBody>
      </p:sp>
      <p:sp>
        <p:nvSpPr>
          <p:cNvPr id="15" name="Rectangle 14"/>
          <p:cNvSpPr/>
          <p:nvPr/>
        </p:nvSpPr>
        <p:spPr>
          <a:xfrm>
            <a:off x="548640" y="2423160"/>
            <a:ext cx="219455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423160"/>
            <a:ext cx="2103119" cy="502920"/>
          </a:xfrm>
          <a:prstGeom prst="rect">
            <a:avLst/>
          </a:prstGeom>
          <a:noFill/>
        </p:spPr>
        <p:txBody>
          <a:bodyPr wrap="square">
            <a:spAutoFit/>
          </a:bodyPr>
          <a:lstStyle/>
          <a:p>
            <a:pPr algn="ctr">
              <a:defRPr sz="1200" b="1">
                <a:solidFill>
                  <a:srgbClr val="00D2FF"/>
                </a:solidFill>
                <a:latin typeface="맑은 고딕"/>
              </a:defRPr>
            </a:pPr>
            <a:r>
              <a:t>None (기본값)</a:t>
            </a:r>
          </a:p>
        </p:txBody>
      </p:sp>
      <p:sp>
        <p:nvSpPr>
          <p:cNvPr id="17" name="Rectangle 16"/>
          <p:cNvSpPr/>
          <p:nvPr/>
        </p:nvSpPr>
        <p:spPr>
          <a:xfrm>
            <a:off x="2743199" y="2423160"/>
            <a:ext cx="24688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8919" y="2423160"/>
            <a:ext cx="2377439" cy="502920"/>
          </a:xfrm>
          <a:prstGeom prst="rect">
            <a:avLst/>
          </a:prstGeom>
          <a:noFill/>
        </p:spPr>
        <p:txBody>
          <a:bodyPr wrap="square">
            <a:spAutoFit/>
          </a:bodyPr>
          <a:lstStyle/>
          <a:p>
            <a:pPr algn="ctr">
              <a:defRPr sz="1200" b="0">
                <a:solidFill>
                  <a:srgbClr val="BBBBCC"/>
                </a:solidFill>
                <a:latin typeface="맑은 고딕"/>
              </a:defRPr>
            </a:pPr>
            <a:r>
              <a:t>0.9780</a:t>
            </a:r>
          </a:p>
        </p:txBody>
      </p:sp>
      <p:sp>
        <p:nvSpPr>
          <p:cNvPr id="19" name="Rectangle 18"/>
          <p:cNvSpPr/>
          <p:nvPr/>
        </p:nvSpPr>
        <p:spPr>
          <a:xfrm>
            <a:off x="5212078" y="2423160"/>
            <a:ext cx="24688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798" y="2423160"/>
            <a:ext cx="2377439" cy="502920"/>
          </a:xfrm>
          <a:prstGeom prst="rect">
            <a:avLst/>
          </a:prstGeom>
          <a:noFill/>
        </p:spPr>
        <p:txBody>
          <a:bodyPr wrap="square">
            <a:spAutoFit/>
          </a:bodyPr>
          <a:lstStyle/>
          <a:p>
            <a:pPr algn="ctr">
              <a:defRPr sz="1200" b="0">
                <a:solidFill>
                  <a:srgbClr val="BBBBCC"/>
                </a:solidFill>
                <a:latin typeface="맑은 고딕"/>
              </a:defRPr>
            </a:pPr>
            <a:r>
              <a:t>0.8156</a:t>
            </a:r>
          </a:p>
        </p:txBody>
      </p:sp>
      <p:sp>
        <p:nvSpPr>
          <p:cNvPr id="21" name="Rectangle 20"/>
          <p:cNvSpPr/>
          <p:nvPr/>
        </p:nvSpPr>
        <p:spPr>
          <a:xfrm>
            <a:off x="7680957" y="2423160"/>
            <a:ext cx="15544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6677" y="2423160"/>
            <a:ext cx="1463039" cy="502920"/>
          </a:xfrm>
          <a:prstGeom prst="rect">
            <a:avLst/>
          </a:prstGeom>
          <a:noFill/>
        </p:spPr>
        <p:txBody>
          <a:bodyPr wrap="square">
            <a:spAutoFit/>
          </a:bodyPr>
          <a:lstStyle/>
          <a:p>
            <a:pPr algn="ctr">
              <a:defRPr sz="1200" b="0">
                <a:solidFill>
                  <a:srgbClr val="BBBBCC"/>
                </a:solidFill>
                <a:latin typeface="맑은 고딕"/>
              </a:defRPr>
            </a:pPr>
            <a:r>
              <a:t>+16.2%p</a:t>
            </a:r>
          </a:p>
        </p:txBody>
      </p:sp>
      <p:sp>
        <p:nvSpPr>
          <p:cNvPr id="23" name="Rectangle 22"/>
          <p:cNvSpPr/>
          <p:nvPr/>
        </p:nvSpPr>
        <p:spPr>
          <a:xfrm>
            <a:off x="9235436" y="2423160"/>
            <a:ext cx="24688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56" y="2423160"/>
            <a:ext cx="2377439" cy="502920"/>
          </a:xfrm>
          <a:prstGeom prst="rect">
            <a:avLst/>
          </a:prstGeom>
          <a:noFill/>
        </p:spPr>
        <p:txBody>
          <a:bodyPr wrap="square">
            <a:spAutoFit/>
          </a:bodyPr>
          <a:lstStyle/>
          <a:p>
            <a:pPr algn="ctr">
              <a:defRPr sz="1200" b="0">
                <a:solidFill>
                  <a:srgbClr val="BBBBCC"/>
                </a:solidFill>
                <a:latin typeface="맑은 고딕"/>
              </a:defRPr>
            </a:pPr>
            <a:r>
              <a:t>❌ 심각한 오버피팅</a:t>
            </a:r>
          </a:p>
        </p:txBody>
      </p:sp>
      <p:sp>
        <p:nvSpPr>
          <p:cNvPr id="25" name="Rectangle 24"/>
          <p:cNvSpPr/>
          <p:nvPr/>
        </p:nvSpPr>
        <p:spPr>
          <a:xfrm>
            <a:off x="548640" y="2926080"/>
            <a:ext cx="219455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2926080"/>
            <a:ext cx="2103119" cy="502920"/>
          </a:xfrm>
          <a:prstGeom prst="rect">
            <a:avLst/>
          </a:prstGeom>
          <a:noFill/>
        </p:spPr>
        <p:txBody>
          <a:bodyPr wrap="square">
            <a:spAutoFit/>
          </a:bodyPr>
          <a:lstStyle/>
          <a:p>
            <a:pPr algn="ctr">
              <a:defRPr sz="1200" b="1">
                <a:solidFill>
                  <a:srgbClr val="00D2FF"/>
                </a:solidFill>
                <a:latin typeface="맑은 고딕"/>
              </a:defRPr>
            </a:pPr>
            <a:r>
              <a:t>5</a:t>
            </a:r>
          </a:p>
        </p:txBody>
      </p:sp>
      <p:sp>
        <p:nvSpPr>
          <p:cNvPr id="27" name="Rectangle 26"/>
          <p:cNvSpPr/>
          <p:nvPr/>
        </p:nvSpPr>
        <p:spPr>
          <a:xfrm>
            <a:off x="2743199" y="2926080"/>
            <a:ext cx="24688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88919" y="2926080"/>
            <a:ext cx="2377439" cy="502920"/>
          </a:xfrm>
          <a:prstGeom prst="rect">
            <a:avLst/>
          </a:prstGeom>
          <a:noFill/>
        </p:spPr>
        <p:txBody>
          <a:bodyPr wrap="square">
            <a:spAutoFit/>
          </a:bodyPr>
          <a:lstStyle/>
          <a:p>
            <a:pPr algn="ctr">
              <a:defRPr sz="1200" b="0">
                <a:solidFill>
                  <a:srgbClr val="BBBBCC"/>
                </a:solidFill>
                <a:latin typeface="맑은 고딕"/>
              </a:defRPr>
            </a:pPr>
            <a:r>
              <a:t>0.8540</a:t>
            </a:r>
          </a:p>
        </p:txBody>
      </p:sp>
      <p:sp>
        <p:nvSpPr>
          <p:cNvPr id="29" name="Rectangle 28"/>
          <p:cNvSpPr/>
          <p:nvPr/>
        </p:nvSpPr>
        <p:spPr>
          <a:xfrm>
            <a:off x="5212078" y="2926080"/>
            <a:ext cx="24688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57798" y="2926080"/>
            <a:ext cx="2377439" cy="502920"/>
          </a:xfrm>
          <a:prstGeom prst="rect">
            <a:avLst/>
          </a:prstGeom>
          <a:noFill/>
        </p:spPr>
        <p:txBody>
          <a:bodyPr wrap="square">
            <a:spAutoFit/>
          </a:bodyPr>
          <a:lstStyle/>
          <a:p>
            <a:pPr algn="ctr">
              <a:defRPr sz="1200" b="0">
                <a:solidFill>
                  <a:srgbClr val="BBBBCC"/>
                </a:solidFill>
                <a:latin typeface="맑은 고딕"/>
              </a:defRPr>
            </a:pPr>
            <a:r>
              <a:t>0.8500</a:t>
            </a:r>
          </a:p>
        </p:txBody>
      </p:sp>
      <p:sp>
        <p:nvSpPr>
          <p:cNvPr id="31" name="Rectangle 30"/>
          <p:cNvSpPr/>
          <p:nvPr/>
        </p:nvSpPr>
        <p:spPr>
          <a:xfrm>
            <a:off x="7680957" y="2926080"/>
            <a:ext cx="15544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26677" y="2926080"/>
            <a:ext cx="1463039" cy="502920"/>
          </a:xfrm>
          <a:prstGeom prst="rect">
            <a:avLst/>
          </a:prstGeom>
          <a:noFill/>
        </p:spPr>
        <p:txBody>
          <a:bodyPr wrap="square">
            <a:spAutoFit/>
          </a:bodyPr>
          <a:lstStyle/>
          <a:p>
            <a:pPr algn="ctr">
              <a:defRPr sz="1200" b="0">
                <a:solidFill>
                  <a:srgbClr val="BBBBCC"/>
                </a:solidFill>
                <a:latin typeface="맑은 고딕"/>
              </a:defRPr>
            </a:pPr>
            <a:r>
              <a:t>+0.4%p</a:t>
            </a:r>
          </a:p>
        </p:txBody>
      </p:sp>
      <p:sp>
        <p:nvSpPr>
          <p:cNvPr id="33" name="Rectangle 32"/>
          <p:cNvSpPr/>
          <p:nvPr/>
        </p:nvSpPr>
        <p:spPr>
          <a:xfrm>
            <a:off x="9235436" y="2926080"/>
            <a:ext cx="24688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81156" y="2926080"/>
            <a:ext cx="2377439" cy="502920"/>
          </a:xfrm>
          <a:prstGeom prst="rect">
            <a:avLst/>
          </a:prstGeom>
          <a:noFill/>
        </p:spPr>
        <p:txBody>
          <a:bodyPr wrap="square">
            <a:spAutoFit/>
          </a:bodyPr>
          <a:lstStyle/>
          <a:p>
            <a:pPr algn="ctr">
              <a:defRPr sz="1200" b="0">
                <a:solidFill>
                  <a:srgbClr val="BBBBCC"/>
                </a:solidFill>
                <a:latin typeface="맑은 고딕"/>
              </a:defRPr>
            </a:pPr>
            <a:r>
              <a:t>✅ 양호 (격차 미세)</a:t>
            </a:r>
          </a:p>
        </p:txBody>
      </p:sp>
      <p:sp>
        <p:nvSpPr>
          <p:cNvPr id="35" name="Rectangle 34"/>
          <p:cNvSpPr/>
          <p:nvPr/>
        </p:nvSpPr>
        <p:spPr>
          <a:xfrm>
            <a:off x="548640" y="3429000"/>
            <a:ext cx="219455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429000"/>
            <a:ext cx="2103119" cy="502920"/>
          </a:xfrm>
          <a:prstGeom prst="rect">
            <a:avLst/>
          </a:prstGeom>
          <a:noFill/>
        </p:spPr>
        <p:txBody>
          <a:bodyPr wrap="square">
            <a:spAutoFit/>
          </a:bodyPr>
          <a:lstStyle/>
          <a:p>
            <a:pPr algn="ctr">
              <a:defRPr sz="1200" b="1">
                <a:solidFill>
                  <a:srgbClr val="00D2FF"/>
                </a:solidFill>
                <a:latin typeface="맑은 고딕"/>
              </a:defRPr>
            </a:pPr>
            <a:r>
              <a:t>7</a:t>
            </a:r>
          </a:p>
        </p:txBody>
      </p:sp>
      <p:sp>
        <p:nvSpPr>
          <p:cNvPr id="37" name="Rectangle 36"/>
          <p:cNvSpPr/>
          <p:nvPr/>
        </p:nvSpPr>
        <p:spPr>
          <a:xfrm>
            <a:off x="2743199" y="3429000"/>
            <a:ext cx="24688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88919" y="3429000"/>
            <a:ext cx="2377439" cy="502920"/>
          </a:xfrm>
          <a:prstGeom prst="rect">
            <a:avLst/>
          </a:prstGeom>
          <a:noFill/>
        </p:spPr>
        <p:txBody>
          <a:bodyPr wrap="square">
            <a:spAutoFit/>
          </a:bodyPr>
          <a:lstStyle/>
          <a:p>
            <a:pPr algn="ctr">
              <a:defRPr sz="1200" b="0">
                <a:solidFill>
                  <a:srgbClr val="BBBBCC"/>
                </a:solidFill>
                <a:latin typeface="맑은 고딕"/>
              </a:defRPr>
            </a:pPr>
            <a:r>
              <a:t>0.8599</a:t>
            </a:r>
          </a:p>
        </p:txBody>
      </p:sp>
      <p:sp>
        <p:nvSpPr>
          <p:cNvPr id="39" name="Rectangle 38"/>
          <p:cNvSpPr/>
          <p:nvPr/>
        </p:nvSpPr>
        <p:spPr>
          <a:xfrm>
            <a:off x="5212078" y="3429000"/>
            <a:ext cx="24688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57798" y="3429000"/>
            <a:ext cx="2377439" cy="502920"/>
          </a:xfrm>
          <a:prstGeom prst="rect">
            <a:avLst/>
          </a:prstGeom>
          <a:noFill/>
        </p:spPr>
        <p:txBody>
          <a:bodyPr wrap="square">
            <a:spAutoFit/>
          </a:bodyPr>
          <a:lstStyle/>
          <a:p>
            <a:pPr algn="ctr">
              <a:defRPr sz="1200" b="0">
                <a:solidFill>
                  <a:srgbClr val="BBBBCC"/>
                </a:solidFill>
                <a:latin typeface="맑은 고딕"/>
              </a:defRPr>
            </a:pPr>
            <a:r>
              <a:t>0.8543</a:t>
            </a:r>
          </a:p>
        </p:txBody>
      </p:sp>
      <p:sp>
        <p:nvSpPr>
          <p:cNvPr id="41" name="Rectangle 40"/>
          <p:cNvSpPr/>
          <p:nvPr/>
        </p:nvSpPr>
        <p:spPr>
          <a:xfrm>
            <a:off x="7680957" y="3429000"/>
            <a:ext cx="15544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26677" y="3429000"/>
            <a:ext cx="1463039" cy="502920"/>
          </a:xfrm>
          <a:prstGeom prst="rect">
            <a:avLst/>
          </a:prstGeom>
          <a:noFill/>
        </p:spPr>
        <p:txBody>
          <a:bodyPr wrap="square">
            <a:spAutoFit/>
          </a:bodyPr>
          <a:lstStyle/>
          <a:p>
            <a:pPr algn="ctr">
              <a:defRPr sz="1200" b="0">
                <a:solidFill>
                  <a:srgbClr val="BBBBCC"/>
                </a:solidFill>
                <a:latin typeface="맑은 고딕"/>
              </a:defRPr>
            </a:pPr>
            <a:r>
              <a:t>+0.6%p</a:t>
            </a:r>
          </a:p>
        </p:txBody>
      </p:sp>
      <p:sp>
        <p:nvSpPr>
          <p:cNvPr id="43" name="Rectangle 42"/>
          <p:cNvSpPr/>
          <p:nvPr/>
        </p:nvSpPr>
        <p:spPr>
          <a:xfrm>
            <a:off x="9235436" y="3429000"/>
            <a:ext cx="2468879"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81156" y="3429000"/>
            <a:ext cx="2377439" cy="502920"/>
          </a:xfrm>
          <a:prstGeom prst="rect">
            <a:avLst/>
          </a:prstGeom>
          <a:noFill/>
        </p:spPr>
        <p:txBody>
          <a:bodyPr wrap="square">
            <a:spAutoFit/>
          </a:bodyPr>
          <a:lstStyle/>
          <a:p>
            <a:pPr algn="ctr">
              <a:defRPr sz="1200" b="0">
                <a:solidFill>
                  <a:srgbClr val="BBBBCC"/>
                </a:solidFill>
                <a:latin typeface="맑은 고딕"/>
              </a:defRPr>
            </a:pPr>
            <a:r>
              <a:t>✅ 더 우수 (정확도↑)</a:t>
            </a:r>
          </a:p>
        </p:txBody>
      </p:sp>
      <p:sp>
        <p:nvSpPr>
          <p:cNvPr id="45" name="Rectangle 44"/>
          <p:cNvSpPr/>
          <p:nvPr/>
        </p:nvSpPr>
        <p:spPr>
          <a:xfrm>
            <a:off x="548640" y="3931920"/>
            <a:ext cx="219455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3931920"/>
            <a:ext cx="2103119" cy="502920"/>
          </a:xfrm>
          <a:prstGeom prst="rect">
            <a:avLst/>
          </a:prstGeom>
          <a:noFill/>
        </p:spPr>
        <p:txBody>
          <a:bodyPr wrap="square">
            <a:spAutoFit/>
          </a:bodyPr>
          <a:lstStyle/>
          <a:p>
            <a:pPr algn="ctr">
              <a:defRPr sz="1200" b="1">
                <a:solidFill>
                  <a:srgbClr val="00D2FF"/>
                </a:solidFill>
                <a:latin typeface="맑은 고딕"/>
              </a:defRPr>
            </a:pPr>
            <a:r>
              <a:t>10 (예상)</a:t>
            </a:r>
          </a:p>
        </p:txBody>
      </p:sp>
      <p:sp>
        <p:nvSpPr>
          <p:cNvPr id="47" name="Rectangle 46"/>
          <p:cNvSpPr/>
          <p:nvPr/>
        </p:nvSpPr>
        <p:spPr>
          <a:xfrm>
            <a:off x="2743199" y="3931920"/>
            <a:ext cx="24688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88919" y="3931920"/>
            <a:ext cx="2377439" cy="502920"/>
          </a:xfrm>
          <a:prstGeom prst="rect">
            <a:avLst/>
          </a:prstGeom>
          <a:noFill/>
        </p:spPr>
        <p:txBody>
          <a:bodyPr wrap="square">
            <a:spAutoFit/>
          </a:bodyPr>
          <a:lstStyle/>
          <a:p>
            <a:pPr algn="ctr">
              <a:defRPr sz="1200" b="0">
                <a:solidFill>
                  <a:srgbClr val="BBBBCC"/>
                </a:solidFill>
                <a:latin typeface="맑은 고딕"/>
              </a:defRPr>
            </a:pPr>
            <a:r>
              <a:t>~0.91</a:t>
            </a:r>
          </a:p>
        </p:txBody>
      </p:sp>
      <p:sp>
        <p:nvSpPr>
          <p:cNvPr id="49" name="Rectangle 48"/>
          <p:cNvSpPr/>
          <p:nvPr/>
        </p:nvSpPr>
        <p:spPr>
          <a:xfrm>
            <a:off x="5212078" y="3931920"/>
            <a:ext cx="24688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57798" y="3931920"/>
            <a:ext cx="2377439" cy="502920"/>
          </a:xfrm>
          <a:prstGeom prst="rect">
            <a:avLst/>
          </a:prstGeom>
          <a:noFill/>
        </p:spPr>
        <p:txBody>
          <a:bodyPr wrap="square">
            <a:spAutoFit/>
          </a:bodyPr>
          <a:lstStyle/>
          <a:p>
            <a:pPr algn="ctr">
              <a:defRPr sz="1200" b="0">
                <a:solidFill>
                  <a:srgbClr val="BBBBCC"/>
                </a:solidFill>
                <a:latin typeface="맑은 고딕"/>
              </a:defRPr>
            </a:pPr>
            <a:r>
              <a:t>~0.85</a:t>
            </a:r>
          </a:p>
        </p:txBody>
      </p:sp>
      <p:sp>
        <p:nvSpPr>
          <p:cNvPr id="51" name="Rectangle 50"/>
          <p:cNvSpPr/>
          <p:nvPr/>
        </p:nvSpPr>
        <p:spPr>
          <a:xfrm>
            <a:off x="7680957" y="3931920"/>
            <a:ext cx="15544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26677" y="3931920"/>
            <a:ext cx="1463039" cy="502920"/>
          </a:xfrm>
          <a:prstGeom prst="rect">
            <a:avLst/>
          </a:prstGeom>
          <a:noFill/>
        </p:spPr>
        <p:txBody>
          <a:bodyPr wrap="square">
            <a:spAutoFit/>
          </a:bodyPr>
          <a:lstStyle/>
          <a:p>
            <a:pPr algn="ctr">
              <a:defRPr sz="1200" b="0">
                <a:solidFill>
                  <a:srgbClr val="BBBBCC"/>
                </a:solidFill>
                <a:latin typeface="맑은 고딕"/>
              </a:defRPr>
            </a:pPr>
            <a:r>
              <a:t>~5%p</a:t>
            </a:r>
          </a:p>
        </p:txBody>
      </p:sp>
      <p:sp>
        <p:nvSpPr>
          <p:cNvPr id="53" name="Rectangle 52"/>
          <p:cNvSpPr/>
          <p:nvPr/>
        </p:nvSpPr>
        <p:spPr>
          <a:xfrm>
            <a:off x="9235436" y="3931920"/>
            <a:ext cx="2468879"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81156" y="3931920"/>
            <a:ext cx="2377439" cy="502920"/>
          </a:xfrm>
          <a:prstGeom prst="rect">
            <a:avLst/>
          </a:prstGeom>
          <a:noFill/>
        </p:spPr>
        <p:txBody>
          <a:bodyPr wrap="square">
            <a:spAutoFit/>
          </a:bodyPr>
          <a:lstStyle/>
          <a:p>
            <a:pPr algn="ctr">
              <a:defRPr sz="1200" b="0">
                <a:solidFill>
                  <a:srgbClr val="BBBBCC"/>
                </a:solidFill>
                <a:latin typeface="맑은 고딕"/>
              </a:defRPr>
            </a:pPr>
            <a:r>
              <a:t>⚠ 다시 오버피팅 시작</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8.8 max_depth 튜닝 코드</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훈련셋·시험셋 정확도를 함께 출력해 격차로 평가</a:t>
            </a:r>
          </a:p>
        </p:txBody>
      </p:sp>
      <p:sp>
        <p:nvSpPr>
          <p:cNvPr id="5" name="Rounded Rectangle 4"/>
          <p:cNvSpPr/>
          <p:nvPr/>
        </p:nvSpPr>
        <p:spPr>
          <a:xfrm>
            <a:off x="548640" y="1920240"/>
            <a:ext cx="11155680" cy="466344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10789920" cy="4389120"/>
          </a:xfrm>
          <a:prstGeom prst="rect">
            <a:avLst/>
          </a:prstGeom>
          <a:noFill/>
        </p:spPr>
        <p:txBody>
          <a:bodyPr wrap="square">
            <a:spAutoFit/>
          </a:bodyPr>
          <a:lstStyle/>
          <a:p>
            <a:pPr>
              <a:spcAft>
                <a:spcPts val="200"/>
              </a:spcAft>
              <a:defRPr sz="1100">
                <a:solidFill>
                  <a:srgbClr val="00E696"/>
                </a:solidFill>
                <a:latin typeface="Consolas"/>
              </a:defRPr>
            </a:pPr>
            <a:r>
              <a:t># 기본값 (max_depth=None) 결과 확인</a:t>
            </a:r>
          </a:p>
          <a:p>
            <a:pPr>
              <a:spcAft>
                <a:spcPts val="200"/>
              </a:spcAft>
              <a:defRPr sz="1100">
                <a:solidFill>
                  <a:srgbClr val="00E696"/>
                </a:solidFill>
                <a:latin typeface="Consolas"/>
              </a:defRPr>
            </a:pPr>
            <a:r>
              <a:t>model = DecisionTreeClassifier()</a:t>
            </a:r>
          </a:p>
          <a:p>
            <a:pPr>
              <a:spcAft>
                <a:spcPts val="200"/>
              </a:spcAft>
              <a:defRPr sz="1100">
                <a:solidFill>
                  <a:srgbClr val="00E696"/>
                </a:solidFill>
                <a:latin typeface="Consolas"/>
              </a:defRPr>
            </a:pPr>
            <a:r>
              <a:t>model.fit(X_train, y_train)</a:t>
            </a:r>
          </a:p>
          <a:p>
            <a:pPr>
              <a:spcAft>
                <a:spcPts val="200"/>
              </a:spcAft>
              <a:defRPr sz="1100">
                <a:solidFill>
                  <a:srgbClr val="00E696"/>
                </a:solidFill>
                <a:latin typeface="Consolas"/>
              </a:defRPr>
            </a:pPr>
            <a:r>
              <a:t>train_pred = model.predict(X_train)</a:t>
            </a:r>
          </a:p>
          <a:p>
            <a:pPr>
              <a:spcAft>
                <a:spcPts val="200"/>
              </a:spcAft>
              <a:defRPr sz="1100">
                <a:solidFill>
                  <a:srgbClr val="00E696"/>
                </a:solidFill>
                <a:latin typeface="Consolas"/>
              </a:defRPr>
            </a:pPr>
            <a:r>
              <a:t>test_pred  = model.predict(X_test)</a:t>
            </a:r>
          </a:p>
          <a:p>
            <a:pPr>
              <a:spcAft>
                <a:spcPts val="200"/>
              </a:spcAft>
              <a:defRPr sz="1100">
                <a:solidFill>
                  <a:srgbClr val="00E696"/>
                </a:solidFill>
                <a:latin typeface="Consolas"/>
              </a:defRPr>
            </a:pPr>
            <a:r>
              <a:t>print('Train score:', accuracy_score(y_train, train_pred),</a:t>
            </a:r>
          </a:p>
          <a:p>
            <a:pPr>
              <a:spcAft>
                <a:spcPts val="200"/>
              </a:spcAft>
              <a:defRPr sz="1100">
                <a:solidFill>
                  <a:srgbClr val="00E696"/>
                </a:solidFill>
                <a:latin typeface="Consolas"/>
              </a:defRPr>
            </a:pPr>
            <a:r>
              <a:t>      'Test score:',  accuracy_score(y_test,  test_pred))</a:t>
            </a:r>
          </a:p>
          <a:p>
            <a:pPr>
              <a:spcAft>
                <a:spcPts val="200"/>
              </a:spcAft>
              <a:defRPr sz="1100">
                <a:solidFill>
                  <a:srgbClr val="00E696"/>
                </a:solidFill>
                <a:latin typeface="Consolas"/>
              </a:defRPr>
            </a:pPr>
            <a:r>
              <a:t># Train: 0.9780  Test: 0.8156  → 격차 큼 (오버피팅)</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max_depth=5 로 제한</a:t>
            </a:r>
          </a:p>
          <a:p>
            <a:pPr>
              <a:spcAft>
                <a:spcPts val="200"/>
              </a:spcAft>
              <a:defRPr sz="1100">
                <a:solidFill>
                  <a:srgbClr val="00E696"/>
                </a:solidFill>
                <a:latin typeface="Consolas"/>
              </a:defRPr>
            </a:pPr>
            <a:r>
              <a:t>model = DecisionTreeClassifier(max_depth=5)</a:t>
            </a:r>
          </a:p>
          <a:p>
            <a:pPr>
              <a:spcAft>
                <a:spcPts val="200"/>
              </a:spcAft>
              <a:defRPr sz="1100">
                <a:solidFill>
                  <a:srgbClr val="00E696"/>
                </a:solidFill>
                <a:latin typeface="Consolas"/>
              </a:defRPr>
            </a:pPr>
            <a:r>
              <a:t>model.fit(X_train, y_train)</a:t>
            </a:r>
          </a:p>
          <a:p>
            <a:pPr>
              <a:spcAft>
                <a:spcPts val="200"/>
              </a:spcAft>
              <a:defRPr sz="1100">
                <a:solidFill>
                  <a:srgbClr val="00E696"/>
                </a:solidFill>
                <a:latin typeface="Consolas"/>
              </a:defRPr>
            </a:pPr>
            <a:r>
              <a:t># Train: 0.8540  Test: 0.8500  → 격차 0.4% (양호)</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max_depth=7 로 약간 더 깊게</a:t>
            </a:r>
          </a:p>
          <a:p>
            <a:pPr>
              <a:spcAft>
                <a:spcPts val="200"/>
              </a:spcAft>
              <a:defRPr sz="1100">
                <a:solidFill>
                  <a:srgbClr val="00E696"/>
                </a:solidFill>
                <a:latin typeface="Consolas"/>
              </a:defRPr>
            </a:pPr>
            <a:r>
              <a:t>model = DecisionTreeClassifier(max_depth=7)</a:t>
            </a:r>
          </a:p>
          <a:p>
            <a:pPr>
              <a:spcAft>
                <a:spcPts val="200"/>
              </a:spcAft>
              <a:defRPr sz="1100">
                <a:solidFill>
                  <a:srgbClr val="00E696"/>
                </a:solidFill>
                <a:latin typeface="Consolas"/>
              </a:defRPr>
            </a:pPr>
            <a:r>
              <a:t>model.fit(X_train, y_train)</a:t>
            </a:r>
          </a:p>
          <a:p>
            <a:pPr>
              <a:spcAft>
                <a:spcPts val="200"/>
              </a:spcAft>
              <a:defRPr sz="1100">
                <a:solidFill>
                  <a:srgbClr val="00E696"/>
                </a:solidFill>
                <a:latin typeface="Consolas"/>
              </a:defRPr>
            </a:pPr>
            <a:r>
              <a:t># Train: 0.8599  Test: 0.8543  → 격차 0.6% (최적)</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그 외 자주 쓰이는 매개변수</a:t>
            </a:r>
          </a:p>
          <a:p>
            <a:pPr>
              <a:spcAft>
                <a:spcPts val="200"/>
              </a:spcAft>
              <a:defRPr sz="1100">
                <a:solidFill>
                  <a:srgbClr val="00E696"/>
                </a:solidFill>
                <a:latin typeface="Consolas"/>
              </a:defRPr>
            </a:pPr>
            <a:r>
              <a:t>#   min_samples_split=2  : 분할 최소 샘플 수</a:t>
            </a:r>
          </a:p>
          <a:p>
            <a:pPr>
              <a:spcAft>
                <a:spcPts val="200"/>
              </a:spcAft>
              <a:defRPr sz="1100">
                <a:solidFill>
                  <a:srgbClr val="00E696"/>
                </a:solidFill>
                <a:latin typeface="Consolas"/>
              </a:defRPr>
            </a:pPr>
            <a:r>
              <a:t>#   min_samples_leaf=1   : 리프 노드 최소 샘플 수</a:t>
            </a:r>
          </a:p>
          <a:p>
            <a:pPr>
              <a:spcAft>
                <a:spcPts val="200"/>
              </a:spcAft>
              <a:defRPr sz="1100">
                <a:solidFill>
                  <a:srgbClr val="00E696"/>
                </a:solidFill>
                <a:latin typeface="Consolas"/>
              </a:defRPr>
            </a:pPr>
            <a:r>
              <a:t>#   criterion="gini"     : 분할 기준 (gini/entropy)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TextBox 1"/>
          <p:cNvSpPr txBox="1"/>
          <p:nvPr/>
        </p:nvSpPr>
        <p:spPr>
          <a:xfrm>
            <a:off x="457200" y="1371600"/>
            <a:ext cx="4572000" cy="4114800"/>
          </a:xfrm>
          <a:prstGeom prst="rect">
            <a:avLst/>
          </a:prstGeom>
          <a:noFill/>
        </p:spPr>
        <p:txBody>
          <a:bodyPr wrap="square">
            <a:spAutoFit/>
          </a:bodyPr>
          <a:lstStyle/>
          <a:p>
            <a:pPr algn="l">
              <a:defRPr sz="32000" b="1">
                <a:solidFill>
                  <a:srgbClr val="25253D"/>
                </a:solidFill>
                <a:latin typeface="맑은 고딕"/>
              </a:defRPr>
            </a:pPr>
            <a:r>
              <a:t>8.9</a:t>
            </a:r>
          </a:p>
        </p:txBody>
      </p:sp>
      <p:sp>
        <p:nvSpPr>
          <p:cNvPr id="3" name="Rectangle 2"/>
          <p:cNvSpPr/>
          <p:nvPr/>
        </p:nvSpPr>
        <p:spPr>
          <a:xfrm>
            <a:off x="5029200" y="2103120"/>
            <a:ext cx="91440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2194560"/>
            <a:ext cx="6858000" cy="457200"/>
          </a:xfrm>
          <a:prstGeom prst="rect">
            <a:avLst/>
          </a:prstGeom>
          <a:noFill/>
        </p:spPr>
        <p:txBody>
          <a:bodyPr wrap="square">
            <a:spAutoFit/>
          </a:bodyPr>
          <a:lstStyle/>
          <a:p>
            <a:pPr algn="l">
              <a:defRPr sz="1400" b="1">
                <a:solidFill>
                  <a:srgbClr val="00D2FF"/>
                </a:solidFill>
                <a:latin typeface="맑은 고딕"/>
              </a:defRPr>
            </a:pPr>
            <a:r>
              <a:t>SECTION 8.9</a:t>
            </a:r>
          </a:p>
        </p:txBody>
      </p:sp>
      <p:sp>
        <p:nvSpPr>
          <p:cNvPr id="5" name="TextBox 4"/>
          <p:cNvSpPr txBox="1"/>
          <p:nvPr/>
        </p:nvSpPr>
        <p:spPr>
          <a:xfrm>
            <a:off x="5029200" y="2697480"/>
            <a:ext cx="6858000" cy="1371600"/>
          </a:xfrm>
          <a:prstGeom prst="rect">
            <a:avLst/>
          </a:prstGeom>
          <a:noFill/>
        </p:spPr>
        <p:txBody>
          <a:bodyPr wrap="square">
            <a:spAutoFit/>
          </a:bodyPr>
          <a:lstStyle/>
          <a:p>
            <a:pPr algn="l">
              <a:defRPr sz="4400" b="1">
                <a:solidFill>
                  <a:srgbClr val="FFFFFF"/>
                </a:solidFill>
                <a:latin typeface="맑은 고딕"/>
              </a:defRPr>
            </a:pPr>
            <a:r>
              <a:t>트리 그래프 시각화</a:t>
            </a:r>
          </a:p>
        </p:txBody>
      </p:sp>
      <p:sp>
        <p:nvSpPr>
          <p:cNvPr id="6" name="TextBox 5"/>
          <p:cNvSpPr txBox="1"/>
          <p:nvPr/>
        </p:nvSpPr>
        <p:spPr>
          <a:xfrm>
            <a:off x="5029200" y="4114800"/>
            <a:ext cx="6858000" cy="548640"/>
          </a:xfrm>
          <a:prstGeom prst="rect">
            <a:avLst/>
          </a:prstGeom>
          <a:noFill/>
        </p:spPr>
        <p:txBody>
          <a:bodyPr wrap="square">
            <a:spAutoFit/>
          </a:bodyPr>
          <a:lstStyle/>
          <a:p>
            <a:pPr algn="l">
              <a:defRPr sz="1800" b="0">
                <a:solidFill>
                  <a:srgbClr val="BBBBCC"/>
                </a:solidFill>
                <a:latin typeface="맑은 고딕"/>
              </a:defRPr>
            </a:pPr>
            <a:r>
              <a:t>sklearn.tree.plot_tree — 결정 트리의 가장 큰 강점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8.9 plot_tree 코드 — 트리 시각화</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figsize·max_depth·fontsize·feature_names 옵션 활용</a:t>
            </a:r>
          </a:p>
        </p:txBody>
      </p:sp>
      <p:sp>
        <p:nvSpPr>
          <p:cNvPr id="5" name="Rounded Rectangle 4"/>
          <p:cNvSpPr/>
          <p:nvPr/>
        </p:nvSpPr>
        <p:spPr>
          <a:xfrm>
            <a:off x="548640" y="1920240"/>
            <a:ext cx="11155680" cy="4663440"/>
          </a:xfrm>
          <a:prstGeom prst="roundRect">
            <a:avLst>
              <a:gd name="adj" fmla="val 5000"/>
            </a:avLst>
          </a:prstGeom>
          <a:solidFill>
            <a:srgbClr val="1E1E30"/>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10789920" cy="4389120"/>
          </a:xfrm>
          <a:prstGeom prst="rect">
            <a:avLst/>
          </a:prstGeom>
          <a:noFill/>
        </p:spPr>
        <p:txBody>
          <a:bodyPr wrap="square">
            <a:spAutoFit/>
          </a:bodyPr>
          <a:lstStyle/>
          <a:p>
            <a:pPr>
              <a:spcAft>
                <a:spcPts val="200"/>
              </a:spcAft>
              <a:defRPr sz="1100">
                <a:solidFill>
                  <a:srgbClr val="00E696"/>
                </a:solidFill>
                <a:latin typeface="Consolas"/>
              </a:defRPr>
            </a:pPr>
            <a:r>
              <a:t># (1) 기본 시각화 — 너무 커서 거의 안 보임</a:t>
            </a:r>
          </a:p>
          <a:p>
            <a:pPr>
              <a:spcAft>
                <a:spcPts val="200"/>
              </a:spcAft>
              <a:defRPr sz="1100">
                <a:solidFill>
                  <a:srgbClr val="00E696"/>
                </a:solidFill>
                <a:latin typeface="Consolas"/>
              </a:defRPr>
            </a:pPr>
            <a:r>
              <a:t>from sklearn.tree import plot_tree</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plt.figure(figsize=(30, 15))      # 그래프 크기</a:t>
            </a:r>
          </a:p>
          <a:p>
            <a:pPr>
              <a:spcAft>
                <a:spcPts val="200"/>
              </a:spcAft>
              <a:defRPr sz="1100">
                <a:solidFill>
                  <a:srgbClr val="00E696"/>
                </a:solidFill>
                <a:latin typeface="Consolas"/>
              </a:defRPr>
            </a:pPr>
            <a:r>
              <a:t>plot_tree(model)                   # 트리 그래프</a:t>
            </a:r>
          </a:p>
          <a:p>
            <a:pPr>
              <a:spcAft>
                <a:spcPts val="200"/>
              </a:spcAft>
              <a:defRPr sz="1100">
                <a:solidFill>
                  <a:srgbClr val="00E696"/>
                </a:solidFill>
                <a:latin typeface="Consolas"/>
              </a:defRPr>
            </a:pPr>
            <a:r>
              <a:t>plt.show()                         # 출력</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(2) max_depth=3 으로 제한 + 폰트 크기 조정</a:t>
            </a:r>
          </a:p>
          <a:p>
            <a:pPr>
              <a:spcAft>
                <a:spcPts val="200"/>
              </a:spcAft>
              <a:defRPr sz="1100">
                <a:solidFill>
                  <a:srgbClr val="00E696"/>
                </a:solidFill>
                <a:latin typeface="Consolas"/>
              </a:defRPr>
            </a:pPr>
            <a:r>
              <a:t>plt.figure(figsize=(30, 15))</a:t>
            </a:r>
          </a:p>
          <a:p>
            <a:pPr>
              <a:spcAft>
                <a:spcPts val="200"/>
              </a:spcAft>
              <a:defRPr sz="1100">
                <a:solidFill>
                  <a:srgbClr val="00E696"/>
                </a:solidFill>
                <a:latin typeface="Consolas"/>
              </a:defRPr>
            </a:pPr>
            <a:r>
              <a:t>plot_tree(model,</a:t>
            </a:r>
          </a:p>
          <a:p>
            <a:pPr>
              <a:spcAft>
                <a:spcPts val="200"/>
              </a:spcAft>
              <a:defRPr sz="1100">
                <a:solidFill>
                  <a:srgbClr val="00E696"/>
                </a:solidFill>
                <a:latin typeface="Consolas"/>
              </a:defRPr>
            </a:pPr>
            <a:r>
              <a:t>          max_depth=3,             # 시각화 깊이 제한</a:t>
            </a:r>
          </a:p>
          <a:p>
            <a:pPr>
              <a:spcAft>
                <a:spcPts val="200"/>
              </a:spcAft>
              <a:defRPr sz="1100">
                <a:solidFill>
                  <a:srgbClr val="00E696"/>
                </a:solidFill>
                <a:latin typeface="Consolas"/>
              </a:defRPr>
            </a:pPr>
            <a:r>
              <a:t>          fontsize=15)             # 폰트 크기</a:t>
            </a:r>
          </a:p>
          <a:p>
            <a:pPr>
              <a:spcAft>
                <a:spcPts val="200"/>
              </a:spcAft>
              <a:defRPr sz="1100">
                <a:solidFill>
                  <a:srgbClr val="00E696"/>
                </a:solidFill>
                <a:latin typeface="Consolas"/>
              </a:defRPr>
            </a:pPr>
            <a:r>
              <a:t>plt.show()</a:t>
            </a:r>
          </a:p>
          <a:p>
            <a:pPr>
              <a:spcAft>
                <a:spcPts val="200"/>
              </a:spcAft>
              <a:defRPr sz="1100">
                <a:solidFill>
                  <a:srgbClr val="00E696"/>
                </a:solidFill>
                <a:latin typeface="Consolas"/>
              </a:defRPr>
            </a:pPr>
          </a:p>
          <a:p>
            <a:pPr>
              <a:spcAft>
                <a:spcPts val="200"/>
              </a:spcAft>
              <a:defRPr sz="1100">
                <a:solidFill>
                  <a:srgbClr val="00E696"/>
                </a:solidFill>
                <a:latin typeface="Consolas"/>
              </a:defRPr>
            </a:pPr>
            <a:r>
              <a:t># (3) 변수 이름 추가 — 가장 권장</a:t>
            </a:r>
          </a:p>
          <a:p>
            <a:pPr>
              <a:spcAft>
                <a:spcPts val="200"/>
              </a:spcAft>
              <a:defRPr sz="1100">
                <a:solidFill>
                  <a:srgbClr val="00E696"/>
                </a:solidFill>
                <a:latin typeface="Consolas"/>
              </a:defRPr>
            </a:pPr>
            <a:r>
              <a:t>plt.figure(figsize=(30, 15))</a:t>
            </a:r>
          </a:p>
          <a:p>
            <a:pPr>
              <a:spcAft>
                <a:spcPts val="200"/>
              </a:spcAft>
              <a:defRPr sz="1100">
                <a:solidFill>
                  <a:srgbClr val="00E696"/>
                </a:solidFill>
                <a:latin typeface="Consolas"/>
              </a:defRPr>
            </a:pPr>
            <a:r>
              <a:t>plot_tree(model,</a:t>
            </a:r>
          </a:p>
          <a:p>
            <a:pPr>
              <a:spcAft>
                <a:spcPts val="200"/>
              </a:spcAft>
              <a:defRPr sz="1100">
                <a:solidFill>
                  <a:srgbClr val="00E696"/>
                </a:solidFill>
                <a:latin typeface="Consolas"/>
              </a:defRPr>
            </a:pPr>
            <a:r>
              <a:t>          max_depth=3,</a:t>
            </a:r>
          </a:p>
          <a:p>
            <a:pPr>
              <a:spcAft>
                <a:spcPts val="200"/>
              </a:spcAft>
              <a:defRPr sz="1100">
                <a:solidFill>
                  <a:srgbClr val="00E696"/>
                </a:solidFill>
                <a:latin typeface="Consolas"/>
              </a:defRPr>
            </a:pPr>
            <a:r>
              <a:t>          fontsize=15,</a:t>
            </a:r>
          </a:p>
          <a:p>
            <a:pPr>
              <a:spcAft>
                <a:spcPts val="200"/>
              </a:spcAft>
              <a:defRPr sz="1100">
                <a:solidFill>
                  <a:srgbClr val="00E696"/>
                </a:solidFill>
                <a:latin typeface="Consolas"/>
              </a:defRPr>
            </a:pPr>
            <a:r>
              <a:t>          feature_names=X_train.columns)   # ★ 변수 이름</a:t>
            </a:r>
          </a:p>
          <a:p>
            <a:pPr>
              <a:spcAft>
                <a:spcPts val="200"/>
              </a:spcAft>
              <a:defRPr sz="1100">
                <a:solidFill>
                  <a:srgbClr val="00E696"/>
                </a:solidFill>
                <a:latin typeface="Consolas"/>
              </a:defRPr>
            </a:pPr>
            <a:r>
              <a:t>plt.show()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8.9 트리 그래프 해석 방법</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각 노드의 4가지 정보 — 분류 기준 / Gini / samples / value</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노드의 4요소</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① 분류 기준 (첫 줄)</a:t>
            </a:r>
          </a:p>
          <a:p>
            <a:pPr>
              <a:spcAft>
                <a:spcPts val="800"/>
              </a:spcAft>
              <a:defRPr sz="1400">
                <a:solidFill>
                  <a:srgbClr val="BBBBCC"/>
                </a:solidFill>
                <a:latin typeface="맑은 고딕"/>
              </a:defRPr>
            </a:pPr>
            <a:r>
              <a:t>   예) marital-status_Married-civ-spouse ≤ 0.5</a:t>
            </a:r>
          </a:p>
          <a:p>
            <a:pPr>
              <a:spcAft>
                <a:spcPts val="800"/>
              </a:spcAft>
              <a:defRPr sz="1400">
                <a:solidFill>
                  <a:srgbClr val="BBBBCC"/>
                </a:solidFill>
                <a:latin typeface="맑은 고딕"/>
              </a:defRPr>
            </a:pPr>
            <a:r>
              <a:t>② 지니 인덱스 (gini=0.36)</a:t>
            </a:r>
          </a:p>
          <a:p>
            <a:pPr>
              <a:spcAft>
                <a:spcPts val="800"/>
              </a:spcAft>
              <a:defRPr sz="1400">
                <a:solidFill>
                  <a:srgbClr val="BBBBCC"/>
                </a:solidFill>
                <a:latin typeface="맑은 고딕"/>
              </a:defRPr>
            </a:pPr>
            <a:r>
              <a:t>   노드의 순도 (낮을수록 좋음)</a:t>
            </a:r>
          </a:p>
          <a:p>
            <a:pPr>
              <a:spcAft>
                <a:spcPts val="800"/>
              </a:spcAft>
              <a:defRPr sz="1400">
                <a:solidFill>
                  <a:srgbClr val="BBBBCC"/>
                </a:solidFill>
                <a:latin typeface="맑은 고딕"/>
              </a:defRPr>
            </a:pPr>
            <a:r>
              <a:t>③ 샘플 수 (samples=29304)</a:t>
            </a:r>
          </a:p>
          <a:p>
            <a:pPr>
              <a:spcAft>
                <a:spcPts val="800"/>
              </a:spcAft>
              <a:defRPr sz="1400">
                <a:solidFill>
                  <a:srgbClr val="BBBBCC"/>
                </a:solidFill>
                <a:latin typeface="맑은 고딕"/>
              </a:defRPr>
            </a:pPr>
            <a:r>
              <a:t>   해당 노드에 들어 있는 데이터 수</a:t>
            </a:r>
          </a:p>
          <a:p>
            <a:pPr>
              <a:spcAft>
                <a:spcPts val="800"/>
              </a:spcAft>
              <a:defRPr sz="1400">
                <a:solidFill>
                  <a:srgbClr val="BBBBCC"/>
                </a:solidFill>
                <a:latin typeface="맑은 고딕"/>
              </a:defRPr>
            </a:pPr>
            <a:r>
              <a:t>④ value (목푯값 분포)</a:t>
            </a:r>
          </a:p>
          <a:p>
            <a:pPr>
              <a:spcAft>
                <a:spcPts val="800"/>
              </a:spcAft>
              <a:defRPr sz="1400">
                <a:solidFill>
                  <a:srgbClr val="BBBBCC"/>
                </a:solidFill>
                <a:latin typeface="맑은 고딕"/>
              </a:defRPr>
            </a:pPr>
            <a:r>
              <a:t>   value=[22158, 7146]  (0이 22158개, 1이 7146개)</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분기 규칙 + 해석 예</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조건이 True → 왼쪽</a:t>
            </a:r>
          </a:p>
          <a:p>
            <a:pPr>
              <a:spcAft>
                <a:spcPts val="800"/>
              </a:spcAft>
              <a:defRPr sz="1400">
                <a:solidFill>
                  <a:srgbClr val="BBBBCC"/>
                </a:solidFill>
                <a:latin typeface="맑은 고딕"/>
              </a:defRPr>
            </a:pPr>
            <a:r>
              <a:t>조건이 False → 오른쪽</a:t>
            </a:r>
          </a:p>
          <a:p>
            <a:pPr>
              <a:spcAft>
                <a:spcPts val="800"/>
              </a:spcAft>
              <a:defRPr sz="1400">
                <a:solidFill>
                  <a:srgbClr val="BBBBCC"/>
                </a:solidFill>
                <a:latin typeface="맑은 고딕"/>
              </a:defRPr>
            </a:pPr>
          </a:p>
          <a:p>
            <a:pPr>
              <a:spcAft>
                <a:spcPts val="800"/>
              </a:spcAft>
              <a:defRPr sz="1400">
                <a:solidFill>
                  <a:srgbClr val="BBBBCC"/>
                </a:solidFill>
                <a:latin typeface="맑은 고딕"/>
              </a:defRPr>
            </a:pPr>
            <a:r>
              <a:t>【해석 예】</a:t>
            </a:r>
          </a:p>
          <a:p>
            <a:pPr>
              <a:spcAft>
                <a:spcPts val="800"/>
              </a:spcAft>
              <a:defRPr sz="1400">
                <a:solidFill>
                  <a:srgbClr val="BBBBCC"/>
                </a:solidFill>
                <a:latin typeface="맑은 고딕"/>
              </a:defRPr>
            </a:pPr>
            <a:r>
              <a:t>루트: marital_Married-civ-spouse ≤ 0.5</a:t>
            </a:r>
          </a:p>
          <a:p>
            <a:pPr>
              <a:spcAft>
                <a:spcPts val="800"/>
              </a:spcAft>
              <a:defRPr sz="1400">
                <a:solidFill>
                  <a:srgbClr val="BBBBCC"/>
                </a:solidFill>
                <a:latin typeface="맑은 고딕"/>
              </a:defRPr>
            </a:pPr>
            <a:r>
              <a:t>   → 혼인 상태가 가장 중요한 분할 변수</a:t>
            </a:r>
          </a:p>
          <a:p>
            <a:pPr>
              <a:spcAft>
                <a:spcPts val="800"/>
              </a:spcAft>
              <a:defRPr sz="1400">
                <a:solidFill>
                  <a:srgbClr val="BBBBCC"/>
                </a:solidFill>
                <a:latin typeface="맑은 고딕"/>
              </a:defRPr>
            </a:pPr>
            <a:r>
              <a:t>두 번째 노드 Gini=0.12로 급감</a:t>
            </a:r>
          </a:p>
          <a:p>
            <a:pPr>
              <a:spcAft>
                <a:spcPts val="800"/>
              </a:spcAft>
              <a:defRPr sz="1400">
                <a:solidFill>
                  <a:srgbClr val="BBBBCC"/>
                </a:solidFill>
                <a:latin typeface="맑은 고딕"/>
              </a:defRPr>
            </a:pPr>
            <a:r>
              <a:t>   → value를 보면 0(저소득)이 압도적</a:t>
            </a:r>
          </a:p>
          <a:p>
            <a:pPr>
              <a:spcAft>
                <a:spcPts val="800"/>
              </a:spcAft>
              <a:defRPr sz="1400">
                <a:solidFill>
                  <a:srgbClr val="BBBBCC"/>
                </a:solidFill>
                <a:latin typeface="맑은 고딕"/>
              </a:defRPr>
            </a:pPr>
            <a:r>
              <a:t>   → 미혼·이혼은 저소득 가능성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학습 마무리 — 8장 전체 흐름 정리</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문제 정의부터 트리 그래프까지 — 한눈에 보기</a:t>
            </a:r>
          </a:p>
        </p:txBody>
      </p:sp>
      <p:sp>
        <p:nvSpPr>
          <p:cNvPr id="5" name="Rectangle 4"/>
          <p:cNvSpPr/>
          <p:nvPr/>
        </p:nvSpPr>
        <p:spPr>
          <a:xfrm>
            <a:off x="548640" y="2011680"/>
            <a:ext cx="228599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2285999" cy="411480"/>
          </a:xfrm>
          <a:prstGeom prst="rect">
            <a:avLst/>
          </a:prstGeom>
          <a:noFill/>
        </p:spPr>
        <p:txBody>
          <a:bodyPr wrap="square">
            <a:spAutoFit/>
          </a:bodyPr>
          <a:lstStyle/>
          <a:p>
            <a:pPr algn="ctr">
              <a:defRPr sz="1300" b="1">
                <a:solidFill>
                  <a:srgbClr val="FFFFFF"/>
                </a:solidFill>
                <a:latin typeface="맑은 고딕"/>
              </a:defRPr>
            </a:pPr>
            <a:r>
              <a:t>단계</a:t>
            </a:r>
          </a:p>
        </p:txBody>
      </p:sp>
      <p:sp>
        <p:nvSpPr>
          <p:cNvPr id="7" name="Rectangle 6"/>
          <p:cNvSpPr/>
          <p:nvPr/>
        </p:nvSpPr>
        <p:spPr>
          <a:xfrm>
            <a:off x="2834639" y="2011680"/>
            <a:ext cx="73151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39" y="2011680"/>
            <a:ext cx="731519" cy="411480"/>
          </a:xfrm>
          <a:prstGeom prst="rect">
            <a:avLst/>
          </a:prstGeom>
          <a:noFill/>
        </p:spPr>
        <p:txBody>
          <a:bodyPr wrap="square">
            <a:spAutoFit/>
          </a:bodyPr>
          <a:lstStyle/>
          <a:p>
            <a:pPr algn="ctr">
              <a:defRPr sz="1300" b="1">
                <a:solidFill>
                  <a:srgbClr val="FFFFFF"/>
                </a:solidFill>
                <a:latin typeface="맑은 고딕"/>
              </a:defRPr>
            </a:pPr>
            <a:r>
              <a:t>절</a:t>
            </a:r>
          </a:p>
        </p:txBody>
      </p:sp>
      <p:sp>
        <p:nvSpPr>
          <p:cNvPr id="9" name="Rectangle 8"/>
          <p:cNvSpPr/>
          <p:nvPr/>
        </p:nvSpPr>
        <p:spPr>
          <a:xfrm>
            <a:off x="3566158" y="2011680"/>
            <a:ext cx="8138159"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58" y="2011680"/>
            <a:ext cx="8138159" cy="411480"/>
          </a:xfrm>
          <a:prstGeom prst="rect">
            <a:avLst/>
          </a:prstGeom>
          <a:noFill/>
        </p:spPr>
        <p:txBody>
          <a:bodyPr wrap="square">
            <a:spAutoFit/>
          </a:bodyPr>
          <a:lstStyle/>
          <a:p>
            <a:pPr algn="ctr">
              <a:defRPr sz="1300" b="1">
                <a:solidFill>
                  <a:srgbClr val="FFFFFF"/>
                </a:solidFill>
                <a:latin typeface="맑은 고딕"/>
              </a:defRPr>
            </a:pPr>
            <a:r>
              <a:t>핵심 작업</a:t>
            </a:r>
          </a:p>
        </p:txBody>
      </p:sp>
      <p:sp>
        <p:nvSpPr>
          <p:cNvPr id="11" name="Rectangle 10"/>
          <p:cNvSpPr/>
          <p:nvPr/>
        </p:nvSpPr>
        <p:spPr>
          <a:xfrm>
            <a:off x="548640" y="2423160"/>
            <a:ext cx="228599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23160"/>
            <a:ext cx="2194559" cy="462280"/>
          </a:xfrm>
          <a:prstGeom prst="rect">
            <a:avLst/>
          </a:prstGeom>
          <a:noFill/>
        </p:spPr>
        <p:txBody>
          <a:bodyPr wrap="square">
            <a:spAutoFit/>
          </a:bodyPr>
          <a:lstStyle/>
          <a:p>
            <a:pPr algn="ctr">
              <a:defRPr sz="1200" b="1">
                <a:solidFill>
                  <a:srgbClr val="00D2FF"/>
                </a:solidFill>
                <a:latin typeface="맑은 고딕"/>
              </a:defRPr>
            </a:pPr>
            <a:r>
              <a:t>1. 문제 정의</a:t>
            </a:r>
          </a:p>
        </p:txBody>
      </p:sp>
      <p:sp>
        <p:nvSpPr>
          <p:cNvPr id="13" name="Rectangle 12"/>
          <p:cNvSpPr/>
          <p:nvPr/>
        </p:nvSpPr>
        <p:spPr>
          <a:xfrm>
            <a:off x="2834639" y="2423160"/>
            <a:ext cx="73151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0359" y="2423160"/>
            <a:ext cx="640080" cy="462280"/>
          </a:xfrm>
          <a:prstGeom prst="rect">
            <a:avLst/>
          </a:prstGeom>
          <a:noFill/>
        </p:spPr>
        <p:txBody>
          <a:bodyPr wrap="square">
            <a:spAutoFit/>
          </a:bodyPr>
          <a:lstStyle/>
          <a:p>
            <a:pPr algn="ctr">
              <a:defRPr sz="1200" b="0">
                <a:solidFill>
                  <a:srgbClr val="BBBBCC"/>
                </a:solidFill>
                <a:latin typeface="맑은 고딕"/>
              </a:defRPr>
            </a:pPr>
            <a:r>
              <a:t>8.1</a:t>
            </a:r>
          </a:p>
        </p:txBody>
      </p:sp>
      <p:sp>
        <p:nvSpPr>
          <p:cNvPr id="15" name="Rectangle 14"/>
          <p:cNvSpPr/>
          <p:nvPr/>
        </p:nvSpPr>
        <p:spPr>
          <a:xfrm>
            <a:off x="3566158" y="2423160"/>
            <a:ext cx="813815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78" y="2423160"/>
            <a:ext cx="8046719" cy="462280"/>
          </a:xfrm>
          <a:prstGeom prst="rect">
            <a:avLst/>
          </a:prstGeom>
          <a:noFill/>
        </p:spPr>
        <p:txBody>
          <a:bodyPr wrap="square">
            <a:spAutoFit/>
          </a:bodyPr>
          <a:lstStyle/>
          <a:p>
            <a:pPr algn="ctr">
              <a:defRPr sz="1200" b="0">
                <a:solidFill>
                  <a:srgbClr val="BBBBCC"/>
                </a:solidFill>
                <a:latin typeface="맑은 고딕"/>
              </a:defRPr>
            </a:pPr>
            <a:r>
              <a:t>연봉 50K 초과 예측 / 13개 변수 / 분류 / 정확도</a:t>
            </a:r>
          </a:p>
        </p:txBody>
      </p:sp>
      <p:sp>
        <p:nvSpPr>
          <p:cNvPr id="17" name="Rectangle 16"/>
          <p:cNvSpPr/>
          <p:nvPr/>
        </p:nvSpPr>
        <p:spPr>
          <a:xfrm>
            <a:off x="548640" y="2885440"/>
            <a:ext cx="228599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885440"/>
            <a:ext cx="2194559" cy="462280"/>
          </a:xfrm>
          <a:prstGeom prst="rect">
            <a:avLst/>
          </a:prstGeom>
          <a:noFill/>
        </p:spPr>
        <p:txBody>
          <a:bodyPr wrap="square">
            <a:spAutoFit/>
          </a:bodyPr>
          <a:lstStyle/>
          <a:p>
            <a:pPr algn="ctr">
              <a:defRPr sz="1200" b="1">
                <a:solidFill>
                  <a:srgbClr val="00D2FF"/>
                </a:solidFill>
                <a:latin typeface="맑은 고딕"/>
              </a:defRPr>
            </a:pPr>
            <a:r>
              <a:t>2. 데이터 로딩</a:t>
            </a:r>
          </a:p>
        </p:txBody>
      </p:sp>
      <p:sp>
        <p:nvSpPr>
          <p:cNvPr id="19" name="Rectangle 18"/>
          <p:cNvSpPr/>
          <p:nvPr/>
        </p:nvSpPr>
        <p:spPr>
          <a:xfrm>
            <a:off x="2834639" y="2885440"/>
            <a:ext cx="73151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80359" y="2885440"/>
            <a:ext cx="640080" cy="462280"/>
          </a:xfrm>
          <a:prstGeom prst="rect">
            <a:avLst/>
          </a:prstGeom>
          <a:noFill/>
        </p:spPr>
        <p:txBody>
          <a:bodyPr wrap="square">
            <a:spAutoFit/>
          </a:bodyPr>
          <a:lstStyle/>
          <a:p>
            <a:pPr algn="ctr">
              <a:defRPr sz="1200" b="0">
                <a:solidFill>
                  <a:srgbClr val="BBBBCC"/>
                </a:solidFill>
                <a:latin typeface="맑은 고딕"/>
              </a:defRPr>
            </a:pPr>
            <a:r>
              <a:t>8.2</a:t>
            </a:r>
          </a:p>
        </p:txBody>
      </p:sp>
      <p:sp>
        <p:nvSpPr>
          <p:cNvPr id="21" name="Rectangle 20"/>
          <p:cNvSpPr/>
          <p:nvPr/>
        </p:nvSpPr>
        <p:spPr>
          <a:xfrm>
            <a:off x="3566158" y="2885440"/>
            <a:ext cx="813815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78" y="2885440"/>
            <a:ext cx="8046719" cy="462280"/>
          </a:xfrm>
          <a:prstGeom prst="rect">
            <a:avLst/>
          </a:prstGeom>
          <a:noFill/>
        </p:spPr>
        <p:txBody>
          <a:bodyPr wrap="square">
            <a:spAutoFit/>
          </a:bodyPr>
          <a:lstStyle/>
          <a:p>
            <a:pPr algn="ctr">
              <a:defRPr sz="1200" b="0">
                <a:solidFill>
                  <a:srgbClr val="BBBBCC"/>
                </a:solidFill>
                <a:latin typeface="맑은 고딕"/>
              </a:defRPr>
            </a:pPr>
            <a:r>
              <a:t>pd.read_csv(skipinitialspace=True) + head/info/describe</a:t>
            </a:r>
          </a:p>
        </p:txBody>
      </p:sp>
      <p:sp>
        <p:nvSpPr>
          <p:cNvPr id="23" name="Rectangle 22"/>
          <p:cNvSpPr/>
          <p:nvPr/>
        </p:nvSpPr>
        <p:spPr>
          <a:xfrm>
            <a:off x="548640" y="3347720"/>
            <a:ext cx="228599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347720"/>
            <a:ext cx="2194559" cy="462280"/>
          </a:xfrm>
          <a:prstGeom prst="rect">
            <a:avLst/>
          </a:prstGeom>
          <a:noFill/>
        </p:spPr>
        <p:txBody>
          <a:bodyPr wrap="square">
            <a:spAutoFit/>
          </a:bodyPr>
          <a:lstStyle/>
          <a:p>
            <a:pPr algn="ctr">
              <a:defRPr sz="1200" b="1">
                <a:solidFill>
                  <a:srgbClr val="00D2FF"/>
                </a:solidFill>
                <a:latin typeface="맑은 고딕"/>
              </a:defRPr>
            </a:pPr>
            <a:r>
              <a:t>3. 범주형 전처리</a:t>
            </a:r>
          </a:p>
        </p:txBody>
      </p:sp>
      <p:sp>
        <p:nvSpPr>
          <p:cNvPr id="25" name="Rectangle 24"/>
          <p:cNvSpPr/>
          <p:nvPr/>
        </p:nvSpPr>
        <p:spPr>
          <a:xfrm>
            <a:off x="2834639" y="3347720"/>
            <a:ext cx="73151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59" y="3347720"/>
            <a:ext cx="640080" cy="462280"/>
          </a:xfrm>
          <a:prstGeom prst="rect">
            <a:avLst/>
          </a:prstGeom>
          <a:noFill/>
        </p:spPr>
        <p:txBody>
          <a:bodyPr wrap="square">
            <a:spAutoFit/>
          </a:bodyPr>
          <a:lstStyle/>
          <a:p>
            <a:pPr algn="ctr">
              <a:defRPr sz="1200" b="0">
                <a:solidFill>
                  <a:srgbClr val="BBBBCC"/>
                </a:solidFill>
                <a:latin typeface="맑은 고딕"/>
              </a:defRPr>
            </a:pPr>
            <a:r>
              <a:t>8.3</a:t>
            </a:r>
          </a:p>
        </p:txBody>
      </p:sp>
      <p:sp>
        <p:nvSpPr>
          <p:cNvPr id="27" name="Rectangle 26"/>
          <p:cNvSpPr/>
          <p:nvPr/>
        </p:nvSpPr>
        <p:spPr>
          <a:xfrm>
            <a:off x="3566158" y="3347720"/>
            <a:ext cx="813815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1878" y="3347720"/>
            <a:ext cx="8046719" cy="462280"/>
          </a:xfrm>
          <a:prstGeom prst="rect">
            <a:avLst/>
          </a:prstGeom>
          <a:noFill/>
        </p:spPr>
        <p:txBody>
          <a:bodyPr wrap="square">
            <a:spAutoFit/>
          </a:bodyPr>
          <a:lstStyle/>
          <a:p>
            <a:pPr algn="ctr">
              <a:defRPr sz="1200" b="0">
                <a:solidFill>
                  <a:srgbClr val="BBBBCC"/>
                </a:solidFill>
                <a:latin typeface="맑은 고딕"/>
              </a:defRPr>
            </a:pPr>
            <a:r>
              <a:t>class 0/1 변환 + education drop + native-country 평균값 치환</a:t>
            </a:r>
          </a:p>
        </p:txBody>
      </p:sp>
      <p:sp>
        <p:nvSpPr>
          <p:cNvPr id="29" name="Rectangle 28"/>
          <p:cNvSpPr/>
          <p:nvPr/>
        </p:nvSpPr>
        <p:spPr>
          <a:xfrm>
            <a:off x="548640" y="3810000"/>
            <a:ext cx="228599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810000"/>
            <a:ext cx="2194559" cy="462280"/>
          </a:xfrm>
          <a:prstGeom prst="rect">
            <a:avLst/>
          </a:prstGeom>
          <a:noFill/>
        </p:spPr>
        <p:txBody>
          <a:bodyPr wrap="square">
            <a:spAutoFit/>
          </a:bodyPr>
          <a:lstStyle/>
          <a:p>
            <a:pPr algn="ctr">
              <a:defRPr sz="1200" b="1">
                <a:solidFill>
                  <a:srgbClr val="00D2FF"/>
                </a:solidFill>
                <a:latin typeface="맑은 고딕"/>
              </a:defRPr>
            </a:pPr>
            <a:r>
              <a:t>4. 결측치+더미</a:t>
            </a:r>
          </a:p>
        </p:txBody>
      </p:sp>
      <p:sp>
        <p:nvSpPr>
          <p:cNvPr id="31" name="Rectangle 30"/>
          <p:cNvSpPr/>
          <p:nvPr/>
        </p:nvSpPr>
        <p:spPr>
          <a:xfrm>
            <a:off x="2834639" y="3810000"/>
            <a:ext cx="73151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80359" y="3810000"/>
            <a:ext cx="640080" cy="462280"/>
          </a:xfrm>
          <a:prstGeom prst="rect">
            <a:avLst/>
          </a:prstGeom>
          <a:noFill/>
        </p:spPr>
        <p:txBody>
          <a:bodyPr wrap="square">
            <a:spAutoFit/>
          </a:bodyPr>
          <a:lstStyle/>
          <a:p>
            <a:pPr algn="ctr">
              <a:defRPr sz="1200" b="0">
                <a:solidFill>
                  <a:srgbClr val="BBBBCC"/>
                </a:solidFill>
                <a:latin typeface="맑은 고딕"/>
              </a:defRPr>
            </a:pPr>
            <a:r>
              <a:t>8.4</a:t>
            </a:r>
          </a:p>
        </p:txBody>
      </p:sp>
      <p:sp>
        <p:nvSpPr>
          <p:cNvPr id="33" name="Rectangle 32"/>
          <p:cNvSpPr/>
          <p:nvPr/>
        </p:nvSpPr>
        <p:spPr>
          <a:xfrm>
            <a:off x="3566158" y="3810000"/>
            <a:ext cx="813815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11878" y="3810000"/>
            <a:ext cx="8046719" cy="462280"/>
          </a:xfrm>
          <a:prstGeom prst="rect">
            <a:avLst/>
          </a:prstGeom>
          <a:noFill/>
        </p:spPr>
        <p:txBody>
          <a:bodyPr wrap="square">
            <a:spAutoFit/>
          </a:bodyPr>
          <a:lstStyle/>
          <a:p>
            <a:pPr algn="ctr">
              <a:defRPr sz="1200" b="0">
                <a:solidFill>
                  <a:srgbClr val="BBBBCC"/>
                </a:solidFill>
                <a:latin typeface="맑은 고딕"/>
              </a:defRPr>
            </a:pPr>
            <a:r>
              <a:t>fillna 3종 + pd.get_dummies(drop_first=True)</a:t>
            </a:r>
          </a:p>
        </p:txBody>
      </p:sp>
      <p:sp>
        <p:nvSpPr>
          <p:cNvPr id="35" name="Rectangle 34"/>
          <p:cNvSpPr/>
          <p:nvPr/>
        </p:nvSpPr>
        <p:spPr>
          <a:xfrm>
            <a:off x="548640" y="4272280"/>
            <a:ext cx="228599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272280"/>
            <a:ext cx="2194559" cy="462280"/>
          </a:xfrm>
          <a:prstGeom prst="rect">
            <a:avLst/>
          </a:prstGeom>
          <a:noFill/>
        </p:spPr>
        <p:txBody>
          <a:bodyPr wrap="square">
            <a:spAutoFit/>
          </a:bodyPr>
          <a:lstStyle/>
          <a:p>
            <a:pPr algn="ctr">
              <a:defRPr sz="1200" b="1">
                <a:solidFill>
                  <a:srgbClr val="00D2FF"/>
                </a:solidFill>
                <a:latin typeface="맑은 고딕"/>
              </a:defRPr>
            </a:pPr>
            <a:r>
              <a:t>5. 모델링</a:t>
            </a:r>
          </a:p>
        </p:txBody>
      </p:sp>
      <p:sp>
        <p:nvSpPr>
          <p:cNvPr id="37" name="Rectangle 36"/>
          <p:cNvSpPr/>
          <p:nvPr/>
        </p:nvSpPr>
        <p:spPr>
          <a:xfrm>
            <a:off x="2834639" y="4272280"/>
            <a:ext cx="73151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59" y="4272280"/>
            <a:ext cx="640080" cy="462280"/>
          </a:xfrm>
          <a:prstGeom prst="rect">
            <a:avLst/>
          </a:prstGeom>
          <a:noFill/>
        </p:spPr>
        <p:txBody>
          <a:bodyPr wrap="square">
            <a:spAutoFit/>
          </a:bodyPr>
          <a:lstStyle/>
          <a:p>
            <a:pPr algn="ctr">
              <a:defRPr sz="1200" b="0">
                <a:solidFill>
                  <a:srgbClr val="BBBBCC"/>
                </a:solidFill>
                <a:latin typeface="맑은 고딕"/>
              </a:defRPr>
            </a:pPr>
            <a:r>
              <a:t>8.5</a:t>
            </a:r>
          </a:p>
        </p:txBody>
      </p:sp>
      <p:sp>
        <p:nvSpPr>
          <p:cNvPr id="39" name="Rectangle 38"/>
          <p:cNvSpPr/>
          <p:nvPr/>
        </p:nvSpPr>
        <p:spPr>
          <a:xfrm>
            <a:off x="3566158" y="4272280"/>
            <a:ext cx="813815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11878" y="4272280"/>
            <a:ext cx="8046719" cy="462280"/>
          </a:xfrm>
          <a:prstGeom prst="rect">
            <a:avLst/>
          </a:prstGeom>
          <a:noFill/>
        </p:spPr>
        <p:txBody>
          <a:bodyPr wrap="square">
            <a:spAutoFit/>
          </a:bodyPr>
          <a:lstStyle/>
          <a:p>
            <a:pPr algn="ctr">
              <a:defRPr sz="1200" b="0">
                <a:solidFill>
                  <a:srgbClr val="BBBBCC"/>
                </a:solidFill>
                <a:latin typeface="맑은 고딕"/>
              </a:defRPr>
            </a:pPr>
            <a:r>
              <a:t>train_test_split + DecisionTreeClassifier → 81%</a:t>
            </a:r>
          </a:p>
        </p:txBody>
      </p:sp>
      <p:sp>
        <p:nvSpPr>
          <p:cNvPr id="41" name="Rectangle 40"/>
          <p:cNvSpPr/>
          <p:nvPr/>
        </p:nvSpPr>
        <p:spPr>
          <a:xfrm>
            <a:off x="548640" y="4734560"/>
            <a:ext cx="228599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4734560"/>
            <a:ext cx="2194559" cy="462280"/>
          </a:xfrm>
          <a:prstGeom prst="rect">
            <a:avLst/>
          </a:prstGeom>
          <a:noFill/>
        </p:spPr>
        <p:txBody>
          <a:bodyPr wrap="square">
            <a:spAutoFit/>
          </a:bodyPr>
          <a:lstStyle/>
          <a:p>
            <a:pPr algn="ctr">
              <a:defRPr sz="1200" b="1">
                <a:solidFill>
                  <a:srgbClr val="00D2FF"/>
                </a:solidFill>
                <a:latin typeface="맑은 고딕"/>
              </a:defRPr>
            </a:pPr>
            <a:r>
              <a:t>6. 이해</a:t>
            </a:r>
          </a:p>
        </p:txBody>
      </p:sp>
      <p:sp>
        <p:nvSpPr>
          <p:cNvPr id="43" name="Rectangle 42"/>
          <p:cNvSpPr/>
          <p:nvPr/>
        </p:nvSpPr>
        <p:spPr>
          <a:xfrm>
            <a:off x="2834639" y="4734560"/>
            <a:ext cx="73151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80359" y="4734560"/>
            <a:ext cx="640080" cy="462280"/>
          </a:xfrm>
          <a:prstGeom prst="rect">
            <a:avLst/>
          </a:prstGeom>
          <a:noFill/>
        </p:spPr>
        <p:txBody>
          <a:bodyPr wrap="square">
            <a:spAutoFit/>
          </a:bodyPr>
          <a:lstStyle/>
          <a:p>
            <a:pPr algn="ctr">
              <a:defRPr sz="1200" b="0">
                <a:solidFill>
                  <a:srgbClr val="BBBBCC"/>
                </a:solidFill>
                <a:latin typeface="맑은 고딕"/>
              </a:defRPr>
            </a:pPr>
            <a:r>
              <a:t>8.6</a:t>
            </a:r>
          </a:p>
        </p:txBody>
      </p:sp>
      <p:sp>
        <p:nvSpPr>
          <p:cNvPr id="45" name="Rectangle 44"/>
          <p:cNvSpPr/>
          <p:nvPr/>
        </p:nvSpPr>
        <p:spPr>
          <a:xfrm>
            <a:off x="3566158" y="4734560"/>
            <a:ext cx="813815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11878" y="4734560"/>
            <a:ext cx="8046719" cy="462280"/>
          </a:xfrm>
          <a:prstGeom prst="rect">
            <a:avLst/>
          </a:prstGeom>
          <a:noFill/>
        </p:spPr>
        <p:txBody>
          <a:bodyPr wrap="square">
            <a:spAutoFit/>
          </a:bodyPr>
          <a:lstStyle/>
          <a:p>
            <a:pPr algn="ctr">
              <a:defRPr sz="1200" b="0">
                <a:solidFill>
                  <a:srgbClr val="BBBBCC"/>
                </a:solidFill>
                <a:latin typeface="맑은 고딕"/>
              </a:defRPr>
            </a:pPr>
            <a:r>
              <a:t>지니 인덱스 + 교차 엔트로피 + MSE</a:t>
            </a:r>
          </a:p>
        </p:txBody>
      </p:sp>
      <p:sp>
        <p:nvSpPr>
          <p:cNvPr id="47" name="Rectangle 46"/>
          <p:cNvSpPr/>
          <p:nvPr/>
        </p:nvSpPr>
        <p:spPr>
          <a:xfrm>
            <a:off x="548640" y="5196840"/>
            <a:ext cx="228599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5196840"/>
            <a:ext cx="2194559" cy="462280"/>
          </a:xfrm>
          <a:prstGeom prst="rect">
            <a:avLst/>
          </a:prstGeom>
          <a:noFill/>
        </p:spPr>
        <p:txBody>
          <a:bodyPr wrap="square">
            <a:spAutoFit/>
          </a:bodyPr>
          <a:lstStyle/>
          <a:p>
            <a:pPr algn="ctr">
              <a:defRPr sz="1200" b="1">
                <a:solidFill>
                  <a:srgbClr val="00D2FF"/>
                </a:solidFill>
                <a:latin typeface="맑은 고딕"/>
              </a:defRPr>
            </a:pPr>
            <a:r>
              <a:t>7. 오버피팅</a:t>
            </a:r>
          </a:p>
        </p:txBody>
      </p:sp>
      <p:sp>
        <p:nvSpPr>
          <p:cNvPr id="49" name="Rectangle 48"/>
          <p:cNvSpPr/>
          <p:nvPr/>
        </p:nvSpPr>
        <p:spPr>
          <a:xfrm>
            <a:off x="2834639" y="5196840"/>
            <a:ext cx="73151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80359" y="5196840"/>
            <a:ext cx="640080" cy="462280"/>
          </a:xfrm>
          <a:prstGeom prst="rect">
            <a:avLst/>
          </a:prstGeom>
          <a:noFill/>
        </p:spPr>
        <p:txBody>
          <a:bodyPr wrap="square">
            <a:spAutoFit/>
          </a:bodyPr>
          <a:lstStyle/>
          <a:p>
            <a:pPr algn="ctr">
              <a:defRPr sz="1200" b="0">
                <a:solidFill>
                  <a:srgbClr val="BBBBCC"/>
                </a:solidFill>
                <a:latin typeface="맑은 고딕"/>
              </a:defRPr>
            </a:pPr>
            <a:r>
              <a:t>8.7</a:t>
            </a:r>
          </a:p>
        </p:txBody>
      </p:sp>
      <p:sp>
        <p:nvSpPr>
          <p:cNvPr id="51" name="Rectangle 50"/>
          <p:cNvSpPr/>
          <p:nvPr/>
        </p:nvSpPr>
        <p:spPr>
          <a:xfrm>
            <a:off x="3566158" y="5196840"/>
            <a:ext cx="813815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11878" y="5196840"/>
            <a:ext cx="8046719" cy="462280"/>
          </a:xfrm>
          <a:prstGeom prst="rect">
            <a:avLst/>
          </a:prstGeom>
          <a:noFill/>
        </p:spPr>
        <p:txBody>
          <a:bodyPr wrap="square">
            <a:spAutoFit/>
          </a:bodyPr>
          <a:lstStyle/>
          <a:p>
            <a:pPr algn="ctr">
              <a:defRPr sz="1200" b="0">
                <a:solidFill>
                  <a:srgbClr val="BBBBCC"/>
                </a:solidFill>
                <a:latin typeface="맑은 고딕"/>
              </a:defRPr>
            </a:pPr>
            <a:r>
              <a:t>Train(0.978) vs Test(0.815) 격차 16% → 진단</a:t>
            </a:r>
          </a:p>
        </p:txBody>
      </p:sp>
      <p:sp>
        <p:nvSpPr>
          <p:cNvPr id="53" name="Rectangle 52"/>
          <p:cNvSpPr/>
          <p:nvPr/>
        </p:nvSpPr>
        <p:spPr>
          <a:xfrm>
            <a:off x="548640" y="5659120"/>
            <a:ext cx="228599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5659120"/>
            <a:ext cx="2194559" cy="462280"/>
          </a:xfrm>
          <a:prstGeom prst="rect">
            <a:avLst/>
          </a:prstGeom>
          <a:noFill/>
        </p:spPr>
        <p:txBody>
          <a:bodyPr wrap="square">
            <a:spAutoFit/>
          </a:bodyPr>
          <a:lstStyle/>
          <a:p>
            <a:pPr algn="ctr">
              <a:defRPr sz="1200" b="1">
                <a:solidFill>
                  <a:srgbClr val="00D2FF"/>
                </a:solidFill>
                <a:latin typeface="맑은 고딕"/>
              </a:defRPr>
            </a:pPr>
            <a:r>
              <a:t>8. 튜닝</a:t>
            </a:r>
          </a:p>
        </p:txBody>
      </p:sp>
      <p:sp>
        <p:nvSpPr>
          <p:cNvPr id="55" name="Rectangle 54"/>
          <p:cNvSpPr/>
          <p:nvPr/>
        </p:nvSpPr>
        <p:spPr>
          <a:xfrm>
            <a:off x="2834639" y="5659120"/>
            <a:ext cx="73151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80359" y="5659120"/>
            <a:ext cx="640080" cy="462280"/>
          </a:xfrm>
          <a:prstGeom prst="rect">
            <a:avLst/>
          </a:prstGeom>
          <a:noFill/>
        </p:spPr>
        <p:txBody>
          <a:bodyPr wrap="square">
            <a:spAutoFit/>
          </a:bodyPr>
          <a:lstStyle/>
          <a:p>
            <a:pPr algn="ctr">
              <a:defRPr sz="1200" b="0">
                <a:solidFill>
                  <a:srgbClr val="BBBBCC"/>
                </a:solidFill>
                <a:latin typeface="맑은 고딕"/>
              </a:defRPr>
            </a:pPr>
            <a:r>
              <a:t>8.8</a:t>
            </a:r>
          </a:p>
        </p:txBody>
      </p:sp>
      <p:sp>
        <p:nvSpPr>
          <p:cNvPr id="57" name="Rectangle 56"/>
          <p:cNvSpPr/>
          <p:nvPr/>
        </p:nvSpPr>
        <p:spPr>
          <a:xfrm>
            <a:off x="3566158" y="5659120"/>
            <a:ext cx="8138159" cy="46228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1878" y="5659120"/>
            <a:ext cx="8046719" cy="462280"/>
          </a:xfrm>
          <a:prstGeom prst="rect">
            <a:avLst/>
          </a:prstGeom>
          <a:noFill/>
        </p:spPr>
        <p:txBody>
          <a:bodyPr wrap="square">
            <a:spAutoFit/>
          </a:bodyPr>
          <a:lstStyle/>
          <a:p>
            <a:pPr algn="ctr">
              <a:defRPr sz="1200" b="0">
                <a:solidFill>
                  <a:srgbClr val="BBBBCC"/>
                </a:solidFill>
                <a:latin typeface="맑은 고딕"/>
              </a:defRPr>
            </a:pPr>
            <a:r>
              <a:t>max_depth=7 → Train·Test 격차 0.6% / 정확도 85%</a:t>
            </a:r>
          </a:p>
        </p:txBody>
      </p:sp>
      <p:sp>
        <p:nvSpPr>
          <p:cNvPr id="59" name="Rectangle 58"/>
          <p:cNvSpPr/>
          <p:nvPr/>
        </p:nvSpPr>
        <p:spPr>
          <a:xfrm>
            <a:off x="548640" y="6121400"/>
            <a:ext cx="228599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 y="6121400"/>
            <a:ext cx="2194559" cy="462280"/>
          </a:xfrm>
          <a:prstGeom prst="rect">
            <a:avLst/>
          </a:prstGeom>
          <a:noFill/>
        </p:spPr>
        <p:txBody>
          <a:bodyPr wrap="square">
            <a:spAutoFit/>
          </a:bodyPr>
          <a:lstStyle/>
          <a:p>
            <a:pPr algn="ctr">
              <a:defRPr sz="1200" b="1">
                <a:solidFill>
                  <a:srgbClr val="00D2FF"/>
                </a:solidFill>
                <a:latin typeface="맑은 고딕"/>
              </a:defRPr>
            </a:pPr>
            <a:r>
              <a:t>9. 시각화</a:t>
            </a:r>
          </a:p>
        </p:txBody>
      </p:sp>
      <p:sp>
        <p:nvSpPr>
          <p:cNvPr id="61" name="Rectangle 60"/>
          <p:cNvSpPr/>
          <p:nvPr/>
        </p:nvSpPr>
        <p:spPr>
          <a:xfrm>
            <a:off x="2834639" y="6121400"/>
            <a:ext cx="73151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80359" y="6121400"/>
            <a:ext cx="640080" cy="462280"/>
          </a:xfrm>
          <a:prstGeom prst="rect">
            <a:avLst/>
          </a:prstGeom>
          <a:noFill/>
        </p:spPr>
        <p:txBody>
          <a:bodyPr wrap="square">
            <a:spAutoFit/>
          </a:bodyPr>
          <a:lstStyle/>
          <a:p>
            <a:pPr algn="ctr">
              <a:defRPr sz="1200" b="0">
                <a:solidFill>
                  <a:srgbClr val="BBBBCC"/>
                </a:solidFill>
                <a:latin typeface="맑은 고딕"/>
              </a:defRPr>
            </a:pPr>
            <a:r>
              <a:t>8.9</a:t>
            </a:r>
          </a:p>
        </p:txBody>
      </p:sp>
      <p:sp>
        <p:nvSpPr>
          <p:cNvPr id="63" name="Rectangle 62"/>
          <p:cNvSpPr/>
          <p:nvPr/>
        </p:nvSpPr>
        <p:spPr>
          <a:xfrm>
            <a:off x="3566158" y="6121400"/>
            <a:ext cx="8138159" cy="46228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1878" y="6121400"/>
            <a:ext cx="8046719" cy="462280"/>
          </a:xfrm>
          <a:prstGeom prst="rect">
            <a:avLst/>
          </a:prstGeom>
          <a:noFill/>
        </p:spPr>
        <p:txBody>
          <a:bodyPr wrap="square">
            <a:spAutoFit/>
          </a:bodyPr>
          <a:lstStyle/>
          <a:p>
            <a:pPr algn="ctr">
              <a:defRPr sz="1200" b="0">
                <a:solidFill>
                  <a:srgbClr val="BBBBCC"/>
                </a:solidFill>
                <a:latin typeface="맑은 고딕"/>
              </a:defRPr>
            </a:pPr>
            <a:r>
              <a:t>plot_tree(max_depth=3, fontsize=15, feature_names=...)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핵심 키워드 4 + 새로 사용한 라이브러리</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시험 출제 빈도 ★★★★★</a:t>
            </a:r>
          </a:p>
        </p:txBody>
      </p:sp>
      <p:sp>
        <p:nvSpPr>
          <p:cNvPr id="5" name="Rounded Rectangle 4"/>
          <p:cNvSpPr/>
          <p:nvPr/>
        </p:nvSpPr>
        <p:spPr>
          <a:xfrm>
            <a:off x="548640" y="2011680"/>
            <a:ext cx="5486400" cy="4480560"/>
          </a:xfrm>
          <a:prstGeom prst="roundRect">
            <a:avLst>
              <a:gd name="adj" fmla="val 5000"/>
            </a:avLst>
          </a:prstGeom>
          <a:solidFill>
            <a:srgbClr val="25253D"/>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4937760" cy="457200"/>
          </a:xfrm>
          <a:prstGeom prst="rect">
            <a:avLst/>
          </a:prstGeom>
          <a:noFill/>
        </p:spPr>
        <p:txBody>
          <a:bodyPr wrap="square">
            <a:spAutoFit/>
          </a:bodyPr>
          <a:lstStyle/>
          <a:p>
            <a:pPr algn="l">
              <a:defRPr sz="1800" b="1">
                <a:solidFill>
                  <a:srgbClr val="00D2FF"/>
                </a:solidFill>
                <a:latin typeface="맑은 고딕"/>
              </a:defRPr>
            </a:pPr>
            <a:r>
              <a:t>핵심 키워드 4</a:t>
            </a:r>
          </a:p>
        </p:txBody>
      </p:sp>
      <p:sp>
        <p:nvSpPr>
          <p:cNvPr id="7" name="TextBox 6"/>
          <p:cNvSpPr txBox="1"/>
          <p:nvPr/>
        </p:nvSpPr>
        <p:spPr>
          <a:xfrm>
            <a:off x="82296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① 결정 트리</a:t>
            </a:r>
          </a:p>
          <a:p>
            <a:pPr>
              <a:spcAft>
                <a:spcPts val="800"/>
              </a:spcAft>
              <a:defRPr sz="1400">
                <a:solidFill>
                  <a:srgbClr val="BBBBCC"/>
                </a:solidFill>
                <a:latin typeface="맑은 고딕"/>
              </a:defRPr>
            </a:pPr>
            <a:r>
              <a:t>   트리 모델의 가장 기본 형태, 데이터 특성으로 분류</a:t>
            </a:r>
          </a:p>
          <a:p>
            <a:pPr>
              <a:spcAft>
                <a:spcPts val="800"/>
              </a:spcAft>
              <a:defRPr sz="1400">
                <a:solidFill>
                  <a:srgbClr val="BBBBCC"/>
                </a:solidFill>
                <a:latin typeface="맑은 고딕"/>
              </a:defRPr>
            </a:pPr>
            <a:r>
              <a:t>② 지니 인덱스 / 교차 엔트로피</a:t>
            </a:r>
          </a:p>
          <a:p>
            <a:pPr>
              <a:spcAft>
                <a:spcPts val="800"/>
              </a:spcAft>
              <a:defRPr sz="1400">
                <a:solidFill>
                  <a:srgbClr val="BBBBCC"/>
                </a:solidFill>
                <a:latin typeface="맑은 고딕"/>
              </a:defRPr>
            </a:pPr>
            <a:r>
              <a:t>   노드의 순도 평가 — 순도↑ → 두 값 ↓</a:t>
            </a:r>
          </a:p>
          <a:p>
            <a:pPr>
              <a:spcAft>
                <a:spcPts val="800"/>
              </a:spcAft>
              <a:defRPr sz="1400">
                <a:solidFill>
                  <a:srgbClr val="BBBBCC"/>
                </a:solidFill>
                <a:latin typeface="맑은 고딕"/>
              </a:defRPr>
            </a:pPr>
            <a:r>
              <a:t>③ 오버피팅</a:t>
            </a:r>
          </a:p>
          <a:p>
            <a:pPr>
              <a:spcAft>
                <a:spcPts val="800"/>
              </a:spcAft>
              <a:defRPr sz="1400">
                <a:solidFill>
                  <a:srgbClr val="BBBBCC"/>
                </a:solidFill>
                <a:latin typeface="맑은 고딕"/>
              </a:defRPr>
            </a:pPr>
            <a:r>
              <a:t>   학습셋에 지나치게 잘 맞춰져 새 데이터 예측력↓</a:t>
            </a:r>
          </a:p>
          <a:p>
            <a:pPr>
              <a:spcAft>
                <a:spcPts val="800"/>
              </a:spcAft>
              <a:defRPr sz="1400">
                <a:solidFill>
                  <a:srgbClr val="BBBBCC"/>
                </a:solidFill>
                <a:latin typeface="맑은 고딕"/>
              </a:defRPr>
            </a:pPr>
            <a:r>
              <a:t>④ 언더피팅</a:t>
            </a:r>
          </a:p>
          <a:p>
            <a:pPr>
              <a:spcAft>
                <a:spcPts val="800"/>
              </a:spcAft>
              <a:defRPr sz="1400">
                <a:solidFill>
                  <a:srgbClr val="BBBBCC"/>
                </a:solidFill>
                <a:latin typeface="맑은 고딕"/>
              </a:defRPr>
            </a:pPr>
            <a:r>
              <a:t>   충분히 학습되지 않아 학습셋조차 예측 부실</a:t>
            </a:r>
          </a:p>
        </p:txBody>
      </p:sp>
      <p:sp>
        <p:nvSpPr>
          <p:cNvPr id="8" name="Rounded Rectangle 7"/>
          <p:cNvSpPr/>
          <p:nvPr/>
        </p:nvSpPr>
        <p:spPr>
          <a:xfrm>
            <a:off x="6217920" y="2011680"/>
            <a:ext cx="5486400" cy="448056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937760" cy="457200"/>
          </a:xfrm>
          <a:prstGeom prst="rect">
            <a:avLst/>
          </a:prstGeom>
          <a:noFill/>
        </p:spPr>
        <p:txBody>
          <a:bodyPr wrap="square">
            <a:spAutoFit/>
          </a:bodyPr>
          <a:lstStyle/>
          <a:p>
            <a:pPr algn="l">
              <a:defRPr sz="1800" b="1">
                <a:solidFill>
                  <a:srgbClr val="00E696"/>
                </a:solidFill>
                <a:latin typeface="맑은 고딕"/>
              </a:defRPr>
            </a:pPr>
            <a:r>
              <a:t>새로 사용한 함수 / 라이브러리</a:t>
            </a:r>
          </a:p>
        </p:txBody>
      </p:sp>
      <p:sp>
        <p:nvSpPr>
          <p:cNvPr id="10" name="TextBox 9"/>
          <p:cNvSpPr txBox="1"/>
          <p:nvPr/>
        </p:nvSpPr>
        <p:spPr>
          <a:xfrm>
            <a:off x="6492240" y="2788920"/>
            <a:ext cx="4937760" cy="3566160"/>
          </a:xfrm>
          <a:prstGeom prst="rect">
            <a:avLst/>
          </a:prstGeom>
          <a:noFill/>
        </p:spPr>
        <p:txBody>
          <a:bodyPr wrap="square">
            <a:spAutoFit/>
          </a:bodyPr>
          <a:lstStyle/>
          <a:p>
            <a:pPr>
              <a:spcAft>
                <a:spcPts val="800"/>
              </a:spcAft>
              <a:defRPr sz="1400">
                <a:solidFill>
                  <a:srgbClr val="BBBBCC"/>
                </a:solidFill>
                <a:latin typeface="맑은 고딕"/>
              </a:defRPr>
            </a:pPr>
            <a:r>
              <a:t>pandas.DataFrame.merge()</a:t>
            </a:r>
          </a:p>
          <a:p>
            <a:pPr>
              <a:spcAft>
                <a:spcPts val="800"/>
              </a:spcAft>
              <a:defRPr sz="1400">
                <a:solidFill>
                  <a:srgbClr val="BBBBCC"/>
                </a:solidFill>
                <a:latin typeface="맑은 고딕"/>
              </a:defRPr>
            </a:pPr>
            <a:r>
              <a:t>   두 데이터프레임을 키 기준으로 합침</a:t>
            </a:r>
          </a:p>
          <a:p>
            <a:pPr>
              <a:spcAft>
                <a:spcPts val="800"/>
              </a:spcAft>
              <a:defRPr sz="1400">
                <a:solidFill>
                  <a:srgbClr val="BBBBCC"/>
                </a:solidFill>
                <a:latin typeface="맑은 고딕"/>
              </a:defRPr>
            </a:pPr>
            <a:r>
              <a:t>pandas.DataFrame.reset_index()</a:t>
            </a:r>
          </a:p>
          <a:p>
            <a:pPr>
              <a:spcAft>
                <a:spcPts val="800"/>
              </a:spcAft>
              <a:defRPr sz="1400">
                <a:solidFill>
                  <a:srgbClr val="BBBBCC"/>
                </a:solidFill>
                <a:latin typeface="맑은 고딕"/>
              </a:defRPr>
            </a:pPr>
            <a:r>
              <a:t>   인덱스에 들어 있는 정보를 별도 컬럼으로</a:t>
            </a:r>
          </a:p>
          <a:p>
            <a:pPr>
              <a:spcAft>
                <a:spcPts val="800"/>
              </a:spcAft>
              <a:defRPr sz="1400">
                <a:solidFill>
                  <a:srgbClr val="BBBBCC"/>
                </a:solidFill>
                <a:latin typeface="맑은 고딕"/>
              </a:defRPr>
            </a:pPr>
            <a:r>
              <a:t>pandas.DataFrame.rename()</a:t>
            </a:r>
          </a:p>
          <a:p>
            <a:pPr>
              <a:spcAft>
                <a:spcPts val="800"/>
              </a:spcAft>
              <a:defRPr sz="1400">
                <a:solidFill>
                  <a:srgbClr val="BBBBCC"/>
                </a:solidFill>
                <a:latin typeface="맑은 고딕"/>
              </a:defRPr>
            </a:pPr>
            <a:r>
              <a:t>   컬럼이나 인덱스 이름을 변경</a:t>
            </a:r>
          </a:p>
          <a:p>
            <a:pPr>
              <a:spcAft>
                <a:spcPts val="800"/>
              </a:spcAft>
              <a:defRPr sz="1400">
                <a:solidFill>
                  <a:srgbClr val="BBBBCC"/>
                </a:solidFill>
                <a:latin typeface="맑은 고딕"/>
              </a:defRPr>
            </a:pPr>
            <a:r>
              <a:t>pandas.DataFrame.sort_values()</a:t>
            </a:r>
          </a:p>
          <a:p>
            <a:pPr>
              <a:spcAft>
                <a:spcPts val="800"/>
              </a:spcAft>
              <a:defRPr sz="1400">
                <a:solidFill>
                  <a:srgbClr val="BBBBCC"/>
                </a:solidFill>
                <a:latin typeface="맑은 고딕"/>
              </a:defRPr>
            </a:pPr>
            <a:r>
              <a:t>   특정 컬럼 기준 오름·내림차순 정렬</a:t>
            </a:r>
          </a:p>
          <a:p>
            <a:pPr>
              <a:spcAft>
                <a:spcPts val="800"/>
              </a:spcAft>
              <a:defRPr sz="1400">
                <a:solidFill>
                  <a:srgbClr val="BBBBCC"/>
                </a:solidFill>
                <a:latin typeface="맑은 고딕"/>
              </a:defRPr>
            </a:pPr>
            <a:r>
              <a:t>sklearn.tree.DecisionTreeClassifier / plot_tree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548640" y="457200"/>
            <a:ext cx="109728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11155680" cy="640080"/>
          </a:xfrm>
          <a:prstGeom prst="rect">
            <a:avLst/>
          </a:prstGeom>
          <a:noFill/>
        </p:spPr>
        <p:txBody>
          <a:bodyPr wrap="square">
            <a:spAutoFit/>
          </a:bodyPr>
          <a:lstStyle/>
          <a:p>
            <a:pPr algn="l">
              <a:defRPr sz="3000" b="1">
                <a:solidFill>
                  <a:srgbClr val="FFFFFF"/>
                </a:solidFill>
                <a:latin typeface="맑은 고딕"/>
              </a:defRPr>
            </a:pPr>
            <a:r>
              <a:t>연습문제 (정답 포함)</a:t>
            </a:r>
          </a:p>
        </p:txBody>
      </p:sp>
      <p:sp>
        <p:nvSpPr>
          <p:cNvPr id="4" name="TextBox 3"/>
          <p:cNvSpPr txBox="1"/>
          <p:nvPr/>
        </p:nvSpPr>
        <p:spPr>
          <a:xfrm>
            <a:off x="548640" y="1417320"/>
            <a:ext cx="11155680" cy="365760"/>
          </a:xfrm>
          <a:prstGeom prst="rect">
            <a:avLst/>
          </a:prstGeom>
          <a:noFill/>
        </p:spPr>
        <p:txBody>
          <a:bodyPr wrap="square">
            <a:spAutoFit/>
          </a:bodyPr>
          <a:lstStyle/>
          <a:p>
            <a:pPr algn="l">
              <a:defRPr sz="1500" b="0">
                <a:solidFill>
                  <a:srgbClr val="888899"/>
                </a:solidFill>
                <a:latin typeface="맑은 고딕"/>
              </a:defRPr>
            </a:pPr>
            <a:r>
              <a:t>교재 8장 학습 마무리 - 자가 점검</a:t>
            </a:r>
          </a:p>
        </p:txBody>
      </p:sp>
      <p:sp>
        <p:nvSpPr>
          <p:cNvPr id="5" name="Rectangle 4"/>
          <p:cNvSpPr/>
          <p:nvPr/>
        </p:nvSpPr>
        <p:spPr>
          <a:xfrm>
            <a:off x="548640" y="2011680"/>
            <a:ext cx="64008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640080" cy="411480"/>
          </a:xfrm>
          <a:prstGeom prst="rect">
            <a:avLst/>
          </a:prstGeom>
          <a:noFill/>
        </p:spPr>
        <p:txBody>
          <a:bodyPr wrap="square">
            <a:spAutoFit/>
          </a:bodyPr>
          <a:lstStyle/>
          <a:p>
            <a:pPr algn="ctr">
              <a:defRPr sz="1300" b="1">
                <a:solidFill>
                  <a:srgbClr val="FFFFFF"/>
                </a:solidFill>
                <a:latin typeface="맑은 고딕"/>
              </a:defRPr>
            </a:pPr>
            <a:r>
              <a:t>#</a:t>
            </a:r>
          </a:p>
        </p:txBody>
      </p:sp>
      <p:sp>
        <p:nvSpPr>
          <p:cNvPr id="7" name="Rectangle 6"/>
          <p:cNvSpPr/>
          <p:nvPr/>
        </p:nvSpPr>
        <p:spPr>
          <a:xfrm>
            <a:off x="1188720" y="2011680"/>
            <a:ext cx="685800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011680"/>
            <a:ext cx="6858000" cy="411480"/>
          </a:xfrm>
          <a:prstGeom prst="rect">
            <a:avLst/>
          </a:prstGeom>
          <a:noFill/>
        </p:spPr>
        <p:txBody>
          <a:bodyPr wrap="square">
            <a:spAutoFit/>
          </a:bodyPr>
          <a:lstStyle/>
          <a:p>
            <a:pPr algn="ctr">
              <a:defRPr sz="1300" b="1">
                <a:solidFill>
                  <a:srgbClr val="FFFFFF"/>
                </a:solidFill>
                <a:latin typeface="맑은 고딕"/>
              </a:defRPr>
            </a:pPr>
            <a:r>
              <a:t>문제</a:t>
            </a:r>
          </a:p>
        </p:txBody>
      </p:sp>
      <p:sp>
        <p:nvSpPr>
          <p:cNvPr id="9" name="Rectangle 8"/>
          <p:cNvSpPr/>
          <p:nvPr/>
        </p:nvSpPr>
        <p:spPr>
          <a:xfrm>
            <a:off x="8046720" y="2011680"/>
            <a:ext cx="3657600" cy="41148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657600" cy="411480"/>
          </a:xfrm>
          <a:prstGeom prst="rect">
            <a:avLst/>
          </a:prstGeom>
          <a:noFill/>
        </p:spPr>
        <p:txBody>
          <a:bodyPr wrap="square">
            <a:spAutoFit/>
          </a:bodyPr>
          <a:lstStyle/>
          <a:p>
            <a:pPr algn="ctr">
              <a:defRPr sz="1300" b="1">
                <a:solidFill>
                  <a:srgbClr val="FFFFFF"/>
                </a:solidFill>
                <a:latin typeface="맑은 고딕"/>
              </a:defRPr>
            </a:pPr>
            <a:r>
              <a:t>정답 + 해설</a:t>
            </a:r>
          </a:p>
        </p:txBody>
      </p:sp>
      <p:sp>
        <p:nvSpPr>
          <p:cNvPr id="11" name="Rectangle 10"/>
          <p:cNvSpPr/>
          <p:nvPr/>
        </p:nvSpPr>
        <p:spPr>
          <a:xfrm>
            <a:off x="548640" y="2423160"/>
            <a:ext cx="64008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23160"/>
            <a:ext cx="548640" cy="502920"/>
          </a:xfrm>
          <a:prstGeom prst="rect">
            <a:avLst/>
          </a:prstGeom>
          <a:noFill/>
        </p:spPr>
        <p:txBody>
          <a:bodyPr wrap="square">
            <a:spAutoFit/>
          </a:bodyPr>
          <a:lstStyle/>
          <a:p>
            <a:pPr algn="ctr">
              <a:defRPr sz="1200" b="1">
                <a:solidFill>
                  <a:srgbClr val="00D2FF"/>
                </a:solidFill>
                <a:latin typeface="맑은 고딕"/>
              </a:defRPr>
            </a:pPr>
            <a:r>
              <a:t>Q1</a:t>
            </a:r>
          </a:p>
        </p:txBody>
      </p:sp>
      <p:sp>
        <p:nvSpPr>
          <p:cNvPr id="13" name="Rectangle 12"/>
          <p:cNvSpPr/>
          <p:nvPr/>
        </p:nvSpPr>
        <p:spPr>
          <a:xfrm>
            <a:off x="1188720" y="2423160"/>
            <a:ext cx="6858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423160"/>
            <a:ext cx="6766560" cy="502920"/>
          </a:xfrm>
          <a:prstGeom prst="rect">
            <a:avLst/>
          </a:prstGeom>
          <a:noFill/>
        </p:spPr>
        <p:txBody>
          <a:bodyPr wrap="square">
            <a:spAutoFit/>
          </a:bodyPr>
          <a:lstStyle/>
          <a:p>
            <a:pPr algn="ctr">
              <a:defRPr sz="1200" b="0">
                <a:solidFill>
                  <a:srgbClr val="BBBBCC"/>
                </a:solidFill>
                <a:latin typeface="맑은 고딕"/>
              </a:defRPr>
            </a:pPr>
            <a:r>
              <a:t>범주형 데이터의 결측치 처리 방법으로 옳지 않은 것은?</a:t>
            </a:r>
            <a:br/>
            <a:r>
              <a:t>①특정 값이 압도적이면 그 값으로 대체  ②임의 텍스트(unknown)로 대체</a:t>
            </a:r>
            <a:br/>
            <a:r>
              <a:t>③평균값으로 대체  ④결측치가 적으면 행 제거</a:t>
            </a:r>
          </a:p>
        </p:txBody>
      </p:sp>
      <p:sp>
        <p:nvSpPr>
          <p:cNvPr id="15" name="Rectangle 14"/>
          <p:cNvSpPr/>
          <p:nvPr/>
        </p:nvSpPr>
        <p:spPr>
          <a:xfrm>
            <a:off x="8046720" y="2423160"/>
            <a:ext cx="36576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2423160"/>
            <a:ext cx="3566160" cy="502920"/>
          </a:xfrm>
          <a:prstGeom prst="rect">
            <a:avLst/>
          </a:prstGeom>
          <a:noFill/>
        </p:spPr>
        <p:txBody>
          <a:bodyPr wrap="square">
            <a:spAutoFit/>
          </a:bodyPr>
          <a:lstStyle/>
          <a:p>
            <a:pPr algn="ctr">
              <a:defRPr sz="1200" b="0">
                <a:solidFill>
                  <a:srgbClr val="BBBBCC"/>
                </a:solidFill>
                <a:latin typeface="맑은 고딕"/>
              </a:defRPr>
            </a:pPr>
            <a:r>
              <a:t>③ 정답.  범주형은 평균값을 구할 수 없음.</a:t>
            </a:r>
          </a:p>
        </p:txBody>
      </p:sp>
      <p:sp>
        <p:nvSpPr>
          <p:cNvPr id="17" name="Rectangle 16"/>
          <p:cNvSpPr/>
          <p:nvPr/>
        </p:nvSpPr>
        <p:spPr>
          <a:xfrm>
            <a:off x="548640" y="2926080"/>
            <a:ext cx="64008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926080"/>
            <a:ext cx="548640" cy="502920"/>
          </a:xfrm>
          <a:prstGeom prst="rect">
            <a:avLst/>
          </a:prstGeom>
          <a:noFill/>
        </p:spPr>
        <p:txBody>
          <a:bodyPr wrap="square">
            <a:spAutoFit/>
          </a:bodyPr>
          <a:lstStyle/>
          <a:p>
            <a:pPr algn="ctr">
              <a:defRPr sz="1200" b="1">
                <a:solidFill>
                  <a:srgbClr val="00D2FF"/>
                </a:solidFill>
                <a:latin typeface="맑은 고딕"/>
              </a:defRPr>
            </a:pPr>
            <a:r>
              <a:t>Q2</a:t>
            </a:r>
          </a:p>
        </p:txBody>
      </p:sp>
      <p:sp>
        <p:nvSpPr>
          <p:cNvPr id="19" name="Rectangle 18"/>
          <p:cNvSpPr/>
          <p:nvPr/>
        </p:nvSpPr>
        <p:spPr>
          <a:xfrm>
            <a:off x="1188720" y="2926080"/>
            <a:ext cx="68580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2926080"/>
            <a:ext cx="6766560" cy="502920"/>
          </a:xfrm>
          <a:prstGeom prst="rect">
            <a:avLst/>
          </a:prstGeom>
          <a:noFill/>
        </p:spPr>
        <p:txBody>
          <a:bodyPr wrap="square">
            <a:spAutoFit/>
          </a:bodyPr>
          <a:lstStyle/>
          <a:p>
            <a:pPr algn="ctr">
              <a:defRPr sz="1200" b="0">
                <a:solidFill>
                  <a:srgbClr val="BBBBCC"/>
                </a:solidFill>
                <a:latin typeface="맑은 고딕"/>
              </a:defRPr>
            </a:pPr>
            <a:r>
              <a:t>분류 결정 트리가 노드를 분류할 때 사용하는 기준은?</a:t>
            </a:r>
            <a:br/>
            <a:r>
              <a:t>①지니 인덱스  ②RMSE  ③R²  ④사후확률</a:t>
            </a:r>
          </a:p>
        </p:txBody>
      </p:sp>
      <p:sp>
        <p:nvSpPr>
          <p:cNvPr id="21" name="Rectangle 20"/>
          <p:cNvSpPr/>
          <p:nvPr/>
        </p:nvSpPr>
        <p:spPr>
          <a:xfrm>
            <a:off x="8046720" y="2926080"/>
            <a:ext cx="3657600" cy="502920"/>
          </a:xfrm>
          <a:prstGeom prst="rect">
            <a:avLst/>
          </a:prstGeom>
          <a:solidFill>
            <a:srgbClr val="2D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926080"/>
            <a:ext cx="3566160" cy="502920"/>
          </a:xfrm>
          <a:prstGeom prst="rect">
            <a:avLst/>
          </a:prstGeom>
          <a:noFill/>
        </p:spPr>
        <p:txBody>
          <a:bodyPr wrap="square">
            <a:spAutoFit/>
          </a:bodyPr>
          <a:lstStyle/>
          <a:p>
            <a:pPr algn="ctr">
              <a:defRPr sz="1200" b="0">
                <a:solidFill>
                  <a:srgbClr val="BBBBCC"/>
                </a:solidFill>
                <a:latin typeface="맑은 고딕"/>
              </a:defRPr>
            </a:pPr>
            <a:r>
              <a:t>① 지니 인덱스.</a:t>
            </a:r>
            <a:br/>
            <a:r>
              <a:t>   RMSE/R² → 회귀 평가지표,  사후확률 → 나이브 베이즈</a:t>
            </a:r>
          </a:p>
        </p:txBody>
      </p:sp>
      <p:sp>
        <p:nvSpPr>
          <p:cNvPr id="23" name="Rectangle 22"/>
          <p:cNvSpPr/>
          <p:nvPr/>
        </p:nvSpPr>
        <p:spPr>
          <a:xfrm>
            <a:off x="548640" y="3429000"/>
            <a:ext cx="64008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429000"/>
            <a:ext cx="548640" cy="502920"/>
          </a:xfrm>
          <a:prstGeom prst="rect">
            <a:avLst/>
          </a:prstGeom>
          <a:noFill/>
        </p:spPr>
        <p:txBody>
          <a:bodyPr wrap="square">
            <a:spAutoFit/>
          </a:bodyPr>
          <a:lstStyle/>
          <a:p>
            <a:pPr algn="ctr">
              <a:defRPr sz="1200" b="1">
                <a:solidFill>
                  <a:srgbClr val="00D2FF"/>
                </a:solidFill>
                <a:latin typeface="맑은 고딕"/>
              </a:defRPr>
            </a:pPr>
            <a:r>
              <a:t>Q3</a:t>
            </a:r>
          </a:p>
        </p:txBody>
      </p:sp>
      <p:sp>
        <p:nvSpPr>
          <p:cNvPr id="25" name="Rectangle 24"/>
          <p:cNvSpPr/>
          <p:nvPr/>
        </p:nvSpPr>
        <p:spPr>
          <a:xfrm>
            <a:off x="1188720" y="3429000"/>
            <a:ext cx="68580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3429000"/>
            <a:ext cx="6766560" cy="502920"/>
          </a:xfrm>
          <a:prstGeom prst="rect">
            <a:avLst/>
          </a:prstGeom>
          <a:noFill/>
        </p:spPr>
        <p:txBody>
          <a:bodyPr wrap="square">
            <a:spAutoFit/>
          </a:bodyPr>
          <a:lstStyle/>
          <a:p>
            <a:pPr algn="ctr">
              <a:defRPr sz="1200" b="0">
                <a:solidFill>
                  <a:srgbClr val="BBBBCC"/>
                </a:solidFill>
                <a:latin typeface="맑은 고딕"/>
              </a:defRPr>
            </a:pPr>
            <a:r>
              <a:t>오버피팅에 대한 설명으로 옳지 않은 것은?</a:t>
            </a:r>
            <a:br/>
            <a:r>
              <a:t>①학습 데이터에 지나치게 편향  ②반대 개념은 언더피팅</a:t>
            </a:r>
            <a:br/>
            <a:r>
              <a:t>③언더피팅이 더 나은 모델  ④학습 제한으로 줄일 수 있음</a:t>
            </a:r>
          </a:p>
        </p:txBody>
      </p:sp>
      <p:sp>
        <p:nvSpPr>
          <p:cNvPr id="27" name="Rectangle 26"/>
          <p:cNvSpPr/>
          <p:nvPr/>
        </p:nvSpPr>
        <p:spPr>
          <a:xfrm>
            <a:off x="8046720" y="3429000"/>
            <a:ext cx="3657600" cy="502920"/>
          </a:xfrm>
          <a:prstGeom prst="rect">
            <a:avLst/>
          </a:prstGeom>
          <a:solidFill>
            <a:srgbClr val="252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92440" y="3429000"/>
            <a:ext cx="3566160" cy="502920"/>
          </a:xfrm>
          <a:prstGeom prst="rect">
            <a:avLst/>
          </a:prstGeom>
          <a:noFill/>
        </p:spPr>
        <p:txBody>
          <a:bodyPr wrap="square">
            <a:spAutoFit/>
          </a:bodyPr>
          <a:lstStyle/>
          <a:p>
            <a:pPr algn="ctr">
              <a:defRPr sz="1200" b="0">
                <a:solidFill>
                  <a:srgbClr val="BBBBCC"/>
                </a:solidFill>
                <a:latin typeface="맑은 고딕"/>
              </a:defRPr>
            </a:pPr>
            <a:r>
              <a:t>③ 정답.  언더피팅은 학습조차 안 된 상태이므로 더 나쁜 모델.</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457200" y="457200"/>
            <a:ext cx="11247120" cy="5943600"/>
          </a:xfrm>
          <a:prstGeom prst="roundRect">
            <a:avLst>
              <a:gd name="adj" fmla="val 5000"/>
            </a:avLst>
          </a:prstGeom>
          <a:solidFill>
            <a:srgbClr val="101028"/>
          </a:solidFill>
          <a:ln w="127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1097280"/>
          </a:xfrm>
          <a:prstGeom prst="rect">
            <a:avLst/>
          </a:prstGeom>
          <a:noFill/>
        </p:spPr>
        <p:txBody>
          <a:bodyPr wrap="square">
            <a:spAutoFit/>
          </a:bodyPr>
          <a:lstStyle/>
          <a:p>
            <a:pPr algn="ctr">
              <a:defRPr sz="5400" b="1">
                <a:solidFill>
                  <a:srgbClr val="FFFFFF"/>
                </a:solidFill>
                <a:latin typeface="맑은 고딕"/>
              </a:defRPr>
            </a:pPr>
            <a:r>
              <a:t>8장 결정 트리 학습 완료</a:t>
            </a:r>
          </a:p>
        </p:txBody>
      </p:sp>
      <p:sp>
        <p:nvSpPr>
          <p:cNvPr id="4" name="TextBox 3"/>
          <p:cNvSpPr txBox="1"/>
          <p:nvPr/>
        </p:nvSpPr>
        <p:spPr>
          <a:xfrm>
            <a:off x="914400" y="2468880"/>
            <a:ext cx="10332720" cy="548640"/>
          </a:xfrm>
          <a:prstGeom prst="rect">
            <a:avLst/>
          </a:prstGeom>
          <a:noFill/>
        </p:spPr>
        <p:txBody>
          <a:bodyPr wrap="square">
            <a:spAutoFit/>
          </a:bodyPr>
          <a:lstStyle/>
          <a:p>
            <a:pPr algn="ctr">
              <a:defRPr sz="2200" b="0">
                <a:solidFill>
                  <a:srgbClr val="00D2FF"/>
                </a:solidFill>
                <a:latin typeface="맑은 고딕"/>
              </a:defRPr>
            </a:pPr>
            <a:r>
              <a:t>Decision Tree — 연봉 예측 프로젝트 마무리</a:t>
            </a:r>
          </a:p>
        </p:txBody>
      </p:sp>
      <p:sp>
        <p:nvSpPr>
          <p:cNvPr id="5" name="Rectangle 4"/>
          <p:cNvSpPr/>
          <p:nvPr/>
        </p:nvSpPr>
        <p:spPr>
          <a:xfrm>
            <a:off x="5029200" y="3291840"/>
            <a:ext cx="2103120" cy="38100"/>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3657600"/>
            <a:ext cx="9418320" cy="1371600"/>
          </a:xfrm>
          <a:prstGeom prst="roundRect">
            <a:avLst>
              <a:gd name="adj" fmla="val 5000"/>
            </a:avLst>
          </a:prstGeom>
          <a:solidFill>
            <a:srgbClr val="25253D"/>
          </a:solidFill>
          <a:ln w="12700">
            <a:solidFill>
              <a:srgbClr val="00E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3794760"/>
            <a:ext cx="9052560" cy="1097280"/>
          </a:xfrm>
          <a:prstGeom prst="rect">
            <a:avLst/>
          </a:prstGeom>
          <a:noFill/>
        </p:spPr>
        <p:txBody>
          <a:bodyPr wrap="square">
            <a:spAutoFit/>
          </a:bodyPr>
          <a:lstStyle/>
          <a:p>
            <a:pPr algn="ctr">
              <a:spcAft>
                <a:spcPts val="400"/>
              </a:spcAft>
              <a:defRPr sz="1500">
                <a:solidFill>
                  <a:srgbClr val="BBBBCC"/>
                </a:solidFill>
                <a:latin typeface="맑은 고딕"/>
              </a:defRPr>
            </a:pPr>
            <a:r>
              <a:t>"결정 트리는 단독으론 평범하나, 앙상블의 토대로 빛난다."</a:t>
            </a:r>
          </a:p>
          <a:p>
            <a:pPr algn="ctr">
              <a:spcAft>
                <a:spcPts val="400"/>
              </a:spcAft>
              <a:defRPr sz="1500">
                <a:solidFill>
                  <a:srgbClr val="BBBBCC"/>
                </a:solidFill>
                <a:latin typeface="맑은 고딕"/>
              </a:defRPr>
            </a:pPr>
            <a:r>
              <a:t>— 9장 랜덤 포레스트, 10장 XGBoost, 11장 LightGBM의 모든 출발점이 오늘 배운 결정 트리.</a:t>
            </a:r>
          </a:p>
        </p:txBody>
      </p:sp>
      <p:sp>
        <p:nvSpPr>
          <p:cNvPr id="8" name="TextBox 7"/>
          <p:cNvSpPr txBox="1"/>
          <p:nvPr/>
        </p:nvSpPr>
        <p:spPr>
          <a:xfrm>
            <a:off x="914400" y="5486400"/>
            <a:ext cx="10332720" cy="457200"/>
          </a:xfrm>
          <a:prstGeom prst="rect">
            <a:avLst/>
          </a:prstGeom>
          <a:noFill/>
        </p:spPr>
        <p:txBody>
          <a:bodyPr wrap="square">
            <a:spAutoFit/>
          </a:bodyPr>
          <a:lstStyle/>
          <a:p>
            <a:pPr algn="ctr">
              <a:defRPr sz="1600" b="1">
                <a:solidFill>
                  <a:srgbClr val="FFD700"/>
                </a:solidFill>
                <a:latin typeface="맑은 고딕"/>
              </a:defRPr>
            </a:pPr>
            <a:r>
              <a:t>▶ 다음 장: 9장 랜덤 포레스트 (Random Forest) — 결정 트리 여러 개로 분산을 줄이는 앙상블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