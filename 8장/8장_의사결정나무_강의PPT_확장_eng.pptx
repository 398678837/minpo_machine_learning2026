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CHAPTER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73736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rPr/>
              <a:t>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  <a:latin typeface="맑은 고딕"/>
              </a:defRPr>
            </a:pPr>
            <a:r>
              <a:rPr/>
              <a:t>Intuition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Intuition | Information Theory | Splitting criteria | ID3/CART/C4.5 | Pruning | Ensemble Motivation | Practice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8.1 Intuition - imitating human decision-making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8.2 Information theory basics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8.3 Splitting criteria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8.4 Algorithm history (ID3/CART/C4.5)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8.5 Pruning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8.6 Overfitting and instability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8.7 Variable selection bias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8.8 Supplementary (missing values, regression, Visualization)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8.9 Paper Review (TDIDT Framework)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8.10 Lab: Scratch Decision Tree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8.11 Lab: CART Pruning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8.12 Lab: Tree Ensemble Basics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8.13 Applications</a:t>
            </a:r>
          </a:p>
          <a:p>
            <a:pPr>
              <a:spcAft>
                <a:spcPts val="12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rPr/>
              <a:t>8.14 Key Summary + Review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rPr/>
              <a:t>1. Deeply understand the mathematical principles of decision trees (entropy, Gini impurity)</a:t>
            </a:r>
          </a:p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rPr/>
              <a:t>2. Understand the development process of ID3, CART, and C4.5 and the key contributions of each algorithm</a:t>
            </a:r>
          </a:p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rPr/>
              <a:t>3. Understand and apply the principles of cost-complexity pruning (CCP) and 1-SE Rule</a:t>
            </a:r>
          </a:p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rPr/>
              <a:t>4. Recognize overfitting/instability problems and understand the motivation of ensemble techniques</a:t>
            </a:r>
          </a:p>
          <a:p>
            <a:pPr>
              <a:spcAft>
                <a:spcPts val="1600"/>
              </a:spcAft>
              <a:defRPr sz="2000">
                <a:solidFill>
                  <a:srgbClr val="BBBBCC"/>
                </a:solidFill>
                <a:latin typeface="맑은 고딕"/>
              </a:defRPr>
            </a:pPr>
            <a:r>
              <a:rPr/>
              <a:t>5. Develop practical application skills through Scratch implementation and pruning practice.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Intuition – Emulating Human Decision 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Decision Tree Intuition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Twenty Questions Metaphor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The decision tree models the human sequential question-answering 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Principles of the Twenty Questions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'Is it an animal?' -&gt; Yes/No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'Can you fly?' -&gt; Yes/No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'Is it bigger than a cat?' -&gt; Yes/No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Reaching the correct answer through repeated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Salary prediction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Question 1: 'Do you have more than 13 years of education?'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Yes -&gt; 'Working hours per week &gt;= 40?' -&gt; Yes -&gt; [&gt;50K]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No -&gt; 'Age &gt;= 30?' -&gt; 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Perform prediction by dividing by conditions based on data characteristics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Key point: Decision tree is an algorithm that automatically learns 'rules in a form that humans can understand'. This interpretability is why decision trees are still widely used in practice.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Tree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Hierarchical composition of root node, internal node, and leaf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[Education level &lt;= 12.5] &lt;- Root Node (Root)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      /                \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[Age &lt;= 35.5] [Work per week &gt; 45] &lt;- Internal Node (Internal)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t>      /        \           /         \</a:t>
            </a:r>
          </a:p>
          <a:p>
            <a:pPr>
              <a:spcAft>
                <a:spcPts val="200"/>
              </a:spcAft>
              <a:defRPr sz="1300">
                <a:solidFill>
                  <a:srgbClr val="00E696"/>
                </a:solidFill>
                <a:latin typeface="Consolas"/>
              </a:defRPr>
            </a:pPr>
            <a:r>
              <a:rPr/>
              <a:t>[&lt;=50K] [&lt;=50K] [&gt;50K] [&lt;=50K] &lt;- Leaf Node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146304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Terms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English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201168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423160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231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Root Node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423160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4231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Root Node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2423160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42316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Top of the tree, first splitting 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807208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8072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Internal Node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807208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8072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Internal Node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2807208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5480" y="280720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Middle Node with Additional Splitting Conditions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191256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1912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Leaf Node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191256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19125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Leaf Node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3191256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319125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Bottom with Final Predicted Values Node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575304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753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Split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575304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357530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Split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3575304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357530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The process of dividing data into sub-nodes according to conditions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959352"/>
            <a:ext cx="146304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95935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Depth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0" y="3959352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9560" y="395935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Depth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3959352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5480" y="395935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Number of edges from the root to a specific node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4343400"/>
            <a:ext cx="146304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4343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Pruning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4343400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09560" y="4343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Pruning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09760" y="4343400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5480" y="4343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Technique of removing branches to prevent overfitting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Interpretability ||    Credit rating &lt; 600' -&gt; Rejection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Medical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Ethical requirement that doctors be able to understand 'why this diagnosis was made'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'tumor_size &gt; 3cm AND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age &gt; 60' -&gt; Malicious suspicion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Legal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EU GDPR: Demand for 'Explainable AI'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(Explainable AI)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1168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Decision tree presents the decision-making process transparently in the form of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2926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'왜 이 진단을 내렸는가'를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The most advantageous model for regulatory compliance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The biggest advantage of the decision tree: Automatically learns 'rules in a form that humans can understand'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예: 'tumor_size &gt; 3cm AND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  age &gt; 60' -&gt; 악성 의심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011680"/>
            <a:ext cx="384048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법률 / 규제 (Legal)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468880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EU GDPR: '설명 가능한 AI'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(Explainable AI) 요구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의사결정나무는 규칙 형태로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의사결정 과정을 투명하게 제시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규제 준수에 가장 유리한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rPr/>
              <a:t>=&gt; 의사결정나무의 최대 장점: '인간이 이해할 수 있는 형태의 규칙'을 자동으로 학습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Information Theory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Shannon Entropy &amp; Information Gain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Shannon Entropy || = 0 (no uncertainty) |||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Claude Shannon (1948) - 데이터의 불확실성을 정량화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엔트로피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H(X) = - SUM[ p_i * log2(p_i) ],  i = 1, ..., C</a:t>
            </a:r>
            <a:br/>
            <a:r>
              <a:rPr/>
              <a:t>0 * log2(0) = 0 으로 정의 (극한값)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직관적 의미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데이터를 설명하는 데 필요한 '평균 비트 수'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불확실성이 높을수록 -&gt; 더 많은 비트 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완전 순수(한 클래스) -&gt; H = 0 (불확실성 없음)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최대 불순(균등 분포) -&gt; H = log2(C) (최대 불확실성)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상태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411480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4114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11480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4114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11480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41148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0" y="411480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114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의미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526280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완전 순수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4526280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452628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526280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452628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526280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4840" y="4526280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4526280"/>
            <a:ext cx="2743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32120" y="452628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불확실성 없음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10328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9103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약간 불순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4910328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40280" y="491032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910328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491032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910328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910328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0.469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4910328"/>
            <a:ext cx="27432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32120" y="4910328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낮은 불확실성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94376"/>
            <a:ext cx="164592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29437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중간 불순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5294376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40280" y="529437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91840" y="5294376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529437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5294376"/>
            <a:ext cx="109728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5294376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0.881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5294376"/>
            <a:ext cx="2743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32120" y="5294376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중간 불확실성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678424"/>
            <a:ext cx="164592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67842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rPr/>
              <a:t>최대 불순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94560" y="5678424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40280" y="567842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91840" y="5678424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37560" y="567842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5678424"/>
            <a:ext cx="109728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567842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1.000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0" y="5678424"/>
            <a:ext cx="27432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2120" y="567842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최대 불확실성 (동전)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Entropy calculation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Understanding the entropy calculation process with concrete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Example: 7 class A, 3 class B in a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onsolas"/>
              </a:defRPr>
            </a:pPr>
            <a:r>
              <a:t>H = -( 0.7 * log2(0.7) + 0.3 * log2(0.3) )</a:t>
            </a:r>
            <a:br/>
            <a:r>
              <a:t>  = -( 0.7 * (-0.5146) + 0.3 * (-1.7370) )</a:t>
            </a:r>
            <a:br/>
            <a:r>
              <a:t>  = -( -0.3602 + (-0.5211) ) = 0.8813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097280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entropy(labels):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"""Function to calculate entropy"""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classes, counts = np.unique(labels, return_counts=True)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probabilities = counts / len(labels)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ent = -np.sum(probabilities * np.log2(probabilities + 1e-10))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ent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Pure node: 0.0000 | Mixed Node 7:3: 0.8813 | Maximum impurity 5:5: 1.0000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Information Gain || Becomes pure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Good question = Question that greatly reduces uncertainty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Selects the optimal split at every step in a greedy manner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IG(S, A) = H(S) - SUM[ |S_v|/|S| * H(S_v) ]</a:t>
            </a:r>
            <a:br/>
            <a:br/>
            <a:r>
              <a:rPr/>
              <a:t>S: 부모 노드의 데이터</a:t>
            </a:r>
            <a:br/>
            <a:r>
              <a:rPr/>
              <a:t>A: 분할 속성</a:t>
            </a:r>
            <a:br/>
            <a:r>
              <a:rPr/>
              <a:t>S_v: 속성 A의 값이 v인 부분집합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핵심 원리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의사결정나무는 정보이득이 '가장 큰' 분할을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정보이득이 크다 = 분할 후 자식 노드가 더 순수해짐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좋은 질문 = 불확실성을 크게 줄이는 질문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탐욕적(greedy) 방식으로 매 단계 최적 분할 선택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Example of information gain calculation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Step-by-step calculation using specific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Step-by-step calculation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/>
              <a:t>1. Parent nodes: 7 class A, 3 class B (total 10)</a:t>
            </a:r>
            <a:br/>
            <a:r>
              <a:t>   -&gt; H(parent) = 0.8813</a:t>
            </a:r>
            <a:br/>
            <a:br/>
            <a:r>
              <a:rPr/>
              <a:t>2. Left child: 6 class A, 1 class B (total 7)</a:t>
            </a:r>
            <a:br/>
            <a:r>
              <a:t>   -&gt; H(left) = -( 6/7*log2(6/7) + 1/7*log2(1/7) ) = 0.5917</a:t>
            </a:r>
            <a:br/>
            <a:br/>
            <a:r>
              <a:rPr/>
              <a:t>3. Right child: 1 class A, 2 class B (total 3)</a:t>
            </a:r>
            <a:br/>
            <a:r>
              <a:t>   -&gt; H(right) = -( 1/3*log2(1/3) + 2/3*log2(2/3) ) = 0.9183</a:t>
            </a:r>
            <a:br/>
            <a:br/>
            <a:r>
              <a:rPr/>
              <a:t>4. Information gain calculation:</a:t>
            </a:r>
            <a:br/>
            <a:r>
              <a:t>   IG = 0.8813 - ( 7/10 * 0.5917 + 3/10 * 0.9183 )</a:t>
            </a:r>
            <a:br/>
            <a:r>
              <a:t>      = 0.8813 - ( 0.4142 + 0.2755 ) = 0.8813 - 0.6897 = 0.1916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Split basis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Splitting Criteria: Entropy, Gini, Variance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Division criteria 1: Entropy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ID3, C4.5 algorithm's basic division criteria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onsolas"/>
              </a:defRPr>
            </a:pPr>
            <a:r>
              <a:t>Entropy(t) = - SUM[ p_i * log2(p_i) ]</a:t>
            </a:r>
            <a:br/>
            <a:r>
              <a:rPr/>
              <a:t>Range: [0, log2(C)], Binary classification: [0,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entropy(labels):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"""Function to calculate entropy"""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classes, counts = np.unique(labels,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          return_counts=True)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probs = counts / len(labels)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ent = -np.sum(probs * np.log2(probs + 1e-10))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ent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Pure node [0,0,0,0,0]: 0.0000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Mixed 7:3 [0,..,0,1,1,1]: 0.8813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Max 5:5 [0,..,0,1,..,1]: 1.0000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Entropy of 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688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Mathematically rigorous criteria based on Information Theory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Maximum value of 1.0 at p = 0.5 (maximum uncertainty)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Minimum value of 0 (absolutely pure) at p = 0 or p =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Requires log2 calculation -&gt; Slightly more computationally expensive than Gini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Shannon (1948)'s Information Theory: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'Average number of bits needed to describe data'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The higher the uncertainty, the more bits are needed.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Splitting Criteria 2: Gini Impurity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Basic criteria of CART algorithm and scikit-learn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onsolas"/>
              </a:defRPr>
            </a:pPr>
            <a:r>
              <a:t>Gini(t) = 1 - SUM[ p_i^2 ]</a:t>
            </a:r>
            <a:br/>
            <a:r>
              <a:rPr/>
              <a:t>Binary classification range: [0, 0.5]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rPr/>
              <a:t>Calculation example (A: 7 items, B: 3 items)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Gini = 1 - (0.7^2 + 0.3^2)</a:t>
            </a:r>
            <a:br/>
            <a:r>
              <a:t>     = 1 - (0.49 + 0.09) = 0.42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gini_impurity(labels):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"""Function to calculate Gini impurity"""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classes, counts = np.unique(labels,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                    return_counts=True)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probs = counts / len(labels)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gini = 1 - np.sum(probs ** 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gini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45720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663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Intuitive meaning of Gini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0292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When two samples are randomly selected from one node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Probability of being different classes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 log operation required -&gt; Computation efficient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Default value of scikit-learn (criterion='gini')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Splitting criteria 3: Variance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Splitting criteria in regression tree - MSE reduction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MSE (Mean Squared Error)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MSE(t) = (1/N) * SUM[ (y_i - y_bar)^2 ]</a:t>
            </a:r>
            <a:br/>
            <a:br/>
            <a:r>
              <a:t>delta_MSE = MSE(parent)</a:t>
            </a:r>
            <a:br/>
            <a:r>
              <a:t>  - ( N_L/N * MSE(L) + N_R/N * MSE(R) 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Prediction of regression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Predicted value of each leaf node = average value of samples of the node y_bar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 Piecewise constant model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Splitting criteria: Select split with the largest MSE reduction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Range: [0, inf) - used for predicting continuous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rPr/>
              <a:t>CART (regression mode): DecisionTreeRegressor(criterion='squared_error')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Comparison of three split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Entropy vs Gini vs Variance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828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Criteria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011680"/>
            <a:ext cx="20116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011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Algorithm used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Range (binary)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11680"/>
            <a:ext cx="1828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Computational complexity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01168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423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Entropy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423160"/>
            <a:ext cx="20116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24231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ID3, C4.5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42316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4231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[0, 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42316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2423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O(C) +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42316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24231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Based on information theory, mathematical rigor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92608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926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Gini impurity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2926080"/>
            <a:ext cx="20116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9260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CART, sklearn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926080"/>
            <a:ext cx="16459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292608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[0, 0.5]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926080"/>
            <a:ext cx="1828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29260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O(C)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926080"/>
            <a:ext cx="32004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29260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No log operation required, efficient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429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3429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Variance reduction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77440" y="3429000"/>
            <a:ext cx="20116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60" y="3429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CART (regression)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3429000"/>
            <a:ext cx="16459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342900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[0, inf)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429000"/>
            <a:ext cx="1828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34290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O(N)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3429000"/>
            <a:ext cx="32004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9560" y="34290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Used for continuous value prediction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114800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2062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Practical comparison 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572000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Both entropy and Gini are maximum at p=0.5, 0 at p=0 or p=1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The splitting results of the two criteria are practically similar (differences only in about 2% of cases)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Gini is used as default in scikit-learn because it is faster in calculations</a:t>
            </a:r>
          </a:p>
          <a:p>
            <a:pPr>
              <a:spcAft>
                <a:spcPts val="8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rPr/>
              <a:t>Impurity comparison graph: Gini, Entropy, Classification Error curves have similar shapes.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Algorithm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ID3 -&gt; CART -&gt; C4.5: Evolution of Decision Trees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ID3 (Iterative Dichotomiser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J. Ross Quinlan, 1986 - Machine Learning Journal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Attribute Selection Based on Information Gain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Allow multi-way split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Branching for all values ​​of categorical properties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Establishment of top-down recursive partitioning (TDIDT) methodology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Only categorical properties can be processed (continuous types are not supported)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Unfairly favoring properties with high cardinality (number of unique values)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Attribute with N unique values: 2^(N-1)-1 split candidates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High probability of obtaining high information gain by chance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Insufficient pruning strategy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Cannot handle missing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09728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rPr/>
              <a:t>ID3 algorithm pseudocode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ID3(S, Attributes):</a:t>
            </a:r>
            <a:br/>
            <a:r>
              <a:rPr/>
              <a:t>if all samples of S are of the same class c: return Leaf(c)</a:t>
            </a:r>
            <a:br/>
            <a:r>
              <a:rPr/>
              <a:t>if Attributes empty: return Leaf(mode class)</a:t>
            </a:r>
            <a:br/>
            <a:r>
              <a:rPr/>
              <a:t>A* = argmax IG(S, A) // maximum information gain property</a:t>
            </a:r>
            <a:br/>
            <a:r>
              <a:rPr/>
              <a:t>for each v in Values(A*): recursive call ID3(S_v, Attrs - {A*})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CART (Classification and Regression Trees)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Breiman, Friedman, Stone, Olshen - 1984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Binary split only: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Always split the data into exactly two subsets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Gini Impurity (classification)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MSE (regression)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Cost-Complexity Pruning (CCP):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Systematic Post-Pruning Methodology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R_a(T) = R(T) + a * |T_leaf|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Surrogate Split: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Systematic method of missing value handling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Processing classification and regression in the same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CART vs ID3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[Splitting method] ID3: Multiple branching / CART: Binary splitting only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[Splitting criteria] ID3: Information gain / CART: Gini impurity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[Regression support] ID3: Not possible / CART: Possible (MSE)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[Pruning] ID3: Insufficient / CART: CCP (systematic) 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[결측값] ID3: 미지원 / CART: 대리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scikit-learn의 DecisionTreeClassifier와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DecisionTreeRegressor는 CART 알고리즘을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통계학적 관점에서 의사결정나무를 엄밀하게 정립한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역사적으로 중요한 연구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C4.5 - Quinlan, 1993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1st place in IEEE ICDM 'Top 10 Data Mining Algorithms' vote (2006)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Key improvement: Introduction of information gain ratio (Gain Ratio)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GainRatio(S, A) = IG(S, A) / SplitInfo(S, A)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SplitInfo(S, A) = -SUM[ |S_v|/|S| * log2(|S_v|/|S|) 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Resolving cardinality bias: SplitInfo of attributes with many unique values is large, so GainRatio becomes small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Continuous attribute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Binary split point (threshold) search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Adjacent after sorting attribute values Examining the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midpoint of the value as a candidate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Overcoming the categorical limitation of ID3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9319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Error-based pruning (EBP)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3891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Pruning with pessimistic error estimation without separate verification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Estimating the error of each leaf pessimistically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Deciding whether to prune or not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Additional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93192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Probabilistic handling of missing values: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3891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Probabilistically distribute missing instances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Tree-Rule Transformation: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Root-leaf path as if-then rule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루트-리프 경로를 if-then 규칙으로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Timeline of decision tree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Algorithm evolution from 1964 to present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Algorithm/event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011680"/>
            <a:ext cx="4114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011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Main contribution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201168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Author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0" y="24231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423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AID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42316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40" y="2423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First automatic interaction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4231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Morgan &amp; Sonquist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8036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8803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CHAID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88036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2880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Chi-square test-based splitting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28803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3756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3375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1984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0" y="33375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CART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333756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40" y="33375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Gini impurity, CCP, proxy split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33375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Breiman et al.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9476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7947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1986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45920" y="37947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9164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ID3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379476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40" y="3794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Information gain, TDIDT framework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37947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Quinlan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25196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2519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1993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42519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1640" y="4251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C4.5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31920" y="425196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77640" y="42519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Gain ratio, EBP, continuous Processing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46720" y="42519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251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Quinlan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70916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" y="47091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645920" y="47091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91640" y="4709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TDIDT Survey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470916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77640" y="4709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Splitting/Pruning Systematic Classification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46720" y="47091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092440" y="4709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Rokach &amp; Maimon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516636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516636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2009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645920" y="51663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91640" y="5166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GUIDE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1920" y="516636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77640" y="5166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Unbiased Variable Selection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51663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92440" y="5166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Loh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Pruning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Pre-Pruning &amp; Post-Pruning: Controlling Tree Complexity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Why is pruning necessary?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Completely grow without pruning -&gt; learn to noise -&gt; overfitting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Example of overfitting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rPr/>
              <a:t>No pruning: Train=97.8% Test=81.6% -&gt; gap 16.2% (overfitting!)</a:t>
            </a:r>
            <a:br/>
            <a:r>
              <a:rPr/>
              <a:t>max_depth=5: Train=85.4% Test=85.0% -&gt; gap 0.4% (good)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49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Overfitting 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the tree is fully grown, the training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noise of the training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Only a few samples remain in the leaf nodes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Statistically unreliable predictions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Decreased generalization performance for new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6576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749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Purpose of pruning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1148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Removing unnecessarily complex branches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Slightly increases bias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Slightly increases variance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Variance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Search for the optimal point of Bias-Variance Tradeoff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Pre-Pruning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Pre-Pruning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Pre-pruning (pre-pruning)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Put conditions in the tree growth process to stop early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201168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011680"/>
            <a:ext cx="3657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011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max_depth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42316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423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Default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42316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2423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242316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2423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Effect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803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880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min_samples_split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288036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2880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Maximum depth of tree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88036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28803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288036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28803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The smaller the value, the simpler the tree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3756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min_samples_leaf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33756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3337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Minimum number of split samples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33756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33375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333756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3337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The larger the value, the suppress the split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7947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7947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max_features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379476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80360" y="3794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Minimum number of leaf samples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79476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37947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None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379476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37947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The larger the value, the removal of small leaves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38912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480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Maximum feature considered Number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84632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Randomness granted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Advantages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Simple implementation and low computational cost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0" y="438912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4480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Controlled with one parameter in scikit-learn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4846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Can be applied quickly even on large-scale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Disadvantages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Difficult to know the optimal stopping point in advance|||If you stop early, you may miss useful divisions in the future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(e.g. if the current split is ineffective but the next split is)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Cost-Complexity Pruning (CCP) -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The most widely used post-pruning method proposed by CART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rPr/>
              <a:t>Cost-Complexity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R_alpha(T) = R(T) + alpha * |T_leaf|</a:t>
            </a:r>
            <a:br/>
            <a:br/>
            <a:r>
              <a:rPr/>
              <a:t>R(T): Misclassification rate (or total impurity) of tree T</a:t>
            </a:r>
            <a:br/>
            <a:r>
              <a:rPr/>
              <a:t>|T_leaf|  : Number of leaf nodes in tree T</a:t>
            </a:r>
            <a:br/>
            <a:r>
              <a:rPr/>
              <a:t>alpha : Complexity parameter (alpha &gt;= 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502920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Role of alpha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46634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alpha = 0: Complete tree (no pruning)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Increase alpha: Increase penalty for number of leaf nodes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More aggressive pruning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alpha -&gt; inf: Simplest tree with only the root node remaining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Goal: Select the optimal alpha through cross-validation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11480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Intuitive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5720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R(T): 'Accuracy' of the tree (want to reduce errors)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|T_leaf|: 'Complexity' of the tree (want to make it simple)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alpha: Balance between accuracy and complexity Control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 Same as the principle of regularization!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(Same role as lambda in LASSO)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CCP Algorithm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Starting from a complete tree and gradually pruning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/>
              <a:t>1. Start from fully grown tree T_max</a:t>
            </a:r>
            <a:br/>
            <a:br/>
            <a:r>
              <a:rPr/>
              <a:t>2. For each internal node t, when subtree T_t is replaced by a single leaf,</a:t>
            </a:r>
            <a:br/>
            <a:r>
              <a:rPr/>
              <a:t>Valid alpha calculation:</a:t>
            </a:r>
            <a:br/>
            <a:r>
              <a:t>   alpha_eff(t) = [ R(t) - R(T_t) ] / [ |T_t_leaf| - 1 ]</a:t>
            </a:r>
            <a:br/>
            <a:br/>
            <a:r>
              <a:rPr/>
              <a:t>R(t): Misclassification rate when node t is made into a leaf</a:t>
            </a:r>
            <a:br/>
            <a:r>
              <a:rPr/>
              <a:t>R(T_t): Misclassification rate across subtrees of node t</a:t>
            </a:r>
            <a:br/>
            <a:r>
              <a:rPr/>
              <a:t>|T_t_leaf|: Number of leaves in the subtree</a:t>
            </a:r>
            <a:br/>
            <a:br/>
            <a:r>
              <a:rPr/>
              <a:t>3. Prune the subtree of the node with smallest alpha_eff</a:t>
            </a:r>
            <a:br/>
            <a:r>
              <a:rPr/>
              <a:t>(= node with the least increase in error even after pruning)</a:t>
            </a:r>
            <a:br/>
            <a:br/>
            <a:r>
              <a:rPr/>
              <a:t>4. Repeat steps 2-3:</a:t>
            </a:r>
            <a:br/>
            <a:r>
              <a:t>   T_max ⊃ T_1 ⊃ T_2 ⊃ ... ⊃ T_root</a:t>
            </a:r>
            <a:br/>
            <a:br/>
            <a:r>
              <a:rPr/>
              <a:t>5. Select optimal alpha through cross-validation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1-SE Rule (One Standard Error Rule)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Occam's Razor Principle: Simplest model for similar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1-SE Rule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alpha_1SE = max{ alpha |</a:t>
            </a:r>
            <a:br/>
            <a:r>
              <a:t>  CV(alpha) &gt;= CV(alpha*) - SE(alpha*) }</a:t>
            </a:r>
            <a:br/>
            <a:br/>
            <a:r>
              <a:rPr/>
              <a:t>alpha*: alpha with maximum CV score</a:t>
            </a:r>
            <a:br/>
            <a:r>
              <a:rPr/>
              <a:t>SE: standard error (standard error)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Select the largest alpha (simplest tree) in the range where CV accuracy is (optimal accuracy - 1*standard error) or more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범위에서 가장 큰 alpha(가장 단순한 트리)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|= 'Simplest model within similar performance range'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10972800" cy="24688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5196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DecisionTreeClassifier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CCP path Calculation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full_tree = DecisionTreeClassifier(random_state=42)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full_tree.fit(X_train,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path = full_tree.cost_complexity_pruning_path(X_train,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ccp_alphas = path.ccp_alphas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Apply 1-SE Rule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one_se_threshold = best_cv_mean - best_cv_std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one_se_candidates = alphas[cv_means &gt;= one_se_threshold]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alpha_1se = one_se_candidates[-1] # Largest alpha = Simplest tree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8.6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Overfitting and instability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Overfitting &amp; High Variance Problem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Overfitting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Phenomena in which generalization performance deteriorates due to overfitting to training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Performance change by depth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rPr/>
              <a:t>max_depth=1: Train=91.2% Test=90.4% gap=0.8% (underfitting)</a:t>
            </a:r>
            <a:br/>
            <a:r>
              <a:rPr/>
              <a:t>max_depth=3: Train=96.2% Test=93.4% gap=2.8% (good)</a:t>
            </a:r>
            <a:br/>
            <a:r>
              <a:rPr/>
              <a:t>max_depth=5: Train=98.8% Test=93.4% gap=5.4% (boundary)</a:t>
            </a:r>
            <a:br/>
            <a:r>
              <a:rPr/>
              <a:t>max_depth=None: Train=100% Test=91.2% gap=8.8% (overfitting!)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114800"/>
            <a:ext cx="10972800" cy="24688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Strategy to solve 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607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Pre-pruning: max_depth, min_samples_split, min_samples_leaf, etc.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Post-pruning: CCP (cost-complexity pruning) + cross-validation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Ensemble techniques: bagging, random forest, gradient boosting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Data perspective: collect more training data, remove noise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If you fully grow the tree without pruning, there is a very high chance of overfitting.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High Variance Problem (High Variance)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The most serious drawback of decision trees: Instability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Cause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Greedy Algorithm: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If the root node split changes, the entire tree changes.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Hierarchical structure: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Changes in the parent node affect all child nodes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Data Sensitivity: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Changing a small number of samples changes the splitting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Experimental confirmation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On the same data, only different bootstrap samples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tree structure changes significantly: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Tree 1: petal_width root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Tree 2: petal_length root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Tree 3: sepal_length root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Feature importance also varies greatly from tree to tree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097280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206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Bias-Variance Tradeoff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rPr/>
              <a:t>Single tree: low bias + high variance</a:t>
            </a:r>
            <a:br/>
            <a:r>
              <a:rPr/>
              <a:t>=&gt; Ensemble: Reduces overall error by maintaining bias while reducing variance.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Ensemble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Approaches for solving high variance problems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Bagging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Bootstrap Aggregating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Bagging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From bootstrap samples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Learning multiple trees independently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Final prediction by majority vote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1168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Variance reduction: Var/n 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Random Forest (RF)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Bagging + feature random selection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Only sqrt(d) features are considered for each split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Correlation between trees Reduction ||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Breiman (2001)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그래디언트 부스팅 (GB)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잔차를 순차적으로 학습하는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약한 트리(shallow tree)들의 결합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각 트리는 이전 트리의 오류를 수정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XGBoost, LightGBM, CatBoost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Friedman (2001)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rPr/>
              <a:t>=&gt; 9장에서 앙상블 기법을 본격적으로 학습합니다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맑은 고딕"/>
              </a:defRPr>
            </a:pPr>
            <a:r>
              <a:t>SECTION 8.7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Variable selection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Variable Selection Bias in Decision Trees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Variable Selection Bias (Variable Selection Bias)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Loh (2011) - WIREs Data Mining and Knowledge Discovery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Definition of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When there are two variables with the same predictive power,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 phenomenon in which an algorithm unfairly favors a specific type of variable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Impact on the fairness and reliability of the model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Causes of bias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1. Cardinality Bias: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Properties with many unique values ​​-&gt; more split candidates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Increased probability of high information gain by chance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'Resident Number' -&gt; 2^(N-1)-1 split candidates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Missing value bias: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Attributes with a high proportion of missing values ​​may be preferred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   결측값 비율이 높은 속성이 선호될 수 있음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Bias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Gain ratio, statistical test, permutation 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011680"/>
            <a:ext cx="4572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01168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Example algorithm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231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Gain Ratio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4231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4231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Normalize information gain by dividing by SplitInfo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4231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423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C4.5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803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Statistical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88036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2880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Use chi-square test, etc. for variable selection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8803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28803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CHAID, GUIDE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375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Variable selection/separate split 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3756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33375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Perform two steps independently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33756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33375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GUIDE (Loh, 2009)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947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Permutation Importance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79476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37947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Measuring performance reduction by randomly mixing variables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7947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Random Forest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389120"/>
            <a:ext cx="109728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48056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Practical implications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4632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scikit-learn's feature_importances_ is based on Gini impurity reduction -&gt; presence of cardinality bias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Importance evaluation without bias: recommended to use permutation_importance() together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Be careful when using high-cardinality categorical variables (e.g. zip code, ID) Required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rPr/>
              <a:t>GUIDE Algorithm: Eliminate bias by separating variable selection and split point determination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8.8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supplement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Surrogate Splits, Regression Tree, Visualization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Missing value handling: Surrogate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Systematic method of missing value handling proposed by CART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Determine the optimal splitting property A* and threshold theta* at the node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For all other attributes A_j,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Search for the split with the highest matching rate with the split of A*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Samples with missing A* are treated as the first surrogate split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If it is also missing, use a second surrogate split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Key: Produces the most similar result to the optimal split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another attribute as a surrogate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Practice notes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scikit-learn: Surrogate split not supported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Missing values ​​must be handled in advance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Use SimpleImputer, KNNImputer, etc.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XGBoost: Missing values ​​can be handled directly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Send missing samples to left and right branches respectively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Automatically select the better one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LightGBM: Likewise handle missing values ​​directly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In practice, XGBoost/LightGBM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More convenient for handling missing values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Regression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Continuous value prediction: Predicted value of leaf node = average of samples of that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Constant model for each section (Piecewise Constant)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Predicted value of each leaf node = average value of samples of that node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Split the input space into rectangular (axis-aligned) regions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Predict with constant value (average) in each region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MSE reduction as division criterion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DecisionTreeRegressor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reg_tree = DecisionTreeRegressor(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max_depth=3, random_state=42)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reg_tree.fit(X_train,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Each leaf: of the corresponding interval Predict the average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Model Tree - Extension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Fit a linear regression model instead of a constant at each leaf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Improved expressiveness: predict with a linear function in each region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Quinlan's M5 algorithm is representative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General regression tree: y = c (constant) vs model tree: y = w0 + w1*x1 + w2*x2 + ...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Better approximation of continuous prediction functions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Tree visualization (Visualization)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Two tree visualization methods in scikit-learn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Method 1: Graphical visualization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plot_tree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plt.figure(figsize=(25, 12))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plot_tree(model,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feature_names=feature_names,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class_names=class_names,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filled=True, # Show classes with color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rounded=True, # Rounded Corners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fontsize=10)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plt.show()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Method 2: Text Rule Output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export_text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rules = export_text(model,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feature_names=list(feature_names))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print(rules)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|--- petal width &lt;= 0.80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|   |--- class: setosa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|--- petal width &gt;  0.80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|   |--- petal length &lt;= 4.95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Rule Extraction - C4.5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Convert each root-leaf path in the tree to an if-then rule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Example: IF worst_radius &lt;= 16.80 AND worst_concave_points &lt;= 0.14 THEN benign [Confidence: 97.2%]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Each Prune rules independently -&gt; more concise classifier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decision_path() allows tracking decision paths for individual samples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8.9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paper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Rokach &amp; Maimon (2005) - TDIDT Framework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TDIDT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Rokach &amp; Maimon (2005) - IEEE Trans. SMC, Vol.35, No.4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rPr/>
              <a:t>Key of the paper: Decomposition of tree induction into independent design decisions (Design Choice)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Comprehensive classification system for Top-Down Induction of Decision Trees algorithm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Each design decision can be selected independently, and various algorithms can be formed depending on the combination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Design 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657600"/>
            <a:ext cx="5029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657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Selection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65760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Representative algorithm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69080"/>
            <a:ext cx="22860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0690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Splitting criteria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069080"/>
            <a:ext cx="5029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406908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Information gain, gain ratio, Gini, chi-square, variance reduction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4069080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06908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ID3, C4.5, CART, CHAID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53128"/>
            <a:ext cx="22860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4531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Stopping criterion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4453128"/>
            <a:ext cx="50292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44531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max_depth, min_samples, purity 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4453128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4453128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All algorithms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37176"/>
            <a:ext cx="22860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83717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Pruning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4837176"/>
            <a:ext cx="5029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483717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Pre, CCP, EBP, MEP, MDL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4837176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4837176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CART, C4.5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21224"/>
            <a:ext cx="22860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22122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Missing value handling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5221224"/>
            <a:ext cx="50292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80360" y="52212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Surrogate split, stochastic distribution, deletion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5221224"/>
            <a:ext cx="3200400" cy="38404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09560" y="5221224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CART, C4.5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605272"/>
            <a:ext cx="22860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6052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rPr/>
              <a:t>Split type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5605272"/>
            <a:ext cx="50292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0360" y="56052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rPr/>
              <a:t>Axis alignment, oblique, multivariate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63840" y="5605272"/>
            <a:ext cx="3200400" cy="38404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09560" y="5605272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CART, OC1, CART-LC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Main contributions of the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Impurity vs distance based segmentation, pruning comparison, multivariate segmentation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329184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Impurity vs distance based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Impurity function: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Entropy, Gini impurity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Measure the purity of a node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Distance based criteria: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Chi-square, Kolmogorov-Smirnov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Measurement of distribution differences before and after division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Clear analysis of theoretical differences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011680"/>
            <a:ext cx="34747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Pruning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6888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CCP (CART):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Based on cross-validation -&gt; stable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but computational cost is high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EBP (C4.5):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Efficient or pessimistic estimation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Depends on accuracy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Both post-pruning methods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2011680"/>
            <a:ext cx="365760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Multivariate partitioning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46888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Axis-aligned partitioning (axis-aligned):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x_i &lt;= theta (only uses one variable)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oblique splitting (oblique):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a1*x1 + a2*x2 + ... &lt;= theta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Although the expressive power is high,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-&gt; Interpretability deteriorates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Expression power vs interpretability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tradeoff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Decision Tree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01_decision_tree_scratch.py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1: Scratch implementation of decision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Understanding the internal operating principle by implementing from scratch without a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Implementation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Impurity measurement function implementation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gini_impurity(labels)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entropy(labels)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information_gain(parent, left, right)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DecisionNode class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feature_index, threshold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- left, right, value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DecisionTreeFromScratch Class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fit(): recursive tree building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predict(): tree traversal prediction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print_tree(): Text output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Comparison with sklearn DecisionTreeClassifier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Key learning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Dataset: Iris (sklearn built-in, 150 items, 4 features, 3 classes)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Implementation based on CART algorithm: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Use binary split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Supports Gini impurity or entropy criteria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Stopping Criteria: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All samples are of the same class (pure nodes)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Reach maximum depth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Less than minimum number of split samples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Feature importance calculation: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Cumulative weighted impurity reduction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Normalize so that the sum is 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Impurity function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gini_impurity, entropy, information_gain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gini_impurity(labels):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"""Gini(t) = 1 - SUM(p_i^2)"""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counter = Counter(labels)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total = len(labels)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probs = [c/total for c in counter.values()]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1.0 - sum(p**2 for p in probs)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entropy(labels):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"""H(t) = -SUM(p_i * log2(p_i))"""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len(labels) == 0: return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counter = Counter(labels)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total = len(labels)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ent =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for count in counter.values():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p = count / total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if p &gt; 0: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ent -= p * np.log2(p)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information_gain(parent, left, right,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criterion='gini'):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"""IG = parent - weighted child impurity"""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fn = gini_impurity if criterion=='gini'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else entropy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parent_imp = fn(parent)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 = len(parent)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n_l, n_r = len(left), len(right)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n_l == 0 or n_r == 0: return 0.0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child_imp = 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(n_l/n) * fn(left) +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(n_r/n) * fn(right)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parent_imp - child_imp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Verification example: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Pure node: Gini=0.0000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Mixed node 7:3: Gini=0.4200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Maximum impurity 5:5: Gini=0.5000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Building a recursive tree (_build_tree)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Core algorithm: optimal split search + recursive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09728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_build_tree(self, X, y, depth):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n_samples, n_classes = len(y), len(set(y))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current_impurity = impurity_fn(y)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=== Check stop condition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if n_classes == 1 or (max_depth and depth &gt;= max_depth) or n_samples &lt; min_samples_split: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return DecisionNode(value=Counter(y).most_common(1)[0][0]) # Leaf node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=== Optimal partition search (exhaustive search)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best_gain = -1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for feature_idx in range(n_features): # for all features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thresholds = np.unique(X[:, feature_idx]) # All unique values ​​as candidates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for threshold in thresholds: # for each threshold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left_mask = X[:, feature_idx] &lt;= threshold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if sum(left_mask) &lt; min_samples_leaf or sum(~left_mask) &lt; min_samples_leaf: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continue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gain = information_gain(y, y[left_mask], y[~left_mask], criterion)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if gain &gt; best_gain:  best_gain, best_feature, best_threshold = gain, feature_idx, threshold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rPr/>
              <a:t># === Recursively building child nodes ===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left_child  = self._build_tree(X[best_left], y[best_left], depth + 1)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right_child = self._build_tree(X[best_right], y[best_right], depth + 1)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DecisionNode(feature_index=best_feature, threshold=best_threshold,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               left=left_child, right=right_child, info_gain=best_gain)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Prediction and comparison results with sklearn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Scratch implementation vs sklearn DecisionTreeClassifier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predict(self, X):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np.array([self._predict_single(x, self.root) for x in X])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_predict_single(self, x, node):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if node.value is not None: return node.value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if x[node.feature_index] &lt;= node.threshold: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return self._predict_single(x, node.left)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return self._predict_single(x, node.right)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Train Acc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2011680"/>
            <a:ext cx="16459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Test 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42316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24231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Scratch (Gini)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423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423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~1.0000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242316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24231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~0.9556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83464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28346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sklearn (Gini)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834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834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~1.0000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83464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834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~0.9556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246120"/>
            <a:ext cx="228600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32461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Scratch (Entropy)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2461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246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3246120"/>
            <a:ext cx="164592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32461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657600"/>
            <a:ext cx="228600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36576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sklearn (Entropy)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5760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20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-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3657600"/>
            <a:ext cx="164592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1240" y="3657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~0.9556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389120"/>
            <a:ext cx="109728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Comparison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4632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Performance of Scratch implementation and sklearn is almost the same -&gt; Verification of correctness of algorithm implementation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Similar pattern of feature importance: petal_width, petal_length are the most important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sklearn is optimized in C/Cython and is much faster on large-scale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Learning For our purposes, the Scratch implementation is very effective in understanding its internal workings.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8.11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CART pruning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02_cart_pruning.py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2: CART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Practice the principles of cost-complexity pruning (CCP) and select optimal alpha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Practice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Dataset: Breast Cancer (sklearn, 569 items, 30 features, 2 classes)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Full Tree Growth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Fully grown without pruning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Check for overfitting: Train ~100% vs Test ~93%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Calculate CCP path (cost_complexity_pruning_path)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Extract possible alpha values ​​and total impurity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Learning tree by alpha and observing performance changes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Train/Test accuracy, number of leaves, depth changes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Select optimal alpha through 5-fold cross-validation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5. 1-SE Rule applied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6. Comparison of tree visualization before and after pruning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Core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# Calculate CCP path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full_tree = DecisionTreeClassifier(random_state=42)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full_tree.fit(X_train,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path = full_tree.cost_complexity_pruning_path(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ccp_alphas = path.ccp_alphas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impurities = path.impurities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# Learn tree for each alpha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for alpha in ccp_alphas: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tree = DecisionTreeClassifier(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ccp_alpha=alpha, random_state=42)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tree.fit(X_train, y_train)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# Select optimal alpha by cross-validation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scores = cross_val_score(tree, X_train,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y_train, cv=5, scoring='accuracy')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Analysis of CCP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Tree complexity and performance changes as alpha increases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Changes according to alpha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Increase in alpha -&gt; Decrease number of leaf nodes (tree simplification)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Increase in alpha -&gt; Decrease tree depth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Train accuracy: Steady decrease as alpha increases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Test accuracy: Initially increases and then decreases (U-shaped reversal)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Cross-validation + 1-SE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Optimal alpha: CV accuracy is maximum. Branch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1-SE alpha: Optimal - Largest alpha over 1SE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1-SE Rule selects simpler tree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Applying Occam's Razor principle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389120"/>
            <a:ext cx="27432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389120"/>
            <a:ext cx="914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3891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Depth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38912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4389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Number of leaves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438912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438912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389120"/>
            <a:ext cx="1371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4389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8006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Complete tree (alpha=0)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4800600"/>
            <a:ext cx="914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4800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48006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480060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48006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0" y="4800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1.0000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8006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800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~0.9298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48006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8006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578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Optimal alpha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5257800"/>
            <a:ext cx="914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5257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5257800"/>
            <a:ext cx="1097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0" y="525780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52578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5257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52578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5257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~0.9532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5257800"/>
            <a:ext cx="1371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52578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~0.02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715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7150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1-SE alpha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715000"/>
            <a:ext cx="914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57150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5715000"/>
            <a:ext cx="1097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51960" y="5715000"/>
            <a:ext cx="1005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0" y="57150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49240" y="5715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57150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0840" y="5715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~0.9474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46720" y="5715000"/>
            <a:ext cx="1371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92440" y="571500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~0.01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rPr/>
              <a:t>=&gt; Test performance improves while effectively controlling overfitting through pruning.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8.12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Hands-on: Tree Ensemble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03_tree_ensemble_basics.py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Exercise 3: Tree ensemble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Check the instability of a single tree and the variance reduction effect of majority voting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rPr/>
              <a:t>Practice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Learning 10 independent trees from bootstrap samples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Same data, different bootstrap sample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Check the instability of the tree structure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Predictive variance analysis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Prediction consistency of 10 trees for each sample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Exact match vs low match rate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Majority Voting Ensemble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Comparison of majority vote vs. individual tree performance of 10 trees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Instability analysis of feature importance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Importance varies greatly for each tree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5. Performance stabilization depending on ensemble size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- Observe performance convergence with 1 -&gt; 100 trees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Core code: Bootstrap + majority vote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# Learning tree from bootstrap samples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for i in range(n_trees):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bootstrap_idx = np.random.choice(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n_samples, size=n_samples, replace=True)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X_boot = X_train[bootstrap_idx]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y_boot = y_train[bootstrap_idx]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tree = DecisionTreeClassifier()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tree.fit(X_boot, y_boot)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# Majority vote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for j in range(len(y_test)):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votes = [tree.predict(X_test[j:j+1])[0]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for tree in trees]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majority_vote = Counter(votes)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                .most_common(1)[0][0]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# Unique sample rate ~63.2% (bootstrap theory)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Ensemble experiment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Majority voting is more stable and accurate than individual trees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Performance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Individual tree Test Accuracy: Average ~0.93, standard deviation ~0.03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10 tree majority voting ensemble: ~0.96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Ensemble improves +3% compared to average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Effect of increasing ensemble size: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1 -&gt; 10 -&gt; 50 -&gt; 100: Gradually converging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Key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4688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1. Even if only the bootstrap sample is different from the same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The tree structure changes significantly (High Variance)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2. Feature importance also varies greatly from tree to tree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3. Combine multiple trees -&gt; Error offset -&gt; Reduce variance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4. This is what n_estimators in Random Forest mean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2D decision boundary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5 bootstrap trees vs 20 ensembles in make_moons data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개별 트리: 결정 경계가 불안정하고 복잡하며 과적합 경향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앙상블: 결정 경계가 부드럽고 안정적이며 일반화 성능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=&gt; 배깅(Bagging)의 핵심 원리를 시각적으로 확인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8.13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Medical Diagnosis, Customer Segmentation, Manufacturing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1: Medical diagnosis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Extracting interpretable diagnosis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rPr/>
              <a:t>Reason for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Providing interpretable rules to doctors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'If worst perimeter &gt; 114.45, malignancy is high'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Creation of medical guidelines: Establishment of diagnostic protocol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Triage system: Automatic classification of patient urgency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Explainability favorable for approval by regulatory agencies such as FDA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1168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sklearn.tree import export_text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diag_model = DecisionTreeClassifier(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max_depth=3, random_state=42)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diag_model.fit(X, y)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rules = export_text(diag_model,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feature_names=list(feature_names))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rPr/>
              <a:t># Tracking individual patient diagnosis path: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node_indicator = diag_model.decision_path(X[:1])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rPr/>
              <a:t>Caution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In medical AI, a single decision tree is used only as an auxiliary tool. The final diagnosis must be made by a medical expert.</a:t>
            </a:r>
            <a:br/>
            <a:r>
              <a:rPr/>
              <a:t>If accuracy is required, use an ensemble model, but also use explanatory techniques such as SHAP for interpretability.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Application 2-3: Customer segmentation &amp; manufacturing defect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0292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rPr/>
              <a:t>Customer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Scenario: E-commerce customer VIP/general/churn classification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[Last purchase date &lt;= 30 days]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 -&gt; [Monthly purchase amount &gt;= 500,000 won]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Example -&gt; [VIP Customer]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 -&gt; [General Customer]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 -&gt; [Last purchase date &lt;= 90 days]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Yes -&gt; [churn risk]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 -&gt; [churn customer]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Advantage: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Use the extracted rules directly in your marketing strategy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Even non-experts (marketers) can immediately 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011680"/>
            <a:ext cx="54864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rPr/>
              <a:t>Manufacturing Defect Analysis (Root Cause Analysis)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46888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Scenario: Identify the cause of increase in semiconductor process defect rate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[Temperature &gt; 185 degrees]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Yes -&gt; [Humidity &gt; 65%]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Yes -&gt; [Defect rate: 23.4%] &lt;- Core cause!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 -&gt; [Defect rate: 5.2%]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No -&gt; [Defect rate: 1.8%]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Advantage: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Identify defect causative variables by feature importance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Clearly identify bad conditions in split rules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Providing intuitive improvement directions to process engineers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rPr/>
              <a:t>Rules can be mounted on a real-time monitoring system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takeaways + review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Key Summary &amp; Review Questions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Key Summary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Summary of key concepts and formulas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8229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contents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Tree structure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423160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Hierarchical structure of root -&gt; internal nodes -&gt; leaves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98648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Entropy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898648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898648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H = -SUM(p_i * log2(p_i)), Range: [0,1] (binary)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74136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741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Gini impurity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374136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374136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Gini = 1 - SUM(p_i^2), Range: [0,0.5] (binary)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9624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4962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Information gain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849624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849624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Impurity reduction before and after splitting, select the largest split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25112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2511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Algorithm 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325112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4325112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ID3(1986) -&gt; CART(1984) -&gt; C4.5(1993)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00600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00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Pre-pruning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800600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80060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max_depth, min_samples_split, min_samples_leaf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76088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7608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Post-pruning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5276088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5276088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CCP: R_a(T) = R(T) + a*|T_leaf|, Select optimal a with CV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Key takeaways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Additional concepts and pros and cons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Topics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82296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takeaways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1-SE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423160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Optimal performance - choose the simplest model over 1SE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98648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9864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Overfitting/instability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898648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898648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High variance, addressed with ensembles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74136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374136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Variable selection 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374136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3374136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Prefer high cardinality, mitigate with gain ratios/statistical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9624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49624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Proxy splitting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849624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3849624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Missing value handling: Use alternative properties similar to optimal splitting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25112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25112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Regression tree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4325112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360" y="4325112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MSE reduction criteria, leaf prediction = mean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00600"/>
            <a:ext cx="22860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800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Advantages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800600"/>
            <a:ext cx="8229600" cy="4754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800600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Interpretability, no preprocessing required, non-linear capture, fast prediction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276088"/>
            <a:ext cx="22860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76088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rPr/>
              <a:t>Disadvantages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5276088"/>
            <a:ext cx="8229600" cy="4754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5276088"/>
            <a:ext cx="8138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rPr/>
              <a:t>Overfitting, instability, axis-aligned partitioning, greedy optimization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Q1. [Concept] Write the mathematical definitions of entropy and Gini impurity, and find the maximum value of each in binary classification.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Q2. [Calculation] When there are 8 classes A and 2 classes B in the node, calculate (a) Gini impurity and (b) entropy.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Q3. [Comparison] Compare the division criteria, division method, and pruning strategy of ID3, CART, and C4.5 algorithms.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Q4. [Mathematics] Explain the role of alpha in the cost-complexity function, and explain which tree is selected when alpha=0 and alpha-&gt;inf, respectively.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Q5. [Practice] What is the 1-SE Rule, and why is this rule applied instead of simply using the model with the highest CV score?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8.14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Review questions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Q6. [Theory] Explain why decision trees have high variance, and describe the basic idea of ​​ensemble techniques to solve this problem.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Q7. [Bias] What is the variable selection bias pointed out by Loh (2011), and how does the C4.5 gain ratio alleviate this problem?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Q8. [Missing] Explain the principle of proxy division in CART. How to learn a decision tree with data with missing values ​​in scikit-learn?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Q9. [Implementation] Analyze the time complexity of optimal split search in the decision tree scratch implementation. (Number of features d, Number of samples n, Depth h)</a:t>
            </a: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BBBBCC"/>
                </a:solidFill>
                <a:latin typeface="맑은 고딕"/>
              </a:defRPr>
            </a:pPr>
            <a:r>
              <a:rPr/>
              <a:t>Q10. [Application] Explain why decision trees are preferred over neural networks in the financial field (loan screening) from the perspectives of ‘interpretability’ and ‘regulatory requirements’.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rPr/>
              <a:t>Reference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rPr/>
              <a:t>5 core papers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3152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011680"/>
            <a:ext cx="41148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011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Papers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2011680"/>
            <a:ext cx="38404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0116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Key contributions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2011680"/>
            <a:ext cx="109728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011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rPr/>
              <a:t>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423160"/>
            <a:ext cx="7315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42316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24231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Quinlan - Induction of Decision Trees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2423160"/>
            <a:ext cx="38404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242316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ID3, information gain-based attribute selection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42316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42316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1986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926080"/>
            <a:ext cx="7315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92608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92608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29260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Breiman et al. - CART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2926080"/>
            <a:ext cx="38404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92608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Gini impurity, CCP, proxy split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92608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92608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1984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29000"/>
            <a:ext cx="7315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42900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342900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34290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Quinlan - C4.5: Programs for ML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3429000"/>
            <a:ext cx="38404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40680" y="342900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Gain ratio, EBP, missing value handling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42900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342900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1993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931920"/>
            <a:ext cx="73152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93192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80160" y="3931920"/>
            <a:ext cx="411480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325880" y="39319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Rokach &amp; Maimon - TDIDT Survey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3931920"/>
            <a:ext cx="38404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40680" y="393192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TDIDT framework, systematic classification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3931920"/>
            <a:ext cx="1097280" cy="5029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0" y="393192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2005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434840"/>
            <a:ext cx="73152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43484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4434840"/>
            <a:ext cx="41148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443484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Loh - Classification and Regression Trees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4434840"/>
            <a:ext cx="38404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4434840"/>
            <a:ext cx="3749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rPr/>
              <a:t>Variable selection bias analysis, GUIDE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4434840"/>
            <a:ext cx="109728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4434840"/>
            <a:ext cx="1005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2011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3832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CC"/>
                </a:solidFill>
                <a:latin typeface="맑은 고딕"/>
              </a:defRPr>
            </a:pPr>
            <a:r>
              <a:rPr/>
              <a:t>Chapter 8 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rPr/>
              <a:t>Next Chapter: Chapter 9 Ensemble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