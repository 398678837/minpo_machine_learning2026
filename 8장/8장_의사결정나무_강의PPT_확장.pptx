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0972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6FF"/>
                </a:solidFill>
                <a:latin typeface="맑은 고딕"/>
              </a:defRPr>
            </a:pPr>
            <a:r>
              <a:t>CHAPTER 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73736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01168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t>의사결정나무 (Decision Tree)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4747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t>직관 | 정보이론 | 분할 기준 | ID3/CART/C4.5 | 가지치기 | 앙상블 동기 | 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0292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기계학습 (Machine Learning)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목차 (Table of Contents)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t>8.1  직관 - 인간의 의사결정 모방</a:t>
            </a:r>
          </a:p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t>8.2  정보이론 기초</a:t>
            </a:r>
          </a:p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t>8.3  분할 기준</a:t>
            </a:r>
          </a:p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t>8.4  알고리즘 역사 (ID3/CART/C4.5)</a:t>
            </a:r>
          </a:p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t>8.5  가지치기 (Pruning)</a:t>
            </a:r>
          </a:p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t>8.6  과적합과 불안정성</a:t>
            </a:r>
          </a:p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t>8.7  변수 선택 편향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8288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t>8.8  보충 (결측치, 회귀, 시각화)</a:t>
            </a:r>
          </a:p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t>8.9  논문 리뷰 (TDIDT 프레임워크)</a:t>
            </a:r>
          </a:p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t>8.10 실습: 의사결정나무 스크래치</a:t>
            </a:r>
          </a:p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t>8.11 실습: CART 가지치기</a:t>
            </a:r>
          </a:p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t>8.12 실습: 트리 앙상블 기초</a:t>
            </a:r>
          </a:p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t>8.13 응용사례</a:t>
            </a:r>
          </a:p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t>8.14 핵심 요약 + 복습 질문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학습 목표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BBBBCC"/>
                </a:solidFill>
                <a:latin typeface="맑은 고딕"/>
              </a:defRPr>
            </a:pPr>
            <a:r>
              <a:t>1. 의사결정나무의 수학적 원리(엔트로피, 지니 불순도)를 깊이 이해한다</a:t>
            </a:r>
          </a:p>
          <a:p>
            <a:pPr>
              <a:spcAft>
                <a:spcPts val="1600"/>
              </a:spcAft>
              <a:defRPr sz="2000">
                <a:solidFill>
                  <a:srgbClr val="BBBBCC"/>
                </a:solidFill>
                <a:latin typeface="맑은 고딕"/>
              </a:defRPr>
            </a:pPr>
            <a:r>
              <a:t>2. ID3, CART, C4.5의 발전 과정과 각 알고리즘의 핵심 기여를 파악한다</a:t>
            </a:r>
          </a:p>
          <a:p>
            <a:pPr>
              <a:spcAft>
                <a:spcPts val="1600"/>
              </a:spcAft>
              <a:defRPr sz="2000">
                <a:solidFill>
                  <a:srgbClr val="BBBBCC"/>
                </a:solidFill>
                <a:latin typeface="맑은 고딕"/>
              </a:defRPr>
            </a:pPr>
            <a:r>
              <a:t>3. 비용-복잡도 가지치기(CCP)와 1-SE Rule의 원리를 이해하고 적용한다</a:t>
            </a:r>
          </a:p>
          <a:p>
            <a:pPr>
              <a:spcAft>
                <a:spcPts val="1600"/>
              </a:spcAft>
              <a:defRPr sz="2000">
                <a:solidFill>
                  <a:srgbClr val="BBBBCC"/>
                </a:solidFill>
                <a:latin typeface="맑은 고딕"/>
              </a:defRPr>
            </a:pPr>
            <a:r>
              <a:t>4. 과적합/불안정성 문제를 인식하고 앙상블 기법의 동기를 이해한다</a:t>
            </a:r>
          </a:p>
          <a:p>
            <a:pPr>
              <a:spcAft>
                <a:spcPts val="1600"/>
              </a:spcAft>
              <a:defRPr sz="2000">
                <a:solidFill>
                  <a:srgbClr val="BBBBCC"/>
                </a:solidFill>
                <a:latin typeface="맑은 고딕"/>
              </a:defRPr>
            </a:pPr>
            <a:r>
              <a:t>5. 스크래치 구현과 가지치기 실습을 통해 실무 적용 능력을 갖춘다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FF"/>
                </a:solidFill>
                <a:latin typeface="맑은 고딕"/>
              </a:defRPr>
            </a:pPr>
            <a:r>
              <a:t>SECTION 8.1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직관 - 인간의 의사결정 모방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Decision Tree Intuition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스무고개 비유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의사결정나무는 인간의 순차적 질문-응답 과정을 모델링한다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스무고개 게임의 원리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'그것은 동물인가?' -&gt; 예/아니오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'날 수 있는가?' -&gt; 예/아니오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'크기가 고양이보다 큰가?' -&gt; 예/아니오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=&gt; 반복적 질문으로 정답에 도달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01168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1031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연봉 예측 예시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46888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질문 1: '교육 수준이 13년 이상인가?'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예 -&gt; '주당 근무시간 &gt;= 40?' -&gt; 예 -&gt; [&gt;50K]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아니오 -&gt; '나이 &gt;= 30?' -&gt; ...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데이터 특성 기반 조건으로 분할하며 예측 수행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54880"/>
            <a:ext cx="1097280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846320"/>
            <a:ext cx="10424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맑은 고딕"/>
              </a:defRPr>
            </a:pPr>
            <a:r>
              <a:t>핵심 포인트: 의사결정나무는 '인간이 이해할 수 있는 형태의 규칙'을 자동으로 학습하는 알고리즘이다. 이 해석가능성이 여전히 의사결정나무가 실무에서 널리 사용되는 이유이다.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트리의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루트 노드, 내부 노드, 리프 노드의 계층적 구성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        [교육 수준 &lt;= 12.5]         &lt;- 루트 노드 (Root)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        /                \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 [나이 &lt;= 35.5]      [주당 근무 &gt; 45]  &lt;- 내부 노드 (Internal)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  /        \           /         \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[&lt;=50K]   [&lt;=50K]    [&gt;50K]     [&lt;=50K]  &lt;- 리프 노드 (Leaf)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011680"/>
            <a:ext cx="146304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용어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2011680"/>
            <a:ext cx="164592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0116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영문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09760" y="2011680"/>
            <a:ext cx="32004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0" y="20116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설명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423160"/>
            <a:ext cx="146304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42316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루트 노드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2423160"/>
            <a:ext cx="164592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242316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Root Node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09760" y="2423160"/>
            <a:ext cx="320040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55480" y="242316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트리의 최상단, 첫 번째 분할 지점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807208"/>
            <a:ext cx="146304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80720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내부 노드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0" y="2807208"/>
            <a:ext cx="164592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9560" y="280720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Internal Node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09760" y="2807208"/>
            <a:ext cx="320040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55480" y="2807208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추가적인 분할 조건을 가진 중간 노드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191256"/>
            <a:ext cx="146304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19125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리프 노드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3840" y="3191256"/>
            <a:ext cx="164592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09560" y="3191256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Leaf Node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09760" y="3191256"/>
            <a:ext cx="320040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55480" y="3191256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최종 예측값을 가진 최하단 노드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575304"/>
            <a:ext cx="146304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357530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분기 (Split)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63840" y="3575304"/>
            <a:ext cx="164592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09560" y="3575304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Split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509760" y="3575304"/>
            <a:ext cx="320040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55480" y="3575304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조건에 따라 데이터를 하위 노드로 나누는 과정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3959352"/>
            <a:ext cx="146304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395935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깊이 (Depth)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63840" y="3959352"/>
            <a:ext cx="164592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09560" y="3959352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Depth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509760" y="3959352"/>
            <a:ext cx="320040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55480" y="395935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루트에서 특정 노드까지의 간선 수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4343400"/>
            <a:ext cx="146304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43434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가지치기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63840" y="4343400"/>
            <a:ext cx="164592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09560" y="43434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Pruning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509760" y="4343400"/>
            <a:ext cx="320040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55480" y="434340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과적합 방지를 위해 가지를 제거하는 기법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해석가능성 (Interpretability)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블랙박스 모델과 달리 '왜 이런 예측을 했는가?'를 직관적으로 이해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329184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금융 (Finance)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2926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'대출이 거절된 이유'를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고객에게 설명해야 하는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규제 요건 충족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예: '연소득 &lt; 3000만원 AND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신용등급 &lt; 600' -&gt; 거절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2011680"/>
            <a:ext cx="329184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2103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의료 (Medical)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468880"/>
            <a:ext cx="2926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'왜 이 진단을 내렸는가'를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의사가 이해할 수 있어야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하는 윤리적 요구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예: 'tumor_size &gt; 3cm AND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age &gt; 60' -&gt; 악성 의심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2011680"/>
            <a:ext cx="384048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103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법률 / 규제 (Legal)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468880"/>
            <a:ext cx="3474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EU GDPR: '설명 가능한 AI'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(Explainable AI) 요구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의사결정나무는 규칙 형태로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의사결정 과정을 투명하게 제시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=&gt; 규제 준수에 가장 유리한 모델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303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맑은 고딕"/>
              </a:defRPr>
            </a:pPr>
            <a:r>
              <a:t>=&gt; 의사결정나무의 최대 장점: '인간이 이해할 수 있는 형태의 규칙'을 자동으로 학습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맑은 고딕"/>
              </a:defRPr>
            </a:pPr>
            <a:r>
              <a:t>SECTION 8.2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정보이론 기초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Shannon Entropy &amp; Information Gain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섀넌 엔트로피 (Shannon Entropy)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Claude Shannon (1948) - 데이터의 불확실성을 정량화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48640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엔트로피 정의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onsolas"/>
              </a:defRPr>
            </a:pPr>
            <a:r>
              <a:t>H(X) = - SUM[ p_i * log2(p_i) ],  i = 1, ..., C</a:t>
            </a:r>
            <a:br/>
            <a:r>
              <a:t>0 * log2(0) = 0 으로 정의 (극한값)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011680"/>
            <a:ext cx="502920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1031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직관적 의미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데이터를 설명하는 데 필요한 '평균 비트 수'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불확실성이 높을수록 -&gt; 더 많은 비트 필요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완전 순수(한 클래스) -&gt; H = 0 (불확실성 없음)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최대 불순(균등 분포) -&gt; H = log2(C) (최대 불확실성)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14800"/>
            <a:ext cx="164592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114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상태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94560" y="4114800"/>
            <a:ext cx="109728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411480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p1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4114800"/>
            <a:ext cx="109728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0" y="411480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p2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4114800"/>
            <a:ext cx="109728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411480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0" y="4114800"/>
            <a:ext cx="27432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0" y="41148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의미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526280"/>
            <a:ext cx="164592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52628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완전 순수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94560" y="4526280"/>
            <a:ext cx="109728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40280" y="4526280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1.0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4526280"/>
            <a:ext cx="109728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37560" y="4526280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0.0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0" y="4526280"/>
            <a:ext cx="109728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40" y="4526280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0" y="4526280"/>
            <a:ext cx="274320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32120" y="452628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불확실성 없음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910328"/>
            <a:ext cx="164592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491032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약간 불순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4910328"/>
            <a:ext cx="109728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40280" y="4910328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0.9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91840" y="4910328"/>
            <a:ext cx="109728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37560" y="4910328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0.1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89120" y="4910328"/>
            <a:ext cx="109728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34840" y="4910328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0.469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0" y="4910328"/>
            <a:ext cx="274320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32120" y="4910328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낮은 불확실성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294376"/>
            <a:ext cx="164592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5294376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중간 불순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194560" y="5294376"/>
            <a:ext cx="109728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240280" y="5294376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0.7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91840" y="5294376"/>
            <a:ext cx="109728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37560" y="5294376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0.3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89120" y="5294376"/>
            <a:ext cx="109728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34840" y="5294376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0.881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0" y="5294376"/>
            <a:ext cx="274320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32120" y="5294376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중간 불확실성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5678424"/>
            <a:ext cx="164592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5678424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최대 불순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194560" y="5678424"/>
            <a:ext cx="109728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240280" y="5678424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0.5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91840" y="5678424"/>
            <a:ext cx="109728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337560" y="5678424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0.5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89120" y="5678424"/>
            <a:ext cx="109728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434840" y="5678424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1.000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0" y="5678424"/>
            <a:ext cx="274320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32120" y="5678424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최대 불확실성 (동전)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엔트로피 계산 예시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구체적 수치로 엔트로피 계산 과정 이해하기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097280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예시: 노드에 클래스 A 7개, 클래스 B 3개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onsolas"/>
              </a:defRPr>
            </a:pPr>
            <a:r>
              <a:t>H = -( 0.7 * log2(0.7) + 0.3 * log2(0.3) )</a:t>
            </a:r>
            <a:br/>
            <a:r>
              <a:t>  = -( 0.7 * (-0.5146) + 0.3 * (-1.7370) )</a:t>
            </a:r>
            <a:br/>
            <a:r>
              <a:t>  = -( -0.3602 + (-0.5211) ) = 0.8813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023360"/>
            <a:ext cx="10972800" cy="256032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160520"/>
            <a:ext cx="10607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import numpy as np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def entropy(labels):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"""엔트로피를 계산하는 함수"""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if len(labels) == 0: return 0.0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classes, counts = np.unique(labels, return_counts=True)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probabilities = counts / len(labels)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ent = -np.sum(probabilities * np.log2(probabilities + 1e-10))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return ent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순수 노드: 0.0000 | 혼합 노드 7:3: 0.8813 | 최대 불순 5:5: 1.0000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정보이득 (Information Gain)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분할 전후의 엔트로피 감소량 = 좋은 질문의 척도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정보이득 공식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onsolas"/>
              </a:defRPr>
            </a:pPr>
            <a:r>
              <a:t>IG(S, A) = H(S) - SUM[ |S_v|/|S| * H(S_v) ]</a:t>
            </a:r>
            <a:br/>
            <a:br/>
            <a:r>
              <a:t>S: 부모 노드의 데이터</a:t>
            </a:r>
            <a:br/>
            <a:r>
              <a:t>A: 분할 속성</a:t>
            </a:r>
            <a:br/>
            <a:r>
              <a:t>S_v: 속성 A의 값이 v인 부분집합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01168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1031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핵심 원리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의사결정나무는 정보이득이 '가장 큰' 분할을 선택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정보이득이 크다 = 분할 후 자식 노드가 더 순수해짐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좋은 질문 = 불확실성을 크게 줄이는 질문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탐욕적(greedy) 방식으로 매 단계 최적 분할 선택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정보이득 계산 예시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구체적 수치를 통한 단계별 계산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097280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단계별 계산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10424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onsolas"/>
              </a:defRPr>
            </a:pPr>
            <a:r>
              <a:t>1. 부모 노드: 클래스 A 7개, 클래스 B 3개 (총 10개)</a:t>
            </a:r>
            <a:br/>
            <a:r>
              <a:t>   -&gt; H(parent) = 0.8813</a:t>
            </a:r>
            <a:br/>
            <a:br/>
            <a:r>
              <a:t>2. 왼쪽 자식: 클래스 A 6개, 클래스 B 1개 (총 7개)</a:t>
            </a:r>
            <a:br/>
            <a:r>
              <a:t>   -&gt; H(left) = -( 6/7*log2(6/7) + 1/7*log2(1/7) ) = 0.5917</a:t>
            </a:r>
            <a:br/>
            <a:br/>
            <a:r>
              <a:t>3. 오른쪽 자식: 클래스 A 1개, 클래스 B 2개 (총 3개)</a:t>
            </a:r>
            <a:br/>
            <a:r>
              <a:t>   -&gt; H(right) = -( 1/3*log2(1/3) + 2/3*log2(2/3) ) = 0.9183</a:t>
            </a:r>
            <a:br/>
            <a:br/>
            <a:r>
              <a:t>4. 정보이득 계산:</a:t>
            </a:r>
            <a:br/>
            <a:r>
              <a:t>   IG = 0.8813 - ( 7/10 * 0.5917 + 3/10 * 0.9183 )</a:t>
            </a:r>
            <a:br/>
            <a:r>
              <a:t>      = 0.8813 - ( 0.4142 + 0.2755 ) = 0.8813 - 0.6897 = 0.1916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E696"/>
                </a:solidFill>
                <a:latin typeface="맑은 고딕"/>
              </a:defRPr>
            </a:pPr>
            <a:r>
              <a:t>SECTION 8.3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분할 기준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Splitting Criteria: Entropy, Gini, Variance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분할 기준 1: 엔트로피 (Entropy)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ID3, C4.5 알고리즘의 기본 분할 기준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02920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수식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onsolas"/>
              </a:defRPr>
            </a:pPr>
            <a:r>
              <a:t>Entropy(t) = - SUM[ p_i * log2(p_i) ]</a:t>
            </a:r>
            <a:br/>
            <a:r>
              <a:t>범위: [0, log2(C)],  이진분류: [0, 1]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57600"/>
            <a:ext cx="5029200" cy="292608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794760"/>
            <a:ext cx="4663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def entropy(labels):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"""엔트로피를 계산하는 함수"""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if len(labels) == 0: return 0.0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classes, counts = np.unique(labels,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                    return_counts=True)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probs = counts / len(labels)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ent = -np.sum(probs * np.log2(probs + 1e-10))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return ent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순수 노드 [0,0,0,0,0]: 0.0000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혼합 7:3  [0,..,0,1,1,1]: 0.8813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최대 5:5  [0,..,0,1,..,1]: 1.0000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2011680"/>
            <a:ext cx="5486400" cy="4572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21031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엔트로피의 특성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6888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정보이론(Information Theory)에 기반한 수학적으로 엄밀한 기준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 = 0.5에서 최대값 1.0 (최대 불확실성)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 = 0 또는 p = 1에서 최소값 0 (완전 순수)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log2 연산 필요 -&gt; 지니보다 계산 비용이 약간 높음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Shannon (1948)의 정보이론: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'데이터를 설명하는 데 필요한 평균 비트 수'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불확실성이 높을수록 더 많은 비트 필요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분할 기준 2: 지니 불순도 (Gini Impurity)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CART 알고리즘과 scikit-learn의 기본 기준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02920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수식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onsolas"/>
              </a:defRPr>
            </a:pPr>
            <a:r>
              <a:t>Gini(t) = 1 - SUM[ p_i^2 ]</a:t>
            </a:r>
            <a:br/>
            <a:r>
              <a:t>이진 분류 범위: [0, 0.5]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57600"/>
            <a:ext cx="502920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74903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맑은 고딕"/>
              </a:defRPr>
            </a:pPr>
            <a:r>
              <a:t>계산 예시 (A: 7개, B: 3개)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148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onsolas"/>
              </a:defRPr>
            </a:pPr>
            <a:r>
              <a:t>Gini = 1 - (0.7^2 + 0.3^2)</a:t>
            </a:r>
            <a:br/>
            <a:r>
              <a:t>     = 1 - (0.49 + 0.09) = 0.42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201168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1488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def gini_impurity(labels):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"""지니 불순도를 계산하는 함수"""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if len(labels) == 0: return 0.0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classes, counts = np.unique(labels,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                        return_counts=True)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probs = counts / len(labels)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gini = 1 - np.sum(probs ** 2)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return gini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457200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46634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지니의 직관적 의미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502920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한 노드에서 임의로 두 샘플을 뽑았을 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서로 다른 클래스일 확률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로그 연산 불필요 -&gt; 계산 효율적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scikit-learn의 기본값 (criterion='gini')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분할 기준 3: 분산 감소 (Variance Reduction)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회귀 트리에서의 분할 기준 - MSE 감소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MSE (Mean Squared Error) 기준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onsolas"/>
              </a:defRPr>
            </a:pPr>
            <a:r>
              <a:t>MSE(t) = (1/N) * SUM[ (y_i - y_bar)^2 ]</a:t>
            </a:r>
            <a:br/>
            <a:br/>
            <a:r>
              <a:t>delta_MSE = MSE(parent)</a:t>
            </a:r>
            <a:br/>
            <a:r>
              <a:t>  - ( N_L/N * MSE(L) + N_R/N * MSE(R) 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01168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21031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회귀 트리의 예측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46888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각 리프 노드의 예측값 = 해당 노드 샘플들의 평균값 y_bar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= 구간별 상수 모델 (piecewise constant model)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분할 기준: MSE 감소량이 가장 큰 분할 선택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범위: [0, inf) - 연속값 예측에 사용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89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맑은 고딕"/>
              </a:defRPr>
            </a:pPr>
            <a:r>
              <a:t>CART (회귀 모드): DecisionTreeRegressor(criterion='squared_error')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세 분할 기준의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Entropy vs Gini vs Variance Reduction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18288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기준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2011680"/>
            <a:ext cx="201168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7440" y="20116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사용 알고리즘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2011680"/>
            <a:ext cx="164592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20116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범위 (이진)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2011680"/>
            <a:ext cx="18288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20116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계산 복잡도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2011680"/>
            <a:ext cx="32004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20116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특징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42316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42316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엔트로피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2423160"/>
            <a:ext cx="201168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23160" y="242316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ID3, C4.5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2423160"/>
            <a:ext cx="16459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24231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[0, 1]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242316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0760" y="242316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O(C) + log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0" y="2423160"/>
            <a:ext cx="32004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09560" y="242316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정보이론 기반, 수학적 엄밀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2926080"/>
            <a:ext cx="1828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29260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지니 불순도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77440" y="2926080"/>
            <a:ext cx="201168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23160" y="292608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CART, sklearn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89120" y="2926080"/>
            <a:ext cx="16459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34840" y="292608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[0, 0.5]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926080"/>
            <a:ext cx="1828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80760" y="29260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O(C)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63840" y="2926080"/>
            <a:ext cx="32004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09560" y="292608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로그 연산 불필요, 효율적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42900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34290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분산 감소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77440" y="3429000"/>
            <a:ext cx="201168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23160" y="34290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CART (회귀)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89120" y="3429000"/>
            <a:ext cx="16459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34840" y="342900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[0, inf)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35040" y="342900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80760" y="34290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O(N)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63840" y="3429000"/>
            <a:ext cx="32004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09560" y="342900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연속값 예측에 사용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4114800"/>
            <a:ext cx="109728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4206240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실질적 비교 결과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4572000"/>
            <a:ext cx="10424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엔트로피와 지니 모두 p=0.5에서 최대, p=0 또는 p=1에서 0</a:t>
            </a:r>
          </a:p>
          <a:p>
            <a:pPr>
              <a:spcAft>
                <a:spcPts val="8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두 기준의 분할 결과는 실질적으로 거의 유사 (약 2%의 경우에만 차이)</a:t>
            </a:r>
          </a:p>
          <a:p>
            <a:pPr>
              <a:spcAft>
                <a:spcPts val="8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지니가 계산이 더 빠르므로 scikit-learn에서 기본값으로 사용</a:t>
            </a:r>
          </a:p>
          <a:p>
            <a:pPr>
              <a:spcAft>
                <a:spcPts val="8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불순도 비교 그래프: Gini, Entropy, Classification Error 곡선이 유사한 형태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8C00"/>
                </a:solidFill>
                <a:latin typeface="맑은 고딕"/>
              </a:defRPr>
            </a:pPr>
            <a:r>
              <a:t>SECTION 8.4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알고리즘 역사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ID3 -&gt; CART -&gt; C4.5: Evolution of Decision Trees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ID3 (Iterative Dichotomiser 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J. Ross Quinlan, 1986 - Machine Learning 학술지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핵심 특징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정보이득(Information Gain) 기반 속성 선택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다중 분기(multi-way split) 허용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 범주형 속성의 모든 값에 대해 분기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하향식 재귀 분할(TDIDT) 방법론 정립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범주형 속성만 처리 가능 (연속형 미지원)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01168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21031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한계점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46888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카디널리티(고유 값 수)가 높은 속성을 부당하게 선호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고유 값이 N개인 속성: 2^(N-1)-1개 분할 후보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우연히 높은 정보이득을 얻을 확률이 높음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가지치기(pruning) 전략 미흡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결측값 처리 불가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572000"/>
            <a:ext cx="1097280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663440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맑은 고딕"/>
              </a:defRPr>
            </a:pPr>
            <a:r>
              <a:t>ID3 알고리즘 의사코드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029200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onsolas"/>
              </a:defRPr>
            </a:pPr>
            <a:r>
              <a:t>ID3(S, Attributes):</a:t>
            </a:r>
            <a:br/>
            <a:r>
              <a:t>  if S의 모든 샘플이 같은 클래스 c: return Leaf(c)</a:t>
            </a:r>
            <a:br/>
            <a:r>
              <a:t>  if Attributes 비어있음: return Leaf(최빈 클래스)</a:t>
            </a:r>
            <a:br/>
            <a:r>
              <a:t>  A* = argmax IG(S, A)   // 정보이득 최대 속성</a:t>
            </a:r>
            <a:br/>
            <a:r>
              <a:t>  for each v in Values(A*): 재귀 호출 ID3(S_v, Attrs - {A*})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CART (Classification and Regression Trees)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Breiman, Friedman, Stone, Olshen - 1984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02920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핵심 특징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이진 분할(binary split) 전용: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 항상 데이터를 정확히 두 부분집합으로 분할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지니 불순도(Gini Impurity) 사용 (분류)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MSE 사용 (회귀)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비용-복잡도 가지치기(CCP):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 체계적 사후 가지치기 방법론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 R_a(T) = R(T) + a * |T_leaf|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대리 분할(Surrogate Split):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 결측값 처리의 체계적 방법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분류와 회귀를 동일 프레임워크에서 처리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011680"/>
            <a:ext cx="548640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21031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CART vs ID3 비교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46888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[분할 방식] ID3: 다중 분기 / CART: 이진 분할만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[분할 기준] ID3: 정보이득 / CART: 지니 불순도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[회귀 지원] ID3: 불가 / CART: 가능 (MSE)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[가지치기] ID3: 미흡 / CART: CCP (체계적)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[결측값] ID3: 미지원 / CART: 대리 분할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scikit-learn의 DecisionTreeClassifier와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DecisionTreeRegressor는 CART 알고리즘을 구현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통계학적 관점에서 의사결정나무를 엄밀하게 정립한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역사적으로 중요한 연구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C4.5 - Quinlan, 1993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IEEE ICDM '데이터 마이닝 10대 알고리즘' 투표 1위 (2006)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097280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핵심 개선: 정보이득비율 (Gain Ratio) 도입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GainRatio(S, A) = IG(S, A) / SplitInfo(S, A)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SplitInfo(S, A) = -SUM[ |S_v|/|S| * log2(|S_v|/|S|) 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=&gt; 카디널리티 편향 해결: 고유 값이 많은 속성의 SplitInfo가 크므로 GainRatio가 작아짐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931920"/>
            <a:ext cx="347472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연속형 속성 처리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이진 분할점(threshold) 탐색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속성값을 정렬 후 인접 값의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중간점을 후보로 검토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=&gt; ID3의 범주형 제한 극복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931920"/>
            <a:ext cx="347472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4023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오류 기반 가지치기 (EBP)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438912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별도의 검증 데이터 없이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비관적 오류 추정으로 가지치기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각 리프의 오류를 비관적으로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추정하여 가지치기 여부 결정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931920"/>
            <a:ext cx="347472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4023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추가 기능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38912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결측값의 확률적 처리: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결측 인스턴스를 확률적으로 분배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트리-규칙 변환: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루트-리프 경로를 if-then 규칙으로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의사결정나무 발전 타임라인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1964년부터 현재까지의 알고리즘 진화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109728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연도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0" y="2011680"/>
            <a:ext cx="22860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0116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알고리즘/사건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2011680"/>
            <a:ext cx="41148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20116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주요 기여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2011680"/>
            <a:ext cx="27432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0116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저자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423160"/>
            <a:ext cx="10972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423160"/>
            <a:ext cx="1005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1964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45920" y="242316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91640" y="2423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AID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31920" y="242316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77640" y="24231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최초의 자동 상호작용 탐지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242316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24231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Morgan &amp; Sonquist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880360"/>
            <a:ext cx="10972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2880360"/>
            <a:ext cx="1005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1980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45920" y="288036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91640" y="2880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CHAID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1920" y="2880360"/>
            <a:ext cx="4114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77640" y="28803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카이제곱 검정 기반 분할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288036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92440" y="28803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Kass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337560"/>
            <a:ext cx="10972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3337560"/>
            <a:ext cx="1005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1984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45920" y="333756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91640" y="3337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CART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1920" y="333756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77640" y="33375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지니 불순도, CCP, 대리 분할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46720" y="333756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92440" y="33375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Breiman et al.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794760"/>
            <a:ext cx="10972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3794760"/>
            <a:ext cx="1005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1986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45920" y="379476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691640" y="37947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ID3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31920" y="3794760"/>
            <a:ext cx="4114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77640" y="3794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정보이득, TDIDT 프레임워크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46720" y="379476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92440" y="37947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Quinlan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4251960"/>
            <a:ext cx="10972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360" y="4251960"/>
            <a:ext cx="1005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1993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645920" y="425196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691640" y="4251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C4.5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31920" y="425196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977640" y="42519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이득비율, EBP, 연속형 처리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46720" y="425196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92440" y="42519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Quinlan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4709160"/>
            <a:ext cx="10972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4360" y="4709160"/>
            <a:ext cx="1005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2005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645920" y="470916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691640" y="4709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TDIDT 서베이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931920" y="4709160"/>
            <a:ext cx="4114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977640" y="47091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분할/가지치기 체계적 분류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046720" y="470916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92440" y="47091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Rokach &amp; Maimon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8640" y="5166360"/>
            <a:ext cx="10972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4360" y="5166360"/>
            <a:ext cx="1005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2009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45920" y="516636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91640" y="5166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GUIDE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931920" y="516636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977640" y="51663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편향 없는 변수 선택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046720" y="516636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092440" y="51663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Loh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4545"/>
                </a:solidFill>
                <a:latin typeface="맑은 고딕"/>
              </a:defRPr>
            </a:pPr>
            <a:r>
              <a:t>SECTION 8.5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가지치기 (Pruning)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Pre-Pruning &amp; Post-Pruning: Controlling Tree Complexity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왜 가지치기가 필요한가?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가지치기 없이 완전히 성장 -&gt; 노이즈까지 학습 -&gt; 과적합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097280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과적합 예시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onsolas"/>
              </a:defRPr>
            </a:pPr>
            <a:r>
              <a:t>가지치기 없음:  Train=97.8%  Test=81.6%  -&gt; 격차 16.2% (과적합!)</a:t>
            </a:r>
            <a:br/>
            <a:r>
              <a:t>max_depth=5:   Train=85.4%  Test=85.0%  -&gt; 격차  0.4% (양호)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57600"/>
            <a:ext cx="502920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7490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과적합의 원인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4663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트리를 완전히 성장시키면 훈련 데이터의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노이즈(noise)까지 학습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리프 노드에 소수의 샘플만 남아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통계적으로 신뢰할 수 없는 예측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=&gt; 새로운 데이터에 대한 일반화 성능 저하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3657600"/>
            <a:ext cx="548640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3749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가지치기의 목적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11480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불필요하게 복잡한 가지를 제거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편향(bias)은 약간 증가하지만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분산(variance)을 크게 감소시킴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=&gt; Bias-Variance Tradeoff의 최적점 탐색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=&gt; 일반화 성능(test accuracy) 향상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사전 가지치기 (Pre-Pruning)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트리 성장 과정에서 조건을 두어 조기 중단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22860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파라미터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2011680"/>
            <a:ext cx="32004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0116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설명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2011680"/>
            <a:ext cx="13716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20116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기본값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2011680"/>
            <a:ext cx="36576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0116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효과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42316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423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max_depth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4640" y="242316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0360" y="2423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트리의 최대 깊이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423160"/>
            <a:ext cx="1371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60" y="24231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None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06640" y="2423160"/>
            <a:ext cx="3657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24231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값이 작을수록 단순한 트리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88036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2880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min_samples_split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40" y="288036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80360" y="2880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분할 최소 샘플 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2880360"/>
            <a:ext cx="13716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0760" y="28803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06640" y="2880360"/>
            <a:ext cx="36576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52360" y="28803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값이 클수록 분할 억제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33756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3337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min_samples_leaf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333756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80360" y="33375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리프 최소 샘플 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3337560"/>
            <a:ext cx="1371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80760" y="33375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06640" y="3337560"/>
            <a:ext cx="3657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52360" y="33375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값이 클수록 작은 리프 제거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79476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37947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max_features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34640" y="379476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80360" y="3794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고려 최대 특성 수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35040" y="3794760"/>
            <a:ext cx="13716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80760" y="37947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None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06640" y="3794760"/>
            <a:ext cx="36576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52360" y="37947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랜덤성 부여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4389120"/>
            <a:ext cx="502920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44805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장점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484632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구현이 간단하고 계산 비용이 적다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scikit-learn에서 파라미터 하나로 제어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대규모 데이터에서도 빠르게 적용 가능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943600" y="4389120"/>
            <a:ext cx="548640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26480" y="44805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단점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0" y="484632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최적의 중단 시점을 사전에 알기 어렵다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조기에 중단하면 이후의 유용한 분할을 놓칠 수 있음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(예: 현재 분할은 효과 없지만 다음 분할이 유효한 경우)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=&gt; 사후 가지치기가 더 체계적인 대안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비용-복잡도 가지치기 (CCP) -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CART에서 제안한 가장 널리 사용되는 사후 가지치기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097280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비용-복잡도 함수 (Cost-Complexity Function)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10424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onsolas"/>
              </a:defRPr>
            </a:pPr>
            <a:r>
              <a:t>R_alpha(T) = R(T) + alpha * |T_leaf|</a:t>
            </a:r>
            <a:br/>
            <a:br/>
            <a:r>
              <a:t>R(T)      : 트리 T의 오분류 비율 (또는 총 불순도)</a:t>
            </a:r>
            <a:br/>
            <a:r>
              <a:t>|T_leaf|  : 트리 T의 리프 노드 수</a:t>
            </a:r>
            <a:br/>
            <a:r>
              <a:t>alpha     : 복잡도 파라미터 (alpha &gt;= 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114800"/>
            <a:ext cx="5029200" cy="24688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2062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alpha의 역할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alpha = 0: 완전한 트리 (가지치기 없음)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alpha 증가: 리프 노드 수에 대한 페널티 증가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더 공격적으로 가지치기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alpha -&gt; inf: 루트 노드만 남은 최단순 트리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목표: 최적의 alpha를 교차검증으로 선택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4114800"/>
            <a:ext cx="5486400" cy="24688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4206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직관적 이해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57200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R(T): 트리의 '정확도' (오류를 줄이고 싶음)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|T_leaf|: 트리의 '복잡도' (단순하게 만들고 싶음)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alpha: 정확도와 복잡도 사이의 균형 조절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= 정규화(Regularization)의 원리와 동일!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(LASSO의 lambda와 같은 역할)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CCP 알고리즘 절차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완전 트리에서 출발하여 점진적으로 가지치기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0972800" cy="4572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onsolas"/>
              </a:defRPr>
            </a:pPr>
            <a:r>
              <a:t>1. 완전히 성장한 트리 T_max에서 시작</a:t>
            </a:r>
            <a:br/>
            <a:br/>
            <a:r>
              <a:t>2. 각 내부 노드 t에 대해, 하위 트리 T_t를 단일 리프로 대체했을 때의</a:t>
            </a:r>
            <a:br/>
            <a:r>
              <a:t>   유효 alpha 계산:</a:t>
            </a:r>
            <a:br/>
            <a:r>
              <a:t>   alpha_eff(t) = [ R(t) - R(T_t) ] / [ |T_t_leaf| - 1 ]</a:t>
            </a:r>
            <a:br/>
            <a:br/>
            <a:r>
              <a:t>   R(t): 노드 t를 리프로 만들었을 때의 오분류 비율</a:t>
            </a:r>
            <a:br/>
            <a:r>
              <a:t>   R(T_t): 노드 t의 하위 트리 전체의 오분류 비율</a:t>
            </a:r>
            <a:br/>
            <a:r>
              <a:t>   |T_t_leaf|: 하위 트리의 리프 수</a:t>
            </a:r>
            <a:br/>
            <a:br/>
            <a:r>
              <a:t>3. 가장 작은 alpha_eff를 가진 노드의 하위 트리를 가지치기</a:t>
            </a:r>
            <a:br/>
            <a:r>
              <a:t>   (= 가지치기해도 오류 증가가 가장 적은 노드)</a:t>
            </a:r>
            <a:br/>
            <a:br/>
            <a:r>
              <a:t>4. 2-3단계를 반복:</a:t>
            </a:r>
            <a:br/>
            <a:r>
              <a:t>   T_max ⊃ T_1 ⊃ T_2 ⊃ ... ⊃ T_root</a:t>
            </a:r>
            <a:br/>
            <a:br/>
            <a:r>
              <a:t>5. 교차검증(cross-validation)으로 최적의 alpha 선택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1-SE Rule (One Standard Error Rule)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오컴의 면도날 원칙: 비슷한 성능이면 가장 단순한 모델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1-SE Rule 공식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onsolas"/>
              </a:defRPr>
            </a:pPr>
            <a:r>
              <a:t>alpha_1SE = max{ alpha |</a:t>
            </a:r>
            <a:br/>
            <a:r>
              <a:t>  CV(alpha) &gt;= CV(alpha*) - SE(alpha*) }</a:t>
            </a:r>
            <a:br/>
            <a:br/>
            <a:r>
              <a:t>alpha*: CV 점수 최대인 alpha</a:t>
            </a:r>
            <a:br/>
            <a:r>
              <a:t>SE: 표준오차 (standard error)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01168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21031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원칙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46888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CV 정확도가 (최적 정확도 - 1*표준오차) 이상인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범위에서 가장 큰 alpha(가장 단순한 트리) 선택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= '비슷한 성능 범위 내에서 가장 단순한 모델'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114800"/>
            <a:ext cx="10972800" cy="246888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251960"/>
            <a:ext cx="10607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from sklearn.tree import DecisionTreeClassifier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CCP 경로 계산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full_tree = DecisionTreeClassifier(random_state=42)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full_tree.fit(X_train, y_train)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path = full_tree.cost_complexity_pruning_path(X_train, y_train)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ccp_alphas = path.ccp_alphas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1-SE Rule 적용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one_se_threshold = best_cv_mean - best_cv_std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one_se_candidates = alphas[cv_means &gt;= one_se_threshold]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alpha_1se = one_se_candidates[-1]  # 가장 큰 alpha = 가장 단순한 트리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A06CFF"/>
                </a:solidFill>
                <a:latin typeface="맑은 고딕"/>
              </a:defRPr>
            </a:pPr>
            <a:r>
              <a:t>SECTION 8.6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과적합과 불안정성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Overfitting &amp; High Variance Problem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과적합 (Overfitting)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훈련 데이터에 지나치게 맞추어 일반화 성능이 저하되는 현상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097280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깊이별 성능 변화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10424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onsolas"/>
              </a:defRPr>
            </a:pPr>
            <a:r>
              <a:t>max_depth=1:    Train=91.2%  Test=90.4%  격차=0.8%  (과소적합)</a:t>
            </a:r>
            <a:br/>
            <a:r>
              <a:t>max_depth=3:    Train=96.2%  Test=93.4%  격차=2.8%  (양호)</a:t>
            </a:r>
            <a:br/>
            <a:r>
              <a:t>max_depth=5:    Train=98.8%  Test=93.4%  격차=5.4%  (경계)</a:t>
            </a:r>
            <a:br/>
            <a:r>
              <a:t>max_depth=None: Train=100%   Test=91.2%  격차=8.8%  (과적합!)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114800"/>
            <a:ext cx="10972800" cy="24688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2062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과적합 해결 전략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10607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사전 가지치기: max_depth, min_samples_split, min_samples_leaf 등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사후 가지치기: CCP(비용-복잡도 가지치기) + 교차검증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앙상블 기법: 배깅, 랜덤 포레스트, 그래디언트 부스팅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4. 데이터 관점: 더 많은 훈련 데이터 수집, 노이즈 제거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=&gt; 가지치기 없이 트리를 완전히 성장시키면 과적합 가능성이 매우 높다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높은 분산 문제 (High Variance)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의사결정나무의 가장 심각한 단점: 불안정성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02920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원인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663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탐욕적(greedy) 알고리즘: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루트 노드 분할이 달라지면 전체 트리 변경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계층적(hierarchical) 구조: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상위 노드의 변화가 모든 하위 노드에 영향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데이터 민감성: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소수의 샘플 변화가 분할 결정을 바꿈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011680"/>
            <a:ext cx="548640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21031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실험적 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46888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같은 데이터에서 부트스트랩 샘플만 달라도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트리 구조가 크게 변한다: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트리 1: petal_width 루트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트리 2: petal_length 루트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트리 3: sepal_length 루트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=&gt; 특성 중요도도 트리마다 크게 변동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029200"/>
            <a:ext cx="10972800" cy="15544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120640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Bias-Variance Tradeoff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48640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단일 트리: 낮은 편향(bias) + 높은 분산(variance)</a:t>
            </a:r>
            <a:br/>
            <a:r>
              <a:t>=&gt; 앙상블: 분산을 줄이면서 편향을 유지하여 전체 오차를 감소시킴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앙상블 동기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높은 분산 문제를 해결하기 위한 접근법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3291840" cy="3200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배깅 (Bagging)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2926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Bootstrap Aggregating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부트스트랩 샘플에서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여러 트리를 독립적으로 학습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다수결 투표로 최종 예측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분산 감소: Var/n 효과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2011680"/>
            <a:ext cx="3474720" cy="3200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2103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랜덤 포레스트 (RF)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468880"/>
            <a:ext cx="3108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배깅 + 특성 랜덤 선택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각 분할 시 sqrt(d) 특성만 고려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트리 간 상관관계 감소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=&gt; 더 효과적인 분산 감소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Breiman (2001)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2011680"/>
            <a:ext cx="3657600" cy="3200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1031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그래디언트 부스팅 (GB)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468880"/>
            <a:ext cx="3291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잔차를 순차적으로 학습하는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약한 트리(shallow tree)들의 결합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각 트리는 이전 트리의 오류를 수정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XGBoost, LightGBM, CatBoost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Friedman (2001)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맑은 고딕"/>
              </a:defRPr>
            </a:pPr>
            <a:r>
              <a:t>=&gt; 9장에서 앙상블 기법을 본격적으로 학습합니다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700"/>
                </a:solidFill>
                <a:latin typeface="맑은 고딕"/>
              </a:defRPr>
            </a:pPr>
            <a:r>
              <a:t>SECTION 8.7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변수 선택 편향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Variable Selection Bias in Decision Trees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변수 선택 편향 (Variable Selection Bias)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Loh (2011) - WIREs Data Mining and Knowledge Discovery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편향의 정의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예측력이 동일한 두 변수가 있을 때,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알고리즘이 특정 유형의 변수를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부당하게 선호하는 현상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=&gt; 모델의 공정성과 신뢰성에 영향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01168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21031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편향의 원인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46888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카디널리티 편향: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고유 값이 많은 속성 -&gt; 더 많은 분할 후보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-&gt; 우연히 높은 정보이득 확률 증가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예: '주민번호' -&gt; 2^(N-1)-1개 분할 후보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결측값 편향: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결측값 비율이 높은 속성이 선호될 수 있음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편향 해결책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이득비율, 통계적 검정, 순열 중요도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27432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방법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2011680"/>
            <a:ext cx="45720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20116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설명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2011680"/>
            <a:ext cx="27432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0116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예시 알고리즘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42316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231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이득비율 (Gain Ratio)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2423160"/>
            <a:ext cx="4572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242316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정보이득을 SplitInfo로 나누어 정규화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242316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24231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C4.5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88036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8803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통계적 검정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2880360"/>
            <a:ext cx="4572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37560" y="288036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변수 선택에 카이제곱 검정 등 사용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0" y="288036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9560" y="28803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CHAID, GUIDE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33756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3375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변수 선택/분할점 분리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3337560"/>
            <a:ext cx="4572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37560" y="333756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두 단계를 독립적으로 수행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3840" y="333756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09560" y="33375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GUIDE (Loh, 2009)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79476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37947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순열 중요도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91840" y="3794760"/>
            <a:ext cx="4572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37560" y="379476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변수를 무작위 섞어 성능 감소 측정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63840" y="379476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09560" y="37947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랜덤 포레스트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389120"/>
            <a:ext cx="1097280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4480560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실무적 시사점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4846320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scikit-learn의 feature_importances_는 지니 불순도 감소 기반 -&gt; 카디널리티 편향 존재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편향 없는 중요도 평가: permutation_importance()를 함께 사용 권장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고카디널리티 범주형 변수 (예: 우편번호, ID) 사용 시 주의 필요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GUIDE 알고리즘: 변수 선택과 분할점 결정을 분리하여 편향 제거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맑은 고딕"/>
              </a:defRPr>
            </a:pPr>
            <a:r>
              <a:t>SECTION 8.8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보충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Surrogate Splits, Regression Tree, Visualization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결측치 처리: 대리 분할 (Surrogate Splits)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CART에서 제안한 결측값 처리의 체계적 방법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029200" cy="3200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원리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663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노드에서 최적 분할 속성 A*와 임계값 theta* 결정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다른 모든 속성 A_j에 대해,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A*의 분할과 가장 높은 일치율을 보이는 분할을 탐색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A*가 결측인 샘플은 첫 번째 대리 분할로 처리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4. 그것도 결측이면 두 번째 대리 분할 사용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핵심: 최적 분할과 가장 유사한 결과를 내는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다른 속성을 대리(surrogate)로 사용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011680"/>
            <a:ext cx="5486400" cy="3200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21031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실무 참고사항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468880"/>
            <a:ext cx="5120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scikit-learn: 대리 분할 미지원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사전에 결측치를 처리해야 함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SimpleImputer, KNNImputer 등 사용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XGBoost: 결측값 직접 처리 가능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결측 샘플을 좌/우 분기에 각각 보내어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더 나은 쪽을 자동 선택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LightGBM: 마찬가지로 결측값 직접 처리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=&gt; 실무에서는 XGBoost/LightGBM이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결측값 처리에 더 편리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회귀 나무 (Regression Tree)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연속값 예측: 리프 노드의 예측값 = 해당 노드 샘플들의 평균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구간별 상수 모델 (Piecewise Constant)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각 리프 노드의 예측값 = 해당 노드 샘플의 평균값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입력 공간을 직사각형(axis-aligned) 영역으로 분할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각 영역에서 상수값(평균)으로 예측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MSE 감소를 분할 기준으로 사용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01168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214884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from sklearn.tree import DecisionTreeRegressor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reg_tree = DecisionTreeRegressor(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max_depth=3, random_state=42)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reg_tree.fit(X_train, y_train)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각 리프: 해당 구간의 평균값을 예측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114800"/>
            <a:ext cx="109728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2062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모델 트리 (Model Tree) - 확장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각 리프에서 상수 대신 선형 회귀 모델을 적합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=&gt; 표현력 향상: 각 영역에서 선형 함수로 예측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Quinlan의 M5 알고리즘이 대표적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일반 회귀 트리: y = c (상수)  vs  모델 트리: y = w0 + w1*x1 + w2*x2 + ...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=&gt; 연속적인 예측 함수를 더 잘 근사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트리 시각화 (Visualization)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scikit-learn의 두 가지 트리 시각화 방법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방법 1: 그래픽 시각화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from sklearn.tree import plot_tree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plt.figure(figsize=(25, 12))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plot_tree(model,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feature_names=feature_names,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class_names=class_names,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filled=True,    # 색상으로 클래스 표시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rounded=True,   # 둥근 모서리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fontsize=10)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plt.show()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201168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21488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방법 2: 텍스트 규칙 출력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from sklearn.tree import export_text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rules = export_text(model,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feature_names=list(feature_names))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print(rules)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|--- petal width &lt;= 0.80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|   |--- class: setosa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|--- petal width &gt;  0.80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|   |--- petal length &lt;= 4.95 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572000"/>
            <a:ext cx="1097280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6634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규칙 추출 (Rule Extraction) - C4.5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2920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트리의 각 루트-리프 경로를 if-then 규칙으로 변환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예: IF worst_radius &lt;= 16.80 AND worst_concave_points &lt;= 0.14 THEN benign [신뢰도: 97.2%]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각 규칙을 독립적으로 가지치기 -&gt; 더 간결한 분류기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decision_path()로 개별 샘플의 결정 경로 추적 가능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A06CFF"/>
                </a:solidFill>
                <a:latin typeface="맑은 고딕"/>
              </a:defRPr>
            </a:pPr>
            <a:r>
              <a:t>SECTION 8.9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논문 리뷰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Rokach &amp; Maimon (2005) - TDIDT Framework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TDIDT 프레임워크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Rokach &amp; Maimon (2005) - IEEE Trans. SMC, Vol.35, No.4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097280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논문의 핵심: 트리 유도를 독립적 설계 결정(Design Choice)으로 분해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하향식 의사결정나무 유도(Top-Down Induction of Decision Trees) 알고리즘에 대한 포괄적 분류 체계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각 설계 결정은 독립적으로 선택 가능하며, 조합에 따라 다양한 알고리즘 구성 가능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657600"/>
            <a:ext cx="22860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6576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설계 결정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3657600"/>
            <a:ext cx="50292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3657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선택지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3657600"/>
            <a:ext cx="32004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3657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대표 알고리즘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069080"/>
            <a:ext cx="228600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06908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분할 기준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40" y="4069080"/>
            <a:ext cx="502920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80360" y="406908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정보이득, 이득비율, 지니, 카이제곱, 분산감소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0" y="4069080"/>
            <a:ext cx="320040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09560" y="406908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ID3, C4.5, CART, CHAID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453128"/>
            <a:ext cx="228600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45312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정지 기준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34640" y="4453128"/>
            <a:ext cx="502920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80360" y="4453128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max_depth, min_samples, 순수도 임계값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0" y="4453128"/>
            <a:ext cx="320040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09560" y="4453128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모든 알고리즘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837176"/>
            <a:ext cx="228600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837176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가지치기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34640" y="4837176"/>
            <a:ext cx="502920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80360" y="4837176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사전(pre), CCP, EBP, MEP, MDL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63840" y="4837176"/>
            <a:ext cx="320040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09560" y="4837176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CART, C4.5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221224"/>
            <a:ext cx="228600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522122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결측값 처리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34640" y="5221224"/>
            <a:ext cx="502920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80360" y="5221224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대리 분할, 확률적 분배, 삭제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63840" y="5221224"/>
            <a:ext cx="320040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09560" y="5221224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CART, C4.5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5605272"/>
            <a:ext cx="228600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560527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분할 유형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834640" y="5605272"/>
            <a:ext cx="502920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80360" y="560527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축 정렬, 경사(oblique), 다변량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63840" y="5605272"/>
            <a:ext cx="320040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09560" y="560527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CART, OC1, CART-LC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논문의 주요 기여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불순도 vs 거리 기반 분할, 가지치기 비교, 다변량 분할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329184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불순도 vs 거리 기반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불순도 함수: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엔트로피, 지니 불순도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노드의 순수도를 측정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거리 기반 기준: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카이제곱, 콜모고로프-스미르노프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분할 전후의 분포 차이 측정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이론적 차이를 명확히 분석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2011680"/>
            <a:ext cx="347472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2103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가지치기 비교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46888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CCP (CART):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교차검증 기반 -&gt; 안정적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but 계산 비용이 높음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EBP (C4.5):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효율적이나 비관적 추정의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정확도에 의존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둘 다 사후 가지치기 방식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2011680"/>
            <a:ext cx="365760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1031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다변량 분할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468880"/>
            <a:ext cx="3291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축 정렬 분할 (axis-aligned):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x_i &lt;= theta (한 변수만 사용)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경사 분할 (oblique):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a1*x1 + a2*x2 + ... &lt;= theta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표현력이 높지만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해석가능성이 저하됨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=&gt; 표현력 vs 해석가능성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트레이드오프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E696"/>
                </a:solidFill>
                <a:latin typeface="맑은 고딕"/>
              </a:defRPr>
            </a:pPr>
            <a:r>
              <a:t>SECTION 8.10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실습: 의사결정나무 스크래치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01_decision_tree_scratch.py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실습 1: 의사결정나무 스크래치 구현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라이브러리 없이 처음부터 구현하여 내부 동작 원리 이해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029200" cy="4572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구현 내용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불순도 측정 함수 구현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- gini_impurity(labels)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- entropy(labels)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- information_gain(parent, left, right)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DecisionNode 클래스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- feature_index, threshold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- left, right, value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DecisionTreeFromScratch 클래스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- fit(): 재귀적 트리 구축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- predict(): 트리 탐색 예측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- print_tree(): 텍스트 출력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4. sklearn DecisionTreeClassifier와 비교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011680"/>
            <a:ext cx="5486400" cy="4572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21031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핵심 학습 포인트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46888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데이터셋: Iris (sklearn 내장, 150개, 4특성, 3클래스)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CART 알고리즘 기반 구현: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 이진 분할(binary split) 사용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 지니 불순도 또는 엔트로피 기준 지원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정지 조건(Stopping Criteria):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 모든 샘플이 같은 클래스 (순수 노드)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 최대 깊이에 도달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 최소 분할 샘플 수 미달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특성 중요도 계산: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 가중 불순도 감소량 누적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 정규화하여 합이 1이 되도록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불순도 함수 구현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gini_impurity, entropy, information_gain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def gini_impurity(labels):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"""Gini(t) = 1 - SUM(p_i^2)"""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if len(labels) == 0: return 0.0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counter = Counter(labels)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total = len(labels)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probs = [c/total for c in counter.values()]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return 1.0 - sum(p**2 for p in probs)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def entropy(labels):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"""H(t) = -SUM(p_i * log2(p_i))"""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if len(labels) == 0: return 0.0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counter = Counter(labels)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total = len(labels)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ent = 0.0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for count in counter.values():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p = count / total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if p &gt; 0: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ent -= p * np.log2(p)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return 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488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def information_gain(parent, left, right,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         criterion='gini'):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"""IG = parent - weighted child impurity"""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fn = gini_impurity if criterion=='gini'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else entropy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parent_imp = fn(parent)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n = len(parent)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n_l, n_r = len(left), len(right)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if n_l == 0 or n_r == 0: return 0.0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child_imp = (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(n_l/n) * fn(left) +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(n_r/n) * fn(right)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return parent_imp - child_imp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검증 예시: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순수 노드:     Gini=0.0000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혼합 노드 7:3: Gini=0.4200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최대 불순 5:5: Gini=0.5000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재귀적 트리 구축 (_build_tree)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핵심 알고리즘: 최적 분할 탐색 + 재귀 호출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0972800" cy="4572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def _build_tree(self, X, y, depth):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n_samples, n_classes = len(y), len(set(y))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current_impurity = impurity_fn(y)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# === 정지 조건 확인 ===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if n_classes == 1 or (max_depth and depth &gt;= max_depth) or n_samples &lt; min_samples_split: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return DecisionNode(value=Counter(y).most_common(1)[0][0])  # 리프 노드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# === 최적 분할 탐색 (전수 탐색) ===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best_gain = -1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for feature_idx in range(n_features):           # 모든 특성에 대해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thresholds = np.unique(X[:, feature_idx])   # 모든 고유값을 후보로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for threshold in thresholds:                 # 각 임계값에 대해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left_mask = X[:, feature_idx] &lt;= threshold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if sum(left_mask) &lt; min_samples_leaf or sum(~left_mask) &lt; min_samples_leaf: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    continue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gain = information_gain(y, y[left_mask], y[~left_mask], criterion)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if gain &gt; best_gain:  best_gain, best_feature, best_threshold = gain, feature_idx, threshold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# === 재귀적으로 자식 노드 구축 ===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left_child  = self._build_tree(X[best_left], y[best_left], depth + 1)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right_child = self._build_tree(X[best_right], y[best_right], depth + 1)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return DecisionNode(feature_index=best_feature, threshold=best_threshold,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            left=left_child, right=right_child, info_gain=best_gain)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예측 및 sklearn과의 비교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Scratch 구현 vs sklearn DecisionTreeClassifier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def predict(self, X):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return np.array([self._predict_single(x, self.root) for x in X])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def _predict_single(self, x, node):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if node.value is not None: return node.value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if x[node.feature_index] &lt;= node.threshold: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return self._predict_single(x, node.left)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else: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return self._predict_single(x, node.right)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2011680"/>
            <a:ext cx="22860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20116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모델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2011680"/>
            <a:ext cx="164592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0116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Train Acc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75520" y="2011680"/>
            <a:ext cx="164592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0" y="20116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Test Acc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2423160"/>
            <a:ext cx="22860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24231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Scratch (Gini)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423160"/>
            <a:ext cx="164592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242316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~1.0000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75520" y="2423160"/>
            <a:ext cx="164592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21240" y="242316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~0.9556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2834640"/>
            <a:ext cx="22860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20" y="28346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sklearn (Gini)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2834640"/>
            <a:ext cx="164592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28346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~1.0000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75520" y="2834640"/>
            <a:ext cx="164592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21240" y="28346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~0.9556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3246120"/>
            <a:ext cx="22860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89320" y="32461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Scratch (Entropy)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3246120"/>
            <a:ext cx="164592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20" y="32461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-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75520" y="3246120"/>
            <a:ext cx="164592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21240" y="32461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~0.9556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3657600"/>
            <a:ext cx="22860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89320" y="36576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sklearn (Entropy)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3657600"/>
            <a:ext cx="164592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75320" y="365760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-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875520" y="3657600"/>
            <a:ext cx="164592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21240" y="365760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~0.9556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4389120"/>
            <a:ext cx="1097280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48056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비교 결과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46320"/>
            <a:ext cx="10607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Scratch 구현과 sklearn의 성능이 거의 동일 -&gt; 알고리즘 구현의 정확성 검증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특성 중요도도 유사한 패턴: petal_width, petal_length가 가장 중요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sklearn은 C/Cython으로 최적화되어 대규모 데이터에서 훨씬 빠름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학습 목적으로는 Scratch 구현이 내부 동작 이해에 매우 효과적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8C00"/>
                </a:solidFill>
                <a:latin typeface="맑은 고딕"/>
              </a:defRPr>
            </a:pPr>
            <a:r>
              <a:t>SECTION 8.11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실습: CART 가지치기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02_cart_pruning.py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실습 2: CART 가지치기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비용-복잡도 가지치기(CCP)의 원리를 실습하고 최적 alpha 선택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029200" cy="4572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실습 내용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데이터셋: Breast Cancer (sklearn, 569개, 30특성, 2클래스)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완전 트리 성장 (Full Tree Growth)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- 가지치기 없이 완전히 성장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- 과적합 확인: Train ~100% vs Test ~93%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CCP 경로(cost_complexity_pruning_path) 계산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- 가능한 alpha 값들과 총 불순도 추출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alpha별 트리 학습 및 성능 변화 관찰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- Train/Test 정확도, 리프 수, 깊이 변화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4. 5-폴드 교차검증으로 최적 alpha 선택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5. 1-SE Rule 적용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6. 가지치기 전후 트리 시각화 비교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011680"/>
            <a:ext cx="5486400" cy="4572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21031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핵심 코드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46888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# CCP 경로 계산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full_tree = DecisionTreeClassifier(random_state=42)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full_tree.fit(X_train, y_train)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path = full_tree.cost_complexity_pruning_path(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X_train, y_train)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ccp_alphas = path.ccp_alphas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impurities = path.impurities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# 각 alpha에 대해 트리 학습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for alpha in ccp_alphas: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tree = DecisionTreeClassifier(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   ccp_alpha=alpha, random_state=42)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tree.fit(X_train, y_train)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# 교차검증으로 최적 alpha 선택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scores = cross_val_score(tree, X_train,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y_train, cv=5, scoring='accuracy')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CCP 결과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alpha 증가에 따른 트리 복잡도와 성능 변화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alpha에 따른 변화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alpha 증가 -&gt; 리프 노드 수 감소 (트리 단순화)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alpha 증가 -&gt; 트리 깊이 감소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Train 정확도: alpha 증가시 꾸준히 감소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Test 정확도: 처음에 증가 후 감소 (U자형 역전)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01168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21031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교차검증 + 1-SE 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46888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최적 alpha: CV 정확도가 최대인 지점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1-SE alpha: 최적 - 1SE 이상에서 가장 큰 alpha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=&gt; 1-SE Rule이 더 단순한 트리를 선택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=&gt; Occam's Razor 원칙 적용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389120"/>
            <a:ext cx="27432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3891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모델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4389120"/>
            <a:ext cx="9144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438912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깊이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4389120"/>
            <a:ext cx="109728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0" y="43891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리프 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4389120"/>
            <a:ext cx="13716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0" y="43891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Train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4389120"/>
            <a:ext cx="13716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43891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Test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4389120"/>
            <a:ext cx="13716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43891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격차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8006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8006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완전 트리 (alpha=0)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4800600"/>
            <a:ext cx="914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37560" y="480060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~7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4800600"/>
            <a:ext cx="10972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51960" y="4800600"/>
            <a:ext cx="1005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~17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03520" y="4800600"/>
            <a:ext cx="1371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49240" y="48006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1.0000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75120" y="4800600"/>
            <a:ext cx="1371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20840" y="48006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~0.9298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20" y="4800600"/>
            <a:ext cx="1371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92440" y="48006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~0.07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25780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52578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최적 alpha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91840" y="5257800"/>
            <a:ext cx="914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37560" y="525780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~4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5257800"/>
            <a:ext cx="10972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51960" y="5257800"/>
            <a:ext cx="1005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~8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03520" y="5257800"/>
            <a:ext cx="13716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49240" y="52578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~0.97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75120" y="5257800"/>
            <a:ext cx="13716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20840" y="52578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~0.9532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46720" y="5257800"/>
            <a:ext cx="13716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92440" y="52578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~0.02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57150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" y="57150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1-SE alpha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91840" y="5715000"/>
            <a:ext cx="914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37560" y="571500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~3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06240" y="5715000"/>
            <a:ext cx="10972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51960" y="5715000"/>
            <a:ext cx="1005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~5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0" y="5715000"/>
            <a:ext cx="1371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49240" y="57150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~0.96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675120" y="5715000"/>
            <a:ext cx="1371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720840" y="57150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~0.9474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046720" y="5715000"/>
            <a:ext cx="1371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92440" y="57150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~0.01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맑은 고딕"/>
              </a:defRPr>
            </a:pPr>
            <a:r>
              <a:t>=&gt; 가지치기를 통해 과적합을 효과적으로 제어하면서 테스트 성능이 향상됨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FF"/>
                </a:solidFill>
                <a:latin typeface="맑은 고딕"/>
              </a:defRPr>
            </a:pPr>
            <a:r>
              <a:t>SECTION 8.12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실습: 트리 앙상블 기초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03_tree_ensemble_basics.py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실습 3: 트리 앙상블 기초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단일 트리의 불안정성 확인과 다수결 투표의 분산 감소 효과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029200" cy="4572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실습 내용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부트스트랩 샘플에서 10개 독립 트리 학습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- 같은 데이터, 다른 부트스트랩 샘플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- 트리 구조의 불안정성 확인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예측 분산 분석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- 각 샘플별 10개 트리의 예측 일치도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- 완전 일치 vs 낮은 일치 비율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다수결 투표 앙상블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- 10개 트리의 다수결 vs 개별 트리 성능 비교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4. 특성 중요도의 불안정성 분석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- 각 트리마다 중요도가 크게 변동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5. 앙상블 크기에 따른 성능 안정화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- 1개 -&gt; 100개 트리로 성능 수렴 관찰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011680"/>
            <a:ext cx="5486400" cy="4572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21031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핵심 코드: 부트스트랩 + 다수결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46888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# 부트스트랩 샘플에서 트리 학습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for i in range(n_trees):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bootstrap_idx = np.random.choice(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   n_samples, size=n_samples, replace=True)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X_boot = X_train[bootstrap_idx]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y_boot = y_train[bootstrap_idx]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tree = DecisionTreeClassifier()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tree.fit(X_boot, y_boot)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# 다수결 투표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for j in range(len(y_test)):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votes = [tree.predict(X_test[j:j+1])[0]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        for tree in trees]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majority_vote = Counter(votes)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              .most_common(1)[0][0]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# 고유 샘플 비율 ~63.2% (부트스트랩 이론)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앙상블 실험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다수결 투표가 개별 트리보다 안정적이고 정확하다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성능 비교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개별 트리 Test Accuracy: 평균 ~0.93, 표준편차 ~0.03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10개 트리 다수결 앙상블: ~0.96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=&gt; 앙상블이 평균 대비 +3% 개선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앙상블 크기 증가 효과: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1개 -&gt; 10개 -&gt; 50개 -&gt; 100개: 점차 수렴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01168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21031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핵심 발견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46888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같은 데이터에서 부트스트랩 샘플만 달라도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트리 구조가 크게 변한다 (High Variance)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특성 중요도도 트리마다 크게 변동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여러 트리 결합 -&gt; 오류 상쇄 -&gt; 분산 감소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4. 이것이 랜덤 포레스트의 n_estimators 의미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572000"/>
            <a:ext cx="1097280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6634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2D 결정 경계 비교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2920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make_moons 데이터에서 5개 부트스트랩 트리 vs 20개 앙상블 비교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개별 트리: 결정 경계가 불안정하고 복잡하며 과적합 경향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앙상블: 결정 경계가 부드럽고 안정적이며 일반화 성능 우수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=&gt; 배깅(Bagging)의 핵심 원리를 시각적으로 확인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E696"/>
                </a:solidFill>
                <a:latin typeface="맑은 고딕"/>
              </a:defRPr>
            </a:pPr>
            <a:r>
              <a:t>SECTION 8.13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응용사례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Medical Diagnosis, Customer Segmentation, Manufacturing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응용 1: 의료 진단 트리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해석 가능한 진단 규칙 추출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적용 이유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의사에게 해석 가능한 규칙 제공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'worst perimeter &gt; 114.45이면 악성 가능성 높음'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의료 가이드라인 생성: 진단 프로토콜 수립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트리아지(Triage) 시스템: 환자 긴급도 자동 분류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FDA 등 규제 기관의 승인에 유리한 설명가능성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01168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21488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from sklearn.tree import export_text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diag_model = DecisionTreeClassifier(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max_depth=3, random_state=42)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diag_model.fit(X, y)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rules = export_text(diag_model,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feature_names=list(feature_names))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개별 환자 진단 경로 추적: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node_indicator = diag_model.decision_path(X[:1])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72000"/>
            <a:ext cx="1097280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663440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주의사항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029200"/>
            <a:ext cx="10424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의료 AI에서 단일 의사결정나무는 보조 도구로만 사용. 최종 진단은 반드시 의료 전문가가 내려야 한다.</a:t>
            </a:r>
            <a:br/>
            <a:r>
              <a:t>정확도가 요구되는 경우 앙상블 모델을 사용하되, 해석가능성을 위해 SHAP 등의 설명 기법 병행.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응용 2-3: 고객 세그멘테이션 &amp; 제조 불량 분석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02920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고객 세그멘테이션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시나리오: 이커머스 고객 VIP/일반/이탈 분류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[최근 구매일 &lt;= 30일]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예 -&gt; [월 구매금액 &gt;= 50만원]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예 -&gt; [VIP 고객]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아니오 -&gt; [일반 고객]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아니오 -&gt; [최근 구매일 &lt;= 90일]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예 -&gt; [이탈 위험]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아니오 -&gt; [이탈 고객]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장점: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추출된 규칙을 마케팅 전략에 직접 활용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비전문가(마케터)도 즉시 이해 가능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2011680"/>
            <a:ext cx="548640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21031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제조 불량 분석 (Root Cause Analysis)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46888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시나리오: 반도체 공정 불량률 증가 원인 파악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[온도 &gt; 185도]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예 -&gt; [습도 &gt; 65%]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예 -&gt; [불량률: 23.4%]  &lt;- 핵심 원인!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아니오 -&gt; [불량률: 5.2%]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아니오 -&gt; [불량률: 1.8%]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장점: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특성 중요도로 불량 원인 변수 식별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분할 규칙에서 불량 조건 명확히 파악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공정 엔지니어에게 직관적 개선 방향 제시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실시간 모니터링 시스템에 규칙 탑재 가능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700"/>
                </a:solidFill>
                <a:latin typeface="맑은 고딕"/>
              </a:defRPr>
            </a:pPr>
            <a:r>
              <a:t>SECTION 8.14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핵심 요약 + 복습 질문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Key Summary &amp; Review Questions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핵심 요약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주요 개념과 수식 정리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22860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주제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2011680"/>
            <a:ext cx="82296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0116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핵심 내용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23160"/>
            <a:ext cx="2286000" cy="47548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423160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트리 구조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2423160"/>
            <a:ext cx="8229600" cy="47548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2423160"/>
            <a:ext cx="8138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루트 -&gt; 내부 노드 -&gt; 리프의 계층적 구조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898648"/>
            <a:ext cx="2286000" cy="47548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898648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엔트로피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4640" y="2898648"/>
            <a:ext cx="8229600" cy="47548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0360" y="2898648"/>
            <a:ext cx="8138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H = -SUM(p_i * log2(p_i)), 범위: [0,1] (이진)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374136"/>
            <a:ext cx="2286000" cy="47548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374136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지니 불순도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3374136"/>
            <a:ext cx="8229600" cy="47548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80360" y="3374136"/>
            <a:ext cx="8138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Gini = 1 - SUM(p_i^2), 범위: [0,0.5] (이진)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849624"/>
            <a:ext cx="2286000" cy="47548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849624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정보이득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40" y="3849624"/>
            <a:ext cx="8229600" cy="47548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80360" y="3849624"/>
            <a:ext cx="8138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분할 전후 불순도 감소량, 가장 큰 분할 선택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325112"/>
            <a:ext cx="2286000" cy="47548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325112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알고리즘 역사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34640" y="4325112"/>
            <a:ext cx="8229600" cy="47548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80360" y="4325112"/>
            <a:ext cx="8138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ID3(1986) -&gt; CART(1984) -&gt; C4.5(1993)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800600"/>
            <a:ext cx="2286000" cy="47548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800600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사전 가지치기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4800600"/>
            <a:ext cx="8229600" cy="47548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80360" y="4800600"/>
            <a:ext cx="8138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max_depth, min_samples_split, min_samples_leaf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276088"/>
            <a:ext cx="2286000" cy="47548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5276088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사후 가지치기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34640" y="5276088"/>
            <a:ext cx="8229600" cy="47548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80360" y="5276088"/>
            <a:ext cx="8138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CCP: R_a(T) = R(T) + a*|T_leaf|, CV로 최적 a 선택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핵심 요약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추가 개념과 장단점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22860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주제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2011680"/>
            <a:ext cx="82296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0116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핵심 내용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23160"/>
            <a:ext cx="2286000" cy="47548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423160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1-SE Rule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2423160"/>
            <a:ext cx="8229600" cy="47548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2423160"/>
            <a:ext cx="8138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최적 성능 - 1SE 이상에서 가장 단순한 모델 선택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898648"/>
            <a:ext cx="2286000" cy="47548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898648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과적합/불안정성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4640" y="2898648"/>
            <a:ext cx="8229600" cy="47548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0360" y="2898648"/>
            <a:ext cx="8138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높은 분산(high variance), 앙상블로 해결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374136"/>
            <a:ext cx="2286000" cy="47548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374136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변수 선택 편향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3374136"/>
            <a:ext cx="8229600" cy="47548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80360" y="3374136"/>
            <a:ext cx="8138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고카디널리티 선호, 이득비율/통계적 검정으로 완화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849624"/>
            <a:ext cx="2286000" cy="47548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849624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대리 분할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40" y="3849624"/>
            <a:ext cx="8229600" cy="47548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80360" y="3849624"/>
            <a:ext cx="8138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결측값 처리: 최적 분할과 유사한 대체 속성 사용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325112"/>
            <a:ext cx="2286000" cy="47548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325112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회귀 트리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34640" y="4325112"/>
            <a:ext cx="8229600" cy="47548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80360" y="4325112"/>
            <a:ext cx="8138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MSE 감소 기준, 리프 예측값 = 평균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800600"/>
            <a:ext cx="2286000" cy="47548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800600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장점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4800600"/>
            <a:ext cx="8229600" cy="47548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80360" y="4800600"/>
            <a:ext cx="8138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해석가능성, 전처리 불필요, 비선형 포착, 빠른 예측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276088"/>
            <a:ext cx="2286000" cy="47548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5276088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단점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34640" y="5276088"/>
            <a:ext cx="8229600" cy="47548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80360" y="5276088"/>
            <a:ext cx="8138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과적합, 불안정성, 축 정렬 분할, 탐욕적 최적화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복습 질문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Q1. [개념] 엔트로피와 지니 불순도의 수학적 정의를 쓰고, 이진 분류에서 각각의 최대값을 구하시오.</a:t>
            </a:r>
          </a:p>
          <a:p>
            <a:pPr>
              <a:spcAft>
                <a:spcPts val="4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Q2. [계산] 노드에 클래스 A 8개, 클래스 B 2개가 있을 때, (a) 지니 불순도, (b) 엔트로피를 계산하시오.</a:t>
            </a:r>
          </a:p>
          <a:p>
            <a:pPr>
              <a:spcAft>
                <a:spcPts val="4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Q3. [비교] ID3, CART, C4.5 알고리즘의 분할 기준, 분할 방식, 가지치기 전략을 각각 비교하시오.</a:t>
            </a:r>
          </a:p>
          <a:p>
            <a:pPr>
              <a:spcAft>
                <a:spcPts val="4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Q4. [수학] 비용-복잡도 함수에서 alpha의 역할을 설명하고, alpha=0과 alpha-&gt;inf에서 각각 어떤 트리가 선택되는지 설명하시오.</a:t>
            </a:r>
          </a:p>
          <a:p>
            <a:pPr>
              <a:spcAft>
                <a:spcPts val="4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Q5. [실무] 1-SE Rule이란 무엇이며, 왜 단순히 CV 점수가 최대인 모델 대신 이 규칙을 적용하는가?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복습 질문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Q6. [이론] 의사결정나무가 높은 분산을 가지는 이유를 설명하고, 이를 해결하기 위한 앙상블 기법의 기본 아이디어를 서술하시오.</a:t>
            </a:r>
          </a:p>
          <a:p>
            <a:pPr>
              <a:spcAft>
                <a:spcPts val="4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Q7. [편향] Loh(2011)가 지적한 변수 선택 편향이란 무엇이며, C4.5의 이득비율은 이 문제를 어떻게 완화하는가?</a:t>
            </a:r>
          </a:p>
          <a:p>
            <a:pPr>
              <a:spcAft>
                <a:spcPts val="4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Q8. [결측] CART의 대리 분할의 원리를 설명하시오. scikit-learn에서 결측치를 가진 데이터로 의사결정나무를 학습하려면?</a:t>
            </a:r>
          </a:p>
          <a:p>
            <a:pPr>
              <a:spcAft>
                <a:spcPts val="4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Q9. [구현] 의사결정나무 스크래치 구현에서, 최적 분할 탐색의 시간 복잡도를 분석하시오. (특성 수 d, 샘플 수 n, 깊이 h)</a:t>
            </a:r>
          </a:p>
          <a:p>
            <a:pPr>
              <a:spcAft>
                <a:spcPts val="4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Q10. [응용] 금융 분야(대출 심사)에서 의사결정나무가 신경망보다 선호되는 이유를 '해석가능성'과 '규제 요건' 관점에서 설명하시오.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참고 논문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핵심 논문 5편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73152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#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2011680"/>
            <a:ext cx="41148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0116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논문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94960" y="2011680"/>
            <a:ext cx="384048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0" y="201168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핵심 기여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35440" y="2011680"/>
            <a:ext cx="109728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0" y="201168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연도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423160"/>
            <a:ext cx="7315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42316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80160" y="2423160"/>
            <a:ext cx="4114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242316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Quinlan - Induction of Decision Trees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94960" y="2423160"/>
            <a:ext cx="384048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40680" y="2423160"/>
            <a:ext cx="3749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ID3, 정보 이득 기반 속성 선택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2423160"/>
            <a:ext cx="109728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2423160"/>
            <a:ext cx="10058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1986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926080"/>
            <a:ext cx="7315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292608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80160" y="2926080"/>
            <a:ext cx="4114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25880" y="292608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Breiman et al. - CART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94960" y="2926080"/>
            <a:ext cx="384048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40680" y="2926080"/>
            <a:ext cx="3749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지니 불순도, CCP, 대리 분할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35440" y="2926080"/>
            <a:ext cx="109728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81160" y="2926080"/>
            <a:ext cx="10058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1984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429000"/>
            <a:ext cx="7315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342900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80160" y="3429000"/>
            <a:ext cx="4114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25880" y="342900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Quinlan - C4.5: Programs for ML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94960" y="3429000"/>
            <a:ext cx="384048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40680" y="3429000"/>
            <a:ext cx="3749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이득비율, EBP, 결측치 처리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35440" y="3429000"/>
            <a:ext cx="109728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81160" y="3429000"/>
            <a:ext cx="10058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1993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931920"/>
            <a:ext cx="7315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39319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80160" y="3931920"/>
            <a:ext cx="4114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325880" y="393192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Rokach &amp; Maimon - TDIDT Survey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94960" y="3931920"/>
            <a:ext cx="384048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40680" y="3931920"/>
            <a:ext cx="3749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TDIDT 프레임워크, 체계적 분류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235440" y="3931920"/>
            <a:ext cx="109728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81160" y="3931920"/>
            <a:ext cx="10058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2005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4434840"/>
            <a:ext cx="7315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360" y="443484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280160" y="4434840"/>
            <a:ext cx="4114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25880" y="443484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Loh - Classification and Regression Trees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394960" y="4434840"/>
            <a:ext cx="384048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40680" y="4434840"/>
            <a:ext cx="3749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변수 선택 편향 분석, GUIDE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235440" y="4434840"/>
            <a:ext cx="109728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81160" y="4434840"/>
            <a:ext cx="10058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2011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맑은 고딕"/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38328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BBCC"/>
                </a:solidFill>
                <a:latin typeface="맑은 고딕"/>
              </a:defRPr>
            </a:pPr>
            <a:r>
              <a:t>8장 의사결정나무 (Decision Tree)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5720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다음 장: 9장 앙상블 학습 (Ensemble Learning)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