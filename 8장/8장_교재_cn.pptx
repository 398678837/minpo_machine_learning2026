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大家好。今天我们学习机器学习十大算法第 8 章——决策树。决策树是树类模型的基石,是后续随机森林、XGBoost、LightGBM 的母体。今天我们将用美国人口普查数据,亲手构建一个"年薪是否超过 50K 美元"的预测模型,使用年龄、学历、教育年数、婚姻状况、职业、人种、性别等 13 个变量。虽然模型简单,但能够完整体验数据预处理、独热编码、建模、超参数调优、树的可视化等机器学习全流程。特别是过拟合问题及其解决方案——max_depth 参数调优——是所有机器学习模型都需要面对的核心主题。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本张幻灯片整理了今天的学习目标与进行顺序。左侧 8 项是本章要达成的学习目标,右侧是依次进行的 9 个小节。核心有两点:其一是预处理中将三种类别变量分别用三种不同方式(序数化、独热、均值替换)处理;其二是 8.7~8.8 节的过拟合与超参数调优。掌握这两点便等于掌握了本章。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首先了解什么是决策树。决策树是连接观测值(自变量)与目标值(因变量)的预测模型,顾名思义以树状方式对数据分类。线性模型通过优化各变量的斜率来构建模型,而树模型完全不同——它以变量的某个阈值为界对数据进行切分,例如反复问"性别是男是女?""年龄是否 ≥ 30 岁?",将数据逐步划分到更小的群组。为何能进入 TOP 10?其实仅看预测力,单独使用决策树几乎没有意义。它几乎唯一的优势是出色的可视化能力,但要理解后续的随机森林、XGBoost、LightGBM 等树类模型,就必须先掌握决策树。除深度学习外,树类模型是当前最受欢迎的趋势,所以决策树堪称机器学习入门者的"必备常识"。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择机器学习算法时,最重要的两个维度是预测力与解释力。预测力即"预测有多准确",解释力即"能否解释预测的依据"。遗憾的是二者通常呈反比关系——算法越复杂,预测力越好,但解释力下降。决策树与回归分析相对简单,解释力高;第 9 章起的树集成预测力高但难解释;深度学习作为最复杂的算法常被称为"黑箱"。到底偏向哪一方取决于场景。例如在医学领域预测发病率时,目标在于找出影响因素,因此偏向解释力高的模型;而在股价预测中,准确捕捉走势更重要,所以预测力高的算法更合适。决策树正好处于两端之间,凭借"解释力极高"成为长青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整理决策树的优缺点。最大的优点是它是非参数模型——不对数据分布作任何假设。线性回归需要正态性、自变量与因变量的线性关系等多种假设,而决策树没有这些限制,可以自由地应用于任何数据。第二个优点是几乎不受异常值影响——树仅比较值再分类,极端值只要分类结果一致就不会造成影响。第三个优点是可视化——通过树图,即使非专业人士也能理解模型的工作方式。缺点有两点:一是过拟合风险极高,二是单独使用时预测力较弱。这两点将在 8.7 节的超参数调优和第 9 章之后的集成模型中得到解决。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现在进入问题定义阶段。8.1 节定义我们要预测什么、使用什么数据、采用什么算法和评估指标。数据分析师与工程师的薪酬日新月异,我们的目标是回答"我的年薪水平合不合理"这个问题。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这是预测目标的整理表。数据集来自美国人口普查,共约 48,842 条记录。因变量为 class:&gt;50K 记 1,否则记 0;50K 表示 5 万美元,约合 6 千万韩元。自变量共 13 个,涵盖年龄、工作类别、学历、婚姻状况、职业、家庭关系、人种、性别等。美国是多民族国家,数据中包含人种信息这一点尤为特别。问题类型为分类,评估指标为准确率,模型采用 scikit-learn 的 DecisionTreeClassifier。所需依赖库共 5 个:numpy、pandas、seaborn、matplotlib、scikit-learn。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8.2 节是编码的第一步:导入所需库并加载数据,并通过 head、info、describe 等函数完成探索性数据分析 (EDA),把握数据的整体面貌。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导入 4 个必需库 (pandas、numpy、matplotlib、seaborn) 并加载 salary.csv。其中 read_csv 的 skipinitialspace=True 选项至关重要。本数据集每个单元格值前有一个空格,比如存为 " Male"。启用该选项后会自动去除空格,变为 "Male"。后续 class 变量的取值也是" &lt;=50K"带空格,正因有此选项才能直接用 "&lt;=50K" 比较。加载后用 head、info、describe 三个函数把握数据全貌:head 显示前 5 行,info 显示各字段类型与缺失,describe 显示统计量。describe 默认仅显示数值型,加 include="all" 后还能查看 object 型的 unique、top、freq 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本张幻灯片整理数据检查结果:共 48,842 行 14 列,其中 5 个数值型、9 个类别型。通过 info 可见 workclass、occupation、native-country 三个变量含有缺失。workclass 和 occupation 缺失约 5.7~5.8%,native-country 约 1.7%——本数据集的核心工作正是类别变量与缺失值处理。类别变量较多,独热编码必不可少,但需要注意变量数会因此剧增。特别是 native-country 含 41 个国家,直接独热会增加 41 个变量,因此必须考虑其他处理方式——这点将在 8.3 节详细讨论。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8.3 节是本章篇幅最大的部分,讲解如何预处理类别数据。核心是用三种不同方法分别处理三个变量:education、occupation、native-country。掌握这一节就掌握了数据预处理的核心范式。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首先把因变量 class 转为 0/1:&lt;=50K → 0,&gt;50K → 1。原数据 class 值前实际有一个空格,但 8.2 节已用 skipinitialspace=True 去除,所以可直接比较。其次用 for 循环检查所有变量的类型。变量约 13 个时肉眼就能区分,但若超过 100 个,自动化是必须的。因此再加 if 条件,只把 object 型收集到 obj_list,得到 8 个变量。最后用 nunique 函数查看每个变量的唯一值数量:workclass 8 种、education 16 种、native-country 多达 41 种。若取值不足 10 种,直接做独热不会有太大负担;但 ≥ 10 种的 education、occupation、native-country 需要单独制定策略——这正是后面三张幻灯片的主题。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 变量有 16 类。美国教育体系难以完全理解,但其中混有相当于小学到高中的 1~12 年级和学士、硕士等学位。关键点在于学历是序数型数据,有"幼儿园 &lt; 小学 &lt; … &lt; 学士 &lt; 硕士 &lt; 博士"这样的自然顺序。序数型数据即便简单转为数字也能清晰传达含义。巧的是数据中已存在 education-num 这个变量。通过验证代码可见:1=Preschool、2=1st-4th、…、16=Doctorate,完全 1:1 映射。由于两个变量信息重复,可用 drop 函数移除 education。这是第一种处理模式——若已有等价的序数变量,直接利用并删除原变量。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occupation 变量有 14 类。先用 value_counts 查看分布,可见相似职业已被合并。例如 Farming(农)与 Fishing(渔)被合为 Farming-fishing。职业之间没有序数关系——不能说 Sales 高于或低于 Craft-repair。因此不像 education 那样适合序数化,直接独热最自然。14 类做独热只增加 14 个变量,负担不大。所以无需单独处理,留待 8.4 节用 pd.get_dummies 统一处理。这是第二种处理模式——类别数量适中时直接独热。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native-country 共 41 国,且 United-States 占据约 90% 的压倒性份额。处理这一变量需要考量三种方法:第一种是把美国以外都合为 Others——数据更简化但信息损失大;通过 groupby 看 class 均值,美国为 0.24,而其他国家差异极大。第二种是按大洲合并:同地区国家 class 均值需要相近才有意义,但同为欧洲的 France 0.42 与 Portugal 0.18 差距巨大,Cuba 0.25 与 Dominican Republic 0.05 同样差距悬殊,故区内差异过大,不合适。第三种则是把每个国家替换为该国 class 的均值——例如 France 替为 0.42,United-States 替为 0.24。这种方法被采纳。不过该方法相当于把因变量信息部分塞进自变量,有过拟合风险,这点会在 8.7 节再讨论。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本段代码计算每个国家的 class 均值并合并回原数据。先用 groupby 取每国均值,再用 reset_index 把索引变为列。不调用 reset_index,国家名仍在索引上,无法作为 merge 的键。随后用 merge 以 native-country 为键做 left join。此处会出现一个问题:两边都有 class 列,自动改名为 class_x、class_y。我们要把 class_y(各国均值)放回 native-country 位置,因此先 drop 原 native-country 列,再用 rename 整理列名。最终 native-country 不再是字符串,而是 0~1 之间的浮点数(该国的 class 均值)。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8.4 节是预处理的最后一步:处理缺失值并对剩余类别变量进行独热编码。依据变量特性采用三种不同方法填补缺失值。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本张幻灯片汇总缺失值处理策略。用 data.isna().mean() 可见三个变量含缺失。native-country 在 8.3 节已被替换为均值(数值),可用 -99 等任意数填充。为何不用均值或中位数?——因为树模型对任意值都稳健;不过线性模型中 -99 这类值会扭曲数据,需要注意。workclass 中 Private 约占 70%,以众数填充。70% 略显不足,但出于练习目的可以接受。occupation 没有压倒性取值,因此不适合众数填充,而是新建一个 "Unknown" 类别。依据变量特性差异化处理缺失值,正是机器学习预处理的核心。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本段是处理缺失值的 fillna 代码与独热编码代码。fillna 用给定值填补缺失,各变量使用不同的值:native-country 用 -99,workclass 用 "Private",occupation 用 "Unknown"。全部缺失处理完后,用 pd.get_dummies 一次性把所有类别变量独热。drop_first=True 选项很关键,可避免多重共线性,自动删除第一个独热列。例如 workclass 有 Federal-gov、Local-gov、Private 等,workclass_Private 会被删除,其他独热列全为 0 时即代表 Private。这一行让 8 个类别变量被转换为合适数量的独热变量,预处理完成。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8.5 节终于进入训练与评估模型的环节。只需使用 scikit-learn 的 train_test_split、DecisionTreeClassifier、accuracy_score 三个函数。前几章已经熟悉这一模式,代码本身并不难。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共四步。先用 train_test_split 划分训练集与测试集——数据较大,设 test_size=0.4 把 40% 划为测试集;random_state=100 用于结果复现。第二步是创建 DecisionTreeClassifier 对象。回归任务用 DecisionTreeRegressor,本任务是 0/1 分类,所以选 Classifier。括号留空表示参数全用默认。第三步用 fit 和 predict 训练并预测。最后用 accuracy_score 计算准确率,得到约 81%。81% 不算差,稍后会在 8.7~8.8 节通过超参数调优把它提升到 85%。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8.5 节我们获得了约 81% 的准确率。接下来要深入了解决策树的工作原理。8.6 节将通过公式和示例,详尽讲解分类决策树使用的两个分裂准则——基尼指数和交叉熵,以及回归决策树的 MSE 准则。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我们用直观示例来看决策树的运作。先看最简单的例子:仅靠"直径"一个变量区分苹果与橘子。苹果直径为 6、7、7.5,橘子为 4、4.5——一个问题"直径是否 &gt; 5"就能完美分开。这是决策树最简单的形态。现实数据中很少能一问解决,常需多步分裂。第二个示例使用直径和重量两个变量,单看任一变量,苹果和桃子都重叠无法区分;但第 1 步用"直径是否 ≥ 7"分,第 2 步在每组中用重量再分,就能完全分开。关键在于:每一步选什么变量和阈值,直接决定模型性能。如何做这一选择正是下一张幻灯片的主题。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决策树朝着每个节点纯度最高的方向分裂。纯度是"节点中只含某一类目标值的程度"。例如节点含 3 个苹果与 3 个桃子时纯度极低;含 3 个苹果与 0 个桃子时纯度高。评估纯度的第一种方法是基尼指数:用 1 减去各类比例的平方和。例如苹果 2 桃 2 时,两个 0.5 的平方相加为 0.5,1−0.5=0.5。苹果 1 桃 3 时,0.25² + 0.75² = 0.625,1−0.625=0.375。苹果 0 桃 4 完全分开时,基尼为 0。即纯度越高,基尼越接近 0;50:50 时取最大值 0.5。决策树每步选择使基尼最小的变量和阈值进行分裂——sklearn 的默认分裂准则正是基尼指数。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第二种分裂准则是交叉熵。公式为负的概率乘对数概率之和,源自信息论。计算方式与基尼类似:苹果 2 桃 2 时,各 50%——0.5 × log₂0.5 = -0.5,两项相加 -1,加负号后熵为 1。苹果 1 桃 3 约为 0.81;苹果 0 桃 4 完全分开为 0。交叉熵同样在纯度越高时数值越小,但二分类的最大值可达 1 (基尼为 0.5)。基尼与熵孰优并无定论,在决策树中性能相近。sklearn 默认采用基尼,但可通过 criterion="entropy" 切换。实务中二者差异极小,通常保持默认 Gini 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回归任务预测连续型数值,而非 0/1 之类。因此不能用基尼或熵,而采用 MSE。MSE 是实际值与预测值之差的平方再取均值。回归树中,预测值取该节点 y 的平均。示例:5 对 (X, y) 数据,假设首次分裂为 X &gt; 15。右节点含 X=20 时 y=0、X=35 时 y=6 两条;均值为 3,偏差为 -3、3,平方为 9、9,合 18,除以 2 得 MSE=9。回归决策树即朝着 MSE 最小的方向分裂。MSE 是 sklearn 默认准则,也可改用 MAE、Poisson 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决策树若任由分支无限延伸,可将训练数据 100% 正确分类。但那并不意味着模型好。8.7 节讨论机器学习中最重要的概念——过拟合与欠拟合,以及其背后的偏差-方差权衡。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本张幻灯片对比过拟合、欠拟合与好模型三种状态。过拟合时模型把训练集的噪声和异常值也学了进去:训练集近乎 100%,但新数据(测试集)上性能骤降。决策树不限制深度时几乎一定过拟合。8.5 节我们的基础模型就是 Train=0.978、Test=0.815,差距高达 16%。欠拟合则反之:模型过简,连训练集都学不好。欠拟合被认为比过拟合更差——因为连训练效果都不可信,无从判断测试结果。好模型只学到核心模式而忽略噪声,训练与测试准确率接近且都足够高。例如 max_depth=7 时 Train=0.860、Test=0.854,差距仅 0.6%——这就是 8.8 节超参数调优的效果。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统计学角度解释过拟合与欠拟合的概念,就是偏差-方差权衡。当模型不当或忽略关键部分而预测不佳时,偏差升高。例如只用直线拟合曲线数据的简单模型偏差高,即欠拟合状况。方差则源于训练集中的噪声:精准穿过所有点的模型把噪声一并学习,数据稍变就剧烈变化——这是过拟合。关键在于:偏差与方差呈反比关系。降方差会升偏差,反之亦然。两者之和构成模型总误差,因此目标是找到二者之和最小的中间点。这就是偏差-方差权衡,图上看右侧为过拟合区,左侧为欠拟合区,中间是最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8.8 节实际操作 8.7 节讲到的过拟合问题——超参数调优。决策树最重要的参数是 max_depth(最大深度)。若不限制,默认 None 会让树尽可能加深,从而过拟合。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在真实的 salary.csv 上变换 max_depth 测得的结果。默认 None 时训练 0.978、测试 0.816,差距约 16%——典型的过拟合症状。限制 max_depth=5 后训练 0.854、测试 0.850,差距骤降到 0.4%。测试准确率本身也略升至 0.85。max_depth=7 时训练 0.860、测试 0.854,准确率更高的同时差距仍仅 0.6%,表现更佳。理想的 max_depth 因数据而异,需要尝试多个取值以减小过拟合。实务中常配合 cross_val_score 与 GridSearchCV 自动寻找最优 max_depth。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本段是超参数调优代码。先用默认参数训练,再同时输出训练/测试准确率进行对比,两者差距可诊断过拟合。随后在 DecisionTreeClassifier 中指定 max_depth=5 限制深度,再以同样方式测试 max_depth=7,选出最佳取值。除 max_depth 外,还有 min_samples_split、min_samples_leaf、criterion 等参数可灵活组合。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8.9 节讨论决策树最大的优势——可视化。我们使用 sklearn.tree.plot_tree 把训练好的树绘制为图,并解读各节点的含义。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plot_tree 函数与其他图表不同,需从 sklearn 的 tree 模块导入。先用 figsize 设置画布大小,单位为英寸,这里设为 30 × 15。若直接绘制 max_depth=7 模型,树过于庞大、无法看清。因此在 plot_tree 中加 max_depth=3,只画 3 层。再用 fontsize=15 增大字号以便阅读。最重要的是 feature_names——不传时变量显示为 X[0]、X[1] 等索引难以解读;传入 X_train.columns 后会显示如 marital-status_Married-civ-spouse 这样的真实变量名,一目了然。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本张幻灯片讲解 plot_tree 绘图后如何解读。第一个节点为根节点,是模型中最重要的一次分裂。每个节点显示四类信息:第一行是分裂规则——例如 marital-status_Married-civ-spouse ≤ 0.5,它来自独热衍生,说明"婚姻状况是否为有配偶"是最重要的分裂变量;其后依次是基尼指数、样本数,以及 value(0、1 类的数量)。分支规则:条件为真往左,条件为假往右。比如未婚者会走到左侧。第二个节点 Gini 急降到 0.12,且 value 显示 0(低收入)占多数,说明模型学到了"未婚/离异/丧偶者低收入概率更高"的模式。正因为如此,树图能向非专业人士解释模型,是强大的决策辅助工具。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再回顾一次今天的整体流程:8.1 节定义"预测年薪是否&gt;50K"的问题;8.2 节加载 salary.csv,用 head/info/describe 把握结构;8.3 节是类别预处理的核心——education 序数化(用现成的 education-num)、occupation 走独热、native-country 用均值替换;8.4 节按变量差异处理缺失,并以 pd.get_dummies 完成独热;8.5 节用 train_test_split、DecisionTreeClassifier、accuracy_score 建立第一个模型,获得 81% 准确率;8.6 节深入决策树原理——基尼、熵、MSE;8.7 节诊断过拟合(差距 16%),8.8 节通过 max_depth=7 把差距压缩到 0.6%,准确率提升至 85%;最后 8.9 节用 plot_tree 可视化树并解读节点信息。掌握这一流程,才能自然过渡到第 9 章的随机森林。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本张幻灯片整理了本章必须记住的 4 个核心关键词:决策树、基尼指数与交叉熵、过拟合、欠拟合。右侧列出本章新用的 pandas 与 sklearn 函数。特别是 merge、reset_index、rename——合并数据与整理列名时的核心函数,务必掌握。sort_values 用于排序,而 DecisionTreeClassifier 与 plot_tree 是本章的主角。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收尾时来做 3 道练习题。第 1 题:类别变量缺失值处理中"用平均值填充"不正确——平均值仅对数值型有意义。第 2 题:分类决策树的分裂准则是基尼指数;RMSE 和 R² 是回归指标,后验概率属朴素贝叶斯范畴。第 3 题:过拟合描述错误的是"欠拟合是更好的模型"——欠拟合连训练都没学好,反而更差;即便测试结果偶然不错也不可信。三道题都是本章核心,务必理解到位。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讲解到此结束。今天我们用美国人口普查数据,从头到尾构建了一个预测"年薪是否&gt;50K"的决策树模型。我们走完了数据加载、类别预处理(序数化/独热/均值替换)、缺失处理、建模、过拟合诊断、超参数调优与可视化,完整体验了机器学习全流程。核心是从 81% 准确率,通过超参数调优提升到 85%,所使用的 max_depth 正是决策树的核心参数。下一章我们将学习随机森林——用以克服决策树高方差弱点的集成方法。今天所学是第 9 章随机森林、第 10 章 XGBoost、第 11 章 LightGBM 的共同起点,务必牢牢掌握再进入下一章。辛苦了。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47120" cy="5943600"/>
          </a:xfrm>
          <a:prstGeom prst="roundRect">
            <a:avLst>
              <a:gd name="adj" fmla="val 5000"/>
            </a:avLst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MUST HAVE · 机器学习十大算法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第 08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决策树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Microsoft YaHei"/>
              </a:defRPr>
            </a:pPr>
            <a:r>
              <a:t>Decision Tree — 预测年薪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3657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用年龄、学历、职业等信息预测年薪是否超过 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讲义教材 PPT | Lecture Textbook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MUST HAVE — 学习目标与学习顺序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本章学什么、按什么顺序进行?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学习树模型的根基——决策树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用年薪 (Salary) 数据预测是否超过 50K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类别变量处理 + 缺失值处理实践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理解独热 (dummy) 变量及其局限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建模、评估与准确率测量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理解过拟合及解决方法 (max_depth)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理解偏差-方差权衡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通过树图可视化解读结果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学习顺序 (8.1 ~ 8.9)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8.1 问题定义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8.2 库导入 &amp; 数据加载/确认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8.3 预处理:类别数据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8.4 预处理:缺失值 &amp; 独热变量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8.5 建模与评估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8.6 理解:决策树 (分类·回归)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8.7 过拟合问题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8.8 超参数调优 (max_depth)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8.9 树图可视化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决策树简介 &amp; 入选 TOP 10 的理由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将观测值与目标值相连的预测模型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决策树是什么?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将观测值与目标值相连的预测模型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以树状形式对数据进行分类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众多树类模型的基本/基础核心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线性模型:对每个变量优化斜率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树模型:基于变量的某一阈值分裂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例:男/女,年龄 ≥ X 与否……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不断切分数据,得到各组的预测值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入选 TOP 10 的原因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若仅看预测力,单独使用并不常见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✓ 可视化极为出色 (唯一但决定性)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✓ 学习其他树类模型的前提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✓ 第 9~12 章 RF/XGBoost/LightGBM 的基础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✓ 除深度学习外最热门的趋势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→ 决策树是"必备常识"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预测力 vs 解释力 — 算法选择的权衡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复杂度 ↑ → 预测力 ↑ · 解释力 ↓ (反比)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两个概念的定义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预测力 (Predictability)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= 模型预测的准确程度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解释力 (Interpretability)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= 模型解释的容易程度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复杂度 ↑  →  预测力 ↑  /  解释力 ↓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越简单的算法,预测力越低,但易于解释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越复杂的算法,预测力越高,但难以解释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实务选择标准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决策树·回归分析 → 学习简单,解释力高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第 9 章起的树集成 → 预测力↑,解释难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深度学习 → 极复杂,常被称为"黑箱"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【医学诊断模型】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重在揭示原因变量 → 偏向解释力强的模型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【股价预测模型】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重在精准追踪走势 → 偏向预测力强的模型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决策树的优缺点 &amp; 适用场景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何时该用、何时该避开?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✅ 优点 (Strengths)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不对数据做假设的非参数模型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(线性模型需正态性、线性性等假设)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几乎不受异常值影响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通过树图可直观理解和解释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可视化能力极强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类别型和连续型数据均可处理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几乎不需要预处理 (标准化)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⚠️ 缺点 + 适用场景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【缺点】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树无限加深会产生过拟合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预测力低于发展后的树类模型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【适用场景】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因变量为连续/类别型均可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最适合用于建模结果的可视化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异常值较多时,作为线性模型的替代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一眼看清预测目标 — 用美国人口普查数据预测年薪等级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8.1 预测目标定义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Adult Salary 数据集 — 用 13 个自变量预测年薪是否超过 50K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3774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011680"/>
            <a:ext cx="87782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01168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23774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预测目标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423160"/>
            <a:ext cx="87782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423160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用学历、教育年数、婚姻状况、职业等预测年薪是否超过 50K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9211"/>
            <a:ext cx="23774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39211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839211"/>
            <a:ext cx="87782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839211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★★☆ (中级)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55262"/>
            <a:ext cx="23774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55262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算法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255262"/>
            <a:ext cx="87782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255262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Decision Tree (决策树)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1313"/>
            <a:ext cx="23774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71313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数据集文件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671313"/>
            <a:ext cx="87782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671313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salary.csv  (共 48,842 行 · 14 个变量)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87364"/>
            <a:ext cx="23774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087364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因变量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087364"/>
            <a:ext cx="87782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087364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class — &lt;=50K (0) / &gt;50K (1)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03415"/>
            <a:ext cx="23774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503415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自变量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503415"/>
            <a:ext cx="87782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503415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age, workclass, education, education-num, marital-status, occupation, relationship, race, sex, capital-gain, capital-loss, hours-per-week, native-country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19466"/>
            <a:ext cx="23774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919466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问题类型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919466"/>
            <a:ext cx="87782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4919466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分类 (Classification)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35517"/>
            <a:ext cx="23774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335517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评估指标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5335517"/>
            <a:ext cx="87782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5335517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准确率 (Accuracy)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51568"/>
            <a:ext cx="23774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751568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5751568"/>
            <a:ext cx="8778240" cy="416051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71800" y="5751568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sklearn.tree.DecisionTreeClassifier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167619"/>
            <a:ext cx="23774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167619"/>
            <a:ext cx="22860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依赖库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6167619"/>
            <a:ext cx="8778240" cy="416051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6167619"/>
            <a:ext cx="868680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numpy, pandas, seaborn, matplotlib, 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库与数据加载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加载 salary.csv + 用 head / info / describe 检查数据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8.2 导入库 + 加载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关键是 skipinitialspace=True (自动去除前导空格)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加载 salary.csv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file_url = ('https://media.githubusercontent.com/media/'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'musthave-ML10/data_source/main/salary.csv')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 = pd.read_csv(file_url, skipinitialspace=True)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↑ skipinitialspace=True:自动去除每个值开头的空格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例) ' Male' → 'Male'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本 CSV 含较多无用空格,必须启用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检查数据整体面貌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data.head()       # 前 5 行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data.info()       # 数据类型与缺失值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data.describe()   # 统计量 (仅数值型)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data.describe(include='all')  # 含 object 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8.2 数据检查结果汇总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类别型 9 个 + 数值型 5 个 + 3 个变量含缺失值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共 48,842 行 × 14 列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内存占用:5.2 MB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数值型 (int64) 5 个: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age, education-num, capital-gain,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capital-loss, hours-per-week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类别型 (object) 9 个: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workclass, education, marital-status,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occupation, relationship, race, sex,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native-country,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缺失值情况 (info 结果)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workclass:        46,043 / 48,842  (≈ 5.7%)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occupation:       46,033 / 48,842  (≈ 5.8%)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native-country:   47,985 / 48,842  (≈ 1.7%)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其余 11 个变量:无缺失值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→ 将在 8.4 节处理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workclass:用 "Private" 填充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occupation:用 "Unknown" 填充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native-country:用 -99 填充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预处理:类别数据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因变量转换 → 识别 object 变量 → education / occupation / native-country 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8.3 因变量转换 + 识别 object 型变量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class:&lt;=50K → 0, &gt;50K → 1   ·   提取 obj_list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(1) 把因变量 class 转为 0/1,便于后续解释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data['class'] = data['class'].map({'&lt;=50K': 0, '&gt;50K': 1})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(2) 用 for 循环检查每个变量的类型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for i in data.columns: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print(i, data[i].dtype)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(3) 把 object 型变量名收集到列表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obj_list = []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for i in data.columns: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data[i].dtype == 'object':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obj_list.append(i)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结果:8 个 object 型自变量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['workclass', 'education', 'marital-status', 'occupation',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'relationship', 'race', 'sex', 'native-country']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(4) 检查每个 object 变量的唯一值个数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for i in obj_list: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print(i, data[i].nunique())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workclass 8        education 16        marital-status 7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occupation 14      relationship 6      race 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sex 2              native-country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8.3.3 处理 education 变量 — 利用序数化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已存在等价的序数变量 education-num → 直接 drop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查看取值分布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data['education'].value_counts()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HS-grad         15784   (高中毕业)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Some-college    10878   (大学肄业/在读)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Bachelors        8025   (学士)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Masters          2657   (硕士)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Assoc-voc        2061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11th             1812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… (共 16 个类别)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Doctorate         594   (博士)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Preschool          83   (幼儿园)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关键洞察:已经被序数化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序数型类别:学历有天然顺序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Preschool &lt; 1st-4th &lt; … &lt; Bachelors &lt; … &lt; Doctorate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数据集中已存在 education-num 变量!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1=Preschool, 2=1st-4th, …, 16=Doctorate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确认代码: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for i in np.sort(data['education-num'].unique()):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 print(i, data[data['education-num']==i]['education'].unique())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→ 完美 1:1 映射 (信息重复)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data.drop('education', axis=1, inplace=True)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8.3.4 处理 occupation 变量 — 直接独热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14 个类别且无序数关系 → 独热编码最自然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取值分布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data['occupation'].value_counts()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Prof-specialty       6172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Craft-repair         6112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Exec-managerial      6086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Adm-clerical         5611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Sales                5504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Other-service        4923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Machine-op-inspct    3022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… (共 14 个)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Armed-Forces         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判断与处理策略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特征:相似职业已被合并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如 Farming-fishing 合为一类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无序数性:难以说哪个职业更高/更低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类别数 14 → 独热后增加 14 个变量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→ 可以接受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✅ 不另作处理,8.4 节统一独热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pd.get_dummies(data, drop_first=True)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8.3.5 处理 native-country 变量 — 用均值替换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41 个国家 + United-States 占 90% → 哪种方法最好?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① 候选 1:合并为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United-States 约 90%,其余合为 Others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数据简化 ✓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信息损失 ✗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用 groupby 看 class 均值,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美国 (0.24) 与其他国家差异大 → 不合适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② 候选 2:按地区(大洲)合并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North America / Asia / Europe …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需要同区国家的 class 均值相近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但 France 0.42 vs Portugal 0.18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Cuba 0.25 vs Dominican R. 0.05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区内差异过大 → 不合适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③ ✅ 候选 3:groupby 均值替换 (采用)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7889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country_group = data.groupby(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  'native-country').mean()['class']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把每个国家替换为其 class 均值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树模型对此类转换较稳健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⚠ 等于把答案塞进自变量 → 注意过拟合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5000"/>
            </a:avLst>
          </a:prstGeom>
          <a:solidFill>
            <a:srgbClr val="10102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🔑 把 41 个国家替换为均值 → 压缩为 1 个变量,保留信息 (但需警惕过拟合)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8.3.5 native-country 均值替换 — 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groupby → reset_index → merge 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(1) 计算每个国家的 class 均值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country_group = data.groupby('native-country').mean()['class']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(2) 用 reset_index 把索引变为列,以便 merge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country_group = country_group.reset_index()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(3) 用 left-join 与原数据合并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 = data.merge(country_group,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on='native-country', how='left')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(4) 整理列名 — 解决 class_x、class_y 冲突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data.drop('native-country', axis=1, inplace=True)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 = data.rename(columns={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'class_x': 'class',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'class_y': 'native-country'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结果: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native-country 变量 = 该国 class 平均 (浮点数)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如 France → 0.421053  /  United-States → 0.243977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预处理:缺失值处理 &amp; 独热编码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fillna 三种方法 + pd.get_dummies(drop_first=True)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8.4 缺失值处理策略 — 因变量制宜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用 data.isna().mean() 查看比例后,按变量分别处理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变量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01168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缺失比例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处理方法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011680"/>
            <a:ext cx="42976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native-country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42316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423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42316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423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用 -99 填充 (fillna)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423160"/>
            <a:ext cx="42976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4231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已转为均值数字,树模型对任意值稳健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workclass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926080"/>
            <a:ext cx="1371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926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5.7%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92608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926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用 "Private" 填充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926080"/>
            <a:ext cx="42976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9260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Private 约 70% 占绝对多数,众数填充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429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occupation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42900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4290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5.8%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429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3429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用 "Unknown" 文本填充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429000"/>
            <a:ext cx="42976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4290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没有压倒性的取值 → 新增一个类别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31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9319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(其余 11 个)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3931920"/>
            <a:ext cx="1371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93192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无需处理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931920"/>
            <a:ext cx="42976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3931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无缺失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8.4 fillna 代码 + 独热编码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最终预处理 — 用 pd.get_dummies(drop_first=True) 一行完成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(1) 查看缺失比例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data.isna().mean()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workclass         0.057307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occupation        0.057512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native-country    0.017546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(2) 按变量填充缺失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data['native-country'] = data['native-country'].fillna(-99)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data['workclass'] = data['workclass'].fillna('Private')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data['occupation'] = data['occupation'].fillna('Unknown')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(3) 缺失全部处理后 — 独热变换 (一行搞定!)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 = pd.get_dummies(data, drop_first=True)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drop_first=True:为防止多重共线性,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                自动去掉第一个独热列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(例) workclass_Federal-gov, workclass_Local-gov, …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      workclass_Private 被剔除 (全为 0 即代表 Private)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建模与评估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train_test_split → DecisionTreeClassifier → accuracy_score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8.5 建模代码 — 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训练/测试集划分 → 训练 → 预测 → 计算准确率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(1) 划分训练/测试集 (数据较大,test_size=0.4)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data.drop('class', axis=1),    # 自变量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data['class'],                  # 因变量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test_size=0.4,                  # 测试集比例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random_state=100                # 保证可复现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(2) 创建决策树分类模型对象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sklearn.tree import DecisionTreeClassifier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DecisionTreeClassifier()        # 全部使用默认参数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(3) 训练 + 预测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model.fit(X_train, y_train)             # 训练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pred = model.predict(X_test)            # 预测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(4) 计算准确率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sklearn.metrics import accuracy_score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accuracy_score(y_test, pred)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结果:0.8134309259354047  (约 81%)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理解决策树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分类决策树 (Gini · Entropy) + 回归决策树 (MSE)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8.6 决策树的运作原理 — 直观示例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一个问题 "直径 ≥ 5 ?" 即可分开苹果与橘子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示例 1:简单数据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 直径 (自变量) → 种类 (因变量) 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6  →  苹果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4.5 →  橘子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4  →  橘子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7  →  苹果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7.5 →  苹果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✅ 一个问题 "直径 ≥ 5 ?" 即完全分开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示例 2:复杂数据 (2 个变量)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 直径·重量 → 苹果/桃子 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单看任一变量都无法区分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第 1 步:"直径 ≥ 7 ?" 分支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苹果 2,桃子 1  /  苹果 1,桃子 2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第 2 步:在各节点按 "重量" 再分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苹果与桃子完全分开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🔑 好模型:每一步选最优变量和阈值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8.6.1 分类决策树 — 基尼指数 (Gini 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评估节点的纯度 — sklearn 的默认准则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onsolas"/>
              </a:defRPr>
            </a:pPr>
            <a:r>
              <a:t>Gini(t)  =  1  −  Σᵢ pᵢ²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pᵢ:节点中类别 i 的比例   /   范围:0 (完全纯) ~ 0.5 (二分类 5:5)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直观含义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"从一个节点随机抽取两个样本,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 它们属于不同类别的概率"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纯度 ↑  →  Gini ↓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决策树选择使 Gini 最低的分裂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sklearn DecisionTreeClassifier 的默认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1721223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1721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示例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9143" y="3200400"/>
            <a:ext cx="803237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9143" y="3200400"/>
            <a:ext cx="8032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比例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42380" y="3200400"/>
            <a:ext cx="19507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42380" y="3200400"/>
            <a:ext cx="195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计算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3100" y="3200400"/>
            <a:ext cx="1376978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3100" y="3200400"/>
            <a:ext cx="13769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1721223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16297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苹果 2 / 桃子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9143" y="3611880"/>
            <a:ext cx="803237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4863" y="3611880"/>
            <a:ext cx="71179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50:50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42380" y="3611880"/>
            <a:ext cx="19507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8100" y="3611880"/>
            <a:ext cx="185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0.5² + 0.5² = 0.5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3100" y="3611880"/>
            <a:ext cx="1376978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38820" y="3611880"/>
            <a:ext cx="12855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1 − 0.5 = 0.500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69080"/>
            <a:ext cx="1721223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069080"/>
            <a:ext cx="16297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苹果 1 / 桃子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9143" y="4069080"/>
            <a:ext cx="803237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4863" y="4069080"/>
            <a:ext cx="71179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25:75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42380" y="4069080"/>
            <a:ext cx="19507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8100" y="4069080"/>
            <a:ext cx="185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0.25² + 0.75² = 0.625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3100" y="4069080"/>
            <a:ext cx="1376978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38820" y="4069080"/>
            <a:ext cx="12855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1 − 0.625 = 0.375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80"/>
            <a:ext cx="1721223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526280"/>
            <a:ext cx="16297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苹果 0 / 桃子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39143" y="4526280"/>
            <a:ext cx="803237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4863" y="4526280"/>
            <a:ext cx="71179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0:100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42380" y="4526280"/>
            <a:ext cx="19507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88100" y="4526280"/>
            <a:ext cx="185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0² + 1² =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93100" y="4526280"/>
            <a:ext cx="1376978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38820" y="4526280"/>
            <a:ext cx="12855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1 − 1 = 0.000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8.6.1 分类决策树 — 交叉熵 (Cross-Entropy)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通过 criterion="entropy" 启用 — 与基尼性能几乎相同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onsolas"/>
              </a:defRPr>
            </a:pPr>
            <a:r>
              <a:t>H(t)  =  −  Σᵢ  pᵢ · log₂ pᵢ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范围:0 (完全纯) ~ 1 (二分类 5:5)   /   纯度 ↑ → H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基尼 vs 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两者都评估"节点的纯度"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→ 决策树中性能基本相同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Gini :最大 0.5,无对数运算 (更快)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Entropy:最大 1.0,含对数 (信息论基础)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→ sklearn 默认 Gini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 (可通过 criterion="entropy" 切换)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1625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162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示例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43520" y="3200400"/>
            <a:ext cx="758613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3520" y="3200400"/>
            <a:ext cx="75861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比例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02133" y="3200400"/>
            <a:ext cx="2492586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2133" y="3200400"/>
            <a:ext cx="249258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中间计算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94719" y="3200400"/>
            <a:ext cx="97536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719" y="3200400"/>
            <a:ext cx="97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1625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153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苹果 2 / 桃子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43520" y="3611880"/>
            <a:ext cx="758613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9240" y="3611880"/>
            <a:ext cx="6671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50:50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133" y="3611880"/>
            <a:ext cx="2492586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7853" y="3611880"/>
            <a:ext cx="24011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0.5·log₂0.5 × 2 = 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94719" y="3611880"/>
            <a:ext cx="97536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40439" y="3611880"/>
            <a:ext cx="88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−(−1) = 1.000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69080"/>
            <a:ext cx="1625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069080"/>
            <a:ext cx="153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苹果 1 / 桃子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3520" y="4069080"/>
            <a:ext cx="758613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9240" y="4069080"/>
            <a:ext cx="6671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25:75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02133" y="4069080"/>
            <a:ext cx="2492586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7853" y="4069080"/>
            <a:ext cx="24011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0.25·log₂0.25 + 0.75·log₂0.75 ≈ -0.81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94719" y="4069080"/>
            <a:ext cx="97536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40439" y="4069080"/>
            <a:ext cx="88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约 0.811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80"/>
            <a:ext cx="1625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526280"/>
            <a:ext cx="153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苹果 0 / 桃子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43520" y="4526280"/>
            <a:ext cx="758613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9240" y="4526280"/>
            <a:ext cx="6671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0:100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02133" y="4526280"/>
            <a:ext cx="2492586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7853" y="4526280"/>
            <a:ext cx="24011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0·log0 + 1·log1 =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94719" y="4526280"/>
            <a:ext cx="97536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40439" y="4526280"/>
            <a:ext cx="88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−0 = 0.000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8.6.2 回归决策树 — MSE (均方误差)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连续因变量 → DecisionTreeRegressor → 以 MSE 为分裂准则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onsolas"/>
              </a:defRPr>
            </a:pPr>
            <a:r>
              <a:t>MSE  =  (1/N)  Σᵢ  (yᵢ − ŷ)²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预测值 ŷ = 该节点内 y 的平均   /   分裂准则:MSE 最小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计算示例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示例数据: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X=10 → y=8     X=20 → y=0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X=35 → y=6     X=5  → y=4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X=15 → y=8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首次分裂 "X &gt; 15"  →  右节点:y=0, 6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均值 ŷ = 3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偏差:0−3=−3,  6−3=3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平方和:9 + 9 = 18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• MSE = 18 / 2 =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1439055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1439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56975" y="3200400"/>
            <a:ext cx="4413104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6975" y="3200400"/>
            <a:ext cx="4413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11880"/>
            <a:ext cx="1439055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611880"/>
            <a:ext cx="1347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56975" y="3611880"/>
            <a:ext cx="4413104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2695" y="3611880"/>
            <a:ext cx="4321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sklearn.tree.DecisionTreeRegressor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69080"/>
            <a:ext cx="1439055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069080"/>
            <a:ext cx="1347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默认准则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6975" y="4069080"/>
            <a:ext cx="4413104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2695" y="4069080"/>
            <a:ext cx="4321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MSE  (squared_error)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526280"/>
            <a:ext cx="1439055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526280"/>
            <a:ext cx="1347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可选项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56975" y="4526280"/>
            <a:ext cx="4413104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2695" y="4526280"/>
            <a:ext cx="4321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MAE, Poisson, friedman_mse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983480"/>
            <a:ext cx="1439055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983480"/>
            <a:ext cx="1347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叶节点预测值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56975" y="4983480"/>
            <a:ext cx="4413104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2695" y="4983480"/>
            <a:ext cx="4321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该节点 y 的平均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440680"/>
            <a:ext cx="1439055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440680"/>
            <a:ext cx="1347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模型形态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56975" y="5440680"/>
            <a:ext cx="4413104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2695" y="5440680"/>
            <a:ext cx="4321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分段常数模型 (piecewise constant)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过拟合问题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过度贴合训练集的模型 → 测试集性能下降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8.7 过拟合 vs 欠拟合 vs 好模型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训练集准确率与测试集准确率的关系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❌ 过拟合 (Overfitting)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过度贴合训练集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训练集准确率:极高 (~100%)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测试集准确率:低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连噪声、异常值都学了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树过深时发生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例) Train=0.978,  Test=0.815  → 差距 16%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❌ 欠拟合 (Underfitting)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连训练集都学不好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训练集准确率:低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测试集准确率:低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模型过于简单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树太浅或变量不足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→ 比过拟合更差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(根本没学到东西)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✅ 好模型 (Just 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7889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训练集与测试集都合适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训练与测试准确率相近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二者都足够高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忽略噪声,只学到核心模式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不过度也不简陋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例) Train=0.860,  Test=0.854  → 差距 0.6%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5000"/>
            </a:avLst>
          </a:prstGeom>
          <a:solidFill>
            <a:srgbClr val="10102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🔑 训练准确率远高于测试准确率即过拟合 — 缩小这一差距是目标。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8.7 偏差-方差权衡 (Bias-Variance Tradeoff)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高偏差 = 欠拟合 / 高方差 = 过拟合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偏差 (Bias)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自变量↔因变量的建模不当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错过关键部分,预测能力差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高偏差  =  欠拟合状况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例:只用直线拟合的简单模型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忽略曲线数据的模式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对策:让模型更复杂 (加深树)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方差 (Variance)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由训练集噪声引起的误差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数据稍变,模型剧变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高方差  =  过拟合状况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例:精准穿过所有点的曲线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把噪声也学进了模型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对策:让模型更简单 (减小深度)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8.8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超参数调优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max_depth — 限制树深度以减少过拟合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8.8 max_depth 调优结果对比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在 salary.csv 上的实验 — 用训练/测试差距诊断过拟合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9455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94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max_depth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199" y="2011680"/>
            <a:ext cx="246887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199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Train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8" y="2011680"/>
            <a:ext cx="246887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8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57" y="2011680"/>
            <a:ext cx="155447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7" y="2011680"/>
            <a:ext cx="1554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差距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36" y="2011680"/>
            <a:ext cx="246887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36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诊断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9455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2103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None (默认)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199" y="2423160"/>
            <a:ext cx="24688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19" y="242316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0.9780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8" y="2423160"/>
            <a:ext cx="24688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798" y="242316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0.8156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57" y="2423160"/>
            <a:ext cx="15544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7" y="242316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+16.2%p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36" y="2423160"/>
            <a:ext cx="24688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6" y="242316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❌ 严重过拟合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26080"/>
            <a:ext cx="219455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26080"/>
            <a:ext cx="2103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199" y="2926080"/>
            <a:ext cx="24688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19" y="292608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0.8540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8" y="2926080"/>
            <a:ext cx="24688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798" y="292608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0.8500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57" y="2926080"/>
            <a:ext cx="15544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7" y="292608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+0.4%p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36" y="2926080"/>
            <a:ext cx="24688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56" y="292608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✅ 良好 (差距极小)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29000"/>
            <a:ext cx="219455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429000"/>
            <a:ext cx="2103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199" y="3429000"/>
            <a:ext cx="24688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19" y="34290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0.8599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78" y="3429000"/>
            <a:ext cx="24688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798" y="34290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0.8543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57" y="3429000"/>
            <a:ext cx="15544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77" y="342900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+0.6%p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36" y="3429000"/>
            <a:ext cx="2468879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56" y="34290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✅ 更优 (准确率↑)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31920"/>
            <a:ext cx="219455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931920"/>
            <a:ext cx="2103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10 (预期)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199" y="3931920"/>
            <a:ext cx="24688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19" y="393192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~0.91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78" y="3931920"/>
            <a:ext cx="24688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798" y="393192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~0.85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57" y="3931920"/>
            <a:ext cx="15544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77" y="39319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~5%p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36" y="3931920"/>
            <a:ext cx="2468879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56" y="393192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⚠ 再次出现过拟合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8.8 max_depth 调优代码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同时输出训练/测试准确率,以差距评估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检查默认 (max_depth=None) 结果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DecisionTreeClassifier()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train_pred = model.predict(X_train)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test_pred  = model.predict(X_test)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print('Train score:', accuracy_score(y_train, train_pred),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'Test score:',  accuracy_score(y_test,  test_pred))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Train: 0.9780  Test: 0.8156  → 差距大(过拟合)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限制为 max_depth=5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DecisionTreeClassifier(max_depth=5)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Train: 0.8540  Test: 0.8500  → 差距 0.4% (良好)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略加深至 max_depth=7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DecisionTreeClassifier(max_depth=7)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Train: 0.8599  Test: 0.8543  → 差距 0.6% (最优)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其他常用参数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min_samples_split=2  :分裂所需最少样本数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min_samples_leaf=1   :叶节点最少样本数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  criterion="gini"     :分裂准则 (gini/entropy)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0" b="1">
                <a:solidFill>
                  <a:srgbClr val="25253D"/>
                </a:solidFill>
                <a:latin typeface="Microsoft YaHei"/>
              </a:defRPr>
            </a:pPr>
            <a:r>
              <a:t>8.9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914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SECTION 8.9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97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树图可视化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sklearn.tree.plot_tree — 决策树最大的优势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8.9 plot_tree 代码 — 树图可视化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使用 figsize·max_depth·fontsize·feature_names 选项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155680" cy="466344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(1) 默认可视化 — 太大几乎看不清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sklearn.tree import plot_tree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plt.figure(figsize=(30, 15))      # 图大小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plot_tree(model)                   # 绘制树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plt.show()                         # 显示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(2) 限制 max_depth=3 + 调整字体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plt.figure(figsize=(30, 15))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plot_tree(model,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max_depth=3,             # 限制可视化深度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fontsize=15)             # 字体大小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plt.show()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(3) 加入变量名 — 最推荐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plt.figure(figsize=(30, 15))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plot_tree(model,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max_depth=3,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fontsize=15,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feature_names=X_train.columns)   # ★ 变量名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8.9 树图解读方法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每个节点的 4 项信息 — 分裂规则 / Gini / samples /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节点的四要素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① 分裂规则 (第一行)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例) marital-status_Married-civ-spouse ≤ 0.5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② 基尼指数 (gini=0.36)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节点纯度 (越低越好)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③ 样本数 (samples=29304)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节点内的数据条数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④ value (目标值分布)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value=[22158, 7146]  (0 类 22158,1 类 7146)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分支规则 + 解读示例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条件为 True → 向左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条件为 False → 向右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【解读示例】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根节点:marital_Married-civ-spouse ≤ 0.5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婚姻状况是最重要的分裂变量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第二节点 Gini=0.12 急剧降低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看 value 发现 0(低收入)占绝对多数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→ 未婚/离异者低收入概率↑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学习收尾 — 第 8 章整体流程整理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从问题定义到树图 — 一览全章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28599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285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2011680"/>
            <a:ext cx="73151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2011680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小节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58" y="2011680"/>
            <a:ext cx="8138159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58" y="2011680"/>
            <a:ext cx="8138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核心工作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228599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1. 问题定义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2423160"/>
            <a:ext cx="73151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59" y="242316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58" y="2423160"/>
            <a:ext cx="813815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8" y="242316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预测年薪是否&gt;50K / 13 个变量 / 分类 / 准确率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85440"/>
            <a:ext cx="228599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8544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2. 数据加载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2885440"/>
            <a:ext cx="73151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59" y="288544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58" y="2885440"/>
            <a:ext cx="813815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78" y="288544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pd.read_csv(skipinitialspace=True) + head/info/describe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47720"/>
            <a:ext cx="228599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4772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3. 类别预处理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3347720"/>
            <a:ext cx="73151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59" y="334772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58" y="3347720"/>
            <a:ext cx="813815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8" y="334772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class 转 0/1 + drop education + native-country 用均值替换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10000"/>
            <a:ext cx="228599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1000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4. 缺失+独热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3810000"/>
            <a:ext cx="73151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59" y="381000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58" y="3810000"/>
            <a:ext cx="813815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78" y="381000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三种 fillna + pd.get_dummies(drop_first=True)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72280"/>
            <a:ext cx="228599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27228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5. 建模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272280"/>
            <a:ext cx="73151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59" y="427228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58" y="4272280"/>
            <a:ext cx="813815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78" y="427228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train_test_split + DecisionTreeClassifier → 81%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34560"/>
            <a:ext cx="228599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73456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6. 理解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39" y="4734560"/>
            <a:ext cx="73151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59" y="473456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58" y="4734560"/>
            <a:ext cx="813815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78" y="473456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基尼指数 + 交叉熵 + MSE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96840"/>
            <a:ext cx="228599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19684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7. 过拟合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39" y="5196840"/>
            <a:ext cx="73151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359" y="519684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58" y="5196840"/>
            <a:ext cx="813815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78" y="519684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Train(0.978) vs Test(0.815) 差距 16% → 诊断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659120"/>
            <a:ext cx="228599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65912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8. 调优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39" y="5659120"/>
            <a:ext cx="73151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359" y="565912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66158" y="5659120"/>
            <a:ext cx="8138159" cy="4622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11878" y="565912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max_depth=7 → 差距 0.6% / 准确率 85%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6121400"/>
            <a:ext cx="228599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6121400"/>
            <a:ext cx="219455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9. 可视化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39" y="6121400"/>
            <a:ext cx="73151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80359" y="6121400"/>
            <a:ext cx="640080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8.9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6158" y="6121400"/>
            <a:ext cx="8138159" cy="4622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11878" y="6121400"/>
            <a:ext cx="8046719" cy="46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plot_tree(max_depth=3, fontsize=15, feature_names=...)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核心关键词 4 + 新使用的函数/库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考试出题频率 ★★★★★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核心关键词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① 决策树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树模型最基本形态,依据数据特征分类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② 基尼指数 / 交叉熵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评估节点纯度 — 纯度↑ → 两值 ↓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③ 过拟合 (Overfitting)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过度贴合训练集,新数据预测力↓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④ 欠拟合 (Underfitting)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学习不足,连训练集都预测不佳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本章新用的函数 / 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pandas.DataFrame.merge()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按键合并两个 DataFrame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pandas.DataFrame.reset_index()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把索引中的信息转为单独的列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pandas.DataFrame.rename()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重命名列或索引名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pandas.DataFrame.sort_values()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   按指定列升序/降序排序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sklearn.tree.DecisionTreeClassifier / plot_tree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练习题 (含答案)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第 8 章学习收尾 — 自检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6400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011680"/>
            <a:ext cx="6858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题目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657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答案 + 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6400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423160"/>
            <a:ext cx="6858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42316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类别数据缺失值处理方法,不正确的是?</a:t>
            </a:r>
            <a:br/>
            <a:r>
              <a:t>①众数为主时用众数填充  ②用任意文本(unknown)填充</a:t>
            </a:r>
            <a:br/>
            <a:r>
              <a:t>③用平均值填充  ④缺失少时删除整行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23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423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③ 正确答案。类别变量无法计算均值。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6400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926080"/>
            <a:ext cx="6858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9260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分类决策树分裂节点时使用的准则?</a:t>
            </a:r>
            <a:br/>
            <a:r>
              <a:t>①基尼指数  ②RMSE  ③R²  ④后验概率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92608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926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① 基尼指数。</a:t>
            </a:r>
            <a:br/>
            <a:r>
              <a:t>   RMSE/R²→回归指标,后验概率→朴素贝叶斯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29000"/>
            <a:ext cx="6400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29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429000"/>
            <a:ext cx="6858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42900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关于过拟合,描述不正确的是?</a:t>
            </a:r>
            <a:br/>
            <a:r>
              <a:t>①过度贴合训练数据  ②与之相反的是欠拟合</a:t>
            </a:r>
            <a:br/>
            <a:r>
              <a:t>③欠拟合是更好的模型  ④通过限制学习可减少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42900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③ 正确答案。欠拟合连训练都没完成,模型更差。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47120" cy="5943600"/>
          </a:xfrm>
          <a:prstGeom prst="roundRect">
            <a:avLst>
              <a:gd name="adj" fmla="val 5000"/>
            </a:avLst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 8 章 决策树 学习完成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Decision Tree — 年薪预测项目收尾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418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794760"/>
            <a:ext cx="9052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>
                <a:solidFill>
                  <a:srgbClr val="BBBBCC"/>
                </a:solidFill>
                <a:latin typeface="Microsoft YaHei"/>
              </a:defRPr>
            </a:pPr>
            <a:r>
              <a:t>"决策树单独看普通,作为集成的基础却熠熠生辉。"</a:t>
            </a:r>
          </a:p>
          <a:p>
            <a:pPr algn="ctr">
              <a:spcAft>
                <a:spcPts val="400"/>
              </a:spcAft>
              <a:defRPr sz="1500">
                <a:solidFill>
                  <a:srgbClr val="BBBBCC"/>
                </a:solidFill>
                <a:latin typeface="Microsoft YaHei"/>
              </a:defRPr>
            </a:pPr>
            <a:r>
              <a:t>— 第 9 章随机森林、第 10 章 XGBoost、第 11 章 LightGBM 的起点,皆是今日所学的决策树。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▶ 下一章:第 9 章 随机森林 (Random Forest) — 用多棵决策树降低方差的集成方法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