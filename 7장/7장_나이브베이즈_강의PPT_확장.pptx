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737360"/>
            <a:ext cx="30175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7장: 나이브 베이즈</a:t>
            </a:r>
            <a:br/>
            <a:r>
              <a:t>(Naive Bayes)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맑은 고딕"/>
              </a:defRPr>
            </a:pPr>
            <a:r>
              <a:t>베이즈 정리 | 조건부 독립 | 텍스트 분류 | 스팸 필터링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참고: Rish(2001), McCallum &amp; Nigam(1998), Rennie et al.(2003), Zhang(2004), Metsis et al.(2006)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기계학습 | 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73152" cy="29260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베이즈 정리 (Bayes' Theorem)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30552"/>
            <a:ext cx="73152" cy="2926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30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7.2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305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빈도주의 vs 베이지안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523744"/>
            <a:ext cx="73152" cy="292608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5237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7.3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237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나이브 가정 (Naive Assumption)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916936"/>
            <a:ext cx="73152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9169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7.4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1693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나이브 베이즈 변형들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310128"/>
            <a:ext cx="73152" cy="292608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310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7.5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101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텍스트 분류 -- BoW와 TF-IDF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703320"/>
            <a:ext cx="73152" cy="2926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7.6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스팸 필터링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096512"/>
            <a:ext cx="73152" cy="29260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096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7.7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0965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라플라스 스무딩과 로그 확률 트릭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489704"/>
            <a:ext cx="73152" cy="2926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489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7.8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4897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생성 모델 vs 판별 모델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882896"/>
            <a:ext cx="73152" cy="292608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48828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7.9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8828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논문 리뷰 (Rish, McCallum, Rennie)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5276088"/>
            <a:ext cx="73152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276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7.10~12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276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실습: GaussianNB 구현 / 텍스트 분류 / 스팸 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5669280"/>
            <a:ext cx="73152" cy="292608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5669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7.13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669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응용 사례 (감정분석, 문서분류, 의료진단)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6062472"/>
            <a:ext cx="73152" cy="2926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6062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7.14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6062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목표 (Learning Objectives)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1. 베이즈 정리를 유도하고, 사전확률/우도/사후확률의 의미를 설명할 수 있다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2. 빈도주의 vs 베이지안 관점의 차이를 이해한다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3. 나이브(조건부 독립) 가정의 의미와 왜 깨져도 잘 작동하는지 설명할 수 있다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4. GaussianNB, MultinomialNB, BernoulliNB, ComplementNB를 구분하고 적절히 선택할 수 있다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5. CountVectorizer와 TF-IDF의 원리를 수식으로 설명할 수 있다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6. 라플라스 스무딩과 로그 확률 트릭의 필요성과 수식을 이해한다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7. 생성 모델(나이브 베이즈)과 판별 모델(로지스틱 회귀)의 관계를 파악한다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8. 스팸 필터링 파이프라인을 구축하고 특성 중요도를 분석할 수 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베이즈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Bayes' Theorem -- 사전지식을 증거로 갱신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조건부 확률에서 베이즈 정리까지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18세기 영국 수학자 토마스 베이즈(Thomas Bayes)가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사전 지식(prior)을 새로운 증거(evidence)로 갱신하여 사후 확률(posterior)을 얻는 공식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유도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조건부 확률의 정의: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P(A|B) = P(A and B) / P(B)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P(B|A) = P(A and B) / P(A)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P(A and B) 소거: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P(A|B) * P(B) = P(B|A) * P(A)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베이즈 정리 (최종)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P(A|B) = P(B|A) * P(A) / P(B)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사후확률 = 우도 x 사전확률 / 증거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핵심: 데이터를 관측한 후 믿음을 합리적으로 갱신하는 수학적 원리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베이즈 정리 -- 각 항의 의미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용어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영문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수식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사후확률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Posterior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P(A|B)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28600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데이터 B 관측 후 A가 참일 확률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우도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Likelihood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P(B|A)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78892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788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A가 참일 때 데이터 B가 관측될 확률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사전확률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Prior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29184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291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데이터 관측 전 A가 참일 확률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증거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Evidence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79476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데이터 B의 전체 관측 확률 (정규화 상수)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직관: 사후확률 = (우도 x 사전확률) / 증거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의료진단 사례 -- 민감도 / 특이도 / 유병률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상황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유병률(Prevalence): P(D) = 0.001 (0.1%)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민감도(Sensitivity): P(+|D) = 0.99 (99%)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특이도(Specificity): P(-|~D) = 0.95 (95%)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질문: 양성 판정 -&gt; 실제 질병 확률?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베이즈 정리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P(D|+) = P(+|D) * P(D) / P(+)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P(+) = P(+|D)*P(D) + P(+|~D)*P(~D)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= 0.99*0.001 + 0.05*0.999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= 0.05094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계산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P(D|+) = 0.99 * 0.001 / 0.05094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= 0.0194 (약 1.94%)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교훈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99% 정확도 검사로 양성이어도 실제 질병 확률 ~2%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사전확률(유병률)이 사후확률에 결정적 영향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베이즈 정리가 직관과 다른 결과의 대표적 사례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스팸 메일 사례 -- 베이즈 정리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전체 메일 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"free" 포함 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스팸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28600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286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400 (40%)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200 (스팸 중 50%)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정상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78892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788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600 (60%)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8892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60 (정상 중 10%)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합계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29184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3291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1000 (100%)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9184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291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260 (전체 26%)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4048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31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베이즈 정리 계산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29768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P(spam | "free") = P("free" | spam) * P(spam) / P("free")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     = 0.5 * 0.4 / 0.26 = 0.769 (약 76.9%)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"free"가 포함된 이메일이 스팸일 확률은 약 76.9%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빈도주의 vs 베이지안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Frequentist vs Bayesian -- 확률의 두 가지 철학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빈도주의 (Frequentist)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빈도주의 핵심 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확률의 정의: 동일한 실험을 무한히 반복했을 때 사건이 발생하는 상대적 빈도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파라미터 관점: 파라미터는 고정된 미지의 상수이다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추론 방법: 최대우도추정(MLE), 신뢰구간, p-값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"이 동전을 10,000번 던지면 앞면이 약 5,000번 나올 것이다"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수식: theta_MLE = argmax_theta P(D|theta)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데이터만으로 결론을 내리며, 사전 정보를 사용하지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베이지안 (Bayesian)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베이지안 핵심 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확률의 정의: 불확실성에 대한 주관적 믿음의 정도 (degree of belief)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파라미터 관점: 파라미터 자체가 확률분포를 가지는 확률변수이다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추론 방법: 베이즈 정리로 사전분포를 사후분포로 갱신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"이 동전이 공정할 확률이 80%라고 믿는다"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수식: P(theta|D) = P(D|theta) * P(theta) / P(D)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사전 지식을 활용하여 데이터와 결합 -- 소량 데이터에서 강점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빈도주의 vs 베이지안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빈도주의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베이지안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확률 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장기적 빈도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믿음의 정도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파라미터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고정된 상수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확률변수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사전 정보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사용하지 않음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사전분포로 반영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대표 추정법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MAP, 사후분포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소량 데이터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추정 불안정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사전분포가 보완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480060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800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대량 데이터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480060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48006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수렴 보장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480060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48006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사전분포 영향 감소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나이브 베이즈: 베이지안 접근 기반 + 빈도 기반 파라미터 추정 = 혼합적 접근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나이브 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Naive Assumption -- 조건부 독립과 그 정당화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조건부 독립이란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"나이브(Naive)" = "순진한" -- 모든 특성이 클래스가 주어졌을 때 조건부 독립이라고 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조건부 독립의 수학적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클래스 C가 주어졌을 때: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P(x1, x2, ..., xn | C) = PROD_i P(xi | 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결합확률이 주변확률의 곱으로 분해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나이브 베이즈 분류 규칙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C_hat = argmax_C  P(C) * PROD_i P(xi | 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분모 P(x1,...,xn)은 모든 클래스에 동일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argmax 계산 시 무시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파라미터 수: 결합분포 O(k^n) -&gt; 독립가정 O(n*k)  (n: 특성 수, k: 클래스 수)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왜 현실에서 독립 가정은 깨지는가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맑은 고딕"/>
              </a:defRPr>
            </a:pPr>
            <a:r>
              <a:t>텍스트 데이터에서 단어들은 명백히 서로 독립이 아니다: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양의 상관관계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"machine" -&gt; "learning" 동시 출현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"New" -&gt; "York" 동시 출현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"free" -&gt; "win", "prize" 동시 출현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37744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문법적 의존성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형용사와 명사의 수식 관계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주어-동사 일치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전치사구의 관계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37744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의미적 의존성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동의어 관계: fast = quick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반의어 관계: good vs bad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상위어/하위어: animal -&gt; dog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96"/>
                </a:solidFill>
                <a:latin typeface="맑은 고딕"/>
              </a:defRPr>
            </a:pPr>
            <a:r>
              <a:t>그럼에도 불구하고 나이브 베이즈는 놀라울 만큼 잘 작동한다! -- Why?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Zhang(2004)의 최적성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정리: 이진 분류에서 최적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나이브 베이즈가 베이즈 최적 분류기와 동일한 결과를 내는 조건: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SUM_{i!=j} dep_ij(c1) = SUM_{i!=j} dep_ij(c2)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의존성 측도: dep_ij(c) = P(xi,xj|c) - P(xi|c)*P(xj|c)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해석: 의존성의 총량이 클래스 간에 동일하게 분포하면, 의존성이 아무리 강해도 NB는 최적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깨져도 잘 작동하는 3가지 이유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1. 분류 vs 확률 추정 (Rish 2001)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정확한 확률값이 아닌 클래스 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상대적 순위만 정확하면 OK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P(C1|x)=0.8 이든 0.95 이든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C1으로 올바르게 분류하면 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2. 의존성의 상쇄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양의 상관관계와 음의 상관관계가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혼재할 때 서로 효과가 상쇄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결과적으로 전체 성능이 유지됨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Zhang(2004)의 이론적 근거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7373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3. 계산 효율성 (과적합 방지)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독립 가정 -&gt; 파라미터 수 O(n*k)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결합 분포 -&gt; 파라미터 수 O(k^n)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적은 파라미터 = 적은 과적합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소량 데이터에서 강건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나이브 베이즈 변형들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GaussianNB | MultinomialNB | BernoulliNB | ComplementNB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GaussianNB -- 가우시안 나이브 베이즈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핵심 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적용 대상: 연속형(continuous) 실수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분포 가정: 각 특성이 클래스별 정규분포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P(xi|C) = 1/sqrt(2*pi*sigma^2)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* exp(-(xi - mu)^2 / (2*sigma^2))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 예: Iris 분류, 키/몸무게 기반 성별 예측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파라미터 추정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mu_Ci = (1/Nc) * SUM x_ji  (클래스 C 특성 i의 평균)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sigma^2_Ci = (1/Nc) * SUM (x_ji - mu)^2  (표본 분산)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sklearn.naive_bayes import GaussianNB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GaussianNB()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MultinomialNB -- 다항 나이브 베이즈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적용 대상: 카운트(count) 또는 빈도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분포 가정: 각 특성이 다항분포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P(xi|C) = (count(xi,C) + alpha)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/ SUM_j (count(xj,C) + alpha)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단어의 출현 빈도 기반 확률 계산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McCallum &amp; Nigam(1998)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텍스트 분류에서 BernoulliNB보다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어휘가 클수록 MultinomialNB 이점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 예: 스팸 필터링, 감성 분석, 문서 분류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sklearn.naive_bayes import MultinomialNB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MultinomialNB(alpha=1.0)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model.fit(X_train_tfidf, y_train)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BernoulliNB -- 베르누이 나이브 베이즈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핵심 개념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적용 대상: 이진(binary) 데이터 (0 또는 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분포 가정: 각 특성이 베르누이 분포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P(x|C) = PROD_i P(xi|C)^xi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* (1 - P(xi|C))^(1-xi)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단어의 존재 여부(있다/없다)만 고려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단어 부재 정보도 명시적 활용!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McCallum &amp; Nigam(1998) 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어휘 사전이 작을 때: BernoulliNB 경쟁력 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어휘가 클수록: MultinomialNB가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MultinomialNB와의 핵심 차이: 부재 정보 활용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sklearn.naive_bayes import BernoulliNB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BernoulliNB(alpha=1.0)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model.fit(X_train_binary, y_train)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ComplementNB -- 보완 나이브 베이즈 (Rennie 2003)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핵심 아이디어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클래스 c의 파라미터를 직접 추정 대신,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보완 클래스(complement class ~c)의 데이터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theta_ci = (alpha_i + SUM_{j:yj!=c} f_ji)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/ (alpha + SUM_i' SUM_{j:yj!=c} f_ji')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분류 규칙: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c_hat = argmin_c SUM_i fi * log(theta_ci)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클래스 불균형 문제를 완화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표준 MultinomialNB 대비 약 5~8% 정확도 향상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SVM에 근접하는 성능 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sklearn.naive_bayes import ComplementNB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ComplementNB(alpha=1.0)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model.fit(X_train_tfidf, y_train)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나이브 베이즈 변형 비교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종류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데이터 유형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0116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분포 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대표 사용 사례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GaussianNB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68880"/>
            <a:ext cx="2286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연속형 (실수)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468880"/>
            <a:ext cx="27432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정규분포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468880"/>
            <a:ext cx="36576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수치형 특성 분류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MultinomialNB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017520"/>
            <a:ext cx="2286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카운트 (정수)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3017520"/>
            <a:ext cx="27432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다항분포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017520"/>
            <a:ext cx="36576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텍스트 분류 (빈도 기반)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566160"/>
            <a:ext cx="2286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566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BernoulliNB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566160"/>
            <a:ext cx="2286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566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이진 (0/1)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3566160"/>
            <a:ext cx="27432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베르누이분포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566160"/>
            <a:ext cx="36576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566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텍스트 분류 (존재 유무)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ComplementNB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114800"/>
            <a:ext cx="2286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카운트/빈도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4114800"/>
            <a:ext cx="27432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보완 다항분포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114800"/>
            <a:ext cx="36576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4114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불균형 텍스트 분류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실무 팁: 텍스트 분류에서는 ComplementNB + TfidfVectorizer 조합이 가장 안정적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텍스트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Bag of Words와 TF-IDF -- 텍스트를 수치로 변환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Bag of Words (BoW)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텍스트를 단어의 출현 빈도로 표현하는 가장 기본적인 벡터화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동작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전체 문서에서 모든 고유 단어 수집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-&gt; 어휘 사전(Vocabulary) 구축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각 문서에서 단어 등장 횟수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-&gt; 문서-단어 행렬(DTM) 생성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특징: 단어의 순서를 무시, 빈도만 고려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예시: 문서-단어 행렬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문서1: 'free money free'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[card:0, free:2, gift:0, money:1, transfer:0]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문서2: 'money transfer'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[card:0, free:0, gift:0, money:1, transfer:1]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문서3: 'free gift card'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[card:1, free:1, gift:1, money:0, transfer:0]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출력은 희소 행렬(Sparse Matrix) -- 대부분 값이 0이므로 메모리 효율적 저장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CountVectorizer -- sklearn 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from sklearn.feature_extraction.text import CountVectorizer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corpus = ['free money free', 'money transfer', 'free gift card']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cv = CountVectorizer()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X = cv.fit_transform(corpus)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print(cv.vocabulary_)   # 단어-인덱스 매핑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{'card': 0, 'free': 1, 'gift': 2, 'money': 3, 'transfer': 4}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print(X.toarray())      # 문서-단어 행렬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[[0, 2, 0, 1, 0],  &lt;- 'free money free'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 [0, 0, 0, 1, 1],  &lt;- 'money transfer'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 [1, 1, 1, 0, 0]]  &lt;- 'free gift card'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545"/>
                </a:solidFill>
                <a:latin typeface="맑은 고딕"/>
              </a:defRPr>
            </a:pPr>
            <a:r>
              <a:t>한계: 모든 문서에 공통적으로 등장하는 단어('the', 'is' 등)에 높은 가중치 부여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TF-IDF -- Term Frequency x Inverse Document Frequency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TF-IDF 수식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TF-IDF(t, d) = TF(t, d) x IDF(t)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TF(t,d) = f(t,d) / SUM_t' f(t',d)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문서 d에서 단어 t의 빈도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IDF(t) = log(N / |{d : t in d}|)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단어 t가 전체 문서에서 얼마나 드문지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아이디어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 높음 + IDF 높음 = 중요한 단어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특정 문서에서 자주 등장 &amp; 전체적으로 드문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 높음 + IDF 낮음 = 덜 중요한 단어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모든 문서에서 공통적으로 등장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IDF의 역할: 흔한 단어의 가중치를 낮춤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24128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sklearn.feature_extraction.text import TfidfVectorizer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tfidf = TfidfVectorizer(max_features=5000, stop_words='english')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X_tfidf = tfidf.fit_transform(corpus)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CountVectorizer vs TfidfVectorizer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CountVectorizer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TfidfVectorizer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468880"/>
            <a:ext cx="27432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가중치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46888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단순 빈도 (정수)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46888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TF-IDF 가중치 (실수)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017520"/>
            <a:ext cx="27432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흔한 단어 처리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01752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017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높은 값 그대로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01752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017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IDF로 가중치 감소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566160"/>
            <a:ext cx="27432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희귀 단어 처리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56616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낮은 값 그대로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56616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IDF로 가중치 증가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114800"/>
            <a:ext cx="27432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일반적 성능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11480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기본적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411480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대부분의 경우 우수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실무: 텍스트 분류에서는 TfidfVectorizer가 대부분 CountVectorizer보다 우수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스팸 필터링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Bayesian Spam Filtering -- 역사와 벤치마크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역사 -- SpamBayes와 초기 베이지안 필터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Paul Graham (2002)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"A Plan for Spam" 에세이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나이브 베이즈로 스팸의 99.5% 이상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베이지안 스팸 필터링의 본격적 시작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단어의 조건부 확률로 스팸 여부 판별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P(spam|word1, word2, ...) 계산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SpamBayes 프로젝트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Python으로 작성된 오픈소스 스팸 필터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주요 특징: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사용자별 학습 가능 (개인화)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"스팸", "정상", "불확실" 3범주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단어 출현 빈도 기반 베이지안 확률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현대 이메일 클라이언트의 기초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Metsis et al. (2006) -- 어떤 나이브 베이즈?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"Spam Filtering with Naive Bayes -- Which Naive Bayes?"  6개 데이터셋 체계적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변형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9456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9456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평균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MNB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6517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단어 빈도 기반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6517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MBNB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10896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단어 존재/부재 기반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1089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661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MNBB (최우수)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5661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빈도를 이진화 + MultinomialNB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5661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MNB + TF-IDF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402336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TF-IDF 가중치 적용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0233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0.965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805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Flexible Bayes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4805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가우시안 커널 밀도 추정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44805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핵심: MNBB(MultinomialNB + Boolean)가 최우수</a:t>
            </a:r>
            <a:br/>
            <a:r>
              <a:t>스팸 판별에서 빈도보다 존재 여부가 중요하지만, MultinomialNB의 확률 모델이 더 적합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비용 민감 평가 -- FP vs FN의 비대칭성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FP (정상 -&gt; 스팸)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중요한 메일을 잃을 수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매우 심각한 오류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면접 통보, 계약서, 긴급 연락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한 번의 FP가 큰 손실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FN (스팸 -&gt; 정상)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스팸이 받은편지함에 들어옴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불편하지만 덜 심각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광고 메일이 보임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사용자가 수동으로 삭제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가중 정확도 (Metsis 2006)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WAcc = (lambda * TN + TP) / (lambda * (TN + FP) + (TP + FN))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lambda &gt; 1: FP의 상대적 비용 -- FP에 더 높은 패널티 부여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라플라스 스무딩과 로그 확률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Zero Probability &amp; Underflow 문제의 해결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제로 확률 문제 (Zero Probability Problem)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문제 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데이터에서 "scholarship"이 스팸 클래스에서 한 번도 등장하지 않으면: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P("scholarship" | spam)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나이브 베이즈는 확률을 곱셈으로 결합하므로: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P(spam | x1, x2, ..., "scholarship", ...)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하나라도 0이면 전체 결과가 0! -&gt; 다른 모든 단어의 정보가 무시됨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라플라스 스무딩 (Laplace Smoothing)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스무딩 수식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P(xi|C) = (count(xi,C) + alpha)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/ (count(C) + alpha * |V|)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count(xi,C): 클래스 C에서 단어 xi 출현 횟수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count(C): 클래스 C의 전체 단어 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alpha: 스무딩 파라미터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|V|: 전체 어휘(Vocabulary)의 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alpha 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명칭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alpha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라플라스 스무딩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표준 (기본값)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0 &lt; alpha &lt;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리드스톤 스무딩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약한 스무딩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alpha &gt;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강한 스무딩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분포를 더 균일하게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47472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MultinomialNB(alpha=1.0)   # 라플라스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MultinomialNB(alpha=0.5)   # 리드스톤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MultinomialNB(alpha=0.01)  # 약한 스무딩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로그 확률 트릭 (Log Probability Trick)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문제: 언더플로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많은 확률값(0~1)을 곱하면 -&gt; 0에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P(C) * PROD P(xi|C)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0.001 * 0.01 * 0.005 * ... -&gt;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컴퓨터의 부동소수점 정밀도 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해결: 로그 공간으로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곱셈 -&gt; 로그 공간에서 덧셈으로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 P(C|x) ~ log P(C) + SUM log P(xi|C)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C_hat = argmax_C [log P(C)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    + SUM_i log P(xi|C)]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장점 3가지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수치적 안정성 확보 (언더플로 방지)  |  2. 곱셈 -&gt; 덧셈으로 계산 효율 향상  |  3. argmax 보존 (로그는 단조증가함수)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생성 모델 vs 판별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Naive Bayes vs Logistic Regression -- Ng &amp; Jordan (2001)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생성 모델 vs 판별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생성 모델 (Generative)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판별 모델 (Discriminative)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 알고리즘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28600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나이브 베이즈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28600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로지스틱 회귀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모델링 대상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78892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P(X,Y) = P(X|Y)*P(Y)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78892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P(Y|X) 직접 모델링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방식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29184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클래스별 데이터 분포 학습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29184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결정 경계를 직접 학습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가정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79476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794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특성의 분포를 가정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79476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794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분포 가정 불필요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소량 데이터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2976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4297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상대적으로 강함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2976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297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과적합 위험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80060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00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대량 데이터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48006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점근적으로 열등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48006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점근적으로 우수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수학적 연결 -- Ng &amp; Jordan (2001)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나이브 베이즈와 로지스틱 회귀는 동일한 모델 패밀리에 속한다!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241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로그 오즈(Log-Odds) 전개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9875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분류에서 나이브 베이즈의 로그 오즈: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 P(Y=1|x)/P(Y=0|x) = log P(Y=1)/P(Y=0)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          + SUM_i log P(xi|Y=1)/P(xi|Y=0)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이것은 로지스틱 회귀의 선형 모델 w^T*x + b 와 동일한 형태!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차이: 파라미터를 추정하는 방식이 다르다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NB: 생성적 -- P(X|Y)와 P(Y)를 각각 추정 후 베이즈 정리 적용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LR: 판별적 -- P(Y|X)를 직접 최적화 (조건부 우도 최대화)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실용적 선택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상황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28600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학습 데이터가 적을 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나이브 베이즈 (수렴이 빠름)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78892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학습 데이터가 충분할 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78892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로지스틱 회귀 (점근 성능 우수)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29184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특성 간 독립성이 높을 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29184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나이브 베이즈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79476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특성 간 상관관계가 강할 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79476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794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로지스틱 회귀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2976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297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해석 가능성이 중요할 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2976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297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둘 다 해석 용이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8006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속도가 매우 중요할 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8006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나이브 베이즈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Ng &amp; Jordan(2001): NB는 O(log n) 샘플에서 수렴, LR은 O(n) 샘플 필요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논문 리뷰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Rish(2001), McCallum(1998), Rennie(2003)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Rish (2001) -- 나이브 베이즈의 경험적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IJCAI 2001 Workshop | An Empirical Study of the Naive Bayes 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주요 발견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의존성의 방향이 중요하다: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양의 상관 + 음의 상관 혼재 -&gt; 상쇄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-&gt; 성능 유지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균일한 의존성은 해롭지 않다: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모든 특성 쌍이 비슷한 수준의 의존성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-&gt; 순위 보존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분류 vs 확률 추정의 구분: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확률 추정 부정확해도 순위 정확 -&gt;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기여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조건부 독립 가정 위반 시에도 왜 잘 작동하는지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경험적으로 분석한 최초의 체계적 연구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소규모 합성 데이터 위주의 실험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연속형 특성 분석 부족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McCallum &amp; Nigam (1998) -- 이벤트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AAAI-98 Workshop | A Comparison of Event Models for Naive Bayes Text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어휘 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103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베르누이 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103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다항 모델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103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차이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5603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0.68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5603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0.65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5603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-0.03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0175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0.78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0175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0175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+0.04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747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747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34747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+0.06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전체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9319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39319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39319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+0.07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297680"/>
            <a:ext cx="1024128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결론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7548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어휘 크기가 클수록 다항 모델(MultinomialNB)이 베르누이 모델보다 일관되게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논문이 sklearn에서 MultinomialNB와 BernoulliNB를 별도 클래스로 제공하는 직접적 근거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20 Newsgroups 데이터셋에서 실험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Rennie et al. (2003) -- 5가지 잘못된 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ICML 2003 | Tackling the Poor Assumptions of Naive Bayes Text Classifiers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문제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0312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1031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해결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조건부 독립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5603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단어 간 의존성 무시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5603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CNB로 완화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175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균일한 특성 중요도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01752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모든 단어가 동등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0175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TF-IDF 가중치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747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클래스 불균형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4747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다수 클래스 편향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4747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보완 클래스 사용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문서 길이 영향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93192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긴 문서의 우도 왜곡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39319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L2 정규화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버스티니스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3891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단어 반복 출현 무시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3891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로그 TF 변환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Rennie et al. (2003) -- 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20 Newsgroups, 20 클래스 분류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0116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정확도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4688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468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MultinomialNB (기본)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4688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0.774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9718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971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CNB (ComplementNB)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97180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971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0.819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47472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3474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WCNB (전체 개선 적용)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47472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474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0.847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97764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9776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SVM (선형)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97764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977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0.864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ComplementNB는 MultinomialNB 대비 ~4.5%p 향상, SVM에 근접</a:t>
            </a:r>
            <a:br/>
            <a:r>
              <a:t>이 논문이 sklearn에 ComplementNB 클래스가 추가되는 직접적 근거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GaussianNB 스크래치 | 텍스트 분류 | 스팸 필터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GaussianNB 스크래치 -- 클래스 구조 (01_naive_bayes_scratch.py)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class GaussianNBScratch: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"""가우시안 나이브 베이즈 분류기 (밑바닥 구현)"""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self.classes = None      # 클래스 레이블 배열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self.priors = None       # 각 클래스의 사전확률 P(c)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self.means = None        # 각 클래스, 각 특성의 평균 (mu)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self.variances = None    # 각 클래스, 각 특성의 분산 (sigma^2)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"""학습 데이터로부터 사전확률, 평균, 분산을 추정"""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self.classes = np.unique(y)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idx, c in enumerate(self.classes):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X_c = X[y == c]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self.priors[idx] = X_c.shape[0] / X.shape[0]  # P(c) = Nc/N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self.means[idx] = X_c.mean(axis=0)            # 클래스별 평균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self.variances[idx] = X_c.var(axis=0) + 1e-9  # 분산 + epsilon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GaussianNB -- 로그 우도 계산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_gaussian_log_likelihood(self, x, mean, var):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"""가우시안 분포의 로그 확률밀도를 계산"""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# log P(x|mu,sigma^2) = -0.5*log(2*pi*sigma^2)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#                      - (x-mu)^2 / (2*sigma^2)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log_likelihood = -0.5 * np.log(2*np.pi*var) \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             - ((x - mean)**2) / (2*var)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np.sum(log_likelihood)  # 독립가정 -&gt; 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_compute_log_posterior(self, x):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"""각 클래스의 로그 사후확률 계산"""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for idx in range(self.n_classes):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log_prior = np.log(self.priors[idx])        # log P(c)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log_lik = self._gaussian_log_likelihood(     # sum log P(xi|c)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    x, self.means[idx], self.variances[idx])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log_posteriors[idx] = log_prior + log_lik    # 합산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GaussianNB -- predict_proba (Log-Sum-Exp 트릭)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predict_proba(self, X):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"""로그 사후확률을 softmax로 정규화하여 확률 변환"""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for x in X: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log_posteriors = self._compute_log_posterior(x)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# 수치 안정성을 위한 log-sum-exp trick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max_log = np.max(log_posteriors)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log_posteriors_shifted = log_posteriors - max_log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posteriors = np.exp(log_posteriors_shifted)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posteriors /= np.sum(posteriors)  # 정규화 (합=1)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24128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fit(): 클래스별 P(C), mu, sigma^2 계산  |  predict(): argmax(log posterior)  |  predict_proba(): log-sum-exp -&gt; softmax 정규화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GaussianNB -- sklearn과 비교 결과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Iris 데이터셋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직접 구현 정확도: ~0.9778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정확도:   ~0.9778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 일치율:      ~1.0000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구현이 완전히 동일한 결과!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Wine 데이터셋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직접 구현 정확도: ~0.9630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정확도:   ~0.9630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13개 특성의 다차원 데이터에서도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동일한 결과를 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밑바닥 구현을 통해 GaussianNB의 동작 원리를 완전히 이해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메인 실행 예시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my_gnb = GaussianNBScratch()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my_gnb.fit(X_train, y_train)            # 학습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my_pred = my_gnb.predict(X_test)          # 예측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my_proba = my_gnb.predict_proba(X_test)   # 확률 추정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텍스트 분류 비교 (02_text_classification_comparison.py)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실험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데이터: 20 Newsgroups (4개 카테고리)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rec.sport.baseball (야구)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sci.med (의학)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comp.graphics (그래픽)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talk.politics.misc (정치)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3가지 NB변형 x 2가지 벡터화기 = 6조합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 튜닝 + 어휘 크기별 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실험 코드 구조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vectorizers = 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'CountVec': CountVectorizer(...),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'TfidfVec': TfidfVectorizer(...),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nb_models = 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'MultinomialNB': MultinomialNB(alpha=1.0),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'BernoulliNB': BernoulliNB(alpha=1.0),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'ComplementNB': ComplementNB(alpha=1.0),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실험 결과: ComplementNB + TfidfVectorizer가 일관되게 최우수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Alpha 하이퍼파라미터 튜닝 결과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Alpha 값에 따른 성능 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 = 0.001 ~ 10.0 범위에서 탐색 (TfidfVectorizer 사용)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MultinomialNB: alpha=0.1~0.5 범위에서 최적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BernoulliNB:   alpha=0.05~0.3 범위에서 최적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ComplementNB:  alpha에 상대적으로 덜 민감, 전반적으로 안정적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실무 팁: alpha 값은 교차 검증으로 최적화 (기본값 1.0이 항상 최적은 아님)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어휘 크기별 결론 (McCallum &amp; Nigam 1998 재현)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어휘 100: BernoulliNB = MultinomialNB  |  어휘 1K+: MultinomialNB &gt; BernoulliNB  |  어휘 10K+: ComplementNB &gt; MultinomialNB &gt;&gt; BernoulliNB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스팸 필터 (03_spam_filter.py) -- 전처리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preprocess_text(text):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"""텍스트 전처리: 소문자, 특수문자 제거, 숫자 처리"""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text.lower()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re.sub(r'\$[\d,]+', 'MONEY', text)  # $500 -&gt; MONEY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re.sub(r'\d+%', 'PERCENT', text)     # 50% -&gt; PERCENT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re.sub(r'\d+', 'NUM', text)           # 1000 -&gt; NUM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re.sub(r'[^\w\s]', ' ', text)         # 특수문자 제거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re.sub(r'\s+', ' ', text).strip()     # 다중 공백 정리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24128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전처리 핵심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금액($500) -&gt; MONEY 토큰, 퍼센트(50%) -&gt; PERCENT 토큰으로 대체하여 스팸 패턴 보존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 스팸에서 금액/퍼센트 언급은 매우 강력한 스팸 지표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스팸 필터 -- TF-IDF 설정과 모델 학습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TF-IDF 벡터화 (Rennie 2003 권장 설정)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tfidf = TfidfVectorizer(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max_features=5000,         # 상위 5000개 단어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stop_words='english',      # 불용어 제거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ngram_range=(1, 2),        # 유니그램 + 바이그램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min_df=2,                  # 최소 2개 문서에 출현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sublinear_tf=True          # 로그 TF 변환 (Rennie 2003)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MultinomialNB 학습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mnb = MultinomialNB(alpha=0.1)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mnb.fit(X_train_tfidf, y_train)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24128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설정 해설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sublinear_tf=True: Rennie(2003) 권장 로그 TF 변환  |  ngram_range=(1,2): "free gift" 같은 복합 패턴 포착  |  alpha=0.1: 약한 스무딩이 종종 최적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스팸 필터 -- 특성 중요도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analyze_feature_importance(model, vec):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log_probs = model.feature_log_prob_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log_prob_ham = log_probs[0]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log_prob_spam = log_probs[1]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스팸 판별력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spam_importance = 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log_prob_spam - log_prob_ham)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스팸 지표 단어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"free", "win", "prize", "money", "claim"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"congratulations", "guaranteed", "offer"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정상 지표 단어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"meeting", "please", "team", "review"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"project", "schedule", "report"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24128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판별 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 P(w|spam) - log P(w|ham) &gt; 0 이면 스팸 지표 단어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 P(w|spam) - log P(w|ham) &lt; 0 이면 정상 지표 단어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차이값이 클수록 해당 단어의 판별력이 강함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스팸 필터 -- NB 변형 비교 (Metsis 2006 재현)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models = 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'MultinomialNB': MultinomialNB(alpha=0.1),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'BernoulliNB': BernoulliNB(alpha=0.1),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'ComplementNB': ComplementNB(alpha=0.1),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'MNB+Boolean': MultinomialNB(alpha=0.1),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MNB+Boolean: binary=True로 이진화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-&gt; Metsis(2006) MNBB 최우수 변형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Metsis(2006) MNBB 변형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TfidfVectorizer에서 binary=True 옵션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단어 빈도를 이진(0/1)으로 변환한 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MultinomialNB의 확률 모델 적용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스팸 판별: 빈도보다 존재 여부가 중요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BUT MultinomialNB의 모델이 더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BernoulliNB의 모델보다 우수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스팸 필터 -- 새로운 이메일 예측 데모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new_emails = [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"Congratulations! You won a free trip to Hawaii! Click here",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"Hi, can we schedule a meeting for next Tuesday?",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"URGENT: Your account will be suspended unless you verify",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"Thanks for the update. I will review the document",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new_clean = [preprocess_text(e) for e in new_emails]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new_tfidf = tfidf.transform(new_clean)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new_pred = mnb.predict(new_tfidf)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new_proba = mnb.predict_proba(new_tfidf)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결과: "Congratulations..." -&gt; 스팸 (P=0.95+)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      "Hi, can we..."       -&gt; 정상 (P=0.02)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      "URGENT: Your..."     -&gt; 스팸 (P=0.88+)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      "Thanks for..."       -&gt; 정상 (P=0.05)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응용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감정분석 | 문서분류 | 의료진단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감정분석 (Sentiment Analysis)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감정분석 종류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분류: 긍정 / 부정 (영화 리뷰, 상품 후기)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다중 분류: 긍정 / 중립 / 부정 (SNS 여론)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감성 점수: 연속적 수치 (-1.0 ~ +1.0)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나이브 베이즈의 장점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감성 키워드(great, terrible 등) 빈도로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빠른 학습/예측 -&gt; 대규모 텍스트 실시간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적은 학습 데이터로도 상당한 성능 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활용 분야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마케팅: 소비자 반응 분석  |  금융: 뉴스 기반 주가 예측  |  고객 서비스: 불만 고객 자동 감지  |  정치: 선거 여론 분석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문서 분류 (Document Classification)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분야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28600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뉴스 분류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286000"/>
            <a:ext cx="5486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2860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정치, 경제, 스포츠, 문화 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78892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788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이메일 분류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788920"/>
            <a:ext cx="5486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788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업무, 개인, 프로모션, 소셜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2918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291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고객 문의 분류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291840"/>
            <a:ext cx="5486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배송, 반품, 결제, 기술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79476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법률 문서 분류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794760"/>
            <a:ext cx="5486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7947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계약서, 소송 자료, 특허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10241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나이브 베이즈가 문서 분류에 적합한 이유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수만~수십만 개의 고차원 특성 공간을 효율적으로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대량의 문서를 실시간으로 분류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다중 클래스 지원이 자연스러움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카테고리당 소수의 학습 데이터로도 합리적 결과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의료진단 (Medical Diagnosis)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증상 기반 질병 진단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환자의 증상 벡터 x = (x1, x2, ..., xn)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P(D | x1,...,xn) ~ P(D) * PROD P(xi|D)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증상이 질병 확률에 독립적으로 기여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여러 질병 후보를 확률 순으로 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장점 및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소규모 의료 데이터에서의 강건성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증상의 기여도를 확률로 해석 (설명 가능)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 연구 사례: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유방암 진단, 심장병 예측, 당뇨병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SVM/신경망과 비슷한 성능 + 해석 용이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Key Concepts Summary + 복습 질문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개념 정리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개념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베이즈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28600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P(A|B) = P(B|A)*P(A) / P(B)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나이브 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78892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788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모든 특성이 클래스에 대해 조건부 독립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GaussianNB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9184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연속형 데이터, 정규분포 가정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MultinomialNB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79476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794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텍스트 분류 최적, 단어 빈도 기반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BernoulliNB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29768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297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단어 존재/부재, 소규모 어휘에서 경쟁력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0060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ComplementNB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80060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800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Rennie(2003), 보완 클래스, SVM에 근접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개념 정리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개념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라플라스 스무딩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28600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제로 확률 문제 해결, alpha 파라미터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로그 확률 트릭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78892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788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언더플로 방지, 곱셈 -&gt; 덧셈 변환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CountVectorizer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9184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텍스트 -&gt; 단어 출현 빈도 벡터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TF-IDF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79476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794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단어 중요도를 반영한 가중 벡터화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생성 모델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29768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297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NB: P(X|Y)*P(Y)를 모델링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0060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판별 모델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80060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800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LR: P(Y|X)를 직접 모델링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전체 워크플로우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텍스트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7432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834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전처리 (특수기호 제거, 소문자, 불용어)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337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6576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749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벡터화 (CountVectorizer / TfidfVectorizer)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5720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4663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모델링 (MultinomialNB / ComplementNB + alpha 튜닝)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166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4864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5577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평가 (정확도, 정밀도, 재현율, F1, 혼동행렬)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알고리즘 선택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상황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텍스트 분류 (빈도 기반)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MultinomialNB + CountVectorizer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70632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70632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텍스트 분류 (가중 빈도)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770632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770632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MultinomialNB + TfidfVectorizer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55264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55264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텍스트 분류 (존재 유무)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255264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255264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BernoulliNB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739896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39896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불균형 텍스트 분류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739896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739896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ComplementNB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224528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24528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수치형 특성 분류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224528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224528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GaussianNB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09160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09160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대규모 데이터 빠른 분류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709160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709160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나이브 베이즈 전 종류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193792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93792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특성 간 상관관계 강한 경우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5193792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193792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로지스틱 회귀 또는 SVM 권장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(1~5)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Q1. 베이즈 정리의 각 항(사전확률, 우도, 사후확률, 증거)을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의료진단 사례를 들어 설명하시오.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Q2. 나이브 베이즈에서 '나이브'의 의미는 무엇이며, 이 가정이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위반되어도 잘 작동하는 이유를 Zhang(2004)를 인용하여 설명하시오.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Q3. 라플라스 스무딩이 필요한 이유와 수식을 설명하고,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alpha=1과 alpha=0.1의 차이를 논하시오.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Q4. GaussianNB, MultinomialNB, BernoulliNB, ComplementNB의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차이점과 각각의 적합한 데이터 유형을 비교하시오.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Q5. CountVectorizer와 TfidfVectorizer의 차이점을 수식과 함께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설명하고, TF-IDF가 더 우수한 상황을 논하시오.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(6~10)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Q6. Rennie et al.(2003)이 식별한 나이브 베이즈의 5가지 잘못된 가정을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나열하고, 각각의 해결 방안을 설명하시오.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Q7. 스팸 필터링에서 FP와 FN 중 어느 것이 더 심각한 문제인지 논하고,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혼동행렬의 TP, TN, FP, FN을 스팸 필터링 맥락에서 설명하시오.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Q8. 나이브 베이즈(생성 모델)와 로지스틱 회귀(판별 모델)의 차이를 설명하고,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소량 데이터 vs 대량 데이터에서의 성능 특성을 비교하시오.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Q9. 로그 확률 트릭이 필요한 이유를 수치 예제를 들어 설명하고,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argmax 연산이 로그 변환 후에도 보존되는 이유를 서술하시오.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Q10. McCallum &amp; Nigam(1998)에서 어휘가 커질수록 MultinomialNB가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 BernoulliNB보다 우수한 이유와, Metsis(2006)의 MNBB 변형이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  최우수인 이유를 논하시오.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참고 문헌 (References)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1. Rish, I. (2001). An Empirical Study of the Naive Bayes Classifier.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IJCAI Workshop.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2. McCallum, A. &amp; Nigam, K. (1998). A Comparison of Event Models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for Naive Bayes Text Classification. AAAI Workshop.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3. Rennie, J.D.M. et al. (2003). Tackling the Poor Assumptions of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Naive Bayes Text Classifiers. ICML, pp. 616-623.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4. Zhang, H. (2004). The Optimality of Naive Bayes. FLAIRS Conference.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5. Metsis, V. et al. (2006). Spam Filtering with Naive Bayes --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Which Naive Bayes? CEAS.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6. Ng, A.Y. &amp; Jordan, M.I. (2001). On Discriminative vs. Generative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Classifiers. NIPS.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CHAPTER 7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468880"/>
            <a:ext cx="30175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맑은 고딕"/>
              </a:defRPr>
            </a:pPr>
            <a:r>
              <a:t>나이브 베이즈: 단순하지만 강력한 확률적 분류기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"나이브 가정이 깨져도 작동하는 것은, 분류에는 정확한 확률값이 아니라</a:t>
            </a:r>
            <a:br/>
            <a:r>
              <a:t>올바른 순위만 필요하기 때문이다." -- Rish (2001)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