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MACHINE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737360"/>
            <a:ext cx="30175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rPr/>
              <a:t>Chapter 7: Naive Bayes</a:t>
            </a:r>
            <a:br/>
            <a:r>
              <a:t>(Naive Bayes)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2FF"/>
                </a:solidFill>
                <a:latin typeface="맑은 고딕"/>
              </a:defRPr>
            </a:pPr>
            <a:r>
              <a:rPr/>
              <a:t>Bayes Theorem | conditional independence | Text classification | Spam Filtering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rPr/>
              <a:t>References: Rish (2001), McCallum &amp; Nigam (1998), Rennie et al. (2003), Zhang (2004), Metsis et al. (2006)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3035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rPr/>
              <a:t>Machine Learning | 1st semester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737360"/>
            <a:ext cx="73152" cy="292608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737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7.1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Bayes' Theorem ||| (Rish, McCallum, Rennie)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130552"/>
            <a:ext cx="73152" cy="2926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305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7.2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305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Practice: GaussianNB implementation / text classification / spam filter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523744"/>
            <a:ext cx="73152" cy="292608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25237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7.3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2374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Application cases (sentiment analysis, document classification, medical diagnosis)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916936"/>
            <a:ext cx="73152" cy="2926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291693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7.4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91693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Key summary + review questions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310128"/>
            <a:ext cx="73152" cy="292608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3101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7.5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3101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텍스트 분류 -- BoW와 TF-IDF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3703320"/>
            <a:ext cx="73152" cy="29260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3703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7.6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703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스팸 필터링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4096512"/>
            <a:ext cx="73152" cy="292608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40965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7.7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09651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라플라스 스무딩과 로그 확률 트릭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4489704"/>
            <a:ext cx="73152" cy="2926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44897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7.8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48970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생성 모델 vs 판별 모델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4882896"/>
            <a:ext cx="73152" cy="292608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20" y="488289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7.9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88289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논문 리뷰 (Rish, McCallum, Rennie)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5276088"/>
            <a:ext cx="73152" cy="2926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52760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7.10~12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5276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실습: GaussianNB 구현 / 텍스트 분류 / 스팸 필터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0" y="5669280"/>
            <a:ext cx="73152" cy="292608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45920" y="5669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7.13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669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응용 사례 (감정분석, 문서분류, 의료진단)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0" y="6062472"/>
            <a:ext cx="73152" cy="29260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45920" y="60624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7.14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60624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핵심 요약 + 복습 질문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1. Can derive Bayes' theorem and explain the meaning of prior probability/likelihood/posterior probability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2. Understand the difference between frequentist and Bayesian perspectives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3. Can explain the meaning of the naive (conditional independence) assumption and why it works well even if it is broken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4. GaussianNB, MultinomialNB, BernoulliNB, and ComplementNB can be distinguished and selected appropriately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5. The principles of CountVectorizer and TF-IDF can be explained with formulas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6. Understand the necessity and formulas of Laplace smoothing and log probability tricks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7. Understand the relationship between the generative model (naive Bayes) and the discriminant model (logistic regression)</a:t>
            </a:r>
          </a:p>
          <a:p>
            <a:pPr>
              <a:spcAft>
                <a:spcPts val="10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8. You can build a spam filtering pipeline and analyze feature importance.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Bayes'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Bayes' Theorem -- Updating prior knowledge with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From conditional probability to Bayes' theorem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rPr/>
              <a:t>Proposed by the 18th century British mathematician Thomas Bayes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맑은 고딕"/>
              </a:defRPr>
            </a:pPr>
            <a:r>
              <a:rPr/>
              <a:t>Formula for obtaining posterior probability (posterior) by updating prior knowledge (prior) with new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Induction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Definition of conditional probability: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P(A|B) = P(A and B) / P(B)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P(B|A) = P(A and B) / P(A)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P(A and B) elimination: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P(A|B) * P(B) = P(B|A) * P(A)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Bayes' theorem (final)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P(A|B) = P(B|A) * P(A) / P(B)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Posterior probability = likelihood x Prior Probability /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rPr/>
              <a:t>Key: Mathematical principle of rationally updating beliefs after observing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Bayes' theorem -- Meaning of each term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Term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English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Formula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82880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Explanation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86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Posterior probability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2286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Posterior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P(A|B)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286000"/>
            <a:ext cx="5029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286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Posterior probability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78892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Probability of A being true after observing data 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278892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Likelihood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P(B|A)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788920"/>
            <a:ext cx="5029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788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Likelihood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29184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Probability of observing data B when A is true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329184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Prior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P(A)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3291840"/>
            <a:ext cx="5029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3291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Priori probability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79476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794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Probability of A being true before observing data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0" y="379476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0" y="3794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Evidence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0" y="379476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3794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P(B)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3794760"/>
            <a:ext cx="5029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3794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Evidence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rPr/>
              <a:t>Total observation probability of data B (normalized) constant)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Medical diagnosis case -- sensitivity / specificity / prevalence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Situation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Prevalence: P(D) = 0.001 (0.1%)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Sensitivity: P(+|D) = 0.99 (99%)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Specificity: P(-|~D) = 0.95 (95%)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Question: Positive test -&gt; Actual disease probability?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Application of Bayes' theorem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P(D|+) = P(+|D) * P(D) / P(+)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P(+) = P(+|D)*P(D) + P(+|~D)*P(~D)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= 0.99*0.001 + 0.05*0.999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= 0.05094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Calculation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P(D|+) = 0.99 * 0.001 / 0.05094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 0.0194 (about 1.94%) ||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114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핵심 교훈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99% 정확도 검사로 양성이어도 실제 질병 확률 ~2%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사전확률(유병률)이 사후확률에 결정적 영향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베이즈 정리가 직관과 다른 결과의 대표적 사례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Spam email case -- Applying Bayes' theorem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Separation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8288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Total number of emails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Number including "free"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Spam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286000"/>
            <a:ext cx="3200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2860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400 (40%)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3200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2860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200 (50% of spam)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Normal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2788920"/>
            <a:ext cx="32004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27889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600 (60%)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788920"/>
            <a:ext cx="32004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7889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60 (10% of normal)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Total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3291840"/>
            <a:ext cx="3200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3291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1000 (100%)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291840"/>
            <a:ext cx="3200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291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260 (26% of total)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840480"/>
            <a:ext cx="1024128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931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Bayes' theorem calculation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29768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P(spam | "free") = P("free" | spam) * P(spam) / P("free")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 0.5 * 0.4 / 0.26 = 0.769 (about 76.9%)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The probability that an email containing "free" is spam is about 76.9%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Frequentist vs Bayesian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Frequentist vs Bayesian -- Two philosophies of probability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Frequentist || 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Formula: theta_MLE = argmax_theta P(D|theta)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9875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Conclusions are drawn only from data, no prior information is used.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파라미터 관점: 파라미터는 고정된 미지의 상수이다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추론 방법: 최대우도추정(MLE), 신뢰구간, p-값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예시: "이 동전을 10,000번 던지면 앞면이 약 5,000번 나올 것이다"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수식: theta_MLE = argmax_theta P(D|theta)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맑은 고딕"/>
              </a:defRPr>
            </a:pPr>
            <a:r>
              <a:rPr/>
              <a:t>데이터만으로 결론을 내리며, 사전 정보를 사용하지 않음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Bayesian || P(D|theta) * P(theta) / P(D)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Combining with data using prior knowledge -- Strength in small amounts of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9875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확률의 정의: 불확실성에 대한 주관적 믿음의 정도 (degree of belief)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파라미터 관점: 파라미터 자체가 확률분포를 가지는 확률변수이다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추론 방법: 베이즈 정리로 사전분포를 사후분포로 갱신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예시: "이 동전이 공정할 확률이 80%라고 믿는다"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수식: P(theta|D) = P(D|theta) * P(theta) / P(D)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맑은 고딕"/>
              </a:defRPr>
            </a:pPr>
            <a:r>
              <a:rPr/>
              <a:t>사전 지식을 활용하여 데이터와 결합 -- 소량 데이터에서 강점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Frequentism vs. Bayesian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Perspective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Frequentism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Bayesian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Definition of probability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28600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286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Long-term frequency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28600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286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Level of belief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Parameter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278892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27889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Fixed constant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278892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7889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Probability variable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Prior information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29184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3291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Not used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329184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3291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Reflected in prior distribution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79476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794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Representative estimation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379476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37947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MLE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379476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37947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MAP, Posterior distribution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429768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297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Small 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429768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0" y="42976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Estimation instability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429768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42976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Prior distribution supplements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480060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800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Large amount of 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480060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0" y="48006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Guaranteed convergence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0" y="480060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0" y="48006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Reduced prior distribution influence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맑은 고딕"/>
              </a:defRPr>
            </a:pPr>
            <a:r>
              <a:rPr/>
              <a:t>Naive Bayes: Based on Bayesian approach + Frequency-based parameter estimation = Mixed approach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Naive Assumption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Naive Assumption -- Conditional Independence and Its Justification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What is conditional independence?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맑은 고딕"/>
              </a:defRPr>
            </a:pPr>
            <a:r>
              <a:rPr/>
              <a:t>"Naive" = "naive" -- Assuming that all features are conditionally independent given a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Mathematical definition of conditional independence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Given a class C: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P(x1, x2, ..., xn | C) = PROD_i P(xi | C)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Joint probability decomposed into product of marginal probabilities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7744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Naive Bayes classification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C_hat = argmax_C  P(C) * PROD_i P(xi | C)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Denominator P(x1,...,xn) is the same for all classes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Can be ignored when calculating argmax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맑은 고딕"/>
              </a:defRPr>
            </a:pPr>
            <a:r>
              <a:rPr/>
              <a:t>Number of parameters: Joint distribution O(k^n) -&gt; Independence assumption O(n*k) (n: number of features, k: number of classes)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Why the assumption of independence is broken in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  <a:latin typeface="맑은 고딕"/>
              </a:defRPr>
            </a:pPr>
            <a:r>
              <a:rPr/>
              <a:t>In text data, words are clearly not independent of each other: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32004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Example of positive correlation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Co-occurrence of "machine" -&gt; "learning"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Co-occurrence of "New" -&gt; "York"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Co-occurrence of "free" -&gt; "win", "prize"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37744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Grammatic dependency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346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Modifier relationship between adjective and noun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Subject-verb Agreement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Prepositional phrase relationship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37744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Semantic dependency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28346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Synonym relationship: fast = quick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Antonym relationship: good vs bad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Hyponym/hyponym: animal -&gt; dog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96"/>
                </a:solidFill>
                <a:latin typeface="맑은 고딕"/>
              </a:defRPr>
            </a:pPr>
            <a:r>
              <a:rPr/>
              <a:t>Nevertheless, Naive Bayes works surprisingly well! --Why?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Zhang (2004)'s optimality theorem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Key theorem: Optimal conditions in binary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Conditions under which Naive Bayes produces the same results as Bayes optimal classifier: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SUM_{i!=j} dep_ij(c1) = SUM_{i!=j} dep_ij(c2)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Dependency measure: dep_ij(c) = P(xi,xj|c) - P(xi|c)*P(xj|c)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맑은 고딕"/>
              </a:defRPr>
            </a:pPr>
            <a:r>
              <a:rPr/>
              <a:t>Interpretation: If the total amount of dependency is equally distributed between classes, NB is optimal no matter how strong the dependency 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3 reasons why it works well even if it is broken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1. Classification vs. probability estimation (Rish 2001)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It is OK as long as the relative ranking between classes is accurate, not the exact probability value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Whether P(C1|x)=0.8 or 0.95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You can classify correctly as C1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Offsetting effect of dependency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73736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When positive and negative correlations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are mixed, their effects cancel each other out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As a result, overall performance is maintained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Theoretical basis of Zhang (2004)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Computational efficiency (avoiding overfitting)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73736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Independence assumption -&gt; number of parameters O(n*k)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19456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joint distribution -&gt; number of parameters O(k^n)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Fewer parameters = less overfitting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Robust on small data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소량 데이터에서 강건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Naive Bayes variants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GaussianNB | MultinomialNB | BernoulliNB | ComplementNB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GaussianNB -- Gaussian Naive Bayes || Mean)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sigma^2_Ci = (1/Nc) * SUM (x_ji - mu)^2 (sample variance)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적용 대상: 연속형(continuous) 실수 데이터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분포 가정: 각 특성이 클래스별 정규분포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P(xi|C) = 1/sqrt(2*pi*sigma^2)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* exp(-(xi - mu)^2 / (2*sigma^2))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사용 예: Iris 분류, 키/몸무게 기반 성별 예측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파라미터 추정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mu_Ci = (1/Nc) * SUM x_ji  (클래스 C 특성 i의 평균)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sigma^2_Ci = (1/Nc) * SUM (x_ji - mu)^2  (표본 분산)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5029200" cy="10972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6118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sklearn.naive_bayes import GaussianNB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 = GaussianNB()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model.fit(X_train, y_train)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MultinomialNB -- Multinomial Naive Bayes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Key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Applies to: Count or frequency data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Distribution assumption: Each feature is multinomial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P(xi|C) = (count(xi,C) + alpha)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/ SUM_j (count(xj,C) + alpha)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Core: Probability calculation based on frequency of occurrence of words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McCallum &amp; Nigam(1998)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Better than BernoulliNB in ​​text classification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Bigger vocabulary increases MultinomialNB advantage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Usage examples: Spam filtering, sentiment analysis, document classification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5029200" cy="10972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6118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sklearn.naive_bayes import MultinomialNB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 = MultinomialNB(alpha=1.0)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model.fit(X_train_tfidf, y_train)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BernoulliNB -- Bernoulli Naive Bayes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Key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Applicable to: Binary data (0 or 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Distribution assumption: Each feature is Bernoulli distributed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P(x|C) = PROD_i P(xi|C)^xi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* (1 - P(xi|C))^(1-xi)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Key: Only consider the presence or absence of a word (present/absent)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Explicit use of word absence information as well!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McCallum &amp; Nigam (1998) discovered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When the vocabulary dictionary is small: BernoulliNB Competitiveness O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The larger the vocabulary: MultinomialNB is superior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Key difference from MultinomialNB: Leveraging absent information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5029200" cy="10972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6118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sklearn.naive_bayes import BernoulliNB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 = BernoulliNB(alpha=1.0)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model.fit(X_train_binary, y_train)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ComplementNB -- Complementary Naive Bayes (Rennie 2003)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Key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Instead of directly estimating the parameters of each class c,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Use data from complement class ~c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theta_ci = (alpha_i + SUM_{j:yj!=c} f_ji)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/ (alpha + SUM_i' SUM_{j:yj!=c} f_ji')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Classification rules: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c_hat = argmin_c SUM_i fi * log(theta_ci)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Alleviate class imbalance problem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Improve accuracy by about 5-8% compared to standard MultinomialNB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Achieve performance close to SVM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5029200" cy="10972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6118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sklearn.naive_bayes import ComplementNB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 = ComplementNB(alpha=1.0)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model.fit(X_train_tfidf, y_train)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Naive Bayes Variant Comparison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Types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201168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Data Types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01168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Distribution Assumptions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01168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Representative Use Cases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68880"/>
            <a:ext cx="22860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GaussianNB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468880"/>
            <a:ext cx="22860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Continuous (real)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2468880"/>
            <a:ext cx="27432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2468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Normal Distribution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468880"/>
            <a:ext cx="36576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Numerical Feature Classification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017520"/>
            <a:ext cx="22860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017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MultinomialNB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3017520"/>
            <a:ext cx="22860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3017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Count (Integer)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3017520"/>
            <a:ext cx="27432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3017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Multinomial Distribution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017520"/>
            <a:ext cx="36576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Text Classification (Frequency Based)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566160"/>
            <a:ext cx="22860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566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BernoulliNB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566160"/>
            <a:ext cx="22860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3566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Binary (0/1)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3566160"/>
            <a:ext cx="27432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3566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Bernoulli distribution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566160"/>
            <a:ext cx="36576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3566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Text classification (presence/absence)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114800"/>
            <a:ext cx="22860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ComplementNB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4114800"/>
            <a:ext cx="22860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2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Count/Frequency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0" y="4114800"/>
            <a:ext cx="27432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0" y="4114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Complementary multinomial distribution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4114800"/>
            <a:ext cx="36576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4114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Imbalanced text classification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rPr/>
              <a:t>Practical tip: ComplementNB + TfidfVectorizer combination is the most stable in text classification.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Text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Bag of Words and TF-IDF -- Convert text to numbers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Bag of Words (BoW)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맑은 고딕"/>
              </a:defRPr>
            </a:pPr>
            <a:r>
              <a:rPr/>
              <a:t>The most basic vectorization method that expresses text by the frequency of occurrence of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Operating 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Collect all unique words from entire document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Building a Vocabulary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Count the number of occurrences of a word in each document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Generate document-word matrix (DTM)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Features: Ignore word order, consider only frequency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7744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Example: Document-word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Document 1: 'free money free'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[card:0, free:2, gift:0, money:1, transfer:0]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Document 2: 'money transfer'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[card:0, free:0, gift:0, money:1, transfer:1]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Document 3: 'free gift card'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[card:1, free:1, gift:1, money:0, transfer:0]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rPr/>
              <a:t>Output is a sparse matrix -- Most values ​​are 0, so memory efficient storage.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CountVectorizer -- sklearn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from sklearn.feature_extraction.text import CountVectorizer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corpus = ['free money free', 'money transfer', 'free gift card']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cv = CountVectorizer()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X = cv.fit_transform(corpus)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print(cv.vocabulary_) # Word-index mapping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{'card': 0, 'free': 1, 'gift': 2, 'money': 3, 'transfer': 4}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print(X.toarray()) # Document-word matrix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[[0, 2, 0, 1, 0],  &lt;- 'free money free'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 [0, 0, 0, 1, 1],  &lt;- 'money transfer'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#  [1, 1, 1, 0, 0]]  &lt;- 'free gift card'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4545"/>
                </a:solidFill>
                <a:latin typeface="맑은 고딕"/>
              </a:defRPr>
            </a:pPr>
            <a:r>
              <a:rPr/>
              <a:t>Limitations: Give high weight to words that commonly appear in all documents ('the', 'is', etc.)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TF-IDF -- Term Frequency x Inverse Document Frequency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TF-IDF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TF-IDF(t, d) = TF(t, d) x IDF(t)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TF(t,d) = f(t,d) / SUM_t' f(t',d)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Frequency ratio of word t in document 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IDF(t) = log(N / |{d : t in d}|)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How rare word t is in the entire document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TF high + IDF high = important word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Frequently appearing in specific documents &amp; rare overall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High TF + Low IDF = Less important words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Commonly appear in all documents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Role of IDF: Lower the weight of common words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241280" cy="10972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from sklearn.feature_extraction.text import TfidfVectorizer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tfidf = TfidfVectorizer(max_features=5000, stop_words='english')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X_tfidf = tfidf.fit_transform(corpus)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CountVectorizer vs TfidfVectorizer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01168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CountVectorizer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01168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TfidfVectorizer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468880"/>
            <a:ext cx="27432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Weight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468880"/>
            <a:ext cx="4114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4688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Simple Frequency (integer)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468880"/>
            <a:ext cx="4114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4688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TF-IDF Weight (real)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017520"/>
            <a:ext cx="27432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017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Handling common words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017520"/>
            <a:ext cx="41148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0175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Keep high values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017520"/>
            <a:ext cx="41148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30175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Reduce weight to IDF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566160"/>
            <a:ext cx="27432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566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Handle rare words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566160"/>
            <a:ext cx="4114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5661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Keep low values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3566160"/>
            <a:ext cx="4114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35661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Increase weight to IDF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114800"/>
            <a:ext cx="27432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114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General performance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4114800"/>
            <a:ext cx="41148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4114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Basic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4114800"/>
            <a:ext cx="4114800" cy="5486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4114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Good in most cases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rPr/>
              <a:t>Practice: In text classification TfidfVectorizer is mostly better than CountVectorizer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Spam Filtering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Bayesian Spam Filtering -- History and Benchmarks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History -- SpamBayes and early Bayesian filters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Paul Graham (2002)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"A Plan for Spam" essay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Classification of more than 99.5% of spam with Naive Bayes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The full-fledged start of Bayesian spam filtering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Discrimination of spam based on the conditional probability of a word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Calculation of P(spam|word1, word2, ...)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SpamBayes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Open source spam written in Python Filters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Key Features: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User-specific learning possible (personalization)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Classification into 3 categories: “Spam”, “Normal”, “Uncertain”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Bayesian probability based on word frequency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The basis of modern email clients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Metsis et al. (2006) -- Which Naive Bayes?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"Spam Filtering with Naive Bayes -- Which Naive Bayes?"  Systematic comparison of 6 datasets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Transformation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19456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Description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19456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Average 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MNB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265176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Based on word frequency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65176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0.961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10896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MBNB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10896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Based on word presence/absence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310896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0.943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56616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MNBB (best)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356616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Binarization of frequency + MultinomialNB||| TF-IDF weighting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356616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0.972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02336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MNB + TF-IDF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402336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Gaussian kernel density estimation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402336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0.965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48056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Flexible Bayes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0" y="448056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Key: MNBB (MultinomialNB + Boolean) Best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448056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4480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0.938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rPr/>
              <a:t>Presence is more important than frequency in spam detection, but MultinomialNB's probability model is more suitable</a:t>
            </a:r>
            <a:br/>
            <a:r>
              <a:rPr/>
              <a:t>스팸 판별에서 빈도보다 존재 여부가 중요하지만, MultinomialNB의 확률 모델이 더 적합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Cost Sensitive Assessment -- Asymmetry of FP vs FN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FP (Normal -&gt; Spam)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You can lose important mail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Very serious errors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Example: interview notices, contracts, emergency contacts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One FP can be a huge loss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FN (Spam -&gt; Normal)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Spam lands in your inbox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Inconvenient but less serious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Example: Advertising mail Visible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Can be manually deleted by 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24128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Weighted Accuracy (Metsis 2006)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WAcc = (lambda * TN + TP) / (lambda * (TN + FP) + (TP + FN))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lambda &gt; 1: Relative cost of FP -- imposes higher penalty on FP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Laplace Smoothing and Log Probability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Solution of Zero Probability &amp; Underflow Problem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Zero Probability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Problem Situation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If "scholarship" does not appear even once in the spam class in the training data: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P("scholarship" | spam) = 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Naive Bayes combines the probabilities by multiplication: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P(spam | x1, x2, ..., "scholarship", ...)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rPr/>
              <a:t>If even one is 0, the entire result is 0! -&gt; Information from all other words is ignored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Laplace Smoothing || Smoothing |||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스무딩 수식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P(xi|C) = (count(xi,C) + alpha)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/ (count(C) + alpha * |V|)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count(xi,C): 클래스 C에서 단어 xi 출현 횟수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count(C): 클래스 C의 전체 단어 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alpha: 스무딩 파라미터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|V|: 전체 어휘(Vocabulary)의 크기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alpha 값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명칭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효과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alpha =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2860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라플라스 스무딩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0" y="22860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표준 (기본값)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7432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0 &lt; alpha &lt;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27432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리드스톤 스무딩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27432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약한 스무딩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2004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alpha &gt;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32004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강한 스무딩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20" y="32004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분포를 더 균일하게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47472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6118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model = MultinomialNB(alpha=1.0)   # 라플라스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model = MultinomialNB(alpha=0.5)   # 리드스톤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model = MultinomialNB(alpha=0.01)  # 약한 스무딩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Log Probability Trick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Problem: Underflow || Ensuring numerical stability (prevention of underflow) |  2. Increase calculation efficiency with multiplication -&gt; addition |  3. Preserve argmax (log is a monotonically increasing function)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많은 확률값(0~1)을 곱하면 -&gt; 0에 수렴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P(C) * PROD P(xi|C)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 0.001 * 0.01 * 0.005 * ... -&gt; 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컴퓨터의 부동소수점 정밀도 한계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해결: 로그 공간으로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곱셈 -&gt; 로그 공간에서 덧셈으로 변환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log P(C|x) ~ log P(C) + SUM log P(xi|C)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C_hat = argmax_C [log P(C)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       + SUM_i log P(xi|C)]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24128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장점 3가지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수치적 안정성 확보 (언더플로 방지)  |  2. 곱셈 -&gt; 덧셈으로 계산 효율 향상  |  3. argmax 보존 (로그는 단조증가함수)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Generative model vs. discriminant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Naive Bayes vs Logistic Regression -- Ng &amp; Jordan (2001)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Generative model vs discriminative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Perspective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82880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Generative model (Generative)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82880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Discriminative model (Discriminative)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Representative algorithm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28600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Naive Bayes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28600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Logistic regression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Modeling target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278892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P(X,Y) = P(X|Y)*P(Y)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278892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P(Y|X) direct modeling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Learning method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29184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32918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Learning data distribution by class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329184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32918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Decision boundary directly Learning |||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9476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94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가정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79476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37947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특성의 분포를 가정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379476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37947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분포 가정 불필요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29768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297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소량 데이터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429768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42976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상대적으로 강함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429768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42976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과적합 위험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80060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800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대량 데이터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0" y="480060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0" y="4800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점근적으로 열등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0" y="480060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0" y="4800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점근적으로 우수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Mathematical Connection -- Ng &amp; Jordan (2001)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rPr/>
              <a:t>Naive Bayes and Logistic Regression belong to the same model family!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24128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Log-Odds Expansion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9875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Log-Odds of Naive Bayes in Binary Classification: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log P(Y=1|x)/P(Y=0|x) = log P(Y=1)/P(Y=0)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             + SUM_i log P(xi|Y=1)/P(xi|Y=0)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This is the same form as the linear model w^T*x + b of Logistic Regression!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The key difference: the way the parameters are estimated is different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NB: Generative -- estimate P(X|Y) and P(Y) respectively and then apply Bayes' theorem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LR: Discriminant -- directly optimize P(Y|X) (conditional likelihood maximization)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Practical selection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Situation || When important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Both are easy to interpret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28600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When speed is very important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28600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Naive Bayes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78892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Ng &amp; Jordan (2001): NB converges in O(log n) samples, LR requires O(n) samples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78892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로지스틱 회귀 (점근 성능 우수)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29184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2918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특성 간 독립성이 높을 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29184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32918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나이브 베이즈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79476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7947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특성 간 상관관계가 강할 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79476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37947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로지스틱 회귀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29768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2976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해석 가능성이 중요할 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429768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42976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둘 다 해석 용이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480060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4800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속도가 매우 중요할 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480060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4800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나이브 베이즈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rPr/>
              <a:t>Ng &amp; Jordan(2001): NB는 O(log n) 샘플에서 수렴, LR은 O(n) 샘플 필요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paper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Rish(2001), McCallum(1998), Rennie(2003)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Rish (2001) -- Naive Bayes empirical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IJCAI 2001 Workshop | An Empirical Study of the Naive Bayes Classifier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Main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The direction of the dependency is important: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Mixture of positive correlation + negative correlation -&gt; cancellation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Maintain performance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Uniform dependencies are not harmful: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All feature pairs have similar levels of dependency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Preserve ranking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Distinction between classification and probability estimation: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Ranking is accurate even if probability estimation is inaccurate -&gt;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Core contribution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Why it works well even when the conditional independence assumption is violated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The first systematic study to analyze it empirically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0292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Experiments focused on small-scale synthetic data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Lack of analysis of continuous characteristics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McCallum &amp; Nigam (1998) -- Comparison of event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AAAI-98 Workshop | A Comparison of Event Models for Naive Bayes Text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Vocabulary size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210312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Bernoulli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10312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Multinomial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210312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Difference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5603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5603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0.68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25603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0.65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25603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-0.03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0175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30175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0.78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30175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0.82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30175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+0.04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4747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474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4747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3474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0.81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34747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0" y="3474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0.87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34747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0" y="3474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+0.06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9319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Overall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39319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0.82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39319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0.89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0" y="39319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+0.07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4297680"/>
            <a:ext cx="1024128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4389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Key conclusion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75488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The larger the vocabulary size, the multinomial model (MultinomialNB) is consistently better than Bernoulli model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This paper provides MultinomialNB and BernoulliNB as separate classes in sklearn. Rationale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Experiments on 20 Newsgroups dataset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Rennie et al. (2003) -- 5 Bad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ICML 2003 | Tackling the Poor Assumptions of Naive Bayes Text Classifiers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10312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Explanation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210312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603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Conditional Independence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256032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Ignoring Inter-Word Dependencies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5603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Relaxation with CNB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0175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Uniform Feature Importance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01752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All Words Equal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301752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TF-IDF Weights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4747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Class Imbalance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347472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Many Class Bias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34747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Use of Complementary Classes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9319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Document Length Impact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393192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Long Likelihood distortion of document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393192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L2 regularization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3891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Business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0" y="438912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Ignoring word repetition occurrences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0" y="43891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Log TF transformation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Rennie et al. (2003) -- 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rPr/>
              <a:t>20 Newsgroups, 20 class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01168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201168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46888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4688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MultinomialNB (basic)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46888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468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0.774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97180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29718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CNB (ComplementNB)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97180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971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0.819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474720"/>
            <a:ext cx="4572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3474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WCNB (total improvement applied)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347472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3474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0.847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3977640"/>
            <a:ext cx="4572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39776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SVM (linear)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397764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39776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0.864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맑은 고딕"/>
              </a:defRPr>
            </a:pPr>
            <a:r>
              <a:rPr/>
              <a:t>ComplementNB improves by ~4.5%p compared to MultinomialNB, close to SVM</a:t>
            </a:r>
            <a:br/>
            <a:r>
              <a:rPr/>
              <a:t>This paper is the direct basis for adding the ComplementNB class to sklearn.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Practice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GaussianNB Scratch | Text classification | spam filter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GaussianNB Scratch -- Class Structure (01_naive_bayes_scratch.py)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9875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class GaussianNBScratch: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"""Gaussian Naive Bayes Classifier (Bottom Implementation)"""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def __init__(self):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self.classes = None # Array of class labels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self.priors = None # Prior probability of each class P(c)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self.means = None # Mean of each class, each feature (mu)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self.variances = None # Variance of each class, each characteristic (sigma^2)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def fit(self, X, y):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"""Estimating prior probability, mean, and variance from learning data"""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self.classes = np.unique(y)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for idx, c in enumerate(self.classes):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X_c = X[y == c]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self.priors[idx] = X_c.shape[0] / X.shape[0]  # P(c) = Nc/N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self.means[idx] = X_c.mean(axis=0) # Average by class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self.variances[idx] = X_c.var(axis=0) + 1e-9 # Variance + epsilon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GaussianNB -- Calculate log-likelihood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def _gaussian_log_likelihood(self, x, mean, var):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"""Calculate the log probability density of a Gaussian distribution"""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# log P(x|mu,sigma^2) = -0.5*log(2*pi*sigma^2)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#                      - (x-mu)^2 / (2*sigma^2)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log_likelihood = -0.5 * np.log(2*np.pi*var) \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             - ((x - mean)**2) / (2*var)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return np.sum(log_likelihood) # Independence assumption -&gt; sum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1024128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def _compute_log_posterior(self, x):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"""Calculate the log posterior probability of each class"""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for idx in range(self.n_classes):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log_prior = np.log(self.priors[idx])        # log P(c)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log_lik = self._gaussian_log_likelihood(     # sum log P(xi|c)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    x, self.means[idx], self.variances[idx])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log_posteriors[idx] = log_prior + log_lik # sum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GaussianNB -- predict_proba (Log-Sum-Exp trick)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9875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def predict_proba(self, X):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"""Probability transformation by normalizing log posterior probability to softmax"""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for x in X: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log_posteriors = self._compute_log_posterior(x)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log-sum-exp trick for numerical stability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max_log = np.max(log_posteriors)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log_posteriors_shifted = log_posteriors - max_log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posteriors = np.exp(log_posteriors_shifted)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posteriors /= np.sum(posteriors) # Normalization (sum=1)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24128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fit(): Calculate P(C), mu, sigma^2 per class |  predict(): argmax(log posterior) |  predict_proba(): log-sum-exp -&gt; softmax normalization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GaussianNB -- Comparison results with sklearn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Iris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Direct implementation accuracy: ~0.9778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sklearn accuracy: ~0.9778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Prediction agreement: ~1.0000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Both implementations have exactly the same results!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Wine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Direct implementation accuracy: ~0.9630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sklearn accuracy: ~0.9630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Reproduce the same results even in multidimensional data of 13 features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Completely understand the operating principle of GaussianNB through the underlying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rPr/>
              <a:t># Main execution example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10241280" cy="13716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0916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my_gnb.fit(X_train, y_train) # Learning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my_gnb = GaussianNBScratch()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my_pred = my_gnb.predict(X_test) # Prediction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my_proba = my_gnb.predict_proba(X_test) # Probability estimation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my_proba = my_gnb.predict_proba(X_test)   # 확률 추정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Text classification comparison (02_text_classification_comparison.py)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Experimental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Data: 20 Newsgroups (4 categories)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rec.sport.baseball (baseball)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sci.med (medical science)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comp.graphics (graphics)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talk.politics.misc (Politics)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 NB variants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Alpha 튜닝 + 어휘 크기별 비교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7452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실험 코드 구조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vectorizers = {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'CountVec': CountVectorizer(...),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'TfidfVec': TfidfVectorizer(...),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nb_models = {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'MultinomialNB': MultinomialNB(alpha=1.0),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'BernoulliNB': BernoulliNB(alpha=1.0),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'ComplementNB': ComplementNB(alpha=1.0),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맑은 고딕"/>
              </a:defRPr>
            </a:pPr>
            <a:r>
              <a:rPr/>
              <a:t>실험 결과: ComplementNB + TfidfVectorizer가 일관되게 최우수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Alpha hyperparameter tuning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Performance change according to Alpha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9875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Exploration in the range of alpha = 0.001 to 10.0 (using TfidfVectorizer)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MultinomialNB: optimal in the range of alpha=0.1~0.5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BernoulliNB: optimal in the range of alpha=0.05~0.3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ComplementNB: Relatively less sensitive to alpha, overall Stable ||  Vocabulary 1K+: MultinomialNB &gt; BernoulliNB |  Vocabulary 10K+: ComplementNB &gt; MultinomialNB &gt;&gt; BernoulliNB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실무 팁: alpha 값은 교차 검증으로 최적화 (기본값 1.0이 항상 최적은 아님)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1024128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어휘 크기별 결론 (McCallum &amp; Nigam 1998 재현)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어휘 100: BernoulliNB = MultinomialNB  |  어휘 1K+: MultinomialNB &gt; BernoulliNB  |  어휘 10K+: ComplementNB &gt; MultinomialNB &gt;&gt; BernoulliNB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Spam filter (03_spam_filter.py) -- 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def preprocess_text(text):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"""Text preprocessing: removal of lowercase letters, special characters, number processing"""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text = text.lower()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text = re.sub(r'\$[\d,]+', 'MONEY', text)  # $500 -&gt; MONEY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text = re.sub(r'\d+%', 'PERCENT', text)     # 50% -&gt; PERCENT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text = re.sub(r'\d+', 'NUM', text)           # 1000 -&gt; NUM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text = re.sub(r'[^\w\s]', ' ', text) # Remove special characters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text = re.sub(r'\s+', ' ', text).strip() # Clean up multiple spaces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return 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24128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Preprocessing 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Preserve spam patterns by replacing amount ($500) -&gt; MONEY token, percent (50%) -&gt; PERCENT token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 actual spam, mention of amount/percent is a very strong spam indicator.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Spam Filter -- TF-IDF Configuration and Model Training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9875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TF-IDF Vectorization (Rennie 2003 recommended configuration)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tfidf = TfidfVectorizer(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max_features=5000, # Top 5000 words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stop_words='english', # Remove stop words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ngram_range=(1, 2), # Unigram + Bigram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min_df=2, # Appears in at least 2 documents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sublinear_tf=True # Log TF transformation (Rennie 2003)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Learning MultinomialNB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mnb = MultinomialNB(alpha=0.1)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mnb.fit(X_train_tfidf, y_train)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24128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Commentary on core 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sublinear_tf=True: Rennie (2003) Recommended log TF transformation |  ngram_range=(1,2): Capturing complex patterns such as “free gift” |  alpha=0.1: weak smoothing is often optimal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Spam Filter -- Feature Importance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analyze_feature_importance(model, vec):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log_probs = model.feature_log_prob_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log_prob_ham = log_probs[0]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log_prob_spam = log_probs[1]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Spam discrimination power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spam_importance = (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log_prob_spam - log_prob_ham)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Spam indicator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"free", "win", "prize", "money", "claim"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"congratulations", "guaranteed", "offer"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0040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91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Normal indicator 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6576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"meeting", "please", "team", "review"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"project", "schedule", "report"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1024128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Discrimination principle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If log P(w|spam) - log P(w|ham) &gt; 0, spam indicator word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log P(w|spam) - log P(w|ham) &lt; 0, then normal indicator word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The larger the difference value, the stronger the discrimination power of the word.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Spam filter -- Comparison of NB variants (reproduced from Metsis 2006)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models = {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'MultinomialNB': MultinomialNB(alpha=0.1),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'BernoulliNB': BernoulliNB(alpha=0.1),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'ComplementNB': ComplementNB(alpha=0.1),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'MNB+Boolean': MultinomialNB(alpha=0.1),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MNB+Boolean: Binarize with binary=True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-&gt; Metsis(2006) MNBB Best variant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Metsis(2006) MNBB variant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Use binary=True option in TfidfVectorizer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Convert word frequency to binary (0/1) After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Application of MultinomialNB's probability model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Spam determination: Presence is more important than frequency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BUT MultinomialNB's model is more suitable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Better than BernoulliNB's model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Spam Filter -- New Email Prediction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241280" cy="4114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9875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new_emails = [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"Congratulations! You won a free trip to Hawaii! Click here",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"Hi, can we schedule a meeting for next Tuesday?",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"URGENT: Your account will be suspended unless you verify",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"Thanks for the update. I will review the document",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new_clean = [preprocess_text(e) for e in new_emails]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new_tfidf = tfidf.transform(new_clean)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new_pred = mnb.predict(new_tfidf)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new_proba = mnb.predict_proba(new_tfidf)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Results: "Congratulations..." -&gt; Spam (P=0.95+)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"Hi, can we..." -&gt; Normal (P=0.02)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"URGENT: Your..." -&gt; Spam (P=0.88+)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"Thanks for..." -&gt; Normal (P=0.05)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Application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Sentiment analysis | Document classification | medical diagnosis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Sentiment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Types of Sentiment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Binary Classification: Positive / Negative (Movie Review, Product Review)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Multiple Classification: Positive / Neutral / Negative (SNS Public Opinion)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Sentiment Score: Continuous Number (-1.0 ~ +1.0)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Advantages of Naive Bayes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Classification by frequency of sentiment keywords (great, terrible, etc.)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Fast learning/prediction -&gt; Large text real-time Processing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Achieving significant performance even with small training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24128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Application areas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Marketing: Consumer response analysis |  Finance: News-based stock price prediction |  Customer Service: Automatic Detection of Unhappy Customers |  Politics: Election opinion analysis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Document Classification || Reason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1. Efficiently processing tens to hundreds of thousands of high-dimensional feature spaces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828800"/>
            <a:ext cx="5486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2. Ability to classify large amounts of documents in real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28600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3. Multi-class support is natural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2286000"/>
            <a:ext cx="5486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22860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4. Reasonable results even with a small number of training data per category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788920"/>
            <a:ext cx="3657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788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이메일 분류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788920"/>
            <a:ext cx="54864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7889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업무, 개인, 프로모션, 소셜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29184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2918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고객 문의 분류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3291840"/>
            <a:ext cx="5486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2918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배송, 반품, 결제, 기술 지원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794760"/>
            <a:ext cx="3657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7947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법률 문서 분류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3794760"/>
            <a:ext cx="54864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37947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계약서, 소송 자료, 특허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114800"/>
            <a:ext cx="1024128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2062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나이브 베이즈가 문서 분류에 적합한 이유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720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수만~수십만 개의 고차원 특성 공간을 효율적으로 처리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대량의 문서를 실시간으로 분류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다중 클래스 지원이 자연스러움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카테고리당 소수의 학습 데이터로도 합리적 결과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Medical Diagnosis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Symptom-based disease diagnosis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Patient's symptom vector x = (x1, Example: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P(D | x1,...,xn) ~ P(D) * PROD P(xi|D)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Breast cancer diagnosis, heart disease prediction, diabetes classification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Performance similar to SVM/neural network + easy to interpret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장점 및 사례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소규모 의료 데이터에서의 강건성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각 증상의 기여도를 확률로 해석 (설명 가능)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실제 연구 사례: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유방암 진단, 심장병 예측, 당뇨병 분류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SVM/신경망과 비슷한 성능 + 해석 용이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Key Concepts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Key Concepts Summary + Review Questions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Summary of key concepts (1/2) |||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개념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828800"/>
            <a:ext cx="8229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설명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베이즈 정리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286000"/>
            <a:ext cx="8229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P(A|B) = P(B|A)*P(A) / P(B)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88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나이브 가정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788920"/>
            <a:ext cx="8229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7889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모든 특성이 클래스에 대해 조건부 독립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9184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91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GaussianNB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291840"/>
            <a:ext cx="8229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32918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연속형 데이터, 정규분포 가정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79476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794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MultinomialNB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3794760"/>
            <a:ext cx="8229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7947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텍스트 분류 최적, 단어 빈도 기반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29768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97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BernoulliNB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4297680"/>
            <a:ext cx="8229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42976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단어 존재/부재, 소규모 어휘에서 경쟁력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80060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00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ComplementNB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4800600"/>
            <a:ext cx="8229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4800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Rennie(2003), 보완 클래스, SVM에 근접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Summary of key concepts (2/2) || Modeling P(X|Y)*P(Y)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Discriminant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828800"/>
            <a:ext cx="8229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LR: Directly modeling P(Y|X)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라플라스 스무딩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286000"/>
            <a:ext cx="8229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제로 확률 문제 해결, alpha 파라미터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88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로그 확률 트릭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788920"/>
            <a:ext cx="8229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7889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언더플로 방지, 곱셈 -&gt; 덧셈 변환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9184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91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CountVectorizer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291840"/>
            <a:ext cx="8229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32918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텍스트 -&gt; 단어 출현 빈도 벡터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79476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794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TF-IDF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3794760"/>
            <a:ext cx="8229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7947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단어 중요도를 반영한 가중 벡터화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29768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97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생성 모델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4297680"/>
            <a:ext cx="8229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42976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NB: P(X|Y)*P(Y)를 모델링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80060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00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판별 모델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4800600"/>
            <a:ext cx="82296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4800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LR: P(Y|X)를 직접 모델링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Entire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828800"/>
            <a:ext cx="82296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920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rPr/>
              <a:t>Text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423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743200"/>
            <a:ext cx="82296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28346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rPr/>
              <a:t>Preprocessing (removal of special symbols, lowercase letters, stop words)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337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657600"/>
            <a:ext cx="82296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3749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rPr/>
              <a:t>Vectorization (CountVectorizer / TfidfVectorizer)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251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572000"/>
            <a:ext cx="82296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46634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rPr/>
              <a:t>Modeling (MultinomialNB / ComplementNB + alpha tuning)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5166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5486400"/>
            <a:ext cx="82296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55778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rPr/>
              <a:t>Evaluation (accuracy, precision, recall, F1, confusion matrix)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Algorithm Selection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Situation |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추천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286000"/>
            <a:ext cx="5029200" cy="4846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텍스트 분류 (빈도 기반)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286000"/>
            <a:ext cx="5029200" cy="4846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286000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MultinomialNB + CountVectorizer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770632"/>
            <a:ext cx="5029200" cy="48463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70632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텍스트 분류 (가중 빈도)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770632"/>
            <a:ext cx="5029200" cy="48463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2770632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MultinomialNB + TfidfVectorizer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255264"/>
            <a:ext cx="5029200" cy="4846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55264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텍스트 분류 (존재 유무)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255264"/>
            <a:ext cx="5029200" cy="4846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3255264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BernoulliNB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739896"/>
            <a:ext cx="5029200" cy="48463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739896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불균형 텍스트 분류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739896"/>
            <a:ext cx="5029200" cy="48463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3739896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ComplementNB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224528"/>
            <a:ext cx="5029200" cy="4846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224528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수치형 특성 분류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4224528"/>
            <a:ext cx="5029200" cy="4846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4224528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GaussianNB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709160"/>
            <a:ext cx="5029200" cy="48463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709160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대규모 데이터 빠른 분류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4709160"/>
            <a:ext cx="5029200" cy="48463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4709160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나이브 베이즈 전 종류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5193792"/>
            <a:ext cx="5029200" cy="4846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193792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특성 간 상관관계 강한 경우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5193792"/>
            <a:ext cx="5029200" cy="4846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5193792"/>
            <a:ext cx="50292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로지스틱 회귀 또는 SVM 권장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Review questions (1-5)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Q1. Each term of Bayes’ theorem (prior probability, likelihood, posterior probability, evidence)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Please explain with an example of medical diagnosis.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Q2. What does 'naive' mean in Naive Bayes, and does this assumption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Please explain why it works well even if it is violated, citing Zhang (2004).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Q3. Explain why Laplace smoothing is needed and the formula,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Discuss the difference between alpha=1 and alpha=0.1.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Q4.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of GaussianNB, MultinomialNB, BernoulliNB, ComplementNB    Compare the differences and the appropriate data types for each.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Q5. Difference between CountVectorizer and TfidfVectorizer with formulas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Explain and discuss situations where TF-IDF is superior.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Review questions (6~10)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Q6. Five incorrect assumptions of Naive Bayes identified by Rennie et al. (2003)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List them and explain each solution.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Q7. Discuss whether FP or FN is a more serious problem in spam filtering,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Explain the TP, TN, FP, and FN of the confusion matrix in the context of spam filtering.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Q8. Explain the difference between Naive Bayes (generative model) and logistic regression (discriminant model),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Compare performance characteristics in small data vs. large data.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Q9. Explain with numerical examples why the log-probability trick is necessary, and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Explain why the argmax operation is preserved even after logarithmic transformation.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Q10. In McCallum &amp; Nigam (1998), as the vocabulary grows, MultinomialNB becomes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Why is it superior to BernoulliNB and the MNBB variant of Metsis (2006)</a:t>
            </a:r>
          </a:p>
          <a:p>
            <a:pPr>
              <a:spcAft>
                <a:spcPts val="3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Discuss why it is the best.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1. Rish, I. (2001). An Empirical Study of the Naive Bayes Classifier.</a:t>
            </a: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   IJCAI Workshop.</a:t>
            </a: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2. McCallum, A. &amp; Nigam, K. (1998). A Comparison of Event Models</a:t>
            </a: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   for Naive Bayes Text Classification. AAAI Workshop.</a:t>
            </a: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3. Rennie, J.D.M. et al. (2003). Tackling the Poor Assumptions of</a:t>
            </a: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   Naive Bayes Text Classifiers. ICML, pp. 616-623.</a:t>
            </a: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4. Zhang, H. (2004). The Optimality of Naive Bayes. FLAIRS Conference.</a:t>
            </a: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5. Metsis, V. et al. (2006). Spam Filtering with Naive Bayes --</a:t>
            </a: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   Which Naive Bayes? CEAS.</a:t>
            </a: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6. Ng, A.Y. &amp; Jordan, M.I. (2001). On Discriminative vs. Generative</a:t>
            </a:r>
          </a:p>
          <a:p>
            <a:pPr>
              <a:spcAft>
                <a:spcPts val="2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   Classifiers. NIPS.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CHAPTER 7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468880"/>
            <a:ext cx="30175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맑은 고딕"/>
              </a:defRPr>
            </a:pPr>
            <a:r>
              <a:rPr/>
              <a:t>Naive Bayes: A simple but powerful probabilistic classifier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7548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rPr/>
              <a:t>"It works even when the naïve assumption is broken because classification only requires the correct ranking, not</a:t>
            </a:r>
            <a:br/>
            <a:r>
              <a:rPr/>
              <a:t>not the exact probability value." --Rish (2001)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