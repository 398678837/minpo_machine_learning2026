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spcAft>
                <a:spcPts val="200"/>
              </a:spcAft>
              <a:defRPr sz="1400" b="0" i="0">
                <a:solidFill>
                  <a:srgbClr val="A09070"/>
                </a:solidFill>
                <a:latin typeface="Consolas"/>
              </a:defRPr>
            </a:pPr>
            <a:r>
              <a:t>C H A P T E R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200"/>
              </a:lnSpc>
              <a:spcAft>
                <a:spcPts val="200"/>
              </a:spcAft>
              <a:defRPr sz="5200" b="1" i="1">
                <a:solidFill>
                  <a:srgbClr val="C9A84C"/>
                </a:solidFill>
                <a:latin typeface="Georgia"/>
              </a:defRPr>
            </a:pPr>
            <a:r>
              <a:t>나이브 베이즈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200"/>
              </a:spcAft>
              <a:defRPr sz="2600" b="0" i="1">
                <a:solidFill>
                  <a:srgbClr val="8A7340"/>
                </a:solidFill>
                <a:latin typeface="Georgia"/>
              </a:defRPr>
            </a:pPr>
            <a:r>
              <a:t>Naive Bayes Classification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809847" y="3200400"/>
            <a:ext cx="4572000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Aft>
                <a:spcPts val="200"/>
              </a:spcAft>
              <a:defRPr sz="2200" b="0" i="0">
                <a:solidFill>
                  <a:srgbClr val="D4BF9A"/>
                </a:solidFill>
                <a:latin typeface="Georgia"/>
              </a:defRPr>
            </a:pPr>
            <a:r>
              <a:t>스팸 여부 판단하기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A09070"/>
                </a:solidFill>
                <a:latin typeface="Georgia"/>
              </a:defRPr>
            </a:pPr>
            <a:r>
              <a:t>나이브 베이즈 모델로 문자 데이터셋을 분석해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A09070"/>
                </a:solidFill>
                <a:latin typeface="Georgia"/>
              </a:defRPr>
            </a:pPr>
            <a:r>
              <a:t>스팸 문자를 필터링하고, 나이브 베이즈를 더 깊게 이해합니다.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8A7340"/>
                </a:solidFill>
                <a:latin typeface="Consolas"/>
              </a:defRPr>
            </a:pPr>
            <a:r>
              <a:t>머신러닝  |  지도학습  |  분류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1 / 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학습 목표 &amp; 학습 순서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0911535" cy="64008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37215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200"/>
              </a:spcAft>
              <a:defRPr sz="1500">
                <a:solidFill>
                  <a:srgbClr val="E8C45C"/>
                </a:solidFill>
                <a:latin typeface="Georgia"/>
              </a:defRPr>
            </a:pPr>
            <a:r>
              <a:t>학습 목표: 나이브 베이즈 모델로 문자 데이터셋을 분석해 스팸 문자를 필터링하고, 나이브 베이즈를 더 깊게 이해합니다.</a:t>
            </a:r>
          </a:p>
        </p:txBody>
      </p:sp>
      <p:sp>
        <p:nvSpPr>
          <p:cNvPr id="8" name="Oval 7"/>
          <p:cNvSpPr/>
          <p:nvPr/>
        </p:nvSpPr>
        <p:spPr>
          <a:xfrm>
            <a:off x="731519" y="2039112"/>
            <a:ext cx="274320" cy="274320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0208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200"/>
              </a:spcAft>
              <a:defRPr sz="900" b="1" i="0">
                <a:solidFill>
                  <a:srgbClr val="1A1208"/>
                </a:solidFill>
                <a:latin typeface="Consolas"/>
              </a:defRPr>
            </a:pPr>
            <a:r>
              <a:t>7.1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문제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1">
                <a:solidFill>
                  <a:srgbClr val="A09070"/>
                </a:solidFill>
                <a:latin typeface="Georgia"/>
              </a:defRPr>
            </a:pPr>
            <a:r>
              <a:t>스팸 문자 여부 판별 미션</a:t>
            </a:r>
          </a:p>
        </p:txBody>
      </p:sp>
      <p:sp>
        <p:nvSpPr>
          <p:cNvPr id="12" name="Oval 11"/>
          <p:cNvSpPr/>
          <p:nvPr/>
        </p:nvSpPr>
        <p:spPr>
          <a:xfrm>
            <a:off x="731519" y="2423160"/>
            <a:ext cx="274320" cy="274320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24048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200"/>
              </a:spcAft>
              <a:defRPr sz="900" b="1" i="0">
                <a:solidFill>
                  <a:srgbClr val="1A1208"/>
                </a:solidFill>
                <a:latin typeface="Consolas"/>
              </a:defRPr>
            </a:pPr>
            <a:r>
              <a:t>7.2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3957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라이브러리 및 데이터 불러오기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3957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1">
                <a:solidFill>
                  <a:srgbClr val="A09070"/>
                </a:solidFill>
                <a:latin typeface="Georgia"/>
              </a:defRPr>
            </a:pPr>
            <a:r>
              <a:t>pandas, numpy, seaborn, sklearn, nltk</a:t>
            </a:r>
          </a:p>
        </p:txBody>
      </p:sp>
      <p:sp>
        <p:nvSpPr>
          <p:cNvPr id="16" name="Oval 15"/>
          <p:cNvSpPr/>
          <p:nvPr/>
        </p:nvSpPr>
        <p:spPr>
          <a:xfrm>
            <a:off x="731519" y="2807208"/>
            <a:ext cx="274320" cy="274320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2788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200"/>
              </a:spcAft>
              <a:defRPr sz="900" b="1" i="0">
                <a:solidFill>
                  <a:srgbClr val="1A1208"/>
                </a:solidFill>
                <a:latin typeface="Consolas"/>
              </a:defRPr>
            </a:pPr>
            <a:r>
              <a:t>7.3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7797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특수 기호 제거하기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77977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1">
                <a:solidFill>
                  <a:srgbClr val="A09070"/>
                </a:solidFill>
                <a:latin typeface="Georgia"/>
              </a:defRPr>
            </a:pPr>
            <a:r>
              <a:t>string.punctuation 활용</a:t>
            </a:r>
          </a:p>
        </p:txBody>
      </p:sp>
      <p:sp>
        <p:nvSpPr>
          <p:cNvPr id="20" name="Oval 19"/>
          <p:cNvSpPr/>
          <p:nvPr/>
        </p:nvSpPr>
        <p:spPr>
          <a:xfrm>
            <a:off x="731519" y="3191256"/>
            <a:ext cx="274320" cy="274320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" y="31729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200"/>
              </a:spcAft>
              <a:defRPr sz="900" b="1" i="0">
                <a:solidFill>
                  <a:srgbClr val="1A1208"/>
                </a:solidFill>
                <a:latin typeface="Consolas"/>
              </a:defRPr>
            </a:pPr>
            <a:r>
              <a:t>7.4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1638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불용어 제거하기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16382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1">
                <a:solidFill>
                  <a:srgbClr val="A09070"/>
                </a:solidFill>
                <a:latin typeface="Georgia"/>
              </a:defRPr>
            </a:pPr>
            <a:r>
              <a:t>NLTK stopwords 사용</a:t>
            </a:r>
          </a:p>
        </p:txBody>
      </p:sp>
      <p:sp>
        <p:nvSpPr>
          <p:cNvPr id="24" name="Oval 23"/>
          <p:cNvSpPr/>
          <p:nvPr/>
        </p:nvSpPr>
        <p:spPr>
          <a:xfrm>
            <a:off x="731519" y="3575303"/>
            <a:ext cx="274320" cy="274320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19" y="355701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200"/>
              </a:spcAft>
              <a:defRPr sz="900" b="1" i="0">
                <a:solidFill>
                  <a:srgbClr val="1A1208"/>
                </a:solidFill>
                <a:latin typeface="Consolas"/>
              </a:defRPr>
            </a:pPr>
            <a:r>
              <a:t>7.5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547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목표 컬럼 형태 변경하기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54787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1">
                <a:solidFill>
                  <a:srgbClr val="A09070"/>
                </a:solidFill>
                <a:latin typeface="Georgia"/>
              </a:defRPr>
            </a:pPr>
            <a:r>
              <a:t>spam/ham → 1/0 변환</a:t>
            </a:r>
          </a:p>
        </p:txBody>
      </p:sp>
      <p:sp>
        <p:nvSpPr>
          <p:cNvPr id="28" name="Oval 27"/>
          <p:cNvSpPr/>
          <p:nvPr/>
        </p:nvSpPr>
        <p:spPr>
          <a:xfrm>
            <a:off x="731519" y="3959352"/>
            <a:ext cx="274320" cy="274320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19" y="394106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200"/>
              </a:spcAft>
              <a:defRPr sz="900" b="1" i="0">
                <a:solidFill>
                  <a:srgbClr val="1A1208"/>
                </a:solidFill>
                <a:latin typeface="Consolas"/>
              </a:defRPr>
            </a:pPr>
            <a:r>
              <a:t>7.6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카운트 기반 벡터화하기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3931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1">
                <a:solidFill>
                  <a:srgbClr val="A09070"/>
                </a:solidFill>
                <a:latin typeface="Georgia"/>
              </a:defRPr>
            </a:pPr>
            <a:r>
              <a:t>CountVectorizer</a:t>
            </a:r>
          </a:p>
        </p:txBody>
      </p:sp>
      <p:sp>
        <p:nvSpPr>
          <p:cNvPr id="32" name="Oval 31"/>
          <p:cNvSpPr/>
          <p:nvPr/>
        </p:nvSpPr>
        <p:spPr>
          <a:xfrm>
            <a:off x="731519" y="4343400"/>
            <a:ext cx="274320" cy="274320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19" y="43251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200"/>
              </a:spcAft>
              <a:defRPr sz="900" b="1" i="0">
                <a:solidFill>
                  <a:srgbClr val="1A1208"/>
                </a:solidFill>
                <a:latin typeface="Consolas"/>
              </a:defRPr>
            </a:pPr>
            <a:r>
              <a:t>7.7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315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모델링 및 예측/평가하기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3159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1">
                <a:solidFill>
                  <a:srgbClr val="A09070"/>
                </a:solidFill>
                <a:latin typeface="Georgia"/>
              </a:defRPr>
            </a:pPr>
            <a:r>
              <a:t>MultinomialNB, 혼동행렬</a:t>
            </a:r>
          </a:p>
        </p:txBody>
      </p:sp>
      <p:sp>
        <p:nvSpPr>
          <p:cNvPr id="36" name="Oval 35"/>
          <p:cNvSpPr/>
          <p:nvPr/>
        </p:nvSpPr>
        <p:spPr>
          <a:xfrm>
            <a:off x="731519" y="4727448"/>
            <a:ext cx="274320" cy="274320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19" y="470915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200"/>
              </a:spcAft>
              <a:defRPr sz="900" b="1" i="0">
                <a:solidFill>
                  <a:srgbClr val="1A1208"/>
                </a:solidFill>
                <a:latin typeface="Consolas"/>
              </a:defRPr>
            </a:pPr>
            <a:r>
              <a:t>7.8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47000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이해하기: 나이브 베이즈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470001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1">
                <a:solidFill>
                  <a:srgbClr val="A09070"/>
                </a:solidFill>
                <a:latin typeface="Georgia"/>
              </a:defRPr>
            </a:pPr>
            <a:r>
              <a:t>베이즈 정리 수식과 예시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2 /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나이브 베이즈(Naive Bayes) 소개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Aft>
                <a:spcPts val="200"/>
              </a:spcAft>
              <a:defRPr sz="2000" b="1" i="0">
                <a:solidFill>
                  <a:srgbClr val="E8C45C"/>
                </a:solidFill>
                <a:latin typeface="Georgia"/>
              </a:defRPr>
            </a:pPr>
            <a:r>
              <a:t>나이브 베이즈란?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20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베이즈 정리를 적용한 조건부 확률 기반의 분류 모델입니다.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2000"/>
              </a:lnSpc>
              <a:spcAft>
                <a:spcPts val="200"/>
              </a:spcAft>
              <a:defRPr sz="1500" b="0" i="1">
                <a:solidFill>
                  <a:srgbClr val="D4BF9A"/>
                </a:solidFill>
                <a:latin typeface="Georgia"/>
              </a:defRPr>
            </a:pPr>
            <a:r>
              <a:t>조건부 확률: A가 일어났을 때 B가 일어날 확률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1">
                <a:solidFill>
                  <a:srgbClr val="A09070"/>
                </a:solidFill>
                <a:latin typeface="Georgia"/>
              </a:defRPr>
            </a:pPr>
            <a:r>
              <a:t>예) '무료'라는 단어가 들어있을 때 해당 메일이 스팸일 확률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20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스팸 필터링을 위한 대표적 모델. 딥러닝보다 간단한 방법으로</a:t>
            </a:r>
          </a:p>
          <a:p>
            <a:pPr>
              <a:lnSpc>
                <a:spcPts val="20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자연어 처리를 원할 때 여전히 좋은 선택이 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5318607" cy="18288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6B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504428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장점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비교적 간단한 알고리즘, 속도 빠름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작은 훈련셋으로도 잘 예측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독립변수들이 독립적이면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  다른 알고리즘보다 우수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834640"/>
            <a:ext cx="5318607" cy="18288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C05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0167" y="2926080"/>
            <a:ext cx="504428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단점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독립변수가 각각 독립적임을 전제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  (실제 데이터에서 그런 경우 드묾)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숫자형 변수가 많을 때는 비적합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범용성이 높지 않음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911535" cy="50292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8463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200"/>
              </a:spcAft>
              <a:defRPr sz="1500">
                <a:solidFill>
                  <a:srgbClr val="E8C45C"/>
                </a:solidFill>
                <a:latin typeface="Georgia"/>
              </a:defRPr>
            </a:pPr>
            <a:r>
              <a:t>핵심: 조건부 확률(P(A|B))로 데이터를 분류하는 알고리즘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3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나이브 베이즈가 유용한 곳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0911535" cy="9144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E8C45C"/>
                </a:solidFill>
                <a:latin typeface="Georgia"/>
              </a:defRPr>
            </a:pPr>
            <a:r>
              <a:t>TOP 10 선정 이유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E8C45C"/>
                </a:solidFill>
                <a:latin typeface="Georgia"/>
              </a:defRPr>
            </a:pPr>
            <a:r>
              <a:t>범용성이 높지는 않지만, 독립변수들이 모두 독립적이라면 충분히 경쟁력 있는 알고리즘.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E8C45C"/>
                </a:solidFill>
                <a:latin typeface="Georgia"/>
              </a:defRPr>
            </a:pPr>
            <a:r>
              <a:t>특히 딥러닝을 제외하고 자연어 처리에 가장 적합한 알고리즘입니다.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200"/>
              </a:spcAft>
              <a:defRPr sz="1800" b="1" i="0">
                <a:solidFill>
                  <a:srgbClr val="C9A84C"/>
                </a:solidFill>
                <a:latin typeface="Georgia"/>
              </a:defRPr>
            </a:pPr>
            <a:r>
              <a:t>유용한 상황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61487"/>
            <a:ext cx="91440" cy="9144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79"/>
            <a:ext cx="10454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각 독립변수들이 모두 독립적이고 그 중요도가 비슷할 때 유용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108959"/>
            <a:ext cx="91440" cy="9144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44951"/>
            <a:ext cx="10454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자연어 처리(NLP)에서 간단하지만 좋은 성능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456431"/>
            <a:ext cx="91440" cy="9144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392423"/>
            <a:ext cx="10454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범주 형태의 변수가 많을 때 적합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803904"/>
            <a:ext cx="91440" cy="9144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39896"/>
            <a:ext cx="10454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숫자형 변수가 많을 때는 적합하지 않음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70248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200"/>
              </a:spcAft>
              <a:defRPr sz="1800" b="1" i="0">
                <a:solidFill>
                  <a:srgbClr val="C9A84C"/>
                </a:solidFill>
                <a:latin typeface="Georgia"/>
              </a:defRPr>
            </a:pPr>
            <a:r>
              <a:t>다른 알고리즘과의 비교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36008"/>
            <a:ext cx="5318607" cy="128016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27448"/>
            <a:ext cx="504428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나이브 베이즈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조건부 확률 기반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독립 가정 필요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텍스트 분류에 강력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훈련 속도 매우 빠름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4636008"/>
            <a:ext cx="5318607" cy="128016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5C7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0167" y="4727448"/>
            <a:ext cx="504428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로지스틱 회귀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선형 관계 전제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독립 가정 불필요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범용적 사용 가능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훈련 속도 빠름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4 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7.1 문제 정의 : 한눈에 보는 예측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0911535" cy="54864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37215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Aft>
                <a:spcPts val="200"/>
              </a:spcAft>
              <a:defRPr sz="2000">
                <a:solidFill>
                  <a:srgbClr val="E8C45C"/>
                </a:solidFill>
                <a:latin typeface="Georgia"/>
              </a:defRPr>
            </a:pPr>
            <a:r>
              <a:t>미션: 문자 데이터셋을 이용해 스팸 여부를 판단하라!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1" i="0">
                <a:solidFill>
                  <a:srgbClr val="8A7340"/>
                </a:solidFill>
                <a:latin typeface="Georgia"/>
              </a:defRPr>
            </a:pPr>
            <a:r>
              <a:t>알고리즘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92024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나이브 베이즈 (Naive Bayes)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402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1" i="0">
                <a:solidFill>
                  <a:srgbClr val="8A7340"/>
                </a:solidFill>
                <a:latin typeface="Georgia"/>
              </a:defRPr>
            </a:pPr>
            <a:r>
              <a:t>데이터셋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4028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spam.csv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5603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1" i="0">
                <a:solidFill>
                  <a:srgbClr val="8A7340"/>
                </a:solidFill>
                <a:latin typeface="Georgia"/>
              </a:defRPr>
            </a:pPr>
            <a:r>
              <a:t>종속변수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56032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target (스팸 여부: spam / ham)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8803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1" i="0">
                <a:solidFill>
                  <a:srgbClr val="8A7340"/>
                </a:solidFill>
                <a:latin typeface="Georgia"/>
              </a:defRPr>
            </a:pPr>
            <a:r>
              <a:t>독립변수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88036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text (문자 내용 - 자연어)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2004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1" i="0">
                <a:solidFill>
                  <a:srgbClr val="8A7340"/>
                </a:solidFill>
                <a:latin typeface="Georgia"/>
              </a:defRPr>
            </a:pPr>
            <a:r>
              <a:t>문제 유형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20040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분류 (Classification)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5204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1" i="0">
                <a:solidFill>
                  <a:srgbClr val="8A7340"/>
                </a:solidFill>
                <a:latin typeface="Georgia"/>
              </a:defRPr>
            </a:pPr>
            <a:r>
              <a:t>평가지표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52044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정확도, 혼동 행렬 (Confusion Matrix)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8404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1" i="0">
                <a:solidFill>
                  <a:srgbClr val="8A7340"/>
                </a:solidFill>
                <a:latin typeface="Georgia"/>
              </a:defRPr>
            </a:pPr>
            <a:r>
              <a:t>모델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84048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MultinomialNB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51959"/>
            <a:ext cx="10911535" cy="82296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343399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A09070"/>
                </a:solidFill>
                <a:latin typeface="Georgia"/>
              </a:defRPr>
            </a:pPr>
            <a:r>
              <a:t>데이터 소개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A09070"/>
                </a:solidFill>
                <a:latin typeface="Georgia"/>
              </a:defRPr>
            </a:pPr>
            <a:r>
              <a:t>스팸 문자 데이터로, 독립변수는 text 하나밖에 없습니다.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A09070"/>
                </a:solidFill>
                <a:latin typeface="Georgia"/>
              </a:defRPr>
            </a:pPr>
            <a:r>
              <a:t>그러나 이 하나의 변수에 긴 문장 형태의 데이터가 들어 있어 많은 전처리 작업이 필요합니다.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A09070"/>
                </a:solidFill>
                <a:latin typeface="Georgia"/>
              </a:defRPr>
            </a:pPr>
            <a:r>
              <a:t>각 문장에 들어간 단어들을 활용하여 문자가 스팸인지 아닌지를 예측합니다.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66359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1">
                <a:solidFill>
                  <a:srgbClr val="A09070"/>
                </a:solidFill>
                <a:latin typeface="Georgia"/>
              </a:defRPr>
            </a:pPr>
            <a:r>
              <a:t>사용 라이브러리: numpy, pandas, seaborn, matplotlib, scikit-learn, nltk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5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7.2 라이브러리 및 데이터 불러오기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18607" cy="201168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504428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import matplotlib.pyplot as plt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import seaborn as sns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file_url = 'https://media.github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usercontent.com/.../spam.csv'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data = pd.read_csv(file_url)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1234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1" i="0">
                <a:solidFill>
                  <a:srgbClr val="C9A84C"/>
                </a:solidFill>
                <a:latin typeface="Consolas"/>
              </a:defRPr>
            </a:pPr>
            <a:r>
              <a:t>pandas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247" y="1234440"/>
            <a:ext cx="33983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D4BF9A"/>
                </a:solidFill>
                <a:latin typeface="Georgia"/>
              </a:defRPr>
            </a:pPr>
            <a:r>
              <a:t>데이터프레임 조작 &amp;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007" y="1536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1" i="0">
                <a:solidFill>
                  <a:srgbClr val="C9A84C"/>
                </a:solidFill>
                <a:latin typeface="Consolas"/>
              </a:defRPr>
            </a:pPr>
            <a:r>
              <a:t>numpy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3247" y="1536192"/>
            <a:ext cx="33983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D4BF9A"/>
                </a:solidFill>
                <a:latin typeface="Georgia"/>
              </a:defRPr>
            </a:pPr>
            <a:r>
              <a:t>수치 연산 라이브러리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8379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1" i="0">
                <a:solidFill>
                  <a:srgbClr val="C9A84C"/>
                </a:solidFill>
                <a:latin typeface="Consolas"/>
              </a:defRPr>
            </a:pPr>
            <a:r>
              <a:t>matplotlib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3247" y="1837944"/>
            <a:ext cx="33983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D4BF9A"/>
                </a:solidFill>
                <a:latin typeface="Georgia"/>
              </a:defRPr>
            </a:pPr>
            <a:r>
              <a:t>기본 시각화 라이브러리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21396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1" i="0">
                <a:solidFill>
                  <a:srgbClr val="C9A84C"/>
                </a:solidFill>
                <a:latin typeface="Consolas"/>
              </a:defRPr>
            </a:pPr>
            <a:r>
              <a:t>seaborn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3247" y="2139696"/>
            <a:ext cx="33983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D4BF9A"/>
                </a:solidFill>
                <a:latin typeface="Georgia"/>
              </a:defRPr>
            </a:pPr>
            <a:r>
              <a:t>통계 기반 시각화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2441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1" i="0">
                <a:solidFill>
                  <a:srgbClr val="C9A84C"/>
                </a:solidFill>
                <a:latin typeface="Consolas"/>
              </a:defRPr>
            </a:pPr>
            <a:r>
              <a:t>sklearn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3247" y="2441448"/>
            <a:ext cx="33983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D4BF9A"/>
                </a:solidFill>
                <a:latin typeface="Georgia"/>
              </a:defRPr>
            </a:pPr>
            <a:r>
              <a:t>머신러닝 모델, 평가, 전처리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1" i="0">
                <a:solidFill>
                  <a:srgbClr val="C9A84C"/>
                </a:solidFill>
                <a:latin typeface="Consolas"/>
              </a:defRPr>
            </a:pPr>
            <a:r>
              <a:t>nltk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3247" y="2743200"/>
            <a:ext cx="33983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D4BF9A"/>
                </a:solidFill>
                <a:latin typeface="Georgia"/>
              </a:defRPr>
            </a:pPr>
            <a:r>
              <a:t>자연어 처리 (불용어 등)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42900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spcAft>
                <a:spcPts val="200"/>
              </a:spcAft>
              <a:defRPr sz="1800" b="1" i="0">
                <a:solidFill>
                  <a:srgbClr val="C9A84C"/>
                </a:solidFill>
                <a:latin typeface="Georgia"/>
              </a:defRPr>
            </a:pPr>
            <a:r>
              <a:t>데이터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94760"/>
            <a:ext cx="5318607" cy="210312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886200"/>
            <a:ext cx="5044287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data.head()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   target  text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0  ham     Go until jurong point...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1  ham     Ok lar... Joking wif u...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2  spam    Free entry in 2 a wkly...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3  ham     U dun say so early hor...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4  ham     Nah I don't think he...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3007" y="3794760"/>
            <a:ext cx="5318607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데이터 구조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• target: 종속변수 (spam / ham)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• text: 독립변수 (문자 내용)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E8D5A0"/>
                </a:solidFill>
                <a:latin typeface="Consolas"/>
              </a:defRPr>
            </a:pPr>
            <a:r>
              <a:t>data['target'].unique()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Consolas"/>
              </a:defRPr>
            </a:pPr>
            <a:r>
              <a:t># array(['ham', 'spam'])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→ spam: 스팸 문자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→ ham: 스팸이 아닌 정상 문자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→ text 컬럼: 자연어 형태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6 /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전처리 파이프라인 전체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828800" cy="9144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200"/>
              </a:spcAft>
              <a:defRPr sz="1600">
                <a:solidFill>
                  <a:srgbClr val="C9A84C"/>
                </a:solidFill>
                <a:latin typeface="Georgia"/>
              </a:defRPr>
            </a:pPr>
            <a:r>
              <a:t>STEP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234440"/>
            <a:ext cx="2743200" cy="9144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325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200"/>
              </a:spcAft>
              <a:defRPr sz="1600">
                <a:solidFill>
                  <a:srgbClr val="C9A84C"/>
                </a:solidFill>
                <a:latin typeface="Georgia"/>
              </a:defRPr>
            </a:pPr>
            <a:r>
              <a:t>특수 기호 제거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371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쉼표, 마침표 등 노이즈 제거</a:t>
            </a:r>
            <a:br/>
            <a:r>
              <a:t>string.punctuation 활용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371600" y="2194560"/>
            <a:ext cx="274320" cy="182880"/>
          </a:xfrm>
          <a:prstGeom prst="downArrow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423160"/>
            <a:ext cx="1828800" cy="9144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5C7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200"/>
              </a:spcAft>
              <a:defRPr sz="1600">
                <a:solidFill>
                  <a:srgbClr val="5C7EA0"/>
                </a:solidFill>
                <a:latin typeface="Georgia"/>
              </a:defRPr>
            </a:pPr>
            <a:r>
              <a:t>STEP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423160"/>
            <a:ext cx="2743200" cy="9144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5C7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5146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200"/>
              </a:spcAft>
              <a:defRPr sz="1600">
                <a:solidFill>
                  <a:srgbClr val="C9A84C"/>
                </a:solidFill>
                <a:latin typeface="Georgia"/>
              </a:defRPr>
            </a:pPr>
            <a:r>
              <a:t>불용어 제거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560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분석에 도움 안 되는 단어 제거</a:t>
            </a:r>
            <a:br/>
            <a:r>
              <a:t>NLTK stopwords 활용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371600" y="3383280"/>
            <a:ext cx="274320" cy="182880"/>
          </a:xfrm>
          <a:prstGeom prst="downArrow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611880"/>
            <a:ext cx="1828800" cy="9144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6B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03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200"/>
              </a:spcAft>
              <a:defRPr sz="1600">
                <a:solidFill>
                  <a:srgbClr val="6B9E5C"/>
                </a:solidFill>
                <a:latin typeface="Georgia"/>
              </a:defRPr>
            </a:pPr>
            <a:r>
              <a:t>STEP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3611880"/>
            <a:ext cx="2743200" cy="9144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6B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3703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200"/>
              </a:spcAft>
              <a:defRPr sz="1600">
                <a:solidFill>
                  <a:srgbClr val="C9A84C"/>
                </a:solidFill>
                <a:latin typeface="Georgia"/>
              </a:defRPr>
            </a:pPr>
            <a:r>
              <a:t>목표 컬럼 변환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7490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spam → 1, ham → 0 변환</a:t>
            </a:r>
            <a:br/>
            <a:r>
              <a:t>map() 함수 활용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1371600" y="4572000"/>
            <a:ext cx="274320" cy="182880"/>
          </a:xfrm>
          <a:prstGeom prst="downArrow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800600"/>
            <a:ext cx="1828800" cy="9144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E8C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92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200"/>
              </a:spcAft>
              <a:defRPr sz="1600">
                <a:solidFill>
                  <a:srgbClr val="E8C45C"/>
                </a:solidFill>
                <a:latin typeface="Georgia"/>
              </a:defRPr>
            </a:pPr>
            <a:r>
              <a:t>STEP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4800600"/>
            <a:ext cx="2743200" cy="9144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E8C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360" y="48920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200"/>
              </a:spcAft>
              <a:defRPr sz="1600">
                <a:solidFill>
                  <a:srgbClr val="C9A84C"/>
                </a:solidFill>
                <a:latin typeface="Georgia"/>
              </a:defRPr>
            </a:pPr>
            <a:r>
              <a:t>카운트 벡터화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4937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단어를 숫자 벡터로 변환</a:t>
            </a:r>
            <a:br/>
            <a:r>
              <a:t>CountVectorizer 활용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7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7.3 특수 기호 제거하기 — 개념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200"/>
              </a:spcAft>
              <a:defRPr sz="1800" b="1" i="0">
                <a:solidFill>
                  <a:srgbClr val="E8C45C"/>
                </a:solidFill>
                <a:latin typeface="Georgia"/>
              </a:defRPr>
            </a:pPr>
            <a:r>
              <a:t>왜 특수 기호를 제거하는가?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20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자연어를 다룰 때 데이터의 기준은 단어입니다.</a:t>
            </a:r>
          </a:p>
          <a:p>
            <a:pPr>
              <a:lnSpc>
                <a:spcPts val="20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쉼표, 마침표 등의 특수 기호는 단어 처리 시 노이즈가 되므로 반드시 제거해야 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특수 기호 목록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11535" cy="73152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import string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string.punctuation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출력: !"#$%&amp;'()*+,-./:;&lt;=&gt;?@[\]^_`{|}~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특수 기호 제거 과정 (4단계)</a:t>
            </a:r>
          </a:p>
        </p:txBody>
      </p:sp>
      <p:sp>
        <p:nvSpPr>
          <p:cNvPr id="11" name="Oval 10"/>
          <p:cNvSpPr/>
          <p:nvPr/>
        </p:nvSpPr>
        <p:spPr>
          <a:xfrm>
            <a:off x="822959" y="3858768"/>
            <a:ext cx="256032" cy="256032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84048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200"/>
              </a:spcAft>
              <a:defRPr sz="1000" b="1" i="0">
                <a:solidFill>
                  <a:srgbClr val="1A1208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1" y="3840480"/>
            <a:ext cx="102897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문자열에서 문자를 하나씩 꺼냄 (for i in sample_string)</a:t>
            </a:r>
          </a:p>
        </p:txBody>
      </p:sp>
      <p:sp>
        <p:nvSpPr>
          <p:cNvPr id="14" name="Oval 13"/>
          <p:cNvSpPr/>
          <p:nvPr/>
        </p:nvSpPr>
        <p:spPr>
          <a:xfrm>
            <a:off x="822959" y="4224528"/>
            <a:ext cx="256032" cy="256032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20624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200"/>
              </a:spcAft>
              <a:defRPr sz="1000" b="1" i="0">
                <a:solidFill>
                  <a:srgbClr val="1A1208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1" y="4206240"/>
            <a:ext cx="102897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특수 기호인지 판단 (if i not in string.punctuation)</a:t>
            </a:r>
          </a:p>
        </p:txBody>
      </p:sp>
      <p:sp>
        <p:nvSpPr>
          <p:cNvPr id="17" name="Oval 16"/>
          <p:cNvSpPr/>
          <p:nvPr/>
        </p:nvSpPr>
        <p:spPr>
          <a:xfrm>
            <a:off x="822959" y="4590288"/>
            <a:ext cx="256032" cy="256032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572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200"/>
              </a:spcAft>
              <a:defRPr sz="1000" b="1" i="0">
                <a:solidFill>
                  <a:srgbClr val="1A1208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1" y="4572000"/>
            <a:ext cx="102897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특수 기호가 아닌 문자들만 리스트에 저장 (new_string.append(i))</a:t>
            </a:r>
          </a:p>
        </p:txBody>
      </p:sp>
      <p:sp>
        <p:nvSpPr>
          <p:cNvPr id="20" name="Oval 19"/>
          <p:cNvSpPr/>
          <p:nvPr/>
        </p:nvSpPr>
        <p:spPr>
          <a:xfrm>
            <a:off x="822959" y="4956048"/>
            <a:ext cx="256032" cy="256032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93776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200"/>
              </a:spcAft>
              <a:defRPr sz="1000" b="1" i="0">
                <a:solidFill>
                  <a:srgbClr val="1A1208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1" y="4937760"/>
            <a:ext cx="102897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join()으로 리스트를 다시 문자열로 합침 (''.join(new_string))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440680"/>
            <a:ext cx="10911535" cy="50292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5321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E8C45C"/>
                </a:solidFill>
                <a:latin typeface="Georgia"/>
              </a:defRPr>
            </a:pPr>
            <a:r>
              <a:t>핵심: 문자열 → 문자 단위 순회 → 특수기호 필터링 → 리스트 → join()으로 재합성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8 /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핵심 함수 ① : in 연산자 &amp; join()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3186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E8C45C"/>
                </a:solidFill>
                <a:latin typeface="Georgia"/>
              </a:defRPr>
            </a:pPr>
            <a:r>
              <a:t>in 연산자 — 문자열 포함 여부 판단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18607" cy="146304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504428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문자열에 특정 문자가 있는지 확인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'a' in 'apple'    # True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'b' in 'apple'    # False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if절과 함께 사용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if i not in string.punctuation: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# 특수 기호가 아닌 경우만 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7" y="1234440"/>
            <a:ext cx="531860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E8C45C"/>
                </a:solidFill>
                <a:latin typeface="Georgia"/>
              </a:defRPr>
            </a:pPr>
            <a:r>
              <a:t>join() — 리스트를 문자열로 합침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318607" cy="146304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0167" y="1691640"/>
            <a:ext cx="504428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리스트의 문자들을 합쳐서 문자열로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sample = ['a','p','p','l','e']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'_'.join(sample)  # 'a_p_p_l_e'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''.join(sample)   # 'apple'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' '.join(sample)  # 'a p p l e'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앞의 따옴표 사이 문자가 구분자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join() 사용 시 주의사항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• 특수 기호 제거 시: ''.join(new_string) — 빈칸 없이 합침 (문자 하나씩 모았으므로)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• 불용어 제거 시: ' '.join(new_string) — 공백으로 합침 (단어 단위로 모았으므로)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E8C45C"/>
                </a:solidFill>
                <a:latin typeface="Georgia"/>
              </a:defRPr>
            </a:pPr>
            <a:r>
              <a:t>join() 앞 따옴표 사이의 빈칸 유무에 따라 결과가 완전히 달라집니다!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join() 코드는 for문이 모두 끝난 뒤에 실행되어야 합니다.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C05C3C"/>
                </a:solidFill>
                <a:latin typeface="Georgia"/>
              </a:defRPr>
            </a:pPr>
            <a:r>
              <a:t>→ 들여쓰기를 하지 않도록 주의! (for문 바깥에 위치해야 함)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9 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7.3 특수 기호 제거하기 — 코드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Step 1: 샘플 문자열로 테스트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18607" cy="210312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5044287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문자열 하나 선택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sample_string = data['text'].loc[0]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특수 기호 제외 &amp; 리스트 저장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new_string = []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for i in sample_string: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if i not in string.punctuation: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new_string.append(i)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new_string = ''.join(new_string)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600200"/>
            <a:ext cx="5318607" cy="210312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0167" y="1691640"/>
            <a:ext cx="5044287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함수로 만들기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def remove_punc(x):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new_string = []    # 빈 리스트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for i in x:        # 문자열 순회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if i not in string.punctuation: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    new_string.append(i)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new_string = ''.join(new_string)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return new_string  # 반환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Step 2: 데이터 전체에 적용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06240"/>
            <a:ext cx="5318607" cy="118872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0"/>
            <a:ext cx="504428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잘못된 방법 (한 행에 모두 합쳐짐!)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remove_punc(data['text'])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→ 모든 행의 문자가 하나로 합쳐짐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→ 이대로 업데이트하면 큰일!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4206240"/>
            <a:ext cx="5318607" cy="118872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0167" y="4297680"/>
            <a:ext cx="504428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올바른 방법: apply() 사용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data['text'] =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data['text'].apply(remove_punc)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→ 각 행마다 별도로 함수 적용!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32120"/>
            <a:ext cx="10911535" cy="50292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62356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C05C3C"/>
                </a:solidFill>
                <a:latin typeface="Georgia"/>
              </a:defRPr>
            </a:pPr>
            <a:r>
              <a:t>remove_punc()은 한 줄의 문자열에만 작동 → 반드시 apply()로 각 행에 개별 적용해야 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10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핵심 함수 ② : apply() 함수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200"/>
              </a:spcAft>
              <a:defRPr sz="1800" b="1" i="0">
                <a:solidFill>
                  <a:srgbClr val="E8C45C"/>
                </a:solidFill>
                <a:latin typeface="Georgia"/>
              </a:defRPr>
            </a:pPr>
            <a:r>
              <a:t>apply() — 데이터의 각 행에 함수를 별도로 적용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20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함수가 데이터의 한 행마다 별도로 적용되어야 할 때, apply()를 사용하면</a:t>
            </a:r>
          </a:p>
          <a:p>
            <a:pPr>
              <a:lnSpc>
                <a:spcPts val="20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각 행마다 함수를 적용할 수 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5318607" cy="182880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504428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apply() 기본 사용법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data = pd.Series([[1,2], [3,4,5]])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def check_len(x):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return len(x)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data.apply(check_len)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0    2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1   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7" y="2240280"/>
            <a:ext cx="531860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apply() 동작 원리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1. data 시리즈의 각 행을 하나씩 꺼냄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2. 꺼낸 값을 함수의 인수로 전달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3. 함수의 반환값을 새 시리즈로 모음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E8D5A0"/>
                </a:solidFill>
                <a:latin typeface="Consolas"/>
              </a:defRPr>
            </a:pPr>
            <a:r>
              <a:t>→ [1,2] → check_len → 2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E8D5A0"/>
                </a:solidFill>
                <a:latin typeface="Consolas"/>
              </a:defRPr>
            </a:pPr>
            <a:r>
              <a:t>→ [3,4,5] → check_len →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특수 기호 제거에 적용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72000"/>
            <a:ext cx="10911535" cy="137160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37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apply()로 각 행마다 remove_punc() 적용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data['text'].apply(remove_punc)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결과: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0    Go until jurong point crazy Available only in ...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1    Ok lar Joking wif u oni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2    Free entry in 2 a wkly comp to win FA Cup fina...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data['text'] = data['text'].apply(remove_punc)  # 결과 업데이트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11 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7.4 불용어 제거하기 — 개념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Aft>
                <a:spcPts val="200"/>
              </a:spcAft>
              <a:defRPr sz="2000" b="1" i="0">
                <a:solidFill>
                  <a:srgbClr val="E8C45C"/>
                </a:solidFill>
                <a:latin typeface="Georgia"/>
              </a:defRPr>
            </a:pPr>
            <a:r>
              <a:t>불용어(Stopwords)란?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20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자연어 분석에 큰 도움이 안 되는 단어를 의미합니다. (I, you, he, she, the, a 등)</a:t>
            </a:r>
          </a:p>
          <a:p>
            <a:pPr>
              <a:lnSpc>
                <a:spcPts val="20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이러한 단어를 제거하면 데이터를 가볍게 만들 수 있습니다.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20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자연어 처리에서는 각 단어가 하나의 독립변수처럼 작용하기 때문에</a:t>
            </a:r>
          </a:p>
          <a:p>
            <a:pPr>
              <a:lnSpc>
                <a:spcPts val="20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불용어를 제거해 분석의 부담을 줄입니다. (컬럼은 2개지만 분석 시 방대하게 펼쳐짐)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불용어 제거의 이유</a:t>
            </a:r>
          </a:p>
        </p:txBody>
      </p:sp>
      <p:sp>
        <p:nvSpPr>
          <p:cNvPr id="8" name="Oval 7"/>
          <p:cNvSpPr/>
          <p:nvPr/>
        </p:nvSpPr>
        <p:spPr>
          <a:xfrm>
            <a:off x="822959" y="3035808"/>
            <a:ext cx="91440" cy="9144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39" y="2971800"/>
            <a:ext cx="10454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예측에 변별력이 없는 단어 제거 → 모델 성능 유지하면서 데이터 경량화</a:t>
            </a:r>
          </a:p>
        </p:txBody>
      </p:sp>
      <p:sp>
        <p:nvSpPr>
          <p:cNvPr id="10" name="Oval 9"/>
          <p:cNvSpPr/>
          <p:nvPr/>
        </p:nvSpPr>
        <p:spPr>
          <a:xfrm>
            <a:off x="822959" y="3383279"/>
            <a:ext cx="91440" cy="9144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39" y="3319272"/>
            <a:ext cx="10454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각 단어가 독립변수가 되므로 불필요한 차원을 줄이는 효과</a:t>
            </a:r>
          </a:p>
        </p:txBody>
      </p:sp>
      <p:sp>
        <p:nvSpPr>
          <p:cNvPr id="12" name="Oval 11"/>
          <p:cNvSpPr/>
          <p:nvPr/>
        </p:nvSpPr>
        <p:spPr>
          <a:xfrm>
            <a:off x="822959" y="3730752"/>
            <a:ext cx="91440" cy="9144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39" y="3666744"/>
            <a:ext cx="10454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분석 목적에 따라 불용어가 달라질 수 있음 (스팸 vs 감정 분석 등)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97096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NLTK stopwords 라이브러리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62856"/>
            <a:ext cx="5318607" cy="137160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654296"/>
            <a:ext cx="504428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import nltk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nltk.download('stopwords')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from nltk.corpus import stopwords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stopwords.words('english')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['i','me','my','myself','we',...]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4562856"/>
            <a:ext cx="531860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지원 언어: 24개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Georgia"/>
              </a:defRPr>
            </a:pPr>
            <a:r>
              <a:t>arabic, english, french, german,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Georgia"/>
              </a:defRPr>
            </a:pPr>
            <a:r>
              <a:t>spanish, turkish 등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 b="1" i="0">
                <a:solidFill>
                  <a:srgbClr val="C05C3C"/>
                </a:solidFill>
                <a:latin typeface="Georgia"/>
              </a:defRPr>
            </a:pPr>
            <a:r>
              <a:t>※ 한국어는 미지원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Georgia"/>
              </a:defRPr>
            </a:pPr>
            <a:r>
              <a:t>→ 별도 리스트 필요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Georgia"/>
              </a:defRPr>
            </a:pPr>
            <a:r>
              <a:t>→ www.ranks.nl/stopwords/korean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12 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7.4 불용어 제거 — split()과 대소문자 변환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E8C45C"/>
                </a:solidFill>
                <a:latin typeface="Georgia"/>
              </a:defRPr>
            </a:pPr>
            <a:r>
              <a:t>split() — 문장을 단어 단위로 분리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18607" cy="137160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504428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공백 기준 분리 (기본)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sample_string.split()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['Go','until','jurong','point',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 'crazy','Available','only',...]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특정 문자 기준 분리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'This is not - SPAM'.split('-')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['This is not ', ' SPAM']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7" y="1600200"/>
            <a:ext cx="531860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split() vs for문 차이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E8D5A0"/>
                </a:solidFill>
                <a:latin typeface="Consolas"/>
              </a:defRPr>
            </a:pPr>
            <a:r>
              <a:t>for i in '문장':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  → 문자 하나씩 순회 (문, 장)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E8D5A0"/>
                </a:solidFill>
                <a:latin typeface="Consolas"/>
              </a:defRPr>
            </a:pPr>
            <a:r>
              <a:t>for i in '문장'.split():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  → 단어 단위로 순회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 b="1" i="0">
                <a:solidFill>
                  <a:srgbClr val="C05C3C"/>
                </a:solidFill>
                <a:latin typeface="Georgia"/>
              </a:defRPr>
            </a:pPr>
            <a:r>
              <a:t>불용어 제거에는 단어 단위 필요!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E8C45C"/>
                </a:solidFill>
                <a:latin typeface="Georgia"/>
              </a:defRPr>
            </a:pPr>
            <a:r>
              <a:t>대소문자 변환 — 왜 필요한가?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파이썬은 대소문자를 구분합니다. stopwords의 단어들은 모두 소문자로 되어 있으므로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비교할 단어도 소문자여야 정확한 판단이 가능합니다. (Go ≠ go)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14800"/>
            <a:ext cx="3515258" cy="41148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06240"/>
            <a:ext cx="32409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C9A84C"/>
                </a:solidFill>
                <a:latin typeface="Georgia"/>
              </a:defRPr>
            </a:pPr>
            <a:r>
              <a:t>lower() — 소문자로 변환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72000"/>
            <a:ext cx="3515258" cy="64008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324093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'NaiveBayes'.lower()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'naivebayes'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8218" y="4114800"/>
            <a:ext cx="3515258" cy="41148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5378" y="4206240"/>
            <a:ext cx="32409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C9A84C"/>
                </a:solidFill>
                <a:latin typeface="Georgia"/>
              </a:defRPr>
            </a:pPr>
            <a:r>
              <a:t>upper() — 대문자로 변환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8218" y="4572000"/>
            <a:ext cx="3515258" cy="64008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5378" y="4663440"/>
            <a:ext cx="324093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'NaiveBayes'.upper()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'NAIVEBAYES'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6356" y="4114800"/>
            <a:ext cx="3515258" cy="41148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3516" y="4206240"/>
            <a:ext cx="32409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C9A84C"/>
                </a:solidFill>
                <a:latin typeface="Georgia"/>
              </a:defRPr>
            </a:pPr>
            <a:r>
              <a:t>capitalize() — 첫 글자만 대문자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6356" y="4572000"/>
            <a:ext cx="3515258" cy="64008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3516" y="4663440"/>
            <a:ext cx="324093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'NaiveBayes'.capitalize()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'Naivebayes'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13 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7.4 불용어 제거하기 — 코드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불용어 제거 과정</a:t>
            </a:r>
          </a:p>
        </p:txBody>
      </p:sp>
      <p:sp>
        <p:nvSpPr>
          <p:cNvPr id="7" name="Oval 6"/>
          <p:cNvSpPr/>
          <p:nvPr/>
        </p:nvSpPr>
        <p:spPr>
          <a:xfrm>
            <a:off x="822959" y="1618488"/>
            <a:ext cx="256032" cy="256032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002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200"/>
              </a:spcAft>
              <a:defRPr sz="1000" b="1" i="0">
                <a:solidFill>
                  <a:srgbClr val="1A1208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1" y="1600200"/>
            <a:ext cx="102897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split()으로 문장을 단어 단위 리스트로 변환</a:t>
            </a:r>
          </a:p>
        </p:txBody>
      </p:sp>
      <p:sp>
        <p:nvSpPr>
          <p:cNvPr id="10" name="Oval 9"/>
          <p:cNvSpPr/>
          <p:nvPr/>
        </p:nvSpPr>
        <p:spPr>
          <a:xfrm>
            <a:off x="822959" y="1938528"/>
            <a:ext cx="256032" cy="256032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92024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200"/>
              </a:spcAft>
              <a:defRPr sz="1000" b="1" i="0">
                <a:solidFill>
                  <a:srgbClr val="1A1208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1" y="1920240"/>
            <a:ext cx="102897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각 단어를 소문자로 변환(lower()) 후 불용어인지 판단</a:t>
            </a:r>
          </a:p>
        </p:txBody>
      </p:sp>
      <p:sp>
        <p:nvSpPr>
          <p:cNvPr id="13" name="Oval 12"/>
          <p:cNvSpPr/>
          <p:nvPr/>
        </p:nvSpPr>
        <p:spPr>
          <a:xfrm>
            <a:off x="822959" y="2258568"/>
            <a:ext cx="256032" cy="256032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24028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200"/>
              </a:spcAft>
              <a:defRPr sz="1000" b="1" i="0">
                <a:solidFill>
                  <a:srgbClr val="1A1208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1" y="2240280"/>
            <a:ext cx="102897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불용어가 아니면 소문자로 변환하여 리스트에 저장</a:t>
            </a:r>
          </a:p>
        </p:txBody>
      </p:sp>
      <p:sp>
        <p:nvSpPr>
          <p:cNvPr id="16" name="Oval 15"/>
          <p:cNvSpPr/>
          <p:nvPr/>
        </p:nvSpPr>
        <p:spPr>
          <a:xfrm>
            <a:off x="822959" y="2578608"/>
            <a:ext cx="256032" cy="256032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56032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200"/>
              </a:spcAft>
              <a:defRPr sz="1000" b="1" i="0">
                <a:solidFill>
                  <a:srgbClr val="1A1208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1" y="2560320"/>
            <a:ext cx="102897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' '.join()으로 공백 기준 문자열로 합침 (단어 사이 빈칸!)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017520"/>
            <a:ext cx="5318607" cy="219456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108960"/>
            <a:ext cx="5044287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def stop_words(x):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new_string = []  # 새 리스트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for i in x.split():  # 단어 순회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if i.lower() not in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   stopwords.words('english'):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    # 소문자 변환 후 불용어 아니면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    new_string.append(i.lower())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new_string = ' '.join(new_string)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return new_string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017520"/>
            <a:ext cx="5318607" cy="219456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0167" y="3108960"/>
            <a:ext cx="5044287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데이터에 적용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data['text'] =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data['text'].apply(stop_words)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결과 확인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0  go jurong point crazy available...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1  ok lar joking wif u oni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2  free entry 2 wkly comp win fa...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3  u dun say early hor u c already...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349240"/>
            <a:ext cx="10911535" cy="50292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440679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C05C3C"/>
                </a:solidFill>
                <a:latin typeface="Georgia"/>
              </a:defRPr>
            </a:pPr>
            <a:r>
              <a:t>주의: join() 앞 따옴표 사이에 공백(' ')을 넣어야 단어 사이에 빈칸이 생깁니다.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14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7.5 목표 컬럼 형태 변경하기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200"/>
              </a:spcAft>
              <a:defRPr sz="1800" b="1" i="0">
                <a:solidFill>
                  <a:srgbClr val="E8C45C"/>
                </a:solidFill>
                <a:latin typeface="Georgia"/>
              </a:defRPr>
            </a:pPr>
            <a:r>
              <a:t>target 컬럼을 문자 → 숫자로 변환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20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문자 형식도 에러를 유발하지 않지만, 해석에 문제가 생길 수 있으므로 숫자로 변환합니다.</a:t>
            </a:r>
          </a:p>
          <a:p>
            <a:pPr>
              <a:lnSpc>
                <a:spcPts val="20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변환: spam → 1, ham →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map() 함수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79"/>
            <a:ext cx="5318607" cy="182880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504428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map() - 딕셔너리 매핑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sample1 = pd.Series(['a','b','c'])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sample1.map({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'a': 'apple',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'b': 'banana',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'c': 'cherry'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})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0  apple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1  banana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2  cherry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468879"/>
            <a:ext cx="5318607" cy="182880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0167" y="2560320"/>
            <a:ext cx="504428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map() - 함수 적용도 가능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sample2 = pd.Series(['a','b','c'])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def add_i(x):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return x + 'i'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sample2.map(add_i)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0  ai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1  bi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2  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스팸/햄 변환 적용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00600"/>
            <a:ext cx="10911535" cy="100584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892040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spam → 1, ham → 0 변환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data['target'] = data['target'].map({'spam': 1, 'ham': 0})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data['target']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0    0      (ham)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1    0      (ham)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2    1      (spam)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Name: target, Length: 5574, dtype: int64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15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7.6 카운트 기반 벡터화 — 개념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200"/>
              </a:spcAft>
              <a:defRPr sz="1800" b="1" i="0">
                <a:solidFill>
                  <a:srgbClr val="E8C45C"/>
                </a:solidFill>
                <a:latin typeface="Georgia"/>
              </a:defRPr>
            </a:pPr>
            <a:r>
              <a:t>카운트 기반 벡터화(Count Vectorization)란?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20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문자를 개수 기반으로 벡터화하는 방식입니다.</a:t>
            </a:r>
          </a:p>
          <a:p>
            <a:pPr>
              <a:lnSpc>
                <a:spcPts val="20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데이터 전체에 존재하는 모든 단어를 사전처럼 모은 뒤 인덱스를 부여하고,</a:t>
            </a:r>
          </a:p>
          <a:p>
            <a:pPr>
              <a:lnSpc>
                <a:spcPts val="20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문장마다 속한 단어가 있는 인덱스를 카운트합니다.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10911535" cy="393192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106372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E8D5A0"/>
                </a:solidFill>
                <a:latin typeface="Georgia"/>
              </a:defRPr>
            </a:pPr>
            <a:r>
              <a:t>예시: 카운트 기반 벡터화 과정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E8D5A0"/>
                </a:solidFill>
                <a:latin typeface="Georgia"/>
              </a:defRPr>
            </a:pP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E8D5A0"/>
                </a:solidFill>
                <a:latin typeface="Georgia"/>
              </a:defRPr>
            </a:pPr>
            <a:r>
              <a:t>원본 데이터: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E8D5A0"/>
                </a:solidFill>
                <a:latin typeface="Georgia"/>
              </a:defRPr>
            </a:pPr>
            <a:r>
              <a:t>  data[0] = 'brown dog white cat brown bear'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E8D5A0"/>
                </a:solidFill>
                <a:latin typeface="Georgia"/>
              </a:defRPr>
            </a:pPr>
            <a:r>
              <a:t>  data[1] = 'white dog black dog'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E8D5A0"/>
                </a:solidFill>
                <a:latin typeface="Georgia"/>
              </a:defRPr>
            </a:pP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E8D5A0"/>
                </a:solidFill>
                <a:latin typeface="Georgia"/>
              </a:defRPr>
            </a:pPr>
            <a:r>
              <a:t>① 모든 단어를 확인해 컬럼으로 삼기: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E8D5A0"/>
                </a:solidFill>
                <a:latin typeface="Georgia"/>
              </a:defRPr>
            </a:pPr>
            <a:r>
              <a:t>          brown  black  white  cat  bear  dog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E8D5A0"/>
                </a:solidFill>
                <a:latin typeface="Georgia"/>
              </a:defRPr>
            </a:pP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E8D5A0"/>
                </a:solidFill>
                <a:latin typeface="Georgia"/>
              </a:defRPr>
            </a:pPr>
            <a:r>
              <a:t>② 각 문장마다 출현한 단어 수 확인: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E8D5A0"/>
                </a:solidFill>
                <a:latin typeface="Georgia"/>
              </a:defRPr>
            </a:pPr>
            <a:r>
              <a:t>   data[0]:   2      0      1     1    1     1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E8D5A0"/>
                </a:solidFill>
                <a:latin typeface="Georgia"/>
              </a:defRPr>
            </a:pPr>
            <a:r>
              <a:t>   data[1]:   0      1      1     0    0     2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E8D5A0"/>
                </a:solidFill>
                <a:latin typeface="Georgia"/>
              </a:defRPr>
            </a:pP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E8D5A0"/>
                </a:solidFill>
                <a:latin typeface="Georgia"/>
              </a:defRPr>
            </a:pPr>
            <a:r>
              <a:t>③ 인덱스 부여: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E8D5A0"/>
                </a:solidFill>
                <a:latin typeface="Georgia"/>
              </a:defRPr>
            </a:pPr>
            <a:r>
              <a:t>   0=brown, 1=black, 2=white, 3=cat, 4=bear, 5=dog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E8D5A0"/>
                </a:solidFill>
                <a:latin typeface="Georgia"/>
              </a:defRPr>
            </a:pP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E8D5A0"/>
                </a:solidFill>
                <a:latin typeface="Georgia"/>
              </a:defRPr>
            </a:pPr>
            <a:r>
              <a:t>④ 변환된 데이터 (희소 행렬 형태):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E8D5A0"/>
                </a:solidFill>
                <a:latin typeface="Georgia"/>
              </a:defRPr>
            </a:pPr>
            <a:r>
              <a:t>   data[0]: (0,0) 2  (0,2) 1  (0,3) 1  (0,4) 1  (0,5) 1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E8D5A0"/>
                </a:solidFill>
                <a:latin typeface="Georgia"/>
              </a:defRPr>
            </a:pPr>
            <a:r>
              <a:t>   data[1]: (1,1) 1  (1,2) 1  (1,5) 2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E8D5A0"/>
                </a:solidFill>
                <a:latin typeface="Georgia"/>
              </a:defRPr>
            </a:pPr>
            <a:r>
              <a:t>   → 출현하지 않은 단어의 인덱스는 포함하지 않음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16 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7.6 카운트 기반 벡터화 — 코드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18607" cy="201168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504428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from sklearn.feature_extraction.text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import CountVectorizer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x = data['text']     # 독립변수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y = data['target']   # 종속변수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cv = CountVectorizer()  # 객체 생성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cv.fit(x)  # 학습 (어휘 구축)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234440"/>
            <a:ext cx="5318607" cy="201168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1325880"/>
            <a:ext cx="504428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단어와 인덱스 확인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cv.vocabulary_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{'go': 3791,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 'jurong': 4687,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 'point': 6433,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 'crazy': 2497,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 'available': 1414, ...}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인덱스 = 일종의 ID (순서 무관)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transform()으로 데이터 변환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49040"/>
            <a:ext cx="5318607" cy="182880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504428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x = cv.transform(x)  # 변환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print(x)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(0, 1181) 1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(0, 1414) 1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(0, 3791) 1  ← 'go'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(0, 4687) 1  ← 'jurong'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(0, 6433) 1  ← 'point'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(1, 4655) 1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3749040"/>
            <a:ext cx="531860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출력 형태 해석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E8C45C"/>
                </a:solidFill>
                <a:latin typeface="Consolas"/>
              </a:defRPr>
            </a:pPr>
            <a:r>
              <a:t>(행번호, 인덱스) 출현횟수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(0, 1181) 1 의 의미: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→ 0번째 행에 인덱스 1181인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  단어가 1번 등장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A09070"/>
                </a:solidFill>
                <a:latin typeface="Georgia"/>
              </a:defRPr>
            </a:pPr>
            <a:r>
              <a:t>• 출현하지 않은 단어는 미포함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A09070"/>
                </a:solidFill>
                <a:latin typeface="Georgia"/>
              </a:defRPr>
            </a:pPr>
            <a:r>
              <a:t>• 희소 행렬(Sparse Matrix) 형태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A09070"/>
                </a:solidFill>
                <a:latin typeface="Georgia"/>
              </a:defRPr>
            </a:pPr>
            <a:r>
              <a:t>  → 메모리 효율적 저장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715000"/>
            <a:ext cx="10911535" cy="4572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80644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E8C45C"/>
                </a:solidFill>
                <a:latin typeface="Georgia"/>
              </a:defRPr>
            </a:pPr>
            <a:r>
              <a:t>CountVectorizer 패턴: 객체 생성 → fit() 학습 → transform() 변환 (스케일링과 동일한 패턴!)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17 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7.6 카운트 기반 벡터화 —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200"/>
              </a:spcAft>
              <a:defRPr sz="1600" b="1" i="0">
                <a:solidFill>
                  <a:srgbClr val="E8C45C"/>
                </a:solidFill>
                <a:latin typeface="Georgia"/>
              </a:defRPr>
            </a:pPr>
            <a:r>
              <a:t>변환 결과를 실제로 검증해봅시다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0번째 행의 데이터를 확인하고, 각 단어의 인덱스가 일치하는지 확인합니다.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5318607" cy="182880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504428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0번째 행 원본 텍스트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data.loc[0]['text']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'go jurong point crazy available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 bugis n great world la e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 buffet cine got amore wat'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단어별 인덱스 확인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print(cv.vocabulary_['go'])    # 3791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print(cv.vocabulary_['jurong'])# 4687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print(cv.vocabulary_['point']) # 6433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7" y="2057400"/>
            <a:ext cx="531860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변환 결과에서 확인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E8D5A0"/>
                </a:solidFill>
                <a:latin typeface="Consolas"/>
              </a:defRPr>
            </a:pPr>
            <a:r>
              <a:t>(0, 3791) 1  ← go 1회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E8D5A0"/>
                </a:solidFill>
                <a:latin typeface="Consolas"/>
              </a:defRPr>
            </a:pPr>
            <a:r>
              <a:t>(0, 4687) 1  ← jurong 1회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E8D5A0"/>
                </a:solidFill>
                <a:latin typeface="Consolas"/>
              </a:defRPr>
            </a:pPr>
            <a:r>
              <a:t>(0, 6433) 1  ← point 1회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6B9E5C"/>
                </a:solidFill>
                <a:latin typeface="Georgia"/>
              </a:defRPr>
            </a:pPr>
            <a:r>
              <a:t>→ 인덱스와 출현 횟수가 정확히 일치!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Georgia"/>
              </a:defRPr>
            </a:pPr>
            <a:r>
              <a:t>Tip: print()를 써야 위 형태로 보임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Georgia"/>
              </a:defRPr>
            </a:pPr>
            <a:r>
              <a:t>주피터에서 여러 줄 출력 시 print() 필수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23360"/>
            <a:ext cx="10911535" cy="13716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10637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vocabulary_ 속성 정리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cv.vocabulary_ : 딕셔너리 형태 → 단어를 키로, 인덱스를 값으로 저장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인덱스는 큰 의미 없는 일종의 ID (알파벳 순서 등으로 부여됨)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전체 데이터에서 고유한 모든 단어에 대해 인덱스가 존재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이 방식을 카운트 기반 벡터화(CountVectorize)라고 합니다.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문자를 이런 식의 형태(희소 행렬)로 변환시켜 머신러닝 모델에 입력합니다.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18 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7.7 모델링 및 예측하기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훈련셋 / 시험셋 분할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0911535" cy="109728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from sklearn.model_selection import train_test_split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x_train, x_test, y_train, y_test = train_test_split(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x, y, test_size=0.2, random_state=100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)  # 훈련 80%, 시험 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MultinomialNB 모델링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00400"/>
            <a:ext cx="5318607" cy="164592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504428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from sklearn.naive_bayes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import MultinomialNB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model = MultinomialNB()   # 객체 생성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model.fit(x_train, y_train)  # 학습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pred = model.predict(x_test) # 예측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3200400"/>
            <a:ext cx="531860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MultinomialNB란?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다항 분포에 대한 Naive Bayes 알고리즘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텍스트 분류에 가장 적합한 NB 모델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다른 NB 모델들: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• GaussianNB — 정규분포 (연속형)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• BernoulliNB — 베르누이 (이진형)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 b="1" i="0">
                <a:solidFill>
                  <a:srgbClr val="E8C45C"/>
                </a:solidFill>
                <a:latin typeface="Georgia"/>
              </a:defRPr>
            </a:pPr>
            <a:r>
              <a:t>잘 모르면 → 세 가지 모두 비교!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83480"/>
            <a:ext cx="10911535" cy="4572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74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E8C45C"/>
                </a:solidFill>
                <a:latin typeface="Georgia"/>
              </a:defRPr>
            </a:pPr>
            <a:r>
              <a:t>사용 패턴: fit(x_train, y_train) → predict(x_test) — 다른 sklearn 모델과 동일!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19 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7.7 평가하기 — 정확도(Accuracy)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18607" cy="137160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504428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from sklearn.metrics import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accuracy_score, confusion_matrix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정확도 계산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accuracy_score(y_test, pred)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0.9856502242152466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→ 약 98.6% 정확도!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1234440"/>
            <a:ext cx="531860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정확도(Accuracy) 수식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2000"/>
              </a:lnSpc>
              <a:spcAft>
                <a:spcPts val="200"/>
              </a:spcAft>
              <a:defRPr sz="1500" b="0" i="0">
                <a:solidFill>
                  <a:srgbClr val="E8C45C"/>
                </a:solidFill>
                <a:latin typeface="Georgia"/>
              </a:defRPr>
            </a:pPr>
            <a:r>
              <a:t>정확도 = 정확한 예측 건수 / 전체 경우 수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Consolas"/>
              </a:defRPr>
            </a:pPr>
            <a:r>
              <a:t>= (965 + 134) / (965 + 12 + 4 + 134)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Consolas"/>
              </a:defRPr>
            </a:pPr>
            <a:r>
              <a:t>= 1099 / 1115</a:t>
            </a:r>
          </a:p>
          <a:p>
            <a:pPr>
              <a:lnSpc>
                <a:spcPts val="2400"/>
              </a:lnSpc>
              <a:spcAft>
                <a:spcPts val="200"/>
              </a:spcAft>
              <a:defRPr sz="1800" b="1" i="0">
                <a:solidFill>
                  <a:srgbClr val="6B9E5C"/>
                </a:solidFill>
                <a:latin typeface="Consolas"/>
              </a:defRPr>
            </a:pPr>
            <a:r>
              <a:t>≈ 98.6%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혼동 행렬 (Confusion Matrix)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08960"/>
            <a:ext cx="5318607" cy="118872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504428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print(confusion_matrix(y_test, pred))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[[965  12]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 [  4 134]]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히트맵 시각화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sns.heatmap(confusion_matrix(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y_test, pred), annot=True, fmt='d')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3108960"/>
            <a:ext cx="531860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혼동 행렬 해석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C9A84C"/>
                </a:solidFill>
                <a:latin typeface="Consolas"/>
              </a:defRPr>
            </a:pPr>
            <a:r>
              <a:t>         예측0  예측1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E8D5A0"/>
                </a:solidFill>
                <a:latin typeface="Consolas"/>
              </a:defRPr>
            </a:pPr>
            <a:r>
              <a:t>실젯값0 [ 965    12 ]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E8D5A0"/>
                </a:solidFill>
                <a:latin typeface="Consolas"/>
              </a:defRPr>
            </a:pPr>
            <a:r>
              <a:t>실젯값1 [   4   134 ]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6B9E5C"/>
                </a:solidFill>
                <a:latin typeface="Georgia"/>
              </a:defRPr>
            </a:pPr>
            <a:r>
              <a:t>배경 음영 영역(965, 134) = 정확한 예측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C05C3C"/>
                </a:solidFill>
                <a:latin typeface="Georgia"/>
              </a:defRPr>
            </a:pPr>
            <a:r>
              <a:t>흰색 영역(12, 4) = 잘못된 예측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34840"/>
            <a:ext cx="10911535" cy="109728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26279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fmt 매개변수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fmt='d' : 정수 형태로 표시 (소수점 없음)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fmt='.2f' : 소수점 둘째 자리까지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설정하지 않으면 과학적 표기법으로 나타날 수 있으므로 필요할 때 설정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20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혼동 행렬(Confusion Matrix) 상세 해석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200"/>
              </a:spcAft>
              <a:defRPr sz="1500" b="1" i="0">
                <a:solidFill>
                  <a:srgbClr val="C9A84C"/>
                </a:solidFill>
                <a:latin typeface="Georgia"/>
              </a:defRPr>
            </a:pPr>
            <a:r>
              <a:t>예측값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554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554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200"/>
              </a:spcAft>
              <a:defRPr sz="1500" b="1" i="0">
                <a:solidFill>
                  <a:srgbClr val="C9A84C"/>
                </a:solidFill>
                <a:latin typeface="Georgia"/>
              </a:defRPr>
            </a:pPr>
            <a:r>
              <a:t>실젯값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874519"/>
            <a:ext cx="27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880360"/>
            <a:ext cx="27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874519"/>
            <a:ext cx="2011680" cy="914400"/>
          </a:xfrm>
          <a:prstGeom prst="roundRect">
            <a:avLst/>
          </a:prstGeom>
          <a:solidFill>
            <a:srgbClr val="20180C"/>
          </a:solidFill>
          <a:ln w="25400">
            <a:solidFill>
              <a:srgbClr val="6B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9202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200"/>
              </a:spcAft>
              <a:defRPr sz="2600" b="1" i="0">
                <a:solidFill>
                  <a:srgbClr val="E8C45C"/>
                </a:solidFill>
                <a:latin typeface="Georgia"/>
              </a:defRPr>
            </a:pPr>
            <a:r>
              <a:t>965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774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Consolas"/>
              </a:defRPr>
            </a:pPr>
            <a:r>
              <a:t>TN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874519"/>
            <a:ext cx="2011680" cy="914400"/>
          </a:xfrm>
          <a:prstGeom prst="roundRect">
            <a:avLst/>
          </a:prstGeom>
          <a:solidFill>
            <a:srgbClr val="20180C"/>
          </a:solidFill>
          <a:ln w="25400">
            <a:solidFill>
              <a:srgbClr val="C05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9202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200"/>
              </a:spcAft>
              <a:defRPr sz="2600" b="1" i="0">
                <a:solidFill>
                  <a:srgbClr val="E8C45C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3774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Consolas"/>
              </a:defRPr>
            </a:pPr>
            <a:r>
              <a:t>FP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2880360"/>
            <a:ext cx="2011680" cy="914400"/>
          </a:xfrm>
          <a:prstGeom prst="roundRect">
            <a:avLst/>
          </a:prstGeom>
          <a:solidFill>
            <a:srgbClr val="20180C"/>
          </a:solidFill>
          <a:ln w="25400">
            <a:solidFill>
              <a:srgbClr val="C05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292607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200"/>
              </a:spcAft>
              <a:defRPr sz="2600" b="1" i="0">
                <a:solidFill>
                  <a:srgbClr val="E8C45C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Consolas"/>
              </a:defRPr>
            </a:pPr>
            <a:r>
              <a:t>FN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2880360"/>
            <a:ext cx="2011680" cy="914400"/>
          </a:xfrm>
          <a:prstGeom prst="roundRect">
            <a:avLst/>
          </a:prstGeom>
          <a:solidFill>
            <a:srgbClr val="20180C"/>
          </a:solidFill>
          <a:ln w="25400">
            <a:solidFill>
              <a:srgbClr val="6B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92607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200"/>
              </a:spcAft>
              <a:defRPr sz="2600" b="1" i="0">
                <a:solidFill>
                  <a:srgbClr val="E8C45C"/>
                </a:solidFill>
                <a:latin typeface="Georgia"/>
              </a:defRPr>
            </a:pPr>
            <a:r>
              <a:t>134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Consolas"/>
              </a:defRPr>
            </a:pPr>
            <a:r>
              <a:t>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1508760"/>
            <a:ext cx="4053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각 셀의 의미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6B9E5C"/>
                </a:solidFill>
                <a:latin typeface="Georgia"/>
              </a:defRPr>
            </a:pPr>
            <a:r>
              <a:t>TN = 965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  음성을 음성으로 (정확)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6B9E5C"/>
                </a:solidFill>
                <a:latin typeface="Georgia"/>
              </a:defRPr>
            </a:pPr>
            <a:r>
              <a:t>TP = 134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  양성을 양성으로 (정확)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C05C3C"/>
                </a:solidFill>
                <a:latin typeface="Georgia"/>
              </a:defRPr>
            </a:pPr>
            <a:r>
              <a:t>FP = 12 (1종 오류)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  음성을 양성으로 (오류)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C05C3C"/>
                </a:solidFill>
                <a:latin typeface="Georgia"/>
              </a:defRPr>
            </a:pPr>
            <a:r>
              <a:t>FN = 4 (2종 오류)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  양성을 음성으로 (오류)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069080"/>
            <a:ext cx="10911535" cy="13716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160520"/>
            <a:ext cx="106372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명칭 규칙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True/False: 예측이 맞았는지 (참 = 정확, 거짓 = 오류)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Positive/Negative: 예측값 기준 (1이면 양성, 0이면 음성)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양성(Positive) = 1 (스팸)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• 음성(Negative) = 0 (햄, 정상)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21 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1종 오류 vs 2종 오류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18607" cy="18288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5C7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504428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D4BF9A"/>
                </a:solidFill>
                <a:latin typeface="Georgia"/>
              </a:defRPr>
            </a:pPr>
            <a:r>
              <a:t>1종 오류 (Type 1 Error)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D4BF9A"/>
                </a:solidFill>
                <a:latin typeface="Georgia"/>
              </a:defRPr>
            </a:pPr>
            <a:r>
              <a:t>False Positive — 거짓 양성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D4BF9A"/>
                </a:solidFill>
                <a:latin typeface="Georgia"/>
              </a:defRPr>
            </a:pPr>
            <a:r>
              <a:t>실제 음성(0)인 것을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D4BF9A"/>
                </a:solidFill>
                <a:latin typeface="Georgia"/>
              </a:defRPr>
            </a:pPr>
            <a:r>
              <a:t>양성(1)으로 예측하는 오류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D4BF9A"/>
                </a:solidFill>
                <a:latin typeface="Georgia"/>
              </a:defRPr>
            </a:pPr>
            <a:r>
              <a:t>암기: '양성 1종'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234440"/>
            <a:ext cx="5318607" cy="18288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C05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1325880"/>
            <a:ext cx="504428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D4BF9A"/>
                </a:solidFill>
                <a:latin typeface="Georgia"/>
              </a:defRPr>
            </a:pPr>
            <a:r>
              <a:t>2종 오류 (Type 2 Error)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D4BF9A"/>
                </a:solidFill>
                <a:latin typeface="Georgia"/>
              </a:defRPr>
            </a:pPr>
            <a:r>
              <a:t>False Negative — 거짓 음성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D4BF9A"/>
                </a:solidFill>
                <a:latin typeface="Georgia"/>
              </a:defRPr>
            </a:pPr>
            <a:r>
              <a:t>실제 양성(1)인 것을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D4BF9A"/>
                </a:solidFill>
                <a:latin typeface="Georgia"/>
              </a:defRPr>
            </a:pPr>
            <a:r>
              <a:t>음성(0)으로 예측하는 오류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D4BF9A"/>
                </a:solidFill>
                <a:latin typeface="Georgia"/>
              </a:defRPr>
            </a:pPr>
            <a:r>
              <a:t>암기: '음성 2종'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실제 사례: 암 진단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66160"/>
            <a:ext cx="5318607" cy="118872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5C7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504428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1종 오류: 암이 아닌데 암이라고 진단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→ 추가 진단으로 곧 아님을 알게 됨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→ 상대적으로 덜 위험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566160"/>
            <a:ext cx="5318607" cy="118872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C05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0167" y="3657600"/>
            <a:ext cx="504428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2종 오류: 암인데 아니라고 진단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→ 환자가 암을 모르고 지냄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→ 치료 시기를 놓칠 수 있음 (더 위험!)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스팸 문자에서의 1종/2종 오류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57800"/>
            <a:ext cx="5318607" cy="82296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5C7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349240"/>
            <a:ext cx="504428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1종 오류: 스팸 아닌데 스팸으로 분류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→ 중요 문자가 필터링될 수 있음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5257800"/>
            <a:ext cx="5318607" cy="82296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C05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0167" y="5349240"/>
            <a:ext cx="504428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2종 오류: 스팸인데 스팸 아니라고 분류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D4BF9A"/>
                </a:solidFill>
                <a:latin typeface="Georgia"/>
              </a:defRPr>
            </a:pPr>
            <a:r>
              <a:t>→ 스팸을 받지만 중요 문자 차단 적음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22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7.8 베이즈 정리 (Bayes' Theorem)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0" y="1234440"/>
            <a:ext cx="8168335" cy="73152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1325880"/>
            <a:ext cx="7894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  <a:spcAft>
                <a:spcPts val="200"/>
              </a:spcAft>
              <a:defRPr sz="2600">
                <a:solidFill>
                  <a:srgbClr val="E8C45C"/>
                </a:solidFill>
                <a:latin typeface="Georgia"/>
              </a:defRPr>
            </a:pPr>
            <a:r>
              <a:t>P(A|B) = P(B|A) × P(A) / P(B)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488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E8C45C"/>
                </a:solidFill>
                <a:latin typeface="Consolas"/>
              </a:defRPr>
            </a:pPr>
            <a:r>
              <a:t>P(A|B)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1488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1" i="0">
                <a:solidFill>
                  <a:srgbClr val="C9A84C"/>
                </a:solidFill>
                <a:latin typeface="Georgia"/>
              </a:defRPr>
            </a:pPr>
            <a:r>
              <a:t>사후확률</a:t>
            </a:r>
            <a:br/>
            <a:r>
              <a:t>(Posterior)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48840"/>
            <a:ext cx="72539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D4BF9A"/>
                </a:solidFill>
                <a:latin typeface="Georgia"/>
              </a:defRPr>
            </a:pPr>
            <a:r>
              <a:t>B가 발생했을 때 A가 발생할 확률</a:t>
            </a:r>
            <a:br/>
            <a:r>
              <a:t>→ 특정 단어가 등장했을 때 스팸일 확률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88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E8C45C"/>
                </a:solidFill>
                <a:latin typeface="Consolas"/>
              </a:defRPr>
            </a:pPr>
            <a:r>
              <a:t>P(A)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788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1" i="0">
                <a:solidFill>
                  <a:srgbClr val="C9A84C"/>
                </a:solidFill>
                <a:latin typeface="Georgia"/>
              </a:defRPr>
            </a:pPr>
            <a:r>
              <a:t>사전확률</a:t>
            </a:r>
            <a:br/>
            <a:r>
              <a:t>(Prior)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788920"/>
            <a:ext cx="72539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D4BF9A"/>
                </a:solidFill>
                <a:latin typeface="Georgia"/>
              </a:defRPr>
            </a:pPr>
            <a:r>
              <a:t>B의 발생 유무와 관련 없이 A가 발생할 확률</a:t>
            </a:r>
            <a:br/>
            <a:r>
              <a:t>→ 전체 문자 중 스팸 문자의 비율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4290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E8C45C"/>
                </a:solidFill>
                <a:latin typeface="Consolas"/>
              </a:defRPr>
            </a:pPr>
            <a:r>
              <a:t>P(B|A)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4290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1" i="0">
                <a:solidFill>
                  <a:srgbClr val="C9A84C"/>
                </a:solidFill>
                <a:latin typeface="Georgia"/>
              </a:defRPr>
            </a:pPr>
            <a:r>
              <a:t>우도</a:t>
            </a:r>
            <a:br/>
            <a:r>
              <a:t>(Likelihood)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429000"/>
            <a:ext cx="72539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D4BF9A"/>
                </a:solidFill>
                <a:latin typeface="Georgia"/>
              </a:defRPr>
            </a:pPr>
            <a:r>
              <a:t>A가 발생했을 때 B가 발생할 확률</a:t>
            </a:r>
            <a:br/>
            <a:r>
              <a:t>→ 스팸 메일에서 특정 단어가 포함될 확률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0690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E8C45C"/>
                </a:solidFill>
                <a:latin typeface="Consolas"/>
              </a:defRPr>
            </a:pPr>
            <a:r>
              <a:t>P(B)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0690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1" i="0">
                <a:solidFill>
                  <a:srgbClr val="C9A84C"/>
                </a:solidFill>
                <a:latin typeface="Georgia"/>
              </a:defRPr>
            </a:pPr>
            <a:r>
              <a:t>증거</a:t>
            </a:r>
            <a:br/>
            <a:r>
              <a:t>(Evidence)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069080"/>
            <a:ext cx="72539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D4BF9A"/>
                </a:solidFill>
                <a:latin typeface="Georgia"/>
              </a:defRPr>
            </a:pPr>
            <a:r>
              <a:t>전체에서 B가 발생할 확률</a:t>
            </a:r>
            <a:br/>
            <a:r>
              <a:t>→ 전체 문자에서 특정 단어가 포함될 확률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00600"/>
            <a:ext cx="10911535" cy="73152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D4BF9A"/>
                </a:solidFill>
                <a:latin typeface="Georgia"/>
              </a:defRPr>
            </a:pPr>
            <a:r>
              <a:t>베이즈 정리: 두 확률 변수의 사전확률과 사후확률 사이의 관계를 나타내는 정리.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D4BF9A"/>
                </a:solidFill>
                <a:latin typeface="Georgia"/>
              </a:defRPr>
            </a:pPr>
            <a:r>
              <a:t>사후확률을 구할 때 사용됩니다. 나이브 베이즈는 이를 기반으로 분류를 수행합니다.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23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베이즈 정리 — 그림으로 이해하기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예시 조건 설정</a:t>
            </a:r>
          </a:p>
        </p:txBody>
      </p:sp>
      <p:sp>
        <p:nvSpPr>
          <p:cNvPr id="7" name="Oval 6"/>
          <p:cNvSpPr/>
          <p:nvPr/>
        </p:nvSpPr>
        <p:spPr>
          <a:xfrm>
            <a:off x="822959" y="1664208"/>
            <a:ext cx="91440" cy="9144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39" y="1600200"/>
            <a:ext cx="10454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전체 문자 중 스팸 비율: 30% (햄 70%)</a:t>
            </a:r>
          </a:p>
        </p:txBody>
      </p:sp>
      <p:sp>
        <p:nvSpPr>
          <p:cNvPr id="9" name="Oval 8"/>
          <p:cNvSpPr/>
          <p:nvPr/>
        </p:nvSpPr>
        <p:spPr>
          <a:xfrm>
            <a:off x="822959" y="2011679"/>
            <a:ext cx="91440" cy="9144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1947672"/>
            <a:ext cx="10454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스팸에서 특정 단어 X가 포함된 경우: 50%</a:t>
            </a:r>
          </a:p>
        </p:txBody>
      </p:sp>
      <p:sp>
        <p:nvSpPr>
          <p:cNvPr id="11" name="Oval 10"/>
          <p:cNvSpPr/>
          <p:nvPr/>
        </p:nvSpPr>
        <p:spPr>
          <a:xfrm>
            <a:off x="822959" y="2359151"/>
            <a:ext cx="91440" cy="9144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39" y="2295144"/>
            <a:ext cx="10454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햄에서 특정 단어 X가 포함된 경우: 10%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79775"/>
            <a:ext cx="5318607" cy="100584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C05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71215"/>
            <a:ext cx="50442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200"/>
              </a:spcAft>
              <a:defRPr sz="1600">
                <a:solidFill>
                  <a:srgbClr val="D4BF9A"/>
                </a:solidFill>
                <a:latin typeface="Georgia"/>
              </a:defRPr>
            </a:pPr>
            <a:r>
              <a:t>스팸 (30%)</a:t>
            </a:r>
          </a:p>
          <a:p>
            <a:pPr>
              <a:lnSpc>
                <a:spcPts val="2100"/>
              </a:lnSpc>
              <a:spcAft>
                <a:spcPts val="200"/>
              </a:spcAft>
              <a:defRPr sz="1600">
                <a:solidFill>
                  <a:srgbClr val="D4BF9A"/>
                </a:solidFill>
                <a:latin typeface="Georgia"/>
              </a:defRPr>
            </a:pPr>
            <a:r>
              <a:t>특정 단어 X 포함: 50%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2779775"/>
            <a:ext cx="5318607" cy="100584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6B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0167" y="2871215"/>
            <a:ext cx="50442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200"/>
              </a:spcAft>
              <a:defRPr sz="1600">
                <a:solidFill>
                  <a:srgbClr val="D4BF9A"/>
                </a:solidFill>
                <a:latin typeface="Georgia"/>
              </a:defRPr>
            </a:pPr>
            <a:r>
              <a:t>햄 (70%)</a:t>
            </a:r>
          </a:p>
          <a:p>
            <a:pPr>
              <a:lnSpc>
                <a:spcPts val="2100"/>
              </a:lnSpc>
              <a:spcAft>
                <a:spcPts val="200"/>
              </a:spcAft>
              <a:defRPr sz="1600">
                <a:solidFill>
                  <a:srgbClr val="D4BF9A"/>
                </a:solidFill>
                <a:latin typeface="Georgia"/>
              </a:defRPr>
            </a:pPr>
            <a:r>
              <a:t>특정 단어 X 포함: 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22775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E8C45C"/>
                </a:solidFill>
                <a:latin typeface="Georgia"/>
              </a:defRPr>
            </a:pPr>
            <a:r>
              <a:t>계산: 특정 단어 X가 있을 때 스팸일 확률 =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88536"/>
            <a:ext cx="10911535" cy="210312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379975"/>
            <a:ext cx="10637215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E8D5A0"/>
                </a:solidFill>
                <a:latin typeface="Georgia"/>
              </a:defRPr>
            </a:pPr>
            <a:r>
              <a:t>P(A) = 스팸 확률 = 0.3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E8D5A0"/>
                </a:solidFill>
                <a:latin typeface="Georgia"/>
              </a:defRPr>
            </a:pPr>
            <a:r>
              <a:t>P(B|A) = 스팸 중 X 포함 확률 = 0.5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E8D5A0"/>
                </a:solidFill>
                <a:latin typeface="Georgia"/>
              </a:defRPr>
            </a:pPr>
            <a:r>
              <a:t>P(B) = 전체 중 X 포함 확률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E8D5A0"/>
                </a:solidFill>
                <a:latin typeface="Georgia"/>
              </a:defRPr>
            </a:pPr>
            <a:r>
              <a:t>     = (스팸 × 스팸에서 X) + (햄 × 햄에서 X)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E8D5A0"/>
                </a:solidFill>
                <a:latin typeface="Georgia"/>
              </a:defRPr>
            </a:pPr>
            <a:r>
              <a:t>     = (0.3 × 0.5) + (0.7 × 0.1) = 0.15 + 0.07 = 0.22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E8D5A0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E8D5A0"/>
                </a:solidFill>
                <a:latin typeface="Georgia"/>
              </a:defRPr>
            </a:pPr>
            <a:r>
              <a:t>P(A|B) = P(B|A) × P(A) / P(B)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E8D5A0"/>
                </a:solidFill>
                <a:latin typeface="Georgia"/>
              </a:defRPr>
            </a:pPr>
            <a:r>
              <a:t>       = 0.5 × 0.3 / 0.22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E8D5A0"/>
                </a:solidFill>
                <a:latin typeface="Georgia"/>
              </a:defRPr>
            </a:pPr>
            <a:r>
              <a:t>       = 0.15 / 0.22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E8D5A0"/>
                </a:solidFill>
                <a:latin typeface="Georgia"/>
              </a:defRPr>
            </a:pPr>
            <a:r>
              <a:t>       ≈ 0.6818 (약 68.2%)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E8D5A0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>
                <a:solidFill>
                  <a:srgbClr val="E8D5A0"/>
                </a:solidFill>
                <a:latin typeface="Georgia"/>
              </a:defRPr>
            </a:pPr>
            <a:r>
              <a:t>→ 특정 단어 X가 포함된 문자가 스팸일 확률: 약 68%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24 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나이브 베이즈의 '나이브(Naive)' 가정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spcAft>
                <a:spcPts val="200"/>
              </a:spcAft>
              <a:defRPr sz="2000" b="1" i="0">
                <a:solidFill>
                  <a:srgbClr val="E8C45C"/>
                </a:solidFill>
                <a:latin typeface="Georgia"/>
              </a:defRPr>
            </a:pPr>
            <a:r>
              <a:t>왜 'Naive(나이브, 순진한)'인가?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20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나이브 베이즈는 모든 독립변수(feature)가 서로 독립이라고 가정합니다.</a:t>
            </a:r>
          </a:p>
          <a:p>
            <a:pPr>
              <a:lnSpc>
                <a:spcPts val="20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이 가정은 실제 데이터에서 거의 성립하지 않지만,</a:t>
            </a:r>
          </a:p>
          <a:p>
            <a:pPr>
              <a:lnSpc>
                <a:spcPts val="2000"/>
              </a:lnSpc>
              <a:spcAft>
                <a:spcPts val="200"/>
              </a:spcAft>
              <a:defRPr sz="1500" b="0" i="0">
                <a:solidFill>
                  <a:srgbClr val="D4BF9A"/>
                </a:solidFill>
                <a:latin typeface="Georgia"/>
              </a:defRPr>
            </a:pPr>
            <a:r>
              <a:t>이 '순진한' 가정 덕분에 계산이 매우 단순해집니다.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2000"/>
              </a:lnSpc>
              <a:spcAft>
                <a:spcPts val="200"/>
              </a:spcAft>
              <a:defRPr sz="1500" b="1" i="0">
                <a:solidFill>
                  <a:srgbClr val="C9A84C"/>
                </a:solidFill>
                <a:latin typeface="Georgia"/>
              </a:defRPr>
            </a:pPr>
            <a:r>
              <a:t>독립 가정 적용 시: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E8C45C"/>
                </a:solidFill>
                <a:latin typeface="Consolas"/>
              </a:defRPr>
            </a:pPr>
            <a:r>
              <a:t>P(x1,x2,...,xn|C) = P(x1|C) × P(x2|C) × ... × P(xn|C)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나이브 베이즈의 3가지 변형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3515258" cy="4572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32409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C9A84C"/>
                </a:solidFill>
                <a:latin typeface="Georgia"/>
              </a:defRPr>
            </a:pPr>
            <a:r>
              <a:t>MultinomialNB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11880"/>
            <a:ext cx="3515258" cy="18288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324093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D4BF9A"/>
                </a:solidFill>
                <a:latin typeface="Georgia"/>
              </a:defRPr>
            </a:pPr>
            <a:r>
              <a:t>다항 분포 기반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D4BF9A"/>
                </a:solidFill>
                <a:latin typeface="Georgia"/>
              </a:defRPr>
            </a:pPr>
            <a:r>
              <a:t>단어 빈도(count) 사용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D4BF9A"/>
                </a:solidFill>
                <a:latin typeface="Georgia"/>
              </a:defRPr>
            </a:pPr>
            <a:r>
              <a:t>텍스트 분류에 최적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D4BF9A"/>
                </a:solidFill>
                <a:latin typeface="Georgia"/>
              </a:defRPr>
            </a:pPr>
            <a:r>
              <a:t>이번 예제에서 사용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3108960"/>
            <a:ext cx="3515258" cy="4572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5378" y="3200400"/>
            <a:ext cx="32409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C9A84C"/>
                </a:solidFill>
                <a:latin typeface="Georgia"/>
              </a:defRPr>
            </a:pPr>
            <a:r>
              <a:t>GaussianNB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8218" y="3611880"/>
            <a:ext cx="3515258" cy="18288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5378" y="3703320"/>
            <a:ext cx="324093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D4BF9A"/>
                </a:solidFill>
                <a:latin typeface="Georgia"/>
              </a:defRPr>
            </a:pPr>
            <a:r>
              <a:t>정규(가우시안) 분포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D4BF9A"/>
                </a:solidFill>
                <a:latin typeface="Georgia"/>
              </a:defRPr>
            </a:pPr>
            <a:r>
              <a:t>연속형 변수에 적합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D4BF9A"/>
                </a:solidFill>
                <a:latin typeface="Georgia"/>
              </a:defRPr>
            </a:pPr>
            <a:r>
              <a:t>수치 데이터에 사용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D4BF9A"/>
                </a:solidFill>
                <a:latin typeface="Georgia"/>
              </a:defRPr>
            </a:pPr>
            <a:r>
              <a:t>.toarray() 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6356" y="3108960"/>
            <a:ext cx="3515258" cy="4572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3516" y="3200400"/>
            <a:ext cx="32409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C9A84C"/>
                </a:solidFill>
                <a:latin typeface="Georgia"/>
              </a:defRPr>
            </a:pPr>
            <a:r>
              <a:t>BernoulliNB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6356" y="3611880"/>
            <a:ext cx="3515258" cy="18288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3516" y="3703320"/>
            <a:ext cx="324093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D4BF9A"/>
                </a:solidFill>
                <a:latin typeface="Georgia"/>
              </a:defRPr>
            </a:pPr>
            <a:r>
              <a:t>베르누이 분포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D4BF9A"/>
                </a:solidFill>
                <a:latin typeface="Georgia"/>
              </a:defRPr>
            </a:pPr>
            <a:r>
              <a:t>이진(0/1) 특징 사용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D4BF9A"/>
                </a:solidFill>
                <a:latin typeface="Georgia"/>
              </a:defRPr>
            </a:pPr>
            <a:r>
              <a:t>binarize 파라미터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600"/>
              </a:lnSpc>
              <a:spcAft>
                <a:spcPts val="200"/>
              </a:spcAft>
              <a:defRPr sz="1200">
                <a:solidFill>
                  <a:srgbClr val="D4BF9A"/>
                </a:solidFill>
                <a:latin typeface="Georgia"/>
              </a:defRPr>
            </a:pPr>
            <a:r>
              <a:t>BernoulliNB(binarize=True)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77840"/>
            <a:ext cx="10911535" cy="4572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669279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E8C45C"/>
                </a:solidFill>
                <a:latin typeface="Georgia"/>
              </a:defRPr>
            </a:pPr>
            <a:r>
              <a:t>데이터 특성을 명확히 알기 어렵다면 세 가지 모두 사용하여 가장 결과가 좋은 모델을 선택!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25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심화: 나이브 베이즈의 수학적 전개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200"/>
              </a:spcAft>
              <a:defRPr sz="1600" b="1" i="0">
                <a:solidFill>
                  <a:srgbClr val="E8C45C"/>
                </a:solidFill>
                <a:latin typeface="Georgia"/>
              </a:defRPr>
            </a:pPr>
            <a:r>
              <a:t>분류 문제에서의 베이즈 정리 적용</a:t>
            </a:r>
          </a:p>
          <a:p>
            <a:pPr>
              <a:lnSpc>
                <a:spcPts val="800"/>
              </a:lnSpc>
              <a:spcAft>
                <a:spcPts val="200"/>
              </a:spcAft>
              <a:defRPr sz="6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목표: 주어진 특징 벡터 x에 대해 클래스 C를 예측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Step 1. 베이즈 정리 적용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E8D5A0"/>
                </a:solidFill>
                <a:latin typeface="Consolas"/>
              </a:defRPr>
            </a:pPr>
            <a:r>
              <a:t>P(C|x1,...,xn) = P(x1,...,xn|C) × P(C) / P(x1,...,xn)</a:t>
            </a:r>
          </a:p>
          <a:p>
            <a:pPr>
              <a:lnSpc>
                <a:spcPts val="800"/>
              </a:lnSpc>
              <a:spcAft>
                <a:spcPts val="200"/>
              </a:spcAft>
              <a:defRPr sz="6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Step 2. 나이브(독립) 가정 적용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E8D5A0"/>
                </a:solidFill>
                <a:latin typeface="Consolas"/>
              </a:defRPr>
            </a:pPr>
            <a:r>
              <a:t>P(x1,...,xn|C) = P(x1|C) × P(x2|C) × ... × P(xn|C)</a:t>
            </a:r>
          </a:p>
          <a:p>
            <a:pPr>
              <a:lnSpc>
                <a:spcPts val="800"/>
              </a:lnSpc>
              <a:spcAft>
                <a:spcPts val="200"/>
              </a:spcAft>
              <a:defRPr sz="6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Step 3. 정리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E8D5A0"/>
                </a:solidFill>
                <a:latin typeface="Consolas"/>
              </a:defRPr>
            </a:pPr>
            <a:r>
              <a:t>P(C|x) ∝ P(C) × ∏ P(xi|C)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Georgia"/>
              </a:defRPr>
            </a:pPr>
            <a:r>
              <a:t>(P(x)는 모든 클래스에 대해 동일하므로 비교 시 무시 가능)</a:t>
            </a:r>
          </a:p>
          <a:p>
            <a:pPr>
              <a:lnSpc>
                <a:spcPts val="800"/>
              </a:lnSpc>
              <a:spcAft>
                <a:spcPts val="200"/>
              </a:spcAft>
              <a:defRPr sz="6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Step 4. 최종 분류 규칙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E8D5A0"/>
                </a:solidFill>
                <a:latin typeface="Consolas"/>
              </a:defRPr>
            </a:pPr>
            <a:r>
              <a:t>y_hat = argmax_C  P(C) × ∏ P(xi|C)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Georgia"/>
              </a:defRPr>
            </a:pPr>
            <a:r>
              <a:t>→ 각 클래스에 대해 사후확률을 계산, 가장 큰 클래스 선택</a:t>
            </a:r>
          </a:p>
          <a:p>
            <a:pPr>
              <a:lnSpc>
                <a:spcPts val="800"/>
              </a:lnSpc>
              <a:spcAft>
                <a:spcPts val="200"/>
              </a:spcAft>
              <a:defRPr sz="6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MultinomialNB에서 P(xi|C) 계산: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E8D5A0"/>
                </a:solidFill>
                <a:latin typeface="Consolas"/>
              </a:defRPr>
            </a:pPr>
            <a:r>
              <a:t>P(xi|C) = (클래스 C에서 단어 xi 출현 횟수 + α)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E8D5A0"/>
                </a:solidFill>
                <a:latin typeface="Consolas"/>
              </a:defRPr>
            </a:pPr>
            <a:r>
              <a:t>        / (클래스 C의 총 단어 수 + α × |V|)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Georgia"/>
              </a:defRPr>
            </a:pPr>
            <a:r>
              <a:t>여기서 α = 라플라스 스무딩 (기본값 1.0)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Georgia"/>
              </a:defRPr>
            </a:pPr>
            <a:r>
              <a:t>|V| = 전체 어휘(vocabulary) 크기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26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전체 코드 흐름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18607" cy="502920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5044287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── ① 라이브러리 &amp; 데이터 ──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import pandas as pd, numpy as np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import matplotlib.pyplot as plt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import seaborn as sns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import string, nltk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from nltk.corpus import stopwords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nltk.download('stopwords')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data = pd.read_csv(file_url)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── ② 특수 기호 제거 ──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def remove_punc(x):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new_string = []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for i in x: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if i not in string.punctuation: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    new_string.append(i)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return ''.join(new_string)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data['text'] =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data['text'].apply(remove_punc)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── ③ 불용어 제거 ──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def stop_words(x):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new_string = []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for i in x.split():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if i.lower() not in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   stopwords.words('english'):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    new_string.append(i.lower())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return ' '.join(new_string)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data['text'] =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data['text'].apply(stop_words)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234440"/>
            <a:ext cx="5318607" cy="502920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1325880"/>
            <a:ext cx="5044287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── ④ 타겟 변환 ──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data['target'] = data['target'].map(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{'spam': 1, 'ham': 0})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── ⑤ 카운트 벡터화 ──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from sklearn.feature_extraction.text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import CountVectorizer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x = data['text']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y = data['target']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cv = CountVectorizer()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cv.fit(x)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x = cv.transform(x)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── ⑥ 훈련/시험 분할 ──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from sklearn.model_selection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import train_test_split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x_train, x_test, y_train, y_test =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train_test_split(x, y,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test_size=0.2, random_state=100)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── ⑦ 모델링 &amp; 평가 ──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from sklearn.naive_bayes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import MultinomialNB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model = MultinomialNB()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model.fit(x_train, y_train)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pred = model.predict(x_test)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from sklearn.metrics import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accuracy_score, confusion_matrix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print(accuracy_score(y_test, pred))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27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학습 마무리 — 8단계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252728"/>
            <a:ext cx="274320" cy="274320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234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200"/>
              </a:spcAft>
              <a:defRPr sz="1100" b="1" i="0">
                <a:solidFill>
                  <a:srgbClr val="1A1208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문제 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234440"/>
            <a:ext cx="7619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스팸 문자를 구분하는 모델을 만듭니다</a:t>
            </a:r>
          </a:p>
        </p:txBody>
      </p:sp>
      <p:sp>
        <p:nvSpPr>
          <p:cNvPr id="10" name="Oval 9"/>
          <p:cNvSpPr/>
          <p:nvPr/>
        </p:nvSpPr>
        <p:spPr>
          <a:xfrm>
            <a:off x="822959" y="1636776"/>
            <a:ext cx="274320" cy="274320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6184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200"/>
              </a:spcAft>
              <a:defRPr sz="1100" b="1" i="0">
                <a:solidFill>
                  <a:srgbClr val="1A1208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184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라이브러리 임포트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618488"/>
            <a:ext cx="7619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pandas, numpy, matplotlib, seaborn, sklearn, nltk</a:t>
            </a:r>
          </a:p>
        </p:txBody>
      </p:sp>
      <p:sp>
        <p:nvSpPr>
          <p:cNvPr id="14" name="Oval 13"/>
          <p:cNvSpPr/>
          <p:nvPr/>
        </p:nvSpPr>
        <p:spPr>
          <a:xfrm>
            <a:off x="822959" y="2020824"/>
            <a:ext cx="274320" cy="274320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0025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200"/>
              </a:spcAft>
              <a:defRPr sz="1100" b="1" i="0">
                <a:solidFill>
                  <a:srgbClr val="1A1208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00253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특수 기호 제거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002536"/>
            <a:ext cx="7619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string.punctuation + remove_punc() + apply()</a:t>
            </a:r>
          </a:p>
        </p:txBody>
      </p:sp>
      <p:sp>
        <p:nvSpPr>
          <p:cNvPr id="18" name="Oval 17"/>
          <p:cNvSpPr/>
          <p:nvPr/>
        </p:nvSpPr>
        <p:spPr>
          <a:xfrm>
            <a:off x="822959" y="2404872"/>
            <a:ext cx="274320" cy="274320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23865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200"/>
              </a:spcAft>
              <a:defRPr sz="1100" b="1" i="0">
                <a:solidFill>
                  <a:srgbClr val="1A1208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3865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불용어 제거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386584"/>
            <a:ext cx="7619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NLTK stopwords + stop_words() + apply()</a:t>
            </a:r>
          </a:p>
        </p:txBody>
      </p:sp>
      <p:sp>
        <p:nvSpPr>
          <p:cNvPr id="22" name="Oval 21"/>
          <p:cNvSpPr/>
          <p:nvPr/>
        </p:nvSpPr>
        <p:spPr>
          <a:xfrm>
            <a:off x="822959" y="2788920"/>
            <a:ext cx="274320" cy="274320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27706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200"/>
              </a:spcAft>
              <a:defRPr sz="1100" b="1" i="0">
                <a:solidFill>
                  <a:srgbClr val="1A1208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2770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목표 컬럼 변환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2770632"/>
            <a:ext cx="7619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map({'spam': 1, 'ham': 0})</a:t>
            </a:r>
          </a:p>
        </p:txBody>
      </p:sp>
      <p:sp>
        <p:nvSpPr>
          <p:cNvPr id="26" name="Oval 25"/>
          <p:cNvSpPr/>
          <p:nvPr/>
        </p:nvSpPr>
        <p:spPr>
          <a:xfrm>
            <a:off x="822959" y="3172968"/>
            <a:ext cx="274320" cy="274320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31546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200"/>
              </a:spcAft>
              <a:defRPr sz="1100" b="1" i="0">
                <a:solidFill>
                  <a:srgbClr val="1A1208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1546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카운트 벡터화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3154679"/>
            <a:ext cx="7619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CountVectorizer: fit() → transform()</a:t>
            </a:r>
          </a:p>
        </p:txBody>
      </p:sp>
      <p:sp>
        <p:nvSpPr>
          <p:cNvPr id="30" name="Oval 29"/>
          <p:cNvSpPr/>
          <p:nvPr/>
        </p:nvSpPr>
        <p:spPr>
          <a:xfrm>
            <a:off x="822959" y="3557015"/>
            <a:ext cx="274320" cy="274320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353872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200"/>
              </a:spcAft>
              <a:defRPr sz="1100" b="1" i="0">
                <a:solidFill>
                  <a:srgbClr val="1A1208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353872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모델링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3538727"/>
            <a:ext cx="7619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MultinomialNB: fit() → predict()</a:t>
            </a:r>
          </a:p>
        </p:txBody>
      </p:sp>
      <p:sp>
        <p:nvSpPr>
          <p:cNvPr id="34" name="Oval 33"/>
          <p:cNvSpPr/>
          <p:nvPr/>
        </p:nvSpPr>
        <p:spPr>
          <a:xfrm>
            <a:off x="822959" y="3941063"/>
            <a:ext cx="274320" cy="274320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39227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200"/>
              </a:spcAft>
              <a:defRPr sz="1100" b="1" i="0">
                <a:solidFill>
                  <a:srgbClr val="1A1208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39227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평가 결과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3922776"/>
            <a:ext cx="7619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약 98.6%의 높은 정확도 달성!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20180C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535424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D4BF9A"/>
                </a:solidFill>
                <a:latin typeface="Georgia"/>
              </a:defRPr>
            </a:pPr>
            <a:r>
              <a:t>과제 안내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D4BF9A"/>
                </a:solidFill>
                <a:latin typeface="Georgia"/>
              </a:defRPr>
            </a:pPr>
            <a:r>
              <a:t>• 베이즈 정리를 직접 손으로 풀어보기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>
                <a:solidFill>
                  <a:srgbClr val="D4BF9A"/>
                </a:solidFill>
                <a:latin typeface="Georgia"/>
              </a:defRPr>
            </a:pPr>
            <a:r>
              <a:t>• MultinomialNB 대신 GaussianNB, BernoulliNB(binarize=True)를 사용하여 비교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28 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핵심 용어 &amp; API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E8C45C"/>
                </a:solidFill>
                <a:latin typeface="Georgia"/>
              </a:defRPr>
            </a:pPr>
            <a:r>
              <a:t>나이브 베이즈 분류기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234440"/>
            <a:ext cx="7071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조건부 확률 기반 모델. 변수 개수 많을 때 유용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819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E8C45C"/>
                </a:solidFill>
                <a:latin typeface="Georgia"/>
              </a:defRPr>
            </a:pPr>
            <a:r>
              <a:t>1종 오류 (Type 1, FP)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581912"/>
            <a:ext cx="7071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실제 음성을 양성으로 예측하는 오류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93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E8C45C"/>
                </a:solidFill>
                <a:latin typeface="Georgia"/>
              </a:defRPr>
            </a:pPr>
            <a:r>
              <a:t>2종 오류 (Type 2, FN)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29384"/>
            <a:ext cx="7071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실제 양성을 음성으로 예측하는 오류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768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E8C45C"/>
                </a:solidFill>
                <a:latin typeface="Georgia"/>
              </a:defRPr>
            </a:pPr>
            <a:r>
              <a:t>사후확률 (Posterior)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76856"/>
            <a:ext cx="7071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A 발생 상황에서 B 발생 확률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2432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E8C45C"/>
                </a:solidFill>
                <a:latin typeface="Georgia"/>
              </a:defRPr>
            </a:pPr>
            <a:r>
              <a:t>사전확률 (Prior)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24327"/>
            <a:ext cx="7071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A와 상관없이 B 발생 확률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7179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Aft>
                <a:spcPts val="200"/>
              </a:spcAft>
              <a:defRPr sz="1400" b="1" i="0">
                <a:solidFill>
                  <a:srgbClr val="E8C45C"/>
                </a:solidFill>
                <a:latin typeface="Georgia"/>
              </a:defRPr>
            </a:pPr>
            <a:r>
              <a:t>베이즈 정리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971799"/>
            <a:ext cx="7071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사전/사후확률 관계를 나타내는 정리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364991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0215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100" b="1" i="0">
                <a:solidFill>
                  <a:srgbClr val="C9A84C"/>
                </a:solidFill>
                <a:latin typeface="Consolas"/>
              </a:defRPr>
            </a:pPr>
            <a:r>
              <a:t>string.punctuation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502151"/>
            <a:ext cx="7253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100" b="0" i="0">
                <a:solidFill>
                  <a:srgbClr val="A09070"/>
                </a:solidFill>
                <a:latin typeface="Georgia"/>
              </a:defRPr>
            </a:pPr>
            <a:r>
              <a:t>특수 기호 목록 출력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764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100" b="1" i="0">
                <a:solidFill>
                  <a:srgbClr val="C9A84C"/>
                </a:solidFill>
                <a:latin typeface="Consolas"/>
              </a:defRPr>
            </a:pPr>
            <a:r>
              <a:t>MultinomialNB()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776472"/>
            <a:ext cx="7253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100" b="0" i="0">
                <a:solidFill>
                  <a:srgbClr val="A09070"/>
                </a:solidFill>
                <a:latin typeface="Georgia"/>
              </a:defRPr>
            </a:pPr>
            <a:r>
              <a:t>다항분포 나이브 베이즈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05079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100" b="1" i="0">
                <a:solidFill>
                  <a:srgbClr val="C9A84C"/>
                </a:solidFill>
                <a:latin typeface="Consolas"/>
              </a:defRPr>
            </a:pPr>
            <a:r>
              <a:t>nltk stopwords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050791"/>
            <a:ext cx="7253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100" b="0" i="0">
                <a:solidFill>
                  <a:srgbClr val="A09070"/>
                </a:solidFill>
                <a:latin typeface="Georgia"/>
              </a:defRPr>
            </a:pPr>
            <a:r>
              <a:t>불용어 목록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251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100" b="1" i="0">
                <a:solidFill>
                  <a:srgbClr val="C9A84C"/>
                </a:solidFill>
                <a:latin typeface="Consolas"/>
              </a:defRPr>
            </a:pPr>
            <a:r>
              <a:t>CountVectorizer()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325112"/>
            <a:ext cx="7253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100" b="0" i="0">
                <a:solidFill>
                  <a:srgbClr val="A09070"/>
                </a:solidFill>
                <a:latin typeface="Georgia"/>
              </a:defRPr>
            </a:pPr>
            <a:r>
              <a:t>카운트 기반 벡터화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9943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100" b="1" i="0">
                <a:solidFill>
                  <a:srgbClr val="C9A84C"/>
                </a:solidFill>
                <a:latin typeface="Consolas"/>
              </a:defRPr>
            </a:pPr>
            <a:r>
              <a:t>confusion_matrix()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599431"/>
            <a:ext cx="7253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100" b="0" i="0">
                <a:solidFill>
                  <a:srgbClr val="A09070"/>
                </a:solidFill>
                <a:latin typeface="Georgia"/>
              </a:defRPr>
            </a:pPr>
            <a:r>
              <a:t>혼동 행렬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7375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100" b="1" i="0">
                <a:solidFill>
                  <a:srgbClr val="C9A84C"/>
                </a:solidFill>
                <a:latin typeface="Consolas"/>
              </a:defRPr>
            </a:pPr>
            <a:r>
              <a:t>cv.vocabulary_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873751"/>
            <a:ext cx="7253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100" b="0" i="0">
                <a:solidFill>
                  <a:srgbClr val="A09070"/>
                </a:solidFill>
                <a:latin typeface="Georgia"/>
              </a:defRPr>
            </a:pPr>
            <a:r>
              <a:t>단어 → 인덱스 딕셔너리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14807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100" b="1" i="0">
                <a:solidFill>
                  <a:srgbClr val="C9A84C"/>
                </a:solidFill>
                <a:latin typeface="Consolas"/>
              </a:defRPr>
            </a:pPr>
            <a:r>
              <a:t>accuracy_score()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5148071"/>
            <a:ext cx="7253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100" b="0" i="0">
                <a:solidFill>
                  <a:srgbClr val="A09070"/>
                </a:solidFill>
                <a:latin typeface="Georgia"/>
              </a:defRPr>
            </a:pPr>
            <a:r>
              <a:t>정확도 계산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42239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100" b="1" i="0">
                <a:solidFill>
                  <a:srgbClr val="C9A84C"/>
                </a:solidFill>
                <a:latin typeface="Consolas"/>
              </a:defRPr>
            </a:pPr>
            <a:r>
              <a:t>apply()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5422391"/>
            <a:ext cx="7253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100" b="0" i="0">
                <a:solidFill>
                  <a:srgbClr val="A09070"/>
                </a:solidFill>
                <a:latin typeface="Georgia"/>
              </a:defRPr>
            </a:pPr>
            <a:r>
              <a:t>각 행에 함수 개별 적용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69671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100" b="1" i="0">
                <a:solidFill>
                  <a:srgbClr val="C9A84C"/>
                </a:solidFill>
                <a:latin typeface="Consolas"/>
              </a:defRPr>
            </a:pPr>
            <a:r>
              <a:t>map()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5696711"/>
            <a:ext cx="7253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100" b="0" i="0">
                <a:solidFill>
                  <a:srgbClr val="A09070"/>
                </a:solidFill>
                <a:latin typeface="Georgia"/>
              </a:defRPr>
            </a:pPr>
            <a:r>
              <a:t>딕셔너리/함수로 값 매핑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97103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100" b="1" i="0">
                <a:solidFill>
                  <a:srgbClr val="C9A84C"/>
                </a:solidFill>
                <a:latin typeface="Consolas"/>
              </a:defRPr>
            </a:pPr>
            <a:r>
              <a:t>split()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5971031"/>
            <a:ext cx="7253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defRPr sz="1100" b="0" i="0">
                <a:solidFill>
                  <a:srgbClr val="A09070"/>
                </a:solidFill>
                <a:latin typeface="Georgia"/>
              </a:defRPr>
            </a:pPr>
            <a:r>
              <a:t>문자열 → 단어 리스트 분리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29 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연습 문제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200"/>
              </a:spcAft>
              <a:defRPr sz="1500" b="1" i="0">
                <a:solidFill>
                  <a:srgbClr val="E8C45C"/>
                </a:solidFill>
                <a:latin typeface="Georgia"/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1234440"/>
            <a:ext cx="77111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D4BF9A"/>
                </a:solidFill>
                <a:latin typeface="Georgia"/>
              </a:defRPr>
            </a:pPr>
            <a:r>
              <a:t>자연어 처리에서 의미 없이 빈번하게 발생하는 단어를 의미하는 것은?</a:t>
            </a:r>
            <a:br/>
            <a:r>
              <a:t>① 불용어  ② 특수기호  ③ 벡터  ④ 인덱스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1" i="0">
                <a:solidFill>
                  <a:srgbClr val="6B9E5C"/>
                </a:solidFill>
                <a:latin typeface="Georgia"/>
              </a:defRPr>
            </a:pPr>
            <a:r>
              <a:t>정답: 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200"/>
              </a:spcAft>
              <a:defRPr sz="1500" b="1" i="0">
                <a:solidFill>
                  <a:srgbClr val="E8C45C"/>
                </a:solidFill>
                <a:latin typeface="Georgia"/>
              </a:defRPr>
            </a:pPr>
            <a: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377440"/>
            <a:ext cx="77111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D4BF9A"/>
                </a:solidFill>
                <a:latin typeface="Georgia"/>
              </a:defRPr>
            </a:pPr>
            <a:r>
              <a:t>자연어를 머신러닝이 받아들일 수 있도록 단어와 출현 빈도로 정리하는 함수는?</a:t>
            </a:r>
            <a:br/>
            <a:r>
              <a:t>① get_dummies()  ② CountVectorizer()  ③ StandardScaler()  ④ value_counts()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2377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1" i="0">
                <a:solidFill>
                  <a:srgbClr val="6B9E5C"/>
                </a:solidFill>
                <a:latin typeface="Georgia"/>
              </a:defRPr>
            </a:pPr>
            <a:r>
              <a:t>정답: 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200"/>
              </a:spcAft>
              <a:defRPr sz="1500" b="1" i="0">
                <a:solidFill>
                  <a:srgbClr val="E8C45C"/>
                </a:solidFill>
                <a:latin typeface="Georgia"/>
              </a:defRPr>
            </a:pPr>
            <a: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3520440"/>
            <a:ext cx="77111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D4BF9A"/>
                </a:solidFill>
                <a:latin typeface="Georgia"/>
              </a:defRPr>
            </a:pPr>
            <a:r>
              <a:t>혼동 행렬 (0:64,3 / 1:16,17) — False Negative는 총 64건이다?</a:t>
            </a:r>
            <a:br/>
            <a:r>
              <a:t>→ FN은 실젯값 1, 예측값 0 영역이므로 16건 (64건은 TN)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295" y="3520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1" i="0">
                <a:solidFill>
                  <a:srgbClr val="6B9E5C"/>
                </a:solidFill>
                <a:latin typeface="Georgia"/>
              </a:defRPr>
            </a:pPr>
            <a:r>
              <a:t>정답: ④ 틀림 (FN=16)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200"/>
              </a:spcAft>
              <a:defRPr sz="1500" b="1" i="0">
                <a:solidFill>
                  <a:srgbClr val="E8C45C"/>
                </a:solidFill>
                <a:latin typeface="Georgia"/>
              </a:defRPr>
            </a:pPr>
            <a: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663440"/>
            <a:ext cx="77111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D4BF9A"/>
                </a:solidFill>
                <a:latin typeface="Georgia"/>
              </a:defRPr>
            </a:pPr>
            <a:r>
              <a:t>나이브 베이즈를 가장 잘 설명한 것은?</a:t>
            </a:r>
            <a:br/>
            <a:r>
              <a:t>① 조건부 확률 기반, 사전/사후확률 활용  ② 선형 관계 전제</a:t>
            </a:r>
            <a:br/>
            <a:r>
              <a:t>③ 독립변수 적을 때  ④ 상관관계 강할 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1295" y="4663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Aft>
                <a:spcPts val="200"/>
              </a:spcAft>
              <a:defRPr sz="1200" b="1" i="0">
                <a:solidFill>
                  <a:srgbClr val="6B9E5C"/>
                </a:solidFill>
                <a:latin typeface="Georgia"/>
              </a:defRPr>
            </a:pPr>
            <a:r>
              <a:t>정답: 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30 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심화: CountVectorizer 매개변수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18607" cy="228600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5044287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from sklearn.feature_extraction.text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import CountVectorizer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주요 매개변수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cv = CountVectorizer(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max_features=5000,   # 상위 N개만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ngram_range=(1, 2),  # 1~2단어 조합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stop_words='english',# 내장 불용어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max_df=0.95, # 빈도 너무 높은 단어 제외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min_df=2     # 빈도 너무 낮은 단어 제외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1234440"/>
            <a:ext cx="5318607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매개변수 설명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max_features: 빈도 상위 N개 단어만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ngram_range: 단어 조합 범위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Georgia"/>
              </a:defRPr>
            </a:pPr>
            <a:r>
              <a:t>  (1,1)=단어, (1,2)=단어+2단어조합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Georgia"/>
              </a:defRPr>
            </a:pPr>
            <a:r>
              <a:t>  예: 'free', 'free entry'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stop_words: 불용어 제거 옵션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max_df: 너무 흔한 단어 제외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min_df: 너무 드문 단어 제외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 b="1" i="0">
                <a:solidFill>
                  <a:srgbClr val="E8C45C"/>
                </a:solidFill>
                <a:latin typeface="Georgia"/>
              </a:defRPr>
            </a:pPr>
            <a:r>
              <a:t>→ 적절한 설정으로 성능 향상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TF-IDF: 더 정교한 벡터화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23360"/>
            <a:ext cx="5318607" cy="164592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504428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from sklearn.feature_extraction.text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import TfidfVectorizer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tfidf = TfidfVectorizer(max_features=5000)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x_tfidf = tfidf.fit_transform(data['text'])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TF-IDF = TF(빈도) × IDF(희귀도)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흔한 단어는 낮은 가중치 부여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4023360"/>
            <a:ext cx="531860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C9A84C"/>
                </a:solidFill>
                <a:latin typeface="Georgia"/>
              </a:defRPr>
            </a:pPr>
            <a:r>
              <a:t>Count vs TF-IDF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Count: 단순 출현 횟수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Georgia"/>
              </a:defRPr>
            </a:pPr>
            <a:r>
              <a:t>  → 모든 단어 동등 취급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TF-IDF: 중요도 가중치 부여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Georgia"/>
              </a:defRPr>
            </a:pPr>
            <a:r>
              <a:t>  → 흔한 단어는 낮은 가중치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Georgia"/>
              </a:defRPr>
            </a:pPr>
            <a:r>
              <a:t>  → 더 정교한 분류 가능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E8C45C"/>
                </a:solidFill>
                <a:latin typeface="Georgia"/>
              </a:defRPr>
            </a:pPr>
            <a:r>
              <a:t>MultinomialNB와 함께 사용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31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심화: Pipeline &amp; 성능 개선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18607" cy="256032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5044287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from sklearn.pipeline import Pipeline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from sklearn.feature_extraction.text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import TfidfVectorizer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from sklearn.naive_bayes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import MultinomialNB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from sklearn.model_selection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import cross_val_score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Pipeline 구성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pipe = Pipeline([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('tfidf', TfidfVectorizer(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max_features=5000,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ngram_range=(1, 2))),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('clf', MultinomialNB(alpha=0.1))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])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234440"/>
            <a:ext cx="5318607" cy="256032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1325880"/>
            <a:ext cx="5044287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교차 검증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scores = cross_val_score(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pipe, data['text'], data['target'],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cv=5, scoring='accuracy'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print(f'Mean: {scores.mean():.4f}')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상세 평가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from sklearn.metrics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import classification_report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pipe.fit(x_train_text, y_train)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print(classification_report(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y_test, pipe.predict(x_test_text)))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성능 개선 전략 5가지</a:t>
            </a:r>
          </a:p>
        </p:txBody>
      </p:sp>
      <p:sp>
        <p:nvSpPr>
          <p:cNvPr id="11" name="Oval 10"/>
          <p:cNvSpPr/>
          <p:nvPr/>
        </p:nvSpPr>
        <p:spPr>
          <a:xfrm>
            <a:off x="822959" y="4315968"/>
            <a:ext cx="256032" cy="256032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29768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200"/>
              </a:spcAft>
              <a:defRPr sz="1000" b="1" i="0">
                <a:solidFill>
                  <a:srgbClr val="1A1208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1" y="4297680"/>
            <a:ext cx="102897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TF-IDF 사용: 단순 카운트보다 효과적인 가중치 벡터화</a:t>
            </a:r>
          </a:p>
        </p:txBody>
      </p:sp>
      <p:sp>
        <p:nvSpPr>
          <p:cNvPr id="14" name="Oval 13"/>
          <p:cNvSpPr/>
          <p:nvPr/>
        </p:nvSpPr>
        <p:spPr>
          <a:xfrm>
            <a:off x="822959" y="4636008"/>
            <a:ext cx="256032" cy="256032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61772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200"/>
              </a:spcAft>
              <a:defRPr sz="1000" b="1" i="0">
                <a:solidFill>
                  <a:srgbClr val="1A1208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1" y="4617720"/>
            <a:ext cx="102897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n-gram 활용: 단어 조합으로 문맥 반영 (ngram_range=(1,2))</a:t>
            </a:r>
          </a:p>
        </p:txBody>
      </p:sp>
      <p:sp>
        <p:nvSpPr>
          <p:cNvPr id="17" name="Oval 16"/>
          <p:cNvSpPr/>
          <p:nvPr/>
        </p:nvSpPr>
        <p:spPr>
          <a:xfrm>
            <a:off x="822959" y="4956048"/>
            <a:ext cx="256032" cy="256032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93776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200"/>
              </a:spcAft>
              <a:defRPr sz="1000" b="1" i="0">
                <a:solidFill>
                  <a:srgbClr val="1A1208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1" y="4937760"/>
            <a:ext cx="102897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불용어 커스터마이징: 도메인별 불용어 리스트 구성</a:t>
            </a:r>
          </a:p>
        </p:txBody>
      </p:sp>
      <p:sp>
        <p:nvSpPr>
          <p:cNvPr id="20" name="Oval 19"/>
          <p:cNvSpPr/>
          <p:nvPr/>
        </p:nvSpPr>
        <p:spPr>
          <a:xfrm>
            <a:off x="822959" y="5276088"/>
            <a:ext cx="256032" cy="256032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52578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200"/>
              </a:spcAft>
              <a:defRPr sz="1000" b="1" i="0">
                <a:solidFill>
                  <a:srgbClr val="1A1208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1" y="5257800"/>
            <a:ext cx="102897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스테밍/레마타이제이션: 단어 원형 추출로 어휘 축소</a:t>
            </a:r>
          </a:p>
        </p:txBody>
      </p:sp>
      <p:sp>
        <p:nvSpPr>
          <p:cNvPr id="23" name="Oval 22"/>
          <p:cNvSpPr/>
          <p:nvPr/>
        </p:nvSpPr>
        <p:spPr>
          <a:xfrm>
            <a:off x="822959" y="5596127"/>
            <a:ext cx="256032" cy="256032"/>
          </a:xfrm>
          <a:prstGeom prst="ellipse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557784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200"/>
              </a:spcAft>
              <a:defRPr sz="1000" b="1" i="0">
                <a:solidFill>
                  <a:srgbClr val="1A1208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1" y="5577840"/>
            <a:ext cx="1028974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alpha 튜닝: 라플라스 스무딩 파라미터 조정 (default=1.0)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32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심화: 완전한 스팸 분류 파이프라인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18607" cy="502920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5044287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import re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from sklearn.pipeline import Pipeline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from sklearn.feature_extraction.text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import TfidfVectorizer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from sklearn.naive_bayes import (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MultinomialNB, BernoulliNB)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from sklearn.model_selection import (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train_test_split, cross_val_score)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from sklearn.metrics import (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classification_report,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confusion_matrix)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전처리 (정규표현식 버전)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def preprocess(text):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text = re.sub(r'[^a-zA-Z\s]',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          '', text)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return text.lower().strip()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data = pd.read_csv('spam.csv')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data['text'] =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data['text'].apply(preprocess)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data['target'] = data['target'].map(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{'spam': 1, 'ham': 0})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234440"/>
            <a:ext cx="5318607" cy="5029200"/>
          </a:xfrm>
          <a:prstGeom prst="roundRect">
            <a:avLst/>
          </a:prstGeom>
          <a:solidFill>
            <a:srgbClr val="120E06"/>
          </a:solidFill>
          <a:ln w="6350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1325880"/>
            <a:ext cx="5044287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X = data['text']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y = data['target']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X_tr, X_te, y_tr, y_te = \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train_test_split(X, y,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test_size=0.2, random_state=42)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# 여러 모델 비교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models = {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'MNB': Pipeline([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('tf', TfidfVectorizer(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    max_features=5000,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    ngram_range=(1,2))),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('clf', MultinomialNB(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    alpha=0.1))]),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'BNB': Pipeline([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('tf', TfidfVectorizer(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    max_features=5000)),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('clf', BernoulliNB())])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for name, model in models.items():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scores = cross_val_score(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model, X, y, cv=5,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scoring='accuracy')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print(f'{name}: '</a:t>
            </a:r>
          </a:p>
          <a:p>
            <a:pPr>
              <a:lnSpc>
                <a:spcPts val="1700"/>
              </a:lnSpc>
              <a:spcAft>
                <a:spcPts val="0"/>
              </a:spcAft>
              <a:defRPr sz="1200">
                <a:solidFill>
                  <a:srgbClr val="E8D5A0"/>
                </a:solidFill>
                <a:latin typeface="Consolas"/>
              </a:defRPr>
            </a:pPr>
            <a:r>
              <a:t>          f'{scores.mean():.4f}')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33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  <a:spcAft>
                <a:spcPts val="200"/>
              </a:spcAft>
              <a:defRPr sz="3200" b="1" i="1">
                <a:solidFill>
                  <a:srgbClr val="C9A84C"/>
                </a:solidFill>
                <a:latin typeface="Georgia"/>
              </a:defRPr>
            </a:pPr>
            <a:r>
              <a:t>참고 논문 &amp; 추가 학습 안내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051560"/>
            <a:ext cx="9997135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200"/>
              </a:spcAft>
              <a:defRPr sz="1800" b="1" i="0">
                <a:solidFill>
                  <a:srgbClr val="C9A84C"/>
                </a:solidFill>
                <a:latin typeface="Georgia"/>
              </a:defRPr>
            </a:pPr>
            <a:r>
              <a:t>참고 논문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D4BF9A"/>
                </a:solidFill>
                <a:latin typeface="Georgia"/>
              </a:defRPr>
            </a:pPr>
            <a:r>
              <a:t>1. McCallum &amp; Nigam (1998)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1">
                <a:solidFill>
                  <a:srgbClr val="A09070"/>
                </a:solidFill>
                <a:latin typeface="Georgia"/>
              </a:defRPr>
            </a:pPr>
            <a:r>
              <a:t>   'A Comparison of Event Models for Naive Bayes Text Classification'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Georgia"/>
              </a:defRPr>
            </a:pPr>
            <a:r>
              <a:t>   → Multinomial vs Multivariate Bernoulli 모델 비교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D4BF9A"/>
                </a:solidFill>
                <a:latin typeface="Georgia"/>
              </a:defRPr>
            </a:pPr>
            <a:r>
              <a:t>2. Rennie, Shih, Teevan, Karger (2003)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1">
                <a:solidFill>
                  <a:srgbClr val="A09070"/>
                </a:solidFill>
                <a:latin typeface="Georgia"/>
              </a:defRPr>
            </a:pPr>
            <a:r>
              <a:t>   'Tackling the Poor Assumptions of Naive Bayes Text Classifiers'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Georgia"/>
              </a:defRPr>
            </a:pPr>
            <a:r>
              <a:t>   → NB의 한계와 개선 방법 (TF-IDF 변환, 길이 정규화 등)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 b="1" i="0">
                <a:solidFill>
                  <a:srgbClr val="D4BF9A"/>
                </a:solidFill>
                <a:latin typeface="Georgia"/>
              </a:defRPr>
            </a:pPr>
            <a:r>
              <a:t>3. Zhang (2004)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1">
                <a:solidFill>
                  <a:srgbClr val="A09070"/>
                </a:solidFill>
                <a:latin typeface="Georgia"/>
              </a:defRPr>
            </a:pPr>
            <a:r>
              <a:t>   'The Optimality of Naive Bayes'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Georgia"/>
              </a:defRPr>
            </a:pPr>
            <a:r>
              <a:t>   → 독립 가정이 깨져도 NB가 잘 작동하는 이론적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5318607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scikit-learn 공식 문서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• sklearn.naive_bayes 모듈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Georgia"/>
              </a:defRPr>
            </a:pPr>
            <a:r>
              <a:t>  MultinomialNB, GaussianNB, BernoulliNB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• sklearn.feature_extraction.text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Georgia"/>
              </a:defRPr>
            </a:pPr>
            <a:r>
              <a:t>  CountVectorizer, TfidfVectorizer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• sklearn.metrics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Georgia"/>
              </a:defRPr>
            </a:pPr>
            <a:r>
              <a:t>  confusion_matrix, classification_report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3703320"/>
            <a:ext cx="5318607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다음 학습 내용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• 10장: 재현율(Recall), 정밀도(Precision),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  F1 Score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• 11장: AUC (Area Under Curve)</a:t>
            </a:r>
          </a:p>
          <a:p>
            <a:pPr>
              <a:lnSpc>
                <a:spcPts val="500"/>
              </a:lnSpc>
              <a:spcAft>
                <a:spcPts val="200"/>
              </a:spcAft>
              <a:defRPr sz="4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21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NLTK 공식 문서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• nltk.org — stopwords, tokenizers</a:t>
            </a:r>
          </a:p>
          <a:p>
            <a:pPr>
              <a:lnSpc>
                <a:spcPts val="1700"/>
              </a:lnSpc>
              <a:spcAft>
                <a:spcPts val="200"/>
              </a:spcAft>
              <a:defRPr sz="1300" b="0" i="0">
                <a:solidFill>
                  <a:srgbClr val="D4BF9A"/>
                </a:solidFill>
                <a:latin typeface="Georgia"/>
              </a:defRPr>
            </a:pPr>
            <a:r>
              <a:t>• 한국어 불용어:</a:t>
            </a:r>
          </a:p>
          <a:p>
            <a:pPr>
              <a:lnSpc>
                <a:spcPts val="1600"/>
              </a:lnSpc>
              <a:spcAft>
                <a:spcPts val="200"/>
              </a:spcAft>
              <a:defRPr sz="1200" b="0" i="0">
                <a:solidFill>
                  <a:srgbClr val="A09070"/>
                </a:solidFill>
                <a:latin typeface="Georgia"/>
              </a:defRPr>
            </a:pPr>
            <a:r>
              <a:t>  www.ranks.nl/stopwords/korean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34 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A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9525">
            <a:solidFill>
              <a:srgbClr val="8A7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spcAft>
                <a:spcPts val="200"/>
              </a:spcAft>
              <a:defRPr sz="1400" b="0" i="0">
                <a:solidFill>
                  <a:srgbClr val="A09070"/>
                </a:solidFill>
                <a:latin typeface="Consolas"/>
              </a:defRPr>
            </a:pPr>
            <a:r>
              <a:t>C H A P T E R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00"/>
              </a:lnSpc>
              <a:spcAft>
                <a:spcPts val="200"/>
              </a:spcAft>
              <a:defRPr sz="4800" b="1" i="1">
                <a:solidFill>
                  <a:srgbClr val="C9A84C"/>
                </a:solidFill>
                <a:latin typeface="Georgia"/>
              </a:defRPr>
            </a:pPr>
            <a:r>
              <a:t>나이브 베이즈</a:t>
            </a:r>
          </a:p>
        </p:txBody>
      </p:sp>
      <p:sp>
        <p:nvSpPr>
          <p:cNvPr id="6" name="Rectangle 5"/>
          <p:cNvSpPr/>
          <p:nvPr/>
        </p:nvSpPr>
        <p:spPr>
          <a:xfrm>
            <a:off x="3809847" y="3017520"/>
            <a:ext cx="4572000" cy="12700"/>
          </a:xfrm>
          <a:prstGeom prst="rect">
            <a:avLst/>
          </a:prstGeom>
          <a:solidFill>
            <a:srgbClr val="8A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200"/>
              </a:spcAft>
              <a:defRPr sz="2600" b="0" i="0">
                <a:solidFill>
                  <a:srgbClr val="D4BF9A"/>
                </a:solidFill>
                <a:latin typeface="Georgia"/>
              </a:defRPr>
            </a:pPr>
            <a:r>
              <a:t>수고하셨습니다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200"/>
              </a:spcAft>
              <a:defRPr sz="1600" b="1" i="0">
                <a:solidFill>
                  <a:srgbClr val="C9A84C"/>
                </a:solidFill>
                <a:latin typeface="Georgia"/>
              </a:defRPr>
            </a:pPr>
            <a:r>
              <a:t>다음 단계 안내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8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A09070"/>
                </a:solidFill>
                <a:latin typeface="Georgia"/>
              </a:defRPr>
            </a:pPr>
            <a:r>
              <a:t>재현율(Recall), 정밀도(Precision), F1 Score → 10장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A09070"/>
                </a:solidFill>
                <a:latin typeface="Georgia"/>
              </a:defRPr>
            </a:pPr>
            <a:r>
              <a:t>AUC (Area Under Curve) → 11장</a:t>
            </a:r>
          </a:p>
          <a:p>
            <a:pPr>
              <a:lnSpc>
                <a:spcPts val="1000"/>
              </a:lnSpc>
              <a:spcAft>
                <a:spcPts val="200"/>
              </a:spcAft>
              <a:defRPr sz="800" b="0" i="0">
                <a:solidFill>
                  <a:srgbClr val="D4BF9A"/>
                </a:solidFill>
                <a:latin typeface="Georgia"/>
              </a:defRPr>
            </a:pPr>
          </a:p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과제: 베이즈 정리를 직접 손으로 풀어보기</a:t>
            </a:r>
          </a:p>
          <a:p>
            <a:pPr>
              <a:lnSpc>
                <a:spcPts val="1800"/>
              </a:lnSpc>
              <a:spcAft>
                <a:spcPts val="200"/>
              </a:spcAft>
              <a:defRPr sz="1400" b="0" i="0">
                <a:solidFill>
                  <a:srgbClr val="D4BF9A"/>
                </a:solidFill>
                <a:latin typeface="Georgia"/>
              </a:defRPr>
            </a:pPr>
            <a:r>
              <a:t>과제: GaussianNB, BernoulliNB(binarize=True) 비교 실험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200"/>
              </a:spcAft>
              <a:defRPr sz="900" b="0" i="0">
                <a:solidFill>
                  <a:srgbClr val="A09070"/>
                </a:solidFill>
                <a:latin typeface="Consolas"/>
              </a:defRPr>
            </a:pPr>
            <a:r>
              <a:t>35 /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