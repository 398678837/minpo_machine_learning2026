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  <a:latin typeface="맑은 고딕"/>
              </a:defRPr>
            </a:pPr>
            <a:r>
              <a:t>第6章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K-近邻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FF"/>
                </a:solidFill>
                <a:latin typeface="맑은 고딕"/>
              </a:defRPr>
            </a:pPr>
            <a:r>
              <a:t>K-近邻算法 (KNN)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0476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42062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惰性学习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3592" y="42062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距离度量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42062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维度灾难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9992" y="42062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9992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度量学习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机器学习 | 2026年第1学期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第0节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第6章 概览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KNN의 직관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惰性学习, 다수결 原理, 理论 保证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659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920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距离 측도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240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欧几里得, 曼哈顿, 민코프스키, 余弦, 马氏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17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K값 选择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337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偏差-方差权衡, 交叉验证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06324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017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维度灾难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337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距离集中 현상, Beyer et al. (1999)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6052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062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距离度量 学习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434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LMNN, Weinberger &amp; Saul (2009)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16052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2062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缩放 &amp; 전处理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434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StandardScaler, MinMaxScaler, 数据泄露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25780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303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效率적 搜索 &amp; 변형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532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KD-Tree, Ball-Tree, ANN, 加权 KNN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25780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303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응용 사례 &amp; 实验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5532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推荐系统, 异常检测, 스크래치 实现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KNN의 직관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"비슷한 것은 가까이" 假设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核心思想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"新的 数据点의 정체를 알고 싶다면, 그 주변에 있는 邻居들을 살펴보라."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KNN 算法 동작 过程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11880"/>
            <a:ext cx="13716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1) 现有的 모든 训练数据和의 距离를 计算한다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2) 距离가 最 最近的 K개의 邻居을 选择한다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3) [分类] K개 邻居의 类别 중 다수결로 결정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[回归] K개 邻居의 타깃값 均值/平均을 预测值以/用 使用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291840"/>
            <a:ext cx="56692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383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分类 预测 公式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749039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y_hat = argmax_c  SUM [ 1(y_i = c) ]  for i in N_K(x)</a:t>
            </a:r>
            <a:br/>
            <a:br/>
            <a:r>
              <a:t>N_K(x): 쿼리 포인트 x의 K개 近邻 索引 집합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93776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일상의 비유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3949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집값 추정 -&gt; 주변 집들의 시세를 参考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영화 推荐 -&gt; 취향 비슷한 친구들의 의견 参考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의료 진단 -&gt; 类似 환자 사례를 参考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惰性学习 vs 적극적 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惰性学习 vs. 积极学习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类别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92024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惰性学习 (Lazy)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92024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적극적 学习 (Eager)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46888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46888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60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学习 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560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없음 (数据 存储만)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60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模型 参数를 学习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1752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01752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301752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08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预测 시점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108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모든 计算이 预测 시 발생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108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学习된 模型로 빠르게 预测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6616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56616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56616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657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대표 算法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657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657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로지스틱 回归, SVM, 신경망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11480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411480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411480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学习 速度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 - 存储만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느림 (参数 最优화)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66344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80" y="466344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466344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预测 速度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O(Nd) - 全部 距离 计算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빠름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1208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97680" y="521208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0" y="521208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303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内存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5303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全部 训练数据 보관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5303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模型 参数만 보관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57784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Cover &amp; Hart (1967) 理论 保证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R* &lt;= R*_NN &lt;= 2R*(1 - R*)  |  1-NN의 错误率은 베이즈 最优 错误率의 2배를 넘지 않는다 (무한 数据 假设)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第2节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距离 측도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欧几里得距离 &amp; 曼哈顿距离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欧几里得距离 (Euclidean Distance, L2)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d(x, y) = sqrt( SUM (xi - yi)^2 )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두 점 사이의 직선 距离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 KNN의 默认(default) 距离 척도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민코프스키 距离中/从 p=2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예시: A(1,2)和 B(4,6)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 = sqrt((4-1)^2 + (6-2)^2)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 sqrt(9 + 16) = sqrt(25) = 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연속형 수치 特征에 适合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모든 特征의 尺度이 동일할 때 有效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曼哈顿距离 (Manhattan Distance, L1)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d(x, y) = SUM |xi - yi|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축 방향 절대 距离의 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격자(Grid) 形式의 경로 距离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민코프스키 距离中/从 p=1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예시: A(1,2)和 B(4,6)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 = |4-1| + |6-2|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= 3 + 4 = 7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뉴욕 曼哈顿의 격자형 도로中/从 유래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고차圆中/从 L2比 距离集中이 较少 심함 (Beyer et al.)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第2节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距离 측도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민코프스키, 余弦相似度, 马氏距离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민코프스키 距离 (Lp)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d(x,y) = ( SUM |xi-yi|^p )^(1/p)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p=1 : 曼哈顿距离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p=2 : 欧几里得距离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p-&gt;inf : 切比雪夫距离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余弦相似度 (Cosine)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cos(x,y) = (x . y) / (||x|| ||y||)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向量의 방향만 考虑 (大小 무시)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텍스트 分类, 推荐系统에 适合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TF-IDF 向量 比较에 특히 有效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202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马氏距离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d_M(x,y) = sqrt((x-y)^T M (x-y))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M=I : 欧几里得距离和 동일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数据의 协方差 结构 반영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LMNN中/从 M을 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距离 측도 选择 가이드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0916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3200400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560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距离 측도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4937760"/>
            <a:ext cx="4114800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495604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适用场景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4937760"/>
            <a:ext cx="374903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9560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注意 사항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49240"/>
            <a:ext cx="3200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5349240"/>
            <a:ext cx="4114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5349240"/>
            <a:ext cx="3749039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766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欧几里得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37667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연속형, 동일 尺度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3766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缩放 必需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696712"/>
            <a:ext cx="3200400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49039" y="5696712"/>
            <a:ext cx="4114800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63840" y="5696712"/>
            <a:ext cx="3749039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72414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曼哈顿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572414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고차圆, 희소 数据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57241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L2比 距离集中 완화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044184"/>
            <a:ext cx="3200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49039" y="6044184"/>
            <a:ext cx="4114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63840" y="6044184"/>
            <a:ext cx="3749039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0716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余弦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607161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텍스트, 방향 重要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60716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大小 信息 손실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6391656"/>
            <a:ext cx="3200400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749039" y="6391656"/>
            <a:ext cx="4114800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63840" y="6391656"/>
            <a:ext cx="3749039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4190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马氏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0" y="641908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상관 特征 존재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64190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协方差 추정 需要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第3节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K값 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偏差-方差权衡 (Bias-Variance Tradeoff)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K가 작을 때 (K=1~3)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过拟合 (Overfitting)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方差(Variance)이 높다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노이즈에 非常 민감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결정 边界가 复杂/불规则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训练数据에만 잘 맞음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泛化 性能 낮음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K가 적당할 때 (K=5~15)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均衡 (Balanced)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적절한 泛化 性能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안정적 性能 달성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偏差和 方差의 均衡점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交叉验证以/用 搜索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最 이상적인 状态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20240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K가 클 때 (K=50+)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774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欠拟合 (Underfitting)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偏差(Bias)이 높다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지역 模式(Local Pattern) 무시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결정 边界가 지나치게 简单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K=N이면 总是 다수 类别 预测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分类 性能 저하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72000"/>
            <a:ext cx="57607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기대 预测 오차 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377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MSE(f_hat(x)) = 偏差^2[f_hat(x)] + Var[f_hat(x)] + sigma^2</a:t>
            </a:r>
            <a:br/>
            <a:r>
              <a:t>K 增加 -&gt; 偏差 增加, 方差 减少  /  K 减少 -&gt; 偏差 减少, 方差 增加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57200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6634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K값 选择 实用 가이드라인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02920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奇数(Odd) 使用 -&gt; 동률(tie) 방지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sqrt(N) 规则: K = sqrt(N)을 시작점以/用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交叉验证(Cross-Validation)以/用 最优값 搜索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K=1~20 范围中/从 准确率 图表 그려보기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第4节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维度灾难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维度灾难 - Beyer et al. (1999)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距离集中 현상 (Distance Concentration)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8288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lim (d-&gt;inf) (D_max - D_min) / D_min -&gt; 0</a:t>
            </a:r>
            <a:br/>
            <a:br/>
            <a:r>
              <a:t>고차圆中/从 모든 数据点가 쿼리 포인트从</a:t>
            </a:r>
            <a:br/>
            <a:r>
              <a:t>"거의 相同 距离"에 위치하게 됨</a:t>
            </a:r>
            <a:br/>
            <a:r>
              <a:t>-&gt; '最 最近的 邻居'의 含义가 퇴색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数学 직관 (CLT 기반)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特征 X1,...,Xd가 i.i.d., 方差 sigma^2인 情况: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D^2 = SUM Xi^2 ~ d*mu + sqrt(d)*sigma*Z  (CLT)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 ~ sqrt(d*mu), 변동 폭 ~ O(sqrt(d))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(D_max - D_min) / D_min = O(1/sqrt(d)) -&gt; 0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차圆이 增加하면 모든 점들의 距离가 相同 값以/用 收敛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Lp 范数의 영향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377440"/>
            <a:ext cx="521208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Beyer et al. 核心 결론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346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p가 增加할수록 距离集中이 更 심해진다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L1 (曼哈顿)이 L2 (欧几里得)比 고차圆中/从 양호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L_inf 가 最 심한 距离集中을 보인다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因此 고차圆中 L1 范数을 권장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97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实际应对方案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66344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754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解决策略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1206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降维 (PCA, t-SNE) - 유효 차圆을 줄여 距离 含义 회복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特征 选择 (Feature Selection) - 관련 없는 特征 删除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距离度量 学习 (LMNN) - 分类 最优화된 距离函数 学习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L1 范数 使用 - L2比 距离集中 완화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第5节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距离度量学习 (LMNN)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Weinberger &amp; Saul (2009)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核心思想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欧几里得距离는 모든 特征을 동등하게 취급但是,</a:t>
            </a:r>
            <a:br/>
            <a:r>
              <a:t>分类에 重要한 特征和 그렇지 않은 特征은 다르다.</a:t>
            </a:r>
            <a:br/>
            <a:r>
              <a:t>LMNN은 分类 性能을 最优화하는 马氏距离 M을 学习한다.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당기는 힘 (Pull)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相同 类别의 K개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타깃 邻居(target neighbors)을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가까이 당긴다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(1-mu) * SUM d_M^2(xi, xj)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29184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밀치는 힘 (Push)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7490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其他的 类别의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入侵者(imposters)를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远 밀어낸다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mu * SUM xi_ijl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94960"/>
            <a:ext cx="530352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486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LMNN 목적 函数 &amp; 제약 条件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min_M  (1-mu)*SUM d_M^2(xi,xj) + mu*SUM xi_ijl</a:t>
            </a:r>
            <a:br/>
            <a:r>
              <a:t>s.t.  d_M^2(xi,xl) - d_M^2(xi,xj) &gt;= 1 - xi_ijl,  xi_ijl &gt;= 0</a:t>
            </a:r>
            <a:br/>
            <a:r>
              <a:t>j: 타깃 邻居 (相同 类别),  l: 入侵者 (其他的 类别)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92024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LMNN 算法 结构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774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각 学习 포인트에 相同 类别 K개 타깃 邻居 选定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迭代: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a. 현재 M以/用 距离 计算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b. 其他的 类别 入侵者(imposter) 식별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c. 그래디언트 计算 及 M 업데이트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d. M의 正的 반정치성 保证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(负的 唯一值을 0以/用 投影)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收敛 시 M 返回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93776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5029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LMNN의 성和 (MNIST)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3949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1-NN 错误率: 2.97% -&gt; 1.20% (약 60% 减少)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SVM의 대규모 마진 原理를 KNN에 성공적以/用 도입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적절한 距离函数 选择이 算法 更改比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更 大的 性能 提升을 가져올 수 있음을 입증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第6节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缩放的重要性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基于距离算法的特征缩放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缩放이 需要한 이유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葡萄酒 数据 예시:</a:t>
            </a:r>
            <a:br/>
            <a:r>
              <a:t>proline: 范围 278 ~ 1680 (非常 큼)</a:t>
            </a:r>
            <a:br/>
            <a:r>
              <a:t>hue:     范围 0.48 ~ 1.71 (非常 작음)</a:t>
            </a:r>
            <a:br/>
            <a:br/>
            <a:r>
              <a:t>缩放 없이 欧几里得距离를 计算하면</a:t>
            </a:r>
            <a:br/>
            <a:r>
              <a:t>proline이 距离를 지배, hue는 사실상 무시됨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StandardScaler（标准化）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 = (x - 均值) / std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均值/平均 0, 标准差 1로 转换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正态分布 数据에 适合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异常值에 민감 (低的 강건성)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56616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MinMaxScaler（最小-最大）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0233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x_scaled = (x - min) / (max - min)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0~1 范围로 转换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范围 제한이 需要할 때 适合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异常值에 민감 (低的 강건성)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566160"/>
            <a:ext cx="3749039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RobustScaler（稳健）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023360"/>
            <a:ext cx="33832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x_scaled = (x - 中位数) / IQR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IQR = Q3 - Q1 (四分位 范围)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异常值(Outlier)가 많은 数据에 有效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高的 강건성 (中位数, IQR 기반)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9202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防止数据泄露（非常重要！）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774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[올바른 方法]</a:t>
            </a:r>
            <a:br/>
            <a:r>
              <a:t>训练数据: fit_transform() -&gt; 통계량 学习 + 转换</a:t>
            </a:r>
            <a:br/>
            <a:r>
              <a:t>测试数据: transform() -&gt; 学习 통계량以/用 转换만</a:t>
            </a:r>
            <a:br/>
            <a:br/>
            <a:r>
              <a:t>[잘못된 方法] - Data Leakage!</a:t>
            </a:r>
            <a:br/>
            <a:r>
              <a:t>测试数据에도 fit_transform() 使用 -&gt; 和대평가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94360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올바른 파이프라인:  训练数据 --fit_transform()--&gt; 缩放된 训练数据  |  (통계량 存储)  |  测试数据 --transform()--&gt; 缩放된 测试数据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第6节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预处理：缺失值处理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缺失值处理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缺失值 检查 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data.isna()          # 각 셀 True/False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data.isna().sum()     # 각 列의 缺失值 数量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data.isna().mean()    # 각 列의 缺失值 比例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(1) 行 删除: dropna()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缺失值 包含 行 删除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data.dropna()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优点: 简单하고 빠르다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缺点: 数据 손실 발생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缺失值 比例 5% 미만일 때 使用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56616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(2) 列 删除: drop()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023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缺失值가 너무 많은 列 删除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data.drop(['col'], axis=1)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缺失值 比例 40~50% 이상일 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相应 特征 자체가 불需要 판단 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566160"/>
            <a:ext cx="3749039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(3) 값 대체: fillna()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023360"/>
            <a:ext cx="3383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缺失值를 特定 값以/用 대체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均值/平均(Mean): 正态分布 数据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中位数(Median): 异常值에 강건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众数(Mode): 分类变量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data.fillna(data.median())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9202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KNN中/从 缺失值 处理가 必需인 이유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317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KNN은 基于距离 算法이므로</a:t>
            </a:r>
            <a:br/>
            <a:r>
              <a:t>缺失值(NaN)가 있으면 距离 计算 자체가 不可能</a:t>
            </a:r>
            <a:br/>
            <a:r>
              <a:t>-&gt; 必须 전处理 阶段中/从 处理必须</a:t>
            </a:r>
            <a:br/>
            <a:br/>
            <a:r>
              <a:t>葡萄酒 实验: data.fillna(data.median(), inplace=True)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8640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대체 方法 比较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521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均值/平均(Mean): 异常值에 민감, 正态分布에 适合  |  中位数(Median): 异常值에 강건, 异常值 존재 시 推荐  |  众数(Mode): 범주형 数据  |  特定 값(-99, 0): 결측 자체에 含义가 있을 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第7节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高效搜索算法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KD-Tree、Ball-Tree、ANN方法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KD-Tree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축 정렬 초평면以/用 재귀 분할하는 이진 트리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노드中/从 中位数 标准 이분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가지치기(pruning)로 搜索 范围 축소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구축: O(N log 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搜索: 均值/平均 O(log N), 최악 O(N)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한계: d &gt; 20中/从 效率 저하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92024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Ball-Tree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774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초구(hypersphere)로 空间 분할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KD-Tree의 고차圆 한계 극복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最 먼 두 점 标准 분할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삼각 부등식 应用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KD-Tree比 고차圆中/从 效率적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임의의 距离度量 使用 可能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92024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Brute Force (전수 搜索)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23774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모든 数据和의 距离 计算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시간 复杂도: O(Nd)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准确率 100% 保证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소규모 数据에 适合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sklearn中/从 algorithm='brute'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차圆이 높으면 오히려 效率적일 수 있음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6CFF"/>
                </a:solidFill>
                <a:latin typeface="맑은 고딕"/>
              </a:defRPr>
            </a:pPr>
            <a:r>
              <a:t>ANN (Approximate Nearest Neighbor) 方法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00600"/>
            <a:ext cx="182880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338328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LSH (Locality-Sensitive Hashing)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해시 函数로 最近的 점들을 相同 버킷에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시간: O(1) ~ O(N^rho), rho &lt; 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余弦/欧几里得距离 LSH 패밀리 존재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4937760"/>
            <a:ext cx="347472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5029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FAISS (Facebook AI)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3949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수십억 向量中/从 밀리초 검색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GPU 가속 지圆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IVF, PQ 등 다양한 索引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4937760"/>
            <a:ext cx="365760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59" y="5029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Annoy (Spotify)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9" y="53949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랜덤 投影 트리 使用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内存 매핑(mmap) 지圆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한 번 구축 후 빠른 검색 最优화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第7节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KNN变体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加权KNN、KNN回归、特征加权KNN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(1) 加权KNN (Weighted KNN)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距离에 반비례하는 权重 부여: w_i = 1/d(x, x_i)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最近的 邻居의 영향력을 키운다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K값 选择에 较少 민감해진다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Guo et al.(2003): 均值/平均 1~3% 准确率 提升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sklearn: KNeighborsClassifier(weights='distance')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(2) KNN回归 (KNN Regression)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연속값 预测에 KNN 应用 - Altman(1992)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균일 加权: f_hat(x) = (1/K) * SUM y_i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距离 加权: f_hat(x) = SUM(w_i*y_i) / SUM(w_i)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적응적 대역폭(adaptive bandwidth) 特征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sklearn: KNeighborsRegressor(weights='distance')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(3) 特征加权KNN (Feature-Weighted)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Guo et al.(2003) 提出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特征의 分类 관련성根据 权重 차별 부여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d_w(x,y) = sqrt( SUM w_k*(x_k - y_k)^2 )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w_k: k번째 特征 权重 (信息 이득 등以/用 결정)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均值/平均 2~4% 准确率 提升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297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(4) 编辑KNN (Edited KNN)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548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训练数据中/从 노이즈 实例 사전 删除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자신의 K개 邻居 중 다수和 类别가 其他的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实例를 노이즈로 判定하고 删除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预测 품질 提升 + 存储 空间 절약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均值/平均 1~3% 准确率 提升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第7节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KNN的优缺点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优点与缺点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优点 (Advantages)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3716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简单하고 直觉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算法 原理가 简单하여 이해和 实现이 쉽다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学习 过程 불需要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별도의 模型 训练이 需要 없다 (数据 存储만)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다중 类别 分类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자연스럽게 여러 类别로의 分类가 可能하다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0060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非线性 결정 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复杂한 결정 边界를 표현可以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7784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分类/回归 全部 可能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97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相同 原理로 두 问题 全部 应用 可能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缺点 (Disadvantages)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286000"/>
            <a:ext cx="13716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60" y="246888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514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느린 预测 速度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788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预测 시 모든 数据和의 距离 计算 需要 O(Nd)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24612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291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高的 内存 요구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566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全部 训练数据를 内存에 보관必须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02336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069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维度灾难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343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特征이 많아지면 距离集中以/用 性能 저하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80060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846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尺度에 민감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120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特征 간 尺度 차이가 结果를 왜곡한다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557784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5623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불均衡 数据에 취약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897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다수 类别에 偏差된 预测 可能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第7节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KNeighborsClassifier 主要超参数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sklearn API参考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参数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0574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默认值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2011680"/>
            <a:ext cx="66751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05740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说明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25603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08960" y="2560320"/>
            <a:ext cx="1828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60" y="2560320"/>
            <a:ext cx="66751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70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n_neighbors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670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67004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邻居의 수 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00400"/>
            <a:ext cx="256032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08960" y="3200400"/>
            <a:ext cx="182880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60" y="3200400"/>
            <a:ext cx="667512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101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weights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3101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onsolas"/>
              </a:defRPr>
            </a:pPr>
            <a:r>
              <a:t>'uniform'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31012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'uniform': 동일 权重 / 'distance': 距离에 반비례 权重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40480"/>
            <a:ext cx="25603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08960" y="3840480"/>
            <a:ext cx="1828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37760" y="3840480"/>
            <a:ext cx="66751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9502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度量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9502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onsolas"/>
              </a:defRPr>
            </a:pPr>
            <a:r>
              <a:t>'minkowski'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95020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距离度量 方法 (euclidean, manhattan, cosine 등)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80560"/>
            <a:ext cx="256032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08960" y="4480560"/>
            <a:ext cx="182880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37760" y="4480560"/>
            <a:ext cx="667512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5902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5902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59028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민코프스키 距离의 p값 (1: 曼哈顿, 2: 欧几里得)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120640"/>
            <a:ext cx="25603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08960" y="5120640"/>
            <a:ext cx="1828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37760" y="5120640"/>
            <a:ext cx="66751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2303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算法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52303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onsolas"/>
              </a:defRPr>
            </a:pPr>
            <a:r>
              <a:t>'auto'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523036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邻居 搜索 算法 (auto, ball_tree, kd_tree, brute)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76072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코드 예시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6080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onsolas"/>
              </a:defRPr>
            </a:pPr>
            <a:r>
              <a:t>knn = KNeighborsClassifier(n_neighbors=5, weights='distance', 度量='minkowski', p=2, 算法='auto')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第8节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论文综述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Cover &amp; Hart (1967) / Beyer et al. (1999)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Cover &amp; Hart (1967)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"近邻 Pattern 分类"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IEEE Trans. on Information Theory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[核心 贡献]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NN 分类기 错误率 上界 证明: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R* &lt;= R*_NN &lt;= 2R*(1 - R*)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다중 类别 扩展: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R*_NN &lt;= R*(2 - M/(M-1) * R*)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K-NN 泛化: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K-&gt;inf, K/N-&gt;0이면 베이즈 最优 收敛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임의의 메트릭 空间中/从도 成立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[한계] 무한 数据 假设, 维度灾难 미논의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Beyer et al. (1999)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"When Is 近邻 Meaningful?"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ICDT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[核心 贡献]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距离集中 현상 数学 阐明: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lim (D_max-D_min)/D_min -&gt; 0 (d-&gt;inf)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i.i.d. 特征 假设 하中/从: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(D_max-D_min)/D_min = O(1/sqrt(d))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Lp 范数 分析: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L1이 L2比 고차圆中/从 양호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p가 클수록 距离集中이 심해짐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[의의] KNN의 根本 한계를 理论以/用 阐明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第8节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论文综述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Weinberger &amp; Saul (2009) / Altman (1992) / Guo et al. (2003)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Weinberger &amp; Saul (2009)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"距离度量 Learning for LMNN"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JMLR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马氏距离 学习 (LMNN)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SVM의 대규모 마진 -&gt; KNN 도입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Pull (相同 类别 近게)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Push (其他的 类别 远)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MNIST 오류 2.97% -&gt; 1.20%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Altman (1992)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"Kernel and NN Nonparametric 回归"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The American Statistician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커널 回归和 KNN 回归를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통합적 프레임워크中/从 比较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偏差-方差权衡 分析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KNN의 적응적 대역폭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(밀집=좁은 창, 희소=넓은 창)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2024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Guo et al. (2003)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"KNN Model-Based Approach"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OTM Conferences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KNN 변형의 체계적 比较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交叉验证 K 选择: +2~5%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加权 KNN: +1~3%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特征 加权 KNN: +2~4%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노이즈 删除 KNN: +1~3%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5편 论文의 核心 메시지 통합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94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Cover &amp; Hart (1967): KNN은 理论以/用 강력한 保证을 가진 算法이다 (베이즈 最优의 2배 이내)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Beyer et al. (1999): 고차圆中/从 KNN의 根本 한계를 인지必须 (距离集中 현상)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Weinberger &amp; Saul (2009): 距离函数를 学习하면 KNN 性能이 극적以/用 提升된다 (LMNN)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Altman (1992) &amp; Guo et al. (2003): KNN의 다양한 변형和 튜닝以/用 实用 性能을 높일 수 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第9节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实验1：KNN从零实现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从零实现KNN分类器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实现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欧几里得距离 / 曼哈顿距离 기반 KNN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균일 权重 / 距离 权重 KNN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交叉验证 기반 最优 K 选择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 KNeighborsClassifier和 性能 比较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数据: sklearn load_wine() (3 类别, 13 特征)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核心 实现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fit(): 训练数据 存储만 수行 (惰性学习)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_predict_single(): 全部 距离 计算 -&gt; K개 选择 -&gt; 투표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Counter를 应用한 다수결 투표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距离 权重: w = 1/d (距离 0일 때 处理 需要)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sklearn和 相同的 结果 检查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1106424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核心 코드 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class KNNClassifier:</a:t>
            </a:r>
            <a:br/>
            <a:r>
              <a:t>    def fit(self, X, y):</a:t>
            </a:r>
            <a:br/>
            <a:r>
              <a:t>self.X_train = X  # 存储만!</a:t>
            </a:r>
            <a:br/>
            <a:r>
              <a:t>self.y_train = y</a:t>
            </a:r>
            <a:br/>
            <a:br/>
            <a:r>
              <a:t>    def _predict_single(self, x):</a:t>
            </a:r>
            <a:br/>
            <a:r>
              <a:t>distances = [d(x, x_i) for x_i in self.X_train]</a:t>
            </a:r>
            <a:br/>
            <a:r>
              <a:t>k_idx = argsort(distances)[:self.k]</a:t>
            </a:r>
            <a:br/>
            <a:r>
              <a:t>k_labels = self.y_train[k_idx]</a:t>
            </a:r>
            <a:br/>
            <a:r>
              <a:t>        return Counter(k_labels).most_common(1)[0][0]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6177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# 距离函数</a:t>
            </a:r>
            <a:br/>
            <a:r>
              <a:t>def euclidean_distance(x1, x2):</a:t>
            </a:r>
            <a:br/>
            <a:r>
              <a:t>    return sqrt(sum((x1 - x2)**2))</a:t>
            </a:r>
            <a:br/>
            <a:br/>
            <a:r>
              <a:t>def manhattan_distance(x1, x2):</a:t>
            </a:r>
            <a:br/>
            <a:r>
              <a:t>    return sum(abs(x1 - x2))</a:t>
            </a:r>
            <a:br/>
            <a:br/>
            <a:r>
              <a:t># 最优 K 搜索</a:t>
            </a:r>
            <a:br/>
            <a:r>
              <a:t>for k in range(1, 21):</a:t>
            </a:r>
            <a:br/>
            <a:r>
              <a:t>knn = KNNClassifier(k=k)</a:t>
            </a:r>
            <a:br/>
            <a:r>
              <a:t>    knn.fit(X_train, y_train)</a:t>
            </a:r>
            <a:br/>
            <a:r>
              <a:t>    scores.append(knn.score(X_test, y_test))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第9节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实验2 &amp;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维度灾难 实验 / 距离度量 学习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实验 2: 维度灾难 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Beyer et al. (1999) 核心 结果를 实验적以/用 再现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[实验 1] D_max/D_min 比例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차圆 2 -&gt; 1000中/从 比例이 1로 收敛 检查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[实验 2] L1 vs L2 比较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L1이 L2比 距离集中이 较少 심함 检查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[实验 3] 상대적 距离 대비 (RDC)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(D_max - D_min)/D_min -&gt; 0 收敛 检查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[实验 4] KNN 性能 저하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유효 5차圆 고정, 노이즈 차圆 添加 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KNN 准确率 급격히 하락 시연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实验 3: 距离度量 学习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Weinberger &amp; Saul (2009) 아이디어 기반 实现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[方法 1] 欧几里得 KNN (默认)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 = I (단위 行렬)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[方法 2] 协方差 기반 马氏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 = S_W^(-1) (类别 내 산포 역行렬)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[方法 3] LDA 기반 메트릭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Fisher 标准 J(W) = W^T S_B W / W^T S_W W 最大화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[方法 4] 简单화된 LMNN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Pull: 相同 类别 近게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Push: 其他的 类别 远 (힌지 손실)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그래디언트 하강법以/用 M 学习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第10节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应用1：推荐系统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基于KNN的推荐系统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基于用户的协同过滤 (User-Based CF)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타깃 使用자和 其他的 使用자 간의 距离(유사도) 计算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最 类似 K명의 使用자를 찾음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K명이 높게 평가한 아이템 중 미列람 아이템 推荐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NearestNeighbors + kneighbors() 应用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基于物品的协同过滤 (Item-Based CF)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아이템 간 特征 向量로 距离(유사도) 计算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타깃 아이템和 最 类似 K개 아이템을 찾음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유사 아이템을 使用자给 推荐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更 안정적并且 扩展 可能한 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实际应用案例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26280"/>
            <a:ext cx="13716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70916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773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Netflix / YouTube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7731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시청 이력이 类似 使用자 그룹의 콘텐츠 推荐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924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Amazon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41324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"이 商品을 购买한 客户이 함께 购买한 商品" (아이템 기반)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053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Spotify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605332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청취 이력이 类似 使用자의 플레이列表 기반 음악 推荐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第10节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应用2：异常检测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基于KNN的异常检测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核心 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정상 数据 -&gt; 邻居이 밀집 -&gt; 均值/平均 距离가 작다</a:t>
            </a:r>
            <a:br/>
            <a:r>
              <a:t>이상 数据 -&gt; 邻居이 희소 -&gt; 均值/平均 距离가 크다</a:t>
            </a:r>
            <a:br/>
            <a:br/>
            <a:r>
              <a:t>异常分数: score(x) = (1/K) * SUM d(x, x_i)</a:t>
            </a:r>
            <a:br/>
            <a:r>
              <a:t>异常分数 &gt; 阈值 -&gt; 异常值로 判定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算法 절차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각 数据关于 K개 近邻 搜索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K개 邻居到的 均值/平均 距离 = 异常分数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阈值(Threshold) 超过 시 异常值 判定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상위 5% (95th percentile)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实际应用案例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3716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52628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金融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572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信用卡欺诈交易检测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2920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制造业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074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생산 공定义 불량 감지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3212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577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网络安全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577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入侵检测系统 (IDS)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03504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080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医疗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6080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비정상적인 건강 지표 감지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02336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114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코드 예시 &amp; 核心 포인트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348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knn = NearestNeighbors(n_neighbors=5)</a:t>
            </a:r>
            <a:br/>
            <a:r>
              <a:t>knn.fit(X_scaled)</a:t>
            </a:r>
            <a:br/>
            <a:r>
              <a:t>distances, indices = knn.kneighbors(X_scaled)</a:t>
            </a:r>
            <a:br/>
            <a:r>
              <a:t>anomaly_scores = distances.均值(axis=1)</a:t>
            </a:r>
            <a:br/>
            <a:r>
              <a:t>阈值 = np.percentile(anomaly_scores, 95)</a:t>
            </a:r>
            <a:br/>
            <a:r>
              <a:t>outliers = anomaly_scores &gt; 阈值</a:t>
            </a:r>
            <a:br/>
            <a:br/>
            <a:r>
              <a:t># K가 너무 작으면 노이즈에 민감</a:t>
            </a:r>
            <a:br/>
            <a:r>
              <a:t># K가 너무 크면 탐지 민감도 저하</a:t>
            </a:r>
            <a:br/>
            <a:r>
              <a:t># sklearn: LocalOutlierFactor (LOF) 도 提供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第9节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实验：葡萄酒数据多分类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KNN葡萄酒数据集多分类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84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数据 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load_wine() - 3 类别, 13 特征, 178 샘플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2057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84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전处理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14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缺失值 处理 (fillna) + 缩放 (MinMaxScaler)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920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6760" y="2057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084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数据 분할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514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train_test_split (80:20, random_state=100)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6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343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70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建模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KNeighborsClassifier(n_neighbors=k)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206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26280" y="4343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370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맑은 고딕"/>
              </a:defRPr>
            </a:pPr>
            <a:r>
              <a:t>K값 튜닝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K=1~20 准确率 图表 -&gt; 最优 K 选择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206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66760" y="4343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370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맑은 고딕"/>
              </a:defRPr>
            </a:pPr>
            <a:r>
              <a:t>평가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accuracy_score, confusion_matrix, classification_report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核心总结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第6章总结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K개 近邻의 다수결/均值/平均以/用 预测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学习 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40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惰性学习 (Lazy Learning) - 学习 阶段 없음, 数据 存储만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70048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超参数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00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K (邻居 수), 距离度量 方法, 权重 方法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70048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715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距离 측도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9900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欧几里得, 曼哈顿, 민코프스키, 余弦, 马氏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19856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65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必需 전处理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398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缺失值 处理 + 缩放 (基于距离이므로 必须 需要)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19856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465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6CFF"/>
                </a:solidFill>
                <a:latin typeface="맑은 고딕"/>
              </a:defRPr>
            </a:pPr>
            <a:r>
              <a:t>数据泄露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7398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学习: fit_transform() / 테스트: transform()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69664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2153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K값 选择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4897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小的 K = 过拟合 (高的 方差) / 大的 K = 欠拟合 (高的 偏差)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169664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2153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维度灾难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4897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고차圆中/从 距离集中以/用 NN의 含义 퇴색 (Beyer et al. 1999)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19472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965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6CFF"/>
                </a:solidFill>
                <a:latin typeface="맑은 고딕"/>
              </a:defRPr>
            </a:pPr>
            <a:r>
              <a:t>메트릭 学习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239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LMNN以/用 分类 最优화 马氏距离 学习 (Weinberger &amp; Saul 2009)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919472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965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效率적 搜索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239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KD-Tree, Ball-Tree (정확) / LSH, FAISS, Annoy (근사)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66928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주요 변형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加权 KNN, KNN 回归, 特征 加权 KNN, 편집된 KNN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66928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주요 응용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推荐系统, 已经지 分类, 异常检测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核心公式汇总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核心公式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476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KNN 分类 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y_hat = argmax_c SUM 1(y_i = c)  for i in N_K(x)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476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欧几里得距离 (L2)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94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d(x,y) = sqrt( SUM (xi - yi)^2 )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78608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06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曼哈顿距离 (L1)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529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d(x,y) = SUM |xi - yi|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78608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606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맑은 고딕"/>
              </a:defRPr>
            </a:pPr>
            <a:r>
              <a:t>민코프스키 距离 (Lp)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529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d(x,y) = ( SUM |xi - yi|^p )^(1/p)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36976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644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6CFF"/>
                </a:solidFill>
                <a:latin typeface="맑은 고딕"/>
              </a:defRPr>
            </a:pPr>
            <a:r>
              <a:t>余弦相似度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5112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cos(x,y) = (x . y) / (||x|| ||y||)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36976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2644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45"/>
                </a:solidFill>
                <a:latin typeface="맑은 고딕"/>
              </a:defRPr>
            </a:pPr>
            <a:r>
              <a:t>马氏距离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5112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d_M(x,y) = sqrt( (x-y)^T M (x-y) 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95344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2277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StandardScaler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16966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z = (x - 均值) / std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895344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92277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MinMaxScaler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16966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x_scaled = (x - min) / (max - min)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553712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5811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RobustScaler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8280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x_scaled = (x - 中位数) / IQR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553712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5811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맑은 고딕"/>
              </a:defRPr>
            </a:pPr>
            <a:r>
              <a:t>Cover &amp; Hart 上界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8280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R* &lt;= R*_NN &lt;= 2R*(1 - R*)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212080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2395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45"/>
                </a:solidFill>
                <a:latin typeface="맑은 고딕"/>
              </a:defRPr>
            </a:pPr>
            <a:r>
              <a:t>距离集中 (Beyer)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486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lim (d-&gt;inf) (D_max - D_min)/D_min -&gt; 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212080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52395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6CFF"/>
                </a:solidFill>
                <a:latin typeface="맑은 고딕"/>
              </a:defRPr>
            </a:pPr>
            <a:r>
              <a:t>MSE 分解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486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MSE = 偏差^2 + 方差 + sigma^2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870448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897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异常分数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1447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score(x) = (1/K) * SUM d(x, x_i)  for i in N_K(x)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870448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5897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加权 KNN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61447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y_hat = argmax_c SUM w_i*1(y_i=c),  w_i = 1/d(x,x_i)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核心 论文 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核心论文总结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Cover &amp; Hart (1967)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"近邻 Pattern 分类" - IEEE Trans.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402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1-NN 错误率 &lt;= 2R*(1-R*) 证明  |  KNN 理论 기반 确立  |  다중 类别 扩展, 메트릭 空间 일반성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Altman (1992)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"Kernel and NN Nonparametric 回归" - The American Statistician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004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커널 回归和 KNN 回归 통합적 比较  |  偏差-方差权衡 分析  |  KNN의 적응적 대역폭 特征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Beyer et al. (1999)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886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"When Is 近邻 Meaningful?" - ICDT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1605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고차圆 距离集中 현상의 数学 阐明  |  (D_max-D_min)/D_min = O(1/sqrt(d))  |  L1이 L2比 고차圆中/从 양호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6CFF"/>
                </a:solidFill>
                <a:latin typeface="맑은 고딕"/>
              </a:defRPr>
            </a:pPr>
            <a:r>
              <a:t>Weinberger &amp; Saul (2009)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"距离度量 Learning for LMNN" - JMLR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马氏距离 学习 (LMNN)  |  SVM의 대규모 마진을 KNN에 도입  |  MNIST 오류 2.97% -&gt; 1.20%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6072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Guo et al. (2003)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806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"KNN Model-Based Approach" - OTM Conferences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6080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KNN 변형의 체계적 比较 分析  |  加权/特征加权/노이즈删除 KNN  |  交叉验证 K选择 +2~5% 提升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习题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复习题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KNN이 '惰性学习(Lazy Learning)'이라 불리는 이유를 说明하고, 이로 인한 장缺点을 서술하시오.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欧几里得距离和 曼哈顿距离의 公式을 쓰고, 分别 어떤 情况中/从 更 适合한지 说明하시오. 고차圆中的 차이를 Beyer et al.(1999)의 结果를 근거로 논하시오.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8620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K값이 偏差-方差权衡에 미치는 영향을 说明하시오. K=1일 때和 K=N일 때의 결정 边界는 分别 어떤 特征을 보이는가?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463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4632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维度灾难中/从 距离集中 현상이란 무엇인가? lim (D_max-D_min)/D_min -&gt; 0이 KNN에 미치는 영향을 说明하시오.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76072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맑은 고딕"/>
              </a:defRPr>
            </a:pPr>
            <a:r>
              <a:t>Q5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0644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KNN中/从 特征 缩放이 必须 需要한 이유를 구체적 예시를 들어 说明하시오. 测试数据에 fit_transform()을 쓰면 안 되는 이유(Data Leakage)를 说明하시오.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习题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复习题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맑은 고딕"/>
              </a:defRPr>
            </a:pPr>
            <a:r>
              <a:t>Q6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马氏距离中/从 M=I일 때和 M=inv(Sigma)일 때의 차이를 说明하시오.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Q7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LMNN의 '당기는 힘(Pull)'和 '밀치는 힘(Push)'이 分别 무엇을 含义하는지 说明하고, SVM의 어떤 原理和 类似지 논하시오.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Q8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8620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Cover和 Hart(1967)의 R* &lt;= R*_NN &lt;= 2R*(1-R*)의 含义를 说明하시오. 베이즈 最优 错误率이 10%일 때, 1-NN의 错误率 上界은?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463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Q9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4632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KD-Tree和 Ball-Tree의 동작 原理를 比较하고, 分别의 장缺点和 차圆에 따른 适合성을 说明하시오. 대규모 数据中/从 ANN이 需要한 이유를 논하시오.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76072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Q10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0644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KNN을 异常检测에 应用하는 原理를 说明하시오. 异常分数는 어떻게 定义되며, K값 选择이 탐지 性能에 어떤 영향을 미치는가?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맑은 고딕"/>
              </a:defRPr>
            </a:pPr>
            <a:r>
              <a:t>谢谢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926080"/>
            <a:ext cx="3047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3474720"/>
            <a:ext cx="5790895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3566160"/>
            <a:ext cx="5790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下一章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931920"/>
            <a:ext cx="5790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下一章：第7章 - 朴素贝叶斯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第6章所学内容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FF"/>
                </a:solidFill>
                <a:latin typeface="맑은 고딕"/>
              </a:defRPr>
            </a:pPr>
            <a:r>
              <a:t>惰性学习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距离度量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0168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96"/>
                </a:solidFill>
                <a:latin typeface="맑은 고딕"/>
              </a:defRPr>
            </a:pPr>
            <a:r>
              <a:t>偏差-方差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0056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6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4545"/>
                </a:solidFill>
                <a:latin typeface="맑은 고딕"/>
              </a:defRPr>
            </a:pPr>
            <a:r>
              <a:t>维度灾难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9944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6CFF"/>
                </a:solidFill>
                <a:latin typeface="맑은 고딕"/>
              </a:defRPr>
            </a:pPr>
            <a:r>
              <a:t>LMNN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99832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맑은 고딕"/>
              </a:defRPr>
            </a:pPr>
            <a:r>
              <a:t>Scaling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FF"/>
                </a:solidFill>
                <a:latin typeface="맑은 고딕"/>
              </a:defRPr>
            </a:pPr>
            <a:r>
              <a:t>KD-Tree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79608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9608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异常检测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机器学习 | 2026年第1学期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