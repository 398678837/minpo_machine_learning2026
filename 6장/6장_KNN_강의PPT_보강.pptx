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FF"/>
                </a:solidFill>
                <a:latin typeface="맑은 고딕"/>
              </a:defRPr>
            </a:pPr>
            <a:r>
              <a:t>CHAPTER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K-최근접 이웃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2FF"/>
                </a:solidFill>
                <a:latin typeface="맑은 고딕"/>
              </a:defRPr>
            </a:pPr>
            <a:r>
              <a:t>K-Nearest Neighbors (KNN)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49039"/>
            <a:ext cx="30476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420624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4251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Lazy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93592" y="420624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4251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Distance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420624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4251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Curse of Dimensionality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9992" y="420624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9992" y="4251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Metric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기계학습 | 2026년 1학기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Chapter 6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KNN의 직관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40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게으른 학습, 다수결 원리, 이론적 보장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659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920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거리 측도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240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유클리드, 맨해튼, 민코프스키, 코사인, 마할라노비스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6324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17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K값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337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편향-분산 트레이드오프, 교차 검증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06324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017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차원의 저주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337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거리 집중 현상, Beyer et al. (1999)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6052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062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거리 메트릭 학습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434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LMNN, Weinberger &amp; Saul (2009)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16052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2062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스케일링 &amp; 전처리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434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StandardScaler, MinMaxScaler, Data Leakage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25780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303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12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효율적 탐색 &amp; 변형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532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KD-Tree, Ball-Tree, ANN, 가중 KNN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525780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303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212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응용 사례 &amp; 실습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5532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추천 시스템, 이상치 탐지, 스크래치 구현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KNN의 직관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"비슷한 것은 가까이" 가정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핵심 아이디어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"새로운 데이터 포인트의 정체를 알고 싶다면, 그 주변에 있는 이웃들을 살펴보라."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KNN 알고리즘 동작 과정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11880"/>
            <a:ext cx="13716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1) 기존 모든 학습 데이터와의 거리를 계산한다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2) 거리가 가장 가까운 K개의 이웃을 선택한다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3) [분류] K개 이웃의 클래스 중 다수결로 결정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   [회귀] K개 이웃의 타깃값 평균을 예측값으로 사용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291840"/>
            <a:ext cx="566928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383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분류 예측 수식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749039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y_hat = argmax_c  SUM [ 1(y_i = c) ]  for i in N_K(x)</a:t>
            </a:r>
            <a:br/>
            <a:br/>
            <a:r>
              <a:t>N_K(x): 쿼리 포인트 x의 K개 최근접 이웃 인덱스 집합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4937760"/>
            <a:ext cx="566928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일상의 비유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3949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집값 추정 -&gt; 주변 집들의 시세를 참고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영화 추천 -&gt; 취향 비슷한 친구들의 의견 참고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의료 진단 -&gt; 유사한 환자 사례를 참고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게으른 학습 vs 적극적 학습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Lazy Learning vs. Eager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구분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92024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게으른 학습 (Lazy)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92024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적극적 학습 (Eager)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46888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46888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60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학습 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560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없음 (데이터 저장만)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60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모델 파라미터를 학습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1752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301752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301752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08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예측 시점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108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모든 계산이 예측 시 발생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108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학습된 모델로 빠르게 예측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6616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56616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56616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657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대표 알고리즘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657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657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로지스틱 회귀, SVM, 신경망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11480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411480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411480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206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학습 속도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206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 - 저장만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206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느림 (파라미터 최적화)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66344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80" y="466344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20" y="466344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예측 속도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O(Nd) - 전체 거리 계산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빠름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21208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97680" y="521208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0" y="521208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303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메모리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5303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전체 학습 데이터 보관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5303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모델 파라미터만 보관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57784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Cover &amp; Hart (1967) 이론적 보장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R* &lt;= R*_NN &lt;= 2R*(1 - R*)  |  1-NN의 오류율은 베이즈 최적 오류율의 2배를 넘지 않는다 (무한 데이터 가정)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거리 측도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유클리드 거리 &amp; 맨해튼 거리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유클리드 거리 (Euclidean Distance, L2)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d(x, y) = sqrt( SUM (xi - yi)^2 )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두 점 사이의 직선 거리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 KNN의 기본(default) 거리 척도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민코프스키 거리에서 p=2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예시: A(1,2)와 B(4,6)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 = sqrt((4-1)^2 + (6-2)^2)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= sqrt(9 + 16) = sqrt(25) = 5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연속형 수치 특성에 적합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모든 특성의 스케일이 동일할 때 효과적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맨해튼 거리 (Manhattan Distance, L1)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d(x, y) = SUM |xi - yi|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축 방향 절대 거리의 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격자(Grid) 형태의 경로 거리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민코프스키 거리에서 p=1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예시: A(1,2)와 B(4,6)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 = |4-1| + |6-2|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= 3 + 4 = 7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뉴욕 맨해튼의 격자형 도로에서 유래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고차원에서 L2보다 거리 집중이 덜 심함 (Beyer et al.)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거리 측도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민코프스키, 코사인 유사도, 마할라노비스 거리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민코프스키 거리 (Lp)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d(x,y) = ( SUM |xi-yi|^p )^(1/p)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p=1 : 맨해튼 거리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p=2 : 유클리드 거리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p-&gt;inf : 체비셰프 거리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202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코사인 유사도 (Cosine)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cos(x,y) = (x . y) / (||x|| ||y||)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벡터의 방향만 고려 (크기 무시)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텍스트 분류, 추천 시스템에 적합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TF-IDF 벡터 비교에 특히 효과적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202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마할라노비스 거리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d_M(x,y) = sqrt((x-y)^T M (x-y))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M=I : 유클리드 거리와 동일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데이터의 공분산 구조 반영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LMNN에서 M을 학습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거리 측도 선택 가이드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0916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3200400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560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거리 측도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4937760"/>
            <a:ext cx="4114800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495604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적합한 상황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4937760"/>
            <a:ext cx="374903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49560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주의 사항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49240"/>
            <a:ext cx="3200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39" y="5349240"/>
            <a:ext cx="4114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5349240"/>
            <a:ext cx="3749039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3766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유클리드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37667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연속형, 동일 스케일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37667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스케일링 필수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696712"/>
            <a:ext cx="3200400" cy="3200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49039" y="5696712"/>
            <a:ext cx="4114800" cy="3200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63840" y="5696712"/>
            <a:ext cx="3749039" cy="3200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72414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맨해튼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572414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고차원, 희소 데이터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57241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L2보다 거리 집중 완화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044184"/>
            <a:ext cx="3200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49039" y="6044184"/>
            <a:ext cx="4114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63840" y="6044184"/>
            <a:ext cx="3749039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07161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코사인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607161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텍스트, 방향 중요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607161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크기 정보 손실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6391656"/>
            <a:ext cx="3200400" cy="3200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749039" y="6391656"/>
            <a:ext cx="4114800" cy="3200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63840" y="6391656"/>
            <a:ext cx="3749039" cy="3200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4190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마할라노비스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1920" y="641908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상관 특성 존재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641908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공분산 추정 필요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K값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편향-분산 트레이드오프 (Bias-Variance Tradeoff)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38328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K가 작을 때 (K=1~3)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과적합 (Overfitting)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분산(Variance)이 높다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노이즈에 매우 민감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결정 경계가 복잡/불규칙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학습 데이터에만 잘 맞음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일반화 성능 낮음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38328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K가 적당할 때 (K=5~15)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균형 (Balanced)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적절한 일반화 성능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안정적 성능 달성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편향과 분산의 균형점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교차 검증으로 탐색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가장 이상적인 상태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920240"/>
            <a:ext cx="338328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K가 클 때 (K=50+)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774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과소적합 (Underfitting)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편향(Bias)이 높다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지역 패턴(Local Pattern) 무시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결정 경계가 지나치게 단순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K=N이면 항상 다수 클래스 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분류 성능 저하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72000"/>
            <a:ext cx="576072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기대 예측 오차 분해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377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MSE(f_hat(x)) = Bias^2[f_hat(x)] + Var[f_hat(x)] + sigma^2</a:t>
            </a:r>
            <a:br/>
            <a:r>
              <a:t>K 증가 -&gt; 편향 증가, 분산 감소  /  K 감소 -&gt; 편향 감소, 분산 증가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57200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6634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K값 선택 실용적 가이드라인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502920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홀수(Odd) 사용 -&gt; 동률(tie) 방지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sqrt(N) 규칙: K = sqrt(N)을 시작점으로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교차 검증(Cross-Validation)으로 최적값 탐색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K=1~20 범위에서 정확도 그래프 그려보기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차원의 저주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Curse of Dimensionality - Beyer et al. (1999)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거리 집중 현상 (Distance Concentration)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82880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lim (d-&gt;inf) (D_max - D_min) / D_min -&gt; 0</a:t>
            </a:r>
            <a:br/>
            <a:br/>
            <a:r>
              <a:t>고차원에서 모든 데이터 포인트가 쿼리 포인트로부터</a:t>
            </a:r>
            <a:br/>
            <a:r>
              <a:t>"거의 같은 거리"에 위치하게 됨</a:t>
            </a:r>
            <a:br/>
            <a:r>
              <a:t>-&gt; '가장 가까운 이웃'의 의미가 퇴색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수학적 직관 (CLT 기반)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3484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특성 X1,...,Xd가 i.i.d., 분산 sigma^2인 경우: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D^2 = SUM Xi^2 ~ d*mu + sqrt(d)*sigma*Z  (CLT)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 ~ sqrt(d*mu), 변동 폭 ~ O(sqrt(d))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(D_max - D_min) / D_min = O(1/sqrt(d)) -&gt; 0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차원이 증가하면 모든 점들의 거리가 같은 값으로 수렴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Lp 노름의 영향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377440"/>
            <a:ext cx="521208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468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Beyer et al. 핵심 결론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346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p가 증가할수록 거리 집중이 더 심해진다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L1 (맨해튼)이 L2 (유클리드)보다 고차원에서 양호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L_inf 가 가장 심한 거리 집중을 보인다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따라서 고차원에서는 L1 노름을 권장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97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실용적 대응 방안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66344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754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해결 전략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1206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차원 축소 (PCA, t-SNE) - 유효 차원을 줄여 거리 의미 회복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특성 선택 (Feature Selection) - 관련 없는 특성 제거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거리 메트릭 학습 (LMNN) - 분류 최적화된 거리 함수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L1 노름 사용 - L2보다 거리 집중 완화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거리 메트릭 학습 (LMNN)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Weinberger &amp; Saul (2009)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핵심 아이디어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유클리드 거리는 모든 특성을 동등하게 취급하지만,</a:t>
            </a:r>
            <a:br/>
            <a:r>
              <a:t>분류에 중요한 특성과 그렇지 않은 특성은 다르다.</a:t>
            </a:r>
            <a:br/>
            <a:r>
              <a:t>LMNN은 분류 성능을 최적화하는 마할라노비스 거리 M을 학습한다.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당기는 힘 (Pull)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같은 클래스의 K개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타깃 이웃(target neighbors)을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가까이 당긴다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(1-mu) * SUM d_M^2(xi, xj)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329184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3383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밀치는 힘 (Push)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7490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다른 클래스의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침입자(imposters)를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멀리 밀어낸다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mu * SUM xi_ijl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94960"/>
            <a:ext cx="530352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486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LMNN 목적 함수 &amp; 제약 조건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064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min_M  (1-mu)*SUM d_M^2(xi,xj) + mu*SUM xi_ijl</a:t>
            </a:r>
            <a:br/>
            <a:r>
              <a:t>s.t.  d_M^2(xi,xl) - d_M^2(xi,xj) &gt;= 1 - xi_ijl,  xi_ijl &gt;= 0</a:t>
            </a:r>
            <a:br/>
            <a:r>
              <a:t>j: 타깃 이웃 (같은 클래스),  l: 침입자 (다른 클래스)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92024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LMNN 알고리즘 구조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774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각 학습 포인트에 같은 클래스 K개 타깃 이웃 선정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반복: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a. 현재 M으로 거리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b. 다른 클래스 침입자(imposter) 식별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c. 그래디언트 계산 및 M 업데이트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d. M의 양의 반정치성 보장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(음의 고유값을 0으로 투영)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수렴 시 M 반환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93776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5029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LMNN의 성과 (MNIST)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3949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1-NN 오류율: 2.97% -&gt; 1.20% (약 60% 감소)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SVM의 대규모 마진 원리를 KNN에 성공적으로 도입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적절한 거리 함수 선택이 알고리즘 변경보다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더 큰 성능 향상을 가져올 수 있음을 입증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스케일링의 중요성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Feature Scaling for Distance-Based Algorithms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스케일링이 필요한 이유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와인 데이터 예시:</a:t>
            </a:r>
            <a:br/>
            <a:r>
              <a:t>  proline: 범위 278 ~ 1680 (매우 큼)</a:t>
            </a:r>
            <a:br/>
            <a:r>
              <a:t>  hue:     범위 0.48 ~ 1.71 (매우 작음)</a:t>
            </a:r>
            <a:br/>
            <a:br/>
            <a:r>
              <a:t>스케일링 없이 유클리드 거리를 계산하면</a:t>
            </a:r>
            <a:br/>
            <a:r>
              <a:t>proline이 거리를 지배, hue는 사실상 무시됨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StandardScaler (표준화)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z = (x - mean) / std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평균 0, 표준편차 1로 변환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정규분포 데이터에 적합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이상치에 민감 (낮은 강건성)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56616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MinMaxScaler (최소-최대)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02336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x_scaled = (x - min) / (max - min)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0~1 범위로 변환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범위 제한이 필요할 때 적합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이상치에 민감 (낮은 강건성)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566160"/>
            <a:ext cx="3749039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65760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RobustScaler (로버스트)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023360"/>
            <a:ext cx="33832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x_scaled = (x - median) / IQR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IQR = Q3 - Q1 (사분위 범위)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이상치(Outlier)가 많은 데이터에 효과적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높은 강건성 (중앙값, IQR 기반)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92024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Data Leakage 방지 (매우 중요!)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774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[올바른 방법]</a:t>
            </a:r>
            <a:br/>
            <a:r>
              <a:t>  학습 데이터: fit_transform() -&gt; 통계량 학습 + 변환</a:t>
            </a:r>
            <a:br/>
            <a:r>
              <a:t>  테스트 데이터: transform() -&gt; 학습 통계량으로 변환만</a:t>
            </a:r>
            <a:br/>
            <a:br/>
            <a:r>
              <a:t>[잘못된 방법] - Data Leakage!</a:t>
            </a:r>
            <a:br/>
            <a:r>
              <a:t>  테스트 데이터에도 fit_transform() 사용 -&gt; 과대평가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94360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올바른 파이프라인:  학습 데이터 --fit_transform()--&gt; 스케일링된 학습 데이터  |  (통계량 저장)  |  테스트 데이터 --transform()--&gt; 스케일링된 테스트 데이터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전처리: 결측치 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Missing Value Handling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결측치 확인 방법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data.isna()          # 각 셀 True/False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data.isna().sum()     # 각 열의 결측치 개수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data.isna().mean()    # 각 열의 결측치 비율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338328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(1) 행 삭제: dropna()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결측치 포함 행 제거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data.dropna()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장점: 간단하고 빠르다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단점: 데이터 손실 발생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결측치 비율 5% 미만일 때 사용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566160"/>
            <a:ext cx="338328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(2) 열 삭제: drop()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023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결측치가 너무 많은 열 제거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data.drop(['col'], axis=1)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결측치 비율 40~50% 이상일 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해당 특성 자체가 불필요 판단 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566160"/>
            <a:ext cx="3749039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65760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(3) 값 대체: fillna()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023360"/>
            <a:ext cx="3383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결측치를 특정 값으로 대체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평균(Mean): 정규분포 데이터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중앙값(Median): 이상치에 강건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최빈값(Mode): 범주형 변수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data.fillna(data.median())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92024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KNN에서 결측치 처리가 필수인 이유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317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KNN은 거리 기반 알고리즘이므로</a:t>
            </a:r>
            <a:br/>
            <a:r>
              <a:t>결측치(NaN)가 있으면 거리 계산 자체가 불가능</a:t>
            </a:r>
            <a:br/>
            <a:r>
              <a:t>-&gt; 반드시 전처리 단계에서 처리해야 한다</a:t>
            </a:r>
            <a:br/>
            <a:br/>
            <a:r>
              <a:t>와인 실습: data.fillna(data.median(), inplace=True)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8640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대체 방법 비교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521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평균(Mean): 이상치에 민감, 정규분포에 적합  |  중앙값(Median): 이상치에 강건, 이상치 존재 시 추천  |  최빈값(Mode): 범주형 데이터  |  특정 값(-99, 0): 결측 자체에 의미가 있을 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효율적 탐색 알고리즘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KD-Tree, Ball-Tree, ANN Methods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KD-Tree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축 정렬 초평면으로 재귀 분할하는 이진 트리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노드에서 중앙값 기준 이분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가지치기(pruning)로 탐색 범위 축소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구축: O(N log 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탐색: 평균 O(log N), 최악 O(N)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한계: d &gt; 20에서 효율 저하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92024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Ball-Tree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3774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초구(hypersphere)로 공간 분할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KD-Tree의 고차원 한계 극복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가장 먼 두 점 기준 분할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삼각 부등식 활용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KD-Tree보다 고차원에서 효율적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임의의 거리 메트릭 사용 가능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92024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Brute Force (전수 탐색)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237744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모든 데이터와의 거리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시간 복잡도: O(Nd)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정확도 100% 보장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소규모 데이터에 적합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sklearn에서 algorithm='brute'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차원이 높으면 오히려 효율적일 수 있음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6CFF"/>
                </a:solidFill>
                <a:latin typeface="맑은 고딕"/>
              </a:defRPr>
            </a:pPr>
            <a:r>
              <a:t>ANN (Approximate Nearest Neighbor) 방법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00600"/>
            <a:ext cx="182880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4937760"/>
            <a:ext cx="3383280" cy="1554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LSH (Locality-Sensitive Hashing)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949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해시 함수로 가까운 점들을 같은 버킷에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시간: O(1) ~ O(N^rho), rho &lt; 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코사인/유클리드 거리 LSH 패밀리 존재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4937760"/>
            <a:ext cx="3474720" cy="1554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5029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FAISS (Facebook AI)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3949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수십억 벡터에서 밀리초 검색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GPU 가속 지원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IVF, PQ 등 다양한 인덱스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4937760"/>
            <a:ext cx="3657600" cy="1554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59" y="5029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Annoy (Spotify)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59" y="53949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랜덤 투영 트리 사용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메모리 매핑(mmap) 지원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한 번 구축 후 빠른 검색 최적화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KNN 변형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Weighted KNN, KNN Regression, Feature-Weighted KNN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(1) 가중 KNN (Weighted KNN)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거리에 반비례하는 가중치 부여: w_i = 1/d(x, x_i)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가까운 이웃의 영향력을 키운다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K값 선택에 덜 민감해진다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Guo et al.(2003): 평균 1~3% 정확도 향상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sklearn: KNeighborsClassifier(weights='distance')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(2) KNN 회귀 (KNN Regression)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연속값 예측에 KNN 적용 - Altman(1992)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균일 가중: f_hat(x) = (1/K) * SUM y_i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거리 가중: f_hat(x) = SUM(w_i*y_i) / SUM(w_i)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적응적 대역폭(adaptive bandwidth) 특성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sklearn: KNeighborsRegressor(weights='distance')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(3) 특성 가중 KNN (Feature-Weighted)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Guo et al.(2003) 제안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특성의 분류 관련성에 따라 가중치 차별 부여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d_w(x,y) = sqrt( SUM w_k*(x_k - y_k)^2 )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w_k: k번째 특성 가중치 (정보 이득 등으로 결정)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평균 2~4% 정확도 향상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297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389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(4) 편집된 KNN (Edited KNN)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7548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학습 데이터에서 노이즈 인스턴스 사전 제거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자신의 K개 이웃 중 다수와 클래스가 다른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인스턴스를 노이즈로 판정하고 제거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예측 품질 향상 + 저장 공간 절약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평균 1~3% 정확도 향상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KNN의 장단점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Advantages &amp; Disadvantages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장점 (Advantages)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3716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단순하고 직관적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알고리즘 원리가 간단하여 이해와 구현이 쉽다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학습 과정 불필요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별도의 모델 훈련이 필요 없다 (데이터 저장만)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69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다중 클래스 분류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자연스럽게 여러 클래스로의 분류가 가능하다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0060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비선형 결정 경계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복잡한 결정 경계를 표현할 수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7784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623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분류/회귀 모두 가능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97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같은 원리로 두 문제 모두 적용 가능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단점 (Disadvantages)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286000"/>
            <a:ext cx="137160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9360" y="2468880"/>
            <a:ext cx="530352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514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느린 예측 속도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788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예측 시 모든 데이터와의 거리 계산 필요 O(Nd)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246120"/>
            <a:ext cx="530352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291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높은 메모리 요구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566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전체 학습 데이터를 메모리에 보관해야 한다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023360"/>
            <a:ext cx="530352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069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차원의 저주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343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특성이 많아지면 거리 집중으로 성능 저하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800600"/>
            <a:ext cx="530352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846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스케일에 민감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120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특성 간 스케일 차이가 결과를 왜곡한다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5577840"/>
            <a:ext cx="530352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5623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불균형 데이터에 취약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897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다수 클래스에 편향된 예측 가능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KNeighborsClassifier 주요 하이퍼파라미터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sklearn API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5603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파라미터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201168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0574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기본값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2011680"/>
            <a:ext cx="66751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05740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256032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08960" y="2560320"/>
            <a:ext cx="1828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60" y="2560320"/>
            <a:ext cx="667512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70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n_neighbors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670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00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67004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이웃의 수 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00400"/>
            <a:ext cx="2560320" cy="5486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08960" y="3200400"/>
            <a:ext cx="1828800" cy="5486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7760" y="3200400"/>
            <a:ext cx="6675120" cy="5486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3101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weights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3101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00"/>
                </a:solidFill>
                <a:latin typeface="Consolas"/>
              </a:defRPr>
            </a:pPr>
            <a:r>
              <a:t>'uniform'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31012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'uniform': 동일 가중치 / 'distance': 거리에 반비례 가중치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40480"/>
            <a:ext cx="256032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08960" y="3840480"/>
            <a:ext cx="1828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37760" y="3840480"/>
            <a:ext cx="667512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9502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metric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9502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00"/>
                </a:solidFill>
                <a:latin typeface="Consolas"/>
              </a:defRPr>
            </a:pPr>
            <a:r>
              <a:t>'minkowski'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95020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거리 측정 방법 (euclidean, manhattan, cosine 등)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80560"/>
            <a:ext cx="2560320" cy="5486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08960" y="4480560"/>
            <a:ext cx="1828800" cy="5486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37760" y="4480560"/>
            <a:ext cx="6675120" cy="5486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5902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5902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00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59028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민코프스키 거리의 p값 (1: 맨해튼, 2: 유클리드)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120640"/>
            <a:ext cx="256032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08960" y="5120640"/>
            <a:ext cx="1828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37760" y="5120640"/>
            <a:ext cx="667512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2303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algorithm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52303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00"/>
                </a:solidFill>
                <a:latin typeface="Consolas"/>
              </a:defRPr>
            </a:pPr>
            <a:r>
              <a:t>'auto'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523036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이웃 탐색 알고리즘 (auto, ball_tree, kd_tree, brute)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760720"/>
            <a:ext cx="11064240" cy="8229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코드 예시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6080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onsolas"/>
              </a:defRPr>
            </a:pPr>
            <a:r>
              <a:t>knn = KNeighborsClassifier(n_neighbors=5, weights='distance', metric='minkowski', p=2, algorithm='auto')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논문 리뷰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Cover &amp; Hart (1967) / Beyer et al. (1999)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Cover &amp; Hart (1967)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"Nearest Neighbor Pattern Classification"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IEEE Trans. on Information Theory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[핵심 기여]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NN 분류기 오류율 상한 증명: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R* &lt;= R*_NN &lt;= 2R*(1 - R*)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다중 클래스 확장: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R*_NN &lt;= R*(2 - M/(M-1) * R*)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K-NN 일반화: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K-&gt;inf, K/N-&gt;0이면 베이즈 최적 수렴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임의의 메트릭 공간에서도 성립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[한계] 무한 데이터 가정, 차원의 저주 미논의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Beyer et al. (1999)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"When Is Nearest Neighbor Meaningful?"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ICDT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[핵심 기여]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거리 집중 현상 수학적 규명: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lim (D_max-D_min)/D_min -&gt; 0 (d-&gt;inf)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i.i.d. 특성 가정 하에서: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(D_max-D_min)/D_min = O(1/sqrt(d))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Lp 노름 분석: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L1이 L2보다 고차원에서 양호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p가 클수록 거리 집중이 심해짐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[의의] KNN의 근본적 한계를 이론적으로 규명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논문 리뷰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Weinberger &amp; Saul (2009) / Altman (1992) / Guo et al. (2003)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Weinberger &amp; Saul (2009)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"Distance Metric Learning for LMNN"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JMLR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마할라노비스 거리 학습 (LMNN)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SVM의 대규모 마진 -&gt; KNN 도입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Pull (같은 클래스 가깝게)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Push (다른 클래스 멀리)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MNIST 오류 2.97% -&gt; 1.20%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2024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Altman (1992)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"Kernel and NN Nonparametric Regression"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The American Statistician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커널 회귀와 KNN 회귀를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통합적 프레임워크에서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편향-분산 트레이드오프 분석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KNN의 적응적 대역폭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(밀집=좁은 창, 희소=넓은 창)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2024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Guo et al. (2003)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"KNN Model-Based Approach"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OTM Conferences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KNN 변형의 체계적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교차 검증 K 선택: +2~5%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가중 KNN: +1~3%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특성 가중 KNN: +2~4%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노이즈 제거 KNN: +1~3%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5편 논문의 핵심 메시지 통합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94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Cover &amp; Hart (1967): KNN은 이론적으로 강력한 보장을 가진 알고리즘이다 (베이즈 최적의 2배 이내)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Beyer et al. (1999): 고차원에서 KNN의 근본적 한계를 인지해야 한다 (거리 집중 현상)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Weinberger &amp; Saul (2009): 거리 함수를 학습하면 KNN 성능이 극적으로 향상된다 (LMNN)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Altman (1992) &amp; Guo et al. (2003): KNN의 다양한 변형과 튜닝으로 실용적 성능을 높일 수 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 1: KNN 스크래치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KNN Classifier from Scratch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구현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유클리드 거리 / 맨해튼 거리 기반 KNN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균일 가중치 / 거리 가중치 KNN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교차 검증 기반 최적 K 선택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 KNeighborsClassifier와 성능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데이터: sklearn load_wine() (3 클래스, 13 특성)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핵심 구현 포인트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fit(): 학습 데이터 저장만 수행 (게으른 학습)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_predict_single(): 전체 거리 계산 -&gt; K개 선택 -&gt; 투표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Counter를 활용한 다수결 투표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거리 가중치: w = 1/d (거리 0일 때 처리 필요)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sklearn과 동일한 결과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1106424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핵심 코드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class KNNClassifier:</a:t>
            </a:r>
            <a:br/>
            <a:r>
              <a:t>    def fit(self, X, y):</a:t>
            </a:r>
            <a:br/>
            <a:r>
              <a:t>        self.X_train = X  # 저장만!</a:t>
            </a:r>
            <a:br/>
            <a:r>
              <a:t>        self.y_train = y</a:t>
            </a:r>
            <a:br/>
            <a:br/>
            <a:r>
              <a:t>    def _predict_single(self, x):</a:t>
            </a:r>
            <a:br/>
            <a:r>
              <a:t>        distances = [d(x, x_i) for x_i in self.X_train]</a:t>
            </a:r>
            <a:br/>
            <a:r>
              <a:t>        k_idx = argsort(distances)[:self.k]</a:t>
            </a:r>
            <a:br/>
            <a:r>
              <a:t>        k_labels = self.y_train[k_idx]</a:t>
            </a:r>
            <a:br/>
            <a:r>
              <a:t>        return Counter(k_labels).most_common(1)[0][0]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6177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# 거리 함수</a:t>
            </a:r>
            <a:br/>
            <a:r>
              <a:t>def euclidean_distance(x1, x2):</a:t>
            </a:r>
            <a:br/>
            <a:r>
              <a:t>    return sqrt(sum((x1 - x2)**2))</a:t>
            </a:r>
            <a:br/>
            <a:br/>
            <a:r>
              <a:t>def manhattan_distance(x1, x2):</a:t>
            </a:r>
            <a:br/>
            <a:r>
              <a:t>    return sum(abs(x1 - x2))</a:t>
            </a:r>
            <a:br/>
            <a:br/>
            <a:r>
              <a:t># 최적 K 탐색</a:t>
            </a:r>
            <a:br/>
            <a:r>
              <a:t>for k in range(1, 21):</a:t>
            </a:r>
            <a:br/>
            <a:r>
              <a:t>    knn = KNNClassifier(k=k)</a:t>
            </a:r>
            <a:br/>
            <a:r>
              <a:t>    knn.fit(X_train, y_train)</a:t>
            </a:r>
            <a:br/>
            <a:r>
              <a:t>    scores.append(knn.score(X_test, y_test))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 2 &amp;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차원의 저주 실험 / 거리 메트릭 학습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실습 2: 차원의 저주 실험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Beyer et al. (1999) 핵심 결과를 실험적으로 재현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[실험 1] D_max/D_min 비율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차원 2 -&gt; 1000에서 비율이 1로 수렴 확인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[실험 2] L1 vs L2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L1이 L2보다 거리 집중이 덜 심함 확인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[실험 3] 상대적 거리 대비 (RDC)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(D_max - D_min)/D_min -&gt; 0 수렴 확인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[실험 4] KNN 성능 저하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유효 5차원 고정, 노이즈 차원 추가 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KNN 정확도 급격히 하락 시연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실습 3: 거리 메트릭 학습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Weinberger &amp; Saul (2009) 아이디어 기반 구현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[방법 1] 유클리드 KNN (기본)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M = I (단위 행렬)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[방법 2] 공분산 기반 마할라노비스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M = S_W^(-1) (클래스 내 산포 역행렬)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[방법 3] LDA 기반 메트릭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Fisher 기준 J(W) = W^T S_B W / W^T S_W W 최대화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[방법 4] 단순화된 LMNN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Pull: 같은 클래스 가깝게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Push: 다른 클래스 멀리 (힌지 손실)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그래디언트 하강법으로 M 학습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응용 1: 추천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KNN-based Recommendation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사용자 기반 협업 필터링 (User-Based CF)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타깃 사용자와 다른 사용자 간의 거리(유사도)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가장 유사한 K명의 사용자를 찾음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K명이 높게 평가한 아이템 중 미열람 아이템 추천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NearestNeighbors + kneighbors() 활용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아이템 기반 협업 필터링 (Item-Based CF)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아이템 간 특성 벡터로 거리(유사도)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타깃 아이템과 가장 유사한 K개 아이템을 찾음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유사 아이템을 사용자에게 추천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더 안정적이고 확장 가능한 방법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실제 활용 사례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26280"/>
            <a:ext cx="13716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70916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773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Netflix / YouTube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77316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시청 이력이 유사한 사용자 그룹의 콘텐츠 추천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4924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Amazon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41324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"이 상품을 구매한 고객이 함께 구매한 상품" (아이템 기반)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053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Spotify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605332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청취 이력이 유사한 사용자의 플레이리스트 기반 음악 추천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응용 2: 이상치 탐지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KNN-based Anomaly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핵심 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정상 데이터 -&gt; 이웃이 밀집 -&gt; 평균 거리가 작다</a:t>
            </a:r>
            <a:br/>
            <a:r>
              <a:t>이상 데이터 -&gt; 이웃이 희소 -&gt; 평균 거리가 크다</a:t>
            </a:r>
            <a:br/>
            <a:br/>
            <a:r>
              <a:t>이상 점수: score(x) = (1/K) * SUM d(x, x_i)</a:t>
            </a:r>
            <a:br/>
            <a:r>
              <a:t>이상 점수 &gt; 임계값 -&gt; 이상치로 판정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알고리즘 절차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각 데이터에 대해 K개 최근접 이웃 탐색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K개 이웃까지의 평균 거리 = 이상 점수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임계값(Threshold) 초과 시 이상치 판정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예: 상위 5% (95th percentile)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실제 활용 사례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13716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52628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금융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572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신용카드 사기 거래 탐지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2920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제조업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5074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생산 공정의 불량 감지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3212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577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네트워크 보안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577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침입 탐지 시스템 (IDS)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603504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080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의료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6080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비정상적인 건강 지표 감지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02336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114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코드 예시 &amp; 핵심 포인트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43484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knn = NearestNeighbors(n_neighbors=5)</a:t>
            </a:r>
            <a:br/>
            <a:r>
              <a:t>knn.fit(X_scaled)</a:t>
            </a:r>
            <a:br/>
            <a:r>
              <a:t>distances, indices = knn.kneighbors(X_scaled)</a:t>
            </a:r>
            <a:br/>
            <a:r>
              <a:t>anomaly_scores = distances.mean(axis=1)</a:t>
            </a:r>
            <a:br/>
            <a:r>
              <a:t>threshold = np.percentile(anomaly_scores, 95)</a:t>
            </a:r>
            <a:br/>
            <a:r>
              <a:t>outliers = anomaly_scores &gt; threshold</a:t>
            </a:r>
            <a:br/>
            <a:br/>
            <a:r>
              <a:t># K가 너무 작으면 노이즈에 민감</a:t>
            </a:r>
            <a:br/>
            <a:r>
              <a:t># K가 너무 크면 탐지 민감도 저하</a:t>
            </a:r>
            <a:br/>
            <a:r>
              <a:t># sklearn: LocalOutlierFactor (LOF) 도 제공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실습: 와인 데이터 다중 분류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Wine Dataset Multi-class Classification with KNN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84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데이터 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load_wine() - 3 클래스, 13 특성, 178 샘플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2024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20574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084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전처리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14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결측치 처리 (fillna) + 스케일링 (MinMaxScaler)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92024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6760" y="20574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084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데이터 분할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514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train_test_split (80:20, random_state=100)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0624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43434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370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모델링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00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KNeighborsClassifier(n_neighbors=k)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20624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26280" y="43434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4370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6CFF"/>
                </a:solidFill>
                <a:latin typeface="맑은 고딕"/>
              </a:defRPr>
            </a:pPr>
            <a:r>
              <a:t>K값 튜닝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800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K=1~20 정확도 그래프 -&gt; 최적 K 선택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420624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66760" y="43434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370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맑은 고딕"/>
              </a:defRPr>
            </a:pPr>
            <a:r>
              <a:t>평가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800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accuracy_score, confusion_matrix, classification_report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Chapter 6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t>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K개 최근접 이웃의 다수결/평균으로 예측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학습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240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게으른 학습 (Lazy Learning) - 학습 단계 없음, 데이터 저장만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70048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15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하이퍼파라미터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00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K (이웃 수), 거리 측정 방법, 가중치 방법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70048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715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맑은 고딕"/>
              </a:defRPr>
            </a:pPr>
            <a:r>
              <a:t>거리 측도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9900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유클리드, 맨해튼, 민코프스키, 코사인, 마할라노비스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19856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65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t>필수 전처리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398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결측치 처리 + 스케일링 (거리 기반이므로 반드시 필요)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19856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465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06CFF"/>
                </a:solidFill>
                <a:latin typeface="맑은 고딕"/>
              </a:defRPr>
            </a:pPr>
            <a:r>
              <a:t>Data Leakage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7398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학습: fit_transform() / 테스트: transform()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69664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2153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t>K값 선택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4897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작은 K = 과적합 (높은 분산) / 큰 K = 과소적합 (높은 편향)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169664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2153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t>차원의 저주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4897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고차원에서 거리 집중으로 NN의 의미 퇴색 (Beyer et al. 1999)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919472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965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06CFF"/>
                </a:solidFill>
                <a:latin typeface="맑은 고딕"/>
              </a:defRPr>
            </a:pPr>
            <a:r>
              <a:t>메트릭 학습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239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LMNN으로 분류 최적화 마할라노비스 거리 학습 (Weinberger &amp; Saul 2009)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919472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965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효율적 탐색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239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KD-Tree, Ball-Tree (정확) / LSH, FAISS, Annoy (근사)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66928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주요 변형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가중 KNN, KNN 회귀, 특성 가중 KNN, 편집된 KNN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66928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맑은 고딕"/>
              </a:defRPr>
            </a:pPr>
            <a:r>
              <a:t>주요 응용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추천 시스템, 이미지 분류, 이상치 탐지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수식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Key Formulas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476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맑은 고딕"/>
              </a:defRPr>
            </a:pPr>
            <a:r>
              <a:t>KNN 분류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y_hat = argmax_c SUM 1(y_i = c)  for i in N_K(x)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476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유클리드 거리 (L2)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94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d(x,y) = sqrt( SUM (xi - yi)^2 )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78608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06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맨해튼 거리 (L1)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529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d(x,y) = SUM |xi - yi|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578608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606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맑은 고딕"/>
              </a:defRPr>
            </a:pPr>
            <a:r>
              <a:t>민코프스키 거리 (Lp)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529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d(x,y) = ( SUM |xi - yi|^p )^(1/p)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36976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26440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6CFF"/>
                </a:solidFill>
                <a:latin typeface="맑은 고딕"/>
              </a:defRPr>
            </a:pPr>
            <a:r>
              <a:t>코사인 유사도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51129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cos(x,y) = (x . y) / (||x|| ||y||)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236976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26440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545"/>
                </a:solidFill>
                <a:latin typeface="맑은 고딕"/>
              </a:defRPr>
            </a:pPr>
            <a:r>
              <a:t>마할라노비스 거리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51129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d_M(x,y) = sqrt( (x-y)^T M (x-y) 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95344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92277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맑은 고딕"/>
              </a:defRPr>
            </a:pPr>
            <a:r>
              <a:t>StandardScaler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16966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z = (x - mean) / std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895344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92277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MinMaxScaler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16966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x_scaled = (x - min) / (max - min)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553712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5811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RobustScaler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8280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x_scaled = (x - median) / IQR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553712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5811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맑은 고딕"/>
              </a:defRPr>
            </a:pPr>
            <a:r>
              <a:t>Cover &amp; Hart 상한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8280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R* &lt;= R*_NN &lt;= 2R*(1 - R*)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212080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2395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545"/>
                </a:solidFill>
                <a:latin typeface="맑은 고딕"/>
              </a:defRPr>
            </a:pPr>
            <a:r>
              <a:t>거리 집중 (Beyer)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486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lim (d-&gt;inf) (D_max - D_min)/D_min -&gt; 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212080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52395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6CFF"/>
                </a:solidFill>
                <a:latin typeface="맑은 고딕"/>
              </a:defRPr>
            </a:pPr>
            <a:r>
              <a:t>MSE 분해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5486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MSE = Bias^2 + Variance + sigma^2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870448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8978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맑은 고딕"/>
              </a:defRPr>
            </a:pPr>
            <a:r>
              <a:t>이상 점수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1447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score(x) = (1/K) * SUM d(x, x_i)  for i in N_K(x)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5870448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58978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가중 KNN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61447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y_hat = argmax_c SUM w_i*1(y_i=c),  w_i = 1/d(x,x_i)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논문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Key Papers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t>Cover &amp; Hart (1967)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5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"Nearest Neighbor Pattern Classification" - IEEE Trans.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402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1-NN 오류율 &lt;= 2R*(1-R*) 증명  |  KNN 이론적 기반 확립  |  다중 클래스 확장, 메트릭 공간 일반성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Altman (1992)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"Kernel and NN Nonparametric Regression" - The American Statistician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004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커널 회귀와 KNN 회귀 통합적 비교  |  편향-분산 트레이드오프 분석  |  KNN의 적응적 대역폭 특성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86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t>Beyer et al. (1999)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886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"When Is Nearest Neighbor Meaningful?" - ICDT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1605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고차원 거리 집중 현상의 수학적 규명  |  (D_max-D_min)/D_min = O(1/sqrt(d))  |  L1이 L2보다 고차원에서 양호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06CFF"/>
                </a:solidFill>
                <a:latin typeface="맑은 고딕"/>
              </a:defRPr>
            </a:pPr>
            <a:r>
              <a:t>Weinberger &amp; Saul (2009)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"Distance Metric Learning for LMNN" - JMLR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마할라노비스 거리 학습 (LMNN)  |  SVM의 대규모 마진을 KNN에 도입  |  MNIST 오류 2.97% -&gt; 1.20%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6072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Guo et al. (2003)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806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"KNN Model-Based Approach" - OTM Conferences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60807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KNN 변형의 체계적 비교 분석  |  가중/특성가중/노이즈제거 KNN  |  교차검증 K선택 +2~5% 향상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Review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KNN이 '게으른 학습(Lazy Learning)'이라 불리는 이유를 설명하고, 이로 인한 장단점을 서술하시오.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유클리드 거리와 맨해튼 거리의 수식을 쓰고, 각각 어떤 상황에서 더 적합한지 설명하시오. 고차원에서의 차이를 Beyer et al.(1999)의 결과를 근거로 논하시오.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8620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K값이 편향-분산 트레이드오프에 미치는 영향을 설명하시오. K=1일 때와 K=N일 때의 결정 경계는 각각 어떤 특성을 보이는가?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463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4632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차원의 저주에서 거리 집중 현상이란 무엇인가? lim (D_max-D_min)/D_min -&gt; 0이 KNN에 미치는 영향을 설명하시오.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76072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맑은 고딕"/>
              </a:defRPr>
            </a:pPr>
            <a:r>
              <a:t>Q5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0644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KNN에서 특성 스케일링이 반드시 필요한 이유를 구체적 예시를 들어 설명하시오. 테스트 데이터에 fit_transform()을 쓰면 안 되는 이유(Data Leakage)를 설명하시오.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Review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6CFF"/>
                </a:solidFill>
                <a:latin typeface="맑은 고딕"/>
              </a:defRPr>
            </a:pPr>
            <a:r>
              <a:t>Q6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마할라노비스 거리에서 M=I일 때와 M=inv(Sigma)일 때의 차이를 설명하시오.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Q7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LMNN의 '당기는 힘(Pull)'과 '밀치는 힘(Push)'이 각각 무엇을 의미하는지 설명하고, SVM의 어떤 원리와 유사한지 논하시오.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Q8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8620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Cover와 Hart(1967)의 R* &lt;= R*_NN &lt;= 2R*(1-R*)의 의미를 설명하시오. 베이즈 최적 오류율이 10%일 때, 1-NN의 오류율 상한은?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463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Q9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4632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KD-Tree와 Ball-Tree의 동작 원리를 비교하고, 각각의 장단점과 차원에 따른 적합성을 설명하시오. 대규모 데이터에서 ANN이 필요한 이유를 논하시오.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76072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Q10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0644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KNN을 이상치 탐지에 활용하는 원리를 설명하시오. 이상 점수는 어떻게 정의되며, K값 선택이 탐지 성능에 어떤 영향을 미치는가?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926080"/>
            <a:ext cx="3047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3474720"/>
            <a:ext cx="5790895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3566160"/>
            <a:ext cx="5790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NEXT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931920"/>
            <a:ext cx="5790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다음 장: 7장 - 나이브 베이즈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6장에서 배운 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FF"/>
                </a:solidFill>
                <a:latin typeface="맑은 고딕"/>
              </a:defRPr>
            </a:pPr>
            <a:r>
              <a:t>Lazy Learning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맑은 고딕"/>
              </a:defRPr>
            </a:pPr>
            <a:r>
              <a:t>Distance 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0168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96"/>
                </a:solidFill>
                <a:latin typeface="맑은 고딕"/>
              </a:defRPr>
            </a:pPr>
            <a:r>
              <a:t>Bias-Variance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0056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0056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4545"/>
                </a:solidFill>
                <a:latin typeface="맑은 고딕"/>
              </a:defRPr>
            </a:pPr>
            <a:r>
              <a:t>Curse of Dimensionality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9944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6CFF"/>
                </a:solidFill>
                <a:latin typeface="맑은 고딕"/>
              </a:defRPr>
            </a:pPr>
            <a:r>
              <a:t>LMNN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99832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2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맑은 고딕"/>
              </a:defRPr>
            </a:pPr>
            <a:r>
              <a:t>Scaling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FF"/>
                </a:solidFill>
                <a:latin typeface="맑은 고딕"/>
              </a:defRPr>
            </a:pPr>
            <a:r>
              <a:t>KD-Tree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79608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9608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맑은 고딕"/>
              </a:defRPr>
            </a:pPr>
            <a:r>
              <a:t>Anomaly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기계학습 | 2026년 1학기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PRACTICE P1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6.1 문제 정의: 와인 등급 예측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Wine Quality Classification - Problem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00000"/>
            <a:ext cx="105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맑은 고딕"/>
              </a:defRPr>
            </a:pPr>
            <a:r>
              <a:t>미션: 와인 정보가 들어 있는 데이터셋을 이용해 와인 등급을 예측하라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맑은 고딕"/>
              </a:defRPr>
            </a:pPr>
            <a:r>
              <a:t>데이터셋: wine.csv (178개 샘플, 14개 변수)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맑은 고딕"/>
              </a:defRPr>
            </a:pPr>
            <a:r>
              <a:t>종속변수: class (와인 등급 0, 1, 2) - 다중분류(Multiclassification)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맑은 고딕"/>
              </a:defRPr>
            </a:pPr>
            <a:r>
              <a:t>독립변수: alcohol, malic_acid, ash, magnesium, flavonoids 등 13개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맑은 고딕"/>
              </a:defRPr>
            </a:pPr>
            <a:r>
              <a:t>알고리즘: KNeighborsClassifier  |  평가지표: 정확도(Accuracy)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맑은 고딕"/>
              </a:defRPr>
            </a:pPr>
            <a:r>
              <a:t>사용 라이브러리: pandas, numpy, matplotlib, seaborn, sklearn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맑은 고딕"/>
              </a:defRPr>
            </a:pPr>
            <a:r>
              <a:t>예제 코드: 06_KNN.ipynb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PRACTICE P2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6.2 라이브러리 및 데이터 불러오기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Import Libraries &amp; Load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10500000" cy="38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400">
                <a:solidFill>
                  <a:srgbClr val="6A9955"/>
                </a:solidFill>
                <a:latin typeface="Consolas"/>
              </a:defRPr>
            </a:pPr>
            <a:r>
              <a:t># 라이브러리 임포트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import pandas as pd       # 판다스 라이브러리 임포트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import numpy as np        # 넘파이 라이브러리 임포트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import matplotlib.pyplot as plt  # 맷플롯립 라이브러리 임포트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import seaborn as sns     # 시분 라이브러리 임포트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데이터셋 읽기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file_url = 'https://media.githubusercontent.com/media/musthave-ML10/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          data_source/main/wine.csv'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data = pd.read_csv(file_url)  # 데이터셋 읽기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데이터 확인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print(data.shape)   # (178, 14) -&gt; 178개 행, 14개 열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data.head()          # 상위 5행 출력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00000"/>
            <a:ext cx="10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t>TIP: numpy는 이 장에서 직접 사용하지 않지만, 머신러닝에서 필수 라이브러리이므로 습관적으로 임포트합니다.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PRACTICE P3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6.3 데이터 확인하기 (1) - head() &amp; info()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Data Exploration - Structure &amp; Missing Values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5200000" cy="18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300">
                <a:solidFill>
                  <a:srgbClr val="6A9955"/>
                </a:solidFill>
                <a:latin typeface="Consolas"/>
              </a:defRPr>
            </a:pPr>
            <a:r>
              <a:t># 상위 5행 출력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data.head()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가장 우측의 class가 목표 변수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나머지 13개가 독립변수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와인의 성분/성질 정보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00000" y="1600000"/>
            <a:ext cx="5200000" cy="18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300">
                <a:solidFill>
                  <a:srgbClr val="6A9955"/>
                </a:solidFill>
                <a:latin typeface="Consolas"/>
              </a:defRPr>
            </a:pPr>
            <a:r>
              <a:t># 변수 특징 출력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data.info()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전체 178개 행, 14개 컴럼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alcohol: 176 non-null -&gt; 결측치 2개!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nonflavanoid_phenols: 173 -&gt; 결측치 5개!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0000"/>
            <a:ext cx="105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주요 독립변수 (13개):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alcohol(알코올도수), malic_acid(말산), ash(재), alcalinity_of_ash(남은 무기물의 알칼리성),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magnesium(마그네슘), total_phenols(전체 페놀), flavonoids(플라보노이드),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nonflavanoid_phenols(비페놀류), proanthocyanins(프로안토시아닌/색소),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color_intensity(색상 강도), hue(색조), od280/od315(희석된 와인의 단백질 함량), proline(프롬린)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핵심 발견: 결측치 존재! alcohol 2개, nonflavanoid_phenols 5개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PRACTICE P3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6.3 데이터 확인하기 (2) - describe()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Data Exploration - Statistics &amp; Scale Differences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10500000" cy="24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400">
                <a:solidFill>
                  <a:srgbClr val="6A9955"/>
                </a:solidFill>
                <a:latin typeface="Consolas"/>
              </a:defRPr>
            </a:pPr>
            <a:r>
              <a:t># 통계적 정보 살펴보기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data.describe()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핵심 관찰 1: 변수마다 값의 범위가 상당히 다름</a:t>
            </a: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  nonflavanoid_phenols: 최솟값 0.13, 최댓값 0.66  (범위 매우 작음)</a:t>
            </a: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  proline:              최솟값 278,  최댓값 1680   (범위 매우 큼)</a:t>
            </a: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  -&gt; KNN은 거리 기반이므로 스케일링이 반드시 필요!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핵심 관찰 2: 아웃라이어 가능성</a:t>
            </a: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  color_intensity: min~75%까지 고른 증가, max에서 갑자기 2배 이상 증가 (6.2 -&gt; 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00000"/>
            <a:ext cx="105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A500"/>
                </a:solidFill>
                <a:latin typeface="맑은 고딕"/>
              </a:defRPr>
            </a:pPr>
            <a:r>
              <a:t>스케일링(Scaling): 독립변수의 범위를 동일한 수준으로 만드는 방법</a:t>
            </a:r>
            <a:br/>
            <a:br/>
            <a:r>
              <a:t>alcohol(최솟값 11.03, 최댓값 14.75)에서의 1과 magnesium(최솟값 70, 최댓값 162)에서의 1은</a:t>
            </a:r>
            <a:br/>
            <a:r>
              <a:t>완전히 다른 영향을 미침. KNN 알고리즘이 왔곡된 예측을 할 수 있음!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PRACTICE P4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6.4 목표값에서 고유값 확인하기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Target Variable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6000000" cy="42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300">
                <a:solidFill>
                  <a:srgbClr val="6A9955"/>
                </a:solidFill>
                <a:latin typeface="Consolas"/>
              </a:defRPr>
            </a:pPr>
            <a:r>
              <a:t># 목표 변수의 고유값 출력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data['class'].unique()       # array([0, 1, 2])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고유값 개수 출력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data['class'].nunique()      # 3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각 고유값에 해당하는 개수 출력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data['class'].value_counts()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1    71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0    59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2    48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막대 그래프 (방법 1: barplot)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sns.barplot(x=data['class'].value_counts().index,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          y=data['class'].value_counts())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더 쉬운 방법 (방법 2: countplot)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sns.countplot(data['class'])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0000" y="1600000"/>
            <a:ext cx="42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class는 0, 1, 2의 3가지 값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= 와인을 세 등급으로 분류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클래스별 분포: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class 1: 71개 (가장 많음)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class 0: 59개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class 2: 48개 (가장 적음)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비교적 균형 잡힌 분포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함수 비교: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unique(): 어떤 값들이 있는지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nunique(): 고유값 개수만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value_counts(): 개수까지 확인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PRACTICE P5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6.5.1 결측치를 쉽게 확인하는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Missing Value Detection - isna(), sum(), mean()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7000000" cy="36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300">
                <a:solidFill>
                  <a:srgbClr val="6A9955"/>
                </a:solidFill>
                <a:latin typeface="Consolas"/>
              </a:defRPr>
            </a:pPr>
            <a:r>
              <a:t># 결측치 여부를 True/False로 확인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data.isna()      # 각 값이 결측치이면 True, 아니면 False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컴럼별 결측치 개수 확인 (isna + sum)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data.isna().sum()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alcohol                2   &lt;- 결측치 2개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nonflavanoid_phenols   5   &lt;- 결측치 5개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(나머지 컴럼들은 모두 0)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컴럼별 결측치 비율 확인 (isna + mean)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data.isna().mean()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alcohol              0.011236   &lt;- 약 1.12%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nonflavanoid_phenols 0.028090   &lt;- 약 2.81%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00000" y="1600000"/>
            <a:ext cx="32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isna() + sum() 원리: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1) isna()로 True/False 변환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2) True=1, False=0으로 인식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3) sum()으로 합산 = 결측치 수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isna() + mean() 원리: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1) isna()로 True/False 변환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2) mean()으로 평균 계산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3) = 결측치 비율(%)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PRACTICE P5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6.5.2 결측치를 처리하는 3가지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dropna() vs drop() vs fillna()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0000"/>
            <a:ext cx="3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700"/>
                </a:solidFill>
                <a:latin typeface="맑은 고딕"/>
              </a:defRPr>
            </a:pPr>
            <a:r>
              <a:t>방식 1: 행 제거 - dropna()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00000"/>
            <a:ext cx="3300000" cy="18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100">
                <a:solidFill>
                  <a:srgbClr val="D4D4D4"/>
                </a:solidFill>
                <a:latin typeface="Consolas"/>
              </a:defRPr>
            </a:pPr>
            <a:r>
              <a:t>data.dropna()  # 결측치 있는 행 제거</a:t>
            </a: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# 178 -&gt; 171행 (7행 삭제)</a:t>
            </a: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# subset으로 특정 변수만 가능: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data.dropna(subset=['alcohol'])</a:t>
            </a: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# 178 -&gt; 176행 (2행만 삭제)</a:t>
            </a: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# 결측치 비율 낮을 때 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0000" y="1500000"/>
            <a:ext cx="3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700"/>
                </a:solidFill>
                <a:latin typeface="맑은 고딕"/>
              </a:defRPr>
            </a:pPr>
            <a:r>
              <a:t>방식 2: 변수 제거 - drop()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50000" y="1900000"/>
            <a:ext cx="3300000" cy="18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100">
                <a:solidFill>
                  <a:srgbClr val="6A9955"/>
                </a:solidFill>
                <a:latin typeface="Consolas"/>
              </a:defRPr>
            </a:pPr>
            <a:r>
              <a:t># 결측치가 있는 변수 자체 제거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data.drop(['alcohol',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  'nonflavanoid_phenols'], axis=1)</a:t>
            </a: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# 14열 -&gt; 12열로 줄어듦</a:t>
            </a: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# 50% 이상이면 drop() 고려</a:t>
            </a: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# 70~80% 이상이면 가급적 적용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0000" y="1500000"/>
            <a:ext cx="3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700"/>
                </a:solidFill>
                <a:latin typeface="맑은 고딕"/>
              </a:defRPr>
            </a:pPr>
            <a:r>
              <a:t>방식 3: 값 채우기 - fillna()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0000" y="1900000"/>
            <a:ext cx="3500000" cy="18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100">
                <a:solidFill>
                  <a:srgbClr val="6A9955"/>
                </a:solidFill>
                <a:latin typeface="Consolas"/>
              </a:defRPr>
            </a:pPr>
            <a:r>
              <a:t># 임의의 값으로 채우기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data.fillna(-99)</a:t>
            </a: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# 평균값으로 채우기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data.fillna(data.mean())</a:t>
            </a: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# 중윗값으로 채우기 (권장!)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data.fillna(data.median(),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            inplace=True)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00000"/>
            <a:ext cx="105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결측치 처리 방식 선택 기준: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dropna(): 결측치 비율이 낮고 데이터 크기가 충분할 때 (가장 일반적이나 노이즈 가능성)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drop():   결측치 비율 50% 이상이면 고려. 변수 자체 제거는 신중하게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fillna(): 평균값이나 중윗값으로 채움. 아웃라이어에 덜 민감한 중윗값 권장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이 실습의 선택: data.fillna(data.median(), inplace=True) - 중윗값으로 채우기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PRACTICE P5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6.5.4 결측치 처리 적용 및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Apply fillna(median) &amp; Verify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10500000" cy="32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400">
                <a:solidFill>
                  <a:srgbClr val="6A9955"/>
                </a:solidFill>
                <a:latin typeface="Consolas"/>
              </a:defRPr>
            </a:pPr>
            <a:r>
              <a:t># 결측치를 중윗값으로 채우기 (inplace=True로 원본 업데이트)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data.fillna(data.median(), inplace=True)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결측치 확인하기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data.isna().mean()</a:t>
            </a: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alcohol              0.0   &lt;- 결측치 해결!</a:t>
            </a: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malic_acid           0.0</a:t>
            </a: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ash                  0.0</a:t>
            </a: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...</a:t>
            </a: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nonflavanoid_phenols 0.0   &lt;- 결측치 해결!</a:t>
            </a: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...</a:t>
            </a: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class                0.0</a:t>
            </a: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모든 컴럼에서 결측치가 0% -&gt; 결측치 완전히 처리됨!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맑은 고딕"/>
              </a:defRPr>
            </a:pPr>
            <a:r>
              <a:t>fillna()를 사용하여 결측치를 채우되, 아웃라이어에 조금 덜 민감한 중윗값을 사용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맑은 고딕"/>
              </a:defRPr>
            </a:pPr>
            <a:r>
              <a:t>inplace=True 사용 -&gt; data 자체가 업데이트됨 (별도 변수 할당 불필요)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맑은 고딕"/>
              </a:defRPr>
            </a:pPr>
            <a:r>
              <a:t>참고: data = data.fillna(data.median()) 과 동일한 결과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PRACTICE P6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6.6 스케일링 - 왜 필요한가?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Why Scaling Matters for KNN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55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스케일링 전 (문제 상황):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  alcohol:     범위 11.03 ~ 14.75  (차이 3.72)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  magnesium: 범위 70 ~ 162        (차이 92)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이 두 변수에서 10이라는 값의 의미가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상당히 다르므로 스케일링이 필요!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스케일링 후: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  alcohol:     범위 0 ~ 1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  magnesium: 범위 0 ~ 1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  -&gt; 동등한 수준에서 거리 계산 가능!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0" y="1600000"/>
            <a:ext cx="4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700"/>
                </a:solidFill>
                <a:latin typeface="맑은 고딕"/>
              </a:defRPr>
            </a:pPr>
            <a:r>
              <a:t>스케일링 4가지 종류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0" y="2000000"/>
            <a:ext cx="47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표준화 스케일링 (StandardScaler)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평균=0, 표준편차=1로 고르게 분포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z = (x - mean) / std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로버스트 스케일링 (RobustScaler)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아웃라이어 영향 유지하고 싶을 때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x = (x - median) / IQR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최소-최대 스케일링 (MinMaxScaler)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데이터 분포 최대한 유지하고 싶을 때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x = (x - min) / (max - min)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정규화 스케일링 (NormalizerScaler)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행 기준 스케일링. 실제로 거의 사용 안 함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PRACTICE P6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6.6.1 표준화 스케일링 (StandardScaler)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Standard Scaling - Code &amp; Formula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6500000" cy="38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300">
                <a:solidFill>
                  <a:srgbClr val="D4D4D4"/>
                </a:solidFill>
                <a:latin typeface="Consolas"/>
              </a:defRPr>
            </a:pPr>
            <a:r>
              <a:t>from sklearn.preprocessing import StandardScaler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from sklearn.preprocessing import MinMaxScaler, RobustScaler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스케일러 지정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st_scaler = StandardScaler()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학습 (각 컴럼의 평균, 표준편차를 기억)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st_scaler.fit(data)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학습에서 얻은 정보로 변환 (넘파이 배열 반환)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st_scaled = st_scaler.transform(data)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데이터프레임으로 변환 (컴럼명 유지)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st_scaled = pd.DataFrame(st_scaled, columns=data.columns)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결과 확인 - 모든 컴럼에서 mean=0, std=1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round(st_scaled.describe(),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0" y="1600000"/>
            <a:ext cx="3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700"/>
                </a:solidFill>
                <a:latin typeface="맑은 고딕"/>
              </a:defRPr>
            </a:pPr>
            <a:r>
              <a:t>수식: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0" y="2000000"/>
            <a:ext cx="37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z = (xi - mean(x)) / sd(x)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2800000"/>
            <a:ext cx="37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xi: 변수의 i번째 값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mean(x): 해당 변수의 평균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sd(x): 해당 변수의 표준편차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결과: 표준정규분포 형태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평균 = 0, 분산 = 1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특징: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아웃라이어에 민감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정규분포 데이터에 적합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fit()으로 평균/표준편차 학습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transform()으로 변환 적용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PRACTICE P6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6.6.2~3 로버스트 &amp; 최소-최대 스케일링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Robust &amp; MinMax Scaling Code &amp;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0000"/>
            <a:ext cx="5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700"/>
                </a:solidFill>
                <a:latin typeface="맑은 고딕"/>
              </a:defRPr>
            </a:pPr>
            <a:r>
              <a:t>6.6.2 로버스트 스케일링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00000"/>
            <a:ext cx="5200000" cy="20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200">
                <a:solidFill>
                  <a:srgbClr val="D4D4D4"/>
                </a:solidFill>
                <a:latin typeface="Consolas"/>
              </a:defRPr>
            </a:pPr>
            <a:r>
              <a:t>rb_scaler = RobustScaler()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rb_scaled = rb_scaler.fit_transform(data)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rb_scaled = pd.DataFrame(rb_scaled, columns=data.columns)</a:t>
            </a: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fit_transform(): fit()+transform() 한번에!</a:t>
            </a: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수식: x = (xi - Q2) / (Q3 - Q1)</a:t>
            </a: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Q1=25%, Q2=50%(중윗값), Q3=75%</a:t>
            </a: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아웃라이어에 덜 민감 (IQR=Q3-Q1 사용)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0000" y="1500000"/>
            <a:ext cx="5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700"/>
                </a:solidFill>
                <a:latin typeface="맑은 고딕"/>
              </a:defRPr>
            </a:pPr>
            <a:r>
              <a:t>6.6.3 최소-최대 스케일링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00000" y="1900000"/>
            <a:ext cx="5200000" cy="20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200">
                <a:solidFill>
                  <a:srgbClr val="D4D4D4"/>
                </a:solidFill>
                <a:latin typeface="Consolas"/>
              </a:defRPr>
            </a:pPr>
            <a:r>
              <a:t>mm_scaler = MinMaxScaler()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mm_scaled = mm_scaler.fit_transform(data)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mm_scaled = pd.DataFrame(mm_scaled, columns=data.columns)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round(mm_scaled.describe(), 2)</a:t>
            </a: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수식: x = (xi - min) / (max - min)</a:t>
            </a: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모든 컴럼에서 min=0, max=1</a:t>
            </a: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기존 분포 형태를 그대로 유지!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700"/>
                </a:solidFill>
                <a:latin typeface="맑은 고딕"/>
              </a:defRPr>
            </a:pPr>
            <a:r>
              <a:t>스케일링별 특징 비교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00000"/>
            <a:ext cx="105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표준화: 아웃라이어 존재 시 영향 받음. 평균 0, 분산 1로 정규분포 형태. 기존 분포 형태가 사라짐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로버스트: 아웃라이어 영향 받지 않음. IQR 사용. 변환된 데이터의 범위가 넓게 나타남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최소-최대: 아웃라이어 영향 받음. 0~1 범위. 기존 분포를 가장 있는 그대로 담아내며 스케일만 변환 (이 실습에서 사용!)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PRACTICE P6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6.6.5 스케일링 적용하기 (주의사항!)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Apply Scaling - Train/Test Split First!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10500000" cy="42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300">
                <a:solidFill>
                  <a:srgbClr val="6A9955"/>
                </a:solidFill>
                <a:latin typeface="Consolas"/>
              </a:defRPr>
            </a:pPr>
            <a:r>
              <a:t># 스케일링 적용 시 주의사항 2가지: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1. 스케일링 대상에서 종속변수(class)를 제외해야 합니다!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2. 스케일링 전에 훈련셋과 시험셋을 나누어야 합니다! (Data Leakage 방지)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from sklearn.model_selection import train_test_split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독립변수(X)와 종속변수(y) 분리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X = data.drop('class', axis=1)         # 독립변수만 대입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y = data['class']                       # 종속변수만 대입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훈련셋과 시험셋 분리 (80:20)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X_train, X_test, y_train, y_test = train_test_split(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    X, y, test_size=0.2, random_state=100)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최소-최대 스케일러 적용 (기존 분포 유지하는 스케일러)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mm_scaler = MinMaxScaler()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X_train_scaled = mm_scaler.fit_transform(X_train)   # 학습셋: fit + transform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X_test_scaled = mm_scaler.transform(X_test)          # 시험셋: transform만!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시험셋에는 반드시 transform()만 사용! (학습셋의 min/max로 변환)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6666"/>
                </a:solidFill>
                <a:latin typeface="맑은 고딕"/>
              </a:defRPr>
            </a:pPr>
            <a:r>
              <a:t>핵심: 시험셋에 fit_transform()을 사용하면 Data Leakage 발생!</a:t>
            </a:r>
            <a:br/>
            <a:r>
              <a:t>시험셋은 '가상의 새로운 데이터'이므로, 학습셋의 통계량(min/max)으로만 변환해야 합니다.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PRACTICE P7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6.7 모델링 및 예측/평가하기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KNN Modeling, Prediction &amp;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7000000" cy="38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300">
                <a:solidFill>
                  <a:srgbClr val="D4D4D4"/>
                </a:solidFill>
                <a:latin typeface="Consolas"/>
              </a:defRPr>
            </a:pPr>
            <a:r>
              <a:t>from sklearn.neighbors import KNeighborsClassifier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from sklearn.metrics import accuracy_score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KNN 모델 생성 (기본값: n_neighbors=5)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knn = KNeighborsClassifier()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학습 (데이터 위치만 저장 - Lazy Learning!)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knn.fit(X_train_scaled, y_train)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예측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pred = knn.predict(X_test_scaled)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print(pred)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array([1, 2, 0, 1, 2, 2, 1, 2, 1, 0, ...])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정확도 평가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accuracy_score(y_test, pred)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0.888888888888888  -&gt; 약 89% 정확도!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00000" y="1600000"/>
            <a:ext cx="34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KNN 모델링 3단계: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1. 모델 생성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   KNeighborsClassifier()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2. 학습 - fit()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   데이터 위치를 스크린샷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   (실제 학습 없음! Lazy)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3. 예측 - predict()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   모든 학습 데이터와의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   거리를 계산하여 예측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결과: 약 89% 정확도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(K=5 기본값)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PRACTICE P8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6.8 하이퍼파라미터 튀닝 (1) - K값 변경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Testing Different n_neighbors Values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10500000" cy="26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300">
                <a:solidFill>
                  <a:srgbClr val="6A9955"/>
                </a:solidFill>
                <a:latin typeface="Consolas"/>
              </a:defRPr>
            </a:pPr>
            <a:r>
              <a:t># KNeighborsClassifier() 주요 파라미터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- n_neighbors=5 : 예측에 참고할 이웃 수 (기본값 5)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- weights='uniform' : 가중치 함수 ('uniform'=동일, 'distance'=거리반비례)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- metric='minkowski' : 거리 측정 기준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- n_jobs=None : 실행할 병렬 작업 수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n_neighbors=7로 변경하여 모델링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knn = KNeighborsClassifier(n_neighbors=7)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knn.fit(X_train_scaled, y_train)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pred = knn.predict(X_test_scaled)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accuracy_score(y_test, pred)   # 0.9167 -&gt; 약 92%! (기본값 5보다 높아짐)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400000"/>
            <a:ext cx="10500000" cy="14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300">
                <a:solidFill>
                  <a:srgbClr val="6A9955"/>
                </a:solidFill>
                <a:latin typeface="Consolas"/>
              </a:defRPr>
            </a:pPr>
            <a:r>
              <a:t># n_neighbors=3으로 변경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knn = KNeighborsClassifier(n_neighbors=3)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knn.fit(X_train_scaled, y_train)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pred = knn.predict(X_test_scaled)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accuracy_score(y_test, pred)   # 0.8889 -&gt; 약 89% (기본값과 동일)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D700"/>
                </a:solidFill>
                <a:latin typeface="맑은 고딕"/>
              </a:defRPr>
            </a:pPr>
            <a:r>
              <a:t>n_neighbors에 들어가는 숫자에 따라 예측 결과가 달라짐!</a:t>
            </a:r>
            <a:br/>
            <a:r>
              <a:t>하나하나 수작업으로 확인하는 것은 번거로우므로, for문으로 자동 탐색합시다.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PRACTICE P8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6.8 하이퍼파라미터 튀닝 (2) - 최적 K 탐색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Finding Optimal K with Loop &amp; Visualization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7000000" cy="42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200">
                <a:solidFill>
                  <a:srgbClr val="6A9955"/>
                </a:solidFill>
                <a:latin typeface="Consolas"/>
              </a:defRPr>
            </a:pPr>
            <a:r>
              <a:t># 빈 리스트 생성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scores = []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K=1~20까지 반복하여 최적 K 탐색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for i in range(1, 21):  # 1부터 20까지 반복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    knn = KNeighborsClassifier(n_neighbors=i)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    knn.fit(X_train_scaled, y_train)     # 학습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    pred = knn.predict(X_test_scaled)    # 예측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    acc = accuracy_score(y_test, pred)   # 정확도 계산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    scores.append(acc)                   # 정확도 저장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매개변수 변화에 따른 예측력 변화를 선그래프로 시각화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sns.lineplot(x=range(1, 21), y=scores)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결과: K=14 부근에서 약 97% 최고 정확도!</a:t>
            </a: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13 이후로는 더 나은 개선이 보이지 않음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최종 모델 (K=13으로 확정)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knn = KNeighborsClassifier(n_neighbors=13)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knn.fit(X_train_scaled, y_train)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pred = knn.predict(X_test_scaled)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accuracy_score(y_test, pred)</a:t>
            </a: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0.9722222222222222  -&gt; 최종 약 97% 정확도!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00000" y="1600000"/>
            <a:ext cx="34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  <a:r>
              <a:t>K값별 정확도 변화: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  <a:r>
              <a:t>K=1:  약 92%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  <a:r>
              <a:t>K=3:  약 89%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  <a:r>
              <a:t>K=5:  약 89% (기본값)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  <a:r>
              <a:t>K=7:  약 92%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  <a:r>
              <a:t>K=13: 약 97%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  <a:r>
              <a:t>K=14: 약 97%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  <a:r>
              <a:t>K=20: 약 97%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  <a:r>
              <a:t>13 이후 더 나은 개선 없음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  <a:r>
              <a:t>-&gt; 연산 효율을 고려하면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  <a:r>
              <a:t>   K=13이 합리적 선택!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  <a:r>
              <a:t>최종 정확도: 97.2%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PRACTICE P9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6.9.1 거리 기반의 의미 파악하기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Understanding Distance-Based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05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KNN 알고리즘의 작동 원리: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  새로운 데이터를 예측할 때, 거리를 기반으로 인접한 데이터와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  같은 종류로 분류해내는 기법 (인접한 데이터가 모두 파랑이라면 나도 파랑)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예시 (독립변수 X, Y / 종속변수: 원 또는 세모):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  - 새 데이터 A가 원 주위에 있음 -&gt; 직관적으로 원으로 예측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  - 새 데이터 B가 세모 주위에 있음 -&gt; 직관적으로 세모로 예측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경계가 모호한 경우 (C가 원/세모 사이에 있을 때):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  K=1: 가장 가까운 이웃 1개 -&gt; 원(1)이므로 원으로 분류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  K=2: 가까운 2개 -&gt; 원1 + 세모1 = 동점! -&gt; 사이킷런은 랜덤 분류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  K=3: 가까운 3개 -&gt; 원1 + 세모2 -&gt; 세모로 분류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이것이 KNeighborsClassifier()의 매개변수 n_neighbors의 역할!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K-최근접 이웃이 왜 '거리 기반 모델'인지 이해가 되었을 것입니다.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PRACTICE P9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6.9.2~4 스케일링 중요성, 동점 처리, 계산 특징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Scaling Impact, Tie-Breaking, Lazy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0000"/>
            <a:ext cx="5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700"/>
                </a:solidFill>
                <a:latin typeface="맑은 고딕"/>
              </a:defRPr>
            </a:pPr>
            <a:r>
              <a:t>6.9.2 스케일링의 중요성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00000"/>
            <a:ext cx="5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X와 Y의 스케일이 비슷하면 문제 없음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X가 Y보다 2배가량 크다면: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-&gt; 데이터가 X 방향으로 늘어남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-&gt; 가까운 이웃이 바뀌!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-&gt; 분류 결과가 달라질 수 있음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-&gt; 스케일링으로 일관된 범위 통일!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0000" y="1500000"/>
            <a:ext cx="5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700"/>
                </a:solidFill>
                <a:latin typeface="맑은 고딕"/>
              </a:defRPr>
            </a:pPr>
            <a:r>
              <a:t>6.9.3 동점일 때 처리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0000" y="1900000"/>
            <a:ext cx="5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동점 해결 방법: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1. 홀수(Odd) K 사용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 1, 3, 5, 7, 9... -&gt; 동점 방지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2. 가중치(weights) 부여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 weights='distance' 사용 시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 거리가 더 가까운 쪽으로 결정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700"/>
                </a:solidFill>
                <a:latin typeface="맑은 고딕"/>
              </a:defRPr>
            </a:pPr>
            <a:r>
              <a:t>6.9.4 K-최근접 이웃 알고리즘의 계산 특징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00000"/>
            <a:ext cx="105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KNN은 예측할 데이터와 기존 데이터의 거리만 계산하면 됨: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fit() 과정: 트레이닝 데이터의 위치를 스크린샷하는 정도 (별다른 학습 없음) -&gt; 순식간에 완료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predict() 과정: 새로운 데이터와 모든 학습 데이터 사이의 거리를 계산 -&gt; 데이터 규모가 클 때 상당한 시간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선형 회귀나 로지스틱 회귀의 fit()은 모델에 대한 수식을 만들어내 예측을 사용하지만,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KNN은 이러한 과정이 필요 없음 -&gt; 이것이 게으른 학습(Lazy Learning)의 특징!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PRACTICE 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전체 실습 코드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Complete Code - Data Loading &amp; 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10500000" cy="48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200">
                <a:solidFill>
                  <a:srgbClr val="6A9955"/>
                </a:solidFill>
                <a:latin typeface="Consolas"/>
              </a:defRPr>
            </a:pPr>
            <a:r>
              <a:t># ===== 1. 라이브러리 및 데이터 불러오기 =====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import matplotlib.pyplot as plt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import seaborn as sns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file_url = 'https://media.githubusercontent.com/media/musthave-ML10/data_source/main/wine.csv'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data = pd.read_csv(file_url)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===== 2. 데이터 확인하기 =====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data.head()                    # 상위 5행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data.info()                    # 변수 특징 (결측치 발견: alcohol 2개, nonflavanoid_phenols 5개)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data.describe()                # 통계정보 (변수별 스케일 차이 발견)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===== 3. 목표값 고유값 확인 =====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data['class'].unique()         # [0, 1, 2] - 3가지 등급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data['class'].value_counts()   # 1:71, 0:59, 2:48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sns.countplot(data['class'])   # 시각화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===== 4. 결측치 처리 =====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data.isna().sum()              # alcohol:2, nonflavanoid_phenols:5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data.isna().mean()             # 비율: 1.12%, 2.81%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data.fillna(data.median(), inplace=True)  # 중윗값으로 채우기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data.isna().mean()             # 모두 0.0 확인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PRACTICE 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전체 실습 코드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Complete Code - Scaling, Modeling &amp; Tuning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10500000" cy="48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100">
                <a:solidFill>
                  <a:srgbClr val="6A9955"/>
                </a:solidFill>
                <a:latin typeface="Consolas"/>
              </a:defRPr>
            </a:pPr>
            <a:r>
              <a:t># ===== 5. 스케일링 (MinMaxScaler) =====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from sklearn.model_selection import train_test_split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from sklearn.preprocessing import MinMaxScaler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X = data.drop('class', axis=1)              # 독립변수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y = data['class']                            # 종속변수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X_train, X_test, y_train, y_test = train_test_split(X, y, test_size=0.2, random_state=100)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mm_scaler = MinMaxScaler()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X_train_scaled = mm_scaler.fit_transform(X_train)   # 학습셋: fit + transform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X_test_scaled = mm_scaler.transform(X_test)          # 시험셋: transform만!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# ===== 6. 모델링 및 예측 =====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from sklearn.neighbors import KNeighborsClassifier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from sklearn.metrics import accuracy_score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knn = KNeighborsClassifier()                         # 기본 K=5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knn.fit(X_train_scaled, y_train)                     # 학습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pred = knn.predict(X_test_scaled)                    # 예측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print(f'기본(K=5) 정확도: {accuracy_score(y_test, pred):.4f}')   # 0.8889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# ===== 7. 하이퍼파라미터 튀닝 =====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scores = []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for i in range(1, 21):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    knn = KNeighborsClassifier(n_neighbors=i)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    knn.fit(X_train_scaled, y_train)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    pred = knn.predict(X_test_scaled)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    scores.append(accuracy_score(y_test, pred))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sns.lineplot(x=range(1, 21), y=scores)               # K별 정확도 그래프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# ===== 8. 최종 모델 (K=13) =====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knn = KNeighborsClassifier(n_neighbors=13)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knn.fit(X_train_scaled, y_train)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pred = knn.predict(X_test_scaled)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print(f'최종(K=13) 정확도: {accuracy_score(y_test, pred):.4f}')  # 0.9722 (약 97%)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SUMMARY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학습 마무리 - 되짚어보기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Chapter 6 Workflow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D700"/>
                </a:solidFill>
                <a:latin typeface="맑은 고딕"/>
              </a:defRPr>
            </a:pPr>
            <a:r>
              <a:t>6.1 문제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0000" y="1600000"/>
            <a:ext cx="7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CCCCCC"/>
                </a:solidFill>
                <a:latin typeface="맑은 고딕"/>
              </a:defRPr>
            </a:pPr>
            <a:r>
              <a:t>와인 정보를 사용하여 와인 등급을 예측하는 모델을 만들어 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6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D700"/>
                </a:solidFill>
                <a:latin typeface="맑은 고딕"/>
              </a:defRPr>
            </a:pPr>
            <a:r>
              <a:t>6.2 라이브러리 및 데이터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2160000"/>
            <a:ext cx="7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CCCCCC"/>
                </a:solidFill>
                <a:latin typeface="맑은 고딕"/>
              </a:defRPr>
            </a:pPr>
            <a:r>
              <a:t>판다스, 넘파이, 맷플롯립, 시분 라이브러리 임포트. 예제 데이터셋 불러옴.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2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D700"/>
                </a:solidFill>
                <a:latin typeface="맑은 고딕"/>
              </a:defRPr>
            </a:pPr>
            <a:r>
              <a:t>6.3 데이터 확인하기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0" y="2720000"/>
            <a:ext cx="7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CCCCCC"/>
                </a:solidFill>
                <a:latin typeface="맑은 고딕"/>
              </a:defRPr>
            </a:pPr>
            <a:r>
              <a:t>결측치가 있음을 확인. KNN에서는 변수의 스케일이 중요하는데, 스케일이 다른 것을 확인.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8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D700"/>
                </a:solidFill>
                <a:latin typeface="맑은 고딕"/>
              </a:defRPr>
            </a:pPr>
            <a:r>
              <a:t>6.4 목표값 확인하기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3280000"/>
            <a:ext cx="7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CCCCCC"/>
                </a:solidFill>
                <a:latin typeface="맑은 고딕"/>
              </a:defRPr>
            </a:pPr>
            <a:r>
              <a:t>와인이 몇 가지 등급을 갖는지 확인 (class 0, 1, 2 -&gt; 다중분류).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D700"/>
                </a:solidFill>
                <a:latin typeface="맑은 고딕"/>
              </a:defRPr>
            </a:pPr>
            <a:r>
              <a:t>6.5 전처리: 결측치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0000" y="3840000"/>
            <a:ext cx="7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CCCCCC"/>
                </a:solidFill>
                <a:latin typeface="맑은 고딕"/>
              </a:defRPr>
            </a:pPr>
            <a:r>
              <a:t>중윗값으로 결측치를 채움 (fillna + median). KNN은 거리 계산이므로 결측치 필수 처리.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0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D700"/>
                </a:solidFill>
                <a:latin typeface="맑은 고딕"/>
              </a:defRPr>
            </a:pPr>
            <a:r>
              <a:t>6.6 스케일링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4400000"/>
            <a:ext cx="7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CCCCCC"/>
                </a:solidFill>
                <a:latin typeface="맑은 고딕"/>
              </a:defRPr>
            </a:pPr>
            <a:r>
              <a:t>거리 기반 모델이므로 MinMaxScaler로 변수들의 스케일을 맞춤.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6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D700"/>
                </a:solidFill>
                <a:latin typeface="맑은 고딕"/>
              </a:defRPr>
            </a:pPr>
            <a:r>
              <a:t>6.7 모델링 및 예측/평가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0000" y="4960000"/>
            <a:ext cx="7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CCCCCC"/>
                </a:solidFill>
                <a:latin typeface="맑은 고딕"/>
              </a:defRPr>
            </a:pPr>
            <a:r>
              <a:t>KNN으로 와인을 3개 등급으로 분류. 기본값(K=5)으로 약 89% 정확도.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52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D700"/>
                </a:solidFill>
                <a:latin typeface="맑은 고딕"/>
              </a:defRPr>
            </a:pPr>
            <a:r>
              <a:t>6.8 하이퍼파라미터 튀닝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5520000"/>
            <a:ext cx="7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CCCCCC"/>
                </a:solidFill>
                <a:latin typeface="맑은 고딕"/>
              </a:defRPr>
            </a:pPr>
            <a:r>
              <a:t>K=1~20 탐색하여 최적 K=13 발견. 최종 정확도 약 97%!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EXERCISE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연습 문제 (교재 p.208)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Review Questions from Textbook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05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  <a:r>
              <a:t>Q1. 다음 중 결측치에 대한 설명으로 옮지 않은 것은?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  <a:r>
              <a:t>  (1) 결측치는 데이터가 비어있는 값을 의미한다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  <a:r>
              <a:t>  (2) 결측치는 비어있는 값이므로 숫자 0과 같다  &lt;- 정답! (0도 하나의 입력값. 결측치는 빈 값이므로 0과 같다고 할 수 없음)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  <a:r>
              <a:t>  (3) 결측치가 너무 많은 변수는 변수 자체를 제거할 수 있다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  <a:r>
              <a:t>  (4) 결측치가 많지 않은 경우는 결측치가 있는 행을 제거할 수 있다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  <a:r>
              <a:t>Q2. 다음 중 스케일링 결과가 0~1 사이로 표현되는 방법은?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  <a:r>
              <a:t>  (1) Standard Scaling  (2) Robust Scaling  (3) Min-Max Scaling &lt;- 정답! (최솟값 0, 최댓값 1로 변환)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  <a:r>
              <a:t>Q3. 다음은 KNN에 대한 설명 중 옮지 않은 것은?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  <a:r>
              <a:t>  (1) 예측하려는 데이터 주위에 있는 데이터들을 활용하는 예측 기법이다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  <a:r>
              <a:t>  (2) 모델링 과정에서 참고하려는 이웃 수 K를 설정할 수 있다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  <a:r>
              <a:t>  (3) 이웃 수 K는 많을수록 좋은 결과를 보여준다 &lt;- 정답! (K가 너무 크면 오히려 예측력 저하)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  <a:r>
              <a:t>  (4) 3개 이상의 다중분류에 활용할 수 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