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44.xml"/><Relationship Id="rId30" Type="http://schemas.openxmlformats.org/officeDocument/2006/relationships/slide" Target="slides/slide45.xml"/><Relationship Id="rId31" Type="http://schemas.openxmlformats.org/officeDocument/2006/relationships/slide" Target="slides/slide46.xml"/><Relationship Id="rId32" Type="http://schemas.openxmlformats.org/officeDocument/2006/relationships/slide" Target="slides/slide47.xml"/><Relationship Id="rId33" Type="http://schemas.openxmlformats.org/officeDocument/2006/relationships/slide" Target="slides/slide48.xml"/><Relationship Id="rId34" Type="http://schemas.openxmlformats.org/officeDocument/2006/relationships/slide" Target="slides/slide49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FF"/>
                </a:solidFill>
                <a:latin typeface="맑은 고딕"/>
              </a:defRPr>
            </a:pPr>
            <a:r>
              <a:t>第6章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K-近邻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맑은 고딕"/>
              </a:defRPr>
            </a:pPr>
            <a:r>
              <a:t>K-近邻算法 (KNN)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749039"/>
            <a:ext cx="3047695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惰性学习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935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距离度量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9992" y="42062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9992" y="4251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度量学习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机器学习 | 2026年第1学期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第6章 概览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惰性学习, 다수결 原理, 理论 保证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96596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2402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欧几里得, 曼哈顿, 민코프스키, 余弦, 马氏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偏差-方差权衡, 交叉验证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10896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337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距离集中 현상, Beyer et al. (1999)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距离度量 学习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LMNN, Weinberger &amp; Saul (2009)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16052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14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缩放 &amp; 전处理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434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StandardScaler, MinMaxScaler, 数据泄露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效率적 搜索 &amp; 변형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KD-Tree, Ball-Tree, ANN, 加权 KNN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5257800"/>
            <a:ext cx="502920" cy="50292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3035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응용 사례 &amp; 实验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532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맑은 고딕"/>
              </a:defRPr>
            </a:pPr>
            <a:r>
              <a:t>推荐系统, 异常检测, 스크래치 实现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KNN의 직관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"비슷한 것은 가까이" 假设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"新的 数据点의 정체를 알고 싶다면, 그 주변에 있는 邻居들을 살펴보라."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KNN 算法 동작 过程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1188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1) 现有的 모든 训练数据和의 距离를 计算한다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2) 距离가 最 最近的 K개의 邻居을 选择한다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3) [分类] K개 邻居의 类别 중 다수결로 결정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[回归] K개 邻居의 타깃값 均值/平均을 预测值以/用 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291840"/>
            <a:ext cx="566928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33832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分类 预测 公式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749039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y_hat = argmax_c  SUM [ 1(y_i = c) ]  for i in N_K(x)</a:t>
            </a:r>
            <a:br/>
            <a:br/>
            <a:r>
              <a:t>N_K(x): 쿼리 포인트 x의 K개 近邻 索引 집합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937760"/>
            <a:ext cx="5669280" cy="14630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5029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일상의 비유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394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집값 추정 -&gt; 주변 집들의 시세를 参考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영화 推荐 -&gt; 취향 비슷한 친구들의 의견 参考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의료 진단 -&gt; 类似 환자 사례를 参考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惰性学习 vs 적극적 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惰性学习 vs. 积极学习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类别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惰性学习 (Lazy)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9202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965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적극적 学习 (Eager)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46888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阶段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(数据 存储만)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560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模型 参数를 学习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301752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预测 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모든 计算이 预测 시 발생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学习된 模型로 빠르게 预测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 算法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로지스틱 回归, SVM, 신경망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411480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速度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O(1) - 存储만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느림 (参数 最优화)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663440"/>
            <a:ext cx="3657600" cy="5029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预测 速度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O(Nd) - 全部 距离 计算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5212080"/>
            <a:ext cx="3657600" cy="50292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内存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全部 训练数据 보관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303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模型 参数만 보관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5778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669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Cover &amp; Hart (1967) 理论 保证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R* &lt;= R*_NN &lt;= 2R*(1 - R*)  |  1-NN의 错误率은 베이즈 最优 错误率의 2배를 넘지 않는다 (무한 数据 假设)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 측도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欧几里得距离 &amp; 曼哈顿距离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欧几里得距离 (Euclidean Distance, L2)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sqrt( SUM (xi - yi)^2 )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점 사이의 직선 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KNN의 默认(default) 距离 척도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距离中/从 p=2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A(1,2)和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sqrt((4-1)^2 + (6-2)^2)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 sqrt(9 + 16) = sqrt(25) = 5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연속형 수치 特征에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特征의 尺度이 동일할 때 有效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曼哈顿距离 (Manhattan Distance, L1)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 y) = SUM |xi - yi|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축 방향 절대 距离의 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격자(Grid) 形式의 경로 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민코프스키 距离中/从 p=1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예시: A(1,2)和 B(4,6)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= |4-1| + |6-2|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 3 + 4 = 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뉴욕 曼哈顿의 격자형 도로中/从 유래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고차圆中/从 L2比 距离集中이 较少 심함 (Beyer et al.)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第2节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 측도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민코프스키, 余弦相似度, 马氏距离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민코프스키 距离 (Lp)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d(x,y) = ( SUM |xi-yi|^p )^(1/p)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p=1 : 曼哈顿距离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p=2 : 欧几里得距离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p-&gt;inf : 切比雪夫距离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余弦相似度 (Cosine)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cos(x,y) = (x . y) / (||x|| ||y||)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向量의 방향만 考虑 (大小 무시)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텍스트 分类, 推荐系统에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TF-IDF 向量 比较에 특히 有效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20240"/>
            <a:ext cx="3474720" cy="21945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马氏距离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d_M(x,y) = sqrt((x-y)^T M (x-y))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M=I : 欧几里得距离和 동일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数据의 协方差 结构 반영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LMNN中/从 M을 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距离 측도 选择 가이드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09160"/>
            <a:ext cx="13716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32004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560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4937760"/>
            <a:ext cx="4114800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0" y="49560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适用场景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937760"/>
            <a:ext cx="3749039" cy="36576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495604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맑은 고딕"/>
              </a:defRPr>
            </a:pPr>
            <a:r>
              <a:t>注意 사항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349240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5349240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5349240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37667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欧几里得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37667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연속형, 동일 尺度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37667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缩放 必需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96712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5696712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5696712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7241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曼哈顿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7241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고차圆, 희소 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7241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L2比 距离集中 완화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6044184"/>
            <a:ext cx="32004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6044184"/>
            <a:ext cx="4114800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63840" y="6044184"/>
            <a:ext cx="3749039" cy="3200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7161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余弦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31920" y="6071616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텍스트, 방향 重要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60716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大小 信息 손실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6391656"/>
            <a:ext cx="32004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49039" y="6391656"/>
            <a:ext cx="4114800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6391656"/>
            <a:ext cx="3749039" cy="3200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41908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马氏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31920" y="6419088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상관 特征 존재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64190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协方差 추정 需要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第3节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偏差-方差权衡 (Bias-Variance Tradeoff)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K가 작을 때 (K=1~3)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过拟合 (Overfitting)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方差(Variance)이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노이즈에 非常 민감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边界가 复杂/불规则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训练数据에만 잘 맞음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泛化 性能 낮음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K가 적당할 때 (K=5~15)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均衡 (Balanced)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泛化 性能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안정적 性能 달성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偏差和 方差의 均衡점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交叉验证以/用 搜索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 이상적인 状态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920240"/>
            <a:ext cx="338328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K가 클 때 (K=50+)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774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欠拟合 (Underfitting)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偏差(Bias)이 높다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지역 模式(Local Pattern) 무시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边界가 지나치게 简单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K=N이면 总是 다수 类别 预测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分类 性能 저하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72000"/>
            <a:ext cx="57607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66344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기대 预测 오차 分解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MSE(f_hat(x)) = 偏差^2[f_hat(x)] + Var[f_hat(x)] + sigma^2</a:t>
            </a:r>
            <a:br/>
            <a:r>
              <a:t>K 增加 -&gt; 偏差 增加, 方差 减少  /  K 减少 -&gt; 偏差 减少, 方差 增加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572000"/>
            <a:ext cx="502920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46634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K값 选择 实用 가이드라인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50292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奇数(Odd) 使用 -&gt; 동률(tie) 방지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sqrt(N) 规则: K = sqrt(N)을 시작점以/用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交叉验证(Cross-Validation)以/用 最优값 搜索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K=1~20 范围中/从 准确率 图表 그려보기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第4节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维度灾难 - Beyer et al. (1999)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距离集中 현상 (Distance Concentration)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8288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lim (d-&gt;inf) (D_max - D_min) / D_min -&gt; 0</a:t>
            </a:r>
            <a:br/>
            <a:br/>
            <a:r>
              <a:t>고차圆中/从 모든 数据点가 쿼리 포인트从</a:t>
            </a:r>
            <a:br/>
            <a:r>
              <a:t>"거의 相同 距离"에 위치하게 됨</a:t>
            </a:r>
            <a:br/>
            <a:r>
              <a:t>-&gt; '最 最近的 邻居'의 含义가 퇴색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数学 직관 (CLT 기반)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X1,...,Xd가 i.i.d., 方差 sigma^2인 情况: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D^2 = SUM Xi^2 ~ d*mu + sqrt(d)*sigma*Z  (CLT)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 ~ sqrt(d*mu), 변동 폭 ~ O(sqrt(d))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 - D_min) / D_min = O(1/sqrt(d)) -&gt; 0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차圆이 增加하면 모든 점들의 距离가 相同 값以/用 收敛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Lp 范数의 영향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377440"/>
            <a:ext cx="52120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Beyer et al. 核心 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346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增加할수록 距离集中이 更 심해진다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(曼哈顿)이 L2 (欧几里得)比 고차圆中/从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L_inf 가 最 심한 距离集中을 보인다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因此 고차圆中 L1 范数을 권장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맑은 고딕"/>
              </a:defRPr>
            </a:pPr>
            <a:r>
              <a:t>实际应对方案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521208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解决策略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12064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降维 (PCA, t-SNE) - 유효 차圆을 줄여 距离 含义 회복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选择 (Feature Selection) - 관련 없는 特征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距离度量 学习 (LMNN) - 分类 最优화된 距离函数 学习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 范数 使用 - L2比 距离集中 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第5节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距离度量学习 (LMNN)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核心思想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欧几里得距离는 모든 特征을 동등하게 취급但是,</a:t>
            </a:r>
            <a:br/>
            <a:r>
              <a:t>分类에 重要한 特征和 그렇지 않은 特征은 다르다.</a:t>
            </a:r>
            <a:br/>
            <a:r>
              <a:t>LMNN은 分类 性能을 最优화하는 马氏距离 M을 学习한다.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당기는 힘 (Pull)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相同 类别의 K개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타깃 邻居(target neighbors)을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가까이 당긴다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(1-mu) * SUM d_M^2(xi, xj)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32918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33832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밀치는 힘 (Push)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40"/>
            <a:ext cx="2194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其他的 类别의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入侵者(imposters)를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远 밀어낸다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mu * SUM xi_ijl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39496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LMNN 목적 函数 &amp; 제약 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min_M  (1-mu)*SUM d_M^2(xi,xj) + mu*SUM xi_ijl</a:t>
            </a:r>
            <a:br/>
            <a:r>
              <a:t>s.t.  d_M^2(xi,xl) - d_M^2(xi,xj) &gt;= 1 - xi_ijl,  xi_ijl &gt;= 0</a:t>
            </a:r>
            <a:br/>
            <a:r>
              <a:t>j: 타깃 邻居 (相同 类别),  l: 入侵者 (其他的 类别)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LMNN 算法 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学习 포인트에 相同 类别 K개 타깃 邻居 选定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迭代: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a. 현재 M以/用 距离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b. 其他的 类别 入侵者(imposter) 식별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c. 그래디언트 计算 及 M 업데이트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d. M의 正的 반정치성 保证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(负的 唯一值을 0以/用 投影)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收敛 시 M 返回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937760"/>
            <a:ext cx="53035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LMNN의 성和 (MNIST)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3949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1-NN 错误率: 2.97% -&gt; 1.20% (약 60% 减少)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原理를 KNN에 성공적以/用 도입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적절한 距离函数 选择이 算法 更改比</a:t>
            </a:r>
          </a:p>
          <a:p>
            <a:pPr>
              <a:spcAft>
                <a:spcPts val="5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更 大的 性能 提升을 가져올 수 있음을 입증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缩放的重要性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基于距离算法的特征缩放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缩放이 需要한 이유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葡萄酒 数据 예시:</a:t>
            </a:r>
            <a:br/>
            <a:r>
              <a:t>proline: 范围 278 ~ 1680 (非常 큼)</a:t>
            </a:r>
            <a:br/>
            <a:r>
              <a:t>hue:     范围 0.48 ~ 1.71 (非常 작음)</a:t>
            </a:r>
            <a:br/>
            <a:br/>
            <a:r>
              <a:t>缩放 없이 欧几里得距离를 计算하면</a:t>
            </a:r>
            <a:br/>
            <a:r>
              <a:t>proline이 距离를 지배, hue는 사실상 무시됨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StandardScaler（标准化）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z = (x - 均值) / std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0, 标准差 1로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正态分布 数据에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민감 (低的 강건성)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MinMaxScaler（最小-最大）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min) / (max - min)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范围로 转换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范围 제한이 需要할 때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异常值에 민감 (低的 강건성)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RobustScaler（稳健）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x_scaled = (x - 中位数) / IQR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IQR = Q3 - Q1 (四分位 范围)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异常值(Outlier)가 많은 数据에 有效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高的 강건성 (中位数, IQR 기반)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防止数据泄露（非常重要！）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[올바른 方法]</a:t>
            </a:r>
            <a:br/>
            <a:r>
              <a:t>训练数据: fit_transform() -&gt; 통계량 学习 + 转换</a:t>
            </a:r>
            <a:br/>
            <a:r>
              <a:t>测试数据: transform() -&gt; 学习 통계량以/用 转换만</a:t>
            </a:r>
            <a:br/>
            <a:br/>
            <a:r>
              <a:t>[잘못된 方法] - Data Leakage!</a:t>
            </a:r>
            <a:br/>
            <a:r>
              <a:t>测试数据에도 fit_transform() 使用 -&gt; 和대평가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943600"/>
            <a:ext cx="1106424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올바른 파이프라인:  训练数据 --fit_transform()--&gt; 缩放된 训练数据  |  (통계량 存储)  |  测试数据 --transform()--&gt; 缩放된 测试数据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第6节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预处理：缺失值处理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缺失值处理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缺失值 检查 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          # 각 셀 True/False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data.isna().sum()     # 각 列의 缺失值 数量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data.isna().mean()    # 각 列의 缺失值 比例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行 删除: dropna()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 包含 行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data.dropna()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优点: 简单하고 빠르다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缺点: 数据 손실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 比例 5% 미만일 때 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566160"/>
            <a:ext cx="338328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(2) 列 删除: drop()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0233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缺失值가 너무 많은 列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data.drop(['col'], axis=1)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 比例 40~50% 이상일 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相应 特征 자체가 불需要 판단 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3566160"/>
            <a:ext cx="3749039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65760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(3) 값 대체: fillna()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023360"/>
            <a:ext cx="33832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缺失值를 特定 값以/用 대체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均值/平均(Mean): 正态分布 数据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中位数(Median): 异常值에 강건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众数(Mode): 分类变量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data.fillna(data.median())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920240"/>
            <a:ext cx="5303520" cy="13716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KNN中/从 缺失值 处理가 必需인 이유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317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KNN은 基于距离 算法이므로</a:t>
            </a:r>
            <a:br/>
            <a:r>
              <a:t>缺失值(NaN)가 있으면 距离 计算 자체가 不可能</a:t>
            </a:r>
            <a:br/>
            <a:r>
              <a:t>-&gt; 必须 전处理 阶段中/从 处理必须</a:t>
            </a:r>
            <a:br/>
            <a:br/>
            <a:r>
              <a:t>葡萄酒 实验: data.fillna(data.median(), inplace=True)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대체 方法 比较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均值/平均(Mean): 异常值에 민감, 正态分布에 适合  |  中位数(Median): 异常值에 강건, 异常值 존재 시 推荐  |  众数(Mode): 범주형 数据  |  特定 값(-99, 0): 결측 자체에 含义가 있을 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高效搜索算法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KD-Tree、Ball-Tree、ANN方法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축 정렬 초평면以/用 재귀 분할하는 이진 트리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노드中/从 中位数 标准 이분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가지치기(pruning)로 搜索 范围 축소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구축: O(N log 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搜索: 均值/平均 O(log N), 최악 O(N)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한계: d &gt; 20中/从 效率 저하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2024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Ball-Tree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7744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초구(hypersphere)로 空间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KD-Tree의 고차圆 한계 극복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 먼 두 점 标准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삼각 부등식 应用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KD-Tree比 고차圆中/从 效率적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임의의 距离度量 使用 可能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92024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2011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Brute Force (전수 搜索)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237744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数据和의 距离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 复杂도: O(Nd)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准确率 100% 保证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소규모 数据에 适合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sklearn中/从 algorithm='brute'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차圆이 높으면 오히려 效率적일 수 있음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06CFF"/>
                </a:solidFill>
                <a:latin typeface="맑은 고딕"/>
              </a:defRPr>
            </a:pPr>
            <a:r>
              <a:t>ANN (Approximate Nearest Neighbor) 方法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00600"/>
            <a:ext cx="182880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338328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LSH (Locality-Sensitive Hashing)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해시 函数로 最近的 점들을 相同 버킷에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시간: O(1) ~ O(N^rho), rho &lt; 1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余弦/欧几里得距离 LSH 패밀리 존재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4937760"/>
            <a:ext cx="347472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50292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FAISS (Facebook 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53949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수십억 向量中/从 밀리초 검색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GPU 가속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IVF, PQ 등 다양한 索引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4937760"/>
            <a:ext cx="3657600" cy="1554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59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Annoy (Spotify)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3949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랜덤 投影 트리 使用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内存 매핑(mmap) 지圆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한 번 구축 후 빠른 검색 最优화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KNN变体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加权KNN、KNN回归、特征加权KNN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(1) 加权KNN (Weighted KNN)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距离에 반비례하는 权重 부여: w_i = 1/d(x, x_i)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最近的 邻居의 영향력을 키운다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K값 选择에 较少 민감해진다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al.(2003): 均值/平均 1~3% 准确率 提升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KNeighborsClassifier(weights='distance')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(2) KNN回归 (KNN Regression)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연속값 预测에 KNN 应用 - Altman(1992)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加权: f_hat(x) = (1/K) * SUM y_i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 加权: f_hat(x) = SUM(w_i*y_i) / SUM(w_i)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적응적 대역폭(adaptive bandwidth) 特征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KNeighborsRegressor(weights='distance')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(3) 特征加权KNN (Feature-Weighted)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Guo et al.(2003) 提出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特征의 分类 관련성根据 权重 차별 부여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d_w(x,y) = sqrt( SUM w_k*(x_k - y_k)^2 )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w_k: k번째 特征 权重 (信息 이득 등以/用 결정)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2~4% 准确率 提升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29768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(4) 编辑KNN (Edited KNN)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训练数据中/从 노이즈 实例 사전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자신의 K개 邻居 중 다수和 类别가 其他的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实例를 노이즈로 判定하고 删除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预测 품질 提升 + 存储 空间 절약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均值/平均 1~3% 准确率 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KNN的优缺点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优点与缺点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优点 (Advantages)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3716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简单하고 直觉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算法 原理가 简单하여 이해和 实现이 쉽다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4612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学习 过程 불需要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별도의 模型 训练이 需要 없다 (数据 存储만)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69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다중 类别 分类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자연스럽게 여러 类别로의 分类가 可能하다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非线性 결정 边界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复杂한 결정 边界를 표현可以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77840"/>
            <a:ext cx="502920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23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分类/回归 全部 可能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97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相同 原理로 두 问题 全部 应用 可能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缺点 (Disadvantages)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286000"/>
            <a:ext cx="137160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60" y="246888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느린 预测 速度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788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预测 시 모든 数据和의 距离 计算 需要 O(Nd)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24612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2918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高的 内存 요구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全部 训练数据를 内存에 보관必须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02336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特征이 많아지면 距离集中以/用 性能 저하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0060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846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尺度에 민감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120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特征 간 尺度 차이가 结果를 왜곡한다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5577840"/>
            <a:ext cx="5303520" cy="685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56235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맑은 고딕"/>
              </a:defRPr>
            </a:pPr>
            <a:r>
              <a:t>불均衡 数据에 취약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8978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다수 类别에 偏差된 预测 可能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第7节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KNeighborsClassifier 主要超参数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sklearn API参考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参数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201168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20574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默认值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011680"/>
            <a:ext cx="66751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256032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37760" y="256032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n_neighbors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67004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67004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邻居의 수 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0040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320040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320040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101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weights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31012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'uniform'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1012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'uniform': 동일 权重 / 'distance': 距离에 반비례 权重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4048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0" y="384048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37760" y="384048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9502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度量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9502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'minkowski'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95020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距离度量 方法 (euclidean, manhattan, cosine 등)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80560"/>
            <a:ext cx="25603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4480560"/>
            <a:ext cx="182880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937760" y="4480560"/>
            <a:ext cx="6675120" cy="548640"/>
          </a:xfrm>
          <a:prstGeom prst="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5902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59028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59028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민코프스키 距离의 p값 (1: 曼哈顿, 2: 欧几里得)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120640"/>
            <a:ext cx="25603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08960" y="5120640"/>
            <a:ext cx="182880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37760" y="5120640"/>
            <a:ext cx="6675120" cy="54864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2303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Consolas"/>
              </a:defRPr>
            </a:pPr>
            <a:r>
              <a:t>算法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230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8C00"/>
                </a:solidFill>
                <a:latin typeface="Consolas"/>
              </a:defRPr>
            </a:pPr>
            <a:r>
              <a:t>'auto'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0640" y="5230368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邻居 搜索 算法 (auto, ball_tree, kd_tree, brute)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76072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06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6080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knn = KNeighborsClassifier(n_neighbors=5, weights='distance', 度量='minkowski', p=2, 算法='auto')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论文综述 (1)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Cover &amp; Hart (1967) / Beyer et al. (1999)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"近邻 Pattern 分类"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IEEE Trans. on Information Theory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[核心 贡献]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NN 分类기 错误率 上界 证明: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 &lt;= R*_NN &lt;= 2R*(1 -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다중 类别 扩展: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R*_NN &lt;= R*(2 - M/(M-1) * R*)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K-NN 泛化: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K-&gt;inf, K/N-&gt;0이면 베이즈 最优 收敛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임의의 메트릭 空间中/从도 成立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[한계] 무한 数据 假设, 维度灾难 미논의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"When Is 近邻 Meaningful?"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ICDT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[核心 贡献]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距离集中 현상 数学 阐明: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lim (D_max-D_min)/D_min -&gt; 0 (d-&gt;inf)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i.i.d. 特征 假设 하中/从: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(D_max-D_min)/D_min = O(1/sqrt(d))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Lp 范数 分析: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L1이 L2比 고차圆中/从 양호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p가 클수록 距离集中이 심해짐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[의의] KNN의 根本 한계를 理论以/用 阐明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第8节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论文综述 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Weinberger &amp; Saul (2009) / Altman (1992) / Guo et al. (2003)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"距离度量 Learning for LMNN"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JMLR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马氏距离 学习 (LMNN)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SVM의 대규모 마진 -&gt; KNN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Pull (相同 类别 近게)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Push (其他的 类别 远)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MNIST 오류 2.97% -&gt; 1.20%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774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"Kernel and NN Nonparametric 回归"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The American Statistician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커널 回归和 KNN 回归를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통합적 프레임워크中/从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偏差-方差权衡 分析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KNN의 적응적 대역폭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(밀집=좁은 창, 희소=넓은 창)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92024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"KNN Model-Based Approach"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OTM Conferences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변형의 체계적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 K 选择: +2~5%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加权 KNN: +1~3%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特征 加权 KNN: +2~4%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노이즈 删除 KNN: +1~3%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3776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5편 论文의 核心 메시지 통합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949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Cover &amp; Hart (1967): KNN은 理论以/用 강력한 保证을 가진 算法이다 (베이즈 最优의 2배 이내)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(1999): 고차圆中/从 KNN의 根本 한계를 인지必须 (距离集中 현상)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(2009): 距离函数를 学习하면 KNN 性能이 극적以/用 提升된다 (LMNN)</a:t>
            </a:r>
          </a:p>
          <a:p>
            <a:pPr>
              <a:spcAft>
                <a:spcPts val="6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Altman (1992) &amp; Guo et al. (2003): KNN의 다양한 변형和 튜닝以/用 实用 性能을 높일 수 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实验1：KNN从零实现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从零实现KNN分类器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实现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欧几里得距离 / 曼哈顿距离 기반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균일 权重 / 距离 权重 KNN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交叉验证 기반 最优 K 选择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KNeighborsClassifier和 性能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数据: sklearn load_wine() (3 类别, 13 特征)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核心 实现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fit(): 训练数据 存储만 수行 (惰性学习)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_predict_single(): 全部 距离 计算 -&gt; K개 选择 -&gt;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Counter를 应用한 다수결 투표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距离 权重: w = 1/d (距离 0일 때 处理 需要)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sklearn和 相同的 结果 检查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11064240" cy="23774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核心 코드 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class KNNClassifier:</a:t>
            </a:r>
            <a:br/>
            <a:r>
              <a:t>    def fit(self, X, y):</a:t>
            </a:r>
            <a:br/>
            <a:r>
              <a:t>self.X_train = X  # 存储만!</a:t>
            </a:r>
            <a:br/>
            <a:r>
              <a:t>self.y_train = y</a:t>
            </a:r>
            <a:br/>
            <a:br/>
            <a:r>
              <a:t>    def _predict_single(self, x):</a:t>
            </a:r>
            <a:br/>
            <a:r>
              <a:t>distances = [d(x, x_i) for x_i in self.X_train]</a:t>
            </a:r>
            <a:br/>
            <a:r>
              <a:t>k_idx = argsort(distances)[:self.k]</a:t>
            </a:r>
            <a:br/>
            <a:r>
              <a:t>k_labels = self.y_train[k_idx]</a:t>
            </a:r>
            <a:br/>
            <a:r>
              <a:t>        return Counter(k_labels).most_common(1)[0][0]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617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# 距离函数</a:t>
            </a:r>
            <a:br/>
            <a:r>
              <a:t>def euclidean_distance(x1, x2):</a:t>
            </a:r>
            <a:br/>
            <a:r>
              <a:t>    return sqrt(sum((x1 - x2)**2))</a:t>
            </a:r>
            <a:br/>
            <a:br/>
            <a:r>
              <a:t>def manhattan_distance(x1, x2):</a:t>
            </a:r>
            <a:br/>
            <a:r>
              <a:t>    return sum(abs(x1 - x2))</a:t>
            </a:r>
            <a:br/>
            <a:br/>
            <a:r>
              <a:t># 最优 K 搜索</a:t>
            </a:r>
            <a:br/>
            <a:r>
              <a:t>for k in range(1, 21):</a:t>
            </a:r>
            <a:br/>
            <a:r>
              <a:t>knn = KNNClassifier(k=k)</a:t>
            </a:r>
            <a:br/>
            <a:r>
              <a:t>    knn.fit(X_train, y_train)</a:t>
            </a:r>
            <a:br/>
            <a:r>
              <a:t>    scores.append(knn.score(X_test, y_test))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实验2 &amp;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维度灾难 实验 / 距离度量 学习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实验 2: 维度灾难 实验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Beyer et al. (1999) 核心 结果를 实验적以/用 再现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1] D_max/D_min 比例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차圆 2 -&gt; 1000中/从 比例이 1로 收敛 检查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2] L1 vs L2 比较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L1이 L2比 距离集中이 较少 심함 检查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3] 상대적 距离 대비 (RDC)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(D_max - D_min)/D_min -&gt; 0 收敛 检查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[实验 4] KNN 性能 저하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유효 5차圆 고정, 노이즈 차圆 添加 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KNN 准确率 급격히 하락 시연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实验 3: 距离度量 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Weinberger &amp; Saul (2009) 아이디어 기반 实现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1] 欧几里得 KNN (默认)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I (단위 行렬)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2] 协方差 기반 马氏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 = S_W^(-1) (类别 내 산포 역行렬)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3] LDA 기반 메트릭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Fisher 标准 J(W) = W^T S_B W / W^T S_W W 最大화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[方法 4] 简单화된 LMNN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Pull: 相同 类别 近게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Push: 其他的 类别 远 (힌지 손실)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그래디언트 하강법以/用 M 学习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应用1：推荐系统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基于KNN的推荐系统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基于用户的协同过滤 (User-Based CF)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타깃 使用자和 其他的 使用자 간의 距离(유사도)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最 类似 K명의 使用자를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K명이 높게 평가한 아이템 중 미列람 아이템 推荐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NearestNeighbors + kneighbors() 应用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基于物品的协同过滤 (Item-Based CF)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아이템 간 特征 向量로 距离(유사도) 计算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타깃 아이템和 最 类似 K개 아이템을 찾음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유사 아이템을 使用자给 推荐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更 안정적并且 扩展 可能한 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实际应用案例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70916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73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Netflix / YouTube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77316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시청 이력이 类似 使用자 그룹의 콘텐츠 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34924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13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Amazon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41324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"이 商品을 购买한 客户이 함께 购买한 商品" (아이템 기반)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053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맑은 고딕"/>
              </a:defRPr>
            </a:pPr>
            <a:r>
              <a:t>Spotify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053328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청취 이력이 类似 使用자의 플레이列表 기반 음악 推荐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第10节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应用2：异常检测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基于KNN的异常检测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核心 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맑은 고딕"/>
              </a:defRPr>
            </a:pPr>
            <a:r>
              <a:t>정상 数据 -&gt; 邻居이 밀집 -&gt; 均值/平均 距离가 작다</a:t>
            </a:r>
            <a:br/>
            <a:r>
              <a:t>이상 数据 -&gt; 邻居이 희소 -&gt; 均值/平均 距离가 크다</a:t>
            </a:r>
            <a:br/>
            <a:br/>
            <a:r>
              <a:t>异常分数: score(x) = (1/K) * SUM d(x, x_i)</a:t>
            </a:r>
            <a:br/>
            <a:r>
              <a:t>异常分数 &gt; 阈值 -&gt; 异常值로 判定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202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算法 절차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각 数据关于 K개 近邻 搜索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K개 邻居到的 均值/平均 距离 = 异常分数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阈值(Threshold) 超过 시 异常值 判定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예: 상위 5% (95th percentile)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实际应用案例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43400"/>
            <a:ext cx="13716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52628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金融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572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信用卡欺诈交易检测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02920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74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制造业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생산 공定义 불량 감지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212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577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网络安全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5778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入侵检测系统 (IDS)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035040"/>
            <a:ext cx="5303520" cy="4114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080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医疗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6080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비정상적인 건강 지표 감지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02336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1148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맑은 고딕"/>
              </a:defRPr>
            </a:pPr>
            <a:r>
              <a:t>코드 예시 &amp; 核心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43484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knn = NearestNeighbors(n_neighbors=5)</a:t>
            </a:r>
            <a:br/>
            <a:r>
              <a:t>knn.fit(X_scaled)</a:t>
            </a:r>
            <a:br/>
            <a:r>
              <a:t>distances, indices = knn.kneighbors(X_scaled)</a:t>
            </a:r>
            <a:br/>
            <a:r>
              <a:t>anomaly_scores = distances.均值(axis=1)</a:t>
            </a:r>
            <a:br/>
            <a:r>
              <a:t>阈值 = np.percentile(anomaly_scores, 95)</a:t>
            </a:r>
            <a:br/>
            <a:r>
              <a:t>outliers = anomaly_scores &gt; 阈值</a:t>
            </a:r>
            <a:br/>
            <a:br/>
            <a:r>
              <a:t># K가 너무 작으면 노이즈에 민감</a:t>
            </a:r>
            <a:br/>
            <a:r>
              <a:t># K가 너무 크면 탐지 민감도 저하</a:t>
            </a:r>
            <a:br/>
            <a:r>
              <a:t># sklearn: LocalOutlierFactor (LOF) 도 提供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第9节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实验：葡萄酒数据多分类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KNN葡萄酒数据集多分类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数据 로드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load_wine() - 3 类别, 13 特征, 178 샘플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전处理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缺失值 处理 (fillna) + 缩放 (MinMaxScaler)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920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6760" y="2057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084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057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数据 분할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514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train_test_split (80:20, random_state=100)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建模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KNeighborsClassifier(n_neighbors=k)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K값 튜닝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K=1~20 准确率 图表 -&gt; 最优 K 选择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4206240"/>
            <a:ext cx="3566160" cy="192024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66760" y="4343400"/>
            <a:ext cx="365760" cy="365760"/>
          </a:xfrm>
          <a:prstGeom prst="roundRect">
            <a:avLst>
              <a:gd name="adj" fmla="val 5000"/>
            </a:avLst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37083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평가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8006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accuracy_score, confusion_matrix, classification_report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6.1 问题定义：葡萄酒等级预测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葡萄酒品质分类 - 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0000"/>
            <a:ext cx="105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미션: 葡萄酒 信息가 들어 있는 数据集을 이용해 葡萄酒 等级을 预测라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数据集: wine.csv (178개 샘플, 14개 变量)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因变量: class (葡萄酒 等级 0, 1, 2) - 多分类(Multiclassification)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自变量: alcohol, malic_acid, ash, magnesium, flavonoids 등 13개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算法: KNeighborsClassifier  |  평가지표: 准确率(Accuracy)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使用 库: pandas, numpy, matplotlib, seaborn, sklearn</a:t>
            </a:r>
          </a:p>
          <a:p>
            <a:pPr>
              <a:spcAft>
                <a:spcPts val="400"/>
              </a:spcAft>
              <a:defRPr sz="1700">
                <a:solidFill>
                  <a:srgbClr val="FFFFFF"/>
                </a:solidFill>
                <a:latin typeface="맑은 고딕"/>
              </a:defRPr>
            </a:pPr>
            <a:r>
              <a:t>예제 코드: 06_KNN.ipynb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6.2 导入库和加载数据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导入库和加载数据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3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400">
                <a:solidFill>
                  <a:srgbClr val="6A9955"/>
                </a:solidFill>
                <a:latin typeface="Consolas"/>
              </a:defRPr>
            </a:pPr>
            <a:r>
              <a:t># 库 导入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pandas as pd       # Pandas 库 导入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numpy as np        # NumPy 库 导入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matplotlib.pyplot as plt  # Matplotlib 库 导入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import seaborn as sns     # 시분 库 导入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数据集 읽기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file_url = 'https://media.githubusercontent.com/media/musthave-ML10/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data_source/main/wine.csv'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 = pd.read_csv(file_url)  # 数据集 읽기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数据 检查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print(data.shape)   # (178, 14) -&gt; 178개 行, 14개 列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data.head()          # 상위 5行 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00000"/>
            <a:ext cx="10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t>TIP: numpy는 이 장中/从 直接 使用하지 않지만, 机器学习中/从 必需 库이므로 습관적以/用 导入.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6.3 数据探索 (1) - head() &amp; info()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数据探索 - 结构与缺失值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52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상위 5行 输出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data.head()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最 우측의 class가 目标变量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나머지 13개가 自变量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葡萄酒의 성분/성질 信息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00000" y="1600000"/>
            <a:ext cx="52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变量 特征 输出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data.info()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全部 178개 行, 14개 컴럼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alcohol: 176 non-null -&gt; 缺失值 2개!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nonflavanoid_phenols: 173 -&gt; 缺失值 5개!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0000"/>
            <a:ext cx="105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주요 自变量 (13개):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alcohol(酒精도수), malic_acid(말산), ash(재), alcalinity_of_ash(남은 무기물의 알칼리성),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magnesium(镁), total_phenols(全部 酚), flavonoids(类黄酮),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nonflavanoid_phenols(비酚류), proanthocyanins(原花青素/色素),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color_intensity(颜色强度), hue(色调), od280/od315(희석된 葡萄酒의 단백질 함량), proline(프롬린)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核心 发现: 缺失值 존재! alcohol 2개, nonflavanoid_phenols 5개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6.3 数据探索 (2) - describe()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数据探索 - 统计信息与尺度差异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24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400">
                <a:solidFill>
                  <a:srgbClr val="6A9955"/>
                </a:solidFill>
                <a:latin typeface="Consolas"/>
              </a:defRPr>
            </a:pPr>
            <a:r>
              <a:t># 统计 信息 살펴보기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data.describe()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核心 观察 1: 变量마다 값의 范围가 상당히 다름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nonflavanoid_phenols: 最小值 0.13, 最大值 0.66  (范围 非常 작음)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proline:              最小值 278,  最大值 1680   (范围 非常 큼)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-&gt; KNN은 基于距离이므로 缩放이 必须 需要!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核心 观察 2: 异常值 可能성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  color_intensity: min~75%到 고른 增加, max中/从 갑자기 2배 이상 增加 (6.2 -&gt; 13)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A500"/>
                </a:solidFill>
                <a:latin typeface="맑은 고딕"/>
              </a:defRPr>
            </a:pPr>
            <a:r>
              <a:t>缩放(Scaling): 自变量의 范围를 相同的 水平以/用 만드는 方法</a:t>
            </a:r>
            <a:br/>
            <a:br/>
            <a:r>
              <a:t>alcohol(最小值 11.03, 最大值 14.75)中的 1和 magnesium(最小值 70, 最大值 162)中的 1은</a:t>
            </a:r>
            <a:br/>
            <a:r>
              <a:t>완전히 其他的 영향을 미침. KNN 算法이 왔곡된 预测을 할 수 있음!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6.4 目标变量唯一值检查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目标变量分析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6000000" cy="4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目标变量의 唯一值 输出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data['class'].unique()       # array([0, 1, 2])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唯一值 数量 输出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data['class'].nunique()      # 3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각 唯一值에 相应하는 数量 输出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data['class'].value_counts()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1    71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0    59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2    48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柱状图 (方法 1: barplot)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sns.barplot(x=data['class'].value_counts().index,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y=data['class'].value_counts())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更 쉬운 方法 (方法 2: countplot)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sns.countplot(data['class'])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0000" y="1600000"/>
            <a:ext cx="42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class는 0, 1, 2의 3가지 값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= 葡萄酒을 세 等级以/用 分类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类别별 분포: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class 1: 71개 (가장 많음)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class 0: 59개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class 2: 48개 (가장 적음)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比较적 均衡 잡힌 분포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函数 比较: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unique(): 어떤 값들이 있는지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nunique(): 唯一值 数量만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value_counts(): 数量到 检查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6.5.1 快速检测缺失值的方法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缺失值检测 - isna(), sum(), mean()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7000000" cy="36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缺失值 여부를 True/False로 检查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data.isna()      # 각 값이 缺失值이면 True, 아니면 False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컴럼별 缺失值 数量 检查 (isna + sum)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data.isna().sum()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alcohol                2   &lt;- 缺失值 2개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nonflavanoid_phenols   5   &lt;- 缺失值 5개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(나머지 컴럼들은 全部 0)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컴럼별 缺失值 比例 检查 (isna + mean)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data.isna().mean()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alcohol              0.011236   &lt;- 약 1.12%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nonflavanoid_phenols 0.028090   &lt;- 약 2.81%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00000" y="1600000"/>
            <a:ext cx="32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isna() + sum() 原理: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1) isna()로 True/False 转换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2) True=1, False=0以/用 인식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3) sum()以/用 합산 = 缺失值 수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isna() + mean() 原理: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1) isna()로 True/False 转换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2) mean()以/用 均值/平均 计算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3) = 缺失值 比例(%)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6.5.2 处理缺失值的3种方法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dropna() vs drop() vs fillna()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3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方式1：删除行 - dropna()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33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D4D4D4"/>
                </a:solidFill>
                <a:latin typeface="Consolas"/>
              </a:defRPr>
            </a:pPr>
            <a:r>
              <a:t>data.dropna()  # 缺失值 있는 行 删除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178 -&gt; 171行 (7行 删除)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subset以/用 特定 变量만 可能: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data.dropna(subset=['alcohol'])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178 -&gt; 176行 (2行만 删除)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缺失值 比例 낮을 때 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000" y="1500000"/>
            <a:ext cx="3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方式2：删除变量 - drop()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50000" y="1900000"/>
            <a:ext cx="33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# 缺失值가 있는 变量 자체 删除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data.drop(['alcohol',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'nonflavanoid_phenols'], axis=1)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14列 -&gt; 12列로 줄어듦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50% 이상이면 drop() 考虑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70~80% 이상이면 가급적 应用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0000" y="1500000"/>
            <a:ext cx="3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方式3：填充值 - fillna()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0000" y="1900000"/>
            <a:ext cx="3500000" cy="1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# 임의의 값以/用 채우기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data.fillna(-99)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均值以/用 채우기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data.fillna(data.mean())</a:t>
            </a: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中位数以/用 채우기 (권장!)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data.fillna(data.median(),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inplace=True)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00000"/>
            <a:ext cx="10500000" cy="2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缺失值 处理 方式 选择 标准: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dropna(): 缺失值 比例이 낮고 数据 大小가 충분할 때 (最 일반적或 노이즈 可能성)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drop():   缺失值 比例 50% 이상이면 考虑. 变量 자체 删除는 신중하게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fillna(): 均值或 中位数以/用 채움. 异常值에 较少 민감한 中位数 권장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이 实验의 选择: data.fillna(data.median(), inplace=True) - 中位数以/用 채우기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6.5.4 应用缺失值处理并验证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应用fillna(median)并验证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3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400">
                <a:solidFill>
                  <a:srgbClr val="6A9955"/>
                </a:solidFill>
                <a:latin typeface="Consolas"/>
              </a:defRPr>
            </a:pPr>
            <a:r>
              <a:t># 缺失值를 中位数以/用 채우기 (inplace=True로 圆본 업데이트)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data.fillna(data.median(), inplace=True)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缺失值 检查하기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data.isna().mean()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alcohol              0.0   &lt;- 缺失值 해결!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malic_acid           0.0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ash                  0.0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...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nonflavanoid_phenols 0.0   &lt;- 缺失值 해결!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...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class                0.0</a:t>
            </a:r>
          </a:p>
          <a:p>
            <a:pPr>
              <a:defRPr sz="1400">
                <a:solidFill>
                  <a:srgbClr val="6A9955"/>
                </a:solidFill>
                <a:latin typeface="Consolas"/>
              </a:defRPr>
            </a:pPr>
            <a:r>
              <a:t># 모든 컴럼中/从 缺失值가 0% -&gt; 缺失值 완전히 处理됨!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1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맑은 고딕"/>
              </a:defRPr>
            </a:pPr>
            <a:r>
              <a:t>fillna()를 使用하여 缺失值를 채우되, 异常值에 조금 较少 민감한 中位数을 使用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맑은 고딕"/>
              </a:defRPr>
            </a:pPr>
            <a:r>
              <a:t>inplace=True 使用 -&gt; data 자체가 업데이트됨 (별도 变量 할당 불需要)</a:t>
            </a:r>
          </a:p>
          <a:p>
            <a:pPr>
              <a:spcAft>
                <a:spcPts val="400"/>
              </a:spcAft>
              <a:defRPr sz="1500">
                <a:solidFill>
                  <a:srgbClr val="CCCCCC"/>
                </a:solidFill>
                <a:latin typeface="맑은 고딕"/>
              </a:defRPr>
            </a:pPr>
            <a:r>
              <a:t>参考: data = data.fillna(data.median()) 和 相同的 结果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 缩放 - 为什么需要？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为什么缩放对KNN很重要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55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缩放 전 (问题 情况):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alcohol:     范围 11.03 ~ 14.75  (차이 3.72)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magnesium: 范围 70 ~ 162        (차이 92)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이 두 变量中/从 10이라는 값의 含义가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상당히 다르므로 缩放이 需要!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缩放 후: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alcohol:     范围 0 ~ 1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magnesium: 范围 0 ~ 1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-&gt; 동등한 水平中/从 距离 计算 可能!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0" y="1600000"/>
            <a:ext cx="4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缩放 4가지 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0" y="2000000"/>
            <a:ext cx="47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标准化缩放 (StandardScaler)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均值/平均=0, 标准差=1로 고르게 분포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z = (x - 均值) / std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稳健缩放 (RobustScaler)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异常值 영향 保持하고 싶을 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 = (x - 中位数) / IQR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最小-最大缩放 (MinMaxScaler)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数据 분포 最大한 保持하고 싶을 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 = (x - min) / (max - min)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归一化缩放 (NormalizerScaler)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行 标准 缩放. 实际로 거의 使用 안 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6.6.1 标准化缩放 (StandardScaler)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标准化缩放 - 代码与公式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6500000" cy="3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sklearn.preprocessing import StandardScaler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sklearn.preprocessing import MinMaxScaler, RobustScaler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缩放器 指定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st_scaler = StandardScaler()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学习 (각 컴럼의 均值/平均, 标准差를 기억)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st_scaler.fit(data)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学习中/从 얻은 信息로 转换 (NumPy数组 返回)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st_scaled = st_scaler.transform(data)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数据框以/用 转换 (컴럼명 保持)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st_scaled = pd.DataFrame(st_scaled, columns=data.columns)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结果 检查 - 모든 컴럼中/从 mean=0, std=1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round(st_scaled.describe(),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0" y="1600000"/>
            <a:ext cx="37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D700"/>
                </a:solidFill>
                <a:latin typeface="맑은 고딕"/>
              </a:defRPr>
            </a:pPr>
            <a:r>
              <a:t>公式：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0" y="2000000"/>
            <a:ext cx="3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z = (xi - 均值(x)) / sd(x)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2800000"/>
            <a:ext cx="37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xi: 变量의 i번째 값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mean(x): 相应 变量의 均值/平均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sd(x): 相应 变量의 标准差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结果: 标准正态分布 形式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均值/平均 = 0, 方差 = 1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特征: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异常值에 민감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正态分布 数据에 适合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fit()以/用 均值/平均/标准差 学习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transform()以/用 转换 应用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6.6.2~3 稳健缩放 &amp; 最小-最大缩放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稳健缩放 &amp; 最小-最大缩放代码与对比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6.6.2 稳健缩放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00000"/>
            <a:ext cx="5200000" cy="20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D4D4D4"/>
                </a:solidFill>
                <a:latin typeface="Consolas"/>
              </a:defRPr>
            </a:pPr>
            <a:r>
              <a:t>rb_scaler = RobustScaler()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rb_scaled = rb_scaler.fit_transform(data)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rb_scaled = pd.DataFrame(rb_scaled, columns=data.columns)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fit_transform(): fit()+transform() 한번에!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公式: x = (xi - Q2) / (Q3 - Q1)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Q1=25%, Q2=50%(中位数), Q3=75%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异常值에 较少 민감 (IQR=Q3-Q1 使用)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6.6.3 最小-最大缩放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0000" y="1900000"/>
            <a:ext cx="5200000" cy="20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D4D4D4"/>
                </a:solidFill>
                <a:latin typeface="Consolas"/>
              </a:defRPr>
            </a:pPr>
            <a:r>
              <a:t>mm_scaler = MinMaxScaler()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mm_scaled = mm_scaler.fit_transform(data)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mm_scaled = pd.DataFrame(mm_scaled, columns=data.columns)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round(mm_scaled.describe(), 2)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公式: x = (xi - min) / (max - min)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모든 컴럼中/从 min=0, max=1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现有的 분포 形式를 그대로 保持!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缩放별 特征 比较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00000"/>
            <a:ext cx="105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标准化: 异常值 존재 시 영향 받음. 均值/平均 0, 方差 1로 正态分布 形式. 现有的 분포 形式가 사라짐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로버스트: 异常值 영향 받지 않음. IQR 使用. 转换된 数据의 范围가 넓게 나타남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最小-最大: 异常值 영향 받음. 0~1 范围. 现有的 분포를 最 있는 그대로 담아내며 尺度만 转换 (이 实验中/从 使用!)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6.6.5 应用缩放（注意事项！）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应用缩放 - 先分割训练/测试集！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4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缩放 应用 시 注意사항 2가지: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1. 缩放 대상中/从 因变量(class)를 排除必须!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2. 缩放 전에 训练集和 测试集을 나누어야 ! (Data Leakage 방지)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自变量(X)和 因变量(y) 분리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 = data.drop('class', axis=1)         # 自变量만 대입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y = data['class']                       # 因变量만 대입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训练集和 测试集 분리 (80:20)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X_train, X_test, y_train, y_test = train_test_split(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X, y, test_size=0.2, random_state=100)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最小-最大 缩放器 应用 (现有的 분포 保持하는 缩放器)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mm_scaler = MinMaxScaler()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X_train_scaled = mm_scaler.fit_transform(X_train)   # 训练集: fit + transform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X_test_scaled = mm_scaler.transform(X_test)          # 测试集: transform만!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测试集에는 必须 transform()만 使用! (训练集의 min/max로 转换)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6666"/>
                </a:solidFill>
                <a:latin typeface="맑은 고딕"/>
              </a:defRPr>
            </a:pPr>
            <a:r>
              <a:t>核心: 测试集에 fit_transform()을 使用하면 Data Leakage 발생!</a:t>
            </a:r>
            <a:br/>
            <a:r>
              <a:t>测试集은 '가상의 新的 数据'이므로, 训练集의 통계량(min/max)以/用만 转换必须.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6.7 建模、预测与评估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KNN建模、预测与评估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7000000" cy="3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sklearn.neighbors import KNeighborsClassifier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from sklearn.metrics import accuracy_score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KNN 模型 创建 (默认值: n_neighbors=5)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 = KNeighborsClassifier()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学习 (数据 위치만 存储 - Lazy Learning!)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预测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print(pred)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array([1, 2, 0, 1, 2, 2, 1, 2, 1, 0, ...])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准确率 평가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accuracy_score(y_test, pred)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0.888888888888888  -&gt; 약 89% 准确率!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0" y="1600000"/>
            <a:ext cx="34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KNN 建模 3阶段: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1. 模型 创建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KNeighborsClassifier()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2. 学习 - fit()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数据 위치를 스크린샷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(实际 学习 없음! Lazy)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3. 预测 - predict()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모든 训练数据和의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距离를 计算하여 预测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结果: 약 89% 准确率</a:t>
            </a:r>
          </a:p>
          <a:p>
            <a:pPr>
              <a:spcAft>
                <a:spcPts val="400"/>
              </a:spcAft>
              <a:defRPr sz="1400">
                <a:solidFill>
                  <a:srgbClr val="00D2FF"/>
                </a:solidFill>
                <a:latin typeface="맑은 고딕"/>
              </a:defRPr>
            </a:pPr>
            <a:r>
              <a:t>(K=5 默认值)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6.8 超参数 튀닝 (1) - K값 更改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测试不同的n_neighbors值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26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KNeighborsClassifier() 주요 参数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n_neighbors=5 : 预测에 参考할 邻居 수 (默认值 5)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weights='uniform' : 权重 函数 ('uniform'=동일, 'distance'=距离반비례)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metric='minkowski' : 距离度量 标准</a:t>
            </a: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- n_jobs=None : 执行할 병렬 작업 수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6A9955"/>
                </a:solidFill>
                <a:latin typeface="Consolas"/>
              </a:defRPr>
            </a:pPr>
            <a:r>
              <a:t># n_neighbors=7로 更改하여 建模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KNeighborsClassifier(n_neighbors=7)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accuracy_score(y_test, pred)   # 0.9167 -&gt; 약 92%! (默认值 5比 높아짐)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400000"/>
            <a:ext cx="10500000" cy="14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300">
                <a:solidFill>
                  <a:srgbClr val="6A9955"/>
                </a:solidFill>
                <a:latin typeface="Consolas"/>
              </a:defRPr>
            </a:pPr>
            <a:r>
              <a:t># n_neighbors=3以/用 更改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KNeighborsClassifier(n_neighbors=3)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300">
                <a:solidFill>
                  <a:srgbClr val="D4D4D4"/>
                </a:solidFill>
                <a:latin typeface="Consolas"/>
              </a:defRPr>
            </a:pPr>
            <a:r>
              <a:t>accuracy_score(y_test, pred)   # 0.8889 -&gt; 약 89% (默认值和 동일)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00000"/>
            <a:ext cx="105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FD700"/>
                </a:solidFill>
                <a:latin typeface="맑은 고딕"/>
              </a:defRPr>
            </a:pPr>
            <a:r>
              <a:t>n_neighbors에 들어가는 숫자根据 预测 结果가 달라짐!</a:t>
            </a:r>
            <a:br/>
            <a:r>
              <a:t>하나하나 수작업以/用 检查하는 것은 번거로우므로, for문以/用 自动 搜索합시다.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6.8 超参数 튀닝 (2) - 最优 K 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通过循环和可视化找到最优K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7000000" cy="42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6A9955"/>
                </a:solidFill>
                <a:latin typeface="Consolas"/>
              </a:defRPr>
            </a:pPr>
            <a:r>
              <a:t># 空列表 创建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scores = []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K=1~20到 迭代하여 最优 K 搜索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for i in range(1, 21):  # 1从 20到 迭代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KNeighborsClassifier(n_neighbors=i)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knn.fit(X_train_scaled, y_train)     # 学习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pred = knn.predict(X_test_scaled)    # 预测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acc = accuracy_score(y_test, pred)   # 准确率 计算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scores.append(acc)                   # 准确率 存储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参数 변화에 따른 预测能力 변화를 折线图로 可视化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sns.lineplot(x=range(1, 21), y=scores)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结果: K=14 부근中/从 약 97% 최고 准确率!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13 이후로는 更 나은 개선이 보이지 않음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최종 模型 (K=13以/用 확정)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KNeighborsClassifier(n_neighbors=13)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accuracy_score(y_test, pred)</a:t>
            </a: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0.9722222222222222  -&gt; 최종 약 97% 准确率!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00000" y="1600000"/>
            <a:ext cx="34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K값별 准确率 변화: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K=1:  약 92%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K=3:  약 89%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K=5:  약 89% (默认值)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K=7:  약 92%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K=13: 약 97%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K=14: 약 97%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K=20: 약 97%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13 이후 更 나은 개선 없음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-&gt; 运算 效率을 考虑하면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K=13이 합리적 选择!</a:t>
            </a: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00FF88"/>
                </a:solidFill>
                <a:latin typeface="맑은 고딕"/>
              </a:defRPr>
            </a:pPr>
            <a:r>
              <a:t>최종 准确率: 97.2%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6.9.1 理解基于距离的含义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理解基于距离的分类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0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KNN 算法의 작동 原理: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新的 数据를 预测할 때, 距离를 기반以/用 相邻한 数据和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相同 类型로 分类해내는 기법 (相邻한 数据가 全部 파랑이라면 나도 파랑)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예시 (自变量 X, Y / 因变量: 圆 或 三角形):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- 새 数据 A가 圆 周围에 있음 -&gt; 直觉以/用 圆以/用 预测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- 새 数据 B가 三角形 周围에 있음 -&gt; 直觉以/用 三角形로 预测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边界가 모호한 情况 (C가 圆/三角形 사이에 있을 때):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K=1: 最 最近的 邻居 1개 -&gt; 圆(1)이므로 圆以/用 分类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K=2: 最近的 2개 -&gt; 圆1 + 三角形1 = 平局! -&gt; Scikit-learn은 랜덤 分类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K=3: 最近的 3개 -&gt; 圆1 + 三角形2 -&gt; 三角形로 分类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이것이 KNeighborsClassifier()의 参数 n_neighbors의 역할!</a:t>
            </a: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  <a:latin typeface="맑은 고딕"/>
              </a:defRPr>
            </a:pPr>
            <a:r>
              <a:t>K-近邻이 왜 '基于距离 模型'인지 이해가 되었을 것.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6.9.2~4 缩放重要性、平局处理、计算特征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缩放影响、平局处理、惰性学习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6.9.2 缩放의 重要성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00000"/>
            <a:ext cx="5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X和 Y의 尺度이 비슷하면 问题 없음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X가 Y比 2배가량 크다면: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-&gt; 数据가 X 방향以/用 늘어남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-&gt; 最近的 邻居이 바뀌!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-&gt; 分类 结果가 달라질 수 있음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-&gt; 缩放以/用 일관된 范围 통일!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0000" y="1500000"/>
            <a:ext cx="5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6.9.3 平局일 때 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0000" y="1900000"/>
            <a:ext cx="5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平局 해결 方法: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1. 奇数(Odd) K 使用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1, 3, 5, 7, 9... -&gt; 平局 방지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2. 权重(weights) 부여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weights='distance' 使用 시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距离가 更 最近的 쪽以/用 결정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D700"/>
                </a:solidFill>
                <a:latin typeface="맑은 고딕"/>
              </a:defRPr>
            </a:pPr>
            <a:r>
              <a:t>6.9.4 K-近邻 算法의 计算 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00000"/>
            <a:ext cx="105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KNN은 预测할 数据和 现有的 数据의 距离만 计算하면 됨: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fit() 过程: 训练数据의 위치를 스크린샷하는 程度 (별其他的 学习 없음) -&gt; 瞬间에 완료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  predict() 과정: 새로운 데이터와 모든 학습 데이터 사이의 거리를 계산 -&gt; 데이터 규모가 클 때 상당한 시간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线性 回归나 로지스틱 回归의 fit()은 模型关于 公式을 만들어내 预测을 使用但是,</a:t>
            </a:r>
          </a:p>
          <a:p>
            <a:pPr>
              <a:spcAft>
                <a:spcPts val="400"/>
              </a:spcAft>
              <a:defRPr sz="1400">
                <a:solidFill>
                  <a:srgbClr val="CCCCCC"/>
                </a:solidFill>
                <a:latin typeface="맑은 고딕"/>
              </a:defRPr>
            </a:pPr>
            <a:r>
              <a:t>KNN은 이러한 过程이 需要 없음 -&gt; 이것이 惰性学习(Lazy Learning)의 特征!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完整实验代码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完整代码 - 数据加载与预处理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4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1. 库 及 数据 불러오기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numpy as np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matplotlib.pyplot as plt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import seaborn as sns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file_url = 'https://media.githubusercontent.com/media/musthave-ML10/data_source/main/wine.csv'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 = pd.read_csv(file_url)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2. 数据 检查하기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data.head()                    # 상위 5行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data.info()                    # 变量 特征 (缺失值 发现: alcohol 2개, nonflavanoid_phenols 5개)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data.describe()                # 통계信息 (变量별 尺度 차이 发现)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3. 目标值 唯一值 检查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data['class'].unique()         # [0, 1, 2] - 3가지 等级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data['class'].value_counts()   # 1:71, 0:59, 2:48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sns.countplot(data['class'])   # 可视化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6A9955"/>
                </a:solidFill>
                <a:latin typeface="Consolas"/>
              </a:defRPr>
            </a:pPr>
            <a:r>
              <a:t># ===== 4. 缺失值 处理 =====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data.isna().sum()              # alcohol:2, nonflavanoid_phenols:5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data.isna().mean()             # 比例: 1.12%, 2.81%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data.fillna(data.median(), inplace=True)  # 中位数以/用 채우기</a:t>
            </a:r>
          </a:p>
          <a:p>
            <a:pPr>
              <a:defRPr sz="1200">
                <a:solidFill>
                  <a:srgbClr val="D4D4D4"/>
                </a:solidFill>
                <a:latin typeface="Consolas"/>
              </a:defRPr>
            </a:pPr>
            <a:r>
              <a:t>data.isna().mean()             # 全部 0.0 检查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实践 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完整实验代码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完整代码 - 缩放、建模与调优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00000"/>
            <a:ext cx="10500000" cy="4800000"/>
          </a:xfrm>
          <a:prstGeom prst="round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 rIns="127000" bIns="101600"/>
          <a:lstStyle/>
          <a:p>
            <a:pPr algn="ctr"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5. 缩放 (MinMaxScaler)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sklearn.model_selection import train_test_split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sklearn.preprocessing import MinMaxScaler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 = data.drop('class', axis=1)              # 自变量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y = data['class']                            # 因变量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X_train, X_test, y_train, y_test = train_test_split(X, y, test_size=0.2, random_state=100)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mm_scaler = MinMaxScaler()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X_train_scaled = mm_scaler.fit_transform(X_train)   # 训练集: fit + transform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X_test_scaled = mm_scaler.transform(X_test)          # 测试集: transform만!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6. 建模 及 预测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sklearn.neighbors import KNeighborsClassifier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from sklearn.metrics import accuracy_score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 = KNeighborsClassifier()                         # 默认 K=5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knn.fit(X_train_scaled, y_train)                     # 学习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pred = knn.predict(X_test_scaled)                    # 预测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print(f'기본(K=5) 정확도: {accuracy_score(y_test, pred):.4f}')   # 0.8889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7. 超参数 튀닝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scores = []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for i in range(1, 21):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KNeighborsClassifier(n_neighbors=i)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knn.fit(X_train_scaled, y_train)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pred = knn.predict(X_test_scaled)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    scores.append(accuracy_score(y_test, pred))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sns.lineplot(x=range(1, 21), y=scores)               # K별 准确率 图表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6A9955"/>
                </a:solidFill>
                <a:latin typeface="Consolas"/>
              </a:defRPr>
            </a:pPr>
            <a:r>
              <a:t># ===== 8. 최종 模型 (K=13) =====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 = KNeighborsClassifier(n_neighbors=13)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knn.fit(X_train_scaled, y_train)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pred = knn.predict(X_test_scaled)</a:t>
            </a:r>
          </a:p>
          <a:p>
            <a:pPr>
              <a:defRPr sz="1100">
                <a:solidFill>
                  <a:srgbClr val="D4D4D4"/>
                </a:solidFill>
                <a:latin typeface="Consolas"/>
              </a:defRPr>
            </a:pPr>
            <a:r>
              <a:t>print(f'최종(K=13) 정확도: {accuracy_score(y_test, pred):.4f}')  # 0.9722 (약 97%)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总结 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学习总结 - 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第6章工作流程总结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6.1 问题 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0" y="160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葡萄酒 信息를 使用하여 葡萄酒 等级을 预测는 模型을 만들어 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6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6.2 库 及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216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Pandas, NumPy, Matplotlib, 시분 库 导入. 예제 数据集 불러옴.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6.3 数据 检查하기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0000" y="272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缺失值가 있음을 检查. KNN中 变量의 尺度이 重要하는데, 尺度이 其他的 것을 检查.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8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6.4 目标值 检查하기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328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葡萄酒이 몇 가지 等级을 갖는지 检查 (class 0, 1, 2 -&gt; 多分类).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6.5 전处理: 缺失值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0000" y="384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中位数以/用 缺失值를 채움 (fillna + median). KNN은 距离 计算이므로 缺失值 必需 处理.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0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6.6 缩放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440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基于距离 模型이므로 MinMaxScaler로 变量들의 尺度을 맞춤.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96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6.7 建模 及 预测/평가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0000" y="496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KNN以/用 葡萄酒을 3개 等级以/用 分类. 默认值(K=5)以/用 약 89% 准确率.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520000"/>
            <a:ext cx="3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D700"/>
                </a:solidFill>
                <a:latin typeface="맑은 고딕"/>
              </a:defRPr>
            </a:pPr>
            <a:r>
              <a:t>6.8 超参数 튀닝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5520000"/>
            <a:ext cx="7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CCCCCC"/>
                </a:solidFill>
                <a:latin typeface="맑은 고딕"/>
              </a:defRPr>
            </a:pPr>
            <a:r>
              <a:t>K=1~20 搜索하여 最优 K=13 发现. 최종 准确率 약 97%!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638"/>
            <a:ext cx="2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D700"/>
                </a:solidFill>
                <a:latin typeface="맑은 고딕"/>
              </a:defRPr>
            </a:pPr>
            <a:r>
              <a:t>练习 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练习题（教材第208页）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00D2FF"/>
                </a:solidFill>
                <a:latin typeface="맑은 고딕"/>
              </a:defRPr>
            </a:pPr>
            <a:r>
              <a:t>教材复习题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000"/>
            <a:ext cx="10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Q1. 다음 중 缺失值关于 说明以/用 옮지 않은 것은?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(1) 缺失值는 数据가 비어있는 값을 含义한다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(2) 缺失值는 비어있는 값이므로 숫자 0和 같다  &lt;- 答案! (0도 하나의 输入값. 缺失值는 빈 값이므로 0和 같다고 할 수 없음)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(3) 缺失值가 너무 많은 变量는 变量 자체를 删除可以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(4) 缺失值가 많지 않은 情况는 缺失值가 있는 行을 删除可以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Q2. 다음 중 缩放 结果가 0~1 사이로 표현되는 方法은?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(1) Standard Scaling  (2) Robust Scaling  (3) Min-Max Scaling &lt;- 答案! (最小值 0, 最大值 1로 转换)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Q3. 다음은 KNN关于 说明 중 옮지 않은 것은?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(1) 预测려는 数据 周围에 있는 数据들을 应用하는 预测 기법이다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(2) 建模 过程中/从 参考하려는 邻居 수 K를 设置可以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(3) 邻居 수 K는 많을수록 好的 结果를 보여준다 &lt;- 答案! (K가 너무 크면 오히려 预测能力 저하)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맑은 고딕"/>
              </a:defRPr>
            </a:pPr>
            <a:r>
              <a:t>(4) 3개 이상의 多分类에 应用可以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第6章总结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K개 近邻의 다수결/均值/平均以/用 预测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65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学习 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40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惰性学习 (Lazy Learning) - 学习 阶段 없음, 数据 存储만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超参数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 (邻居 수), 距离度量 方法, 权重 方法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70048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715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距离 측도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900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欧几里得, 曼哈顿, 민코프스키, 余弦, 马氏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必需 전处理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缺失值 处理 + 缩放 (基于距离이므로 必须 需要)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19856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4655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数据泄露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73989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学习: fit_transform() / 테스트: transform()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K값 选择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小的 K = 过拟合 (高的 方差) / 大的 K = 欠拟合 (高的 偏差)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169664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2153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48970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고차圆中/从 距离集中以/用 NN의 含义 퇴색 (Beyer et al. 1999)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메트릭 学习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LMNN以/用 分类 最优화 马氏距离 学习 (Weinberger &amp; Saul 2009)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19472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965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效率적 搜索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KD-Tree, Ball-Tree (정확) / LSH, FAISS, Annoy (근사)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주요 변형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加权 KNN, KNN 回归, 特征 加权 KNN, 편집된 KNN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669280"/>
            <a:ext cx="5394960" cy="65836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715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맑은 고딕"/>
              </a:defRPr>
            </a:pPr>
            <a:r>
              <a:t>주요 응용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推荐系统, 已经지 分类, 异常检测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核心公式汇总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核心公式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KNN 分类 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1(y_i = c)  for i in N_K(x)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94767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欧几里得距离 (L2)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sqrt( SUM (xi - yi)^2 )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曼哈顿距离 (L1)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SUM |xi - yi|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7860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60604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민코프스키 距离 (Lp)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5292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d(x,y) = ( SUM |xi - yi|^p )^(1/p)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余弦相似度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cos(x,y) = (x . y) / (||x|| ||y||)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36976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26440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马氏距离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51129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d_M(x,y) = sqrt( (x-y)^T M (x-y)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StandardScaler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z = (x - 均值) / std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95344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92277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MinMaxScaler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16966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min) / (max - min)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E696"/>
                </a:solidFill>
                <a:latin typeface="맑은 고딕"/>
              </a:defRPr>
            </a:pPr>
            <a:r>
              <a:t>RobustScaler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x_scaled = (x - 中位数) / IQR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553712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45811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맑은 고딕"/>
              </a:defRPr>
            </a:pPr>
            <a:r>
              <a:t>Cover &amp; Hart 上界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828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R* &lt;= R*_NN &lt;= 2R*(1 - R*)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545"/>
                </a:solidFill>
                <a:latin typeface="맑은 고딕"/>
              </a:defRPr>
            </a:pPr>
            <a:r>
              <a:t>距离集中 (Beyer)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lim (d-&gt;inf) (D_max - D_min)/D_min -&gt;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5212080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5080" y="523951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06CFF"/>
                </a:solidFill>
                <a:latin typeface="맑은 고딕"/>
              </a:defRPr>
            </a:pPr>
            <a:r>
              <a:t>MSE 分解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4864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MSE = 偏差^2 + 方差 + sigma^2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FF"/>
                </a:solidFill>
                <a:latin typeface="맑은 고딕"/>
              </a:defRPr>
            </a:pPr>
            <a:r>
              <a:t>异常分数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score(x) = (1/K) * SUM d(x, x_i)  for i in N_K(x)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870448"/>
            <a:ext cx="5394960" cy="566928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8978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맑은 고딕"/>
              </a:defRPr>
            </a:pPr>
            <a:r>
              <a:t>加权 KNN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6144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y_hat = argmax_c SUM w_i*1(y_i=c),  w_i = 1/d(x,x_i)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核心 论文 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核心论文总结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FF"/>
                </a:solidFill>
                <a:latin typeface="맑은 고딕"/>
              </a:defRPr>
            </a:pPr>
            <a:r>
              <a:t>Cover &amp; Hart (1967)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965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"近邻 Pattern 分类" - IEEE Trans.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40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1-NN 错误率 &lt;= 2R*(1-R*) 证明  |  KNN 理论 기반 确立  |  다중 类别 扩展, 메트릭 空间 일반성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Altman (1992)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"Kernel and NN Nonparametric 回归" - The American Statistician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커널 回归和 KNN 回归 통합적 比较  |  偏差-方差权衡 分析  |  KNN의 적응적 대역폭 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886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맑은 고딕"/>
              </a:defRPr>
            </a:pPr>
            <a:r>
              <a:t>Beyer et al. (1999)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"When Is 近邻 Meaningful?" - ICDT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605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고차圆 距离集中 현상의 数学 阐明  |  (D_max-D_min)/D_min = O(1/sqrt(d))  |  L1이 L2比 고차圆中/从 양호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6CFF"/>
                </a:solidFill>
                <a:latin typeface="맑은 고딕"/>
              </a:defRPr>
            </a:pPr>
            <a:r>
              <a:t>Weinberger &amp; Saul (2009)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"距离度量 Learning for LMNN" - JMLR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马氏距离 学习 (LMNN)  |  SVM의 대규모 마진을 KNN에 도입  |  MNIST 오류 2.97% -&gt; 1.20%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696"/>
                </a:solidFill>
                <a:latin typeface="맑은 고딕"/>
              </a:defRPr>
            </a:pPr>
            <a:r>
              <a:t>Guo et al. (2003)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맑은 고딕"/>
              </a:defRPr>
            </a:pPr>
            <a:r>
              <a:t>"KNN Model-Based Approach" - OTM Conferences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60807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99"/>
                </a:solidFill>
                <a:latin typeface="맑은 고딕"/>
              </a:defRPr>
            </a:pPr>
            <a:r>
              <a:t>KNN 변형의 체계적 比较 分析  |  加权/特征加权/노이즈删除 KNN  |  交叉验证 K选择 +2~5% 提升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复习题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KNN이 '惰性学习(Lazy Learning)'이라 불리는 이유를 说明하고, 이로 인한 장缺点을 서술하시오.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欧几里得距离和 曼哈顿距离의 公式을 쓰고, 分别 어떤 情况中/从 更 适合한지 说明하시오. 고차圆中的 차이를 Beyer et al.(1999)의 结果를 근거로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K값이 偏差-方差权衡에 미치는 영향을 说明하시오. K=1일 때和 K=N일 때의 결정 边界는 分别 어떤 特征을 보이는가?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维度灾难中/从 距离集中 현상이란 무엇인가? lim (D_max-D_min)/D_min -&gt; 0이 KNN에 미치는 영향을 说明하시오.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맑은 고딕"/>
              </a:defRPr>
            </a:pPr>
            <a:r>
              <a:t>Q5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KNN中/从 特征 缩放이 必须 需要한 이유를 구체적 예시를 들어 说明하시오. 测试数据에 fit_transform()을 쓰면 안 되는 이유(Data Leakage)를 说明하시오.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习题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复习题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6CFF"/>
                </a:solidFill>
                <a:latin typeface="맑은 고딕"/>
              </a:defRPr>
            </a:pPr>
            <a:r>
              <a:t>Q6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马氏距离中/从 M=I일 때和 M=inv(Sigma)일 때의 차이를 说明하시오.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FF"/>
                </a:solidFill>
                <a:latin typeface="맑은 고딕"/>
              </a:defRPr>
            </a:pPr>
            <a:r>
              <a:t>Q7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2608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LMNN의 '당기는 힘(Pull)'和 '밀치는 힘(Push)'이 分别 무엇을 含义하는지 说明하고, SVM의 어떤 原理和 类似지 논하시오.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8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Q8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862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Cover和 Hart(1967)의 R* &lt;= R*_NN &lt;= 2R*(1-R*)의 含义를 说明하시오. 베이즈 最优 错误率이 10%일 때, 1-NN의 错误率 上界은?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맑은 고딕"/>
              </a:defRPr>
            </a:pPr>
            <a:r>
              <a:t>Q9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4632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KD-Tree和 Ball-Tree의 동작 原理를 比较하고, 分别의 장缺点和 차圆에 따른 适合성을 说明하시오. 대규모 数据中/从 ANN이 需要한 이유를 논하시오.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760720"/>
            <a:ext cx="11064240" cy="868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06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Q10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80644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KNN을 异常检测에 应用하는 原理를 说明하시오. 异常分数는 어떻게 定义되며, K값 选择이 탐지 性能에 어떤 영향을 미치는가?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맑은 고딕"/>
              </a:defRPr>
            </a:pPr>
            <a: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926080"/>
            <a:ext cx="3047695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3474720"/>
            <a:ext cx="5790895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3566160"/>
            <a:ext cx="5790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  <a:latin typeface="맑은 고딕"/>
              </a:defRPr>
            </a:pPr>
            <a:r>
              <a:t>下一章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393192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맑은 고딕"/>
              </a:defRPr>
            </a:pPr>
            <a:r>
              <a:t>下一章：第7章 - 朴素贝叶斯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第6章所学内容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惰性学习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距离度量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016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맑은 고딕"/>
              </a:defRPr>
            </a:pPr>
            <a:r>
              <a:t>偏差-方差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0056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4545"/>
                </a:solidFill>
                <a:latin typeface="맑은 고딕"/>
              </a:defRPr>
            </a:pPr>
            <a:r>
              <a:t>维度灾难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9944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6CFF"/>
                </a:solidFill>
                <a:latin typeface="맑은 고딕"/>
              </a:defRPr>
            </a:pPr>
            <a:r>
              <a:t>LMNN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2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8C00"/>
                </a:solidFill>
                <a:latin typeface="맑은 고딕"/>
              </a:defRPr>
            </a:pPr>
            <a:r>
              <a:t>Scaling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FF"/>
                </a:solidFill>
                <a:latin typeface="맑은 고딕"/>
              </a:defRPr>
            </a:pPr>
            <a:r>
              <a:t>KD-Tree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79608" y="5394960"/>
            <a:ext cx="1280160" cy="3657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79608" y="54223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맑은 고딕"/>
              </a:defRPr>
            </a:pPr>
            <a:r>
              <a:t>异常检测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机器学习 | 2026年第1学期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