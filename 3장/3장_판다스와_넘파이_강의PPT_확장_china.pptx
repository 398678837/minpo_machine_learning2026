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028"/>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10058400" cy="457200"/>
          </a:xfrm>
          <a:prstGeom prst="rect">
            <a:avLst/>
          </a:prstGeom>
          <a:noFill/>
        </p:spPr>
        <p:txBody>
          <a:bodyPr wrap="square">
            <a:spAutoFit/>
          </a:bodyPr>
          <a:lstStyle/>
          <a:p>
            <a:pPr algn="l">
              <a:defRPr sz="2000" b="1">
                <a:solidFill>
                  <a:srgbClr val="00D2FF"/>
                </a:solidFill>
                <a:latin typeface="Microsoft YaHei"/>
              </a:defRPr>
            </a:pPr>
            <a:r>
              <a:t>机器学习 (Machine Learning)</a:t>
            </a:r>
          </a:p>
        </p:txBody>
      </p:sp>
      <p:sp>
        <p:nvSpPr>
          <p:cNvPr id="4" name="Rectangle 3"/>
          <p:cNvSpPr/>
          <p:nvPr/>
        </p:nvSpPr>
        <p:spPr>
          <a:xfrm>
            <a:off x="914400" y="1691640"/>
            <a:ext cx="274320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20240"/>
            <a:ext cx="10058400" cy="1097280"/>
          </a:xfrm>
          <a:prstGeom prst="rect">
            <a:avLst/>
          </a:prstGeom>
          <a:noFill/>
        </p:spPr>
        <p:txBody>
          <a:bodyPr wrap="square">
            <a:spAutoFit/>
          </a:bodyPr>
          <a:lstStyle/>
          <a:p>
            <a:pPr algn="l">
              <a:defRPr sz="4800" b="1">
                <a:solidFill>
                  <a:srgbClr val="FFFFFF"/>
                </a:solidFill>
                <a:latin typeface="Microsoft YaHei"/>
              </a:defRPr>
            </a:pPr>
            <a:r>
              <a:t>第3章: Pandas与NumPy</a:t>
            </a:r>
          </a:p>
        </p:txBody>
      </p:sp>
      <p:sp>
        <p:nvSpPr>
          <p:cNvPr id="6" name="TextBox 5"/>
          <p:cNvSpPr txBox="1"/>
          <p:nvPr/>
        </p:nvSpPr>
        <p:spPr>
          <a:xfrm>
            <a:off x="914400" y="3017520"/>
            <a:ext cx="10058400" cy="731520"/>
          </a:xfrm>
          <a:prstGeom prst="rect">
            <a:avLst/>
          </a:prstGeom>
          <a:noFill/>
        </p:spPr>
        <p:txBody>
          <a:bodyPr wrap="square">
            <a:spAutoFit/>
          </a:bodyPr>
          <a:lstStyle/>
          <a:p>
            <a:pPr algn="l">
              <a:defRPr sz="2400" b="0">
                <a:solidFill>
                  <a:srgbClr val="BBBBCC"/>
                </a:solidFill>
                <a:latin typeface="Microsoft YaHei"/>
              </a:defRPr>
            </a:pPr>
            <a:r>
              <a:t>Pandas &amp; NumPy for Machine Learning</a:t>
            </a:r>
          </a:p>
        </p:txBody>
      </p:sp>
      <p:sp>
        <p:nvSpPr>
          <p:cNvPr id="7" name="TextBox 6"/>
          <p:cNvSpPr txBox="1"/>
          <p:nvPr/>
        </p:nvSpPr>
        <p:spPr>
          <a:xfrm>
            <a:off x="914400" y="3931920"/>
            <a:ext cx="10058400" cy="731520"/>
          </a:xfrm>
          <a:prstGeom prst="rect">
            <a:avLst/>
          </a:prstGeom>
          <a:noFill/>
        </p:spPr>
        <p:txBody>
          <a:bodyPr wrap="square">
            <a:spAutoFit/>
          </a:bodyPr>
          <a:lstStyle/>
          <a:p>
            <a:pPr algn="l">
              <a:defRPr sz="2000" b="1">
                <a:solidFill>
                  <a:srgbClr val="FF8C00"/>
                </a:solidFill>
                <a:latin typeface="Microsoft YaHei"/>
              </a:defRPr>
            </a:pPr>
            <a:r>
              <a:t>[ 扩展详细版 ]</a:t>
            </a:r>
          </a:p>
        </p:txBody>
      </p:sp>
      <p:sp>
        <p:nvSpPr>
          <p:cNvPr id="8" name="TextBox 7"/>
          <p:cNvSpPr txBox="1"/>
          <p:nvPr/>
        </p:nvSpPr>
        <p:spPr>
          <a:xfrm>
            <a:off x="914400" y="4572000"/>
            <a:ext cx="10058400" cy="365760"/>
          </a:xfrm>
          <a:prstGeom prst="rect">
            <a:avLst/>
          </a:prstGeom>
          <a:noFill/>
        </p:spPr>
        <p:txBody>
          <a:bodyPr wrap="square">
            <a:spAutoFit/>
          </a:bodyPr>
          <a:lstStyle/>
          <a:p>
            <a:pPr algn="l">
              <a:defRPr sz="1400" b="0">
                <a:solidFill>
                  <a:srgbClr val="888899"/>
                </a:solidFill>
                <a:latin typeface="Microsoft YaHei"/>
              </a:defRPr>
            </a:pPr>
            <a:r>
              <a:t>核心关键词: NumPy ndarray · Pandas DataFrame · 广播 · 向量化 · Tidy Data · 线性代数 · 数据预处理</a:t>
            </a:r>
          </a:p>
        </p:txBody>
      </p:sp>
      <p:sp>
        <p:nvSpPr>
          <p:cNvPr id="9" name="TextBox 8"/>
          <p:cNvSpPr txBox="1"/>
          <p:nvPr/>
        </p:nvSpPr>
        <p:spPr>
          <a:xfrm>
            <a:off x="914400" y="5669280"/>
            <a:ext cx="10058400" cy="365760"/>
          </a:xfrm>
          <a:prstGeom prst="rect">
            <a:avLst/>
          </a:prstGeom>
          <a:noFill/>
        </p:spPr>
        <p:txBody>
          <a:bodyPr wrap="square">
            <a:spAutoFit/>
          </a:bodyPr>
          <a:lstStyle/>
          <a:p>
            <a:pPr algn="l">
              <a:defRPr sz="1400" b="0">
                <a:solidFill>
                  <a:srgbClr val="888899"/>
                </a:solidFill>
                <a:latin typeface="Microsoft YaHei"/>
              </a:defRPr>
            </a:pPr>
            <a:r>
              <a:t>研究生博士课程级别 | 机器学习 第3章</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目录 (Table of Contents) - 1/2</a:t>
            </a:r>
          </a:p>
        </p:txBody>
      </p:sp>
      <p:sp>
        <p:nvSpPr>
          <p:cNvPr id="5" name="TextBox 4"/>
          <p:cNvSpPr txBox="1"/>
          <p:nvPr/>
        </p:nvSpPr>
        <p:spPr>
          <a:xfrm>
            <a:off x="731520" y="1828800"/>
            <a:ext cx="10058400" cy="4572000"/>
          </a:xfrm>
          <a:prstGeom prst="rect">
            <a:avLst/>
          </a:prstGeom>
          <a:noFill/>
        </p:spPr>
        <p:txBody>
          <a:bodyPr wrap="square">
            <a:spAutoFit/>
          </a:bodyPr>
          <a:lstStyle/>
          <a:p>
            <a:pPr>
              <a:spcAft>
                <a:spcPts val="500"/>
              </a:spcAft>
              <a:defRPr sz="1500">
                <a:solidFill>
                  <a:srgbClr val="BBBBCC"/>
                </a:solidFill>
                <a:latin typeface="Microsoft YaHei"/>
              </a:defRPr>
            </a:pPr>
            <a:r>
              <a:t>Section 1. 引言: 没有数据就没有ML</a:t>
            </a:r>
          </a:p>
          <a:p>
            <a:pPr>
              <a:spcAft>
                <a:spcPts val="500"/>
              </a:spcAft>
              <a:defRPr sz="1500">
                <a:solidFill>
                  <a:srgbClr val="BBBBCC"/>
                </a:solidFill>
                <a:latin typeface="Microsoft YaHei"/>
              </a:defRPr>
            </a:pPr>
            <a:r>
              <a:t>    1.1 Python科学生态系统的层级结构</a:t>
            </a:r>
          </a:p>
          <a:p>
            <a:pPr>
              <a:spcAft>
                <a:spcPts val="500"/>
              </a:spcAft>
              <a:defRPr sz="1500">
                <a:solidFill>
                  <a:srgbClr val="BBBBCC"/>
                </a:solidFill>
                <a:latin typeface="Microsoft YaHei"/>
              </a:defRPr>
            </a:pPr>
            <a:r>
              <a:t>    1.2 ML管道中的数据流</a:t>
            </a:r>
          </a:p>
          <a:p>
            <a:pPr>
              <a:spcAft>
                <a:spcPts val="500"/>
              </a:spcAft>
              <a:defRPr sz="1500">
                <a:solidFill>
                  <a:srgbClr val="BBBBCC"/>
                </a:solidFill>
                <a:latin typeface="Microsoft YaHei"/>
              </a:defRPr>
            </a:pPr>
            <a:r>
              <a:t>    1.3 为什么选择Python?</a:t>
            </a:r>
          </a:p>
          <a:p>
            <a:pPr>
              <a:spcAft>
                <a:spcPts val="500"/>
              </a:spcAft>
              <a:defRPr sz="1500">
                <a:solidFill>
                  <a:srgbClr val="BBBBCC"/>
                </a:solidFill>
                <a:latin typeface="Microsoft YaHei"/>
              </a:defRPr>
            </a:pPr>
          </a:p>
          <a:p>
            <a:pPr>
              <a:spcAft>
                <a:spcPts val="500"/>
              </a:spcAft>
              <a:defRPr sz="1500">
                <a:solidFill>
                  <a:srgbClr val="BBBBCC"/>
                </a:solidFill>
                <a:latin typeface="Microsoft YaHei"/>
              </a:defRPr>
            </a:pPr>
            <a:r>
              <a:t>Section 2. NumPy深入: ndarray的世界</a:t>
            </a:r>
          </a:p>
          <a:p>
            <a:pPr>
              <a:spcAft>
                <a:spcPts val="500"/>
              </a:spcAft>
              <a:defRPr sz="1500">
                <a:solidFill>
                  <a:srgbClr val="BBBBCC"/>
                </a:solidFill>
                <a:latin typeface="Microsoft YaHei"/>
              </a:defRPr>
            </a:pPr>
            <a:r>
              <a:t>    2.1 ndarray内部结构 (4个核心要素)</a:t>
            </a:r>
          </a:p>
          <a:p>
            <a:pPr>
              <a:spcAft>
                <a:spcPts val="500"/>
              </a:spcAft>
              <a:defRPr sz="1500">
                <a:solidFill>
                  <a:srgbClr val="BBBBCC"/>
                </a:solidFill>
                <a:latin typeface="Microsoft YaHei"/>
              </a:defRPr>
            </a:pPr>
            <a:r>
              <a:t>    2.2 内存布局与Stride</a:t>
            </a:r>
          </a:p>
          <a:p>
            <a:pPr>
              <a:spcAft>
                <a:spcPts val="500"/>
              </a:spcAft>
              <a:defRPr sz="1500">
                <a:solidFill>
                  <a:srgbClr val="BBBBCC"/>
                </a:solidFill>
                <a:latin typeface="Microsoft YaHei"/>
              </a:defRPr>
            </a:pPr>
            <a:r>
              <a:t>    2.3 C-order vs F-order / dtype系统</a:t>
            </a:r>
          </a:p>
          <a:p>
            <a:pPr>
              <a:spcAft>
                <a:spcPts val="500"/>
              </a:spcAft>
              <a:defRPr sz="1500">
                <a:solidFill>
                  <a:srgbClr val="BBBBCC"/>
                </a:solidFill>
                <a:latin typeface="Microsoft YaHei"/>
              </a:defRPr>
            </a:pPr>
            <a:r>
              <a:t>    2.4 数组创建函数总结</a:t>
            </a:r>
          </a:p>
          <a:p>
            <a:pPr>
              <a:spcAft>
                <a:spcPts val="500"/>
              </a:spcAft>
              <a:defRPr sz="1500">
                <a:solidFill>
                  <a:srgbClr val="BBBBCC"/>
                </a:solidFill>
                <a:latin typeface="Microsoft YaHei"/>
              </a:defRPr>
            </a:pPr>
            <a:r>
              <a:t>    2.5 数组索引与切片</a:t>
            </a:r>
          </a:p>
          <a:p>
            <a:pPr>
              <a:spcAft>
                <a:spcPts val="500"/>
              </a:spcAft>
              <a:defRPr sz="1500">
                <a:solidFill>
                  <a:srgbClr val="BBBBCC"/>
                </a:solidFill>
                <a:latin typeface="Microsoft YaHei"/>
              </a:defRPr>
            </a:pPr>
            <a:r>
              <a:t>    2.6 广播的3条规则</a:t>
            </a:r>
          </a:p>
          <a:p>
            <a:pPr>
              <a:spcAft>
                <a:spcPts val="500"/>
              </a:spcAft>
              <a:defRPr sz="1500">
                <a:solidFill>
                  <a:srgbClr val="BBBBCC"/>
                </a:solidFill>
                <a:latin typeface="Microsoft YaHei"/>
              </a:defRPr>
            </a:pPr>
            <a:r>
              <a:t>    2.7 广播代码示例</a:t>
            </a:r>
          </a:p>
          <a:p>
            <a:pPr>
              <a:spcAft>
                <a:spcPts val="500"/>
              </a:spcAft>
              <a:defRPr sz="1500">
                <a:solidFill>
                  <a:srgbClr val="BBBBCC"/>
                </a:solidFill>
                <a:latin typeface="Microsoft YaHei"/>
              </a:defRPr>
            </a:pPr>
            <a:r>
              <a:t>    2.8 通用函数 (ufunc)</a:t>
            </a:r>
          </a:p>
          <a:p>
            <a:pPr>
              <a:spcAft>
                <a:spcPts val="500"/>
              </a:spcAft>
              <a:defRPr sz="1500">
                <a:solidFill>
                  <a:srgbClr val="BBBBCC"/>
                </a:solidFill>
                <a:latin typeface="Microsoft YaHei"/>
              </a:defRPr>
            </a:pPr>
            <a:r>
              <a:t>    2.9 线性代数基础 / SVD / 特征值分解</a:t>
            </a:r>
          </a:p>
          <a:p>
            <a:pPr>
              <a:spcAft>
                <a:spcPts val="500"/>
              </a:spcAft>
              <a:defRPr sz="1500">
                <a:solidFill>
                  <a:srgbClr val="BBBBCC"/>
                </a:solidFill>
                <a:latin typeface="Microsoft YaHei"/>
              </a:defRPr>
            </a:pPr>
            <a:r>
              <a:t>    2.10 正规方程与View vs Copy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目录 (Table of Contents) - 2/2</a:t>
            </a:r>
          </a:p>
        </p:txBody>
      </p:sp>
      <p:sp>
        <p:nvSpPr>
          <p:cNvPr id="5" name="TextBox 4"/>
          <p:cNvSpPr txBox="1"/>
          <p:nvPr/>
        </p:nvSpPr>
        <p:spPr>
          <a:xfrm>
            <a:off x="731520" y="1828800"/>
            <a:ext cx="10058400" cy="4572000"/>
          </a:xfrm>
          <a:prstGeom prst="rect">
            <a:avLst/>
          </a:prstGeom>
          <a:noFill/>
        </p:spPr>
        <p:txBody>
          <a:bodyPr wrap="square">
            <a:spAutoFit/>
          </a:bodyPr>
          <a:lstStyle/>
          <a:p>
            <a:pPr>
              <a:spcAft>
                <a:spcPts val="500"/>
              </a:spcAft>
              <a:defRPr sz="1500">
                <a:solidFill>
                  <a:srgbClr val="BBBBCC"/>
                </a:solidFill>
                <a:latin typeface="Microsoft YaHei"/>
              </a:defRPr>
            </a:pPr>
            <a:r>
              <a:t>Section 3. Pandas深入: DataFrame的世界</a:t>
            </a:r>
          </a:p>
          <a:p>
            <a:pPr>
              <a:spcAft>
                <a:spcPts val="500"/>
              </a:spcAft>
              <a:defRPr sz="1500">
                <a:solidFill>
                  <a:srgbClr val="BBBBCC"/>
                </a:solidFill>
                <a:latin typeface="Microsoft YaHei"/>
              </a:defRPr>
            </a:pPr>
            <a:r>
              <a:t>    3.1 DataFrame结构 / 索引 (loc vs iloc)</a:t>
            </a:r>
          </a:p>
          <a:p>
            <a:pPr>
              <a:spcAft>
                <a:spcPts val="500"/>
              </a:spcAft>
              <a:defRPr sz="1500">
                <a:solidFill>
                  <a:srgbClr val="BBBBCC"/>
                </a:solidFill>
                <a:latin typeface="Microsoft YaHei"/>
              </a:defRPr>
            </a:pPr>
            <a:r>
              <a:t>    3.2 方法链 / GroupBy / Merge·Join</a:t>
            </a:r>
          </a:p>
          <a:p>
            <a:pPr>
              <a:spcAft>
                <a:spcPts val="500"/>
              </a:spcAft>
              <a:defRPr sz="1500">
                <a:solidFill>
                  <a:srgbClr val="BBBBCC"/>
                </a:solidFill>
                <a:latin typeface="Microsoft YaHei"/>
              </a:defRPr>
            </a:pPr>
            <a:r>
              <a:t>    3.3 时间序列窗口函数 / Apply·Map</a:t>
            </a:r>
          </a:p>
          <a:p>
            <a:pPr>
              <a:spcAft>
                <a:spcPts val="500"/>
              </a:spcAft>
              <a:defRPr sz="1500">
                <a:solidFill>
                  <a:srgbClr val="BBBBCC"/>
                </a:solidFill>
                <a:latin typeface="Microsoft YaHei"/>
              </a:defRPr>
            </a:pPr>
          </a:p>
          <a:p>
            <a:pPr>
              <a:spcAft>
                <a:spcPts val="500"/>
              </a:spcAft>
              <a:defRPr sz="1500">
                <a:solidFill>
                  <a:srgbClr val="BBBBCC"/>
                </a:solidFill>
                <a:latin typeface="Microsoft YaHei"/>
              </a:defRPr>
            </a:pPr>
            <a:r>
              <a:t>Section 4. 数据预处理</a:t>
            </a:r>
          </a:p>
          <a:p>
            <a:pPr>
              <a:spcAft>
                <a:spcPts val="500"/>
              </a:spcAft>
              <a:defRPr sz="1500">
                <a:solidFill>
                  <a:srgbClr val="BBBBCC"/>
                </a:solidFill>
                <a:latin typeface="Microsoft YaHei"/>
              </a:defRPr>
            </a:pPr>
            <a:r>
              <a:t>    4.1 缺失值处理5种方法 / 异常值检测3种方法</a:t>
            </a:r>
          </a:p>
          <a:p>
            <a:pPr>
              <a:spcAft>
                <a:spcPts val="500"/>
              </a:spcAft>
              <a:defRPr sz="1500">
                <a:solidFill>
                  <a:srgbClr val="BBBBCC"/>
                </a:solidFill>
                <a:latin typeface="Microsoft YaHei"/>
              </a:defRPr>
            </a:pPr>
            <a:r>
              <a:t>    4.2 特征缩放3种方法 / 编码</a:t>
            </a:r>
          </a:p>
          <a:p>
            <a:pPr>
              <a:spcAft>
                <a:spcPts val="500"/>
              </a:spcAft>
              <a:defRPr sz="1500">
                <a:solidFill>
                  <a:srgbClr val="BBBBCC"/>
                </a:solidFill>
                <a:latin typeface="Microsoft YaHei"/>
              </a:defRPr>
            </a:pPr>
          </a:p>
          <a:p>
            <a:pPr>
              <a:spcAft>
                <a:spcPts val="500"/>
              </a:spcAft>
              <a:defRPr sz="1500">
                <a:solidFill>
                  <a:srgbClr val="BBBBCC"/>
                </a:solidFill>
                <a:latin typeface="Microsoft YaHei"/>
              </a:defRPr>
            </a:pPr>
            <a:r>
              <a:t>Section 5. Tidy Data概念 (Wickham 2014)</a:t>
            </a:r>
          </a:p>
          <a:p>
            <a:pPr>
              <a:spcAft>
                <a:spcPts val="500"/>
              </a:spcAft>
              <a:defRPr sz="1500">
                <a:solidFill>
                  <a:srgbClr val="BBBBCC"/>
                </a:solidFill>
                <a:latin typeface="Microsoft YaHei"/>
              </a:defRPr>
            </a:pPr>
            <a:r>
              <a:t>Section 6. 向量化 vs 循环: 性能的科学</a:t>
            </a:r>
          </a:p>
          <a:p>
            <a:pPr>
              <a:spcAft>
                <a:spcPts val="500"/>
              </a:spcAft>
              <a:defRPr sz="1500">
                <a:solidFill>
                  <a:srgbClr val="BBBBCC"/>
                </a:solidFill>
                <a:latin typeface="Microsoft YaHei"/>
              </a:defRPr>
            </a:pPr>
            <a:r>
              <a:t>Section 7. 论文综述整合</a:t>
            </a:r>
          </a:p>
          <a:p>
            <a:pPr>
              <a:spcAft>
                <a:spcPts val="500"/>
              </a:spcAft>
              <a:defRPr sz="1500">
                <a:solidFill>
                  <a:srgbClr val="BBBBCC"/>
                </a:solidFill>
                <a:latin typeface="Microsoft YaHei"/>
              </a:defRPr>
            </a:pPr>
            <a:r>
              <a:t>Section 8. 实现代码详细解说 (3个实验)</a:t>
            </a:r>
          </a:p>
          <a:p>
            <a:pPr>
              <a:spcAft>
                <a:spcPts val="500"/>
              </a:spcAft>
              <a:defRPr sz="1500">
                <a:solidFill>
                  <a:srgbClr val="BBBBCC"/>
                </a:solidFill>
                <a:latin typeface="Microsoft YaHei"/>
              </a:defRPr>
            </a:pPr>
            <a:r>
              <a:t>Section 9. 核心总结及复习题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学习目标 (Learning Objectives)</a:t>
            </a:r>
          </a:p>
        </p:txBody>
      </p:sp>
      <p:sp>
        <p:nvSpPr>
          <p:cNvPr id="5" name="TextBox 4"/>
          <p:cNvSpPr txBox="1"/>
          <p:nvPr/>
        </p:nvSpPr>
        <p:spPr>
          <a:xfrm>
            <a:off x="731520" y="1828800"/>
            <a:ext cx="10058400" cy="4572000"/>
          </a:xfrm>
          <a:prstGeom prst="rect">
            <a:avLst/>
          </a:prstGeom>
          <a:noFill/>
        </p:spPr>
        <p:txBody>
          <a:bodyPr wrap="square">
            <a:spAutoFit/>
          </a:bodyPr>
          <a:lstStyle/>
          <a:p>
            <a:pPr>
              <a:spcAft>
                <a:spcPts val="800"/>
              </a:spcAft>
              <a:defRPr sz="1500">
                <a:solidFill>
                  <a:srgbClr val="BBBBCC"/>
                </a:solidFill>
                <a:latin typeface="Microsoft YaHei"/>
              </a:defRPr>
            </a:pPr>
            <a:r>
              <a:t>1. 能够说明NumPy ndarray的内部内存结构(stride, dtype, C/F-order)，并应用于性能优化。</a:t>
            </a:r>
          </a:p>
          <a:p>
            <a:pPr>
              <a:spcAft>
                <a:spcPts val="800"/>
              </a:spcAft>
              <a:defRPr sz="1500">
                <a:solidFill>
                  <a:srgbClr val="BBBBCC"/>
                </a:solidFill>
                <a:latin typeface="Microsoft YaHei"/>
              </a:defRPr>
            </a:pPr>
            <a:r>
              <a:t>2. 能够准确应用广播规则，对不同形状的数组进行运算。</a:t>
            </a:r>
          </a:p>
          <a:p>
            <a:pPr>
              <a:spcAft>
                <a:spcPts val="800"/>
              </a:spcAft>
              <a:defRPr sz="1500">
                <a:solidFill>
                  <a:srgbClr val="BBBBCC"/>
                </a:solidFill>
                <a:latin typeface="Microsoft YaHei"/>
              </a:defRPr>
            </a:pPr>
            <a:r>
              <a:t>3. 能够用NumPy实现LU/QR/SVD/特征值分解，并说明在ML算法(PCA、线性回归)中的应用。</a:t>
            </a:r>
          </a:p>
          <a:p>
            <a:pPr>
              <a:spcAft>
                <a:spcPts val="800"/>
              </a:spcAft>
              <a:defRPr sz="1500">
                <a:solidFill>
                  <a:srgbClr val="BBBBCC"/>
                </a:solidFill>
                <a:latin typeface="Microsoft YaHei"/>
              </a:defRPr>
            </a:pPr>
            <a:r>
              <a:t>4. 能够理解Pandas DataFrame的内部结构，用method chaining和pipe()构建数据管道。</a:t>
            </a:r>
          </a:p>
          <a:p>
            <a:pPr>
              <a:spcAft>
                <a:spcPts val="800"/>
              </a:spcAft>
              <a:defRPr sz="1500">
                <a:solidFill>
                  <a:srgbClr val="BBBBCC"/>
                </a:solidFill>
                <a:latin typeface="Microsoft YaHei"/>
              </a:defRPr>
            </a:pPr>
            <a:r>
              <a:t>5. 能够比较分析缺失值处理5种方法、异常值检测3种方法、特征缩放3种方法。</a:t>
            </a:r>
          </a:p>
          <a:p>
            <a:pPr>
              <a:spcAft>
                <a:spcPts val="800"/>
              </a:spcAft>
              <a:defRPr sz="1500">
                <a:solidFill>
                  <a:srgbClr val="BBBBCC"/>
                </a:solidFill>
                <a:latin typeface="Microsoft YaHei"/>
              </a:defRPr>
            </a:pPr>
            <a:r>
              <a:t>6. 能够应用Wickham的Tidy Data原则将messy data转换为tidy data。</a:t>
            </a:r>
          </a:p>
          <a:p>
            <a:pPr>
              <a:spcAft>
                <a:spcPts val="800"/>
              </a:spcAft>
              <a:defRPr sz="1500">
                <a:solidFill>
                  <a:srgbClr val="BBBBCC"/>
                </a:solidFill>
                <a:latin typeface="Microsoft YaHei"/>
              </a:defRPr>
            </a:pPr>
            <a:r>
              <a:t>7. 能够从硬件层面(SIMD、缓存)解释向量化运算与Python循环的性能差异。</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028"/>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0"/>
            <a:ext cx="12191695" cy="508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1828800"/>
            <a:ext cx="12191695" cy="457200"/>
          </a:xfrm>
          <a:prstGeom prst="rect">
            <a:avLst/>
          </a:prstGeom>
          <a:noFill/>
        </p:spPr>
        <p:txBody>
          <a:bodyPr wrap="square">
            <a:spAutoFit/>
          </a:bodyPr>
          <a:lstStyle/>
          <a:p>
            <a:pPr algn="ctr">
              <a:defRPr sz="2000" b="1">
                <a:solidFill>
                  <a:srgbClr val="0096FF"/>
                </a:solidFill>
                <a:latin typeface="Microsoft YaHei"/>
              </a:defRPr>
            </a:pPr>
            <a:r>
              <a:t>SECTION 1</a:t>
            </a:r>
          </a:p>
        </p:txBody>
      </p:sp>
      <p:sp>
        <p:nvSpPr>
          <p:cNvPr id="5" name="Rectangle 4"/>
          <p:cNvSpPr/>
          <p:nvPr/>
        </p:nvSpPr>
        <p:spPr>
          <a:xfrm>
            <a:off x="5029200" y="2468880"/>
            <a:ext cx="210312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743200"/>
            <a:ext cx="12191695" cy="914400"/>
          </a:xfrm>
          <a:prstGeom prst="rect">
            <a:avLst/>
          </a:prstGeom>
          <a:noFill/>
        </p:spPr>
        <p:txBody>
          <a:bodyPr wrap="square">
            <a:spAutoFit/>
          </a:bodyPr>
          <a:lstStyle/>
          <a:p>
            <a:pPr algn="ctr">
              <a:defRPr sz="4400" b="1">
                <a:solidFill>
                  <a:srgbClr val="FFFFFF"/>
                </a:solidFill>
                <a:latin typeface="Microsoft YaHei"/>
              </a:defRPr>
            </a:pPr>
            <a:r>
              <a:t>引言: 没有数据就没有ML</a:t>
            </a:r>
          </a:p>
        </p:txBody>
      </p:sp>
      <p:sp>
        <p:nvSpPr>
          <p:cNvPr id="7" name="TextBox 6"/>
          <p:cNvSpPr txBox="1"/>
          <p:nvPr/>
        </p:nvSpPr>
        <p:spPr>
          <a:xfrm>
            <a:off x="0" y="3840480"/>
            <a:ext cx="12191695" cy="457200"/>
          </a:xfrm>
          <a:prstGeom prst="rect">
            <a:avLst/>
          </a:prstGeom>
          <a:noFill/>
        </p:spPr>
        <p:txBody>
          <a:bodyPr wrap="square">
            <a:spAutoFit/>
          </a:bodyPr>
          <a:lstStyle/>
          <a:p>
            <a:pPr algn="ctr">
              <a:defRPr sz="1800" b="0">
                <a:solidFill>
                  <a:srgbClr val="888899"/>
                </a:solidFill>
                <a:latin typeface="Microsoft YaHei"/>
              </a:defRPr>
            </a:pPr>
            <a:r>
              <a:t>Python生态系统与ML管道中NumPy·Pandas的角色</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1</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Python科学生态系统的层级结构</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基于Harris et al. (2020) Nature论文</a:t>
            </a:r>
          </a:p>
        </p:txBody>
      </p:sp>
      <p:sp>
        <p:nvSpPr>
          <p:cNvPr id="6" name="Rounded Rectangle 5"/>
          <p:cNvSpPr/>
          <p:nvPr/>
        </p:nvSpPr>
        <p:spPr>
          <a:xfrm>
            <a:off x="548640" y="1828800"/>
            <a:ext cx="5029200" cy="1097280"/>
          </a:xfrm>
          <a:prstGeom prst="roundRect">
            <a:avLst>
              <a:gd name="adj" fmla="val 5000"/>
            </a:avLst>
          </a:prstGeom>
          <a:solidFill>
            <a:srgbClr val="25253D"/>
          </a:solidFill>
          <a:ln w="12700">
            <a:solidFill>
              <a:srgbClr val="A06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20240"/>
            <a:ext cx="4663440" cy="365760"/>
          </a:xfrm>
          <a:prstGeom prst="rect">
            <a:avLst/>
          </a:prstGeom>
          <a:noFill/>
        </p:spPr>
        <p:txBody>
          <a:bodyPr wrap="square">
            <a:spAutoFit/>
          </a:bodyPr>
          <a:lstStyle/>
          <a:p>
            <a:pPr algn="l">
              <a:defRPr sz="1500" b="1">
                <a:solidFill>
                  <a:srgbClr val="A06CFF"/>
                </a:solidFill>
                <a:latin typeface="Microsoft YaHei"/>
              </a:defRPr>
            </a:pPr>
            <a:r>
              <a:t>Layer 4: 应用库 (Applications)</a:t>
            </a:r>
          </a:p>
        </p:txBody>
      </p:sp>
      <p:sp>
        <p:nvSpPr>
          <p:cNvPr id="8" name="TextBox 7"/>
          <p:cNvSpPr txBox="1"/>
          <p:nvPr/>
        </p:nvSpPr>
        <p:spPr>
          <a:xfrm>
            <a:off x="731520" y="2286000"/>
            <a:ext cx="4663440" cy="548640"/>
          </a:xfrm>
          <a:prstGeom prst="rect">
            <a:avLst/>
          </a:prstGeom>
          <a:noFill/>
        </p:spPr>
        <p:txBody>
          <a:bodyPr wrap="square">
            <a:spAutoFit/>
          </a:bodyPr>
          <a:lstStyle/>
          <a:p>
            <a:pPr>
              <a:spcAft>
                <a:spcPts val="400"/>
              </a:spcAft>
              <a:defRPr sz="1300">
                <a:solidFill>
                  <a:srgbClr val="BBBBCC"/>
                </a:solidFill>
                <a:latin typeface="Microsoft YaHei"/>
              </a:defRPr>
            </a:pPr>
            <a:r>
              <a:t>scikit-learn, TensorFlow, PyTorch, Keras</a:t>
            </a:r>
          </a:p>
        </p:txBody>
      </p:sp>
      <p:sp>
        <p:nvSpPr>
          <p:cNvPr id="9" name="Rounded Rectangle 8"/>
          <p:cNvSpPr/>
          <p:nvPr/>
        </p:nvSpPr>
        <p:spPr>
          <a:xfrm>
            <a:off x="548640" y="3017520"/>
            <a:ext cx="5029200" cy="1188720"/>
          </a:xfrm>
          <a:prstGeom prst="roundRect">
            <a:avLst>
              <a:gd name="adj" fmla="val 5000"/>
            </a:avLst>
          </a:prstGeom>
          <a:solidFill>
            <a:srgbClr val="25253D"/>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108960"/>
            <a:ext cx="4663440" cy="365760"/>
          </a:xfrm>
          <a:prstGeom prst="rect">
            <a:avLst/>
          </a:prstGeom>
          <a:noFill/>
        </p:spPr>
        <p:txBody>
          <a:bodyPr wrap="square">
            <a:spAutoFit/>
          </a:bodyPr>
          <a:lstStyle/>
          <a:p>
            <a:pPr algn="l">
              <a:defRPr sz="1500" b="1">
                <a:solidFill>
                  <a:srgbClr val="FF8C00"/>
                </a:solidFill>
                <a:latin typeface="Microsoft YaHei"/>
              </a:defRPr>
            </a:pPr>
            <a:r>
              <a:t>Layer 3: 领域特定库 (Domain-specific)</a:t>
            </a:r>
          </a:p>
        </p:txBody>
      </p:sp>
      <p:sp>
        <p:nvSpPr>
          <p:cNvPr id="11" name="TextBox 10"/>
          <p:cNvSpPr txBox="1"/>
          <p:nvPr/>
        </p:nvSpPr>
        <p:spPr>
          <a:xfrm>
            <a:off x="731520" y="3474720"/>
            <a:ext cx="4663440" cy="640080"/>
          </a:xfrm>
          <a:prstGeom prst="rect">
            <a:avLst/>
          </a:prstGeom>
          <a:noFill/>
        </p:spPr>
        <p:txBody>
          <a:bodyPr wrap="square">
            <a:spAutoFit/>
          </a:bodyPr>
          <a:lstStyle/>
          <a:p>
            <a:pPr>
              <a:spcAft>
                <a:spcPts val="400"/>
              </a:spcAft>
              <a:defRPr sz="1300">
                <a:solidFill>
                  <a:srgbClr val="BBBBCC"/>
                </a:solidFill>
                <a:latin typeface="Microsoft YaHei"/>
              </a:defRPr>
            </a:pPr>
            <a:r>
              <a:t>Pandas (表格数据)</a:t>
            </a:r>
          </a:p>
          <a:p>
            <a:pPr>
              <a:spcAft>
                <a:spcPts val="400"/>
              </a:spcAft>
              <a:defRPr sz="1300">
                <a:solidFill>
                  <a:srgbClr val="BBBBCC"/>
                </a:solidFill>
                <a:latin typeface="Microsoft YaHei"/>
              </a:defRPr>
            </a:pPr>
            <a:r>
              <a:t>SciPy (科学算法), matplotlib (可视化)</a:t>
            </a:r>
          </a:p>
        </p:txBody>
      </p:sp>
      <p:sp>
        <p:nvSpPr>
          <p:cNvPr id="12" name="Rounded Rectangle 11"/>
          <p:cNvSpPr/>
          <p:nvPr/>
        </p:nvSpPr>
        <p:spPr>
          <a:xfrm>
            <a:off x="548640" y="4297680"/>
            <a:ext cx="5029200" cy="1188720"/>
          </a:xfrm>
          <a:prstGeom prst="roundRect">
            <a:avLst>
              <a:gd name="adj" fmla="val 5000"/>
            </a:avLst>
          </a:prstGeom>
          <a:solidFill>
            <a:srgbClr val="25253D"/>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389120"/>
            <a:ext cx="4663440" cy="365760"/>
          </a:xfrm>
          <a:prstGeom prst="rect">
            <a:avLst/>
          </a:prstGeom>
          <a:noFill/>
        </p:spPr>
        <p:txBody>
          <a:bodyPr wrap="square">
            <a:spAutoFit/>
          </a:bodyPr>
          <a:lstStyle/>
          <a:p>
            <a:pPr algn="l">
              <a:defRPr sz="1500" b="1">
                <a:solidFill>
                  <a:srgbClr val="00D2FF"/>
                </a:solidFill>
                <a:latin typeface="Microsoft YaHei"/>
              </a:defRPr>
            </a:pPr>
            <a:r>
              <a:t>Layer 2: NumPy (基础设施)</a:t>
            </a:r>
          </a:p>
        </p:txBody>
      </p:sp>
      <p:sp>
        <p:nvSpPr>
          <p:cNvPr id="14" name="TextBox 13"/>
          <p:cNvSpPr txBox="1"/>
          <p:nvPr/>
        </p:nvSpPr>
        <p:spPr>
          <a:xfrm>
            <a:off x="731520" y="4754880"/>
            <a:ext cx="4663440" cy="640080"/>
          </a:xfrm>
          <a:prstGeom prst="rect">
            <a:avLst/>
          </a:prstGeom>
          <a:noFill/>
        </p:spPr>
        <p:txBody>
          <a:bodyPr wrap="square">
            <a:spAutoFit/>
          </a:bodyPr>
          <a:lstStyle/>
          <a:p>
            <a:pPr>
              <a:spcAft>
                <a:spcPts val="400"/>
              </a:spcAft>
              <a:defRPr sz="1300">
                <a:solidFill>
                  <a:srgbClr val="BBBBCC"/>
                </a:solidFill>
                <a:latin typeface="Microsoft YaHei"/>
              </a:defRPr>
            </a:pPr>
            <a:r>
              <a:t>ndarray, ufunc, broadcasting</a:t>
            </a:r>
          </a:p>
          <a:p>
            <a:pPr>
              <a:spcAft>
                <a:spcPts val="400"/>
              </a:spcAft>
              <a:defRPr sz="1300">
                <a:solidFill>
                  <a:srgbClr val="BBBBCC"/>
                </a:solidFill>
                <a:latin typeface="Microsoft YaHei"/>
              </a:defRPr>
            </a:pPr>
            <a:r>
              <a:t>linear algebra, FFT, random</a:t>
            </a:r>
          </a:p>
        </p:txBody>
      </p:sp>
      <p:sp>
        <p:nvSpPr>
          <p:cNvPr id="15" name="Rounded Rectangle 14"/>
          <p:cNvSpPr/>
          <p:nvPr/>
        </p:nvSpPr>
        <p:spPr>
          <a:xfrm>
            <a:off x="548640" y="5577840"/>
            <a:ext cx="5029200" cy="82296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5669280"/>
            <a:ext cx="4663440" cy="365760"/>
          </a:xfrm>
          <a:prstGeom prst="rect">
            <a:avLst/>
          </a:prstGeom>
          <a:noFill/>
        </p:spPr>
        <p:txBody>
          <a:bodyPr wrap="square">
            <a:spAutoFit/>
          </a:bodyPr>
          <a:lstStyle/>
          <a:p>
            <a:pPr algn="l">
              <a:defRPr sz="1500" b="1">
                <a:solidFill>
                  <a:srgbClr val="00E696"/>
                </a:solidFill>
                <a:latin typeface="Microsoft YaHei"/>
              </a:defRPr>
            </a:pPr>
            <a:r>
              <a:t>Layer 1: Python + C Extensions</a:t>
            </a:r>
          </a:p>
        </p:txBody>
      </p:sp>
      <p:sp>
        <p:nvSpPr>
          <p:cNvPr id="17" name="TextBox 16"/>
          <p:cNvSpPr txBox="1"/>
          <p:nvPr/>
        </p:nvSpPr>
        <p:spPr>
          <a:xfrm>
            <a:off x="731520" y="6035040"/>
            <a:ext cx="4663440" cy="274320"/>
          </a:xfrm>
          <a:prstGeom prst="rect">
            <a:avLst/>
          </a:prstGeom>
          <a:noFill/>
        </p:spPr>
        <p:txBody>
          <a:bodyPr wrap="square">
            <a:spAutoFit/>
          </a:bodyPr>
          <a:lstStyle/>
          <a:p>
            <a:pPr>
              <a:spcAft>
                <a:spcPts val="400"/>
              </a:spcAft>
              <a:defRPr sz="1300">
                <a:solidFill>
                  <a:srgbClr val="BBBBCC"/>
                </a:solidFill>
                <a:latin typeface="Microsoft YaHei"/>
              </a:defRPr>
            </a:pPr>
            <a:r>
              <a:t>BLAS, LAPACK, C/Fortran 编译代码</a:t>
            </a:r>
          </a:p>
        </p:txBody>
      </p:sp>
      <p:sp>
        <p:nvSpPr>
          <p:cNvPr id="18" name="Rounded Rectangle 17"/>
          <p:cNvSpPr/>
          <p:nvPr/>
        </p:nvSpPr>
        <p:spPr>
          <a:xfrm>
            <a:off x="5943600" y="1828800"/>
            <a:ext cx="5669280" cy="4572000"/>
          </a:xfrm>
          <a:prstGeom prst="roundRect">
            <a:avLst>
              <a:gd name="adj" fmla="val 5000"/>
            </a:avLst>
          </a:prstGeom>
          <a:solidFill>
            <a:srgbClr val="25253D"/>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0" y="1920240"/>
            <a:ext cx="5303520" cy="365760"/>
          </a:xfrm>
          <a:prstGeom prst="rect">
            <a:avLst/>
          </a:prstGeom>
          <a:noFill/>
        </p:spPr>
        <p:txBody>
          <a:bodyPr wrap="square">
            <a:spAutoFit/>
          </a:bodyPr>
          <a:lstStyle/>
          <a:p>
            <a:pPr algn="l">
              <a:defRPr sz="1500" b="1">
                <a:solidFill>
                  <a:srgbClr val="0096FF"/>
                </a:solidFill>
                <a:latin typeface="Microsoft YaHei"/>
              </a:defRPr>
            </a:pPr>
            <a:r>
              <a:t>核心要点</a:t>
            </a:r>
          </a:p>
        </p:txBody>
      </p:sp>
      <p:sp>
        <p:nvSpPr>
          <p:cNvPr id="20" name="TextBox 19"/>
          <p:cNvSpPr txBox="1"/>
          <p:nvPr/>
        </p:nvSpPr>
        <p:spPr>
          <a:xfrm>
            <a:off x="6126480" y="2286000"/>
            <a:ext cx="5303520" cy="4023360"/>
          </a:xfrm>
          <a:prstGeom prst="rect">
            <a:avLst/>
          </a:prstGeom>
          <a:noFill/>
        </p:spPr>
        <p:txBody>
          <a:bodyPr wrap="square">
            <a:spAutoFit/>
          </a:bodyPr>
          <a:lstStyle/>
          <a:p>
            <a:pPr>
              <a:spcAft>
                <a:spcPts val="400"/>
              </a:spcAft>
              <a:defRPr sz="1300">
                <a:solidFill>
                  <a:srgbClr val="BBBBCC"/>
                </a:solidFill>
                <a:latin typeface="Microsoft YaHei"/>
              </a:defRPr>
            </a:pPr>
            <a:r>
              <a:t>NumPy作为生态系统的基础设施(foundation infrastructure)</a:t>
            </a:r>
          </a:p>
          <a:p>
            <a:pPr>
              <a:spcAft>
                <a:spcPts val="400"/>
              </a:spcAft>
              <a:defRPr sz="1300">
                <a:solidFill>
                  <a:srgbClr val="BBBBCC"/>
                </a:solidFill>
                <a:latin typeface="Microsoft YaHei"/>
              </a:defRPr>
            </a:pPr>
            <a:r>
              <a:t>Pandas DataFrame内部包装(wrapping)了NumPy数组</a:t>
            </a:r>
          </a:p>
          <a:p>
            <a:pPr>
              <a:spcAft>
                <a:spcPts val="400"/>
              </a:spcAft>
              <a:defRPr sz="1300">
                <a:solidFill>
                  <a:srgbClr val="BBBBCC"/>
                </a:solidFill>
                <a:latin typeface="Microsoft YaHei"/>
              </a:defRPr>
            </a:pPr>
            <a:r>
              <a:t>scikit-learn的fit()/predict()接受NumPy数组作为输入</a:t>
            </a:r>
          </a:p>
          <a:p>
            <a:pPr>
              <a:spcAft>
                <a:spcPts val="400"/>
              </a:spcAft>
              <a:defRPr sz="1300">
                <a:solidFill>
                  <a:srgbClr val="BBBBCC"/>
                </a:solidFill>
                <a:latin typeface="Microsoft YaHei"/>
              </a:defRPr>
            </a:pPr>
            <a:r>
              <a:t>TensorFlow/PyTorch张量也提供与NumPy数组的互转</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Andrew Ng: '数据为王 (Data is King)'</a:t>
            </a:r>
          </a:p>
          <a:p>
            <a:pPr>
              <a:spcAft>
                <a:spcPts val="400"/>
              </a:spcAft>
              <a:defRPr sz="1300">
                <a:solidFill>
                  <a:srgbClr val="BBBBCC"/>
                </a:solidFill>
                <a:latin typeface="Microsoft YaHei"/>
              </a:defRPr>
            </a:pPr>
            <a:r>
              <a:t>ML项目中数据处理占50~80%时间 (Wickham, 2014)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1</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ML管道中的数据流</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Pandas -&gt; NumPy -&gt; scikit-learn 数据转换过程</a:t>
            </a:r>
          </a:p>
        </p:txBody>
      </p:sp>
      <p:sp>
        <p:nvSpPr>
          <p:cNvPr id="6" name="Rounded Rectangle 5"/>
          <p:cNvSpPr/>
          <p:nvPr/>
        </p:nvSpPr>
        <p:spPr>
          <a:xfrm>
            <a:off x="548640" y="1828800"/>
            <a:ext cx="6858000" cy="457200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65960"/>
            <a:ext cx="6492240" cy="4297680"/>
          </a:xfrm>
          <a:prstGeom prst="rect">
            <a:avLst/>
          </a:prstGeom>
          <a:noFill/>
        </p:spPr>
        <p:txBody>
          <a:bodyPr wrap="square">
            <a:spAutoFit/>
          </a:bodyPr>
          <a:lstStyle/>
          <a:p>
            <a:pPr>
              <a:spcAft>
                <a:spcPts val="200"/>
              </a:spcAft>
              <a:defRPr sz="1100">
                <a:solidFill>
                  <a:srgbClr val="00E696"/>
                </a:solidFill>
                <a:latin typeface="Consolas"/>
              </a:defRPr>
            </a:pPr>
            <a:r>
              <a:t>import pandas as pd</a:t>
            </a:r>
          </a:p>
          <a:p>
            <a:pPr>
              <a:spcAft>
                <a:spcPts val="200"/>
              </a:spcAft>
              <a:defRPr sz="1100">
                <a:solidFill>
                  <a:srgbClr val="00E696"/>
                </a:solidFill>
                <a:latin typeface="Consolas"/>
              </a:defRPr>
            </a:pPr>
            <a:r>
              <a:t>import numpy as np</a:t>
            </a:r>
          </a:p>
          <a:p>
            <a:pPr>
              <a:spcAft>
                <a:spcPts val="200"/>
              </a:spcAft>
              <a:defRPr sz="1100">
                <a:solidFill>
                  <a:srgbClr val="00E696"/>
                </a:solidFill>
                <a:latin typeface="Consolas"/>
              </a:defRPr>
            </a:pPr>
            <a:r>
              <a:t>from sklearn.model_selection import train_test_split</a:t>
            </a:r>
          </a:p>
          <a:p>
            <a:pPr>
              <a:spcAft>
                <a:spcPts val="200"/>
              </a:spcAft>
              <a:defRPr sz="1100">
                <a:solidFill>
                  <a:srgbClr val="00E696"/>
                </a:solidFill>
                <a:latin typeface="Consolas"/>
              </a:defRPr>
            </a:pPr>
            <a:r>
              <a:t>from sklearn.preprocessing import StandardScaler</a:t>
            </a:r>
          </a:p>
          <a:p>
            <a:pPr>
              <a:spcAft>
                <a:spcPts val="200"/>
              </a:spcAft>
              <a:defRPr sz="1100">
                <a:solidFill>
                  <a:srgbClr val="00E696"/>
                </a:solidFill>
                <a:latin typeface="Consolas"/>
              </a:defRPr>
            </a:pPr>
            <a:r>
              <a:t>from sklearn.linear_model import LogisticRegression</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第1步: 用Pandas加载数据</a:t>
            </a:r>
          </a:p>
          <a:p>
            <a:pPr>
              <a:spcAft>
                <a:spcPts val="200"/>
              </a:spcAft>
              <a:defRPr sz="1100">
                <a:solidFill>
                  <a:srgbClr val="00E696"/>
                </a:solidFill>
                <a:latin typeface="Consolas"/>
              </a:defRPr>
            </a:pPr>
            <a:r>
              <a:t>df = pd.read_csv('data.csv')</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第2步: 用Pandas探索和预处理</a:t>
            </a:r>
          </a:p>
          <a:p>
            <a:pPr>
              <a:spcAft>
                <a:spcPts val="200"/>
              </a:spcAft>
              <a:defRPr sz="1100">
                <a:solidFill>
                  <a:srgbClr val="00E696"/>
                </a:solidFill>
                <a:latin typeface="Consolas"/>
              </a:defRPr>
            </a:pPr>
            <a:r>
              <a:t>df = df.dropna()</a:t>
            </a:r>
          </a:p>
          <a:p>
            <a:pPr>
              <a:spcAft>
                <a:spcPts val="200"/>
              </a:spcAft>
              <a:defRPr sz="1100">
                <a:solidFill>
                  <a:srgbClr val="00E696"/>
                </a:solidFill>
                <a:latin typeface="Consolas"/>
              </a:defRPr>
            </a:pPr>
            <a:r>
              <a:t>df['new_feature'] = df['feature_a'] * df['feature_b']</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第3步: 转换为NumPy数组</a:t>
            </a:r>
          </a:p>
          <a:p>
            <a:pPr>
              <a:spcAft>
                <a:spcPts val="200"/>
              </a:spcAft>
              <a:defRPr sz="1100">
                <a:solidFill>
                  <a:srgbClr val="00E696"/>
                </a:solidFill>
                <a:latin typeface="Consolas"/>
              </a:defRPr>
            </a:pPr>
            <a:r>
              <a:t>X = df[['feature_a','feature_b','new_feature']].to_numpy()</a:t>
            </a:r>
          </a:p>
          <a:p>
            <a:pPr>
              <a:spcAft>
                <a:spcPts val="200"/>
              </a:spcAft>
              <a:defRPr sz="1100">
                <a:solidFill>
                  <a:srgbClr val="00E696"/>
                </a:solidFill>
                <a:latin typeface="Consolas"/>
              </a:defRPr>
            </a:pPr>
            <a:r>
              <a:t>y = df['target'].to_numpy()</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第4步: 用scikit-learn建模 (内部使用NumPy)</a:t>
            </a:r>
          </a:p>
          <a:p>
            <a:pPr>
              <a:spcAft>
                <a:spcPts val="200"/>
              </a:spcAft>
              <a:defRPr sz="1100">
                <a:solidFill>
                  <a:srgbClr val="00E696"/>
                </a:solidFill>
                <a:latin typeface="Consolas"/>
              </a:defRPr>
            </a:pPr>
            <a:r>
              <a:t>X_train, X_test, y_train, y_test = train_test_split(X, y)</a:t>
            </a:r>
          </a:p>
          <a:p>
            <a:pPr>
              <a:spcAft>
                <a:spcPts val="200"/>
              </a:spcAft>
              <a:defRPr sz="1100">
                <a:solidFill>
                  <a:srgbClr val="00E696"/>
                </a:solidFill>
                <a:latin typeface="Consolas"/>
              </a:defRPr>
            </a:pPr>
            <a:r>
              <a:t>scaler = StandardScaler()</a:t>
            </a:r>
          </a:p>
          <a:p>
            <a:pPr>
              <a:spcAft>
                <a:spcPts val="200"/>
              </a:spcAft>
              <a:defRPr sz="1100">
                <a:solidFill>
                  <a:srgbClr val="00E696"/>
                </a:solidFill>
                <a:latin typeface="Consolas"/>
              </a:defRPr>
            </a:pPr>
            <a:r>
              <a:t>X_train_scaled = scaler.fit_transform(X_train)</a:t>
            </a:r>
          </a:p>
          <a:p>
            <a:pPr>
              <a:spcAft>
                <a:spcPts val="200"/>
              </a:spcAft>
              <a:defRPr sz="1100">
                <a:solidFill>
                  <a:srgbClr val="00E696"/>
                </a:solidFill>
                <a:latin typeface="Consolas"/>
              </a:defRPr>
            </a:pPr>
            <a:r>
              <a:t>model = LogisticRegression()</a:t>
            </a:r>
          </a:p>
          <a:p>
            <a:pPr>
              <a:spcAft>
                <a:spcPts val="200"/>
              </a:spcAft>
              <a:defRPr sz="1100">
                <a:solidFill>
                  <a:srgbClr val="00E696"/>
                </a:solidFill>
                <a:latin typeface="Consolas"/>
              </a:defRPr>
            </a:pPr>
            <a:r>
              <a:t>model.fit(X_train_scaled, y_train)</a:t>
            </a:r>
          </a:p>
        </p:txBody>
      </p:sp>
      <p:sp>
        <p:nvSpPr>
          <p:cNvPr id="8" name="Rounded Rectangle 7"/>
          <p:cNvSpPr/>
          <p:nvPr/>
        </p:nvSpPr>
        <p:spPr>
          <a:xfrm>
            <a:off x="7772400" y="1828800"/>
            <a:ext cx="3840480" cy="4572000"/>
          </a:xfrm>
          <a:prstGeom prst="roundRect">
            <a:avLst>
              <a:gd name="adj" fmla="val 5000"/>
            </a:avLst>
          </a:prstGeom>
          <a:solidFill>
            <a:srgbClr val="25253D"/>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0" y="1920240"/>
            <a:ext cx="3474720" cy="365760"/>
          </a:xfrm>
          <a:prstGeom prst="rect">
            <a:avLst/>
          </a:prstGeom>
          <a:noFill/>
        </p:spPr>
        <p:txBody>
          <a:bodyPr wrap="square">
            <a:spAutoFit/>
          </a:bodyPr>
          <a:lstStyle/>
          <a:p>
            <a:pPr algn="l">
              <a:defRPr sz="1500" b="1">
                <a:solidFill>
                  <a:srgbClr val="FF8C00"/>
                </a:solidFill>
                <a:latin typeface="Microsoft YaHei"/>
              </a:defRPr>
            </a:pPr>
            <a:r>
              <a:t>管道流程概要</a:t>
            </a:r>
          </a:p>
        </p:txBody>
      </p:sp>
      <p:sp>
        <p:nvSpPr>
          <p:cNvPr id="10" name="TextBox 9"/>
          <p:cNvSpPr txBox="1"/>
          <p:nvPr/>
        </p:nvSpPr>
        <p:spPr>
          <a:xfrm>
            <a:off x="7955280" y="2286000"/>
            <a:ext cx="3474720" cy="4023360"/>
          </a:xfrm>
          <a:prstGeom prst="rect">
            <a:avLst/>
          </a:prstGeom>
          <a:noFill/>
        </p:spPr>
        <p:txBody>
          <a:bodyPr wrap="square">
            <a:spAutoFit/>
          </a:bodyPr>
          <a:lstStyle/>
          <a:p>
            <a:pPr>
              <a:spcAft>
                <a:spcPts val="400"/>
              </a:spcAft>
              <a:defRPr sz="1300">
                <a:solidFill>
                  <a:srgbClr val="BBBBCC"/>
                </a:solidFill>
                <a:latin typeface="Microsoft YaHei"/>
              </a:defRPr>
            </a:pPr>
            <a:r>
              <a:t>数据收集 -&gt; 数据探索(EDA)</a:t>
            </a:r>
          </a:p>
          <a:p>
            <a:pPr>
              <a:spcAft>
                <a:spcPts val="400"/>
              </a:spcAft>
              <a:defRPr sz="1300">
                <a:solidFill>
                  <a:srgbClr val="BBBBCC"/>
                </a:solidFill>
                <a:latin typeface="Microsoft YaHei"/>
              </a:defRPr>
            </a:pPr>
            <a:r>
              <a:t>-&gt; 数据预处理</a:t>
            </a:r>
          </a:p>
          <a:p>
            <a:pPr>
              <a:spcAft>
                <a:spcPts val="400"/>
              </a:spcAft>
              <a:defRPr sz="1300">
                <a:solidFill>
                  <a:srgbClr val="BBBBCC"/>
                </a:solidFill>
                <a:latin typeface="Microsoft YaHei"/>
              </a:defRPr>
            </a:pPr>
            <a:r>
              <a:t>-&gt; 特征工程</a:t>
            </a:r>
          </a:p>
          <a:p>
            <a:pPr>
              <a:spcAft>
                <a:spcPts val="400"/>
              </a:spcAft>
              <a:defRPr sz="1300">
                <a:solidFill>
                  <a:srgbClr val="BBBBCC"/>
                </a:solidFill>
                <a:latin typeface="Microsoft YaHei"/>
              </a:defRPr>
            </a:pPr>
            <a:r>
              <a:t>-&gt; 模型训练</a:t>
            </a:r>
          </a:p>
          <a:p>
            <a:pPr>
              <a:spcAft>
                <a:spcPts val="400"/>
              </a:spcAft>
              <a:defRPr sz="1300">
                <a:solidFill>
                  <a:srgbClr val="BBBBCC"/>
                </a:solidFill>
                <a:latin typeface="Microsoft YaHei"/>
              </a:defRPr>
            </a:pPr>
            <a:r>
              <a:t>-&gt; 模型评估 -&gt; 部署</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Pandas: 负责加载、探索、预处理</a:t>
            </a:r>
          </a:p>
          <a:p>
            <a:pPr>
              <a:spcAft>
                <a:spcPts val="400"/>
              </a:spcAft>
              <a:defRPr sz="1300">
                <a:solidFill>
                  <a:srgbClr val="BBBBCC"/>
                </a:solidFill>
                <a:latin typeface="Microsoft YaHei"/>
              </a:defRPr>
            </a:pPr>
            <a:r>
              <a:t>NumPy: 提供数值运算基础</a:t>
            </a:r>
          </a:p>
          <a:p>
            <a:pPr>
              <a:spcAft>
                <a:spcPts val="400"/>
              </a:spcAft>
              <a:defRPr sz="1300">
                <a:solidFill>
                  <a:srgbClr val="BBBBCC"/>
                </a:solidFill>
                <a:latin typeface="Microsoft YaHei"/>
              </a:defRPr>
            </a:pPr>
            <a:r>
              <a:t>scikit-learn: 建模 (内部使用NumPy)</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实际项目中模型训练之前的所有步骤</a:t>
            </a:r>
          </a:p>
          <a:p>
            <a:pPr>
              <a:spcAft>
                <a:spcPts val="400"/>
              </a:spcAft>
              <a:defRPr sz="1300">
                <a:solidFill>
                  <a:srgbClr val="BBBBCC"/>
                </a:solidFill>
                <a:latin typeface="Microsoft YaHei"/>
              </a:defRPr>
            </a:pPr>
            <a:r>
              <a:t>都属于数据处理 (占总时间的50-80%)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1</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为什么选择Python?</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作为粘合语言(Glue Language)的角色</a:t>
            </a:r>
          </a:p>
        </p:txBody>
      </p:sp>
      <p:sp>
        <p:nvSpPr>
          <p:cNvPr id="6" name="Rounded Rectangle 5"/>
          <p:cNvSpPr/>
          <p:nvPr/>
        </p:nvSpPr>
        <p:spPr>
          <a:xfrm>
            <a:off x="548640" y="1828800"/>
            <a:ext cx="5303520" cy="2286000"/>
          </a:xfrm>
          <a:prstGeom prst="roundRect">
            <a:avLst>
              <a:gd name="adj" fmla="val 5000"/>
            </a:avLst>
          </a:prstGeom>
          <a:solidFill>
            <a:srgbClr val="25253D"/>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20240"/>
            <a:ext cx="4937760" cy="365760"/>
          </a:xfrm>
          <a:prstGeom prst="rect">
            <a:avLst/>
          </a:prstGeom>
          <a:noFill/>
        </p:spPr>
        <p:txBody>
          <a:bodyPr wrap="square">
            <a:spAutoFit/>
          </a:bodyPr>
          <a:lstStyle/>
          <a:p>
            <a:pPr algn="l">
              <a:defRPr sz="1500" b="1">
                <a:solidFill>
                  <a:srgbClr val="00D2FF"/>
                </a:solidFill>
                <a:latin typeface="Microsoft YaHei"/>
              </a:defRPr>
            </a:pPr>
            <a:r>
              <a:t>Python的核心策略</a:t>
            </a:r>
          </a:p>
        </p:txBody>
      </p:sp>
      <p:sp>
        <p:nvSpPr>
          <p:cNvPr id="8" name="TextBox 7"/>
          <p:cNvSpPr txBox="1"/>
          <p:nvPr/>
        </p:nvSpPr>
        <p:spPr>
          <a:xfrm>
            <a:off x="731520" y="2286000"/>
            <a:ext cx="4937760" cy="1737360"/>
          </a:xfrm>
          <a:prstGeom prst="rect">
            <a:avLst/>
          </a:prstGeom>
          <a:noFill/>
        </p:spPr>
        <p:txBody>
          <a:bodyPr wrap="square">
            <a:spAutoFit/>
          </a:bodyPr>
          <a:lstStyle/>
          <a:p>
            <a:pPr>
              <a:spcAft>
                <a:spcPts val="400"/>
              </a:spcAft>
              <a:defRPr sz="1300">
                <a:solidFill>
                  <a:srgbClr val="BBBBCC"/>
                </a:solidFill>
                <a:latin typeface="Microsoft YaHei"/>
              </a:defRPr>
            </a:pPr>
            <a:r>
              <a:t>Python本身很慢，但性能关键部分由</a:t>
            </a:r>
          </a:p>
          <a:p>
            <a:pPr>
              <a:spcAft>
                <a:spcPts val="400"/>
              </a:spcAft>
              <a:defRPr sz="1300">
                <a:solidFill>
                  <a:srgbClr val="BBBBCC"/>
                </a:solidFill>
                <a:latin typeface="Microsoft YaHei"/>
              </a:defRPr>
            </a:pPr>
            <a:r>
              <a:t>C/Fortran编写的库(BLAS, LAPACK)处理</a:t>
            </a:r>
          </a:p>
          <a:p>
            <a:pPr>
              <a:spcAft>
                <a:spcPts val="400"/>
              </a:spcAft>
              <a:defRPr sz="1300">
                <a:solidFill>
                  <a:srgbClr val="BBBBCC"/>
                </a:solidFill>
                <a:latin typeface="Microsoft YaHei"/>
              </a:defRPr>
            </a:pPr>
            <a:r>
              <a:t>NumPy是这一策略的典型成功案例</a:t>
            </a:r>
          </a:p>
          <a:p>
            <a:pPr>
              <a:spcAft>
                <a:spcPts val="400"/>
              </a:spcAft>
              <a:defRPr sz="1300">
                <a:solidFill>
                  <a:srgbClr val="BBBBCC"/>
                </a:solidFill>
                <a:latin typeface="Microsoft YaHei"/>
              </a:defRPr>
            </a:pPr>
            <a:r>
              <a:t>粘合语言(glue language): 连接各种库的角色</a:t>
            </a:r>
          </a:p>
        </p:txBody>
      </p:sp>
      <p:sp>
        <p:nvSpPr>
          <p:cNvPr id="9" name="Rounded Rectangle 8"/>
          <p:cNvSpPr/>
          <p:nvPr/>
        </p:nvSpPr>
        <p:spPr>
          <a:xfrm>
            <a:off x="6217920" y="1828800"/>
            <a:ext cx="5303520" cy="2286000"/>
          </a:xfrm>
          <a:prstGeom prst="roundRect">
            <a:avLst>
              <a:gd name="adj" fmla="val 5000"/>
            </a:avLst>
          </a:prstGeom>
          <a:solidFill>
            <a:srgbClr val="25253D"/>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937760" cy="365760"/>
          </a:xfrm>
          <a:prstGeom prst="rect">
            <a:avLst/>
          </a:prstGeom>
          <a:noFill/>
        </p:spPr>
        <p:txBody>
          <a:bodyPr wrap="square">
            <a:spAutoFit/>
          </a:bodyPr>
          <a:lstStyle/>
          <a:p>
            <a:pPr algn="l">
              <a:defRPr sz="1500" b="1">
                <a:solidFill>
                  <a:srgbClr val="FF8C00"/>
                </a:solidFill>
                <a:latin typeface="Microsoft YaHei"/>
              </a:defRPr>
            </a:pPr>
            <a:r>
              <a:t>McKinney (2010)开发Pandas的动机</a:t>
            </a:r>
          </a:p>
        </p:txBody>
      </p:sp>
      <p:sp>
        <p:nvSpPr>
          <p:cNvPr id="11" name="TextBox 10"/>
          <p:cNvSpPr txBox="1"/>
          <p:nvPr/>
        </p:nvSpPr>
        <p:spPr>
          <a:xfrm>
            <a:off x="6400800" y="2286000"/>
            <a:ext cx="4937760" cy="1737360"/>
          </a:xfrm>
          <a:prstGeom prst="rect">
            <a:avLst/>
          </a:prstGeom>
          <a:noFill/>
        </p:spPr>
        <p:txBody>
          <a:bodyPr wrap="square">
            <a:spAutoFit/>
          </a:bodyPr>
          <a:lstStyle/>
          <a:p>
            <a:pPr>
              <a:spcAft>
                <a:spcPts val="400"/>
              </a:spcAft>
              <a:defRPr sz="1300">
                <a:solidFill>
                  <a:srgbClr val="BBBBCC"/>
                </a:solidFill>
                <a:latin typeface="Microsoft YaHei"/>
              </a:defRPr>
            </a:pPr>
            <a:r>
              <a:t>'Python中没有与R的data.frame对应的</a:t>
            </a:r>
          </a:p>
          <a:p>
            <a:pPr>
              <a:spcAft>
                <a:spcPts val="400"/>
              </a:spcAft>
              <a:defRPr sz="1300">
                <a:solidFill>
                  <a:srgbClr val="BBBBCC"/>
                </a:solidFill>
                <a:latin typeface="Microsoft YaHei"/>
              </a:defRPr>
            </a:pPr>
            <a:r>
              <a:t>  高级数据结构。'</a:t>
            </a:r>
          </a:p>
          <a:p>
            <a:pPr>
              <a:spcAft>
                <a:spcPts val="400"/>
              </a:spcAft>
              <a:defRPr sz="1300">
                <a:solidFill>
                  <a:srgbClr val="BBBBCC"/>
                </a:solidFill>
                <a:latin typeface="Microsoft YaHei"/>
              </a:defRPr>
            </a:pPr>
            <a:r>
              <a:t>NumPy ndarray: 擅长同质数值数据</a:t>
            </a:r>
          </a:p>
          <a:p>
            <a:pPr>
              <a:spcAft>
                <a:spcPts val="400"/>
              </a:spcAft>
              <a:defRPr sz="1300">
                <a:solidFill>
                  <a:srgbClr val="BBBBCC"/>
                </a:solidFill>
                <a:latin typeface="Microsoft YaHei"/>
              </a:defRPr>
            </a:pPr>
            <a:r>
              <a:t>但对异质表格数据支持不足</a:t>
            </a:r>
          </a:p>
          <a:p>
            <a:pPr>
              <a:spcAft>
                <a:spcPts val="400"/>
              </a:spcAft>
              <a:defRPr sz="1300">
                <a:solidFill>
                  <a:srgbClr val="BBBBCC"/>
                </a:solidFill>
                <a:latin typeface="Microsoft YaHei"/>
              </a:defRPr>
            </a:pPr>
            <a:r>
              <a:t>-&gt; 为填补这一空白，Pandas诞生!</a:t>
            </a:r>
          </a:p>
        </p:txBody>
      </p:sp>
      <p:sp>
        <p:nvSpPr>
          <p:cNvPr id="12" name="Rounded Rectangle 11"/>
          <p:cNvSpPr/>
          <p:nvPr/>
        </p:nvSpPr>
        <p:spPr>
          <a:xfrm>
            <a:off x="548640" y="4389120"/>
            <a:ext cx="10972800" cy="201168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480560"/>
            <a:ext cx="10607040" cy="365760"/>
          </a:xfrm>
          <a:prstGeom prst="rect">
            <a:avLst/>
          </a:prstGeom>
          <a:noFill/>
        </p:spPr>
        <p:txBody>
          <a:bodyPr wrap="square">
            <a:spAutoFit/>
          </a:bodyPr>
          <a:lstStyle/>
          <a:p>
            <a:pPr algn="l">
              <a:defRPr sz="1500" b="1">
                <a:solidFill>
                  <a:srgbClr val="00E696"/>
                </a:solidFill>
                <a:latin typeface="Microsoft YaHei"/>
              </a:defRPr>
            </a:pPr>
            <a:r>
              <a:t>NumPy + Pandas的角色分工</a:t>
            </a:r>
          </a:p>
        </p:txBody>
      </p:sp>
      <p:sp>
        <p:nvSpPr>
          <p:cNvPr id="14" name="TextBox 13"/>
          <p:cNvSpPr txBox="1"/>
          <p:nvPr/>
        </p:nvSpPr>
        <p:spPr>
          <a:xfrm>
            <a:off x="731520" y="4846320"/>
            <a:ext cx="10607040" cy="1463040"/>
          </a:xfrm>
          <a:prstGeom prst="rect">
            <a:avLst/>
          </a:prstGeom>
          <a:noFill/>
        </p:spPr>
        <p:txBody>
          <a:bodyPr wrap="square">
            <a:spAutoFit/>
          </a:bodyPr>
          <a:lstStyle/>
          <a:p>
            <a:pPr>
              <a:spcAft>
                <a:spcPts val="400"/>
              </a:spcAft>
              <a:defRPr sz="1300">
                <a:solidFill>
                  <a:srgbClr val="BBBBCC"/>
                </a:solidFill>
                <a:latin typeface="Microsoft YaHei"/>
              </a:defRPr>
            </a:pPr>
            <a:r>
              <a:t>NumPy: 同质(homogeneous)数值数据的高速运算 -- ndarray将相同类型数据存储在连续内存中</a:t>
            </a:r>
          </a:p>
          <a:p>
            <a:pPr>
              <a:spcAft>
                <a:spcPts val="400"/>
              </a:spcAft>
              <a:defRPr sz="1300">
                <a:solidFill>
                  <a:srgbClr val="BBBBCC"/>
                </a:solidFill>
                <a:latin typeface="Microsoft YaHei"/>
              </a:defRPr>
            </a:pPr>
            <a:r>
              <a:t>Pandas: 异质(heterogeneous)表格数据 -- DataFrame允许每列不同的dtype (字符串+数字+日期)</a:t>
            </a:r>
          </a:p>
          <a:p>
            <a:pPr>
              <a:spcAft>
                <a:spcPts val="400"/>
              </a:spcAft>
              <a:defRPr sz="1300">
                <a:solidFill>
                  <a:srgbClr val="BBBBCC"/>
                </a:solidFill>
                <a:latin typeface="Microsoft YaHei"/>
              </a:defRPr>
            </a:pPr>
            <a:r>
              <a:t>这一组合在使Python成为数据科学主导语言中起到了决定性作用</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1028"/>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0"/>
            <a:ext cx="12191695" cy="50800"/>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1828800"/>
            <a:ext cx="12191695" cy="457200"/>
          </a:xfrm>
          <a:prstGeom prst="rect">
            <a:avLst/>
          </a:prstGeom>
          <a:noFill/>
        </p:spPr>
        <p:txBody>
          <a:bodyPr wrap="square">
            <a:spAutoFit/>
          </a:bodyPr>
          <a:lstStyle/>
          <a:p>
            <a:pPr algn="ctr">
              <a:defRPr sz="2000" b="1">
                <a:solidFill>
                  <a:srgbClr val="00D2FF"/>
                </a:solidFill>
                <a:latin typeface="Microsoft YaHei"/>
              </a:defRPr>
            </a:pPr>
            <a:r>
              <a:t>SECTION 2</a:t>
            </a:r>
          </a:p>
        </p:txBody>
      </p:sp>
      <p:sp>
        <p:nvSpPr>
          <p:cNvPr id="5" name="Rectangle 4"/>
          <p:cNvSpPr/>
          <p:nvPr/>
        </p:nvSpPr>
        <p:spPr>
          <a:xfrm>
            <a:off x="5029200" y="2468880"/>
            <a:ext cx="2103120" cy="38100"/>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743200"/>
            <a:ext cx="12191695" cy="914400"/>
          </a:xfrm>
          <a:prstGeom prst="rect">
            <a:avLst/>
          </a:prstGeom>
          <a:noFill/>
        </p:spPr>
        <p:txBody>
          <a:bodyPr wrap="square">
            <a:spAutoFit/>
          </a:bodyPr>
          <a:lstStyle/>
          <a:p>
            <a:pPr algn="ctr">
              <a:defRPr sz="4400" b="1">
                <a:solidFill>
                  <a:srgbClr val="FFFFFF"/>
                </a:solidFill>
                <a:latin typeface="Microsoft YaHei"/>
              </a:defRPr>
            </a:pPr>
            <a:r>
              <a:t>NumPy深入: ndarray的世界</a:t>
            </a:r>
          </a:p>
        </p:txBody>
      </p:sp>
      <p:sp>
        <p:nvSpPr>
          <p:cNvPr id="7" name="TextBox 6"/>
          <p:cNvSpPr txBox="1"/>
          <p:nvPr/>
        </p:nvSpPr>
        <p:spPr>
          <a:xfrm>
            <a:off x="0" y="3840480"/>
            <a:ext cx="12191695" cy="457200"/>
          </a:xfrm>
          <a:prstGeom prst="rect">
            <a:avLst/>
          </a:prstGeom>
          <a:noFill/>
        </p:spPr>
        <p:txBody>
          <a:bodyPr wrap="square">
            <a:spAutoFit/>
          </a:bodyPr>
          <a:lstStyle/>
          <a:p>
            <a:pPr algn="ctr">
              <a:defRPr sz="1800" b="0">
                <a:solidFill>
                  <a:srgbClr val="888899"/>
                </a:solidFill>
                <a:latin typeface="Microsoft YaHei"/>
              </a:defRPr>
            </a:pPr>
            <a:r>
              <a:t>ndarray内部结构、内存布局、广播、线性代数</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2</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ndarray内部结构: 4个核心要素</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基于Walt et al. (2011)</a:t>
            </a:r>
          </a:p>
        </p:txBody>
      </p:sp>
      <p:sp>
        <p:nvSpPr>
          <p:cNvPr id="6" name="Rounded Rectangle 5"/>
          <p:cNvSpPr/>
          <p:nvPr/>
        </p:nvSpPr>
        <p:spPr>
          <a:xfrm>
            <a:off x="548640" y="1828800"/>
            <a:ext cx="3474720" cy="1645920"/>
          </a:xfrm>
          <a:prstGeom prst="roundRect">
            <a:avLst>
              <a:gd name="adj" fmla="val 5000"/>
            </a:avLst>
          </a:prstGeom>
          <a:solidFill>
            <a:srgbClr val="25253D"/>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20240"/>
            <a:ext cx="3108960" cy="365760"/>
          </a:xfrm>
          <a:prstGeom prst="rect">
            <a:avLst/>
          </a:prstGeom>
          <a:noFill/>
        </p:spPr>
        <p:txBody>
          <a:bodyPr wrap="square">
            <a:spAutoFit/>
          </a:bodyPr>
          <a:lstStyle/>
          <a:p>
            <a:pPr algn="l">
              <a:defRPr sz="1500" b="1">
                <a:solidFill>
                  <a:srgbClr val="00D2FF"/>
                </a:solidFill>
                <a:latin typeface="Microsoft YaHei"/>
              </a:defRPr>
            </a:pPr>
            <a:r>
              <a:t>data (数据指针)</a:t>
            </a:r>
          </a:p>
        </p:txBody>
      </p:sp>
      <p:sp>
        <p:nvSpPr>
          <p:cNvPr id="8" name="TextBox 7"/>
          <p:cNvSpPr txBox="1"/>
          <p:nvPr/>
        </p:nvSpPr>
        <p:spPr>
          <a:xfrm>
            <a:off x="731520" y="2286000"/>
            <a:ext cx="3108960" cy="1097280"/>
          </a:xfrm>
          <a:prstGeom prst="rect">
            <a:avLst/>
          </a:prstGeom>
          <a:noFill/>
        </p:spPr>
        <p:txBody>
          <a:bodyPr wrap="square">
            <a:spAutoFit/>
          </a:bodyPr>
          <a:lstStyle/>
          <a:p>
            <a:pPr>
              <a:spcAft>
                <a:spcPts val="400"/>
              </a:spcAft>
              <a:defRPr sz="1300">
                <a:solidFill>
                  <a:srgbClr val="BBBBCC"/>
                </a:solidFill>
                <a:latin typeface="Microsoft YaHei"/>
              </a:defRPr>
            </a:pPr>
            <a:r>
              <a:t>指向数据存储内存缓冲区的指针</a:t>
            </a:r>
          </a:p>
          <a:p>
            <a:pPr>
              <a:spcAft>
                <a:spcPts val="400"/>
              </a:spcAft>
              <a:defRPr sz="1300">
                <a:solidFill>
                  <a:srgbClr val="BBBBCC"/>
                </a:solidFill>
                <a:latin typeface="Microsoft YaHei"/>
              </a:defRPr>
            </a:pPr>
            <a:r>
              <a:t>实际数值数据存储在连续内存中</a:t>
            </a:r>
          </a:p>
          <a:p>
            <a:pPr>
              <a:spcAft>
                <a:spcPts val="400"/>
              </a:spcAft>
              <a:defRPr sz="1300">
                <a:solidFill>
                  <a:srgbClr val="BBBBCC"/>
                </a:solidFill>
                <a:latin typeface="Microsoft YaHei"/>
              </a:defRPr>
            </a:pPr>
            <a:r>
              <a:t>与Python列表的根本区别</a:t>
            </a:r>
          </a:p>
        </p:txBody>
      </p:sp>
      <p:sp>
        <p:nvSpPr>
          <p:cNvPr id="9" name="Rounded Rectangle 8"/>
          <p:cNvSpPr/>
          <p:nvPr/>
        </p:nvSpPr>
        <p:spPr>
          <a:xfrm>
            <a:off x="4297680" y="1828800"/>
            <a:ext cx="3474720" cy="164592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1920240"/>
            <a:ext cx="3108960" cy="365760"/>
          </a:xfrm>
          <a:prstGeom prst="rect">
            <a:avLst/>
          </a:prstGeom>
          <a:noFill/>
        </p:spPr>
        <p:txBody>
          <a:bodyPr wrap="square">
            <a:spAutoFit/>
          </a:bodyPr>
          <a:lstStyle/>
          <a:p>
            <a:pPr algn="l">
              <a:defRPr sz="1500" b="1">
                <a:solidFill>
                  <a:srgbClr val="00E696"/>
                </a:solidFill>
                <a:latin typeface="Microsoft YaHei"/>
              </a:defRPr>
            </a:pPr>
            <a:r>
              <a:t>dtype (数据类型)</a:t>
            </a:r>
          </a:p>
        </p:txBody>
      </p:sp>
      <p:sp>
        <p:nvSpPr>
          <p:cNvPr id="11" name="TextBox 10"/>
          <p:cNvSpPr txBox="1"/>
          <p:nvPr/>
        </p:nvSpPr>
        <p:spPr>
          <a:xfrm>
            <a:off x="4480560" y="2286000"/>
            <a:ext cx="3108960" cy="1097280"/>
          </a:xfrm>
          <a:prstGeom prst="rect">
            <a:avLst/>
          </a:prstGeom>
          <a:noFill/>
        </p:spPr>
        <p:txBody>
          <a:bodyPr wrap="square">
            <a:spAutoFit/>
          </a:bodyPr>
          <a:lstStyle/>
          <a:p>
            <a:pPr>
              <a:spcAft>
                <a:spcPts val="400"/>
              </a:spcAft>
              <a:defRPr sz="1300">
                <a:solidFill>
                  <a:srgbClr val="BBBBCC"/>
                </a:solidFill>
                <a:latin typeface="Microsoft YaHei"/>
              </a:defRPr>
            </a:pPr>
            <a:r>
              <a:t>每个元素的数据类型 (float64, int32等)</a:t>
            </a:r>
          </a:p>
          <a:p>
            <a:pPr>
              <a:spcAft>
                <a:spcPts val="400"/>
              </a:spcAft>
              <a:defRPr sz="1300">
                <a:solidFill>
                  <a:srgbClr val="BBBBCC"/>
                </a:solidFill>
                <a:latin typeface="Microsoft YaHei"/>
              </a:defRPr>
            </a:pPr>
            <a:r>
              <a:t>所有元素类型相同 (同质的)</a:t>
            </a:r>
          </a:p>
          <a:p>
            <a:pPr>
              <a:spcAft>
                <a:spcPts val="400"/>
              </a:spcAft>
              <a:defRPr sz="1300">
                <a:solidFill>
                  <a:srgbClr val="BBBBCC"/>
                </a:solidFill>
                <a:latin typeface="Microsoft YaHei"/>
              </a:defRPr>
            </a:pPr>
            <a:r>
              <a:t>决定内存大小和运算方式</a:t>
            </a:r>
          </a:p>
        </p:txBody>
      </p:sp>
      <p:sp>
        <p:nvSpPr>
          <p:cNvPr id="12" name="Rounded Rectangle 11"/>
          <p:cNvSpPr/>
          <p:nvPr/>
        </p:nvSpPr>
        <p:spPr>
          <a:xfrm>
            <a:off x="8046720" y="1828800"/>
            <a:ext cx="3474720" cy="1645920"/>
          </a:xfrm>
          <a:prstGeom prst="roundRect">
            <a:avLst>
              <a:gd name="adj" fmla="val 5000"/>
            </a:avLst>
          </a:prstGeom>
          <a:solidFill>
            <a:srgbClr val="25253D"/>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920240"/>
            <a:ext cx="3108960" cy="365760"/>
          </a:xfrm>
          <a:prstGeom prst="rect">
            <a:avLst/>
          </a:prstGeom>
          <a:noFill/>
        </p:spPr>
        <p:txBody>
          <a:bodyPr wrap="square">
            <a:spAutoFit/>
          </a:bodyPr>
          <a:lstStyle/>
          <a:p>
            <a:pPr algn="l">
              <a:defRPr sz="1500" b="1">
                <a:solidFill>
                  <a:srgbClr val="FF8C00"/>
                </a:solidFill>
                <a:latin typeface="Microsoft YaHei"/>
              </a:defRPr>
            </a:pPr>
            <a:r>
              <a:t>shape (形状)</a:t>
            </a:r>
          </a:p>
        </p:txBody>
      </p:sp>
      <p:sp>
        <p:nvSpPr>
          <p:cNvPr id="14" name="TextBox 13"/>
          <p:cNvSpPr txBox="1"/>
          <p:nvPr/>
        </p:nvSpPr>
        <p:spPr>
          <a:xfrm>
            <a:off x="8229600" y="2286000"/>
            <a:ext cx="3108960" cy="1097280"/>
          </a:xfrm>
          <a:prstGeom prst="rect">
            <a:avLst/>
          </a:prstGeom>
          <a:noFill/>
        </p:spPr>
        <p:txBody>
          <a:bodyPr wrap="square">
            <a:spAutoFit/>
          </a:bodyPr>
          <a:lstStyle/>
          <a:p>
            <a:pPr>
              <a:spcAft>
                <a:spcPts val="400"/>
              </a:spcAft>
              <a:defRPr sz="1300">
                <a:solidFill>
                  <a:srgbClr val="BBBBCC"/>
                </a:solidFill>
                <a:latin typeface="Microsoft YaHei"/>
              </a:defRPr>
            </a:pPr>
            <a:r>
              <a:t>表示每个维度大小的元组</a:t>
            </a:r>
          </a:p>
          <a:p>
            <a:pPr>
              <a:spcAft>
                <a:spcPts val="400"/>
              </a:spcAft>
              <a:defRPr sz="1300">
                <a:solidFill>
                  <a:srgbClr val="BBBBCC"/>
                </a:solidFill>
                <a:latin typeface="Microsoft YaHei"/>
              </a:defRPr>
            </a:pPr>
            <a:r>
              <a:t>例: (2, 3) -&gt; 2行3列</a:t>
            </a:r>
          </a:p>
          <a:p>
            <a:pPr>
              <a:spcAft>
                <a:spcPts val="400"/>
              </a:spcAft>
              <a:defRPr sz="1300">
                <a:solidFill>
                  <a:srgbClr val="BBBBCC"/>
                </a:solidFill>
                <a:latin typeface="Microsoft YaHei"/>
              </a:defRPr>
            </a:pPr>
            <a:r>
              <a:t>ndim: 维度数, size: 总元素数</a:t>
            </a:r>
          </a:p>
        </p:txBody>
      </p:sp>
      <p:sp>
        <p:nvSpPr>
          <p:cNvPr id="15" name="Rounded Rectangle 14"/>
          <p:cNvSpPr/>
          <p:nvPr/>
        </p:nvSpPr>
        <p:spPr>
          <a:xfrm>
            <a:off x="548640" y="3657600"/>
            <a:ext cx="5029200" cy="1371600"/>
          </a:xfrm>
          <a:prstGeom prst="roundRect">
            <a:avLst>
              <a:gd name="adj" fmla="val 5000"/>
            </a:avLst>
          </a:prstGeom>
          <a:solidFill>
            <a:srgbClr val="25253D"/>
          </a:solidFill>
          <a:ln w="12700">
            <a:solidFill>
              <a:srgbClr val="A06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749040"/>
            <a:ext cx="4663440" cy="365760"/>
          </a:xfrm>
          <a:prstGeom prst="rect">
            <a:avLst/>
          </a:prstGeom>
          <a:noFill/>
        </p:spPr>
        <p:txBody>
          <a:bodyPr wrap="square">
            <a:spAutoFit/>
          </a:bodyPr>
          <a:lstStyle/>
          <a:p>
            <a:pPr algn="l">
              <a:defRPr sz="1500" b="1">
                <a:solidFill>
                  <a:srgbClr val="A06CFF"/>
                </a:solidFill>
                <a:latin typeface="Microsoft YaHei"/>
              </a:defRPr>
            </a:pPr>
            <a:r>
              <a:t>strides (步幅)</a:t>
            </a:r>
          </a:p>
        </p:txBody>
      </p:sp>
      <p:sp>
        <p:nvSpPr>
          <p:cNvPr id="17" name="TextBox 16"/>
          <p:cNvSpPr txBox="1"/>
          <p:nvPr/>
        </p:nvSpPr>
        <p:spPr>
          <a:xfrm>
            <a:off x="731520" y="4114800"/>
            <a:ext cx="4663440" cy="822960"/>
          </a:xfrm>
          <a:prstGeom prst="rect">
            <a:avLst/>
          </a:prstGeom>
          <a:noFill/>
        </p:spPr>
        <p:txBody>
          <a:bodyPr wrap="square">
            <a:spAutoFit/>
          </a:bodyPr>
          <a:lstStyle/>
          <a:p>
            <a:pPr>
              <a:spcAft>
                <a:spcPts val="400"/>
              </a:spcAft>
              <a:defRPr sz="1300">
                <a:solidFill>
                  <a:srgbClr val="BBBBCC"/>
                </a:solidFill>
                <a:latin typeface="Microsoft YaHei"/>
              </a:defRPr>
            </a:pPr>
            <a:r>
              <a:t>在每个维度中到下一个元素的字节数</a:t>
            </a:r>
          </a:p>
          <a:p>
            <a:pPr>
              <a:spcAft>
                <a:spcPts val="400"/>
              </a:spcAft>
              <a:defRPr sz="1300">
                <a:solidFill>
                  <a:srgbClr val="BBBBCC"/>
                </a:solidFill>
                <a:latin typeface="Microsoft YaHei"/>
              </a:defRPr>
            </a:pPr>
            <a:r>
              <a:t>例: (24, 8) -&gt; 行移动24字节, 列移动8字节</a:t>
            </a:r>
          </a:p>
          <a:p>
            <a:pPr>
              <a:spcAft>
                <a:spcPts val="400"/>
              </a:spcAft>
              <a:defRPr sz="1300">
                <a:solidFill>
                  <a:srgbClr val="BBBBCC"/>
                </a:solidFill>
                <a:latin typeface="Microsoft YaHei"/>
              </a:defRPr>
            </a:pPr>
            <a:r>
              <a:t>转置(transpose)只交换stride (无数据复制!)</a:t>
            </a:r>
          </a:p>
        </p:txBody>
      </p:sp>
      <p:sp>
        <p:nvSpPr>
          <p:cNvPr id="18" name="Rounded Rectangle 17"/>
          <p:cNvSpPr/>
          <p:nvPr/>
        </p:nvSpPr>
        <p:spPr>
          <a:xfrm>
            <a:off x="5943600" y="3657600"/>
            <a:ext cx="5669280" cy="292608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0" y="3794760"/>
            <a:ext cx="5303520" cy="2651760"/>
          </a:xfrm>
          <a:prstGeom prst="rect">
            <a:avLst/>
          </a:prstGeom>
          <a:noFill/>
        </p:spPr>
        <p:txBody>
          <a:bodyPr wrap="square">
            <a:spAutoFit/>
          </a:bodyPr>
          <a:lstStyle/>
          <a:p>
            <a:pPr>
              <a:spcAft>
                <a:spcPts val="200"/>
              </a:spcAft>
              <a:defRPr sz="1100">
                <a:solidFill>
                  <a:srgbClr val="00E696"/>
                </a:solidFill>
                <a:latin typeface="Consolas"/>
              </a:defRPr>
            </a:pPr>
            <a:r>
              <a:t>import numpy as np</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arr = np.array([[1.0, 2.0, 3.0],</a:t>
            </a:r>
          </a:p>
          <a:p>
            <a:pPr>
              <a:spcAft>
                <a:spcPts val="200"/>
              </a:spcAft>
              <a:defRPr sz="1100">
                <a:solidFill>
                  <a:srgbClr val="00E696"/>
                </a:solidFill>
                <a:latin typeface="Consolas"/>
              </a:defRPr>
            </a:pPr>
            <a:r>
              <a:t>                [4.0, 5.0, 6.0]])</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print(f'dtype:   {arr.dtype}')    # float64</a:t>
            </a:r>
          </a:p>
          <a:p>
            <a:pPr>
              <a:spcAft>
                <a:spcPts val="200"/>
              </a:spcAft>
              <a:defRPr sz="1100">
                <a:solidFill>
                  <a:srgbClr val="00E696"/>
                </a:solidFill>
                <a:latin typeface="Consolas"/>
              </a:defRPr>
            </a:pPr>
            <a:r>
              <a:t>print(f'shape:   {arr.shape}')    # (2, 3)</a:t>
            </a:r>
          </a:p>
          <a:p>
            <a:pPr>
              <a:spcAft>
                <a:spcPts val="200"/>
              </a:spcAft>
              <a:defRPr sz="1100">
                <a:solidFill>
                  <a:srgbClr val="00E696"/>
                </a:solidFill>
                <a:latin typeface="Consolas"/>
              </a:defRPr>
            </a:pPr>
            <a:r>
              <a:t>print(f'strides: {arr.strides}')  # (24, 8)</a:t>
            </a:r>
          </a:p>
          <a:p>
            <a:pPr>
              <a:spcAft>
                <a:spcPts val="200"/>
              </a:spcAft>
              <a:defRPr sz="1100">
                <a:solidFill>
                  <a:srgbClr val="00E696"/>
                </a:solidFill>
                <a:latin typeface="Consolas"/>
              </a:defRPr>
            </a:pPr>
            <a:r>
              <a:t>print(f'nbytes:  {arr.nbytes}')   # 48 = 2*3*8</a:t>
            </a:r>
          </a:p>
          <a:p>
            <a:pPr>
              <a:spcAft>
                <a:spcPts val="200"/>
              </a:spcAft>
              <a:defRPr sz="1100">
                <a:solidFill>
                  <a:srgbClr val="00E696"/>
                </a:solidFill>
                <a:latin typeface="Consolas"/>
              </a:defRPr>
            </a:pPr>
            <a:r>
              <a:t>print(f'ndim:    {arr.ndim}')     # 2</a:t>
            </a:r>
          </a:p>
          <a:p>
            <a:pPr>
              <a:spcAft>
                <a:spcPts val="200"/>
              </a:spcAft>
              <a:defRPr sz="1100">
                <a:solidFill>
                  <a:srgbClr val="00E696"/>
                </a:solidFill>
                <a:latin typeface="Consolas"/>
              </a:defRPr>
            </a:pPr>
            <a:r>
              <a:t>print(f'size:    {arr.size}')     # 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2</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内存布局与Stride</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ndarray vs Python列表的根本区别</a:t>
            </a:r>
          </a:p>
        </p:txBody>
      </p:sp>
      <p:sp>
        <p:nvSpPr>
          <p:cNvPr id="6" name="Rounded Rectangle 5"/>
          <p:cNvSpPr/>
          <p:nvPr/>
        </p:nvSpPr>
        <p:spPr>
          <a:xfrm>
            <a:off x="548640" y="1828800"/>
            <a:ext cx="5303520" cy="1828800"/>
          </a:xfrm>
          <a:prstGeom prst="roundRect">
            <a:avLst>
              <a:gd name="adj" fmla="val 5000"/>
            </a:avLst>
          </a:prstGeom>
          <a:solidFill>
            <a:srgbClr val="25253D"/>
          </a:solidFill>
          <a:ln w="12700">
            <a:solidFill>
              <a:srgbClr val="FF4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20240"/>
            <a:ext cx="4937760" cy="365760"/>
          </a:xfrm>
          <a:prstGeom prst="rect">
            <a:avLst/>
          </a:prstGeom>
          <a:noFill/>
        </p:spPr>
        <p:txBody>
          <a:bodyPr wrap="square">
            <a:spAutoFit/>
          </a:bodyPr>
          <a:lstStyle/>
          <a:p>
            <a:pPr algn="l">
              <a:defRPr sz="1500" b="1">
                <a:solidFill>
                  <a:srgbClr val="FF4545"/>
                </a:solidFill>
                <a:latin typeface="Microsoft YaHei"/>
              </a:defRPr>
            </a:pPr>
            <a:r>
              <a:t>Python列表的内存结构</a:t>
            </a:r>
          </a:p>
        </p:txBody>
      </p:sp>
      <p:sp>
        <p:nvSpPr>
          <p:cNvPr id="8" name="TextBox 7"/>
          <p:cNvSpPr txBox="1"/>
          <p:nvPr/>
        </p:nvSpPr>
        <p:spPr>
          <a:xfrm>
            <a:off x="731520" y="2286000"/>
            <a:ext cx="4937760" cy="1280160"/>
          </a:xfrm>
          <a:prstGeom prst="rect">
            <a:avLst/>
          </a:prstGeom>
          <a:noFill/>
        </p:spPr>
        <p:txBody>
          <a:bodyPr wrap="square">
            <a:spAutoFit/>
          </a:bodyPr>
          <a:lstStyle/>
          <a:p>
            <a:pPr>
              <a:spcAft>
                <a:spcPts val="400"/>
              </a:spcAft>
              <a:defRPr sz="1300">
                <a:solidFill>
                  <a:srgbClr val="BBBBCC"/>
                </a:solidFill>
                <a:latin typeface="Microsoft YaHei"/>
              </a:defRPr>
            </a:pPr>
            <a:r>
              <a:t>列表对象 --&gt; [指针1, 指针2, ...]</a:t>
            </a:r>
          </a:p>
          <a:p>
            <a:pPr>
              <a:spcAft>
                <a:spcPts val="400"/>
              </a:spcAft>
              <a:defRPr sz="1300">
                <a:solidFill>
                  <a:srgbClr val="BBBBCC"/>
                </a:solidFill>
                <a:latin typeface="Microsoft YaHei"/>
              </a:defRPr>
            </a:pPr>
            <a:r>
              <a:t>每个指针 -&gt; 独立的PyObject (28+ bytes each)</a:t>
            </a:r>
          </a:p>
          <a:p>
            <a:pPr>
              <a:spcAft>
                <a:spcPts val="400"/>
              </a:spcAft>
              <a:defRPr sz="1300">
                <a:solidFill>
                  <a:srgbClr val="BBBBCC"/>
                </a:solidFill>
                <a:latin typeface="Microsoft YaHei"/>
              </a:defRPr>
            </a:pPr>
            <a:r>
              <a:t>不连续内存: CPU缓存未命中频繁</a:t>
            </a:r>
          </a:p>
          <a:p>
            <a:pPr>
              <a:spcAft>
                <a:spcPts val="400"/>
              </a:spcAft>
              <a:defRPr sz="1300">
                <a:solidFill>
                  <a:srgbClr val="BBBBCC"/>
                </a:solidFill>
                <a:latin typeface="Microsoft YaHei"/>
              </a:defRPr>
            </a:pPr>
            <a:r>
              <a:t>每次元素访问时都有类型检查开销</a:t>
            </a:r>
          </a:p>
        </p:txBody>
      </p:sp>
      <p:sp>
        <p:nvSpPr>
          <p:cNvPr id="9" name="Rounded Rectangle 8"/>
          <p:cNvSpPr/>
          <p:nvPr/>
        </p:nvSpPr>
        <p:spPr>
          <a:xfrm>
            <a:off x="6217920" y="1828800"/>
            <a:ext cx="5303520" cy="182880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937760" cy="365760"/>
          </a:xfrm>
          <a:prstGeom prst="rect">
            <a:avLst/>
          </a:prstGeom>
          <a:noFill/>
        </p:spPr>
        <p:txBody>
          <a:bodyPr wrap="square">
            <a:spAutoFit/>
          </a:bodyPr>
          <a:lstStyle/>
          <a:p>
            <a:pPr algn="l">
              <a:defRPr sz="1500" b="1">
                <a:solidFill>
                  <a:srgbClr val="00E696"/>
                </a:solidFill>
                <a:latin typeface="Microsoft YaHei"/>
              </a:defRPr>
            </a:pPr>
            <a:r>
              <a:t>NumPy数组的内存结构</a:t>
            </a:r>
          </a:p>
        </p:txBody>
      </p:sp>
      <p:sp>
        <p:nvSpPr>
          <p:cNvPr id="11" name="TextBox 10"/>
          <p:cNvSpPr txBox="1"/>
          <p:nvPr/>
        </p:nvSpPr>
        <p:spPr>
          <a:xfrm>
            <a:off x="6400800" y="2286000"/>
            <a:ext cx="4937760" cy="1280160"/>
          </a:xfrm>
          <a:prstGeom prst="rect">
            <a:avLst/>
          </a:prstGeom>
          <a:noFill/>
        </p:spPr>
        <p:txBody>
          <a:bodyPr wrap="square">
            <a:spAutoFit/>
          </a:bodyPr>
          <a:lstStyle/>
          <a:p>
            <a:pPr>
              <a:spcAft>
                <a:spcPts val="400"/>
              </a:spcAft>
              <a:defRPr sz="1300">
                <a:solidFill>
                  <a:srgbClr val="BBBBCC"/>
                </a:solidFill>
                <a:latin typeface="Microsoft YaHei"/>
              </a:defRPr>
            </a:pPr>
            <a:r>
              <a:t>ndarray对象 --&gt; [8B | 8B | 8B | ...]</a:t>
            </a:r>
          </a:p>
          <a:p>
            <a:pPr>
              <a:spcAft>
                <a:spcPts val="400"/>
              </a:spcAft>
              <a:defRPr sz="1300">
                <a:solidFill>
                  <a:srgbClr val="BBBBCC"/>
                </a:solidFill>
                <a:latin typeface="Microsoft YaHei"/>
              </a:defRPr>
            </a:pPr>
            <a:r>
              <a:t>在连续内存块中存储同质类型数据</a:t>
            </a:r>
          </a:p>
          <a:p>
            <a:pPr>
              <a:spcAft>
                <a:spcPts val="400"/>
              </a:spcAft>
              <a:defRPr sz="1300">
                <a:solidFill>
                  <a:srgbClr val="BBBBCC"/>
                </a:solidFill>
                <a:latin typeface="Microsoft YaHei"/>
              </a:defRPr>
            </a:pPr>
            <a:r>
              <a:t>CPU缓存命中率(hit rate)最大化</a:t>
            </a:r>
          </a:p>
          <a:p>
            <a:pPr>
              <a:spcAft>
                <a:spcPts val="400"/>
              </a:spcAft>
              <a:defRPr sz="1300">
                <a:solidFill>
                  <a:srgbClr val="BBBBCC"/>
                </a:solidFill>
                <a:latin typeface="Microsoft YaHei"/>
              </a:defRPr>
            </a:pPr>
            <a:r>
              <a:t>可利用SIMD(单指令多数据)</a:t>
            </a:r>
          </a:p>
        </p:txBody>
      </p:sp>
      <p:sp>
        <p:nvSpPr>
          <p:cNvPr id="12" name="Rounded Rectangle 11"/>
          <p:cNvSpPr/>
          <p:nvPr/>
        </p:nvSpPr>
        <p:spPr>
          <a:xfrm>
            <a:off x="548640" y="3931920"/>
            <a:ext cx="5303520" cy="2560320"/>
          </a:xfrm>
          <a:prstGeom prst="roundRect">
            <a:avLst>
              <a:gd name="adj" fmla="val 5000"/>
            </a:avLst>
          </a:prstGeom>
          <a:solidFill>
            <a:srgbClr val="25253D"/>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023360"/>
            <a:ext cx="4937760" cy="365760"/>
          </a:xfrm>
          <a:prstGeom prst="rect">
            <a:avLst/>
          </a:prstGeom>
          <a:noFill/>
        </p:spPr>
        <p:txBody>
          <a:bodyPr wrap="square">
            <a:spAutoFit/>
          </a:bodyPr>
          <a:lstStyle/>
          <a:p>
            <a:pPr algn="l">
              <a:defRPr sz="1500" b="1">
                <a:solidFill>
                  <a:srgbClr val="00D2FF"/>
                </a:solidFill>
                <a:latin typeface="Microsoft YaHei"/>
              </a:defRPr>
            </a:pPr>
            <a:r>
              <a:t>Stride可视化说明 (2x3 float64, C-order)</a:t>
            </a:r>
          </a:p>
        </p:txBody>
      </p:sp>
      <p:sp>
        <p:nvSpPr>
          <p:cNvPr id="14" name="TextBox 13"/>
          <p:cNvSpPr txBox="1"/>
          <p:nvPr/>
        </p:nvSpPr>
        <p:spPr>
          <a:xfrm>
            <a:off x="731520" y="4389120"/>
            <a:ext cx="4937760" cy="2011680"/>
          </a:xfrm>
          <a:prstGeom prst="rect">
            <a:avLst/>
          </a:prstGeom>
          <a:noFill/>
        </p:spPr>
        <p:txBody>
          <a:bodyPr wrap="square">
            <a:spAutoFit/>
          </a:bodyPr>
          <a:lstStyle/>
          <a:p>
            <a:pPr>
              <a:spcAft>
                <a:spcPts val="400"/>
              </a:spcAft>
              <a:defRPr sz="1300">
                <a:solidFill>
                  <a:srgbClr val="BBBBCC"/>
                </a:solidFill>
                <a:latin typeface="Microsoft YaHei"/>
              </a:defRPr>
            </a:pPr>
            <a:r>
              <a:t>内存: [1.0][2.0][3.0][4.0][5.0][6.0]</a:t>
            </a:r>
          </a:p>
          <a:p>
            <a:pPr>
              <a:spcAft>
                <a:spcPts val="400"/>
              </a:spcAft>
              <a:defRPr sz="1300">
                <a:solidFill>
                  <a:srgbClr val="BBBBCC"/>
                </a:solidFill>
                <a:latin typeface="Microsoft YaHei"/>
              </a:defRPr>
            </a:pPr>
            <a:r>
              <a:t>字节:  0    8   16   24   32   40</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shape = (2, 3)</a:t>
            </a:r>
          </a:p>
          <a:p>
            <a:pPr>
              <a:spcAft>
                <a:spcPts val="400"/>
              </a:spcAft>
              <a:defRPr sz="1300">
                <a:solidFill>
                  <a:srgbClr val="BBBBCC"/>
                </a:solidFill>
                <a:latin typeface="Microsoft YaHei"/>
              </a:defRPr>
            </a:pPr>
            <a:r>
              <a:t>strides = (24, 8)</a:t>
            </a:r>
          </a:p>
          <a:p>
            <a:pPr>
              <a:spcAft>
                <a:spcPts val="400"/>
              </a:spcAft>
              <a:defRPr sz="1300">
                <a:solidFill>
                  <a:srgbClr val="BBBBCC"/>
                </a:solidFill>
                <a:latin typeface="Microsoft YaHei"/>
              </a:defRPr>
            </a:pPr>
            <a:r>
              <a:t>  行方向(axis=0): 24字节 = 3元素 x 8B/元素</a:t>
            </a:r>
          </a:p>
          <a:p>
            <a:pPr>
              <a:spcAft>
                <a:spcPts val="400"/>
              </a:spcAft>
              <a:defRPr sz="1300">
                <a:solidFill>
                  <a:srgbClr val="BBBBCC"/>
                </a:solidFill>
                <a:latin typeface="Microsoft YaHei"/>
              </a:defRPr>
            </a:pPr>
            <a:r>
              <a:t>  列方向(axis=1):  8字节 = 1元素 x 8B/元素</a:t>
            </a:r>
          </a:p>
        </p:txBody>
      </p:sp>
      <p:sp>
        <p:nvSpPr>
          <p:cNvPr id="15" name="Rounded Rectangle 14"/>
          <p:cNvSpPr/>
          <p:nvPr/>
        </p:nvSpPr>
        <p:spPr>
          <a:xfrm>
            <a:off x="6217920" y="3931920"/>
            <a:ext cx="5303520" cy="256032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4069080"/>
            <a:ext cx="4937760" cy="2286000"/>
          </a:xfrm>
          <a:prstGeom prst="rect">
            <a:avLst/>
          </a:prstGeom>
          <a:noFill/>
        </p:spPr>
        <p:txBody>
          <a:bodyPr wrap="square">
            <a:spAutoFit/>
          </a:bodyPr>
          <a:lstStyle/>
          <a:p>
            <a:pPr>
              <a:spcAft>
                <a:spcPts val="200"/>
              </a:spcAft>
              <a:defRPr sz="1100">
                <a:solidFill>
                  <a:srgbClr val="00E696"/>
                </a:solidFill>
                <a:latin typeface="Consolas"/>
              </a:defRPr>
            </a:pPr>
            <a:r>
              <a:t>a = np.array([[1, 2, 3, 4],</a:t>
            </a:r>
          </a:p>
          <a:p>
            <a:pPr>
              <a:spcAft>
                <a:spcPts val="200"/>
              </a:spcAft>
              <a:defRPr sz="1100">
                <a:solidFill>
                  <a:srgbClr val="00E696"/>
                </a:solidFill>
                <a:latin typeface="Consolas"/>
              </a:defRPr>
            </a:pPr>
            <a:r>
              <a:t>              [5, 6, 7, 8],</a:t>
            </a:r>
          </a:p>
          <a:p>
            <a:pPr>
              <a:spcAft>
                <a:spcPts val="200"/>
              </a:spcAft>
              <a:defRPr sz="1100">
                <a:solidFill>
                  <a:srgbClr val="00E696"/>
                </a:solidFill>
                <a:latin typeface="Consolas"/>
              </a:defRPr>
            </a:pPr>
            <a:r>
              <a:t>              [9, 10, 11, 12]], dtype=np.float64)</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print(f'shape: {a.shape}')      # (3, 4)</a:t>
            </a:r>
          </a:p>
          <a:p>
            <a:pPr>
              <a:spcAft>
                <a:spcPts val="200"/>
              </a:spcAft>
              <a:defRPr sz="1100">
                <a:solidFill>
                  <a:srgbClr val="00E696"/>
                </a:solidFill>
                <a:latin typeface="Consolas"/>
              </a:defRPr>
            </a:pPr>
            <a:r>
              <a:t>print(f'strides: {a.strides}')  # (32, 8)</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转置(transpose)只改变stride</a:t>
            </a:r>
          </a:p>
          <a:p>
            <a:pPr>
              <a:spcAft>
                <a:spcPts val="200"/>
              </a:spcAft>
              <a:defRPr sz="1100">
                <a:solidFill>
                  <a:srgbClr val="00E696"/>
                </a:solidFill>
                <a:latin typeface="Consolas"/>
              </a:defRPr>
            </a:pPr>
            <a:r>
              <a:t># (无数据复制!)</a:t>
            </a:r>
          </a:p>
          <a:p>
            <a:pPr>
              <a:spcAft>
                <a:spcPts val="200"/>
              </a:spcAft>
              <a:defRPr sz="1100">
                <a:solidFill>
                  <a:srgbClr val="00E696"/>
                </a:solidFill>
                <a:latin typeface="Consolas"/>
              </a:defRPr>
            </a:pPr>
            <a:r>
              <a:t>b = a.T</a:t>
            </a:r>
          </a:p>
          <a:p>
            <a:pPr>
              <a:spcAft>
                <a:spcPts val="200"/>
              </a:spcAft>
              <a:defRPr sz="1100">
                <a:solidFill>
                  <a:srgbClr val="00E696"/>
                </a:solidFill>
                <a:latin typeface="Consolas"/>
              </a:defRPr>
            </a:pPr>
            <a:r>
              <a:t>print(f'转置 shape: {b.shape}')    # (4, 3)</a:t>
            </a:r>
          </a:p>
          <a:p>
            <a:pPr>
              <a:spcAft>
                <a:spcPts val="200"/>
              </a:spcAft>
              <a:defRPr sz="1100">
                <a:solidFill>
                  <a:srgbClr val="00E696"/>
                </a:solidFill>
                <a:latin typeface="Consolas"/>
              </a:defRPr>
            </a:pPr>
            <a:r>
              <a:t>print(f'转置 strides: {b.strides}')# (8, 32)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2</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C-order vs F-order / dtype系统</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内存顺序与数据类型体系</a:t>
            </a:r>
          </a:p>
        </p:txBody>
      </p:sp>
      <p:sp>
        <p:nvSpPr>
          <p:cNvPr id="6" name="Rectangle 5"/>
          <p:cNvSpPr/>
          <p:nvPr/>
        </p:nvSpPr>
        <p:spPr>
          <a:xfrm>
            <a:off x="548640" y="1828800"/>
            <a:ext cx="2286000" cy="4572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28800"/>
            <a:ext cx="2286000" cy="457200"/>
          </a:xfrm>
          <a:prstGeom prst="rect">
            <a:avLst/>
          </a:prstGeom>
          <a:noFill/>
        </p:spPr>
        <p:txBody>
          <a:bodyPr wrap="square">
            <a:spAutoFit/>
          </a:bodyPr>
          <a:lstStyle/>
          <a:p>
            <a:pPr algn="ctr">
              <a:defRPr sz="1400" b="1">
                <a:solidFill>
                  <a:srgbClr val="FFFFFF"/>
                </a:solidFill>
                <a:latin typeface="Microsoft YaHei"/>
              </a:defRPr>
            </a:pPr>
            <a:r>
              <a:t>顺序</a:t>
            </a:r>
          </a:p>
        </p:txBody>
      </p:sp>
      <p:sp>
        <p:nvSpPr>
          <p:cNvPr id="8" name="Rectangle 7"/>
          <p:cNvSpPr/>
          <p:nvPr/>
        </p:nvSpPr>
        <p:spPr>
          <a:xfrm>
            <a:off x="2834640" y="1828800"/>
            <a:ext cx="2286000" cy="4572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34640" y="1828800"/>
            <a:ext cx="2286000" cy="457200"/>
          </a:xfrm>
          <a:prstGeom prst="rect">
            <a:avLst/>
          </a:prstGeom>
          <a:noFill/>
        </p:spPr>
        <p:txBody>
          <a:bodyPr wrap="square">
            <a:spAutoFit/>
          </a:bodyPr>
          <a:lstStyle/>
          <a:p>
            <a:pPr algn="ctr">
              <a:defRPr sz="1400" b="1">
                <a:solidFill>
                  <a:srgbClr val="FFFFFF"/>
                </a:solidFill>
                <a:latin typeface="Microsoft YaHei"/>
              </a:defRPr>
            </a:pPr>
            <a:r>
              <a:t>内存布局</a:t>
            </a:r>
          </a:p>
        </p:txBody>
      </p:sp>
      <p:sp>
        <p:nvSpPr>
          <p:cNvPr id="10" name="Rectangle 9"/>
          <p:cNvSpPr/>
          <p:nvPr/>
        </p:nvSpPr>
        <p:spPr>
          <a:xfrm>
            <a:off x="5120640" y="1828800"/>
            <a:ext cx="2286000" cy="4572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0" y="1828800"/>
            <a:ext cx="2286000" cy="457200"/>
          </a:xfrm>
          <a:prstGeom prst="rect">
            <a:avLst/>
          </a:prstGeom>
          <a:noFill/>
        </p:spPr>
        <p:txBody>
          <a:bodyPr wrap="square">
            <a:spAutoFit/>
          </a:bodyPr>
          <a:lstStyle/>
          <a:p>
            <a:pPr algn="ctr">
              <a:defRPr sz="1400" b="1">
                <a:solidFill>
                  <a:srgbClr val="FFFFFF"/>
                </a:solidFill>
                <a:latin typeface="Microsoft YaHei"/>
              </a:defRPr>
            </a:pPr>
            <a:r>
              <a:t>快速访问方向</a:t>
            </a:r>
          </a:p>
        </p:txBody>
      </p:sp>
      <p:sp>
        <p:nvSpPr>
          <p:cNvPr id="12" name="Rectangle 11"/>
          <p:cNvSpPr/>
          <p:nvPr/>
        </p:nvSpPr>
        <p:spPr>
          <a:xfrm>
            <a:off x="7406640" y="1828800"/>
            <a:ext cx="2286000" cy="4572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2286000" cy="457200"/>
          </a:xfrm>
          <a:prstGeom prst="rect">
            <a:avLst/>
          </a:prstGeom>
          <a:noFill/>
        </p:spPr>
        <p:txBody>
          <a:bodyPr wrap="square">
            <a:spAutoFit/>
          </a:bodyPr>
          <a:lstStyle/>
          <a:p>
            <a:pPr algn="ctr">
              <a:defRPr sz="1400" b="1">
                <a:solidFill>
                  <a:srgbClr val="FFFFFF"/>
                </a:solidFill>
                <a:latin typeface="Microsoft YaHei"/>
              </a:defRPr>
            </a:pPr>
            <a:r>
              <a:t>使用示例</a:t>
            </a:r>
          </a:p>
        </p:txBody>
      </p:sp>
      <p:sp>
        <p:nvSpPr>
          <p:cNvPr id="14" name="Rectangle 13"/>
          <p:cNvSpPr/>
          <p:nvPr/>
        </p:nvSpPr>
        <p:spPr>
          <a:xfrm>
            <a:off x="548640" y="2286000"/>
            <a:ext cx="22860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286000"/>
            <a:ext cx="2286000" cy="457200"/>
          </a:xfrm>
          <a:prstGeom prst="rect">
            <a:avLst/>
          </a:prstGeom>
          <a:noFill/>
        </p:spPr>
        <p:txBody>
          <a:bodyPr wrap="square">
            <a:spAutoFit/>
          </a:bodyPr>
          <a:lstStyle/>
          <a:p>
            <a:pPr algn="ctr">
              <a:defRPr sz="1300" b="1">
                <a:solidFill>
                  <a:srgbClr val="00D2FF"/>
                </a:solidFill>
                <a:latin typeface="Microsoft YaHei"/>
              </a:defRPr>
            </a:pPr>
            <a:r>
              <a:t>C-order (row-major)</a:t>
            </a:r>
          </a:p>
        </p:txBody>
      </p:sp>
      <p:sp>
        <p:nvSpPr>
          <p:cNvPr id="16" name="Rectangle 15"/>
          <p:cNvSpPr/>
          <p:nvPr/>
        </p:nvSpPr>
        <p:spPr>
          <a:xfrm>
            <a:off x="2834640" y="2286000"/>
            <a:ext cx="22860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34640" y="2286000"/>
            <a:ext cx="2286000" cy="457200"/>
          </a:xfrm>
          <a:prstGeom prst="rect">
            <a:avLst/>
          </a:prstGeom>
          <a:noFill/>
        </p:spPr>
        <p:txBody>
          <a:bodyPr wrap="square">
            <a:spAutoFit/>
          </a:bodyPr>
          <a:lstStyle/>
          <a:p>
            <a:pPr algn="ctr">
              <a:defRPr sz="1300" b="0">
                <a:solidFill>
                  <a:srgbClr val="BBBBCC"/>
                </a:solidFill>
                <a:latin typeface="Microsoft YaHei"/>
              </a:defRPr>
            </a:pPr>
            <a:r>
              <a:t>行优先存储</a:t>
            </a:r>
          </a:p>
        </p:txBody>
      </p:sp>
      <p:sp>
        <p:nvSpPr>
          <p:cNvPr id="18" name="Rectangle 17"/>
          <p:cNvSpPr/>
          <p:nvPr/>
        </p:nvSpPr>
        <p:spPr>
          <a:xfrm>
            <a:off x="5120640" y="2286000"/>
            <a:ext cx="22860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640" y="2286000"/>
            <a:ext cx="2286000" cy="457200"/>
          </a:xfrm>
          <a:prstGeom prst="rect">
            <a:avLst/>
          </a:prstGeom>
          <a:noFill/>
        </p:spPr>
        <p:txBody>
          <a:bodyPr wrap="square">
            <a:spAutoFit/>
          </a:bodyPr>
          <a:lstStyle/>
          <a:p>
            <a:pPr algn="ctr">
              <a:defRPr sz="1300" b="0">
                <a:solidFill>
                  <a:srgbClr val="BBBBCC"/>
                </a:solidFill>
                <a:latin typeface="Microsoft YaHei"/>
              </a:defRPr>
            </a:pPr>
            <a:r>
              <a:t>最后一个轴 (列方向)</a:t>
            </a:r>
          </a:p>
        </p:txBody>
      </p:sp>
      <p:sp>
        <p:nvSpPr>
          <p:cNvPr id="20" name="Rectangle 19"/>
          <p:cNvSpPr/>
          <p:nvPr/>
        </p:nvSpPr>
        <p:spPr>
          <a:xfrm>
            <a:off x="7406640" y="2286000"/>
            <a:ext cx="22860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06640" y="2286000"/>
            <a:ext cx="2286000" cy="457200"/>
          </a:xfrm>
          <a:prstGeom prst="rect">
            <a:avLst/>
          </a:prstGeom>
          <a:noFill/>
        </p:spPr>
        <p:txBody>
          <a:bodyPr wrap="square">
            <a:spAutoFit/>
          </a:bodyPr>
          <a:lstStyle/>
          <a:p>
            <a:pPr algn="ctr">
              <a:defRPr sz="1300" b="0">
                <a:solidFill>
                  <a:srgbClr val="BBBBCC"/>
                </a:solidFill>
                <a:latin typeface="Microsoft YaHei"/>
              </a:defRPr>
            </a:pPr>
            <a:r>
              <a:t>NumPy默认, C</a:t>
            </a:r>
          </a:p>
        </p:txBody>
      </p:sp>
      <p:sp>
        <p:nvSpPr>
          <p:cNvPr id="22" name="Rectangle 21"/>
          <p:cNvSpPr/>
          <p:nvPr/>
        </p:nvSpPr>
        <p:spPr>
          <a:xfrm>
            <a:off x="548640" y="2743200"/>
            <a:ext cx="228600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2743200"/>
            <a:ext cx="2286000" cy="457200"/>
          </a:xfrm>
          <a:prstGeom prst="rect">
            <a:avLst/>
          </a:prstGeom>
          <a:noFill/>
        </p:spPr>
        <p:txBody>
          <a:bodyPr wrap="square">
            <a:spAutoFit/>
          </a:bodyPr>
          <a:lstStyle/>
          <a:p>
            <a:pPr algn="ctr">
              <a:defRPr sz="1300" b="1">
                <a:solidFill>
                  <a:srgbClr val="00D2FF"/>
                </a:solidFill>
                <a:latin typeface="Microsoft YaHei"/>
              </a:defRPr>
            </a:pPr>
            <a:r>
              <a:t>F-order (col-major)</a:t>
            </a:r>
          </a:p>
        </p:txBody>
      </p:sp>
      <p:sp>
        <p:nvSpPr>
          <p:cNvPr id="24" name="Rectangle 23"/>
          <p:cNvSpPr/>
          <p:nvPr/>
        </p:nvSpPr>
        <p:spPr>
          <a:xfrm>
            <a:off x="2834640" y="2743200"/>
            <a:ext cx="228600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34640" y="2743200"/>
            <a:ext cx="2286000" cy="457200"/>
          </a:xfrm>
          <a:prstGeom prst="rect">
            <a:avLst/>
          </a:prstGeom>
          <a:noFill/>
        </p:spPr>
        <p:txBody>
          <a:bodyPr wrap="square">
            <a:spAutoFit/>
          </a:bodyPr>
          <a:lstStyle/>
          <a:p>
            <a:pPr algn="ctr">
              <a:defRPr sz="1300" b="0">
                <a:solidFill>
                  <a:srgbClr val="BBBBCC"/>
                </a:solidFill>
                <a:latin typeface="Microsoft YaHei"/>
              </a:defRPr>
            </a:pPr>
            <a:r>
              <a:t>列优先存储</a:t>
            </a:r>
          </a:p>
        </p:txBody>
      </p:sp>
      <p:sp>
        <p:nvSpPr>
          <p:cNvPr id="26" name="Rectangle 25"/>
          <p:cNvSpPr/>
          <p:nvPr/>
        </p:nvSpPr>
        <p:spPr>
          <a:xfrm>
            <a:off x="5120640" y="2743200"/>
            <a:ext cx="228600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20640" y="2743200"/>
            <a:ext cx="2286000" cy="457200"/>
          </a:xfrm>
          <a:prstGeom prst="rect">
            <a:avLst/>
          </a:prstGeom>
          <a:noFill/>
        </p:spPr>
        <p:txBody>
          <a:bodyPr wrap="square">
            <a:spAutoFit/>
          </a:bodyPr>
          <a:lstStyle/>
          <a:p>
            <a:pPr algn="ctr">
              <a:defRPr sz="1300" b="0">
                <a:solidFill>
                  <a:srgbClr val="BBBBCC"/>
                </a:solidFill>
                <a:latin typeface="Microsoft YaHei"/>
              </a:defRPr>
            </a:pPr>
            <a:r>
              <a:t>第一个轴 (行方向)</a:t>
            </a:r>
          </a:p>
        </p:txBody>
      </p:sp>
      <p:sp>
        <p:nvSpPr>
          <p:cNvPr id="28" name="Rectangle 27"/>
          <p:cNvSpPr/>
          <p:nvPr/>
        </p:nvSpPr>
        <p:spPr>
          <a:xfrm>
            <a:off x="7406640" y="2743200"/>
            <a:ext cx="228600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06640" y="2743200"/>
            <a:ext cx="2286000" cy="457200"/>
          </a:xfrm>
          <a:prstGeom prst="rect">
            <a:avLst/>
          </a:prstGeom>
          <a:noFill/>
        </p:spPr>
        <p:txBody>
          <a:bodyPr wrap="square">
            <a:spAutoFit/>
          </a:bodyPr>
          <a:lstStyle/>
          <a:p>
            <a:pPr algn="ctr">
              <a:defRPr sz="1300" b="0">
                <a:solidFill>
                  <a:srgbClr val="BBBBCC"/>
                </a:solidFill>
                <a:latin typeface="Microsoft YaHei"/>
              </a:defRPr>
            </a:pPr>
            <a:r>
              <a:t>Fortran, MATLAB, R</a:t>
            </a:r>
          </a:p>
        </p:txBody>
      </p:sp>
      <p:sp>
        <p:nvSpPr>
          <p:cNvPr id="30" name="Rectangle 29"/>
          <p:cNvSpPr/>
          <p:nvPr/>
        </p:nvSpPr>
        <p:spPr>
          <a:xfrm>
            <a:off x="548640" y="3200400"/>
            <a:ext cx="2286000" cy="457200"/>
          </a:xfrm>
          <a:prstGeom prst="rect">
            <a:avLst/>
          </a:prstGeom>
          <a:solidFill>
            <a:srgbClr val="A0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3200400"/>
            <a:ext cx="2286000" cy="457200"/>
          </a:xfrm>
          <a:prstGeom prst="rect">
            <a:avLst/>
          </a:prstGeom>
          <a:noFill/>
        </p:spPr>
        <p:txBody>
          <a:bodyPr wrap="square">
            <a:spAutoFit/>
          </a:bodyPr>
          <a:lstStyle/>
          <a:p>
            <a:pPr algn="ctr">
              <a:defRPr sz="1400" b="1">
                <a:solidFill>
                  <a:srgbClr val="FFFFFF"/>
                </a:solidFill>
                <a:latin typeface="Microsoft YaHei"/>
              </a:defRPr>
            </a:pPr>
            <a:r>
              <a:t>类别</a:t>
            </a:r>
          </a:p>
        </p:txBody>
      </p:sp>
      <p:sp>
        <p:nvSpPr>
          <p:cNvPr id="32" name="Rectangle 31"/>
          <p:cNvSpPr/>
          <p:nvPr/>
        </p:nvSpPr>
        <p:spPr>
          <a:xfrm>
            <a:off x="2834640" y="3200400"/>
            <a:ext cx="2286000" cy="457200"/>
          </a:xfrm>
          <a:prstGeom prst="rect">
            <a:avLst/>
          </a:prstGeom>
          <a:solidFill>
            <a:srgbClr val="A0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34640" y="3200400"/>
            <a:ext cx="2286000" cy="457200"/>
          </a:xfrm>
          <a:prstGeom prst="rect">
            <a:avLst/>
          </a:prstGeom>
          <a:noFill/>
        </p:spPr>
        <p:txBody>
          <a:bodyPr wrap="square">
            <a:spAutoFit/>
          </a:bodyPr>
          <a:lstStyle/>
          <a:p>
            <a:pPr algn="ctr">
              <a:defRPr sz="1400" b="1">
                <a:solidFill>
                  <a:srgbClr val="FFFFFF"/>
                </a:solidFill>
                <a:latin typeface="Microsoft YaHei"/>
              </a:defRPr>
            </a:pPr>
            <a:r>
              <a:t>dtype</a:t>
            </a:r>
          </a:p>
        </p:txBody>
      </p:sp>
      <p:sp>
        <p:nvSpPr>
          <p:cNvPr id="34" name="Rectangle 33"/>
          <p:cNvSpPr/>
          <p:nvPr/>
        </p:nvSpPr>
        <p:spPr>
          <a:xfrm>
            <a:off x="5120640" y="3200400"/>
            <a:ext cx="1828800" cy="457200"/>
          </a:xfrm>
          <a:prstGeom prst="rect">
            <a:avLst/>
          </a:prstGeom>
          <a:solidFill>
            <a:srgbClr val="A0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120640" y="3200400"/>
            <a:ext cx="1828800" cy="457200"/>
          </a:xfrm>
          <a:prstGeom prst="rect">
            <a:avLst/>
          </a:prstGeom>
          <a:noFill/>
        </p:spPr>
        <p:txBody>
          <a:bodyPr wrap="square">
            <a:spAutoFit/>
          </a:bodyPr>
          <a:lstStyle/>
          <a:p>
            <a:pPr algn="ctr">
              <a:defRPr sz="1400" b="1">
                <a:solidFill>
                  <a:srgbClr val="FFFFFF"/>
                </a:solidFill>
                <a:latin typeface="Microsoft YaHei"/>
              </a:defRPr>
            </a:pPr>
            <a:r>
              <a:t>字节</a:t>
            </a:r>
          </a:p>
        </p:txBody>
      </p:sp>
      <p:sp>
        <p:nvSpPr>
          <p:cNvPr id="36" name="Rectangle 35"/>
          <p:cNvSpPr/>
          <p:nvPr/>
        </p:nvSpPr>
        <p:spPr>
          <a:xfrm>
            <a:off x="6949440" y="3200400"/>
            <a:ext cx="2743200" cy="457200"/>
          </a:xfrm>
          <a:prstGeom prst="rect">
            <a:avLst/>
          </a:prstGeom>
          <a:solidFill>
            <a:srgbClr val="A0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49440" y="3200400"/>
            <a:ext cx="2743200" cy="457200"/>
          </a:xfrm>
          <a:prstGeom prst="rect">
            <a:avLst/>
          </a:prstGeom>
          <a:noFill/>
        </p:spPr>
        <p:txBody>
          <a:bodyPr wrap="square">
            <a:spAutoFit/>
          </a:bodyPr>
          <a:lstStyle/>
          <a:p>
            <a:pPr algn="ctr">
              <a:defRPr sz="1400" b="1">
                <a:solidFill>
                  <a:srgbClr val="FFFFFF"/>
                </a:solidFill>
                <a:latin typeface="Microsoft YaHei"/>
              </a:defRPr>
            </a:pPr>
            <a:r>
              <a:t>范围/用途</a:t>
            </a:r>
          </a:p>
        </p:txBody>
      </p:sp>
      <p:sp>
        <p:nvSpPr>
          <p:cNvPr id="38" name="Rectangle 37"/>
          <p:cNvSpPr/>
          <p:nvPr/>
        </p:nvSpPr>
        <p:spPr>
          <a:xfrm>
            <a:off x="548640" y="3657600"/>
            <a:ext cx="2286000" cy="36576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3657600"/>
            <a:ext cx="2286000" cy="365760"/>
          </a:xfrm>
          <a:prstGeom prst="rect">
            <a:avLst/>
          </a:prstGeom>
          <a:noFill/>
        </p:spPr>
        <p:txBody>
          <a:bodyPr wrap="square">
            <a:spAutoFit/>
          </a:bodyPr>
          <a:lstStyle/>
          <a:p>
            <a:pPr algn="ctr">
              <a:defRPr sz="1200" b="1">
                <a:solidFill>
                  <a:srgbClr val="00D2FF"/>
                </a:solidFill>
                <a:latin typeface="Microsoft YaHei"/>
              </a:defRPr>
            </a:pPr>
            <a:r>
              <a:t>整数</a:t>
            </a:r>
          </a:p>
        </p:txBody>
      </p:sp>
      <p:sp>
        <p:nvSpPr>
          <p:cNvPr id="40" name="Rectangle 39"/>
          <p:cNvSpPr/>
          <p:nvPr/>
        </p:nvSpPr>
        <p:spPr>
          <a:xfrm>
            <a:off x="2834640" y="3657600"/>
            <a:ext cx="2286000" cy="36576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834640" y="3657600"/>
            <a:ext cx="2286000" cy="365760"/>
          </a:xfrm>
          <a:prstGeom prst="rect">
            <a:avLst/>
          </a:prstGeom>
          <a:noFill/>
        </p:spPr>
        <p:txBody>
          <a:bodyPr wrap="square">
            <a:spAutoFit/>
          </a:bodyPr>
          <a:lstStyle/>
          <a:p>
            <a:pPr algn="ctr">
              <a:defRPr sz="1200" b="0">
                <a:solidFill>
                  <a:srgbClr val="BBBBCC"/>
                </a:solidFill>
                <a:latin typeface="Microsoft YaHei"/>
              </a:defRPr>
            </a:pPr>
            <a:r>
              <a:t>int8 / int16</a:t>
            </a:r>
          </a:p>
        </p:txBody>
      </p:sp>
      <p:sp>
        <p:nvSpPr>
          <p:cNvPr id="42" name="Rectangle 41"/>
          <p:cNvSpPr/>
          <p:nvPr/>
        </p:nvSpPr>
        <p:spPr>
          <a:xfrm>
            <a:off x="5120640" y="3657600"/>
            <a:ext cx="1828800" cy="36576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20640" y="3657600"/>
            <a:ext cx="1828800" cy="365760"/>
          </a:xfrm>
          <a:prstGeom prst="rect">
            <a:avLst/>
          </a:prstGeom>
          <a:noFill/>
        </p:spPr>
        <p:txBody>
          <a:bodyPr wrap="square">
            <a:spAutoFit/>
          </a:bodyPr>
          <a:lstStyle/>
          <a:p>
            <a:pPr algn="ctr">
              <a:defRPr sz="1200" b="0">
                <a:solidFill>
                  <a:srgbClr val="BBBBCC"/>
                </a:solidFill>
                <a:latin typeface="Microsoft YaHei"/>
              </a:defRPr>
            </a:pPr>
            <a:r>
              <a:t>1 / 2</a:t>
            </a:r>
          </a:p>
        </p:txBody>
      </p:sp>
      <p:sp>
        <p:nvSpPr>
          <p:cNvPr id="44" name="Rectangle 43"/>
          <p:cNvSpPr/>
          <p:nvPr/>
        </p:nvSpPr>
        <p:spPr>
          <a:xfrm>
            <a:off x="6949440" y="3657600"/>
            <a:ext cx="2743200" cy="36576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949440" y="3657600"/>
            <a:ext cx="2743200" cy="365760"/>
          </a:xfrm>
          <a:prstGeom prst="rect">
            <a:avLst/>
          </a:prstGeom>
          <a:noFill/>
        </p:spPr>
        <p:txBody>
          <a:bodyPr wrap="square">
            <a:spAutoFit/>
          </a:bodyPr>
          <a:lstStyle/>
          <a:p>
            <a:pPr algn="ctr">
              <a:defRPr sz="1200" b="0">
                <a:solidFill>
                  <a:srgbClr val="BBBBCC"/>
                </a:solidFill>
                <a:latin typeface="Microsoft YaHei"/>
              </a:defRPr>
            </a:pPr>
            <a:r>
              <a:t>-128~127 / -32768~32767</a:t>
            </a:r>
          </a:p>
        </p:txBody>
      </p:sp>
      <p:sp>
        <p:nvSpPr>
          <p:cNvPr id="46" name="Rectangle 45"/>
          <p:cNvSpPr/>
          <p:nvPr/>
        </p:nvSpPr>
        <p:spPr>
          <a:xfrm>
            <a:off x="548640" y="4023360"/>
            <a:ext cx="2286000" cy="36576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48640" y="4023360"/>
            <a:ext cx="2286000" cy="365760"/>
          </a:xfrm>
          <a:prstGeom prst="rect">
            <a:avLst/>
          </a:prstGeom>
          <a:noFill/>
        </p:spPr>
        <p:txBody>
          <a:bodyPr wrap="square">
            <a:spAutoFit/>
          </a:bodyPr>
          <a:lstStyle/>
          <a:p>
            <a:pPr algn="ctr">
              <a:defRPr sz="1200" b="1">
                <a:solidFill>
                  <a:srgbClr val="00D2FF"/>
                </a:solidFill>
                <a:latin typeface="Microsoft YaHei"/>
              </a:defRPr>
            </a:pPr>
            <a:r>
              <a:t>整数</a:t>
            </a:r>
          </a:p>
        </p:txBody>
      </p:sp>
      <p:sp>
        <p:nvSpPr>
          <p:cNvPr id="48" name="Rectangle 47"/>
          <p:cNvSpPr/>
          <p:nvPr/>
        </p:nvSpPr>
        <p:spPr>
          <a:xfrm>
            <a:off x="2834640" y="4023360"/>
            <a:ext cx="2286000" cy="36576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834640" y="4023360"/>
            <a:ext cx="2286000" cy="365760"/>
          </a:xfrm>
          <a:prstGeom prst="rect">
            <a:avLst/>
          </a:prstGeom>
          <a:noFill/>
        </p:spPr>
        <p:txBody>
          <a:bodyPr wrap="square">
            <a:spAutoFit/>
          </a:bodyPr>
          <a:lstStyle/>
          <a:p>
            <a:pPr algn="ctr">
              <a:defRPr sz="1200" b="0">
                <a:solidFill>
                  <a:srgbClr val="BBBBCC"/>
                </a:solidFill>
                <a:latin typeface="Microsoft YaHei"/>
              </a:defRPr>
            </a:pPr>
            <a:r>
              <a:t>int32 / int64</a:t>
            </a:r>
          </a:p>
        </p:txBody>
      </p:sp>
      <p:sp>
        <p:nvSpPr>
          <p:cNvPr id="50" name="Rectangle 49"/>
          <p:cNvSpPr/>
          <p:nvPr/>
        </p:nvSpPr>
        <p:spPr>
          <a:xfrm>
            <a:off x="5120640" y="4023360"/>
            <a:ext cx="1828800" cy="36576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120640" y="4023360"/>
            <a:ext cx="1828800" cy="365760"/>
          </a:xfrm>
          <a:prstGeom prst="rect">
            <a:avLst/>
          </a:prstGeom>
          <a:noFill/>
        </p:spPr>
        <p:txBody>
          <a:bodyPr wrap="square">
            <a:spAutoFit/>
          </a:bodyPr>
          <a:lstStyle/>
          <a:p>
            <a:pPr algn="ctr">
              <a:defRPr sz="1200" b="0">
                <a:solidFill>
                  <a:srgbClr val="BBBBCC"/>
                </a:solidFill>
                <a:latin typeface="Microsoft YaHei"/>
              </a:defRPr>
            </a:pPr>
            <a:r>
              <a:t>4 / 8</a:t>
            </a:r>
          </a:p>
        </p:txBody>
      </p:sp>
      <p:sp>
        <p:nvSpPr>
          <p:cNvPr id="52" name="Rectangle 51"/>
          <p:cNvSpPr/>
          <p:nvPr/>
        </p:nvSpPr>
        <p:spPr>
          <a:xfrm>
            <a:off x="6949440" y="4023360"/>
            <a:ext cx="2743200" cy="36576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949440" y="4023360"/>
            <a:ext cx="2743200" cy="365760"/>
          </a:xfrm>
          <a:prstGeom prst="rect">
            <a:avLst/>
          </a:prstGeom>
          <a:noFill/>
        </p:spPr>
        <p:txBody>
          <a:bodyPr wrap="square">
            <a:spAutoFit/>
          </a:bodyPr>
          <a:lstStyle/>
          <a:p>
            <a:pPr algn="ctr">
              <a:defRPr sz="1200" b="0">
                <a:solidFill>
                  <a:srgbClr val="BBBBCC"/>
                </a:solidFill>
                <a:latin typeface="Microsoft YaHei"/>
              </a:defRPr>
            </a:pPr>
            <a:r>
              <a:t>一般整数 / 大整数</a:t>
            </a:r>
          </a:p>
        </p:txBody>
      </p:sp>
      <p:sp>
        <p:nvSpPr>
          <p:cNvPr id="54" name="Rectangle 53"/>
          <p:cNvSpPr/>
          <p:nvPr/>
        </p:nvSpPr>
        <p:spPr>
          <a:xfrm>
            <a:off x="548640" y="4389120"/>
            <a:ext cx="2286000" cy="36576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48640" y="4389120"/>
            <a:ext cx="2286000" cy="365760"/>
          </a:xfrm>
          <a:prstGeom prst="rect">
            <a:avLst/>
          </a:prstGeom>
          <a:noFill/>
        </p:spPr>
        <p:txBody>
          <a:bodyPr wrap="square">
            <a:spAutoFit/>
          </a:bodyPr>
          <a:lstStyle/>
          <a:p>
            <a:pPr algn="ctr">
              <a:defRPr sz="1200" b="1">
                <a:solidFill>
                  <a:srgbClr val="00D2FF"/>
                </a:solidFill>
                <a:latin typeface="Microsoft YaHei"/>
              </a:defRPr>
            </a:pPr>
            <a:r>
              <a:t>无符号整数</a:t>
            </a:r>
          </a:p>
        </p:txBody>
      </p:sp>
      <p:sp>
        <p:nvSpPr>
          <p:cNvPr id="56" name="Rectangle 55"/>
          <p:cNvSpPr/>
          <p:nvPr/>
        </p:nvSpPr>
        <p:spPr>
          <a:xfrm>
            <a:off x="2834640" y="4389120"/>
            <a:ext cx="2286000" cy="36576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834640" y="4389120"/>
            <a:ext cx="2286000" cy="365760"/>
          </a:xfrm>
          <a:prstGeom prst="rect">
            <a:avLst/>
          </a:prstGeom>
          <a:noFill/>
        </p:spPr>
        <p:txBody>
          <a:bodyPr wrap="square">
            <a:spAutoFit/>
          </a:bodyPr>
          <a:lstStyle/>
          <a:p>
            <a:pPr algn="ctr">
              <a:defRPr sz="1200" b="0">
                <a:solidFill>
                  <a:srgbClr val="BBBBCC"/>
                </a:solidFill>
                <a:latin typeface="Microsoft YaHei"/>
              </a:defRPr>
            </a:pPr>
            <a:r>
              <a:t>uint8</a:t>
            </a:r>
          </a:p>
        </p:txBody>
      </p:sp>
      <p:sp>
        <p:nvSpPr>
          <p:cNvPr id="58" name="Rectangle 57"/>
          <p:cNvSpPr/>
          <p:nvPr/>
        </p:nvSpPr>
        <p:spPr>
          <a:xfrm>
            <a:off x="5120640" y="4389120"/>
            <a:ext cx="1828800" cy="36576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20640" y="4389120"/>
            <a:ext cx="1828800" cy="365760"/>
          </a:xfrm>
          <a:prstGeom prst="rect">
            <a:avLst/>
          </a:prstGeom>
          <a:noFill/>
        </p:spPr>
        <p:txBody>
          <a:bodyPr wrap="square">
            <a:spAutoFit/>
          </a:bodyPr>
          <a:lstStyle/>
          <a:p>
            <a:pPr algn="ctr">
              <a:defRPr sz="1200" b="0">
                <a:solidFill>
                  <a:srgbClr val="BBBBCC"/>
                </a:solidFill>
                <a:latin typeface="Microsoft YaHei"/>
              </a:defRPr>
            </a:pPr>
            <a:r>
              <a:t>1</a:t>
            </a:r>
          </a:p>
        </p:txBody>
      </p:sp>
      <p:sp>
        <p:nvSpPr>
          <p:cNvPr id="60" name="Rectangle 59"/>
          <p:cNvSpPr/>
          <p:nvPr/>
        </p:nvSpPr>
        <p:spPr>
          <a:xfrm>
            <a:off x="6949440" y="4389120"/>
            <a:ext cx="2743200" cy="36576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949440" y="4389120"/>
            <a:ext cx="2743200" cy="365760"/>
          </a:xfrm>
          <a:prstGeom prst="rect">
            <a:avLst/>
          </a:prstGeom>
          <a:noFill/>
        </p:spPr>
        <p:txBody>
          <a:bodyPr wrap="square">
            <a:spAutoFit/>
          </a:bodyPr>
          <a:lstStyle/>
          <a:p>
            <a:pPr algn="ctr">
              <a:defRPr sz="1200" b="0">
                <a:solidFill>
                  <a:srgbClr val="BBBBCC"/>
                </a:solidFill>
                <a:latin typeface="Microsoft YaHei"/>
              </a:defRPr>
            </a:pPr>
            <a:r>
              <a:t>0~255 (图像像素)</a:t>
            </a:r>
          </a:p>
        </p:txBody>
      </p:sp>
      <p:sp>
        <p:nvSpPr>
          <p:cNvPr id="62" name="Rectangle 61"/>
          <p:cNvSpPr/>
          <p:nvPr/>
        </p:nvSpPr>
        <p:spPr>
          <a:xfrm>
            <a:off x="548640" y="4754880"/>
            <a:ext cx="2286000" cy="36576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48640" y="4754880"/>
            <a:ext cx="2286000" cy="365760"/>
          </a:xfrm>
          <a:prstGeom prst="rect">
            <a:avLst/>
          </a:prstGeom>
          <a:noFill/>
        </p:spPr>
        <p:txBody>
          <a:bodyPr wrap="square">
            <a:spAutoFit/>
          </a:bodyPr>
          <a:lstStyle/>
          <a:p>
            <a:pPr algn="ctr">
              <a:defRPr sz="1200" b="1">
                <a:solidFill>
                  <a:srgbClr val="00D2FF"/>
                </a:solidFill>
                <a:latin typeface="Microsoft YaHei"/>
              </a:defRPr>
            </a:pPr>
            <a:r>
              <a:t>浮点数</a:t>
            </a:r>
          </a:p>
        </p:txBody>
      </p:sp>
      <p:sp>
        <p:nvSpPr>
          <p:cNvPr id="64" name="Rectangle 63"/>
          <p:cNvSpPr/>
          <p:nvPr/>
        </p:nvSpPr>
        <p:spPr>
          <a:xfrm>
            <a:off x="2834640" y="4754880"/>
            <a:ext cx="2286000" cy="36576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834640" y="4754880"/>
            <a:ext cx="2286000" cy="365760"/>
          </a:xfrm>
          <a:prstGeom prst="rect">
            <a:avLst/>
          </a:prstGeom>
          <a:noFill/>
        </p:spPr>
        <p:txBody>
          <a:bodyPr wrap="square">
            <a:spAutoFit/>
          </a:bodyPr>
          <a:lstStyle/>
          <a:p>
            <a:pPr algn="ctr">
              <a:defRPr sz="1200" b="0">
                <a:solidFill>
                  <a:srgbClr val="BBBBCC"/>
                </a:solidFill>
                <a:latin typeface="Microsoft YaHei"/>
              </a:defRPr>
            </a:pPr>
            <a:r>
              <a:t>float16 / float32</a:t>
            </a:r>
          </a:p>
        </p:txBody>
      </p:sp>
      <p:sp>
        <p:nvSpPr>
          <p:cNvPr id="66" name="Rectangle 65"/>
          <p:cNvSpPr/>
          <p:nvPr/>
        </p:nvSpPr>
        <p:spPr>
          <a:xfrm>
            <a:off x="5120640" y="4754880"/>
            <a:ext cx="1828800" cy="36576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120640" y="4754880"/>
            <a:ext cx="1828800" cy="365760"/>
          </a:xfrm>
          <a:prstGeom prst="rect">
            <a:avLst/>
          </a:prstGeom>
          <a:noFill/>
        </p:spPr>
        <p:txBody>
          <a:bodyPr wrap="square">
            <a:spAutoFit/>
          </a:bodyPr>
          <a:lstStyle/>
          <a:p>
            <a:pPr algn="ctr">
              <a:defRPr sz="1200" b="0">
                <a:solidFill>
                  <a:srgbClr val="BBBBCC"/>
                </a:solidFill>
                <a:latin typeface="Microsoft YaHei"/>
              </a:defRPr>
            </a:pPr>
            <a:r>
              <a:t>2 / 4</a:t>
            </a:r>
          </a:p>
        </p:txBody>
      </p:sp>
      <p:sp>
        <p:nvSpPr>
          <p:cNvPr id="68" name="Rectangle 67"/>
          <p:cNvSpPr/>
          <p:nvPr/>
        </p:nvSpPr>
        <p:spPr>
          <a:xfrm>
            <a:off x="6949440" y="4754880"/>
            <a:ext cx="2743200" cy="36576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949440" y="4754880"/>
            <a:ext cx="2743200" cy="365760"/>
          </a:xfrm>
          <a:prstGeom prst="rect">
            <a:avLst/>
          </a:prstGeom>
          <a:noFill/>
        </p:spPr>
        <p:txBody>
          <a:bodyPr wrap="square">
            <a:spAutoFit/>
          </a:bodyPr>
          <a:lstStyle/>
          <a:p>
            <a:pPr algn="ctr">
              <a:defRPr sz="1200" b="0">
                <a:solidFill>
                  <a:srgbClr val="BBBBCC"/>
                </a:solidFill>
                <a:latin typeface="Microsoft YaHei"/>
              </a:defRPr>
            </a:pPr>
            <a:r>
              <a:t>深度学习推理 / 训练</a:t>
            </a:r>
          </a:p>
        </p:txBody>
      </p:sp>
      <p:sp>
        <p:nvSpPr>
          <p:cNvPr id="70" name="Rectangle 69"/>
          <p:cNvSpPr/>
          <p:nvPr/>
        </p:nvSpPr>
        <p:spPr>
          <a:xfrm>
            <a:off x="548640" y="5120640"/>
            <a:ext cx="2286000" cy="36576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48640" y="5120640"/>
            <a:ext cx="2286000" cy="365760"/>
          </a:xfrm>
          <a:prstGeom prst="rect">
            <a:avLst/>
          </a:prstGeom>
          <a:noFill/>
        </p:spPr>
        <p:txBody>
          <a:bodyPr wrap="square">
            <a:spAutoFit/>
          </a:bodyPr>
          <a:lstStyle/>
          <a:p>
            <a:pPr algn="ctr">
              <a:defRPr sz="1200" b="1">
                <a:solidFill>
                  <a:srgbClr val="00D2FF"/>
                </a:solidFill>
                <a:latin typeface="Microsoft YaHei"/>
              </a:defRPr>
            </a:pPr>
            <a:r>
              <a:t>浮点数</a:t>
            </a:r>
          </a:p>
        </p:txBody>
      </p:sp>
      <p:sp>
        <p:nvSpPr>
          <p:cNvPr id="72" name="Rectangle 71"/>
          <p:cNvSpPr/>
          <p:nvPr/>
        </p:nvSpPr>
        <p:spPr>
          <a:xfrm>
            <a:off x="2834640" y="5120640"/>
            <a:ext cx="2286000" cy="36576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834640" y="5120640"/>
            <a:ext cx="2286000" cy="365760"/>
          </a:xfrm>
          <a:prstGeom prst="rect">
            <a:avLst/>
          </a:prstGeom>
          <a:noFill/>
        </p:spPr>
        <p:txBody>
          <a:bodyPr wrap="square">
            <a:spAutoFit/>
          </a:bodyPr>
          <a:lstStyle/>
          <a:p>
            <a:pPr algn="ctr">
              <a:defRPr sz="1200" b="0">
                <a:solidFill>
                  <a:srgbClr val="BBBBCC"/>
                </a:solidFill>
                <a:latin typeface="Microsoft YaHei"/>
              </a:defRPr>
            </a:pPr>
            <a:r>
              <a:t>float64</a:t>
            </a:r>
          </a:p>
        </p:txBody>
      </p:sp>
      <p:sp>
        <p:nvSpPr>
          <p:cNvPr id="74" name="Rectangle 73"/>
          <p:cNvSpPr/>
          <p:nvPr/>
        </p:nvSpPr>
        <p:spPr>
          <a:xfrm>
            <a:off x="5120640" y="5120640"/>
            <a:ext cx="1828800" cy="36576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120640" y="5120640"/>
            <a:ext cx="1828800" cy="365760"/>
          </a:xfrm>
          <a:prstGeom prst="rect">
            <a:avLst/>
          </a:prstGeom>
          <a:noFill/>
        </p:spPr>
        <p:txBody>
          <a:bodyPr wrap="square">
            <a:spAutoFit/>
          </a:bodyPr>
          <a:lstStyle/>
          <a:p>
            <a:pPr algn="ctr">
              <a:defRPr sz="1200" b="0">
                <a:solidFill>
                  <a:srgbClr val="BBBBCC"/>
                </a:solidFill>
                <a:latin typeface="Microsoft YaHei"/>
              </a:defRPr>
            </a:pPr>
            <a:r>
              <a:t>8</a:t>
            </a:r>
          </a:p>
        </p:txBody>
      </p:sp>
      <p:sp>
        <p:nvSpPr>
          <p:cNvPr id="76" name="Rectangle 75"/>
          <p:cNvSpPr/>
          <p:nvPr/>
        </p:nvSpPr>
        <p:spPr>
          <a:xfrm>
            <a:off x="6949440" y="5120640"/>
            <a:ext cx="2743200" cy="36576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949440" y="5120640"/>
            <a:ext cx="2743200" cy="365760"/>
          </a:xfrm>
          <a:prstGeom prst="rect">
            <a:avLst/>
          </a:prstGeom>
          <a:noFill/>
        </p:spPr>
        <p:txBody>
          <a:bodyPr wrap="square">
            <a:spAutoFit/>
          </a:bodyPr>
          <a:lstStyle/>
          <a:p>
            <a:pPr algn="ctr">
              <a:defRPr sz="1200" b="0">
                <a:solidFill>
                  <a:srgbClr val="BBBBCC"/>
                </a:solidFill>
                <a:latin typeface="Microsoft YaHei"/>
              </a:defRPr>
            </a:pPr>
            <a:r>
              <a:t>科学计算默认值</a:t>
            </a:r>
          </a:p>
        </p:txBody>
      </p:sp>
      <p:sp>
        <p:nvSpPr>
          <p:cNvPr id="78" name="Rectangle 77"/>
          <p:cNvSpPr/>
          <p:nvPr/>
        </p:nvSpPr>
        <p:spPr>
          <a:xfrm>
            <a:off x="548640" y="5486400"/>
            <a:ext cx="2286000" cy="36576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48640" y="5486400"/>
            <a:ext cx="2286000" cy="365760"/>
          </a:xfrm>
          <a:prstGeom prst="rect">
            <a:avLst/>
          </a:prstGeom>
          <a:noFill/>
        </p:spPr>
        <p:txBody>
          <a:bodyPr wrap="square">
            <a:spAutoFit/>
          </a:bodyPr>
          <a:lstStyle/>
          <a:p>
            <a:pPr algn="ctr">
              <a:defRPr sz="1200" b="1">
                <a:solidFill>
                  <a:srgbClr val="00D2FF"/>
                </a:solidFill>
                <a:latin typeface="Microsoft YaHei"/>
              </a:defRPr>
            </a:pPr>
            <a:r>
              <a:t>复数/布尔</a:t>
            </a:r>
          </a:p>
        </p:txBody>
      </p:sp>
      <p:sp>
        <p:nvSpPr>
          <p:cNvPr id="80" name="Rectangle 79"/>
          <p:cNvSpPr/>
          <p:nvPr/>
        </p:nvSpPr>
        <p:spPr>
          <a:xfrm>
            <a:off x="2834640" y="5486400"/>
            <a:ext cx="2286000" cy="36576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834640" y="5486400"/>
            <a:ext cx="2286000" cy="365760"/>
          </a:xfrm>
          <a:prstGeom prst="rect">
            <a:avLst/>
          </a:prstGeom>
          <a:noFill/>
        </p:spPr>
        <p:txBody>
          <a:bodyPr wrap="square">
            <a:spAutoFit/>
          </a:bodyPr>
          <a:lstStyle/>
          <a:p>
            <a:pPr algn="ctr">
              <a:defRPr sz="1200" b="0">
                <a:solidFill>
                  <a:srgbClr val="BBBBCC"/>
                </a:solidFill>
                <a:latin typeface="Microsoft YaHei"/>
              </a:defRPr>
            </a:pPr>
            <a:r>
              <a:t>complex128 / bool_</a:t>
            </a:r>
          </a:p>
        </p:txBody>
      </p:sp>
      <p:sp>
        <p:nvSpPr>
          <p:cNvPr id="82" name="Rectangle 81"/>
          <p:cNvSpPr/>
          <p:nvPr/>
        </p:nvSpPr>
        <p:spPr>
          <a:xfrm>
            <a:off x="5120640" y="5486400"/>
            <a:ext cx="1828800" cy="36576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120640" y="5486400"/>
            <a:ext cx="1828800" cy="365760"/>
          </a:xfrm>
          <a:prstGeom prst="rect">
            <a:avLst/>
          </a:prstGeom>
          <a:noFill/>
        </p:spPr>
        <p:txBody>
          <a:bodyPr wrap="square">
            <a:spAutoFit/>
          </a:bodyPr>
          <a:lstStyle/>
          <a:p>
            <a:pPr algn="ctr">
              <a:defRPr sz="1200" b="0">
                <a:solidFill>
                  <a:srgbClr val="BBBBCC"/>
                </a:solidFill>
                <a:latin typeface="Microsoft YaHei"/>
              </a:defRPr>
            </a:pPr>
            <a:r>
              <a:t>16 / 1</a:t>
            </a:r>
          </a:p>
        </p:txBody>
      </p:sp>
      <p:sp>
        <p:nvSpPr>
          <p:cNvPr id="84" name="Rectangle 83"/>
          <p:cNvSpPr/>
          <p:nvPr/>
        </p:nvSpPr>
        <p:spPr>
          <a:xfrm>
            <a:off x="6949440" y="5486400"/>
            <a:ext cx="2743200" cy="36576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949440" y="5486400"/>
            <a:ext cx="2743200" cy="365760"/>
          </a:xfrm>
          <a:prstGeom prst="rect">
            <a:avLst/>
          </a:prstGeom>
          <a:noFill/>
        </p:spPr>
        <p:txBody>
          <a:bodyPr wrap="square">
            <a:spAutoFit/>
          </a:bodyPr>
          <a:lstStyle/>
          <a:p>
            <a:pPr algn="ctr">
              <a:defRPr sz="1200" b="0">
                <a:solidFill>
                  <a:srgbClr val="BBBBCC"/>
                </a:solidFill>
                <a:latin typeface="Microsoft YaHei"/>
              </a:defRPr>
            </a:pPr>
            <a:r>
              <a:t>信号处理 / True-False</a:t>
            </a:r>
          </a:p>
        </p:txBody>
      </p:sp>
      <p:sp>
        <p:nvSpPr>
          <p:cNvPr id="86" name="TextBox 85"/>
          <p:cNvSpPr txBox="1"/>
          <p:nvPr/>
        </p:nvSpPr>
        <p:spPr>
          <a:xfrm>
            <a:off x="548640" y="6126480"/>
            <a:ext cx="10058400" cy="365760"/>
          </a:xfrm>
          <a:prstGeom prst="rect">
            <a:avLst/>
          </a:prstGeom>
          <a:noFill/>
        </p:spPr>
        <p:txBody>
          <a:bodyPr wrap="square">
            <a:spAutoFit/>
          </a:bodyPr>
          <a:lstStyle/>
          <a:p>
            <a:pPr algn="l">
              <a:defRPr sz="1400" b="1">
                <a:solidFill>
                  <a:srgbClr val="FF8C00"/>
                </a:solidFill>
                <a:latin typeface="Microsoft YaHei"/>
              </a:defRPr>
            </a:pPr>
            <a:r>
              <a:t>性能启示: 行方向遍历时C-order，列方向遍历时F-order的CPU缓存效率更高。</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2</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数组创建函数总结</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各种NumPy数组创建方法</a:t>
            </a:r>
          </a:p>
        </p:txBody>
      </p:sp>
      <p:sp>
        <p:nvSpPr>
          <p:cNvPr id="6" name="Rounded Rectangle 5"/>
          <p:cNvSpPr/>
          <p:nvPr/>
        </p:nvSpPr>
        <p:spPr>
          <a:xfrm>
            <a:off x="548640" y="1828800"/>
            <a:ext cx="5303520" cy="201168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65960"/>
            <a:ext cx="4937760" cy="1737360"/>
          </a:xfrm>
          <a:prstGeom prst="rect">
            <a:avLst/>
          </a:prstGeom>
          <a:noFill/>
        </p:spPr>
        <p:txBody>
          <a:bodyPr wrap="square">
            <a:spAutoFit/>
          </a:bodyPr>
          <a:lstStyle/>
          <a:p>
            <a:pPr>
              <a:spcAft>
                <a:spcPts val="200"/>
              </a:spcAft>
              <a:defRPr sz="1100">
                <a:solidFill>
                  <a:srgbClr val="00E696"/>
                </a:solidFill>
                <a:latin typeface="Consolas"/>
              </a:defRPr>
            </a:pPr>
            <a:r>
              <a:t># === 基本创建 ===</a:t>
            </a:r>
          </a:p>
          <a:p>
            <a:pPr>
              <a:spcAft>
                <a:spcPts val="200"/>
              </a:spcAft>
              <a:defRPr sz="1100">
                <a:solidFill>
                  <a:srgbClr val="00E696"/>
                </a:solidFill>
                <a:latin typeface="Consolas"/>
              </a:defRPr>
            </a:pPr>
            <a:r>
              <a:t>np.array([1, 2, 3])</a:t>
            </a:r>
          </a:p>
          <a:p>
            <a:pPr>
              <a:spcAft>
                <a:spcPts val="200"/>
              </a:spcAft>
              <a:defRPr sz="1100">
                <a:solidFill>
                  <a:srgbClr val="00E696"/>
                </a:solidFill>
                <a:latin typeface="Consolas"/>
              </a:defRPr>
            </a:pPr>
            <a:r>
              <a:t>np.array([[1, 2], [3, 4]], dtype=float)</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 初始化创建 ===</a:t>
            </a:r>
          </a:p>
          <a:p>
            <a:pPr>
              <a:spcAft>
                <a:spcPts val="200"/>
              </a:spcAft>
              <a:defRPr sz="1100">
                <a:solidFill>
                  <a:srgbClr val="00E696"/>
                </a:solidFill>
                <a:latin typeface="Consolas"/>
              </a:defRPr>
            </a:pPr>
            <a:r>
              <a:t>np.zeros((3, 4))        # 用0填充的3x4</a:t>
            </a:r>
          </a:p>
          <a:p>
            <a:pPr>
              <a:spcAft>
                <a:spcPts val="200"/>
              </a:spcAft>
              <a:defRPr sz="1100">
                <a:solidFill>
                  <a:srgbClr val="00E696"/>
                </a:solidFill>
                <a:latin typeface="Consolas"/>
              </a:defRPr>
            </a:pPr>
            <a:r>
              <a:t>np.ones((2, 3))         # 用1填充的2x3</a:t>
            </a:r>
          </a:p>
          <a:p>
            <a:pPr>
              <a:spcAft>
                <a:spcPts val="200"/>
              </a:spcAft>
              <a:defRPr sz="1100">
                <a:solidFill>
                  <a:srgbClr val="00E696"/>
                </a:solidFill>
                <a:latin typeface="Consolas"/>
              </a:defRPr>
            </a:pPr>
            <a:r>
              <a:t>np.full((2, 3), 7)      # 用7填充的2x3</a:t>
            </a:r>
          </a:p>
          <a:p>
            <a:pPr>
              <a:spcAft>
                <a:spcPts val="200"/>
              </a:spcAft>
              <a:defRPr sz="1100">
                <a:solidFill>
                  <a:srgbClr val="00E696"/>
                </a:solidFill>
                <a:latin typeface="Consolas"/>
              </a:defRPr>
            </a:pPr>
            <a:r>
              <a:t>np.empty((3, 3))        # 不初始化直接分配</a:t>
            </a:r>
          </a:p>
          <a:p>
            <a:pPr>
              <a:spcAft>
                <a:spcPts val="200"/>
              </a:spcAft>
              <a:defRPr sz="1100">
                <a:solidFill>
                  <a:srgbClr val="00E696"/>
                </a:solidFill>
                <a:latin typeface="Consolas"/>
              </a:defRPr>
            </a:pPr>
            <a:r>
              <a:t>np.eye(4)               # 4x4单位矩阵</a:t>
            </a:r>
          </a:p>
        </p:txBody>
      </p:sp>
      <p:sp>
        <p:nvSpPr>
          <p:cNvPr id="8" name="Rounded Rectangle 7"/>
          <p:cNvSpPr/>
          <p:nvPr/>
        </p:nvSpPr>
        <p:spPr>
          <a:xfrm>
            <a:off x="6217920" y="1828800"/>
            <a:ext cx="5303520" cy="201168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965960"/>
            <a:ext cx="4937760" cy="1737360"/>
          </a:xfrm>
          <a:prstGeom prst="rect">
            <a:avLst/>
          </a:prstGeom>
          <a:noFill/>
        </p:spPr>
        <p:txBody>
          <a:bodyPr wrap="square">
            <a:spAutoFit/>
          </a:bodyPr>
          <a:lstStyle/>
          <a:p>
            <a:pPr>
              <a:spcAft>
                <a:spcPts val="200"/>
              </a:spcAft>
              <a:defRPr sz="1100">
                <a:solidFill>
                  <a:srgbClr val="00E696"/>
                </a:solidFill>
                <a:latin typeface="Consolas"/>
              </a:defRPr>
            </a:pPr>
            <a:r>
              <a:t># === 范围创建 ===</a:t>
            </a:r>
          </a:p>
          <a:p>
            <a:pPr>
              <a:spcAft>
                <a:spcPts val="200"/>
              </a:spcAft>
              <a:defRPr sz="1100">
                <a:solidFill>
                  <a:srgbClr val="00E696"/>
                </a:solidFill>
                <a:latin typeface="Consolas"/>
              </a:defRPr>
            </a:pPr>
            <a:r>
              <a:t>np.arange(0, 10, 2)     # [0, 2, 4, 6, 8]</a:t>
            </a:r>
          </a:p>
          <a:p>
            <a:pPr>
              <a:spcAft>
                <a:spcPts val="200"/>
              </a:spcAft>
              <a:defRPr sz="1100">
                <a:solidFill>
                  <a:srgbClr val="00E696"/>
                </a:solidFill>
                <a:latin typeface="Consolas"/>
              </a:defRPr>
            </a:pPr>
            <a:r>
              <a:t>np.linspace(0, 1, 5)    # [0, 0.25, 0.5, 0.75, 1]</a:t>
            </a:r>
          </a:p>
          <a:p>
            <a:pPr>
              <a:spcAft>
                <a:spcPts val="200"/>
              </a:spcAft>
              <a:defRPr sz="1100">
                <a:solidFill>
                  <a:srgbClr val="00E696"/>
                </a:solidFill>
                <a:latin typeface="Consolas"/>
              </a:defRPr>
            </a:pPr>
            <a:r>
              <a:t>np.logspace(0, 3, 4)    # [1, 10, 100, 1000]</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 随机数创建 ===</a:t>
            </a:r>
          </a:p>
          <a:p>
            <a:pPr>
              <a:spcAft>
                <a:spcPts val="200"/>
              </a:spcAft>
              <a:defRPr sz="1100">
                <a:solidFill>
                  <a:srgbClr val="00E696"/>
                </a:solidFill>
                <a:latin typeface="Consolas"/>
              </a:defRPr>
            </a:pPr>
            <a:r>
              <a:t>np.random.seed(42)</a:t>
            </a:r>
          </a:p>
          <a:p>
            <a:pPr>
              <a:spcAft>
                <a:spcPts val="200"/>
              </a:spcAft>
              <a:defRPr sz="1100">
                <a:solidFill>
                  <a:srgbClr val="00E696"/>
                </a:solidFill>
                <a:latin typeface="Consolas"/>
              </a:defRPr>
            </a:pPr>
            <a:r>
              <a:t>np.random.rand(3, 4)          # U(0,1)</a:t>
            </a:r>
          </a:p>
          <a:p>
            <a:pPr>
              <a:spcAft>
                <a:spcPts val="200"/>
              </a:spcAft>
              <a:defRPr sz="1100">
                <a:solidFill>
                  <a:srgbClr val="00E696"/>
                </a:solidFill>
                <a:latin typeface="Consolas"/>
              </a:defRPr>
            </a:pPr>
            <a:r>
              <a:t>np.random.randn(3, 4)         # N(0,1)</a:t>
            </a:r>
          </a:p>
          <a:p>
            <a:pPr>
              <a:spcAft>
                <a:spcPts val="200"/>
              </a:spcAft>
              <a:defRPr sz="1100">
                <a:solidFill>
                  <a:srgbClr val="00E696"/>
                </a:solidFill>
                <a:latin typeface="Consolas"/>
              </a:defRPr>
            </a:pPr>
            <a:r>
              <a:t>np.random.randint(0, 10, (3,4))# 整数随机数</a:t>
            </a:r>
          </a:p>
        </p:txBody>
      </p:sp>
      <p:sp>
        <p:nvSpPr>
          <p:cNvPr id="10" name="Rounded Rectangle 9"/>
          <p:cNvSpPr/>
          <p:nvPr/>
        </p:nvSpPr>
        <p:spPr>
          <a:xfrm>
            <a:off x="548640" y="4114800"/>
            <a:ext cx="10972800" cy="2560320"/>
          </a:xfrm>
          <a:prstGeom prst="roundRect">
            <a:avLst>
              <a:gd name="adj" fmla="val 5000"/>
            </a:avLst>
          </a:prstGeom>
          <a:solidFill>
            <a:srgbClr val="25253D"/>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206240"/>
            <a:ext cx="10607040" cy="365760"/>
          </a:xfrm>
          <a:prstGeom prst="rect">
            <a:avLst/>
          </a:prstGeom>
          <a:noFill/>
        </p:spPr>
        <p:txBody>
          <a:bodyPr wrap="square">
            <a:spAutoFit/>
          </a:bodyPr>
          <a:lstStyle/>
          <a:p>
            <a:pPr algn="l">
              <a:defRPr sz="1500" b="1">
                <a:solidFill>
                  <a:srgbClr val="0096FF"/>
                </a:solidFill>
                <a:latin typeface="Microsoft YaHei"/>
              </a:defRPr>
            </a:pPr>
            <a:r>
              <a:t>主要创建函数比较</a:t>
            </a:r>
          </a:p>
        </p:txBody>
      </p:sp>
      <p:sp>
        <p:nvSpPr>
          <p:cNvPr id="12" name="TextBox 11"/>
          <p:cNvSpPr txBox="1"/>
          <p:nvPr/>
        </p:nvSpPr>
        <p:spPr>
          <a:xfrm>
            <a:off x="731520" y="4572000"/>
            <a:ext cx="10607040" cy="2011680"/>
          </a:xfrm>
          <a:prstGeom prst="rect">
            <a:avLst/>
          </a:prstGeom>
          <a:noFill/>
        </p:spPr>
        <p:txBody>
          <a:bodyPr wrap="square">
            <a:spAutoFit/>
          </a:bodyPr>
          <a:lstStyle/>
          <a:p>
            <a:pPr>
              <a:spcAft>
                <a:spcPts val="400"/>
              </a:spcAft>
              <a:defRPr sz="1300">
                <a:solidFill>
                  <a:srgbClr val="BBBBCC"/>
                </a:solidFill>
                <a:latin typeface="Microsoft YaHei"/>
              </a:defRPr>
            </a:pPr>
            <a:r>
              <a:t>zeros/ones/full/empty: 创建特定值初始化的数组 (传入shape元组)</a:t>
            </a:r>
          </a:p>
          <a:p>
            <a:pPr>
              <a:spcAft>
                <a:spcPts val="400"/>
              </a:spcAft>
              <a:defRPr sz="1300">
                <a:solidFill>
                  <a:srgbClr val="BBBBCC"/>
                </a:solidFill>
                <a:latin typeface="Microsoft YaHei"/>
              </a:defRPr>
            </a:pPr>
            <a:r>
              <a:t>eye/diag: 创建单位矩阵、对角矩阵 (线性代数运算必需)</a:t>
            </a:r>
          </a:p>
          <a:p>
            <a:pPr>
              <a:spcAft>
                <a:spcPts val="400"/>
              </a:spcAft>
              <a:defRPr sz="1300">
                <a:solidFill>
                  <a:srgbClr val="BBBBCC"/>
                </a:solidFill>
                <a:latin typeface="Microsoft YaHei"/>
              </a:defRPr>
            </a:pPr>
            <a:r>
              <a:t>arange: 整数范围 (类似Python range), linspace: 均匀分割 (常用于可视化)</a:t>
            </a:r>
          </a:p>
          <a:p>
            <a:pPr>
              <a:spcAft>
                <a:spcPts val="400"/>
              </a:spcAft>
              <a:defRPr sz="1300">
                <a:solidFill>
                  <a:srgbClr val="BBBBCC"/>
                </a:solidFill>
                <a:latin typeface="Microsoft YaHei"/>
              </a:defRPr>
            </a:pPr>
            <a:r>
              <a:t>logspace: 对数尺度均匀分割 (学习率搜索等)</a:t>
            </a:r>
          </a:p>
          <a:p>
            <a:pPr>
              <a:spcAft>
                <a:spcPts val="400"/>
              </a:spcAft>
              <a:defRPr sz="1300">
                <a:solidFill>
                  <a:srgbClr val="BBBBCC"/>
                </a:solidFill>
                <a:latin typeface="Microsoft YaHei"/>
              </a:defRPr>
            </a:pPr>
            <a:r>
              <a:t>random.rand/randn: 均匀分布/正态分布随机数 (ML权重初始化中使用)</a:t>
            </a:r>
          </a:p>
          <a:p>
            <a:pPr>
              <a:spcAft>
                <a:spcPts val="400"/>
              </a:spcAft>
              <a:defRPr sz="1300">
                <a:solidFill>
                  <a:srgbClr val="BBBBCC"/>
                </a:solidFill>
                <a:latin typeface="Microsoft YaHei"/>
              </a:defRPr>
            </a:pPr>
            <a:r>
              <a:t>random.choice: 随机选择 (自助法、交叉验证等)</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2</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数组索引与切片</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4种索引方法 (Harris et al., 2020)</a:t>
            </a:r>
          </a:p>
        </p:txBody>
      </p:sp>
      <p:sp>
        <p:nvSpPr>
          <p:cNvPr id="6" name="Rounded Rectangle 5"/>
          <p:cNvSpPr/>
          <p:nvPr/>
        </p:nvSpPr>
        <p:spPr>
          <a:xfrm>
            <a:off x="548640" y="1828800"/>
            <a:ext cx="5486400" cy="438912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65960"/>
            <a:ext cx="5120640" cy="4114800"/>
          </a:xfrm>
          <a:prstGeom prst="rect">
            <a:avLst/>
          </a:prstGeom>
          <a:noFill/>
        </p:spPr>
        <p:txBody>
          <a:bodyPr wrap="square">
            <a:spAutoFit/>
          </a:bodyPr>
          <a:lstStyle/>
          <a:p>
            <a:pPr>
              <a:spcAft>
                <a:spcPts val="200"/>
              </a:spcAft>
              <a:defRPr sz="1100">
                <a:solidFill>
                  <a:srgbClr val="00E696"/>
                </a:solidFill>
                <a:latin typeface="Consolas"/>
              </a:defRPr>
            </a:pPr>
            <a:r>
              <a:t>arr = np.array([[1,  2,  3,  4],</a:t>
            </a:r>
          </a:p>
          <a:p>
            <a:pPr>
              <a:spcAft>
                <a:spcPts val="200"/>
              </a:spcAft>
              <a:defRPr sz="1100">
                <a:solidFill>
                  <a:srgbClr val="00E696"/>
                </a:solidFill>
                <a:latin typeface="Consolas"/>
              </a:defRPr>
            </a:pPr>
            <a:r>
              <a:t>                [5,  6,  7,  8],</a:t>
            </a:r>
          </a:p>
          <a:p>
            <a:pPr>
              <a:spcAft>
                <a:spcPts val="200"/>
              </a:spcAft>
              <a:defRPr sz="1100">
                <a:solidFill>
                  <a:srgbClr val="00E696"/>
                </a:solidFill>
                <a:latin typeface="Consolas"/>
              </a:defRPr>
            </a:pPr>
            <a:r>
              <a:t>                [9, 10, 11, 12]])</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1. 基本索引 (Basic Indexing)</a:t>
            </a:r>
          </a:p>
          <a:p>
            <a:pPr>
              <a:spcAft>
                <a:spcPts val="200"/>
              </a:spcAft>
              <a:defRPr sz="1100">
                <a:solidFill>
                  <a:srgbClr val="00E696"/>
                </a:solidFill>
                <a:latin typeface="Consolas"/>
              </a:defRPr>
            </a:pPr>
            <a:r>
              <a:t>arr[0, 1]              # 2</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2. 切片 (Slicing) -- 返回视图(view)</a:t>
            </a:r>
          </a:p>
          <a:p>
            <a:pPr>
              <a:spcAft>
                <a:spcPts val="200"/>
              </a:spcAft>
              <a:defRPr sz="1100">
                <a:solidFill>
                  <a:srgbClr val="00E696"/>
                </a:solidFill>
                <a:latin typeface="Consolas"/>
              </a:defRPr>
            </a:pPr>
            <a:r>
              <a:t>arr[0:2, 1:3]          # [[2, 3], [6, 7]]</a:t>
            </a:r>
          </a:p>
          <a:p>
            <a:pPr>
              <a:spcAft>
                <a:spcPts val="200"/>
              </a:spcAft>
              <a:defRPr sz="1100">
                <a:solidFill>
                  <a:srgbClr val="00E696"/>
                </a:solidFill>
                <a:latin typeface="Consolas"/>
              </a:defRPr>
            </a:pPr>
            <a:r>
              <a:t>arr[:, 2]              # [3, 7, 11]</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3. 花式索引 (Fancy) -- 返回副本(copy)</a:t>
            </a:r>
          </a:p>
          <a:p>
            <a:pPr>
              <a:spcAft>
                <a:spcPts val="200"/>
              </a:spcAft>
              <a:defRPr sz="1100">
                <a:solidFill>
                  <a:srgbClr val="00E696"/>
                </a:solidFill>
                <a:latin typeface="Consolas"/>
              </a:defRPr>
            </a:pPr>
            <a:r>
              <a:t>arr[[0, 2], [1, 3]]    # [2, 12]</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4. 布尔索引 (Boolean)</a:t>
            </a:r>
          </a:p>
          <a:p>
            <a:pPr>
              <a:spcAft>
                <a:spcPts val="200"/>
              </a:spcAft>
              <a:defRPr sz="1100">
                <a:solidFill>
                  <a:srgbClr val="00E696"/>
                </a:solidFill>
                <a:latin typeface="Consolas"/>
              </a:defRPr>
            </a:pPr>
            <a:r>
              <a:t>arr[arr &gt; 5]           # [6,7,8,9,10,11,12]</a:t>
            </a:r>
          </a:p>
        </p:txBody>
      </p:sp>
      <p:sp>
        <p:nvSpPr>
          <p:cNvPr id="8" name="Rounded Rectangle 7"/>
          <p:cNvSpPr/>
          <p:nvPr/>
        </p:nvSpPr>
        <p:spPr>
          <a:xfrm>
            <a:off x="6400800" y="1828800"/>
            <a:ext cx="5120640" cy="1828800"/>
          </a:xfrm>
          <a:prstGeom prst="roundRect">
            <a:avLst>
              <a:gd name="adj" fmla="val 5000"/>
            </a:avLst>
          </a:prstGeom>
          <a:solidFill>
            <a:srgbClr val="25253D"/>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920240"/>
            <a:ext cx="4754880" cy="365760"/>
          </a:xfrm>
          <a:prstGeom prst="rect">
            <a:avLst/>
          </a:prstGeom>
          <a:noFill/>
        </p:spPr>
        <p:txBody>
          <a:bodyPr wrap="square">
            <a:spAutoFit/>
          </a:bodyPr>
          <a:lstStyle/>
          <a:p>
            <a:pPr algn="l">
              <a:defRPr sz="1500" b="1">
                <a:solidFill>
                  <a:srgbClr val="FF8C00"/>
                </a:solidFill>
                <a:latin typeface="Microsoft YaHei"/>
              </a:defRPr>
            </a:pPr>
            <a:r>
              <a:t>View vs Copy 核心区别</a:t>
            </a:r>
          </a:p>
        </p:txBody>
      </p:sp>
      <p:sp>
        <p:nvSpPr>
          <p:cNvPr id="10" name="TextBox 9"/>
          <p:cNvSpPr txBox="1"/>
          <p:nvPr/>
        </p:nvSpPr>
        <p:spPr>
          <a:xfrm>
            <a:off x="6583680" y="2286000"/>
            <a:ext cx="4754880" cy="1280160"/>
          </a:xfrm>
          <a:prstGeom prst="rect">
            <a:avLst/>
          </a:prstGeom>
          <a:noFill/>
        </p:spPr>
        <p:txBody>
          <a:bodyPr wrap="square">
            <a:spAutoFit/>
          </a:bodyPr>
          <a:lstStyle/>
          <a:p>
            <a:pPr>
              <a:spcAft>
                <a:spcPts val="400"/>
              </a:spcAft>
              <a:defRPr sz="1300">
                <a:solidFill>
                  <a:srgbClr val="BBBBCC"/>
                </a:solidFill>
                <a:latin typeface="Microsoft YaHei"/>
              </a:defRPr>
            </a:pPr>
            <a:r>
              <a:t>切片 (a[1:4]): 返回View -&gt; 共享内存</a:t>
            </a:r>
          </a:p>
          <a:p>
            <a:pPr>
              <a:spcAft>
                <a:spcPts val="400"/>
              </a:spcAft>
              <a:defRPr sz="1300">
                <a:solidFill>
                  <a:srgbClr val="BBBBCC"/>
                </a:solidFill>
                <a:latin typeface="Microsoft YaHei"/>
              </a:defRPr>
            </a:pPr>
            <a:r>
              <a:t>转置 (a.T): 返回View -&gt; 只交换stride</a:t>
            </a:r>
          </a:p>
          <a:p>
            <a:pPr>
              <a:spcAft>
                <a:spcPts val="400"/>
              </a:spcAft>
              <a:defRPr sz="1300">
                <a:solidFill>
                  <a:srgbClr val="BBBBCC"/>
                </a:solidFill>
                <a:latin typeface="Microsoft YaHei"/>
              </a:defRPr>
            </a:pPr>
            <a:r>
              <a:t>花式索引 (a[[0,2]]): 返回Copy</a:t>
            </a:r>
          </a:p>
          <a:p>
            <a:pPr>
              <a:spcAft>
                <a:spcPts val="400"/>
              </a:spcAft>
              <a:defRPr sz="1300">
                <a:solidFill>
                  <a:srgbClr val="BBBBCC"/>
                </a:solidFill>
                <a:latin typeface="Microsoft YaHei"/>
              </a:defRPr>
            </a:pPr>
            <a:r>
              <a:t>布尔索引 (a[mask]): 返回Copy</a:t>
            </a:r>
          </a:p>
          <a:p>
            <a:pPr>
              <a:spcAft>
                <a:spcPts val="400"/>
              </a:spcAft>
              <a:defRPr sz="1300">
                <a:solidFill>
                  <a:srgbClr val="BBBBCC"/>
                </a:solidFill>
                <a:latin typeface="Microsoft YaHei"/>
              </a:defRPr>
            </a:pPr>
            <a:r>
              <a:t>显式复制: a.copy()始终返回Copy</a:t>
            </a:r>
          </a:p>
        </p:txBody>
      </p:sp>
      <p:sp>
        <p:nvSpPr>
          <p:cNvPr id="11" name="Rounded Rectangle 10"/>
          <p:cNvSpPr/>
          <p:nvPr/>
        </p:nvSpPr>
        <p:spPr>
          <a:xfrm>
            <a:off x="6400800" y="3931920"/>
            <a:ext cx="5120640" cy="2286000"/>
          </a:xfrm>
          <a:prstGeom prst="roundRect">
            <a:avLst>
              <a:gd name="adj" fmla="val 5000"/>
            </a:avLst>
          </a:prstGeom>
          <a:solidFill>
            <a:srgbClr val="25253D"/>
          </a:solidFill>
          <a:ln w="12700">
            <a:solidFill>
              <a:srgbClr val="FF4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4023360"/>
            <a:ext cx="4754880" cy="365760"/>
          </a:xfrm>
          <a:prstGeom prst="rect">
            <a:avLst/>
          </a:prstGeom>
          <a:noFill/>
        </p:spPr>
        <p:txBody>
          <a:bodyPr wrap="square">
            <a:spAutoFit/>
          </a:bodyPr>
          <a:lstStyle/>
          <a:p>
            <a:pPr algn="l">
              <a:defRPr sz="1500" b="1">
                <a:solidFill>
                  <a:srgbClr val="FF4545"/>
                </a:solidFill>
                <a:latin typeface="Microsoft YaHei"/>
              </a:defRPr>
            </a:pPr>
            <a:r>
              <a:t>注意事项</a:t>
            </a:r>
          </a:p>
        </p:txBody>
      </p:sp>
      <p:sp>
        <p:nvSpPr>
          <p:cNvPr id="13" name="TextBox 12"/>
          <p:cNvSpPr txBox="1"/>
          <p:nvPr/>
        </p:nvSpPr>
        <p:spPr>
          <a:xfrm>
            <a:off x="6583680" y="4389120"/>
            <a:ext cx="4754880" cy="1737360"/>
          </a:xfrm>
          <a:prstGeom prst="rect">
            <a:avLst/>
          </a:prstGeom>
          <a:noFill/>
        </p:spPr>
        <p:txBody>
          <a:bodyPr wrap="square">
            <a:spAutoFit/>
          </a:bodyPr>
          <a:lstStyle/>
          <a:p>
            <a:pPr>
              <a:spcAft>
                <a:spcPts val="400"/>
              </a:spcAft>
              <a:defRPr sz="1300">
                <a:solidFill>
                  <a:srgbClr val="BBBBCC"/>
                </a:solidFill>
                <a:latin typeface="Microsoft YaHei"/>
              </a:defRPr>
            </a:pPr>
            <a:r>
              <a:t>修改View时原始数据也会改变!</a:t>
            </a:r>
          </a:p>
          <a:p>
            <a:pPr>
              <a:spcAft>
                <a:spcPts val="400"/>
              </a:spcAft>
              <a:defRPr sz="1300">
                <a:solidFill>
                  <a:srgbClr val="BBBBCC"/>
                </a:solidFill>
                <a:latin typeface="Microsoft YaHei"/>
              </a:defRPr>
            </a:pPr>
            <a:r>
              <a:t>  b = a[1:4]; b[0]=99 -&gt; a也改变!</a:t>
            </a:r>
          </a:p>
          <a:p>
            <a:pPr>
              <a:spcAft>
                <a:spcPts val="400"/>
              </a:spcAft>
              <a:defRPr sz="1300">
                <a:solidFill>
                  <a:srgbClr val="BBBBCC"/>
                </a:solidFill>
                <a:latin typeface="Microsoft YaHei"/>
              </a:defRPr>
            </a:pPr>
            <a:r>
              <a:t>安全做法: c = a[1:4].copy()</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reshape(): 尽可能返回View</a:t>
            </a:r>
          </a:p>
          <a:p>
            <a:pPr>
              <a:spcAft>
                <a:spcPts val="400"/>
              </a:spcAft>
              <a:defRPr sz="1300">
                <a:solidFill>
                  <a:srgbClr val="BBBBCC"/>
                </a:solidFill>
                <a:latin typeface="Microsoft YaHei"/>
              </a:defRPr>
            </a:pPr>
            <a:r>
              <a:t>flatten(): 始终返回Copy</a:t>
            </a:r>
          </a:p>
          <a:p>
            <a:pPr>
              <a:spcAft>
                <a:spcPts val="400"/>
              </a:spcAft>
              <a:defRPr sz="1300">
                <a:solidFill>
                  <a:srgbClr val="BBBBCC"/>
                </a:solidFill>
                <a:latin typeface="Microsoft YaHei"/>
              </a:defRPr>
            </a:pPr>
            <a:r>
              <a:t>ravel(): 尽可能返回View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2</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广播(Broadcasting): 3条规则</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不同大小数组间运算的自动机制</a:t>
            </a:r>
          </a:p>
        </p:txBody>
      </p:sp>
      <p:sp>
        <p:nvSpPr>
          <p:cNvPr id="6" name="Rounded Rectangle 5"/>
          <p:cNvSpPr/>
          <p:nvPr/>
        </p:nvSpPr>
        <p:spPr>
          <a:xfrm>
            <a:off x="548640" y="1828800"/>
            <a:ext cx="10972800" cy="1188720"/>
          </a:xfrm>
          <a:prstGeom prst="roundRect">
            <a:avLst>
              <a:gd name="adj" fmla="val 5000"/>
            </a:avLst>
          </a:prstGeom>
          <a:solidFill>
            <a:srgbClr val="25253D"/>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20240"/>
            <a:ext cx="10607040" cy="365760"/>
          </a:xfrm>
          <a:prstGeom prst="rect">
            <a:avLst/>
          </a:prstGeom>
          <a:noFill/>
        </p:spPr>
        <p:txBody>
          <a:bodyPr wrap="square">
            <a:spAutoFit/>
          </a:bodyPr>
          <a:lstStyle/>
          <a:p>
            <a:pPr algn="l">
              <a:defRPr sz="1500" b="1">
                <a:solidFill>
                  <a:srgbClr val="00D2FF"/>
                </a:solidFill>
                <a:latin typeface="Microsoft YaHei"/>
              </a:defRPr>
            </a:pPr>
            <a:r>
              <a:t>规则1: 对齐维度数</a:t>
            </a:r>
          </a:p>
        </p:txBody>
      </p:sp>
      <p:sp>
        <p:nvSpPr>
          <p:cNvPr id="8" name="TextBox 7"/>
          <p:cNvSpPr txBox="1"/>
          <p:nvPr/>
        </p:nvSpPr>
        <p:spPr>
          <a:xfrm>
            <a:off x="731520" y="2286000"/>
            <a:ext cx="10607040" cy="640080"/>
          </a:xfrm>
          <a:prstGeom prst="rect">
            <a:avLst/>
          </a:prstGeom>
          <a:noFill/>
        </p:spPr>
        <p:txBody>
          <a:bodyPr wrap="square">
            <a:spAutoFit/>
          </a:bodyPr>
          <a:lstStyle/>
          <a:p>
            <a:pPr>
              <a:spcAft>
                <a:spcPts val="400"/>
              </a:spcAft>
              <a:defRPr sz="1300">
                <a:solidFill>
                  <a:srgbClr val="BBBBCC"/>
                </a:solidFill>
                <a:latin typeface="Microsoft YaHei"/>
              </a:defRPr>
            </a:pPr>
            <a:r>
              <a:t>当两个数组的维度数(ndim)不同时，在维度数较少的数组shape前面添加1。</a:t>
            </a:r>
          </a:p>
          <a:p>
            <a:pPr>
              <a:spcAft>
                <a:spcPts val="400"/>
              </a:spcAft>
              <a:defRPr sz="1300">
                <a:solidFill>
                  <a:srgbClr val="BBBBCC"/>
                </a:solidFill>
                <a:latin typeface="Microsoft YaHei"/>
              </a:defRPr>
            </a:pPr>
            <a:r>
              <a:t>例: shape (3,) -&gt; (1, 3)   |   shape (4,) -&gt; (1, 4)   |   shape (5,) -&gt; (1, 1, 5)</a:t>
            </a:r>
          </a:p>
        </p:txBody>
      </p:sp>
      <p:sp>
        <p:nvSpPr>
          <p:cNvPr id="9" name="Rounded Rectangle 8"/>
          <p:cNvSpPr/>
          <p:nvPr/>
        </p:nvSpPr>
        <p:spPr>
          <a:xfrm>
            <a:off x="548640" y="3200400"/>
            <a:ext cx="10972800" cy="118872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291840"/>
            <a:ext cx="10607040" cy="365760"/>
          </a:xfrm>
          <a:prstGeom prst="rect">
            <a:avLst/>
          </a:prstGeom>
          <a:noFill/>
        </p:spPr>
        <p:txBody>
          <a:bodyPr wrap="square">
            <a:spAutoFit/>
          </a:bodyPr>
          <a:lstStyle/>
          <a:p>
            <a:pPr algn="l">
              <a:defRPr sz="1500" b="1">
                <a:solidFill>
                  <a:srgbClr val="00E696"/>
                </a:solidFill>
                <a:latin typeface="Microsoft YaHei"/>
              </a:defRPr>
            </a:pPr>
            <a:r>
              <a:t>规则2: 检查兼容性</a:t>
            </a:r>
          </a:p>
        </p:txBody>
      </p:sp>
      <p:sp>
        <p:nvSpPr>
          <p:cNvPr id="11" name="TextBox 10"/>
          <p:cNvSpPr txBox="1"/>
          <p:nvPr/>
        </p:nvSpPr>
        <p:spPr>
          <a:xfrm>
            <a:off x="731520" y="3657600"/>
            <a:ext cx="10607040" cy="640080"/>
          </a:xfrm>
          <a:prstGeom prst="rect">
            <a:avLst/>
          </a:prstGeom>
          <a:noFill/>
        </p:spPr>
        <p:txBody>
          <a:bodyPr wrap="square">
            <a:spAutoFit/>
          </a:bodyPr>
          <a:lstStyle/>
          <a:p>
            <a:pPr>
              <a:spcAft>
                <a:spcPts val="400"/>
              </a:spcAft>
              <a:defRPr sz="1300">
                <a:solidFill>
                  <a:srgbClr val="BBBBCC"/>
                </a:solidFill>
                <a:latin typeface="Microsoft YaHei"/>
              </a:defRPr>
            </a:pPr>
            <a:r>
              <a:t>在每个维度上，大小相同或其中一个为1时兼容(compatible)。</a:t>
            </a:r>
          </a:p>
          <a:p>
            <a:pPr>
              <a:spcAft>
                <a:spcPts val="400"/>
              </a:spcAft>
              <a:defRPr sz="1300">
                <a:solidFill>
                  <a:srgbClr val="BBBBCC"/>
                </a:solidFill>
                <a:latin typeface="Microsoft YaHei"/>
              </a:defRPr>
            </a:pPr>
            <a:r>
              <a:t>不兼容时抛出ValueError。例: (3,) + (4,) -&gt; 3 != 4 且都不是1 -&gt; ERROR</a:t>
            </a:r>
          </a:p>
        </p:txBody>
      </p:sp>
      <p:sp>
        <p:nvSpPr>
          <p:cNvPr id="12" name="Rounded Rectangle 11"/>
          <p:cNvSpPr/>
          <p:nvPr/>
        </p:nvSpPr>
        <p:spPr>
          <a:xfrm>
            <a:off x="548640" y="4572000"/>
            <a:ext cx="10972800" cy="1188720"/>
          </a:xfrm>
          <a:prstGeom prst="roundRect">
            <a:avLst>
              <a:gd name="adj" fmla="val 5000"/>
            </a:avLst>
          </a:prstGeom>
          <a:solidFill>
            <a:srgbClr val="25253D"/>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663440"/>
            <a:ext cx="10607040" cy="365760"/>
          </a:xfrm>
          <a:prstGeom prst="rect">
            <a:avLst/>
          </a:prstGeom>
          <a:noFill/>
        </p:spPr>
        <p:txBody>
          <a:bodyPr wrap="square">
            <a:spAutoFit/>
          </a:bodyPr>
          <a:lstStyle/>
          <a:p>
            <a:pPr algn="l">
              <a:defRPr sz="1500" b="1">
                <a:solidFill>
                  <a:srgbClr val="FF8C00"/>
                </a:solidFill>
                <a:latin typeface="Microsoft YaHei"/>
              </a:defRPr>
            </a:pPr>
            <a:r>
              <a:t>规则3: 虚拟扩展</a:t>
            </a:r>
          </a:p>
        </p:txBody>
      </p:sp>
      <p:sp>
        <p:nvSpPr>
          <p:cNvPr id="14" name="TextBox 13"/>
          <p:cNvSpPr txBox="1"/>
          <p:nvPr/>
        </p:nvSpPr>
        <p:spPr>
          <a:xfrm>
            <a:off x="731520" y="5029200"/>
            <a:ext cx="10607040" cy="640080"/>
          </a:xfrm>
          <a:prstGeom prst="rect">
            <a:avLst/>
          </a:prstGeom>
          <a:noFill/>
        </p:spPr>
        <p:txBody>
          <a:bodyPr wrap="square">
            <a:spAutoFit/>
          </a:bodyPr>
          <a:lstStyle/>
          <a:p>
            <a:pPr>
              <a:spcAft>
                <a:spcPts val="400"/>
              </a:spcAft>
              <a:defRPr sz="1300">
                <a:solidFill>
                  <a:srgbClr val="BBBBCC"/>
                </a:solidFill>
                <a:latin typeface="Microsoft YaHei"/>
              </a:defRPr>
            </a:pPr>
            <a:r>
              <a:t>大小为1的维度按另一个数组的大小虚拟扩展(stretch)。</a:t>
            </a:r>
          </a:p>
          <a:p>
            <a:pPr>
              <a:spcAft>
                <a:spcPts val="400"/>
              </a:spcAft>
              <a:defRPr sz="1300">
                <a:solidFill>
                  <a:srgbClr val="BBBBCC"/>
                </a:solidFill>
                <a:latin typeface="Microsoft YaHei"/>
              </a:defRPr>
            </a:pPr>
            <a:r>
              <a:t>核心: 实际上不复制数据! 内部通过将stride设为0来实现内存效率。</a:t>
            </a:r>
          </a:p>
        </p:txBody>
      </p:sp>
      <p:sp>
        <p:nvSpPr>
          <p:cNvPr id="15" name="TextBox 14"/>
          <p:cNvSpPr txBox="1"/>
          <p:nvPr/>
        </p:nvSpPr>
        <p:spPr>
          <a:xfrm>
            <a:off x="548640" y="6035040"/>
            <a:ext cx="10972800" cy="457200"/>
          </a:xfrm>
          <a:prstGeom prst="rect">
            <a:avLst/>
          </a:prstGeom>
          <a:noFill/>
        </p:spPr>
        <p:txBody>
          <a:bodyPr wrap="square">
            <a:spAutoFit/>
          </a:bodyPr>
          <a:lstStyle/>
          <a:p>
            <a:pPr algn="l">
              <a:defRPr sz="1500" b="1">
                <a:solidFill>
                  <a:srgbClr val="0096FF"/>
                </a:solidFill>
                <a:latin typeface="Microsoft YaHei"/>
              </a:defRPr>
            </a:pPr>
            <a:r>
              <a:t>例: (3,1)+(1,4) -&gt; 规则1不需要, 规则2兼容(3vs1, 1vs4), 规则3扩展 -&gt; 结果shape (3,4)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2</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广播代码示例</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在ML中的实际应用</a:t>
            </a:r>
          </a:p>
        </p:txBody>
      </p:sp>
      <p:sp>
        <p:nvSpPr>
          <p:cNvPr id="6" name="Rounded Rectangle 5"/>
          <p:cNvSpPr/>
          <p:nvPr/>
        </p:nvSpPr>
        <p:spPr>
          <a:xfrm>
            <a:off x="548640" y="1828800"/>
            <a:ext cx="5486400" cy="457200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65960"/>
            <a:ext cx="5120640" cy="4297680"/>
          </a:xfrm>
          <a:prstGeom prst="rect">
            <a:avLst/>
          </a:prstGeom>
          <a:noFill/>
        </p:spPr>
        <p:txBody>
          <a:bodyPr wrap="square">
            <a:spAutoFit/>
          </a:bodyPr>
          <a:lstStyle/>
          <a:p>
            <a:pPr>
              <a:spcAft>
                <a:spcPts val="200"/>
              </a:spcAft>
              <a:defRPr sz="1100">
                <a:solidFill>
                  <a:srgbClr val="00E696"/>
                </a:solidFill>
                <a:latin typeface="Consolas"/>
              </a:defRPr>
            </a:pPr>
            <a:r>
              <a:t># 示例1: 矩阵 + 向量</a:t>
            </a:r>
          </a:p>
          <a:p>
            <a:pPr>
              <a:spcAft>
                <a:spcPts val="200"/>
              </a:spcAft>
              <a:defRPr sz="1100">
                <a:solidFill>
                  <a:srgbClr val="00E696"/>
                </a:solidFill>
                <a:latin typeface="Consolas"/>
              </a:defRPr>
            </a:pPr>
            <a:r>
              <a:t>A = np.array([[1,2,3],[4,5,6],[7,8,9]])</a:t>
            </a:r>
          </a:p>
          <a:p>
            <a:pPr>
              <a:spcAft>
                <a:spcPts val="200"/>
              </a:spcAft>
              <a:defRPr sz="1100">
                <a:solidFill>
                  <a:srgbClr val="00E696"/>
                </a:solidFill>
                <a:latin typeface="Consolas"/>
              </a:defRPr>
            </a:pPr>
            <a:r>
              <a:t>b = np.array([10, 20, 30])</a:t>
            </a:r>
          </a:p>
          <a:p>
            <a:pPr>
              <a:spcAft>
                <a:spcPts val="200"/>
              </a:spcAft>
              <a:defRPr sz="1100">
                <a:solidFill>
                  <a:srgbClr val="00E696"/>
                </a:solidFill>
                <a:latin typeface="Consolas"/>
              </a:defRPr>
            </a:pPr>
            <a:r>
              <a:t>print(A + b)  # 每行加上b</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示例2: 列向量 + 行向量 -&gt; 矩阵 (外积模式)</a:t>
            </a:r>
          </a:p>
          <a:p>
            <a:pPr>
              <a:spcAft>
                <a:spcPts val="200"/>
              </a:spcAft>
              <a:defRPr sz="1100">
                <a:solidFill>
                  <a:srgbClr val="00E696"/>
                </a:solidFill>
                <a:latin typeface="Consolas"/>
              </a:defRPr>
            </a:pPr>
            <a:r>
              <a:t>col = np.array([[1],[2],[3]])  # (3,1)</a:t>
            </a:r>
          </a:p>
          <a:p>
            <a:pPr>
              <a:spcAft>
                <a:spcPts val="200"/>
              </a:spcAft>
              <a:defRPr sz="1100">
                <a:solidFill>
                  <a:srgbClr val="00E696"/>
                </a:solidFill>
                <a:latin typeface="Consolas"/>
              </a:defRPr>
            </a:pPr>
            <a:r>
              <a:t>row = np.array([10,20,30,40]) # (4,)--&gt;(1,4)</a:t>
            </a:r>
          </a:p>
          <a:p>
            <a:pPr>
              <a:spcAft>
                <a:spcPts val="200"/>
              </a:spcAft>
              <a:defRPr sz="1100">
                <a:solidFill>
                  <a:srgbClr val="00E696"/>
                </a:solidFill>
                <a:latin typeface="Consolas"/>
              </a:defRPr>
            </a:pPr>
            <a:r>
              <a:t>print(col + row)  # (3,4) 矩阵</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示例3: ML数据中心化(centering)</a:t>
            </a:r>
          </a:p>
          <a:p>
            <a:pPr>
              <a:spcAft>
                <a:spcPts val="200"/>
              </a:spcAft>
              <a:defRPr sz="1100">
                <a:solidFill>
                  <a:srgbClr val="00E696"/>
                </a:solidFill>
                <a:latin typeface="Consolas"/>
              </a:defRPr>
            </a:pPr>
            <a:r>
              <a:t>X = np.random.randn(100, 5)</a:t>
            </a:r>
          </a:p>
          <a:p>
            <a:pPr>
              <a:spcAft>
                <a:spcPts val="200"/>
              </a:spcAft>
              <a:defRPr sz="1100">
                <a:solidFill>
                  <a:srgbClr val="00E696"/>
                </a:solidFill>
                <a:latin typeface="Consolas"/>
              </a:defRPr>
            </a:pPr>
            <a:r>
              <a:t>mean = X.mean(axis=0)          # (5,)</a:t>
            </a:r>
          </a:p>
          <a:p>
            <a:pPr>
              <a:spcAft>
                <a:spcPts val="200"/>
              </a:spcAft>
              <a:defRPr sz="1100">
                <a:solidFill>
                  <a:srgbClr val="00E696"/>
                </a:solidFill>
                <a:latin typeface="Consolas"/>
              </a:defRPr>
            </a:pPr>
            <a:r>
              <a:t>X_centered = X - mean          # (100,5)-(5,)</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示例4: Z-score标准化</a:t>
            </a:r>
          </a:p>
          <a:p>
            <a:pPr>
              <a:spcAft>
                <a:spcPts val="200"/>
              </a:spcAft>
              <a:defRPr sz="1100">
                <a:solidFill>
                  <a:srgbClr val="00E696"/>
                </a:solidFill>
                <a:latin typeface="Consolas"/>
              </a:defRPr>
            </a:pPr>
            <a:r>
              <a:t>std = X.std(axis=0)</a:t>
            </a:r>
          </a:p>
          <a:p>
            <a:pPr>
              <a:spcAft>
                <a:spcPts val="200"/>
              </a:spcAft>
              <a:defRPr sz="1100">
                <a:solidFill>
                  <a:srgbClr val="00E696"/>
                </a:solidFill>
                <a:latin typeface="Consolas"/>
              </a:defRPr>
            </a:pPr>
            <a:r>
              <a:t>X_standardized = (X - mean) / std</a:t>
            </a:r>
          </a:p>
        </p:txBody>
      </p:sp>
      <p:sp>
        <p:nvSpPr>
          <p:cNvPr id="8" name="Rounded Rectangle 7"/>
          <p:cNvSpPr/>
          <p:nvPr/>
        </p:nvSpPr>
        <p:spPr>
          <a:xfrm>
            <a:off x="6400800" y="1828800"/>
            <a:ext cx="5120640" cy="2286000"/>
          </a:xfrm>
          <a:prstGeom prst="roundRect">
            <a:avLst>
              <a:gd name="adj" fmla="val 5000"/>
            </a:avLst>
          </a:prstGeom>
          <a:solidFill>
            <a:srgbClr val="25253D"/>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920240"/>
            <a:ext cx="4754880" cy="365760"/>
          </a:xfrm>
          <a:prstGeom prst="rect">
            <a:avLst/>
          </a:prstGeom>
          <a:noFill/>
        </p:spPr>
        <p:txBody>
          <a:bodyPr wrap="square">
            <a:spAutoFit/>
          </a:bodyPr>
          <a:lstStyle/>
          <a:p>
            <a:pPr algn="l">
              <a:defRPr sz="1500" b="1">
                <a:solidFill>
                  <a:srgbClr val="00D2FF"/>
                </a:solidFill>
                <a:latin typeface="Microsoft YaHei"/>
              </a:defRPr>
            </a:pPr>
            <a:r>
              <a:t>可视化说明: (3,3) + (3,)</a:t>
            </a:r>
          </a:p>
        </p:txBody>
      </p:sp>
      <p:sp>
        <p:nvSpPr>
          <p:cNvPr id="10" name="TextBox 9"/>
          <p:cNvSpPr txBox="1"/>
          <p:nvPr/>
        </p:nvSpPr>
        <p:spPr>
          <a:xfrm>
            <a:off x="6583680" y="2286000"/>
            <a:ext cx="4754880" cy="1737360"/>
          </a:xfrm>
          <a:prstGeom prst="rect">
            <a:avLst/>
          </a:prstGeom>
          <a:noFill/>
        </p:spPr>
        <p:txBody>
          <a:bodyPr wrap="square">
            <a:spAutoFit/>
          </a:bodyPr>
          <a:lstStyle/>
          <a:p>
            <a:pPr>
              <a:spcAft>
                <a:spcPts val="400"/>
              </a:spcAft>
              <a:defRPr sz="1300">
                <a:solidFill>
                  <a:srgbClr val="BBBBCC"/>
                </a:solidFill>
                <a:latin typeface="Microsoft YaHei"/>
              </a:defRPr>
            </a:pPr>
            <a:r>
              <a:t>数组 b: (3,) -&gt; (1,3) -&gt; (3,3)</a:t>
            </a:r>
          </a:p>
          <a:p>
            <a:pPr>
              <a:spcAft>
                <a:spcPts val="400"/>
              </a:spcAft>
              <a:defRPr sz="1300">
                <a:solidFill>
                  <a:srgbClr val="BBBBCC"/>
                </a:solidFill>
                <a:latin typeface="Microsoft YaHei"/>
              </a:defRPr>
            </a:pPr>
            <a:r>
              <a:t>[a00 a01 a02]   [b0 b1 b2]</a:t>
            </a:r>
          </a:p>
          <a:p>
            <a:pPr>
              <a:spcAft>
                <a:spcPts val="400"/>
              </a:spcAft>
              <a:defRPr sz="1300">
                <a:solidFill>
                  <a:srgbClr val="BBBBCC"/>
                </a:solidFill>
                <a:latin typeface="Microsoft YaHei"/>
              </a:defRPr>
            </a:pPr>
            <a:r>
              <a:t>[a10 a11 a12] + [b0 b1 b2]</a:t>
            </a:r>
          </a:p>
          <a:p>
            <a:pPr>
              <a:spcAft>
                <a:spcPts val="400"/>
              </a:spcAft>
              <a:defRPr sz="1300">
                <a:solidFill>
                  <a:srgbClr val="BBBBCC"/>
                </a:solidFill>
                <a:latin typeface="Microsoft YaHei"/>
              </a:defRPr>
            </a:pPr>
            <a:r>
              <a:t>[a20 a21 a22]   [b0 b1 b2]</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-&gt; 每行加上相同的向量b</a:t>
            </a:r>
          </a:p>
        </p:txBody>
      </p:sp>
      <p:sp>
        <p:nvSpPr>
          <p:cNvPr id="11" name="Rounded Rectangle 10"/>
          <p:cNvSpPr/>
          <p:nvPr/>
        </p:nvSpPr>
        <p:spPr>
          <a:xfrm>
            <a:off x="6400800" y="4389120"/>
            <a:ext cx="5120640" cy="201168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4480560"/>
            <a:ext cx="4754880" cy="365760"/>
          </a:xfrm>
          <a:prstGeom prst="rect">
            <a:avLst/>
          </a:prstGeom>
          <a:noFill/>
        </p:spPr>
        <p:txBody>
          <a:bodyPr wrap="square">
            <a:spAutoFit/>
          </a:bodyPr>
          <a:lstStyle/>
          <a:p>
            <a:pPr algn="l">
              <a:defRPr sz="1500" b="1">
                <a:solidFill>
                  <a:srgbClr val="00E696"/>
                </a:solidFill>
                <a:latin typeface="Microsoft YaHei"/>
              </a:defRPr>
            </a:pPr>
            <a:r>
              <a:t>在ML中的核心应用</a:t>
            </a:r>
          </a:p>
        </p:txBody>
      </p:sp>
      <p:sp>
        <p:nvSpPr>
          <p:cNvPr id="13" name="TextBox 12"/>
          <p:cNvSpPr txBox="1"/>
          <p:nvPr/>
        </p:nvSpPr>
        <p:spPr>
          <a:xfrm>
            <a:off x="6583680" y="4846320"/>
            <a:ext cx="4754880" cy="1463040"/>
          </a:xfrm>
          <a:prstGeom prst="rect">
            <a:avLst/>
          </a:prstGeom>
          <a:noFill/>
        </p:spPr>
        <p:txBody>
          <a:bodyPr wrap="square">
            <a:spAutoFit/>
          </a:bodyPr>
          <a:lstStyle/>
          <a:p>
            <a:pPr>
              <a:spcAft>
                <a:spcPts val="400"/>
              </a:spcAft>
              <a:defRPr sz="1300">
                <a:solidFill>
                  <a:srgbClr val="BBBBCC"/>
                </a:solidFill>
                <a:latin typeface="Microsoft YaHei"/>
              </a:defRPr>
            </a:pPr>
            <a:r>
              <a:t>数据中心化: X - X.mean(axis=0)</a:t>
            </a:r>
          </a:p>
          <a:p>
            <a:pPr>
              <a:spcAft>
                <a:spcPts val="400"/>
              </a:spcAft>
              <a:defRPr sz="1300">
                <a:solidFill>
                  <a:srgbClr val="BBBBCC"/>
                </a:solidFill>
                <a:latin typeface="Microsoft YaHei"/>
              </a:defRPr>
            </a:pPr>
            <a:r>
              <a:t>Z-score标准化: (X - mean) / std</a:t>
            </a:r>
          </a:p>
          <a:p>
            <a:pPr>
              <a:spcAft>
                <a:spcPts val="400"/>
              </a:spcAft>
              <a:defRPr sz="1300">
                <a:solidFill>
                  <a:srgbClr val="BBBBCC"/>
                </a:solidFill>
                <a:latin typeface="Microsoft YaHei"/>
              </a:defRPr>
            </a:pPr>
            <a:r>
              <a:t>批量归一化(Batch Normalization)</a:t>
            </a:r>
          </a:p>
          <a:p>
            <a:pPr>
              <a:spcAft>
                <a:spcPts val="400"/>
              </a:spcAft>
              <a:defRPr sz="1300">
                <a:solidFill>
                  <a:srgbClr val="BBBBCC"/>
                </a:solidFill>
                <a:latin typeface="Microsoft YaHei"/>
              </a:defRPr>
            </a:pPr>
            <a:r>
              <a:t>加权求和(weighted sum): X @ w + b</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2</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通用函数 (ufunc)</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向量化的逐元素运算</a:t>
            </a:r>
          </a:p>
        </p:txBody>
      </p:sp>
      <p:sp>
        <p:nvSpPr>
          <p:cNvPr id="6" name="Rectangle 5"/>
          <p:cNvSpPr/>
          <p:nvPr/>
        </p:nvSpPr>
        <p:spPr>
          <a:xfrm>
            <a:off x="548640" y="1828800"/>
            <a:ext cx="2286000" cy="4572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28800"/>
            <a:ext cx="2286000" cy="457200"/>
          </a:xfrm>
          <a:prstGeom prst="rect">
            <a:avLst/>
          </a:prstGeom>
          <a:noFill/>
        </p:spPr>
        <p:txBody>
          <a:bodyPr wrap="square">
            <a:spAutoFit/>
          </a:bodyPr>
          <a:lstStyle/>
          <a:p>
            <a:pPr algn="ctr">
              <a:defRPr sz="1400" b="1">
                <a:solidFill>
                  <a:srgbClr val="FFFFFF"/>
                </a:solidFill>
                <a:latin typeface="Microsoft YaHei"/>
              </a:defRPr>
            </a:pPr>
            <a:r>
              <a:t>分类</a:t>
            </a:r>
          </a:p>
        </p:txBody>
      </p:sp>
      <p:sp>
        <p:nvSpPr>
          <p:cNvPr id="8" name="Rectangle 7"/>
          <p:cNvSpPr/>
          <p:nvPr/>
        </p:nvSpPr>
        <p:spPr>
          <a:xfrm>
            <a:off x="2834640" y="1828800"/>
            <a:ext cx="4572000" cy="4572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34640" y="1828800"/>
            <a:ext cx="4572000" cy="457200"/>
          </a:xfrm>
          <a:prstGeom prst="rect">
            <a:avLst/>
          </a:prstGeom>
          <a:noFill/>
        </p:spPr>
        <p:txBody>
          <a:bodyPr wrap="square">
            <a:spAutoFit/>
          </a:bodyPr>
          <a:lstStyle/>
          <a:p>
            <a:pPr algn="ctr">
              <a:defRPr sz="1400" b="1">
                <a:solidFill>
                  <a:srgbClr val="FFFFFF"/>
                </a:solidFill>
                <a:latin typeface="Microsoft YaHei"/>
              </a:defRPr>
            </a:pPr>
            <a:r>
              <a:t>函数示例</a:t>
            </a:r>
          </a:p>
        </p:txBody>
      </p:sp>
      <p:sp>
        <p:nvSpPr>
          <p:cNvPr id="10" name="Rectangle 9"/>
          <p:cNvSpPr/>
          <p:nvPr/>
        </p:nvSpPr>
        <p:spPr>
          <a:xfrm>
            <a:off x="7406640" y="1828800"/>
            <a:ext cx="4114800" cy="4572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06640" y="1828800"/>
            <a:ext cx="4114800" cy="457200"/>
          </a:xfrm>
          <a:prstGeom prst="rect">
            <a:avLst/>
          </a:prstGeom>
          <a:noFill/>
        </p:spPr>
        <p:txBody>
          <a:bodyPr wrap="square">
            <a:spAutoFit/>
          </a:bodyPr>
          <a:lstStyle/>
          <a:p>
            <a:pPr algn="ctr">
              <a:defRPr sz="1400" b="1">
                <a:solidFill>
                  <a:srgbClr val="FFFFFF"/>
                </a:solidFill>
                <a:latin typeface="Microsoft YaHei"/>
              </a:defRPr>
            </a:pPr>
            <a:r>
              <a:t>说明</a:t>
            </a:r>
          </a:p>
        </p:txBody>
      </p:sp>
      <p:sp>
        <p:nvSpPr>
          <p:cNvPr id="12" name="Rectangle 11"/>
          <p:cNvSpPr/>
          <p:nvPr/>
        </p:nvSpPr>
        <p:spPr>
          <a:xfrm>
            <a:off x="548640" y="2286000"/>
            <a:ext cx="22860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286000"/>
            <a:ext cx="2286000" cy="457200"/>
          </a:xfrm>
          <a:prstGeom prst="rect">
            <a:avLst/>
          </a:prstGeom>
          <a:noFill/>
        </p:spPr>
        <p:txBody>
          <a:bodyPr wrap="square">
            <a:spAutoFit/>
          </a:bodyPr>
          <a:lstStyle/>
          <a:p>
            <a:pPr algn="ctr">
              <a:defRPr sz="1300" b="1">
                <a:solidFill>
                  <a:srgbClr val="00D2FF"/>
                </a:solidFill>
                <a:latin typeface="Microsoft YaHei"/>
              </a:defRPr>
            </a:pPr>
            <a:r>
              <a:t>数学函数</a:t>
            </a:r>
          </a:p>
        </p:txBody>
      </p:sp>
      <p:sp>
        <p:nvSpPr>
          <p:cNvPr id="14" name="Rectangle 13"/>
          <p:cNvSpPr/>
          <p:nvPr/>
        </p:nvSpPr>
        <p:spPr>
          <a:xfrm>
            <a:off x="2834640" y="2286000"/>
            <a:ext cx="45720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34640" y="2286000"/>
            <a:ext cx="4572000" cy="457200"/>
          </a:xfrm>
          <a:prstGeom prst="rect">
            <a:avLst/>
          </a:prstGeom>
          <a:noFill/>
        </p:spPr>
        <p:txBody>
          <a:bodyPr wrap="square">
            <a:spAutoFit/>
          </a:bodyPr>
          <a:lstStyle/>
          <a:p>
            <a:pPr algn="ctr">
              <a:defRPr sz="1300" b="0">
                <a:solidFill>
                  <a:srgbClr val="BBBBCC"/>
                </a:solidFill>
                <a:latin typeface="Microsoft YaHei"/>
              </a:defRPr>
            </a:pPr>
            <a:r>
              <a:t>np.sin, np.cos, np.exp, np.log, np.sqrt</a:t>
            </a:r>
          </a:p>
        </p:txBody>
      </p:sp>
      <p:sp>
        <p:nvSpPr>
          <p:cNvPr id="16" name="Rectangle 15"/>
          <p:cNvSpPr/>
          <p:nvPr/>
        </p:nvSpPr>
        <p:spPr>
          <a:xfrm>
            <a:off x="7406640" y="2286000"/>
            <a:ext cx="41148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06640" y="2286000"/>
            <a:ext cx="4114800" cy="457200"/>
          </a:xfrm>
          <a:prstGeom prst="rect">
            <a:avLst/>
          </a:prstGeom>
          <a:noFill/>
        </p:spPr>
        <p:txBody>
          <a:bodyPr wrap="square">
            <a:spAutoFit/>
          </a:bodyPr>
          <a:lstStyle/>
          <a:p>
            <a:pPr algn="ctr">
              <a:defRPr sz="1300" b="0">
                <a:solidFill>
                  <a:srgbClr val="BBBBCC"/>
                </a:solidFill>
                <a:latin typeface="Microsoft YaHei"/>
              </a:defRPr>
            </a:pPr>
            <a:r>
              <a:t>逐元素数学运算</a:t>
            </a:r>
          </a:p>
        </p:txBody>
      </p:sp>
      <p:sp>
        <p:nvSpPr>
          <p:cNvPr id="18" name="Rectangle 17"/>
          <p:cNvSpPr/>
          <p:nvPr/>
        </p:nvSpPr>
        <p:spPr>
          <a:xfrm>
            <a:off x="548640" y="2743200"/>
            <a:ext cx="228600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743200"/>
            <a:ext cx="2286000" cy="457200"/>
          </a:xfrm>
          <a:prstGeom prst="rect">
            <a:avLst/>
          </a:prstGeom>
          <a:noFill/>
        </p:spPr>
        <p:txBody>
          <a:bodyPr wrap="square">
            <a:spAutoFit/>
          </a:bodyPr>
          <a:lstStyle/>
          <a:p>
            <a:pPr algn="ctr">
              <a:defRPr sz="1300" b="1">
                <a:solidFill>
                  <a:srgbClr val="00D2FF"/>
                </a:solidFill>
                <a:latin typeface="Microsoft YaHei"/>
              </a:defRPr>
            </a:pPr>
            <a:r>
              <a:t>比较函数</a:t>
            </a:r>
          </a:p>
        </p:txBody>
      </p:sp>
      <p:sp>
        <p:nvSpPr>
          <p:cNvPr id="20" name="Rectangle 19"/>
          <p:cNvSpPr/>
          <p:nvPr/>
        </p:nvSpPr>
        <p:spPr>
          <a:xfrm>
            <a:off x="2834640" y="2743200"/>
            <a:ext cx="457200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34640" y="2743200"/>
            <a:ext cx="4572000" cy="457200"/>
          </a:xfrm>
          <a:prstGeom prst="rect">
            <a:avLst/>
          </a:prstGeom>
          <a:noFill/>
        </p:spPr>
        <p:txBody>
          <a:bodyPr wrap="square">
            <a:spAutoFit/>
          </a:bodyPr>
          <a:lstStyle/>
          <a:p>
            <a:pPr algn="ctr">
              <a:defRPr sz="1300" b="0">
                <a:solidFill>
                  <a:srgbClr val="BBBBCC"/>
                </a:solidFill>
                <a:latin typeface="Microsoft YaHei"/>
              </a:defRPr>
            </a:pPr>
            <a:r>
              <a:t>np.greater, np.equal, np.logical_and</a:t>
            </a:r>
          </a:p>
        </p:txBody>
      </p:sp>
      <p:sp>
        <p:nvSpPr>
          <p:cNvPr id="22" name="Rectangle 21"/>
          <p:cNvSpPr/>
          <p:nvPr/>
        </p:nvSpPr>
        <p:spPr>
          <a:xfrm>
            <a:off x="7406640" y="2743200"/>
            <a:ext cx="411480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06640" y="2743200"/>
            <a:ext cx="4114800" cy="457200"/>
          </a:xfrm>
          <a:prstGeom prst="rect">
            <a:avLst/>
          </a:prstGeom>
          <a:noFill/>
        </p:spPr>
        <p:txBody>
          <a:bodyPr wrap="square">
            <a:spAutoFit/>
          </a:bodyPr>
          <a:lstStyle/>
          <a:p>
            <a:pPr algn="ctr">
              <a:defRPr sz="1300" b="0">
                <a:solidFill>
                  <a:srgbClr val="BBBBCC"/>
                </a:solidFill>
                <a:latin typeface="Microsoft YaHei"/>
              </a:defRPr>
            </a:pPr>
            <a:r>
              <a:t>逐元素比较</a:t>
            </a:r>
          </a:p>
        </p:txBody>
      </p:sp>
      <p:sp>
        <p:nvSpPr>
          <p:cNvPr id="24" name="Rectangle 23"/>
          <p:cNvSpPr/>
          <p:nvPr/>
        </p:nvSpPr>
        <p:spPr>
          <a:xfrm>
            <a:off x="548640" y="3200400"/>
            <a:ext cx="22860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200400"/>
            <a:ext cx="2286000" cy="457200"/>
          </a:xfrm>
          <a:prstGeom prst="rect">
            <a:avLst/>
          </a:prstGeom>
          <a:noFill/>
        </p:spPr>
        <p:txBody>
          <a:bodyPr wrap="square">
            <a:spAutoFit/>
          </a:bodyPr>
          <a:lstStyle/>
          <a:p>
            <a:pPr algn="ctr">
              <a:defRPr sz="1300" b="1">
                <a:solidFill>
                  <a:srgbClr val="00D2FF"/>
                </a:solidFill>
                <a:latin typeface="Microsoft YaHei"/>
              </a:defRPr>
            </a:pPr>
            <a:r>
              <a:t>算术函数</a:t>
            </a:r>
          </a:p>
        </p:txBody>
      </p:sp>
      <p:sp>
        <p:nvSpPr>
          <p:cNvPr id="26" name="Rectangle 25"/>
          <p:cNvSpPr/>
          <p:nvPr/>
        </p:nvSpPr>
        <p:spPr>
          <a:xfrm>
            <a:off x="2834640" y="3200400"/>
            <a:ext cx="45720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34640" y="3200400"/>
            <a:ext cx="4572000" cy="457200"/>
          </a:xfrm>
          <a:prstGeom prst="rect">
            <a:avLst/>
          </a:prstGeom>
          <a:noFill/>
        </p:spPr>
        <p:txBody>
          <a:bodyPr wrap="square">
            <a:spAutoFit/>
          </a:bodyPr>
          <a:lstStyle/>
          <a:p>
            <a:pPr algn="ctr">
              <a:defRPr sz="1300" b="0">
                <a:solidFill>
                  <a:srgbClr val="BBBBCC"/>
                </a:solidFill>
                <a:latin typeface="Microsoft YaHei"/>
              </a:defRPr>
            </a:pPr>
            <a:r>
              <a:t>np.add, np.subtract, np.multiply</a:t>
            </a:r>
          </a:p>
        </p:txBody>
      </p:sp>
      <p:sp>
        <p:nvSpPr>
          <p:cNvPr id="28" name="Rectangle 27"/>
          <p:cNvSpPr/>
          <p:nvPr/>
        </p:nvSpPr>
        <p:spPr>
          <a:xfrm>
            <a:off x="7406640" y="3200400"/>
            <a:ext cx="41148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06640" y="3200400"/>
            <a:ext cx="4114800" cy="457200"/>
          </a:xfrm>
          <a:prstGeom prst="rect">
            <a:avLst/>
          </a:prstGeom>
          <a:noFill/>
        </p:spPr>
        <p:txBody>
          <a:bodyPr wrap="square">
            <a:spAutoFit/>
          </a:bodyPr>
          <a:lstStyle/>
          <a:p>
            <a:pPr algn="ctr">
              <a:defRPr sz="1300" b="0">
                <a:solidFill>
                  <a:srgbClr val="BBBBCC"/>
                </a:solidFill>
                <a:latin typeface="Microsoft YaHei"/>
              </a:defRPr>
            </a:pPr>
            <a:r>
              <a:t>四则运算</a:t>
            </a:r>
          </a:p>
        </p:txBody>
      </p:sp>
      <p:sp>
        <p:nvSpPr>
          <p:cNvPr id="30" name="Rectangle 29"/>
          <p:cNvSpPr/>
          <p:nvPr/>
        </p:nvSpPr>
        <p:spPr>
          <a:xfrm>
            <a:off x="548640" y="3657600"/>
            <a:ext cx="228600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3657600"/>
            <a:ext cx="2286000" cy="457200"/>
          </a:xfrm>
          <a:prstGeom prst="rect">
            <a:avLst/>
          </a:prstGeom>
          <a:noFill/>
        </p:spPr>
        <p:txBody>
          <a:bodyPr wrap="square">
            <a:spAutoFit/>
          </a:bodyPr>
          <a:lstStyle/>
          <a:p>
            <a:pPr algn="ctr">
              <a:defRPr sz="1300" b="1">
                <a:solidFill>
                  <a:srgbClr val="00D2FF"/>
                </a:solidFill>
                <a:latin typeface="Microsoft YaHei"/>
              </a:defRPr>
            </a:pPr>
            <a:r>
              <a:t>聚合函数</a:t>
            </a:r>
          </a:p>
        </p:txBody>
      </p:sp>
      <p:sp>
        <p:nvSpPr>
          <p:cNvPr id="32" name="Rectangle 31"/>
          <p:cNvSpPr/>
          <p:nvPr/>
        </p:nvSpPr>
        <p:spPr>
          <a:xfrm>
            <a:off x="2834640" y="3657600"/>
            <a:ext cx="457200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34640" y="3657600"/>
            <a:ext cx="4572000" cy="457200"/>
          </a:xfrm>
          <a:prstGeom prst="rect">
            <a:avLst/>
          </a:prstGeom>
          <a:noFill/>
        </p:spPr>
        <p:txBody>
          <a:bodyPr wrap="square">
            <a:spAutoFit/>
          </a:bodyPr>
          <a:lstStyle/>
          <a:p>
            <a:pPr algn="ctr">
              <a:defRPr sz="1300" b="0">
                <a:solidFill>
                  <a:srgbClr val="BBBBCC"/>
                </a:solidFill>
                <a:latin typeface="Microsoft YaHei"/>
              </a:defRPr>
            </a:pPr>
            <a:r>
              <a:t>np.sum, np.prod, np.min, np.max</a:t>
            </a:r>
          </a:p>
        </p:txBody>
      </p:sp>
      <p:sp>
        <p:nvSpPr>
          <p:cNvPr id="34" name="Rectangle 33"/>
          <p:cNvSpPr/>
          <p:nvPr/>
        </p:nvSpPr>
        <p:spPr>
          <a:xfrm>
            <a:off x="7406640" y="3657600"/>
            <a:ext cx="411480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06640" y="3657600"/>
            <a:ext cx="4114800" cy="457200"/>
          </a:xfrm>
          <a:prstGeom prst="rect">
            <a:avLst/>
          </a:prstGeom>
          <a:noFill/>
        </p:spPr>
        <p:txBody>
          <a:bodyPr wrap="square">
            <a:spAutoFit/>
          </a:bodyPr>
          <a:lstStyle/>
          <a:p>
            <a:pPr algn="ctr">
              <a:defRPr sz="1300" b="0">
                <a:solidFill>
                  <a:srgbClr val="BBBBCC"/>
                </a:solidFill>
                <a:latin typeface="Microsoft YaHei"/>
              </a:defRPr>
            </a:pPr>
            <a:r>
              <a:t>按轴聚合</a:t>
            </a:r>
          </a:p>
        </p:txBody>
      </p:sp>
      <p:sp>
        <p:nvSpPr>
          <p:cNvPr id="36" name="Rounded Rectangle 35"/>
          <p:cNvSpPr/>
          <p:nvPr/>
        </p:nvSpPr>
        <p:spPr>
          <a:xfrm>
            <a:off x="548640" y="4114800"/>
            <a:ext cx="5303520" cy="256032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4251960"/>
            <a:ext cx="4937760" cy="2286000"/>
          </a:xfrm>
          <a:prstGeom prst="rect">
            <a:avLst/>
          </a:prstGeom>
          <a:noFill/>
        </p:spPr>
        <p:txBody>
          <a:bodyPr wrap="square">
            <a:spAutoFit/>
          </a:bodyPr>
          <a:lstStyle/>
          <a:p>
            <a:pPr>
              <a:spcAft>
                <a:spcPts val="200"/>
              </a:spcAft>
              <a:defRPr sz="1200">
                <a:solidFill>
                  <a:srgbClr val="00E696"/>
                </a:solidFill>
                <a:latin typeface="Consolas"/>
              </a:defRPr>
            </a:pPr>
            <a:r>
              <a:t>A = np.array([[1, 2, 3],</a:t>
            </a:r>
          </a:p>
          <a:p>
            <a:pPr>
              <a:spcAft>
                <a:spcPts val="200"/>
              </a:spcAft>
              <a:defRPr sz="1200">
                <a:solidFill>
                  <a:srgbClr val="00E696"/>
                </a:solidFill>
                <a:latin typeface="Consolas"/>
              </a:defRPr>
            </a:pPr>
            <a:r>
              <a:t>              [4, 5, 6]])</a:t>
            </a:r>
          </a:p>
          <a:p>
            <a:pPr>
              <a:spcAft>
                <a:spcPts val="200"/>
              </a:spcAft>
              <a:defRPr sz="1200">
                <a:solidFill>
                  <a:srgbClr val="00E696"/>
                </a:solidFill>
                <a:latin typeface="Consolas"/>
              </a:defRPr>
            </a:pPr>
          </a:p>
          <a:p>
            <a:pPr>
              <a:spcAft>
                <a:spcPts val="200"/>
              </a:spcAft>
              <a:defRPr sz="1200">
                <a:solidFill>
                  <a:srgbClr val="00E696"/>
                </a:solidFill>
                <a:latin typeface="Consolas"/>
              </a:defRPr>
            </a:pPr>
            <a:r>
              <a:t>print(np.sum(A))          # 21 (总和)</a:t>
            </a:r>
          </a:p>
          <a:p>
            <a:pPr>
              <a:spcAft>
                <a:spcPts val="200"/>
              </a:spcAft>
              <a:defRPr sz="1200">
                <a:solidFill>
                  <a:srgbClr val="00E696"/>
                </a:solidFill>
                <a:latin typeface="Consolas"/>
              </a:defRPr>
            </a:pPr>
            <a:r>
              <a:t>print(np.sum(A, axis=0))  # [5, 7, 9] (列方向)</a:t>
            </a:r>
          </a:p>
          <a:p>
            <a:pPr>
              <a:spcAft>
                <a:spcPts val="200"/>
              </a:spcAft>
              <a:defRPr sz="1200">
                <a:solidFill>
                  <a:srgbClr val="00E696"/>
                </a:solidFill>
                <a:latin typeface="Consolas"/>
              </a:defRPr>
            </a:pPr>
            <a:r>
              <a:t>print(np.sum(A, axis=1))  # [6, 15] (行方向)</a:t>
            </a:r>
          </a:p>
          <a:p>
            <a:pPr>
              <a:spcAft>
                <a:spcPts val="200"/>
              </a:spcAft>
              <a:defRPr sz="1200">
                <a:solidFill>
                  <a:srgbClr val="00E696"/>
                </a:solidFill>
                <a:latin typeface="Consolas"/>
              </a:defRPr>
            </a:pPr>
            <a:r>
              <a:t>print(np.mean(A, axis=0)) # [2.5, 3.5, 4.5]</a:t>
            </a:r>
          </a:p>
        </p:txBody>
      </p:sp>
      <p:sp>
        <p:nvSpPr>
          <p:cNvPr id="38" name="Rounded Rectangle 37"/>
          <p:cNvSpPr/>
          <p:nvPr/>
        </p:nvSpPr>
        <p:spPr>
          <a:xfrm>
            <a:off x="6217920" y="4114800"/>
            <a:ext cx="5303520" cy="2560320"/>
          </a:xfrm>
          <a:prstGeom prst="roundRect">
            <a:avLst>
              <a:gd name="adj" fmla="val 5000"/>
            </a:avLst>
          </a:prstGeom>
          <a:solidFill>
            <a:srgbClr val="25253D"/>
          </a:solidFill>
          <a:ln w="12700">
            <a:solidFill>
              <a:srgbClr val="A06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0" y="4206240"/>
            <a:ext cx="4937760" cy="365760"/>
          </a:xfrm>
          <a:prstGeom prst="rect">
            <a:avLst/>
          </a:prstGeom>
          <a:noFill/>
        </p:spPr>
        <p:txBody>
          <a:bodyPr wrap="square">
            <a:spAutoFit/>
          </a:bodyPr>
          <a:lstStyle/>
          <a:p>
            <a:pPr algn="l">
              <a:defRPr sz="1500" b="1">
                <a:solidFill>
                  <a:srgbClr val="A06CFF"/>
                </a:solidFill>
                <a:latin typeface="Microsoft YaHei"/>
              </a:defRPr>
            </a:pPr>
            <a:r>
              <a:t>理解axis</a:t>
            </a:r>
          </a:p>
        </p:txBody>
      </p:sp>
      <p:sp>
        <p:nvSpPr>
          <p:cNvPr id="40" name="TextBox 39"/>
          <p:cNvSpPr txBox="1"/>
          <p:nvPr/>
        </p:nvSpPr>
        <p:spPr>
          <a:xfrm>
            <a:off x="6400800" y="4572000"/>
            <a:ext cx="4937760" cy="2011680"/>
          </a:xfrm>
          <a:prstGeom prst="rect">
            <a:avLst/>
          </a:prstGeom>
          <a:noFill/>
        </p:spPr>
        <p:txBody>
          <a:bodyPr wrap="square">
            <a:spAutoFit/>
          </a:bodyPr>
          <a:lstStyle/>
          <a:p>
            <a:pPr>
              <a:spcAft>
                <a:spcPts val="400"/>
              </a:spcAft>
              <a:defRPr sz="1300">
                <a:solidFill>
                  <a:srgbClr val="BBBBCC"/>
                </a:solidFill>
                <a:latin typeface="Microsoft YaHei"/>
              </a:defRPr>
            </a:pPr>
            <a:r>
              <a:t>axis=None: 对所有元素聚合</a:t>
            </a:r>
          </a:p>
          <a:p>
            <a:pPr>
              <a:spcAft>
                <a:spcPts val="400"/>
              </a:spcAft>
              <a:defRPr sz="1300">
                <a:solidFill>
                  <a:srgbClr val="BBBBCC"/>
                </a:solidFill>
                <a:latin typeface="Microsoft YaHei"/>
              </a:defRPr>
            </a:pPr>
            <a:r>
              <a:t>axis=0: 沿行方向缩减 (按列聚合)</a:t>
            </a:r>
          </a:p>
          <a:p>
            <a:pPr>
              <a:spcAft>
                <a:spcPts val="400"/>
              </a:spcAft>
              <a:defRPr sz="1300">
                <a:solidFill>
                  <a:srgbClr val="BBBBCC"/>
                </a:solidFill>
                <a:latin typeface="Microsoft YaHei"/>
              </a:defRPr>
            </a:pPr>
            <a:r>
              <a:t>axis=1: 沿列方向缩减 (按行聚合)</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ufunc的核心: 基于C循环的向量化运算</a:t>
            </a:r>
          </a:p>
          <a:p>
            <a:pPr>
              <a:spcAft>
                <a:spcPts val="400"/>
              </a:spcAft>
              <a:defRPr sz="1300">
                <a:solidFill>
                  <a:srgbClr val="BBBBCC"/>
                </a:solidFill>
                <a:latin typeface="Microsoft YaHei"/>
              </a:defRPr>
            </a:pPr>
            <a:r>
              <a:t>相比Python循环提升100~1000倍性能</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2</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线性代数基本运算</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ML的数学基础</a:t>
            </a:r>
          </a:p>
        </p:txBody>
      </p:sp>
      <p:sp>
        <p:nvSpPr>
          <p:cNvPr id="6" name="Rounded Rectangle 5"/>
          <p:cNvSpPr/>
          <p:nvPr/>
        </p:nvSpPr>
        <p:spPr>
          <a:xfrm>
            <a:off x="548640" y="1828800"/>
            <a:ext cx="5486400" cy="274320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65960"/>
            <a:ext cx="5120640" cy="2468880"/>
          </a:xfrm>
          <a:prstGeom prst="rect">
            <a:avLst/>
          </a:prstGeom>
          <a:noFill/>
        </p:spPr>
        <p:txBody>
          <a:bodyPr wrap="square">
            <a:spAutoFit/>
          </a:bodyPr>
          <a:lstStyle/>
          <a:p>
            <a:pPr>
              <a:spcAft>
                <a:spcPts val="200"/>
              </a:spcAft>
              <a:defRPr sz="1100">
                <a:solidFill>
                  <a:srgbClr val="00E696"/>
                </a:solidFill>
                <a:latin typeface="Consolas"/>
              </a:defRPr>
            </a:pPr>
            <a:r>
              <a:t>A = np.array([[1,2],[3,4]], dtype=float)</a:t>
            </a:r>
          </a:p>
          <a:p>
            <a:pPr>
              <a:spcAft>
                <a:spcPts val="200"/>
              </a:spcAft>
              <a:defRPr sz="1100">
                <a:solidFill>
                  <a:srgbClr val="00E696"/>
                </a:solidFill>
                <a:latin typeface="Consolas"/>
              </a:defRPr>
            </a:pPr>
            <a:r>
              <a:t>B = np.array([[5,6],[7,8]], dtype=float)</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print(A * B)                # 逐元素乘法</a:t>
            </a:r>
          </a:p>
          <a:p>
            <a:pPr>
              <a:spcAft>
                <a:spcPts val="200"/>
              </a:spcAft>
              <a:defRPr sz="1100">
                <a:solidFill>
                  <a:srgbClr val="00E696"/>
                </a:solidFill>
                <a:latin typeface="Consolas"/>
              </a:defRPr>
            </a:pPr>
            <a:r>
              <a:t>print(A @ B)                # 矩阵乘法</a:t>
            </a:r>
          </a:p>
          <a:p>
            <a:pPr>
              <a:spcAft>
                <a:spcPts val="200"/>
              </a:spcAft>
              <a:defRPr sz="1100">
                <a:solidFill>
                  <a:srgbClr val="00E696"/>
                </a:solidFill>
                <a:latin typeface="Consolas"/>
              </a:defRPr>
            </a:pPr>
            <a:r>
              <a:t>print(A.T)                  # 转置</a:t>
            </a:r>
          </a:p>
          <a:p>
            <a:pPr>
              <a:spcAft>
                <a:spcPts val="200"/>
              </a:spcAft>
              <a:defRPr sz="1100">
                <a:solidFill>
                  <a:srgbClr val="00E696"/>
                </a:solidFill>
                <a:latin typeface="Consolas"/>
              </a:defRPr>
            </a:pPr>
            <a:r>
              <a:t>print(np.linalg.det(A))     # 行列式</a:t>
            </a:r>
          </a:p>
          <a:p>
            <a:pPr>
              <a:spcAft>
                <a:spcPts val="200"/>
              </a:spcAft>
              <a:defRPr sz="1100">
                <a:solidFill>
                  <a:srgbClr val="00E696"/>
                </a:solidFill>
                <a:latin typeface="Consolas"/>
              </a:defRPr>
            </a:pPr>
            <a:r>
              <a:t>print(np.linalg.inv(A))     # 逆矩阵</a:t>
            </a:r>
          </a:p>
          <a:p>
            <a:pPr>
              <a:spcAft>
                <a:spcPts val="200"/>
              </a:spcAft>
              <a:defRPr sz="1100">
                <a:solidFill>
                  <a:srgbClr val="00E696"/>
                </a:solidFill>
                <a:latin typeface="Consolas"/>
              </a:defRPr>
            </a:pPr>
            <a:r>
              <a:t>print(np.trace(A))          # 迹</a:t>
            </a:r>
          </a:p>
          <a:p>
            <a:pPr>
              <a:spcAft>
                <a:spcPts val="200"/>
              </a:spcAft>
              <a:defRPr sz="1100">
                <a:solidFill>
                  <a:srgbClr val="00E696"/>
                </a:solidFill>
                <a:latin typeface="Consolas"/>
              </a:defRPr>
            </a:pPr>
            <a:r>
              <a:t>print(np.linalg.norm(A,'fro'))# Frobenius范数</a:t>
            </a:r>
          </a:p>
        </p:txBody>
      </p:sp>
      <p:sp>
        <p:nvSpPr>
          <p:cNvPr id="8" name="Rectangle 7"/>
          <p:cNvSpPr/>
          <p:nvPr/>
        </p:nvSpPr>
        <p:spPr>
          <a:xfrm>
            <a:off x="548640" y="4754880"/>
            <a:ext cx="1828800" cy="457200"/>
          </a:xfrm>
          <a:prstGeom prst="rect">
            <a:avLst/>
          </a:prstGeom>
          <a:solidFill>
            <a:srgbClr val="A0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754880"/>
            <a:ext cx="1828800" cy="457200"/>
          </a:xfrm>
          <a:prstGeom prst="rect">
            <a:avLst/>
          </a:prstGeom>
          <a:noFill/>
        </p:spPr>
        <p:txBody>
          <a:bodyPr wrap="square">
            <a:spAutoFit/>
          </a:bodyPr>
          <a:lstStyle/>
          <a:p>
            <a:pPr algn="ctr">
              <a:defRPr sz="1400" b="1">
                <a:solidFill>
                  <a:srgbClr val="FFFFFF"/>
                </a:solidFill>
                <a:latin typeface="Microsoft YaHei"/>
              </a:defRPr>
            </a:pPr>
            <a:r>
              <a:t>分解方法</a:t>
            </a:r>
          </a:p>
        </p:txBody>
      </p:sp>
      <p:sp>
        <p:nvSpPr>
          <p:cNvPr id="10" name="Rectangle 9"/>
          <p:cNvSpPr/>
          <p:nvPr/>
        </p:nvSpPr>
        <p:spPr>
          <a:xfrm>
            <a:off x="2377440" y="4754880"/>
            <a:ext cx="2286000" cy="457200"/>
          </a:xfrm>
          <a:prstGeom prst="rect">
            <a:avLst/>
          </a:prstGeom>
          <a:solidFill>
            <a:srgbClr val="A0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77440" y="4754880"/>
            <a:ext cx="2286000" cy="457200"/>
          </a:xfrm>
          <a:prstGeom prst="rect">
            <a:avLst/>
          </a:prstGeom>
          <a:noFill/>
        </p:spPr>
        <p:txBody>
          <a:bodyPr wrap="square">
            <a:spAutoFit/>
          </a:bodyPr>
          <a:lstStyle/>
          <a:p>
            <a:pPr algn="ctr">
              <a:defRPr sz="1400" b="1">
                <a:solidFill>
                  <a:srgbClr val="FFFFFF"/>
                </a:solidFill>
                <a:latin typeface="Microsoft YaHei"/>
              </a:defRPr>
            </a:pPr>
            <a:r>
              <a:t>公式</a:t>
            </a:r>
          </a:p>
        </p:txBody>
      </p:sp>
      <p:sp>
        <p:nvSpPr>
          <p:cNvPr id="12" name="Rectangle 11"/>
          <p:cNvSpPr/>
          <p:nvPr/>
        </p:nvSpPr>
        <p:spPr>
          <a:xfrm>
            <a:off x="4663440" y="4754880"/>
            <a:ext cx="3200400" cy="457200"/>
          </a:xfrm>
          <a:prstGeom prst="rect">
            <a:avLst/>
          </a:prstGeom>
          <a:solidFill>
            <a:srgbClr val="A0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40" y="4754880"/>
            <a:ext cx="3200400" cy="457200"/>
          </a:xfrm>
          <a:prstGeom prst="rect">
            <a:avLst/>
          </a:prstGeom>
          <a:noFill/>
        </p:spPr>
        <p:txBody>
          <a:bodyPr wrap="square">
            <a:spAutoFit/>
          </a:bodyPr>
          <a:lstStyle/>
          <a:p>
            <a:pPr algn="ctr">
              <a:defRPr sz="1400" b="1">
                <a:solidFill>
                  <a:srgbClr val="FFFFFF"/>
                </a:solidFill>
                <a:latin typeface="Microsoft YaHei"/>
              </a:defRPr>
            </a:pPr>
            <a:r>
              <a:t>ML应用</a:t>
            </a:r>
          </a:p>
        </p:txBody>
      </p:sp>
      <p:sp>
        <p:nvSpPr>
          <p:cNvPr id="14" name="Rectangle 13"/>
          <p:cNvSpPr/>
          <p:nvPr/>
        </p:nvSpPr>
        <p:spPr>
          <a:xfrm>
            <a:off x="7863840" y="4754880"/>
            <a:ext cx="2286000" cy="457200"/>
          </a:xfrm>
          <a:prstGeom prst="rect">
            <a:avLst/>
          </a:prstGeom>
          <a:solidFill>
            <a:srgbClr val="A0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4754880"/>
            <a:ext cx="2286000" cy="457200"/>
          </a:xfrm>
          <a:prstGeom prst="rect">
            <a:avLst/>
          </a:prstGeom>
          <a:noFill/>
        </p:spPr>
        <p:txBody>
          <a:bodyPr wrap="square">
            <a:spAutoFit/>
          </a:bodyPr>
          <a:lstStyle/>
          <a:p>
            <a:pPr algn="ctr">
              <a:defRPr sz="1400" b="1">
                <a:solidFill>
                  <a:srgbClr val="FFFFFF"/>
                </a:solidFill>
                <a:latin typeface="Microsoft YaHei"/>
              </a:defRPr>
            </a:pPr>
            <a:r>
              <a:t>NumPy函数</a:t>
            </a:r>
          </a:p>
        </p:txBody>
      </p:sp>
      <p:sp>
        <p:nvSpPr>
          <p:cNvPr id="16" name="Rectangle 15"/>
          <p:cNvSpPr/>
          <p:nvPr/>
        </p:nvSpPr>
        <p:spPr>
          <a:xfrm>
            <a:off x="548640" y="5212080"/>
            <a:ext cx="18288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5212080"/>
            <a:ext cx="1828800" cy="411480"/>
          </a:xfrm>
          <a:prstGeom prst="rect">
            <a:avLst/>
          </a:prstGeom>
          <a:noFill/>
        </p:spPr>
        <p:txBody>
          <a:bodyPr wrap="square">
            <a:spAutoFit/>
          </a:bodyPr>
          <a:lstStyle/>
          <a:p>
            <a:pPr algn="ctr">
              <a:defRPr sz="1200" b="1">
                <a:solidFill>
                  <a:srgbClr val="00D2FF"/>
                </a:solidFill>
                <a:latin typeface="Microsoft YaHei"/>
              </a:defRPr>
            </a:pPr>
            <a:r>
              <a:t>LU分解</a:t>
            </a:r>
          </a:p>
        </p:txBody>
      </p:sp>
      <p:sp>
        <p:nvSpPr>
          <p:cNvPr id="18" name="Rectangle 17"/>
          <p:cNvSpPr/>
          <p:nvPr/>
        </p:nvSpPr>
        <p:spPr>
          <a:xfrm>
            <a:off x="2377440" y="5212080"/>
            <a:ext cx="22860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77440" y="5212080"/>
            <a:ext cx="2286000" cy="411480"/>
          </a:xfrm>
          <a:prstGeom prst="rect">
            <a:avLst/>
          </a:prstGeom>
          <a:noFill/>
        </p:spPr>
        <p:txBody>
          <a:bodyPr wrap="square">
            <a:spAutoFit/>
          </a:bodyPr>
          <a:lstStyle/>
          <a:p>
            <a:pPr algn="ctr">
              <a:defRPr sz="1200" b="0">
                <a:solidFill>
                  <a:srgbClr val="BBBBCC"/>
                </a:solidFill>
                <a:latin typeface="Microsoft YaHei"/>
              </a:defRPr>
            </a:pPr>
            <a:r>
              <a:t>A = P * L * U</a:t>
            </a:r>
          </a:p>
        </p:txBody>
      </p:sp>
      <p:sp>
        <p:nvSpPr>
          <p:cNvPr id="20" name="Rectangle 19"/>
          <p:cNvSpPr/>
          <p:nvPr/>
        </p:nvSpPr>
        <p:spPr>
          <a:xfrm>
            <a:off x="4663440" y="5212080"/>
            <a:ext cx="32004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63440" y="5212080"/>
            <a:ext cx="3200400" cy="411480"/>
          </a:xfrm>
          <a:prstGeom prst="rect">
            <a:avLst/>
          </a:prstGeom>
          <a:noFill/>
        </p:spPr>
        <p:txBody>
          <a:bodyPr wrap="square">
            <a:spAutoFit/>
          </a:bodyPr>
          <a:lstStyle/>
          <a:p>
            <a:pPr algn="ctr">
              <a:defRPr sz="1200" b="0">
                <a:solidFill>
                  <a:srgbClr val="BBBBCC"/>
                </a:solidFill>
                <a:latin typeface="Microsoft YaHei"/>
              </a:defRPr>
            </a:pPr>
            <a:r>
              <a:t>线性方程组, 行列式</a:t>
            </a:r>
          </a:p>
        </p:txBody>
      </p:sp>
      <p:sp>
        <p:nvSpPr>
          <p:cNvPr id="22" name="Rectangle 21"/>
          <p:cNvSpPr/>
          <p:nvPr/>
        </p:nvSpPr>
        <p:spPr>
          <a:xfrm>
            <a:off x="7863840" y="5212080"/>
            <a:ext cx="22860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0" y="5212080"/>
            <a:ext cx="2286000" cy="411480"/>
          </a:xfrm>
          <a:prstGeom prst="rect">
            <a:avLst/>
          </a:prstGeom>
          <a:noFill/>
        </p:spPr>
        <p:txBody>
          <a:bodyPr wrap="square">
            <a:spAutoFit/>
          </a:bodyPr>
          <a:lstStyle/>
          <a:p>
            <a:pPr algn="ctr">
              <a:defRPr sz="1200" b="0">
                <a:solidFill>
                  <a:srgbClr val="BBBBCC"/>
                </a:solidFill>
                <a:latin typeface="Microsoft YaHei"/>
              </a:defRPr>
            </a:pPr>
            <a:r>
              <a:t>scipy.linalg.lu()</a:t>
            </a:r>
          </a:p>
        </p:txBody>
      </p:sp>
      <p:sp>
        <p:nvSpPr>
          <p:cNvPr id="24" name="Rectangle 23"/>
          <p:cNvSpPr/>
          <p:nvPr/>
        </p:nvSpPr>
        <p:spPr>
          <a:xfrm>
            <a:off x="548640" y="5623560"/>
            <a:ext cx="18288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5623560"/>
            <a:ext cx="1828800" cy="411480"/>
          </a:xfrm>
          <a:prstGeom prst="rect">
            <a:avLst/>
          </a:prstGeom>
          <a:noFill/>
        </p:spPr>
        <p:txBody>
          <a:bodyPr wrap="square">
            <a:spAutoFit/>
          </a:bodyPr>
          <a:lstStyle/>
          <a:p>
            <a:pPr algn="ctr">
              <a:defRPr sz="1200" b="1">
                <a:solidFill>
                  <a:srgbClr val="00D2FF"/>
                </a:solidFill>
                <a:latin typeface="Microsoft YaHei"/>
              </a:defRPr>
            </a:pPr>
            <a:r>
              <a:t>QR分解</a:t>
            </a:r>
          </a:p>
        </p:txBody>
      </p:sp>
      <p:sp>
        <p:nvSpPr>
          <p:cNvPr id="26" name="Rectangle 25"/>
          <p:cNvSpPr/>
          <p:nvPr/>
        </p:nvSpPr>
        <p:spPr>
          <a:xfrm>
            <a:off x="2377440" y="5623560"/>
            <a:ext cx="22860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77440" y="5623560"/>
            <a:ext cx="2286000" cy="411480"/>
          </a:xfrm>
          <a:prstGeom prst="rect">
            <a:avLst/>
          </a:prstGeom>
          <a:noFill/>
        </p:spPr>
        <p:txBody>
          <a:bodyPr wrap="square">
            <a:spAutoFit/>
          </a:bodyPr>
          <a:lstStyle/>
          <a:p>
            <a:pPr algn="ctr">
              <a:defRPr sz="1200" b="0">
                <a:solidFill>
                  <a:srgbClr val="BBBBCC"/>
                </a:solidFill>
                <a:latin typeface="Microsoft YaHei"/>
              </a:defRPr>
            </a:pPr>
            <a:r>
              <a:t>A = Q * R (Q^T Q = I)</a:t>
            </a:r>
          </a:p>
        </p:txBody>
      </p:sp>
      <p:sp>
        <p:nvSpPr>
          <p:cNvPr id="28" name="Rectangle 27"/>
          <p:cNvSpPr/>
          <p:nvPr/>
        </p:nvSpPr>
        <p:spPr>
          <a:xfrm>
            <a:off x="4663440" y="5623560"/>
            <a:ext cx="32004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63440" y="5623560"/>
            <a:ext cx="3200400" cy="411480"/>
          </a:xfrm>
          <a:prstGeom prst="rect">
            <a:avLst/>
          </a:prstGeom>
          <a:noFill/>
        </p:spPr>
        <p:txBody>
          <a:bodyPr wrap="square">
            <a:spAutoFit/>
          </a:bodyPr>
          <a:lstStyle/>
          <a:p>
            <a:pPr algn="ctr">
              <a:defRPr sz="1200" b="0">
                <a:solidFill>
                  <a:srgbClr val="BBBBCC"/>
                </a:solidFill>
                <a:latin typeface="Microsoft YaHei"/>
              </a:defRPr>
            </a:pPr>
            <a:r>
              <a:t>最小二乘法稳定求解</a:t>
            </a:r>
          </a:p>
        </p:txBody>
      </p:sp>
      <p:sp>
        <p:nvSpPr>
          <p:cNvPr id="30" name="Rectangle 29"/>
          <p:cNvSpPr/>
          <p:nvPr/>
        </p:nvSpPr>
        <p:spPr>
          <a:xfrm>
            <a:off x="7863840" y="5623560"/>
            <a:ext cx="22860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0" y="5623560"/>
            <a:ext cx="2286000" cy="411480"/>
          </a:xfrm>
          <a:prstGeom prst="rect">
            <a:avLst/>
          </a:prstGeom>
          <a:noFill/>
        </p:spPr>
        <p:txBody>
          <a:bodyPr wrap="square">
            <a:spAutoFit/>
          </a:bodyPr>
          <a:lstStyle/>
          <a:p>
            <a:pPr algn="ctr">
              <a:defRPr sz="1200" b="0">
                <a:solidFill>
                  <a:srgbClr val="BBBBCC"/>
                </a:solidFill>
                <a:latin typeface="Microsoft YaHei"/>
              </a:defRPr>
            </a:pPr>
            <a:r>
              <a:t>np.linalg.qr()</a:t>
            </a:r>
          </a:p>
        </p:txBody>
      </p:sp>
      <p:sp>
        <p:nvSpPr>
          <p:cNvPr id="32" name="Rectangle 31"/>
          <p:cNvSpPr/>
          <p:nvPr/>
        </p:nvSpPr>
        <p:spPr>
          <a:xfrm>
            <a:off x="548640" y="6035040"/>
            <a:ext cx="18288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6035040"/>
            <a:ext cx="1828800" cy="411480"/>
          </a:xfrm>
          <a:prstGeom prst="rect">
            <a:avLst/>
          </a:prstGeom>
          <a:noFill/>
        </p:spPr>
        <p:txBody>
          <a:bodyPr wrap="square">
            <a:spAutoFit/>
          </a:bodyPr>
          <a:lstStyle/>
          <a:p>
            <a:pPr algn="ctr">
              <a:defRPr sz="1200" b="1">
                <a:solidFill>
                  <a:srgbClr val="00D2FF"/>
                </a:solidFill>
                <a:latin typeface="Microsoft YaHei"/>
              </a:defRPr>
            </a:pPr>
            <a:r>
              <a:t>SVD</a:t>
            </a:r>
          </a:p>
        </p:txBody>
      </p:sp>
      <p:sp>
        <p:nvSpPr>
          <p:cNvPr id="34" name="Rectangle 33"/>
          <p:cNvSpPr/>
          <p:nvPr/>
        </p:nvSpPr>
        <p:spPr>
          <a:xfrm>
            <a:off x="2377440" y="6035040"/>
            <a:ext cx="22860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377440" y="6035040"/>
            <a:ext cx="2286000" cy="411480"/>
          </a:xfrm>
          <a:prstGeom prst="rect">
            <a:avLst/>
          </a:prstGeom>
          <a:noFill/>
        </p:spPr>
        <p:txBody>
          <a:bodyPr wrap="square">
            <a:spAutoFit/>
          </a:bodyPr>
          <a:lstStyle/>
          <a:p>
            <a:pPr algn="ctr">
              <a:defRPr sz="1200" b="0">
                <a:solidFill>
                  <a:srgbClr val="BBBBCC"/>
                </a:solidFill>
                <a:latin typeface="Microsoft YaHei"/>
              </a:defRPr>
            </a:pPr>
            <a:r>
              <a:t>A = U * S * V^T</a:t>
            </a:r>
          </a:p>
        </p:txBody>
      </p:sp>
      <p:sp>
        <p:nvSpPr>
          <p:cNvPr id="36" name="Rectangle 35"/>
          <p:cNvSpPr/>
          <p:nvPr/>
        </p:nvSpPr>
        <p:spPr>
          <a:xfrm>
            <a:off x="4663440" y="6035040"/>
            <a:ext cx="32004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63440" y="6035040"/>
            <a:ext cx="3200400" cy="411480"/>
          </a:xfrm>
          <a:prstGeom prst="rect">
            <a:avLst/>
          </a:prstGeom>
          <a:noFill/>
        </p:spPr>
        <p:txBody>
          <a:bodyPr wrap="square">
            <a:spAutoFit/>
          </a:bodyPr>
          <a:lstStyle/>
          <a:p>
            <a:pPr algn="ctr">
              <a:defRPr sz="1200" b="0">
                <a:solidFill>
                  <a:srgbClr val="BBBBCC"/>
                </a:solidFill>
                <a:latin typeface="Microsoft YaHei"/>
              </a:defRPr>
            </a:pPr>
            <a:r>
              <a:t>PCA, 推荐系统, LSA</a:t>
            </a:r>
          </a:p>
        </p:txBody>
      </p:sp>
      <p:sp>
        <p:nvSpPr>
          <p:cNvPr id="38" name="Rectangle 37"/>
          <p:cNvSpPr/>
          <p:nvPr/>
        </p:nvSpPr>
        <p:spPr>
          <a:xfrm>
            <a:off x="7863840" y="6035040"/>
            <a:ext cx="22860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0" y="6035040"/>
            <a:ext cx="2286000" cy="411480"/>
          </a:xfrm>
          <a:prstGeom prst="rect">
            <a:avLst/>
          </a:prstGeom>
          <a:noFill/>
        </p:spPr>
        <p:txBody>
          <a:bodyPr wrap="square">
            <a:spAutoFit/>
          </a:bodyPr>
          <a:lstStyle/>
          <a:p>
            <a:pPr algn="ctr">
              <a:defRPr sz="1200" b="0">
                <a:solidFill>
                  <a:srgbClr val="BBBBCC"/>
                </a:solidFill>
                <a:latin typeface="Microsoft YaHei"/>
              </a:defRPr>
            </a:pPr>
            <a:r>
              <a:t>np.linalg.svd()</a:t>
            </a:r>
          </a:p>
        </p:txBody>
      </p:sp>
      <p:sp>
        <p:nvSpPr>
          <p:cNvPr id="40" name="Rectangle 39"/>
          <p:cNvSpPr/>
          <p:nvPr/>
        </p:nvSpPr>
        <p:spPr>
          <a:xfrm>
            <a:off x="548640" y="6446520"/>
            <a:ext cx="18288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40" y="6446520"/>
            <a:ext cx="1828800" cy="411480"/>
          </a:xfrm>
          <a:prstGeom prst="rect">
            <a:avLst/>
          </a:prstGeom>
          <a:noFill/>
        </p:spPr>
        <p:txBody>
          <a:bodyPr wrap="square">
            <a:spAutoFit/>
          </a:bodyPr>
          <a:lstStyle/>
          <a:p>
            <a:pPr algn="ctr">
              <a:defRPr sz="1200" b="1">
                <a:solidFill>
                  <a:srgbClr val="00D2FF"/>
                </a:solidFill>
                <a:latin typeface="Microsoft YaHei"/>
              </a:defRPr>
            </a:pPr>
            <a:r>
              <a:t>特征值分解</a:t>
            </a:r>
          </a:p>
        </p:txBody>
      </p:sp>
      <p:sp>
        <p:nvSpPr>
          <p:cNvPr id="42" name="Rectangle 41"/>
          <p:cNvSpPr/>
          <p:nvPr/>
        </p:nvSpPr>
        <p:spPr>
          <a:xfrm>
            <a:off x="2377440" y="6446520"/>
            <a:ext cx="22860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377440" y="6446520"/>
            <a:ext cx="2286000" cy="411480"/>
          </a:xfrm>
          <a:prstGeom prst="rect">
            <a:avLst/>
          </a:prstGeom>
          <a:noFill/>
        </p:spPr>
        <p:txBody>
          <a:bodyPr wrap="square">
            <a:spAutoFit/>
          </a:bodyPr>
          <a:lstStyle/>
          <a:p>
            <a:pPr algn="ctr">
              <a:defRPr sz="1200" b="0">
                <a:solidFill>
                  <a:srgbClr val="BBBBCC"/>
                </a:solidFill>
                <a:latin typeface="Microsoft YaHei"/>
              </a:defRPr>
            </a:pPr>
            <a:r>
              <a:t>Av = lambda*v</a:t>
            </a:r>
          </a:p>
        </p:txBody>
      </p:sp>
      <p:sp>
        <p:nvSpPr>
          <p:cNvPr id="44" name="Rectangle 43"/>
          <p:cNvSpPr/>
          <p:nvPr/>
        </p:nvSpPr>
        <p:spPr>
          <a:xfrm>
            <a:off x="4663440" y="6446520"/>
            <a:ext cx="32004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663440" y="6446520"/>
            <a:ext cx="3200400" cy="411480"/>
          </a:xfrm>
          <a:prstGeom prst="rect">
            <a:avLst/>
          </a:prstGeom>
          <a:noFill/>
        </p:spPr>
        <p:txBody>
          <a:bodyPr wrap="square">
            <a:spAutoFit/>
          </a:bodyPr>
          <a:lstStyle/>
          <a:p>
            <a:pPr algn="ctr">
              <a:defRPr sz="1200" b="0">
                <a:solidFill>
                  <a:srgbClr val="BBBBCC"/>
                </a:solidFill>
                <a:latin typeface="Microsoft YaHei"/>
              </a:defRPr>
            </a:pPr>
            <a:r>
              <a:t>PCA, 谱聚类</a:t>
            </a:r>
          </a:p>
        </p:txBody>
      </p:sp>
      <p:sp>
        <p:nvSpPr>
          <p:cNvPr id="46" name="Rectangle 45"/>
          <p:cNvSpPr/>
          <p:nvPr/>
        </p:nvSpPr>
        <p:spPr>
          <a:xfrm>
            <a:off x="7863840" y="6446520"/>
            <a:ext cx="22860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863840" y="6446520"/>
            <a:ext cx="2286000" cy="411480"/>
          </a:xfrm>
          <a:prstGeom prst="rect">
            <a:avLst/>
          </a:prstGeom>
          <a:noFill/>
        </p:spPr>
        <p:txBody>
          <a:bodyPr wrap="square">
            <a:spAutoFit/>
          </a:bodyPr>
          <a:lstStyle/>
          <a:p>
            <a:pPr algn="ctr">
              <a:defRPr sz="1200" b="0">
                <a:solidFill>
                  <a:srgbClr val="BBBBCC"/>
                </a:solidFill>
                <a:latin typeface="Microsoft YaHei"/>
              </a:defRPr>
            </a:pPr>
            <a:r>
              <a:t>np.linalg.eigh()</a:t>
            </a:r>
          </a:p>
        </p:txBody>
      </p:sp>
      <p:sp>
        <p:nvSpPr>
          <p:cNvPr id="48" name="Rounded Rectangle 47"/>
          <p:cNvSpPr/>
          <p:nvPr/>
        </p:nvSpPr>
        <p:spPr>
          <a:xfrm>
            <a:off x="6400800" y="1828800"/>
            <a:ext cx="5120640" cy="2560320"/>
          </a:xfrm>
          <a:prstGeom prst="roundRect">
            <a:avLst>
              <a:gd name="adj" fmla="val 5000"/>
            </a:avLst>
          </a:prstGeom>
          <a:solidFill>
            <a:srgbClr val="25253D"/>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583680" y="1920240"/>
            <a:ext cx="4754880" cy="365760"/>
          </a:xfrm>
          <a:prstGeom prst="rect">
            <a:avLst/>
          </a:prstGeom>
          <a:noFill/>
        </p:spPr>
        <p:txBody>
          <a:bodyPr wrap="square">
            <a:spAutoFit/>
          </a:bodyPr>
          <a:lstStyle/>
          <a:p>
            <a:pPr algn="l">
              <a:defRPr sz="1500" b="1">
                <a:solidFill>
                  <a:srgbClr val="FF8C00"/>
                </a:solidFill>
                <a:latin typeface="Microsoft YaHei"/>
              </a:defRPr>
            </a:pPr>
            <a:r>
              <a:t>主要矩阵运算概要</a:t>
            </a:r>
          </a:p>
        </p:txBody>
      </p:sp>
      <p:sp>
        <p:nvSpPr>
          <p:cNvPr id="50" name="TextBox 49"/>
          <p:cNvSpPr txBox="1"/>
          <p:nvPr/>
        </p:nvSpPr>
        <p:spPr>
          <a:xfrm>
            <a:off x="6583680" y="2286000"/>
            <a:ext cx="4754880" cy="2011680"/>
          </a:xfrm>
          <a:prstGeom prst="rect">
            <a:avLst/>
          </a:prstGeom>
          <a:noFill/>
        </p:spPr>
        <p:txBody>
          <a:bodyPr wrap="square">
            <a:spAutoFit/>
          </a:bodyPr>
          <a:lstStyle/>
          <a:p>
            <a:pPr>
              <a:spcAft>
                <a:spcPts val="400"/>
              </a:spcAft>
              <a:defRPr sz="1300">
                <a:solidFill>
                  <a:srgbClr val="BBBBCC"/>
                </a:solidFill>
                <a:latin typeface="Microsoft YaHei"/>
              </a:defRPr>
            </a:pPr>
            <a:r>
              <a:t>* (逐元素) vs @ (矩阵乘): 必须区分!</a:t>
            </a:r>
          </a:p>
          <a:p>
            <a:pPr>
              <a:spcAft>
                <a:spcPts val="400"/>
              </a:spcAft>
              <a:defRPr sz="1300">
                <a:solidFill>
                  <a:srgbClr val="BBBBCC"/>
                </a:solidFill>
                <a:latin typeface="Microsoft YaHei"/>
              </a:defRPr>
            </a:pPr>
            <a:r>
              <a:t>A.T: 转置 (View, 只交换stride)</a:t>
            </a:r>
          </a:p>
          <a:p>
            <a:pPr>
              <a:spcAft>
                <a:spcPts val="400"/>
              </a:spcAft>
              <a:defRPr sz="1300">
                <a:solidFill>
                  <a:srgbClr val="BBBBCC"/>
                </a:solidFill>
                <a:latin typeface="Microsoft YaHei"/>
              </a:defRPr>
            </a:pPr>
            <a:r>
              <a:t>det(A): 行列式 (判断可逆性)</a:t>
            </a:r>
          </a:p>
          <a:p>
            <a:pPr>
              <a:spcAft>
                <a:spcPts val="400"/>
              </a:spcAft>
              <a:defRPr sz="1300">
                <a:solidFill>
                  <a:srgbClr val="BBBBCC"/>
                </a:solidFill>
                <a:latin typeface="Microsoft YaHei"/>
              </a:defRPr>
            </a:pPr>
            <a:r>
              <a:t>inv(A): 逆矩阵 (需注意数值问题)</a:t>
            </a:r>
          </a:p>
          <a:p>
            <a:pPr>
              <a:spcAft>
                <a:spcPts val="400"/>
              </a:spcAft>
              <a:defRPr sz="1300">
                <a:solidFill>
                  <a:srgbClr val="BBBBCC"/>
                </a:solidFill>
                <a:latin typeface="Microsoft YaHei"/>
              </a:defRPr>
            </a:pPr>
            <a:r>
              <a:t>trace(A): 迹 = 特征值之和</a:t>
            </a:r>
          </a:p>
          <a:p>
            <a:pPr>
              <a:spcAft>
                <a:spcPts val="400"/>
              </a:spcAft>
              <a:defRPr sz="1300">
                <a:solidFill>
                  <a:srgbClr val="BBBBCC"/>
                </a:solidFill>
                <a:latin typeface="Microsoft YaHei"/>
              </a:defRPr>
            </a:pPr>
            <a:r>
              <a:t>norm(A): L1, L2, Frobenius范数</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2</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SVD(奇异值分解)与特征值分解</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PCA降维的数学基础</a:t>
            </a:r>
          </a:p>
        </p:txBody>
      </p:sp>
      <p:sp>
        <p:nvSpPr>
          <p:cNvPr id="6" name="Rounded Rectangle 5"/>
          <p:cNvSpPr/>
          <p:nvPr/>
        </p:nvSpPr>
        <p:spPr>
          <a:xfrm>
            <a:off x="548640" y="1828800"/>
            <a:ext cx="5486400" cy="274320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65960"/>
            <a:ext cx="5120640" cy="2468880"/>
          </a:xfrm>
          <a:prstGeom prst="rect">
            <a:avLst/>
          </a:prstGeom>
          <a:noFill/>
        </p:spPr>
        <p:txBody>
          <a:bodyPr wrap="square">
            <a:spAutoFit/>
          </a:bodyPr>
          <a:lstStyle/>
          <a:p>
            <a:pPr>
              <a:spcAft>
                <a:spcPts val="200"/>
              </a:spcAft>
              <a:defRPr sz="1100">
                <a:solidFill>
                  <a:srgbClr val="00E696"/>
                </a:solidFill>
                <a:latin typeface="Consolas"/>
              </a:defRPr>
            </a:pPr>
            <a:r>
              <a:t># SVD: A = U * Sigma * V^T</a:t>
            </a:r>
          </a:p>
          <a:p>
            <a:pPr>
              <a:spcAft>
                <a:spcPts val="200"/>
              </a:spcAft>
              <a:defRPr sz="1100">
                <a:solidFill>
                  <a:srgbClr val="00E696"/>
                </a:solidFill>
                <a:latin typeface="Consolas"/>
              </a:defRPr>
            </a:pPr>
            <a:r>
              <a:t>A = np.array([[1,2,0],[0,1,1],[2,0,1],</a:t>
            </a:r>
          </a:p>
          <a:p>
            <a:pPr>
              <a:spcAft>
                <a:spcPts val="200"/>
              </a:spcAft>
              <a:defRPr sz="1100">
                <a:solidFill>
                  <a:srgbClr val="00E696"/>
                </a:solidFill>
                <a:latin typeface="Consolas"/>
              </a:defRPr>
            </a:pPr>
            <a:r>
              <a:t>              [1,1,1],[3,2,1]], dtype=float)</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U, s, Vt = np.linalg.svd(A, full_matrices=False)</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降维: 只使用前k个奇异值</a:t>
            </a:r>
          </a:p>
          <a:p>
            <a:pPr>
              <a:spcAft>
                <a:spcPts val="200"/>
              </a:spcAft>
              <a:defRPr sz="1100">
                <a:solidFill>
                  <a:srgbClr val="00E696"/>
                </a:solidFill>
                <a:latin typeface="Consolas"/>
              </a:defRPr>
            </a:pPr>
            <a:r>
              <a:t>k = 2</a:t>
            </a:r>
          </a:p>
          <a:p>
            <a:pPr>
              <a:spcAft>
                <a:spcPts val="200"/>
              </a:spcAft>
              <a:defRPr sz="1100">
                <a:solidFill>
                  <a:srgbClr val="00E696"/>
                </a:solidFill>
                <a:latin typeface="Consolas"/>
              </a:defRPr>
            </a:pPr>
            <a:r>
              <a:t>A_approx = U[:,:k] @ np.diag(s[:k]) @ Vt[:k,:]</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方差解释力</a:t>
            </a:r>
          </a:p>
          <a:p>
            <a:pPr>
              <a:spcAft>
                <a:spcPts val="200"/>
              </a:spcAft>
              <a:defRPr sz="1100">
                <a:solidFill>
                  <a:srgbClr val="00E696"/>
                </a:solidFill>
                <a:latin typeface="Consolas"/>
              </a:defRPr>
            </a:pPr>
            <a:r>
              <a:t>energy = s**2 / np.sum(s**2) * 100</a:t>
            </a:r>
          </a:p>
          <a:p>
            <a:pPr>
              <a:spcAft>
                <a:spcPts val="200"/>
              </a:spcAft>
              <a:defRPr sz="1100">
                <a:solidFill>
                  <a:srgbClr val="00E696"/>
                </a:solidFill>
                <a:latin typeface="Consolas"/>
              </a:defRPr>
            </a:pPr>
            <a:r>
              <a:t>print(f'累积解释比例: {np.cumsum(energy)}')</a:t>
            </a:r>
          </a:p>
        </p:txBody>
      </p:sp>
      <p:sp>
        <p:nvSpPr>
          <p:cNvPr id="8" name="Rounded Rectangle 7"/>
          <p:cNvSpPr/>
          <p:nvPr/>
        </p:nvSpPr>
        <p:spPr>
          <a:xfrm>
            <a:off x="548640" y="4754880"/>
            <a:ext cx="5486400" cy="182880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892040"/>
            <a:ext cx="5120640" cy="1554480"/>
          </a:xfrm>
          <a:prstGeom prst="rect">
            <a:avLst/>
          </a:prstGeom>
          <a:noFill/>
        </p:spPr>
        <p:txBody>
          <a:bodyPr wrap="square">
            <a:spAutoFit/>
          </a:bodyPr>
          <a:lstStyle/>
          <a:p>
            <a:pPr>
              <a:spcAft>
                <a:spcPts val="200"/>
              </a:spcAft>
              <a:defRPr sz="1100">
                <a:solidFill>
                  <a:srgbClr val="00E696"/>
                </a:solidFill>
                <a:latin typeface="Consolas"/>
              </a:defRPr>
            </a:pPr>
            <a:r>
              <a:t># 特征值分解: Av = lambda*v</a:t>
            </a:r>
          </a:p>
          <a:p>
            <a:pPr>
              <a:spcAft>
                <a:spcPts val="200"/>
              </a:spcAft>
              <a:defRPr sz="1100">
                <a:solidFill>
                  <a:srgbClr val="00E696"/>
                </a:solidFill>
                <a:latin typeface="Consolas"/>
              </a:defRPr>
            </a:pPr>
            <a:r>
              <a:t>cov = np.array([[4,2,1],[2,3,1],[1,1,2]],</a:t>
            </a:r>
          </a:p>
          <a:p>
            <a:pPr>
              <a:spcAft>
                <a:spcPts val="200"/>
              </a:spcAft>
              <a:defRPr sz="1100">
                <a:solidFill>
                  <a:srgbClr val="00E696"/>
                </a:solidFill>
                <a:latin typeface="Consolas"/>
              </a:defRPr>
            </a:pPr>
            <a:r>
              <a:t>               dtype=float)</a:t>
            </a:r>
          </a:p>
          <a:p>
            <a:pPr>
              <a:spcAft>
                <a:spcPts val="200"/>
              </a:spcAft>
              <a:defRPr sz="1100">
                <a:solidFill>
                  <a:srgbClr val="00E696"/>
                </a:solidFill>
                <a:latin typeface="Consolas"/>
              </a:defRPr>
            </a:pPr>
            <a:r>
              <a:t>eigenvalues, eigenvectors = np.linalg.eigh(cov)</a:t>
            </a:r>
          </a:p>
          <a:p>
            <a:pPr>
              <a:spcAft>
                <a:spcPts val="200"/>
              </a:spcAft>
              <a:defRPr sz="1100">
                <a:solidFill>
                  <a:srgbClr val="00E696"/>
                </a:solidFill>
                <a:latin typeface="Consolas"/>
              </a:defRPr>
            </a:pPr>
            <a:r>
              <a:t>variance_ratio = eigenvalues/np.sum(eigenvalues)*100</a:t>
            </a:r>
          </a:p>
          <a:p>
            <a:pPr>
              <a:spcAft>
                <a:spcPts val="200"/>
              </a:spcAft>
              <a:defRPr sz="1100">
                <a:solidFill>
                  <a:srgbClr val="00E696"/>
                </a:solidFill>
                <a:latin typeface="Consolas"/>
              </a:defRPr>
            </a:pPr>
            <a:r>
              <a:t>print(f'方差解释比例: {variance_ratio}')</a:t>
            </a:r>
          </a:p>
        </p:txBody>
      </p:sp>
      <p:sp>
        <p:nvSpPr>
          <p:cNvPr id="10" name="Rounded Rectangle 9"/>
          <p:cNvSpPr/>
          <p:nvPr/>
        </p:nvSpPr>
        <p:spPr>
          <a:xfrm>
            <a:off x="6400800" y="1828800"/>
            <a:ext cx="5120640" cy="2286000"/>
          </a:xfrm>
          <a:prstGeom prst="roundRect">
            <a:avLst>
              <a:gd name="adj" fmla="val 5000"/>
            </a:avLst>
          </a:prstGeom>
          <a:solidFill>
            <a:srgbClr val="25253D"/>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1920240"/>
            <a:ext cx="4754880" cy="365760"/>
          </a:xfrm>
          <a:prstGeom prst="rect">
            <a:avLst/>
          </a:prstGeom>
          <a:noFill/>
        </p:spPr>
        <p:txBody>
          <a:bodyPr wrap="square">
            <a:spAutoFit/>
          </a:bodyPr>
          <a:lstStyle/>
          <a:p>
            <a:pPr algn="l">
              <a:defRPr sz="1500" b="1">
                <a:solidFill>
                  <a:srgbClr val="00D2FF"/>
                </a:solidFill>
                <a:latin typeface="Microsoft YaHei"/>
              </a:defRPr>
            </a:pPr>
            <a:r>
              <a:t>SVD在ML中的应用</a:t>
            </a:r>
          </a:p>
        </p:txBody>
      </p:sp>
      <p:sp>
        <p:nvSpPr>
          <p:cNvPr id="12" name="TextBox 11"/>
          <p:cNvSpPr txBox="1"/>
          <p:nvPr/>
        </p:nvSpPr>
        <p:spPr>
          <a:xfrm>
            <a:off x="6583680" y="2286000"/>
            <a:ext cx="4754880" cy="1737360"/>
          </a:xfrm>
          <a:prstGeom prst="rect">
            <a:avLst/>
          </a:prstGeom>
          <a:noFill/>
        </p:spPr>
        <p:txBody>
          <a:bodyPr wrap="square">
            <a:spAutoFit/>
          </a:bodyPr>
          <a:lstStyle/>
          <a:p>
            <a:pPr>
              <a:spcAft>
                <a:spcPts val="400"/>
              </a:spcAft>
              <a:defRPr sz="1300">
                <a:solidFill>
                  <a:srgbClr val="BBBBCC"/>
                </a:solidFill>
                <a:latin typeface="Microsoft YaHei"/>
              </a:defRPr>
            </a:pPr>
            <a:r>
              <a:t>PCA降维: 用前k个奇异值近似数据</a:t>
            </a:r>
          </a:p>
          <a:p>
            <a:pPr>
              <a:spcAft>
                <a:spcPts val="400"/>
              </a:spcAft>
              <a:defRPr sz="1300">
                <a:solidFill>
                  <a:srgbClr val="BBBBCC"/>
                </a:solidFill>
                <a:latin typeface="Microsoft YaHei"/>
              </a:defRPr>
            </a:pPr>
            <a:r>
              <a:t>推荐系统: 用户-物品矩阵的潜在因子</a:t>
            </a:r>
          </a:p>
          <a:p>
            <a:pPr>
              <a:spcAft>
                <a:spcPts val="400"/>
              </a:spcAft>
              <a:defRPr sz="1300">
                <a:solidFill>
                  <a:srgbClr val="BBBBCC"/>
                </a:solidFill>
                <a:latin typeface="Microsoft YaHei"/>
              </a:defRPr>
            </a:pPr>
            <a:r>
              <a:t>潜在语义分析(LSA): 文档-词矩阵</a:t>
            </a:r>
          </a:p>
          <a:p>
            <a:pPr>
              <a:spcAft>
                <a:spcPts val="400"/>
              </a:spcAft>
              <a:defRPr sz="1300">
                <a:solidFill>
                  <a:srgbClr val="BBBBCC"/>
                </a:solidFill>
                <a:latin typeface="Microsoft YaHei"/>
              </a:defRPr>
            </a:pPr>
            <a:r>
              <a:t>数据压缩: 计算信息保留比例</a:t>
            </a:r>
          </a:p>
          <a:p>
            <a:pPr>
              <a:spcAft>
                <a:spcPts val="400"/>
              </a:spcAft>
              <a:defRPr sz="1300">
                <a:solidFill>
                  <a:srgbClr val="BBBBCC"/>
                </a:solidFill>
                <a:latin typeface="Microsoft YaHei"/>
              </a:defRPr>
            </a:pPr>
            <a:r>
              <a:t>方差解释力 = s^2 / sum(s^2) * 100</a:t>
            </a:r>
          </a:p>
        </p:txBody>
      </p:sp>
      <p:sp>
        <p:nvSpPr>
          <p:cNvPr id="13" name="Rounded Rectangle 12"/>
          <p:cNvSpPr/>
          <p:nvPr/>
        </p:nvSpPr>
        <p:spPr>
          <a:xfrm>
            <a:off x="6400800" y="4389120"/>
            <a:ext cx="5120640" cy="2194560"/>
          </a:xfrm>
          <a:prstGeom prst="roundRect">
            <a:avLst>
              <a:gd name="adj" fmla="val 5000"/>
            </a:avLst>
          </a:prstGeom>
          <a:solidFill>
            <a:srgbClr val="25253D"/>
          </a:solidFill>
          <a:ln w="12700">
            <a:solidFill>
              <a:srgbClr val="A06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4480560"/>
            <a:ext cx="4754880" cy="365760"/>
          </a:xfrm>
          <a:prstGeom prst="rect">
            <a:avLst/>
          </a:prstGeom>
          <a:noFill/>
        </p:spPr>
        <p:txBody>
          <a:bodyPr wrap="square">
            <a:spAutoFit/>
          </a:bodyPr>
          <a:lstStyle/>
          <a:p>
            <a:pPr algn="l">
              <a:defRPr sz="1500" b="1">
                <a:solidFill>
                  <a:srgbClr val="A06CFF"/>
                </a:solidFill>
                <a:latin typeface="Microsoft YaHei"/>
              </a:defRPr>
            </a:pPr>
            <a:r>
              <a:t>特征值分解在ML中的应用</a:t>
            </a:r>
          </a:p>
        </p:txBody>
      </p:sp>
      <p:sp>
        <p:nvSpPr>
          <p:cNvPr id="15" name="TextBox 14"/>
          <p:cNvSpPr txBox="1"/>
          <p:nvPr/>
        </p:nvSpPr>
        <p:spPr>
          <a:xfrm>
            <a:off x="6583680" y="4846320"/>
            <a:ext cx="4754880" cy="1645920"/>
          </a:xfrm>
          <a:prstGeom prst="rect">
            <a:avLst/>
          </a:prstGeom>
          <a:noFill/>
        </p:spPr>
        <p:txBody>
          <a:bodyPr wrap="square">
            <a:spAutoFit/>
          </a:bodyPr>
          <a:lstStyle/>
          <a:p>
            <a:pPr>
              <a:spcAft>
                <a:spcPts val="400"/>
              </a:spcAft>
              <a:defRPr sz="1300">
                <a:solidFill>
                  <a:srgbClr val="BBBBCC"/>
                </a:solidFill>
                <a:latin typeface="Microsoft YaHei"/>
              </a:defRPr>
            </a:pPr>
            <a:r>
              <a:t>PCA: 协方差矩阵的特征值分解</a:t>
            </a:r>
          </a:p>
          <a:p>
            <a:pPr>
              <a:spcAft>
                <a:spcPts val="400"/>
              </a:spcAft>
              <a:defRPr sz="1300">
                <a:solidFill>
                  <a:srgbClr val="BBBBCC"/>
                </a:solidFill>
                <a:latin typeface="Microsoft YaHei"/>
              </a:defRPr>
            </a:pPr>
            <a:r>
              <a:t>谱聚类: 拉普拉斯矩阵</a:t>
            </a:r>
          </a:p>
          <a:p>
            <a:pPr>
              <a:spcAft>
                <a:spcPts val="400"/>
              </a:spcAft>
              <a:defRPr sz="1300">
                <a:solidFill>
                  <a:srgbClr val="BBBBCC"/>
                </a:solidFill>
                <a:latin typeface="Microsoft YaHei"/>
              </a:defRPr>
            </a:pPr>
            <a:r>
              <a:t>特征值 = 该方向的方差量</a:t>
            </a:r>
          </a:p>
          <a:p>
            <a:pPr>
              <a:spcAft>
                <a:spcPts val="400"/>
              </a:spcAft>
              <a:defRPr sz="1300">
                <a:solidFill>
                  <a:srgbClr val="BBBBCC"/>
                </a:solidFill>
                <a:latin typeface="Microsoft YaHei"/>
              </a:defRPr>
            </a:pPr>
            <a:r>
              <a:t>eigh(): 对称矩阵专用 (更快更稳定)</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2</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正规方程 (Normal Equation)</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线性回归的解析解: beta = (X^T X)^{-1} X^T y</a:t>
            </a:r>
          </a:p>
        </p:txBody>
      </p:sp>
      <p:sp>
        <p:nvSpPr>
          <p:cNvPr id="6" name="Rounded Rectangle 5"/>
          <p:cNvSpPr/>
          <p:nvPr/>
        </p:nvSpPr>
        <p:spPr>
          <a:xfrm>
            <a:off x="548640" y="1828800"/>
            <a:ext cx="6400800" cy="438912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65960"/>
            <a:ext cx="6035040" cy="4114800"/>
          </a:xfrm>
          <a:prstGeom prst="rect">
            <a:avLst/>
          </a:prstGeom>
          <a:noFill/>
        </p:spPr>
        <p:txBody>
          <a:bodyPr wrap="square">
            <a:spAutoFit/>
          </a:bodyPr>
          <a:lstStyle/>
          <a:p>
            <a:pPr>
              <a:spcAft>
                <a:spcPts val="200"/>
              </a:spcAft>
              <a:defRPr sz="1100">
                <a:solidFill>
                  <a:srgbClr val="00E696"/>
                </a:solidFill>
                <a:latin typeface="Consolas"/>
              </a:defRPr>
            </a:pPr>
            <a:r>
              <a:t>np.random.seed(42)</a:t>
            </a:r>
          </a:p>
          <a:p>
            <a:pPr>
              <a:spcAft>
                <a:spcPts val="200"/>
              </a:spcAft>
              <a:defRPr sz="1100">
                <a:solidFill>
                  <a:srgbClr val="00E696"/>
                </a:solidFill>
                <a:latin typeface="Consolas"/>
              </a:defRPr>
            </a:pPr>
            <a:r>
              <a:t>n_samples = 50</a:t>
            </a:r>
          </a:p>
          <a:p>
            <a:pPr>
              <a:spcAft>
                <a:spcPts val="200"/>
              </a:spcAft>
              <a:defRPr sz="1100">
                <a:solidFill>
                  <a:srgbClr val="00E696"/>
                </a:solidFill>
                <a:latin typeface="Consolas"/>
              </a:defRPr>
            </a:pPr>
            <a:r>
              <a:t>X_raw = np.random.uniform(0, 10, (n_samples, 1))</a:t>
            </a:r>
          </a:p>
          <a:p>
            <a:pPr>
              <a:spcAft>
                <a:spcPts val="200"/>
              </a:spcAft>
              <a:defRPr sz="1100">
                <a:solidFill>
                  <a:srgbClr val="00E696"/>
                </a:solidFill>
                <a:latin typeface="Consolas"/>
              </a:defRPr>
            </a:pPr>
            <a:r>
              <a:t>noise = np.random.normal(0, 1, (n_samples, 1))</a:t>
            </a:r>
          </a:p>
          <a:p>
            <a:pPr>
              <a:spcAft>
                <a:spcPts val="200"/>
              </a:spcAft>
              <a:defRPr sz="1100">
                <a:solidFill>
                  <a:srgbClr val="00E696"/>
                </a:solidFill>
                <a:latin typeface="Consolas"/>
              </a:defRPr>
            </a:pPr>
            <a:r>
              <a:t>y = 3 * X_raw + 2 + noise  # 真值: 斜率=3, 截距=2</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X = np.hstack([np.ones((n_samples, 1)), X_raw])</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方法1: 逆矩阵 (数值不稳定 -- 不推荐)</a:t>
            </a:r>
          </a:p>
          <a:p>
            <a:pPr>
              <a:spcAft>
                <a:spcPts val="200"/>
              </a:spcAft>
              <a:defRPr sz="1100">
                <a:solidFill>
                  <a:srgbClr val="00E696"/>
                </a:solidFill>
                <a:latin typeface="Consolas"/>
              </a:defRPr>
            </a:pPr>
            <a:r>
              <a:t>beta_inv = np.linalg.inv(X.T @ X) @ X.T @ y</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方法2: solve (基于LU分解, 数值稳定)</a:t>
            </a:r>
          </a:p>
          <a:p>
            <a:pPr>
              <a:spcAft>
                <a:spcPts val="200"/>
              </a:spcAft>
              <a:defRPr sz="1100">
                <a:solidFill>
                  <a:srgbClr val="00E696"/>
                </a:solidFill>
                <a:latin typeface="Consolas"/>
              </a:defRPr>
            </a:pPr>
            <a:r>
              <a:t>beta_solve = np.linalg.solve(X.T @ X, X.T @ y)</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方法3: lstsq (基于SVD, 最稳定, 推荐!)</a:t>
            </a:r>
          </a:p>
          <a:p>
            <a:pPr>
              <a:spcAft>
                <a:spcPts val="200"/>
              </a:spcAft>
              <a:defRPr sz="1100">
                <a:solidFill>
                  <a:srgbClr val="00E696"/>
                </a:solidFill>
                <a:latin typeface="Consolas"/>
              </a:defRPr>
            </a:pPr>
            <a:r>
              <a:t>beta_lstsq, _, _, _ = np.linalg.lstsq(X, y, rcond=None)</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print(f'真值: 截距=2, 斜率=3')</a:t>
            </a:r>
          </a:p>
          <a:p>
            <a:pPr>
              <a:spcAft>
                <a:spcPts val="200"/>
              </a:spcAft>
              <a:defRPr sz="1100">
                <a:solidFill>
                  <a:srgbClr val="00E696"/>
                </a:solidFill>
                <a:latin typeface="Consolas"/>
              </a:defRPr>
            </a:pPr>
            <a:r>
              <a:t>print(f'估计: 截距={beta_lstsq[0,0]:.4f}, 斜率={beta_lstsq[1,0]:.4f}')</a:t>
            </a:r>
          </a:p>
        </p:txBody>
      </p:sp>
      <p:sp>
        <p:nvSpPr>
          <p:cNvPr id="8" name="Rounded Rectangle 7"/>
          <p:cNvSpPr/>
          <p:nvPr/>
        </p:nvSpPr>
        <p:spPr>
          <a:xfrm>
            <a:off x="7315200" y="1828800"/>
            <a:ext cx="4206240" cy="4572000"/>
          </a:xfrm>
          <a:prstGeom prst="roundRect">
            <a:avLst>
              <a:gd name="adj" fmla="val 5000"/>
            </a:avLst>
          </a:prstGeom>
          <a:solidFill>
            <a:srgbClr val="25253D"/>
          </a:solidFill>
          <a:ln w="12700">
            <a:solidFill>
              <a:srgbClr val="FF4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0" y="1920240"/>
            <a:ext cx="3840480" cy="365760"/>
          </a:xfrm>
          <a:prstGeom prst="rect">
            <a:avLst/>
          </a:prstGeom>
          <a:noFill/>
        </p:spPr>
        <p:txBody>
          <a:bodyPr wrap="square">
            <a:spAutoFit/>
          </a:bodyPr>
          <a:lstStyle/>
          <a:p>
            <a:pPr algn="l">
              <a:defRPr sz="1500" b="1">
                <a:solidFill>
                  <a:srgbClr val="FF4545"/>
                </a:solidFill>
                <a:latin typeface="Microsoft YaHei"/>
              </a:defRPr>
            </a:pPr>
            <a:r>
              <a:t>3种求解方法比较</a:t>
            </a:r>
          </a:p>
        </p:txBody>
      </p:sp>
      <p:sp>
        <p:nvSpPr>
          <p:cNvPr id="10" name="TextBox 9"/>
          <p:cNvSpPr txBox="1"/>
          <p:nvPr/>
        </p:nvSpPr>
        <p:spPr>
          <a:xfrm>
            <a:off x="7498080" y="2286000"/>
            <a:ext cx="3840480" cy="4023360"/>
          </a:xfrm>
          <a:prstGeom prst="rect">
            <a:avLst/>
          </a:prstGeom>
          <a:noFill/>
        </p:spPr>
        <p:txBody>
          <a:bodyPr wrap="square">
            <a:spAutoFit/>
          </a:bodyPr>
          <a:lstStyle/>
          <a:p>
            <a:pPr>
              <a:spcAft>
                <a:spcPts val="400"/>
              </a:spcAft>
              <a:defRPr sz="1300">
                <a:solidFill>
                  <a:srgbClr val="BBBBCC"/>
                </a:solidFill>
                <a:latin typeface="Microsoft YaHei"/>
              </a:defRPr>
            </a:pPr>
            <a:r>
              <a:t>方法1: inv(X^T X) @ X^T @ y</a:t>
            </a:r>
          </a:p>
          <a:p>
            <a:pPr>
              <a:spcAft>
                <a:spcPts val="400"/>
              </a:spcAft>
              <a:defRPr sz="1300">
                <a:solidFill>
                  <a:srgbClr val="BBBBCC"/>
                </a:solidFill>
                <a:latin typeface="Microsoft YaHei"/>
              </a:defRPr>
            </a:pPr>
            <a:r>
              <a:t>  -&gt; 条件数大的矩阵数值不稳定</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方法2: solve(X^T X, X^T @ y)</a:t>
            </a:r>
          </a:p>
          <a:p>
            <a:pPr>
              <a:spcAft>
                <a:spcPts val="400"/>
              </a:spcAft>
              <a:defRPr sz="1300">
                <a:solidFill>
                  <a:srgbClr val="BBBBCC"/>
                </a:solidFill>
                <a:latin typeface="Microsoft YaHei"/>
              </a:defRPr>
            </a:pPr>
            <a:r>
              <a:t>  -&gt; 基于LU分解, 更稳定</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方法3: lstsq(X, y) [推荐!]</a:t>
            </a:r>
          </a:p>
          <a:p>
            <a:pPr>
              <a:spcAft>
                <a:spcPts val="400"/>
              </a:spcAft>
              <a:defRPr sz="1300">
                <a:solidFill>
                  <a:srgbClr val="BBBBCC"/>
                </a:solidFill>
                <a:latin typeface="Microsoft YaHei"/>
              </a:defRPr>
            </a:pPr>
            <a:r>
              <a:t>  -&gt; 基于SVD, 最稳定</a:t>
            </a:r>
          </a:p>
          <a:p>
            <a:pPr>
              <a:spcAft>
                <a:spcPts val="400"/>
              </a:spcAft>
              <a:defRPr sz="1300">
                <a:solidFill>
                  <a:srgbClr val="BBBBCC"/>
                </a:solidFill>
                <a:latin typeface="Microsoft YaHei"/>
              </a:defRPr>
            </a:pPr>
            <a:r>
              <a:t>  -&gt; 可处理秩不足矩阵</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实际推荐: 始终使用lstsq()</a:t>
            </a:r>
          </a:p>
          <a:p>
            <a:pPr>
              <a:spcAft>
                <a:spcPts val="400"/>
              </a:spcAft>
              <a:defRPr sz="1300">
                <a:solidFill>
                  <a:srgbClr val="BBBBCC"/>
                </a:solidFill>
                <a:latin typeface="Microsoft YaHei"/>
              </a:defRPr>
            </a:pPr>
            <a:r>
              <a:t>逆矩阵因条件数问题不推荐</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2</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线性代数与ML关系总结</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各分解在ML算法中的应用</a:t>
            </a:r>
          </a:p>
        </p:txBody>
      </p:sp>
      <p:sp>
        <p:nvSpPr>
          <p:cNvPr id="6" name="Rectangle 5"/>
          <p:cNvSpPr/>
          <p:nvPr/>
        </p:nvSpPr>
        <p:spPr>
          <a:xfrm>
            <a:off x="548640" y="1828800"/>
            <a:ext cx="2743200" cy="457200"/>
          </a:xfrm>
          <a:prstGeom prst="rect">
            <a:avLst/>
          </a:prstGeom>
          <a:solidFill>
            <a:srgbClr val="A0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28800"/>
            <a:ext cx="2743200" cy="457200"/>
          </a:xfrm>
          <a:prstGeom prst="rect">
            <a:avLst/>
          </a:prstGeom>
          <a:noFill/>
        </p:spPr>
        <p:txBody>
          <a:bodyPr wrap="square">
            <a:spAutoFit/>
          </a:bodyPr>
          <a:lstStyle/>
          <a:p>
            <a:pPr algn="ctr">
              <a:defRPr sz="1400" b="1">
                <a:solidFill>
                  <a:srgbClr val="FFFFFF"/>
                </a:solidFill>
                <a:latin typeface="Microsoft YaHei"/>
              </a:defRPr>
            </a:pPr>
            <a:r>
              <a:t>线性代数运算</a:t>
            </a:r>
          </a:p>
        </p:txBody>
      </p:sp>
      <p:sp>
        <p:nvSpPr>
          <p:cNvPr id="8" name="Rectangle 7"/>
          <p:cNvSpPr/>
          <p:nvPr/>
        </p:nvSpPr>
        <p:spPr>
          <a:xfrm>
            <a:off x="3291840" y="1828800"/>
            <a:ext cx="4114800" cy="457200"/>
          </a:xfrm>
          <a:prstGeom prst="rect">
            <a:avLst/>
          </a:prstGeom>
          <a:solidFill>
            <a:srgbClr val="A0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91840" y="1828800"/>
            <a:ext cx="4114800" cy="457200"/>
          </a:xfrm>
          <a:prstGeom prst="rect">
            <a:avLst/>
          </a:prstGeom>
          <a:noFill/>
        </p:spPr>
        <p:txBody>
          <a:bodyPr wrap="square">
            <a:spAutoFit/>
          </a:bodyPr>
          <a:lstStyle/>
          <a:p>
            <a:pPr algn="ctr">
              <a:defRPr sz="1400" b="1">
                <a:solidFill>
                  <a:srgbClr val="FFFFFF"/>
                </a:solidFill>
                <a:latin typeface="Microsoft YaHei"/>
              </a:defRPr>
            </a:pPr>
            <a:r>
              <a:t>ML应用</a:t>
            </a:r>
          </a:p>
        </p:txBody>
      </p:sp>
      <p:sp>
        <p:nvSpPr>
          <p:cNvPr id="10" name="Rectangle 9"/>
          <p:cNvSpPr/>
          <p:nvPr/>
        </p:nvSpPr>
        <p:spPr>
          <a:xfrm>
            <a:off x="7406640" y="1828800"/>
            <a:ext cx="3200400" cy="457200"/>
          </a:xfrm>
          <a:prstGeom prst="rect">
            <a:avLst/>
          </a:prstGeom>
          <a:solidFill>
            <a:srgbClr val="A0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06640" y="1828800"/>
            <a:ext cx="3200400" cy="457200"/>
          </a:xfrm>
          <a:prstGeom prst="rect">
            <a:avLst/>
          </a:prstGeom>
          <a:noFill/>
        </p:spPr>
        <p:txBody>
          <a:bodyPr wrap="square">
            <a:spAutoFit/>
          </a:bodyPr>
          <a:lstStyle/>
          <a:p>
            <a:pPr algn="ctr">
              <a:defRPr sz="1400" b="1">
                <a:solidFill>
                  <a:srgbClr val="FFFFFF"/>
                </a:solidFill>
                <a:latin typeface="Microsoft YaHei"/>
              </a:defRPr>
            </a:pPr>
            <a:r>
              <a:t>NumPy函数</a:t>
            </a:r>
          </a:p>
        </p:txBody>
      </p:sp>
      <p:sp>
        <p:nvSpPr>
          <p:cNvPr id="12" name="Rectangle 11"/>
          <p:cNvSpPr/>
          <p:nvPr/>
        </p:nvSpPr>
        <p:spPr>
          <a:xfrm>
            <a:off x="548640" y="2286000"/>
            <a:ext cx="27432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286000"/>
            <a:ext cx="2743200" cy="457200"/>
          </a:xfrm>
          <a:prstGeom prst="rect">
            <a:avLst/>
          </a:prstGeom>
          <a:noFill/>
        </p:spPr>
        <p:txBody>
          <a:bodyPr wrap="square">
            <a:spAutoFit/>
          </a:bodyPr>
          <a:lstStyle/>
          <a:p>
            <a:pPr algn="ctr">
              <a:defRPr sz="1300" b="1">
                <a:solidFill>
                  <a:srgbClr val="00D2FF"/>
                </a:solidFill>
                <a:latin typeface="Microsoft YaHei"/>
              </a:defRPr>
            </a:pPr>
            <a:r>
              <a:t>SVD</a:t>
            </a:r>
          </a:p>
        </p:txBody>
      </p:sp>
      <p:sp>
        <p:nvSpPr>
          <p:cNvPr id="14" name="Rectangle 13"/>
          <p:cNvSpPr/>
          <p:nvPr/>
        </p:nvSpPr>
        <p:spPr>
          <a:xfrm>
            <a:off x="3291840" y="2286000"/>
            <a:ext cx="41148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91840" y="2286000"/>
            <a:ext cx="4114800" cy="457200"/>
          </a:xfrm>
          <a:prstGeom prst="rect">
            <a:avLst/>
          </a:prstGeom>
          <a:noFill/>
        </p:spPr>
        <p:txBody>
          <a:bodyPr wrap="square">
            <a:spAutoFit/>
          </a:bodyPr>
          <a:lstStyle/>
          <a:p>
            <a:pPr algn="ctr">
              <a:defRPr sz="1300" b="0">
                <a:solidFill>
                  <a:srgbClr val="BBBBCC"/>
                </a:solidFill>
                <a:latin typeface="Microsoft YaHei"/>
              </a:defRPr>
            </a:pPr>
            <a:r>
              <a:t>PCA, 推荐系统, LSA</a:t>
            </a:r>
          </a:p>
        </p:txBody>
      </p:sp>
      <p:sp>
        <p:nvSpPr>
          <p:cNvPr id="16" name="Rectangle 15"/>
          <p:cNvSpPr/>
          <p:nvPr/>
        </p:nvSpPr>
        <p:spPr>
          <a:xfrm>
            <a:off x="7406640" y="2286000"/>
            <a:ext cx="32004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06640" y="2286000"/>
            <a:ext cx="3200400" cy="457200"/>
          </a:xfrm>
          <a:prstGeom prst="rect">
            <a:avLst/>
          </a:prstGeom>
          <a:noFill/>
        </p:spPr>
        <p:txBody>
          <a:bodyPr wrap="square">
            <a:spAutoFit/>
          </a:bodyPr>
          <a:lstStyle/>
          <a:p>
            <a:pPr algn="ctr">
              <a:defRPr sz="1300" b="0">
                <a:solidFill>
                  <a:srgbClr val="BBBBCC"/>
                </a:solidFill>
                <a:latin typeface="Microsoft YaHei"/>
              </a:defRPr>
            </a:pPr>
            <a:r>
              <a:t>np.linalg.svd()</a:t>
            </a:r>
          </a:p>
        </p:txBody>
      </p:sp>
      <p:sp>
        <p:nvSpPr>
          <p:cNvPr id="18" name="Rectangle 17"/>
          <p:cNvSpPr/>
          <p:nvPr/>
        </p:nvSpPr>
        <p:spPr>
          <a:xfrm>
            <a:off x="548640" y="2743200"/>
            <a:ext cx="274320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743200"/>
            <a:ext cx="2743200" cy="457200"/>
          </a:xfrm>
          <a:prstGeom prst="rect">
            <a:avLst/>
          </a:prstGeom>
          <a:noFill/>
        </p:spPr>
        <p:txBody>
          <a:bodyPr wrap="square">
            <a:spAutoFit/>
          </a:bodyPr>
          <a:lstStyle/>
          <a:p>
            <a:pPr algn="ctr">
              <a:defRPr sz="1300" b="1">
                <a:solidFill>
                  <a:srgbClr val="00D2FF"/>
                </a:solidFill>
                <a:latin typeface="Microsoft YaHei"/>
              </a:defRPr>
            </a:pPr>
            <a:r>
              <a:t>特征值分解</a:t>
            </a:r>
          </a:p>
        </p:txBody>
      </p:sp>
      <p:sp>
        <p:nvSpPr>
          <p:cNvPr id="20" name="Rectangle 19"/>
          <p:cNvSpPr/>
          <p:nvPr/>
        </p:nvSpPr>
        <p:spPr>
          <a:xfrm>
            <a:off x="3291840" y="2743200"/>
            <a:ext cx="411480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91840" y="2743200"/>
            <a:ext cx="4114800" cy="457200"/>
          </a:xfrm>
          <a:prstGeom prst="rect">
            <a:avLst/>
          </a:prstGeom>
          <a:noFill/>
        </p:spPr>
        <p:txBody>
          <a:bodyPr wrap="square">
            <a:spAutoFit/>
          </a:bodyPr>
          <a:lstStyle/>
          <a:p>
            <a:pPr algn="ctr">
              <a:defRPr sz="1300" b="0">
                <a:solidFill>
                  <a:srgbClr val="BBBBCC"/>
                </a:solidFill>
                <a:latin typeface="Microsoft YaHei"/>
              </a:defRPr>
            </a:pPr>
            <a:r>
              <a:t>PCA, 谱聚类</a:t>
            </a:r>
          </a:p>
        </p:txBody>
      </p:sp>
      <p:sp>
        <p:nvSpPr>
          <p:cNvPr id="22" name="Rectangle 21"/>
          <p:cNvSpPr/>
          <p:nvPr/>
        </p:nvSpPr>
        <p:spPr>
          <a:xfrm>
            <a:off x="7406640" y="2743200"/>
            <a:ext cx="320040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06640" y="2743200"/>
            <a:ext cx="3200400" cy="457200"/>
          </a:xfrm>
          <a:prstGeom prst="rect">
            <a:avLst/>
          </a:prstGeom>
          <a:noFill/>
        </p:spPr>
        <p:txBody>
          <a:bodyPr wrap="square">
            <a:spAutoFit/>
          </a:bodyPr>
          <a:lstStyle/>
          <a:p>
            <a:pPr algn="ctr">
              <a:defRPr sz="1300" b="0">
                <a:solidFill>
                  <a:srgbClr val="BBBBCC"/>
                </a:solidFill>
                <a:latin typeface="Microsoft YaHei"/>
              </a:defRPr>
            </a:pPr>
            <a:r>
              <a:t>np.linalg.eigh()</a:t>
            </a:r>
          </a:p>
        </p:txBody>
      </p:sp>
      <p:sp>
        <p:nvSpPr>
          <p:cNvPr id="24" name="Rectangle 23"/>
          <p:cNvSpPr/>
          <p:nvPr/>
        </p:nvSpPr>
        <p:spPr>
          <a:xfrm>
            <a:off x="548640" y="3200400"/>
            <a:ext cx="27432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200400"/>
            <a:ext cx="2743200" cy="457200"/>
          </a:xfrm>
          <a:prstGeom prst="rect">
            <a:avLst/>
          </a:prstGeom>
          <a:noFill/>
        </p:spPr>
        <p:txBody>
          <a:bodyPr wrap="square">
            <a:spAutoFit/>
          </a:bodyPr>
          <a:lstStyle/>
          <a:p>
            <a:pPr algn="ctr">
              <a:defRPr sz="1300" b="1">
                <a:solidFill>
                  <a:srgbClr val="00D2FF"/>
                </a:solidFill>
                <a:latin typeface="Microsoft YaHei"/>
              </a:defRPr>
            </a:pPr>
            <a:r>
              <a:t>QR分解</a:t>
            </a:r>
          </a:p>
        </p:txBody>
      </p:sp>
      <p:sp>
        <p:nvSpPr>
          <p:cNvPr id="26" name="Rectangle 25"/>
          <p:cNvSpPr/>
          <p:nvPr/>
        </p:nvSpPr>
        <p:spPr>
          <a:xfrm>
            <a:off x="3291840" y="3200400"/>
            <a:ext cx="41148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91840" y="3200400"/>
            <a:ext cx="4114800" cy="457200"/>
          </a:xfrm>
          <a:prstGeom prst="rect">
            <a:avLst/>
          </a:prstGeom>
          <a:noFill/>
        </p:spPr>
        <p:txBody>
          <a:bodyPr wrap="square">
            <a:spAutoFit/>
          </a:bodyPr>
          <a:lstStyle/>
          <a:p>
            <a:pPr algn="ctr">
              <a:defRPr sz="1300" b="0">
                <a:solidFill>
                  <a:srgbClr val="BBBBCC"/>
                </a:solidFill>
                <a:latin typeface="Microsoft YaHei"/>
              </a:defRPr>
            </a:pPr>
            <a:r>
              <a:t>最小二乘法稳定求解</a:t>
            </a:r>
          </a:p>
        </p:txBody>
      </p:sp>
      <p:sp>
        <p:nvSpPr>
          <p:cNvPr id="28" name="Rectangle 27"/>
          <p:cNvSpPr/>
          <p:nvPr/>
        </p:nvSpPr>
        <p:spPr>
          <a:xfrm>
            <a:off x="7406640" y="3200400"/>
            <a:ext cx="32004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06640" y="3200400"/>
            <a:ext cx="3200400" cy="457200"/>
          </a:xfrm>
          <a:prstGeom prst="rect">
            <a:avLst/>
          </a:prstGeom>
          <a:noFill/>
        </p:spPr>
        <p:txBody>
          <a:bodyPr wrap="square">
            <a:spAutoFit/>
          </a:bodyPr>
          <a:lstStyle/>
          <a:p>
            <a:pPr algn="ctr">
              <a:defRPr sz="1300" b="0">
                <a:solidFill>
                  <a:srgbClr val="BBBBCC"/>
                </a:solidFill>
                <a:latin typeface="Microsoft YaHei"/>
              </a:defRPr>
            </a:pPr>
            <a:r>
              <a:t>np.linalg.qr()</a:t>
            </a:r>
          </a:p>
        </p:txBody>
      </p:sp>
      <p:sp>
        <p:nvSpPr>
          <p:cNvPr id="30" name="Rectangle 29"/>
          <p:cNvSpPr/>
          <p:nvPr/>
        </p:nvSpPr>
        <p:spPr>
          <a:xfrm>
            <a:off x="548640" y="3657600"/>
            <a:ext cx="274320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3657600"/>
            <a:ext cx="2743200" cy="457200"/>
          </a:xfrm>
          <a:prstGeom prst="rect">
            <a:avLst/>
          </a:prstGeom>
          <a:noFill/>
        </p:spPr>
        <p:txBody>
          <a:bodyPr wrap="square">
            <a:spAutoFit/>
          </a:bodyPr>
          <a:lstStyle/>
          <a:p>
            <a:pPr algn="ctr">
              <a:defRPr sz="1300" b="1">
                <a:solidFill>
                  <a:srgbClr val="00D2FF"/>
                </a:solidFill>
                <a:latin typeface="Microsoft YaHei"/>
              </a:defRPr>
            </a:pPr>
            <a:r>
              <a:t>LU分解</a:t>
            </a:r>
          </a:p>
        </p:txBody>
      </p:sp>
      <p:sp>
        <p:nvSpPr>
          <p:cNvPr id="32" name="Rectangle 31"/>
          <p:cNvSpPr/>
          <p:nvPr/>
        </p:nvSpPr>
        <p:spPr>
          <a:xfrm>
            <a:off x="3291840" y="3657600"/>
            <a:ext cx="411480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91840" y="3657600"/>
            <a:ext cx="4114800" cy="457200"/>
          </a:xfrm>
          <a:prstGeom prst="rect">
            <a:avLst/>
          </a:prstGeom>
          <a:noFill/>
        </p:spPr>
        <p:txBody>
          <a:bodyPr wrap="square">
            <a:spAutoFit/>
          </a:bodyPr>
          <a:lstStyle/>
          <a:p>
            <a:pPr algn="ctr">
              <a:defRPr sz="1300" b="0">
                <a:solidFill>
                  <a:srgbClr val="BBBBCC"/>
                </a:solidFill>
                <a:latin typeface="Microsoft YaHei"/>
              </a:defRPr>
            </a:pPr>
            <a:r>
              <a:t>线性方程组高效求解</a:t>
            </a:r>
          </a:p>
        </p:txBody>
      </p:sp>
      <p:sp>
        <p:nvSpPr>
          <p:cNvPr id="34" name="Rectangle 33"/>
          <p:cNvSpPr/>
          <p:nvPr/>
        </p:nvSpPr>
        <p:spPr>
          <a:xfrm>
            <a:off x="7406640" y="3657600"/>
            <a:ext cx="320040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06640" y="3657600"/>
            <a:ext cx="3200400" cy="457200"/>
          </a:xfrm>
          <a:prstGeom prst="rect">
            <a:avLst/>
          </a:prstGeom>
          <a:noFill/>
        </p:spPr>
        <p:txBody>
          <a:bodyPr wrap="square">
            <a:spAutoFit/>
          </a:bodyPr>
          <a:lstStyle/>
          <a:p>
            <a:pPr algn="ctr">
              <a:defRPr sz="1300" b="0">
                <a:solidFill>
                  <a:srgbClr val="BBBBCC"/>
                </a:solidFill>
                <a:latin typeface="Microsoft YaHei"/>
              </a:defRPr>
            </a:pPr>
            <a:r>
              <a:t>scipy.linalg.lu()</a:t>
            </a:r>
          </a:p>
        </p:txBody>
      </p:sp>
      <p:sp>
        <p:nvSpPr>
          <p:cNvPr id="36" name="Rectangle 35"/>
          <p:cNvSpPr/>
          <p:nvPr/>
        </p:nvSpPr>
        <p:spPr>
          <a:xfrm>
            <a:off x="548640" y="4114800"/>
            <a:ext cx="27432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4114800"/>
            <a:ext cx="2743200" cy="457200"/>
          </a:xfrm>
          <a:prstGeom prst="rect">
            <a:avLst/>
          </a:prstGeom>
          <a:noFill/>
        </p:spPr>
        <p:txBody>
          <a:bodyPr wrap="square">
            <a:spAutoFit/>
          </a:bodyPr>
          <a:lstStyle/>
          <a:p>
            <a:pPr algn="ctr">
              <a:defRPr sz="1300" b="1">
                <a:solidFill>
                  <a:srgbClr val="00D2FF"/>
                </a:solidFill>
                <a:latin typeface="Microsoft YaHei"/>
              </a:defRPr>
            </a:pPr>
            <a:r>
              <a:t>正规方程</a:t>
            </a:r>
          </a:p>
        </p:txBody>
      </p:sp>
      <p:sp>
        <p:nvSpPr>
          <p:cNvPr id="38" name="Rectangle 37"/>
          <p:cNvSpPr/>
          <p:nvPr/>
        </p:nvSpPr>
        <p:spPr>
          <a:xfrm>
            <a:off x="3291840" y="4114800"/>
            <a:ext cx="41148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91840" y="4114800"/>
            <a:ext cx="4114800" cy="457200"/>
          </a:xfrm>
          <a:prstGeom prst="rect">
            <a:avLst/>
          </a:prstGeom>
          <a:noFill/>
        </p:spPr>
        <p:txBody>
          <a:bodyPr wrap="square">
            <a:spAutoFit/>
          </a:bodyPr>
          <a:lstStyle/>
          <a:p>
            <a:pPr algn="ctr">
              <a:defRPr sz="1300" b="0">
                <a:solidFill>
                  <a:srgbClr val="BBBBCC"/>
                </a:solidFill>
                <a:latin typeface="Microsoft YaHei"/>
              </a:defRPr>
            </a:pPr>
            <a:r>
              <a:t>线性回归</a:t>
            </a:r>
          </a:p>
        </p:txBody>
      </p:sp>
      <p:sp>
        <p:nvSpPr>
          <p:cNvPr id="40" name="Rectangle 39"/>
          <p:cNvSpPr/>
          <p:nvPr/>
        </p:nvSpPr>
        <p:spPr>
          <a:xfrm>
            <a:off x="7406640" y="4114800"/>
            <a:ext cx="32004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06640" y="4114800"/>
            <a:ext cx="3200400" cy="457200"/>
          </a:xfrm>
          <a:prstGeom prst="rect">
            <a:avLst/>
          </a:prstGeom>
          <a:noFill/>
        </p:spPr>
        <p:txBody>
          <a:bodyPr wrap="square">
            <a:spAutoFit/>
          </a:bodyPr>
          <a:lstStyle/>
          <a:p>
            <a:pPr algn="ctr">
              <a:defRPr sz="1300" b="0">
                <a:solidFill>
                  <a:srgbClr val="BBBBCC"/>
                </a:solidFill>
                <a:latin typeface="Microsoft YaHei"/>
              </a:defRPr>
            </a:pPr>
            <a:r>
              <a:t>np.linalg.lstsq()</a:t>
            </a:r>
          </a:p>
        </p:txBody>
      </p:sp>
      <p:sp>
        <p:nvSpPr>
          <p:cNvPr id="42" name="Rectangle 41"/>
          <p:cNvSpPr/>
          <p:nvPr/>
        </p:nvSpPr>
        <p:spPr>
          <a:xfrm>
            <a:off x="548640" y="4572000"/>
            <a:ext cx="274320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4572000"/>
            <a:ext cx="2743200" cy="457200"/>
          </a:xfrm>
          <a:prstGeom prst="rect">
            <a:avLst/>
          </a:prstGeom>
          <a:noFill/>
        </p:spPr>
        <p:txBody>
          <a:bodyPr wrap="square">
            <a:spAutoFit/>
          </a:bodyPr>
          <a:lstStyle/>
          <a:p>
            <a:pPr algn="ctr">
              <a:defRPr sz="1300" b="1">
                <a:solidFill>
                  <a:srgbClr val="00D2FF"/>
                </a:solidFill>
                <a:latin typeface="Microsoft YaHei"/>
              </a:defRPr>
            </a:pPr>
            <a:r>
              <a:t>矩阵乘法</a:t>
            </a:r>
          </a:p>
        </p:txBody>
      </p:sp>
      <p:sp>
        <p:nvSpPr>
          <p:cNvPr id="44" name="Rectangle 43"/>
          <p:cNvSpPr/>
          <p:nvPr/>
        </p:nvSpPr>
        <p:spPr>
          <a:xfrm>
            <a:off x="3291840" y="4572000"/>
            <a:ext cx="411480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91840" y="4572000"/>
            <a:ext cx="4114800" cy="457200"/>
          </a:xfrm>
          <a:prstGeom prst="rect">
            <a:avLst/>
          </a:prstGeom>
          <a:noFill/>
        </p:spPr>
        <p:txBody>
          <a:bodyPr wrap="square">
            <a:spAutoFit/>
          </a:bodyPr>
          <a:lstStyle/>
          <a:p>
            <a:pPr algn="ctr">
              <a:defRPr sz="1300" b="0">
                <a:solidFill>
                  <a:srgbClr val="BBBBCC"/>
                </a:solidFill>
                <a:latin typeface="Microsoft YaHei"/>
              </a:defRPr>
            </a:pPr>
            <a:r>
              <a:t>神经网络前向传播</a:t>
            </a:r>
          </a:p>
        </p:txBody>
      </p:sp>
      <p:sp>
        <p:nvSpPr>
          <p:cNvPr id="46" name="Rectangle 45"/>
          <p:cNvSpPr/>
          <p:nvPr/>
        </p:nvSpPr>
        <p:spPr>
          <a:xfrm>
            <a:off x="7406640" y="4572000"/>
            <a:ext cx="320040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406640" y="4572000"/>
            <a:ext cx="3200400" cy="457200"/>
          </a:xfrm>
          <a:prstGeom prst="rect">
            <a:avLst/>
          </a:prstGeom>
          <a:noFill/>
        </p:spPr>
        <p:txBody>
          <a:bodyPr wrap="square">
            <a:spAutoFit/>
          </a:bodyPr>
          <a:lstStyle/>
          <a:p>
            <a:pPr algn="ctr">
              <a:defRPr sz="1300" b="0">
                <a:solidFill>
                  <a:srgbClr val="BBBBCC"/>
                </a:solidFill>
                <a:latin typeface="Microsoft YaHei"/>
              </a:defRPr>
            </a:pPr>
            <a:r>
              <a:t>@ 运算符</a:t>
            </a:r>
          </a:p>
        </p:txBody>
      </p:sp>
      <p:sp>
        <p:nvSpPr>
          <p:cNvPr id="48" name="Rectangle 47"/>
          <p:cNvSpPr/>
          <p:nvPr/>
        </p:nvSpPr>
        <p:spPr>
          <a:xfrm>
            <a:off x="548640" y="5029200"/>
            <a:ext cx="27432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 y="5029200"/>
            <a:ext cx="2743200" cy="457200"/>
          </a:xfrm>
          <a:prstGeom prst="rect">
            <a:avLst/>
          </a:prstGeom>
          <a:noFill/>
        </p:spPr>
        <p:txBody>
          <a:bodyPr wrap="square">
            <a:spAutoFit/>
          </a:bodyPr>
          <a:lstStyle/>
          <a:p>
            <a:pPr algn="ctr">
              <a:defRPr sz="1300" b="1">
                <a:solidFill>
                  <a:srgbClr val="00D2FF"/>
                </a:solidFill>
                <a:latin typeface="Microsoft YaHei"/>
              </a:defRPr>
            </a:pPr>
            <a:r>
              <a:t>范数</a:t>
            </a:r>
          </a:p>
        </p:txBody>
      </p:sp>
      <p:sp>
        <p:nvSpPr>
          <p:cNvPr id="50" name="Rectangle 49"/>
          <p:cNvSpPr/>
          <p:nvPr/>
        </p:nvSpPr>
        <p:spPr>
          <a:xfrm>
            <a:off x="3291840" y="5029200"/>
            <a:ext cx="41148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291840" y="5029200"/>
            <a:ext cx="4114800" cy="457200"/>
          </a:xfrm>
          <a:prstGeom prst="rect">
            <a:avLst/>
          </a:prstGeom>
          <a:noFill/>
        </p:spPr>
        <p:txBody>
          <a:bodyPr wrap="square">
            <a:spAutoFit/>
          </a:bodyPr>
          <a:lstStyle/>
          <a:p>
            <a:pPr algn="ctr">
              <a:defRPr sz="1300" b="0">
                <a:solidFill>
                  <a:srgbClr val="BBBBCC"/>
                </a:solidFill>
                <a:latin typeface="Microsoft YaHei"/>
              </a:defRPr>
            </a:pPr>
            <a:r>
              <a:t>L1, L2正则化</a:t>
            </a:r>
          </a:p>
        </p:txBody>
      </p:sp>
      <p:sp>
        <p:nvSpPr>
          <p:cNvPr id="52" name="Rectangle 51"/>
          <p:cNvSpPr/>
          <p:nvPr/>
        </p:nvSpPr>
        <p:spPr>
          <a:xfrm>
            <a:off x="7406640" y="5029200"/>
            <a:ext cx="32004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406640" y="5029200"/>
            <a:ext cx="3200400" cy="457200"/>
          </a:xfrm>
          <a:prstGeom prst="rect">
            <a:avLst/>
          </a:prstGeom>
          <a:noFill/>
        </p:spPr>
        <p:txBody>
          <a:bodyPr wrap="square">
            <a:spAutoFit/>
          </a:bodyPr>
          <a:lstStyle/>
          <a:p>
            <a:pPr algn="ctr">
              <a:defRPr sz="1300" b="0">
                <a:solidFill>
                  <a:srgbClr val="BBBBCC"/>
                </a:solidFill>
                <a:latin typeface="Microsoft YaHei"/>
              </a:defRPr>
            </a:pPr>
            <a:r>
              <a:t>np.linalg.norm()</a:t>
            </a:r>
          </a:p>
        </p:txBody>
      </p:sp>
      <p:sp>
        <p:nvSpPr>
          <p:cNvPr id="54" name="Rounded Rectangle 53"/>
          <p:cNvSpPr/>
          <p:nvPr/>
        </p:nvSpPr>
        <p:spPr>
          <a:xfrm>
            <a:off x="548640" y="5303520"/>
            <a:ext cx="10972800" cy="137160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31520" y="5394960"/>
            <a:ext cx="10607040" cy="365760"/>
          </a:xfrm>
          <a:prstGeom prst="rect">
            <a:avLst/>
          </a:prstGeom>
          <a:noFill/>
        </p:spPr>
        <p:txBody>
          <a:bodyPr wrap="square">
            <a:spAutoFit/>
          </a:bodyPr>
          <a:lstStyle/>
          <a:p>
            <a:pPr algn="l">
              <a:defRPr sz="1500" b="1">
                <a:solidFill>
                  <a:srgbClr val="00E696"/>
                </a:solidFill>
                <a:latin typeface="Microsoft YaHei"/>
              </a:defRPr>
            </a:pPr>
            <a:r>
              <a:t>核心信息</a:t>
            </a:r>
          </a:p>
        </p:txBody>
      </p:sp>
      <p:sp>
        <p:nvSpPr>
          <p:cNvPr id="56" name="TextBox 55"/>
          <p:cNvSpPr txBox="1"/>
          <p:nvPr/>
        </p:nvSpPr>
        <p:spPr>
          <a:xfrm>
            <a:off x="731520" y="5760720"/>
            <a:ext cx="10607040" cy="822960"/>
          </a:xfrm>
          <a:prstGeom prst="rect">
            <a:avLst/>
          </a:prstGeom>
          <a:noFill/>
        </p:spPr>
        <p:txBody>
          <a:bodyPr wrap="square">
            <a:spAutoFit/>
          </a:bodyPr>
          <a:lstStyle/>
          <a:p>
            <a:pPr>
              <a:spcAft>
                <a:spcPts val="400"/>
              </a:spcAft>
              <a:defRPr sz="1300">
                <a:solidFill>
                  <a:srgbClr val="BBBBCC"/>
                </a:solidFill>
                <a:latin typeface="Microsoft YaHei"/>
              </a:defRPr>
            </a:pPr>
            <a:r>
              <a:t>线性代数是ML算法的数学引擎。NumPy是这个引擎的实现。</a:t>
            </a:r>
          </a:p>
          <a:p>
            <a:pPr>
              <a:spcAft>
                <a:spcPts val="400"/>
              </a:spcAft>
              <a:defRPr sz="1300">
                <a:solidFill>
                  <a:srgbClr val="BBBBCC"/>
                </a:solidFill>
                <a:latin typeface="Microsoft YaHei"/>
              </a:defRPr>
            </a:pPr>
            <a:r>
              <a:t>PCA = SVD或特征值分解 | 线性回归 = 正规方程 | 神经网络 = 矩阵乘法的链式运算</a:t>
            </a:r>
          </a:p>
          <a:p>
            <a:pPr>
              <a:spcAft>
                <a:spcPts val="400"/>
              </a:spcAft>
              <a:defRPr sz="1300">
                <a:solidFill>
                  <a:srgbClr val="BBBBCC"/>
                </a:solidFill>
                <a:latin typeface="Microsoft YaHei"/>
              </a:defRPr>
            </a:pPr>
            <a:r>
              <a:t>所有ML算法的内部都存在线性代数运算。</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2</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View vs Copy详解</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内存共享与数据安全性</a:t>
            </a:r>
          </a:p>
        </p:txBody>
      </p:sp>
      <p:sp>
        <p:nvSpPr>
          <p:cNvPr id="6" name="Rounded Rectangle 5"/>
          <p:cNvSpPr/>
          <p:nvPr/>
        </p:nvSpPr>
        <p:spPr>
          <a:xfrm>
            <a:off x="548640" y="1828800"/>
            <a:ext cx="5486400" cy="228600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65960"/>
            <a:ext cx="5120640" cy="2011680"/>
          </a:xfrm>
          <a:prstGeom prst="rect">
            <a:avLst/>
          </a:prstGeom>
          <a:noFill/>
        </p:spPr>
        <p:txBody>
          <a:bodyPr wrap="square">
            <a:spAutoFit/>
          </a:bodyPr>
          <a:lstStyle/>
          <a:p>
            <a:pPr>
              <a:spcAft>
                <a:spcPts val="200"/>
              </a:spcAft>
              <a:defRPr sz="1200">
                <a:solidFill>
                  <a:srgbClr val="00E696"/>
                </a:solidFill>
                <a:latin typeface="Consolas"/>
              </a:defRPr>
            </a:pPr>
            <a:r>
              <a:t>a = np.array([1, 2, 3, 4, 5])</a:t>
            </a:r>
          </a:p>
          <a:p>
            <a:pPr>
              <a:spcAft>
                <a:spcPts val="200"/>
              </a:spcAft>
              <a:defRPr sz="1200">
                <a:solidFill>
                  <a:srgbClr val="00E696"/>
                </a:solidFill>
                <a:latin typeface="Consolas"/>
              </a:defRPr>
            </a:pPr>
            <a:r>
              <a:t>b = a[1:4]        # 视图(View)</a:t>
            </a:r>
          </a:p>
          <a:p>
            <a:pPr>
              <a:spcAft>
                <a:spcPts val="200"/>
              </a:spcAft>
              <a:defRPr sz="1200">
                <a:solidFill>
                  <a:srgbClr val="00E696"/>
                </a:solidFill>
                <a:latin typeface="Consolas"/>
              </a:defRPr>
            </a:pPr>
            <a:r>
              <a:t>b[0] = 99</a:t>
            </a:r>
          </a:p>
          <a:p>
            <a:pPr>
              <a:spcAft>
                <a:spcPts val="200"/>
              </a:spcAft>
              <a:defRPr sz="1200">
                <a:solidFill>
                  <a:srgbClr val="00E696"/>
                </a:solidFill>
                <a:latin typeface="Consolas"/>
              </a:defRPr>
            </a:pPr>
            <a:r>
              <a:t>print(a)           # [1, 99, 3, 4, 5] -- 原始数据也改变!</a:t>
            </a:r>
          </a:p>
          <a:p>
            <a:pPr>
              <a:spcAft>
                <a:spcPts val="200"/>
              </a:spcAft>
              <a:defRPr sz="1200">
                <a:solidFill>
                  <a:srgbClr val="00E696"/>
                </a:solidFill>
                <a:latin typeface="Consolas"/>
              </a:defRPr>
            </a:pPr>
          </a:p>
          <a:p>
            <a:pPr>
              <a:spcAft>
                <a:spcPts val="200"/>
              </a:spcAft>
              <a:defRPr sz="1200">
                <a:solidFill>
                  <a:srgbClr val="00E696"/>
                </a:solidFill>
                <a:latin typeface="Consolas"/>
              </a:defRPr>
            </a:pPr>
            <a:r>
              <a:t>c = a[1:4].copy()  # 副本(Copy)</a:t>
            </a:r>
          </a:p>
          <a:p>
            <a:pPr>
              <a:spcAft>
                <a:spcPts val="200"/>
              </a:spcAft>
              <a:defRPr sz="1200">
                <a:solidFill>
                  <a:srgbClr val="00E696"/>
                </a:solidFill>
                <a:latin typeface="Consolas"/>
              </a:defRPr>
            </a:pPr>
            <a:r>
              <a:t>c[0] = 100</a:t>
            </a:r>
          </a:p>
          <a:p>
            <a:pPr>
              <a:spcAft>
                <a:spcPts val="200"/>
              </a:spcAft>
              <a:defRPr sz="1200">
                <a:solidFill>
                  <a:srgbClr val="00E696"/>
                </a:solidFill>
                <a:latin typeface="Consolas"/>
              </a:defRPr>
            </a:pPr>
            <a:r>
              <a:t>print(a)           # [1, 99, 3, 4, 5] -- 原始不变</a:t>
            </a:r>
          </a:p>
        </p:txBody>
      </p:sp>
      <p:sp>
        <p:nvSpPr>
          <p:cNvPr id="8" name="Rectangle 7"/>
          <p:cNvSpPr/>
          <p:nvPr/>
        </p:nvSpPr>
        <p:spPr>
          <a:xfrm>
            <a:off x="548640" y="4389120"/>
            <a:ext cx="3200400" cy="4572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389120"/>
            <a:ext cx="3200400" cy="457200"/>
          </a:xfrm>
          <a:prstGeom prst="rect">
            <a:avLst/>
          </a:prstGeom>
          <a:noFill/>
        </p:spPr>
        <p:txBody>
          <a:bodyPr wrap="square">
            <a:spAutoFit/>
          </a:bodyPr>
          <a:lstStyle/>
          <a:p>
            <a:pPr algn="ctr">
              <a:defRPr sz="1400" b="1">
                <a:solidFill>
                  <a:srgbClr val="FFFFFF"/>
                </a:solidFill>
                <a:latin typeface="Microsoft YaHei"/>
              </a:defRPr>
            </a:pPr>
            <a:r>
              <a:t>操作</a:t>
            </a:r>
          </a:p>
        </p:txBody>
      </p:sp>
      <p:sp>
        <p:nvSpPr>
          <p:cNvPr id="10" name="Rectangle 9"/>
          <p:cNvSpPr/>
          <p:nvPr/>
        </p:nvSpPr>
        <p:spPr>
          <a:xfrm>
            <a:off x="3749040" y="4389120"/>
            <a:ext cx="2743200" cy="4572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49040" y="4389120"/>
            <a:ext cx="2743200" cy="457200"/>
          </a:xfrm>
          <a:prstGeom prst="rect">
            <a:avLst/>
          </a:prstGeom>
          <a:noFill/>
        </p:spPr>
        <p:txBody>
          <a:bodyPr wrap="square">
            <a:spAutoFit/>
          </a:bodyPr>
          <a:lstStyle/>
          <a:p>
            <a:pPr algn="ctr">
              <a:defRPr sz="1400" b="1">
                <a:solidFill>
                  <a:srgbClr val="FFFFFF"/>
                </a:solidFill>
                <a:latin typeface="Microsoft YaHei"/>
              </a:defRPr>
            </a:pPr>
            <a:r>
              <a:t>返回类型</a:t>
            </a:r>
          </a:p>
        </p:txBody>
      </p:sp>
      <p:sp>
        <p:nvSpPr>
          <p:cNvPr id="12" name="Rectangle 11"/>
          <p:cNvSpPr/>
          <p:nvPr/>
        </p:nvSpPr>
        <p:spPr>
          <a:xfrm>
            <a:off x="6492240" y="4389120"/>
            <a:ext cx="1828800" cy="4572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4389120"/>
            <a:ext cx="1828800" cy="457200"/>
          </a:xfrm>
          <a:prstGeom prst="rect">
            <a:avLst/>
          </a:prstGeom>
          <a:noFill/>
        </p:spPr>
        <p:txBody>
          <a:bodyPr wrap="square">
            <a:spAutoFit/>
          </a:bodyPr>
          <a:lstStyle/>
          <a:p>
            <a:pPr algn="ctr">
              <a:defRPr sz="1400" b="1">
                <a:solidFill>
                  <a:srgbClr val="FFFFFF"/>
                </a:solidFill>
                <a:latin typeface="Microsoft YaHei"/>
              </a:defRPr>
            </a:pPr>
            <a:r>
              <a:t>内存共享</a:t>
            </a:r>
          </a:p>
        </p:txBody>
      </p:sp>
      <p:sp>
        <p:nvSpPr>
          <p:cNvPr id="14" name="Rectangle 13"/>
          <p:cNvSpPr/>
          <p:nvPr/>
        </p:nvSpPr>
        <p:spPr>
          <a:xfrm>
            <a:off x="548640" y="4846320"/>
            <a:ext cx="3200400" cy="32004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4846320"/>
            <a:ext cx="3200400" cy="320040"/>
          </a:xfrm>
          <a:prstGeom prst="rect">
            <a:avLst/>
          </a:prstGeom>
          <a:noFill/>
        </p:spPr>
        <p:txBody>
          <a:bodyPr wrap="square">
            <a:spAutoFit/>
          </a:bodyPr>
          <a:lstStyle/>
          <a:p>
            <a:pPr algn="ctr">
              <a:defRPr sz="1200" b="1">
                <a:solidFill>
                  <a:srgbClr val="00D2FF"/>
                </a:solidFill>
                <a:latin typeface="Microsoft YaHei"/>
              </a:defRPr>
            </a:pPr>
            <a:r>
              <a:t>切片 a[1:4]</a:t>
            </a:r>
          </a:p>
        </p:txBody>
      </p:sp>
      <p:sp>
        <p:nvSpPr>
          <p:cNvPr id="16" name="Rectangle 15"/>
          <p:cNvSpPr/>
          <p:nvPr/>
        </p:nvSpPr>
        <p:spPr>
          <a:xfrm>
            <a:off x="3749040" y="4846320"/>
            <a:ext cx="2743200" cy="32004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49040" y="4846320"/>
            <a:ext cx="2743200" cy="320040"/>
          </a:xfrm>
          <a:prstGeom prst="rect">
            <a:avLst/>
          </a:prstGeom>
          <a:noFill/>
        </p:spPr>
        <p:txBody>
          <a:bodyPr wrap="square">
            <a:spAutoFit/>
          </a:bodyPr>
          <a:lstStyle/>
          <a:p>
            <a:pPr algn="ctr">
              <a:defRPr sz="1200" b="0">
                <a:solidFill>
                  <a:srgbClr val="BBBBCC"/>
                </a:solidFill>
                <a:latin typeface="Microsoft YaHei"/>
              </a:defRPr>
            </a:pPr>
            <a:r>
              <a:t>View</a:t>
            </a:r>
          </a:p>
        </p:txBody>
      </p:sp>
      <p:sp>
        <p:nvSpPr>
          <p:cNvPr id="18" name="Rectangle 17"/>
          <p:cNvSpPr/>
          <p:nvPr/>
        </p:nvSpPr>
        <p:spPr>
          <a:xfrm>
            <a:off x="6492240" y="4846320"/>
            <a:ext cx="1828800" cy="32004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4846320"/>
            <a:ext cx="1828800" cy="320040"/>
          </a:xfrm>
          <a:prstGeom prst="rect">
            <a:avLst/>
          </a:prstGeom>
          <a:noFill/>
        </p:spPr>
        <p:txBody>
          <a:bodyPr wrap="square">
            <a:spAutoFit/>
          </a:bodyPr>
          <a:lstStyle/>
          <a:p>
            <a:pPr algn="ctr">
              <a:defRPr sz="1200" b="0">
                <a:solidFill>
                  <a:srgbClr val="BBBBCC"/>
                </a:solidFill>
                <a:latin typeface="Microsoft YaHei"/>
              </a:defRPr>
            </a:pPr>
            <a:r>
              <a:t>O</a:t>
            </a:r>
          </a:p>
        </p:txBody>
      </p:sp>
      <p:sp>
        <p:nvSpPr>
          <p:cNvPr id="20" name="Rectangle 19"/>
          <p:cNvSpPr/>
          <p:nvPr/>
        </p:nvSpPr>
        <p:spPr>
          <a:xfrm>
            <a:off x="548640" y="5166360"/>
            <a:ext cx="3200400" cy="32004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166360"/>
            <a:ext cx="3200400" cy="320040"/>
          </a:xfrm>
          <a:prstGeom prst="rect">
            <a:avLst/>
          </a:prstGeom>
          <a:noFill/>
        </p:spPr>
        <p:txBody>
          <a:bodyPr wrap="square">
            <a:spAutoFit/>
          </a:bodyPr>
          <a:lstStyle/>
          <a:p>
            <a:pPr algn="ctr">
              <a:defRPr sz="1200" b="1">
                <a:solidFill>
                  <a:srgbClr val="00D2FF"/>
                </a:solidFill>
                <a:latin typeface="Microsoft YaHei"/>
              </a:defRPr>
            </a:pPr>
            <a:r>
              <a:t>转置 a.T</a:t>
            </a:r>
          </a:p>
        </p:txBody>
      </p:sp>
      <p:sp>
        <p:nvSpPr>
          <p:cNvPr id="22" name="Rectangle 21"/>
          <p:cNvSpPr/>
          <p:nvPr/>
        </p:nvSpPr>
        <p:spPr>
          <a:xfrm>
            <a:off x="3749040" y="5166360"/>
            <a:ext cx="2743200" cy="32004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49040" y="5166360"/>
            <a:ext cx="2743200" cy="320040"/>
          </a:xfrm>
          <a:prstGeom prst="rect">
            <a:avLst/>
          </a:prstGeom>
          <a:noFill/>
        </p:spPr>
        <p:txBody>
          <a:bodyPr wrap="square">
            <a:spAutoFit/>
          </a:bodyPr>
          <a:lstStyle/>
          <a:p>
            <a:pPr algn="ctr">
              <a:defRPr sz="1200" b="0">
                <a:solidFill>
                  <a:srgbClr val="BBBBCC"/>
                </a:solidFill>
                <a:latin typeface="Microsoft YaHei"/>
              </a:defRPr>
            </a:pPr>
            <a:r>
              <a:t>View</a:t>
            </a:r>
          </a:p>
        </p:txBody>
      </p:sp>
      <p:sp>
        <p:nvSpPr>
          <p:cNvPr id="24" name="Rectangle 23"/>
          <p:cNvSpPr/>
          <p:nvPr/>
        </p:nvSpPr>
        <p:spPr>
          <a:xfrm>
            <a:off x="6492240" y="5166360"/>
            <a:ext cx="1828800" cy="32004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0" y="5166360"/>
            <a:ext cx="1828800" cy="320040"/>
          </a:xfrm>
          <a:prstGeom prst="rect">
            <a:avLst/>
          </a:prstGeom>
          <a:noFill/>
        </p:spPr>
        <p:txBody>
          <a:bodyPr wrap="square">
            <a:spAutoFit/>
          </a:bodyPr>
          <a:lstStyle/>
          <a:p>
            <a:pPr algn="ctr">
              <a:defRPr sz="1200" b="0">
                <a:solidFill>
                  <a:srgbClr val="BBBBCC"/>
                </a:solidFill>
                <a:latin typeface="Microsoft YaHei"/>
              </a:defRPr>
            </a:pPr>
            <a:r>
              <a:t>O</a:t>
            </a:r>
          </a:p>
        </p:txBody>
      </p:sp>
      <p:sp>
        <p:nvSpPr>
          <p:cNvPr id="26" name="Rectangle 25"/>
          <p:cNvSpPr/>
          <p:nvPr/>
        </p:nvSpPr>
        <p:spPr>
          <a:xfrm>
            <a:off x="548640" y="5486400"/>
            <a:ext cx="3200400" cy="32004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486400"/>
            <a:ext cx="3200400" cy="320040"/>
          </a:xfrm>
          <a:prstGeom prst="rect">
            <a:avLst/>
          </a:prstGeom>
          <a:noFill/>
        </p:spPr>
        <p:txBody>
          <a:bodyPr wrap="square">
            <a:spAutoFit/>
          </a:bodyPr>
          <a:lstStyle/>
          <a:p>
            <a:pPr algn="ctr">
              <a:defRPr sz="1200" b="1">
                <a:solidFill>
                  <a:srgbClr val="00D2FF"/>
                </a:solidFill>
                <a:latin typeface="Microsoft YaHei"/>
              </a:defRPr>
            </a:pPr>
            <a:r>
              <a:t>reshape()</a:t>
            </a:r>
          </a:p>
        </p:txBody>
      </p:sp>
      <p:sp>
        <p:nvSpPr>
          <p:cNvPr id="28" name="Rectangle 27"/>
          <p:cNvSpPr/>
          <p:nvPr/>
        </p:nvSpPr>
        <p:spPr>
          <a:xfrm>
            <a:off x="3749040" y="5486400"/>
            <a:ext cx="2743200" cy="32004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749040" y="5486400"/>
            <a:ext cx="2743200" cy="320040"/>
          </a:xfrm>
          <a:prstGeom prst="rect">
            <a:avLst/>
          </a:prstGeom>
          <a:noFill/>
        </p:spPr>
        <p:txBody>
          <a:bodyPr wrap="square">
            <a:spAutoFit/>
          </a:bodyPr>
          <a:lstStyle/>
          <a:p>
            <a:pPr algn="ctr">
              <a:defRPr sz="1200" b="0">
                <a:solidFill>
                  <a:srgbClr val="BBBBCC"/>
                </a:solidFill>
                <a:latin typeface="Microsoft YaHei"/>
              </a:defRPr>
            </a:pPr>
            <a:r>
              <a:t>View (可能时)</a:t>
            </a:r>
          </a:p>
        </p:txBody>
      </p:sp>
      <p:sp>
        <p:nvSpPr>
          <p:cNvPr id="30" name="Rectangle 29"/>
          <p:cNvSpPr/>
          <p:nvPr/>
        </p:nvSpPr>
        <p:spPr>
          <a:xfrm>
            <a:off x="6492240" y="5486400"/>
            <a:ext cx="1828800" cy="32004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0" y="5486400"/>
            <a:ext cx="1828800" cy="320040"/>
          </a:xfrm>
          <a:prstGeom prst="rect">
            <a:avLst/>
          </a:prstGeom>
          <a:noFill/>
        </p:spPr>
        <p:txBody>
          <a:bodyPr wrap="square">
            <a:spAutoFit/>
          </a:bodyPr>
          <a:lstStyle/>
          <a:p>
            <a:pPr algn="ctr">
              <a:defRPr sz="1200" b="0">
                <a:solidFill>
                  <a:srgbClr val="BBBBCC"/>
                </a:solidFill>
                <a:latin typeface="Microsoft YaHei"/>
              </a:defRPr>
            </a:pPr>
            <a:r>
              <a:t>O</a:t>
            </a:r>
          </a:p>
        </p:txBody>
      </p:sp>
      <p:sp>
        <p:nvSpPr>
          <p:cNvPr id="32" name="Rectangle 31"/>
          <p:cNvSpPr/>
          <p:nvPr/>
        </p:nvSpPr>
        <p:spPr>
          <a:xfrm>
            <a:off x="548640" y="5806440"/>
            <a:ext cx="3200400" cy="32004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5806440"/>
            <a:ext cx="3200400" cy="320040"/>
          </a:xfrm>
          <a:prstGeom prst="rect">
            <a:avLst/>
          </a:prstGeom>
          <a:noFill/>
        </p:spPr>
        <p:txBody>
          <a:bodyPr wrap="square">
            <a:spAutoFit/>
          </a:bodyPr>
          <a:lstStyle/>
          <a:p>
            <a:pPr algn="ctr">
              <a:defRPr sz="1200" b="1">
                <a:solidFill>
                  <a:srgbClr val="00D2FF"/>
                </a:solidFill>
                <a:latin typeface="Microsoft YaHei"/>
              </a:defRPr>
            </a:pPr>
            <a:r>
              <a:t>ravel()</a:t>
            </a:r>
          </a:p>
        </p:txBody>
      </p:sp>
      <p:sp>
        <p:nvSpPr>
          <p:cNvPr id="34" name="Rectangle 33"/>
          <p:cNvSpPr/>
          <p:nvPr/>
        </p:nvSpPr>
        <p:spPr>
          <a:xfrm>
            <a:off x="3749040" y="5806440"/>
            <a:ext cx="2743200" cy="32004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749040" y="5806440"/>
            <a:ext cx="2743200" cy="320040"/>
          </a:xfrm>
          <a:prstGeom prst="rect">
            <a:avLst/>
          </a:prstGeom>
          <a:noFill/>
        </p:spPr>
        <p:txBody>
          <a:bodyPr wrap="square">
            <a:spAutoFit/>
          </a:bodyPr>
          <a:lstStyle/>
          <a:p>
            <a:pPr algn="ctr">
              <a:defRPr sz="1200" b="0">
                <a:solidFill>
                  <a:srgbClr val="BBBBCC"/>
                </a:solidFill>
                <a:latin typeface="Microsoft YaHei"/>
              </a:defRPr>
            </a:pPr>
            <a:r>
              <a:t>View (可能时)</a:t>
            </a:r>
          </a:p>
        </p:txBody>
      </p:sp>
      <p:sp>
        <p:nvSpPr>
          <p:cNvPr id="36" name="Rectangle 35"/>
          <p:cNvSpPr/>
          <p:nvPr/>
        </p:nvSpPr>
        <p:spPr>
          <a:xfrm>
            <a:off x="6492240" y="5806440"/>
            <a:ext cx="1828800" cy="32004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92240" y="5806440"/>
            <a:ext cx="1828800" cy="320040"/>
          </a:xfrm>
          <a:prstGeom prst="rect">
            <a:avLst/>
          </a:prstGeom>
          <a:noFill/>
        </p:spPr>
        <p:txBody>
          <a:bodyPr wrap="square">
            <a:spAutoFit/>
          </a:bodyPr>
          <a:lstStyle/>
          <a:p>
            <a:pPr algn="ctr">
              <a:defRPr sz="1200" b="0">
                <a:solidFill>
                  <a:srgbClr val="BBBBCC"/>
                </a:solidFill>
                <a:latin typeface="Microsoft YaHei"/>
              </a:defRPr>
            </a:pPr>
            <a:r>
              <a:t>O</a:t>
            </a:r>
          </a:p>
        </p:txBody>
      </p:sp>
      <p:sp>
        <p:nvSpPr>
          <p:cNvPr id="38" name="Rectangle 37"/>
          <p:cNvSpPr/>
          <p:nvPr/>
        </p:nvSpPr>
        <p:spPr>
          <a:xfrm>
            <a:off x="548640" y="6126480"/>
            <a:ext cx="3200400" cy="32004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6126480"/>
            <a:ext cx="3200400" cy="320040"/>
          </a:xfrm>
          <a:prstGeom prst="rect">
            <a:avLst/>
          </a:prstGeom>
          <a:noFill/>
        </p:spPr>
        <p:txBody>
          <a:bodyPr wrap="square">
            <a:spAutoFit/>
          </a:bodyPr>
          <a:lstStyle/>
          <a:p>
            <a:pPr algn="ctr">
              <a:defRPr sz="1200" b="1">
                <a:solidFill>
                  <a:srgbClr val="00D2FF"/>
                </a:solidFill>
                <a:latin typeface="Microsoft YaHei"/>
              </a:defRPr>
            </a:pPr>
            <a:r>
              <a:t>花式索引 a[[0,2]]</a:t>
            </a:r>
          </a:p>
        </p:txBody>
      </p:sp>
      <p:sp>
        <p:nvSpPr>
          <p:cNvPr id="40" name="Rectangle 39"/>
          <p:cNvSpPr/>
          <p:nvPr/>
        </p:nvSpPr>
        <p:spPr>
          <a:xfrm>
            <a:off x="3749040" y="6126480"/>
            <a:ext cx="2743200" cy="32004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749040" y="6126480"/>
            <a:ext cx="2743200" cy="320040"/>
          </a:xfrm>
          <a:prstGeom prst="rect">
            <a:avLst/>
          </a:prstGeom>
          <a:noFill/>
        </p:spPr>
        <p:txBody>
          <a:bodyPr wrap="square">
            <a:spAutoFit/>
          </a:bodyPr>
          <a:lstStyle/>
          <a:p>
            <a:pPr algn="ctr">
              <a:defRPr sz="1200" b="0">
                <a:solidFill>
                  <a:srgbClr val="BBBBCC"/>
                </a:solidFill>
                <a:latin typeface="Microsoft YaHei"/>
              </a:defRPr>
            </a:pPr>
            <a:r>
              <a:t>Copy</a:t>
            </a:r>
          </a:p>
        </p:txBody>
      </p:sp>
      <p:sp>
        <p:nvSpPr>
          <p:cNvPr id="42" name="Rectangle 41"/>
          <p:cNvSpPr/>
          <p:nvPr/>
        </p:nvSpPr>
        <p:spPr>
          <a:xfrm>
            <a:off x="6492240" y="6126480"/>
            <a:ext cx="1828800" cy="32004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92240" y="6126480"/>
            <a:ext cx="1828800" cy="320040"/>
          </a:xfrm>
          <a:prstGeom prst="rect">
            <a:avLst/>
          </a:prstGeom>
          <a:noFill/>
        </p:spPr>
        <p:txBody>
          <a:bodyPr wrap="square">
            <a:spAutoFit/>
          </a:bodyPr>
          <a:lstStyle/>
          <a:p>
            <a:pPr algn="ctr">
              <a:defRPr sz="1200" b="0">
                <a:solidFill>
                  <a:srgbClr val="BBBBCC"/>
                </a:solidFill>
                <a:latin typeface="Microsoft YaHei"/>
              </a:defRPr>
            </a:pPr>
            <a:r>
              <a:t>X</a:t>
            </a:r>
          </a:p>
        </p:txBody>
      </p:sp>
      <p:sp>
        <p:nvSpPr>
          <p:cNvPr id="44" name="Rectangle 43"/>
          <p:cNvSpPr/>
          <p:nvPr/>
        </p:nvSpPr>
        <p:spPr>
          <a:xfrm>
            <a:off x="548640" y="6446520"/>
            <a:ext cx="3200400" cy="32004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8640" y="6446520"/>
            <a:ext cx="3200400" cy="320040"/>
          </a:xfrm>
          <a:prstGeom prst="rect">
            <a:avLst/>
          </a:prstGeom>
          <a:noFill/>
        </p:spPr>
        <p:txBody>
          <a:bodyPr wrap="square">
            <a:spAutoFit/>
          </a:bodyPr>
          <a:lstStyle/>
          <a:p>
            <a:pPr algn="ctr">
              <a:defRPr sz="1200" b="1">
                <a:solidFill>
                  <a:srgbClr val="00D2FF"/>
                </a:solidFill>
                <a:latin typeface="Microsoft YaHei"/>
              </a:defRPr>
            </a:pPr>
            <a:r>
              <a:t>布尔索引 a[mask]</a:t>
            </a:r>
          </a:p>
        </p:txBody>
      </p:sp>
      <p:sp>
        <p:nvSpPr>
          <p:cNvPr id="46" name="Rectangle 45"/>
          <p:cNvSpPr/>
          <p:nvPr/>
        </p:nvSpPr>
        <p:spPr>
          <a:xfrm>
            <a:off x="3749040" y="6446520"/>
            <a:ext cx="2743200" cy="32004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749040" y="6446520"/>
            <a:ext cx="2743200" cy="320040"/>
          </a:xfrm>
          <a:prstGeom prst="rect">
            <a:avLst/>
          </a:prstGeom>
          <a:noFill/>
        </p:spPr>
        <p:txBody>
          <a:bodyPr wrap="square">
            <a:spAutoFit/>
          </a:bodyPr>
          <a:lstStyle/>
          <a:p>
            <a:pPr algn="ctr">
              <a:defRPr sz="1200" b="0">
                <a:solidFill>
                  <a:srgbClr val="BBBBCC"/>
                </a:solidFill>
                <a:latin typeface="Microsoft YaHei"/>
              </a:defRPr>
            </a:pPr>
            <a:r>
              <a:t>Copy</a:t>
            </a:r>
          </a:p>
        </p:txBody>
      </p:sp>
      <p:sp>
        <p:nvSpPr>
          <p:cNvPr id="48" name="Rectangle 47"/>
          <p:cNvSpPr/>
          <p:nvPr/>
        </p:nvSpPr>
        <p:spPr>
          <a:xfrm>
            <a:off x="6492240" y="6446520"/>
            <a:ext cx="1828800" cy="32004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92240" y="6446520"/>
            <a:ext cx="1828800" cy="320040"/>
          </a:xfrm>
          <a:prstGeom prst="rect">
            <a:avLst/>
          </a:prstGeom>
          <a:noFill/>
        </p:spPr>
        <p:txBody>
          <a:bodyPr wrap="square">
            <a:spAutoFit/>
          </a:bodyPr>
          <a:lstStyle/>
          <a:p>
            <a:pPr algn="ctr">
              <a:defRPr sz="1200" b="0">
                <a:solidFill>
                  <a:srgbClr val="BBBBCC"/>
                </a:solidFill>
                <a:latin typeface="Microsoft YaHei"/>
              </a:defRPr>
            </a:pPr>
            <a:r>
              <a:t>X</a:t>
            </a:r>
          </a:p>
        </p:txBody>
      </p:sp>
      <p:sp>
        <p:nvSpPr>
          <p:cNvPr id="50" name="Rectangle 49"/>
          <p:cNvSpPr/>
          <p:nvPr/>
        </p:nvSpPr>
        <p:spPr>
          <a:xfrm>
            <a:off x="548640" y="6766560"/>
            <a:ext cx="3200400" cy="32004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8640" y="6766560"/>
            <a:ext cx="3200400" cy="320040"/>
          </a:xfrm>
          <a:prstGeom prst="rect">
            <a:avLst/>
          </a:prstGeom>
          <a:noFill/>
        </p:spPr>
        <p:txBody>
          <a:bodyPr wrap="square">
            <a:spAutoFit/>
          </a:bodyPr>
          <a:lstStyle/>
          <a:p>
            <a:pPr algn="ctr">
              <a:defRPr sz="1200" b="1">
                <a:solidFill>
                  <a:srgbClr val="00D2FF"/>
                </a:solidFill>
                <a:latin typeface="Microsoft YaHei"/>
              </a:defRPr>
            </a:pPr>
            <a:r>
              <a:t>flatten()</a:t>
            </a:r>
          </a:p>
        </p:txBody>
      </p:sp>
      <p:sp>
        <p:nvSpPr>
          <p:cNvPr id="52" name="Rectangle 51"/>
          <p:cNvSpPr/>
          <p:nvPr/>
        </p:nvSpPr>
        <p:spPr>
          <a:xfrm>
            <a:off x="3749040" y="6766560"/>
            <a:ext cx="2743200" cy="32004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749040" y="6766560"/>
            <a:ext cx="2743200" cy="320040"/>
          </a:xfrm>
          <a:prstGeom prst="rect">
            <a:avLst/>
          </a:prstGeom>
          <a:noFill/>
        </p:spPr>
        <p:txBody>
          <a:bodyPr wrap="square">
            <a:spAutoFit/>
          </a:bodyPr>
          <a:lstStyle/>
          <a:p>
            <a:pPr algn="ctr">
              <a:defRPr sz="1200" b="0">
                <a:solidFill>
                  <a:srgbClr val="BBBBCC"/>
                </a:solidFill>
                <a:latin typeface="Microsoft YaHei"/>
              </a:defRPr>
            </a:pPr>
            <a:r>
              <a:t>Copy</a:t>
            </a:r>
          </a:p>
        </p:txBody>
      </p:sp>
      <p:sp>
        <p:nvSpPr>
          <p:cNvPr id="54" name="Rectangle 53"/>
          <p:cNvSpPr/>
          <p:nvPr/>
        </p:nvSpPr>
        <p:spPr>
          <a:xfrm>
            <a:off x="6492240" y="6766560"/>
            <a:ext cx="1828800" cy="32004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92240" y="6766560"/>
            <a:ext cx="1828800" cy="320040"/>
          </a:xfrm>
          <a:prstGeom prst="rect">
            <a:avLst/>
          </a:prstGeom>
          <a:noFill/>
        </p:spPr>
        <p:txBody>
          <a:bodyPr wrap="square">
            <a:spAutoFit/>
          </a:bodyPr>
          <a:lstStyle/>
          <a:p>
            <a:pPr algn="ctr">
              <a:defRPr sz="1200" b="0">
                <a:solidFill>
                  <a:srgbClr val="BBBBCC"/>
                </a:solidFill>
                <a:latin typeface="Microsoft YaHei"/>
              </a:defRPr>
            </a:pPr>
            <a:r>
              <a:t>X</a:t>
            </a:r>
          </a:p>
        </p:txBody>
      </p:sp>
      <p:sp>
        <p:nvSpPr>
          <p:cNvPr id="56" name="Rectangle 55"/>
          <p:cNvSpPr/>
          <p:nvPr/>
        </p:nvSpPr>
        <p:spPr>
          <a:xfrm>
            <a:off x="548640" y="7086600"/>
            <a:ext cx="3200400" cy="32004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8640" y="7086600"/>
            <a:ext cx="3200400" cy="320040"/>
          </a:xfrm>
          <a:prstGeom prst="rect">
            <a:avLst/>
          </a:prstGeom>
          <a:noFill/>
        </p:spPr>
        <p:txBody>
          <a:bodyPr wrap="square">
            <a:spAutoFit/>
          </a:bodyPr>
          <a:lstStyle/>
          <a:p>
            <a:pPr algn="ctr">
              <a:defRPr sz="1200" b="1">
                <a:solidFill>
                  <a:srgbClr val="00D2FF"/>
                </a:solidFill>
                <a:latin typeface="Microsoft YaHei"/>
              </a:defRPr>
            </a:pPr>
            <a:r>
              <a:t>copy()</a:t>
            </a:r>
          </a:p>
        </p:txBody>
      </p:sp>
      <p:sp>
        <p:nvSpPr>
          <p:cNvPr id="58" name="Rectangle 57"/>
          <p:cNvSpPr/>
          <p:nvPr/>
        </p:nvSpPr>
        <p:spPr>
          <a:xfrm>
            <a:off x="3749040" y="7086600"/>
            <a:ext cx="2743200" cy="32004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749040" y="7086600"/>
            <a:ext cx="2743200" cy="320040"/>
          </a:xfrm>
          <a:prstGeom prst="rect">
            <a:avLst/>
          </a:prstGeom>
          <a:noFill/>
        </p:spPr>
        <p:txBody>
          <a:bodyPr wrap="square">
            <a:spAutoFit/>
          </a:bodyPr>
          <a:lstStyle/>
          <a:p>
            <a:pPr algn="ctr">
              <a:defRPr sz="1200" b="0">
                <a:solidFill>
                  <a:srgbClr val="BBBBCC"/>
                </a:solidFill>
                <a:latin typeface="Microsoft YaHei"/>
              </a:defRPr>
            </a:pPr>
            <a:r>
              <a:t>Copy</a:t>
            </a:r>
          </a:p>
        </p:txBody>
      </p:sp>
      <p:sp>
        <p:nvSpPr>
          <p:cNvPr id="60" name="Rectangle 59"/>
          <p:cNvSpPr/>
          <p:nvPr/>
        </p:nvSpPr>
        <p:spPr>
          <a:xfrm>
            <a:off x="6492240" y="7086600"/>
            <a:ext cx="1828800" cy="32004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492240" y="7086600"/>
            <a:ext cx="1828800" cy="320040"/>
          </a:xfrm>
          <a:prstGeom prst="rect">
            <a:avLst/>
          </a:prstGeom>
          <a:noFill/>
        </p:spPr>
        <p:txBody>
          <a:bodyPr wrap="square">
            <a:spAutoFit/>
          </a:bodyPr>
          <a:lstStyle/>
          <a:p>
            <a:pPr algn="ctr">
              <a:defRPr sz="1200" b="0">
                <a:solidFill>
                  <a:srgbClr val="BBBBCC"/>
                </a:solidFill>
                <a:latin typeface="Microsoft YaHei"/>
              </a:defRPr>
            </a:pPr>
            <a:r>
              <a:t>X</a:t>
            </a:r>
          </a:p>
        </p:txBody>
      </p:sp>
      <p:sp>
        <p:nvSpPr>
          <p:cNvPr id="62" name="Rounded Rectangle 61"/>
          <p:cNvSpPr/>
          <p:nvPr/>
        </p:nvSpPr>
        <p:spPr>
          <a:xfrm>
            <a:off x="6400800" y="1828800"/>
            <a:ext cx="5120640" cy="4754880"/>
          </a:xfrm>
          <a:prstGeom prst="roundRect">
            <a:avLst>
              <a:gd name="adj" fmla="val 5000"/>
            </a:avLst>
          </a:prstGeom>
          <a:solidFill>
            <a:srgbClr val="25253D"/>
          </a:solidFill>
          <a:ln w="12700">
            <a:solidFill>
              <a:srgbClr val="FF4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583680" y="1920240"/>
            <a:ext cx="4754880" cy="365760"/>
          </a:xfrm>
          <a:prstGeom prst="rect">
            <a:avLst/>
          </a:prstGeom>
          <a:noFill/>
        </p:spPr>
        <p:txBody>
          <a:bodyPr wrap="square">
            <a:spAutoFit/>
          </a:bodyPr>
          <a:lstStyle/>
          <a:p>
            <a:pPr algn="l">
              <a:defRPr sz="1500" b="1">
                <a:solidFill>
                  <a:srgbClr val="FF4545"/>
                </a:solidFill>
                <a:latin typeface="Microsoft YaHei"/>
              </a:defRPr>
            </a:pPr>
            <a:r>
              <a:t>View vs Copy判断标准</a:t>
            </a:r>
          </a:p>
        </p:txBody>
      </p:sp>
      <p:sp>
        <p:nvSpPr>
          <p:cNvPr id="64" name="TextBox 63"/>
          <p:cNvSpPr txBox="1"/>
          <p:nvPr/>
        </p:nvSpPr>
        <p:spPr>
          <a:xfrm>
            <a:off x="6583680" y="2286000"/>
            <a:ext cx="4754880" cy="4206240"/>
          </a:xfrm>
          <a:prstGeom prst="rect">
            <a:avLst/>
          </a:prstGeom>
          <a:noFill/>
        </p:spPr>
        <p:txBody>
          <a:bodyPr wrap="square">
            <a:spAutoFit/>
          </a:bodyPr>
          <a:lstStyle/>
          <a:p>
            <a:pPr>
              <a:spcAft>
                <a:spcPts val="400"/>
              </a:spcAft>
              <a:defRPr sz="1300">
                <a:solidFill>
                  <a:srgbClr val="BBBBCC"/>
                </a:solidFill>
                <a:latin typeface="Microsoft YaHei"/>
              </a:defRPr>
            </a:pPr>
            <a:r>
              <a:t>View: 与原始数据共享内存, 效率高</a:t>
            </a:r>
          </a:p>
          <a:p>
            <a:pPr>
              <a:spcAft>
                <a:spcPts val="400"/>
              </a:spcAft>
              <a:defRPr sz="1300">
                <a:solidFill>
                  <a:srgbClr val="BBBBCC"/>
                </a:solidFill>
                <a:latin typeface="Microsoft YaHei"/>
              </a:defRPr>
            </a:pPr>
            <a:r>
              <a:t>  -&gt; 修改会影响原始数据 (注意!)</a:t>
            </a:r>
          </a:p>
          <a:p>
            <a:pPr>
              <a:spcAft>
                <a:spcPts val="400"/>
              </a:spcAft>
              <a:defRPr sz="1300">
                <a:solidFill>
                  <a:srgbClr val="BBBBCC"/>
                </a:solidFill>
                <a:latin typeface="Microsoft YaHei"/>
              </a:defRPr>
            </a:pPr>
            <a:r>
              <a:t>  -&gt; 切片、转置、reshape等</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Copy: 复制到独立内存</a:t>
            </a:r>
          </a:p>
          <a:p>
            <a:pPr>
              <a:spcAft>
                <a:spcPts val="400"/>
              </a:spcAft>
              <a:defRPr sz="1300">
                <a:solidFill>
                  <a:srgbClr val="BBBBCC"/>
                </a:solidFill>
                <a:latin typeface="Microsoft YaHei"/>
              </a:defRPr>
            </a:pPr>
            <a:r>
              <a:t>  -&gt; 与原始独立, 修改安全</a:t>
            </a:r>
          </a:p>
          <a:p>
            <a:pPr>
              <a:spcAft>
                <a:spcPts val="400"/>
              </a:spcAft>
              <a:defRPr sz="1300">
                <a:solidFill>
                  <a:srgbClr val="BBBBCC"/>
                </a:solidFill>
                <a:latin typeface="Microsoft YaHei"/>
              </a:defRPr>
            </a:pPr>
            <a:r>
              <a:t>  -&gt; 花式索引、布尔索引等</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检查: np.shares_memory(a, b)</a:t>
            </a:r>
          </a:p>
          <a:p>
            <a:pPr>
              <a:spcAft>
                <a:spcPts val="400"/>
              </a:spcAft>
              <a:defRPr sz="1300">
                <a:solidFill>
                  <a:srgbClr val="BBBBCC"/>
                </a:solidFill>
                <a:latin typeface="Microsoft YaHei"/>
              </a:defRPr>
            </a:pPr>
            <a:r>
              <a:t>安全复制: 显式调用a.copy()</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实践提示: 修改前确认是View还是Copy!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01028"/>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0"/>
            <a:ext cx="12191695" cy="508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1828800"/>
            <a:ext cx="12191695" cy="457200"/>
          </a:xfrm>
          <a:prstGeom prst="rect">
            <a:avLst/>
          </a:prstGeom>
          <a:noFill/>
        </p:spPr>
        <p:txBody>
          <a:bodyPr wrap="square">
            <a:spAutoFit/>
          </a:bodyPr>
          <a:lstStyle/>
          <a:p>
            <a:pPr algn="ctr">
              <a:defRPr sz="2000" b="1">
                <a:solidFill>
                  <a:srgbClr val="FF8C00"/>
                </a:solidFill>
                <a:latin typeface="Microsoft YaHei"/>
              </a:defRPr>
            </a:pPr>
            <a:r>
              <a:t>SECTION 3</a:t>
            </a:r>
          </a:p>
        </p:txBody>
      </p:sp>
      <p:sp>
        <p:nvSpPr>
          <p:cNvPr id="5" name="Rectangle 4"/>
          <p:cNvSpPr/>
          <p:nvPr/>
        </p:nvSpPr>
        <p:spPr>
          <a:xfrm>
            <a:off x="5029200" y="2468880"/>
            <a:ext cx="2103120" cy="381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743200"/>
            <a:ext cx="12191695" cy="914400"/>
          </a:xfrm>
          <a:prstGeom prst="rect">
            <a:avLst/>
          </a:prstGeom>
          <a:noFill/>
        </p:spPr>
        <p:txBody>
          <a:bodyPr wrap="square">
            <a:spAutoFit/>
          </a:bodyPr>
          <a:lstStyle/>
          <a:p>
            <a:pPr algn="ctr">
              <a:defRPr sz="4400" b="1">
                <a:solidFill>
                  <a:srgbClr val="FFFFFF"/>
                </a:solidFill>
                <a:latin typeface="Microsoft YaHei"/>
              </a:defRPr>
            </a:pPr>
            <a:r>
              <a:t>Pandas深入: DataFrame的世界</a:t>
            </a:r>
          </a:p>
        </p:txBody>
      </p:sp>
      <p:sp>
        <p:nvSpPr>
          <p:cNvPr id="7" name="TextBox 6"/>
          <p:cNvSpPr txBox="1"/>
          <p:nvPr/>
        </p:nvSpPr>
        <p:spPr>
          <a:xfrm>
            <a:off x="0" y="3840480"/>
            <a:ext cx="12191695" cy="457200"/>
          </a:xfrm>
          <a:prstGeom prst="rect">
            <a:avLst/>
          </a:prstGeom>
          <a:noFill/>
        </p:spPr>
        <p:txBody>
          <a:bodyPr wrap="square">
            <a:spAutoFit/>
          </a:bodyPr>
          <a:lstStyle/>
          <a:p>
            <a:pPr algn="ctr">
              <a:defRPr sz="1800" b="0">
                <a:solidFill>
                  <a:srgbClr val="888899"/>
                </a:solidFill>
                <a:latin typeface="Microsoft YaHei"/>
              </a:defRPr>
            </a:pPr>
            <a:r>
              <a:t>DataFrame结构、索引、方法链、GroupBy、Merge/Join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3</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DataFrame内部结构</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McKinney (2010)设计的异质表格数据结构</a:t>
            </a:r>
          </a:p>
        </p:txBody>
      </p:sp>
      <p:sp>
        <p:nvSpPr>
          <p:cNvPr id="6" name="Rounded Rectangle 5"/>
          <p:cNvSpPr/>
          <p:nvPr/>
        </p:nvSpPr>
        <p:spPr>
          <a:xfrm>
            <a:off x="548640" y="1828800"/>
            <a:ext cx="5486400" cy="274320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65960"/>
            <a:ext cx="5120640" cy="2468880"/>
          </a:xfrm>
          <a:prstGeom prst="rect">
            <a:avLst/>
          </a:prstGeom>
          <a:noFill/>
        </p:spPr>
        <p:txBody>
          <a:bodyPr wrap="square">
            <a:spAutoFit/>
          </a:bodyPr>
          <a:lstStyle/>
          <a:p>
            <a:pPr>
              <a:spcAft>
                <a:spcPts val="200"/>
              </a:spcAft>
              <a:defRPr sz="1100">
                <a:solidFill>
                  <a:srgbClr val="00E696"/>
                </a:solidFill>
                <a:latin typeface="Consolas"/>
              </a:defRPr>
            </a:pPr>
            <a:r>
              <a:t>import pandas as pd</a:t>
            </a:r>
          </a:p>
          <a:p>
            <a:pPr>
              <a:spcAft>
                <a:spcPts val="200"/>
              </a:spcAft>
              <a:defRPr sz="1100">
                <a:solidFill>
                  <a:srgbClr val="00E696"/>
                </a:solidFill>
                <a:latin typeface="Consolas"/>
              </a:defRPr>
            </a:pPr>
            <a:r>
              <a:t>import numpy as np</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df = pd.DataFrame({</a:t>
            </a:r>
          </a:p>
          <a:p>
            <a:pPr>
              <a:spcAft>
                <a:spcPts val="200"/>
              </a:spcAft>
              <a:defRPr sz="1100">
                <a:solidFill>
                  <a:srgbClr val="00E696"/>
                </a:solidFill>
                <a:latin typeface="Consolas"/>
              </a:defRPr>
            </a:pPr>
            <a:r>
              <a:t>    '姓名': ['张三', '李四', '王五'],</a:t>
            </a:r>
          </a:p>
          <a:p>
            <a:pPr>
              <a:spcAft>
                <a:spcPts val="200"/>
              </a:spcAft>
              <a:defRPr sz="1100">
                <a:solidFill>
                  <a:srgbClr val="00E696"/>
                </a:solidFill>
                <a:latin typeface="Consolas"/>
              </a:defRPr>
            </a:pPr>
            <a:r>
              <a:t>    '年龄': [28, 35, 42],</a:t>
            </a:r>
          </a:p>
          <a:p>
            <a:pPr>
              <a:spcAft>
                <a:spcPts val="200"/>
              </a:spcAft>
              <a:defRPr sz="1100">
                <a:solidFill>
                  <a:srgbClr val="00E696"/>
                </a:solidFill>
                <a:latin typeface="Consolas"/>
              </a:defRPr>
            </a:pPr>
            <a:r>
              <a:t>    '身高':   [175.5, 162.3, 180.1],</a:t>
            </a:r>
          </a:p>
          <a:p>
            <a:pPr>
              <a:spcAft>
                <a:spcPts val="200"/>
              </a:spcAft>
              <a:defRPr sz="1100">
                <a:solidFill>
                  <a:srgbClr val="00E696"/>
                </a:solidFill>
                <a:latin typeface="Consolas"/>
              </a:defRPr>
            </a:pPr>
            <a:r>
              <a:t>    '学生': [True, False, False]</a:t>
            </a:r>
          </a:p>
          <a:p>
            <a:pPr>
              <a:spcAft>
                <a:spcPts val="200"/>
              </a:spcAft>
              <a:defRPr sz="1100">
                <a:solidFill>
                  <a:srgbClr val="00E696"/>
                </a:solidFill>
                <a:latin typeface="Consolas"/>
              </a:defRPr>
            </a:pPr>
            <a:r>
              <a:t>})</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print(df.dtypes)</a:t>
            </a:r>
          </a:p>
          <a:p>
            <a:pPr>
              <a:spcAft>
                <a:spcPts val="200"/>
              </a:spcAft>
              <a:defRPr sz="1100">
                <a:solidFill>
                  <a:srgbClr val="00E696"/>
                </a:solidFill>
                <a:latin typeface="Consolas"/>
              </a:defRPr>
            </a:pPr>
            <a:r>
              <a:t># 姓名    object  /  年龄    int64</a:t>
            </a:r>
          </a:p>
          <a:p>
            <a:pPr>
              <a:spcAft>
                <a:spcPts val="200"/>
              </a:spcAft>
              <a:defRPr sz="1100">
                <a:solidFill>
                  <a:srgbClr val="00E696"/>
                </a:solidFill>
                <a:latin typeface="Consolas"/>
              </a:defRPr>
            </a:pPr>
            <a:r>
              <a:t># 身高    float64  /  学生      bool</a:t>
            </a:r>
          </a:p>
        </p:txBody>
      </p:sp>
      <p:sp>
        <p:nvSpPr>
          <p:cNvPr id="8" name="Rectangle 7"/>
          <p:cNvSpPr/>
          <p:nvPr/>
        </p:nvSpPr>
        <p:spPr>
          <a:xfrm>
            <a:off x="6400800" y="1828800"/>
            <a:ext cx="1645920" cy="4572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828800"/>
            <a:ext cx="1645920" cy="457200"/>
          </a:xfrm>
          <a:prstGeom prst="rect">
            <a:avLst/>
          </a:prstGeom>
          <a:noFill/>
        </p:spPr>
        <p:txBody>
          <a:bodyPr wrap="square">
            <a:spAutoFit/>
          </a:bodyPr>
          <a:lstStyle/>
          <a:p>
            <a:pPr algn="ctr">
              <a:defRPr sz="1400" b="1">
                <a:solidFill>
                  <a:srgbClr val="FFFFFF"/>
                </a:solidFill>
                <a:latin typeface="Microsoft YaHei"/>
              </a:defRPr>
            </a:pPr>
            <a:r>
              <a:t>属性</a:t>
            </a:r>
          </a:p>
        </p:txBody>
      </p:sp>
      <p:sp>
        <p:nvSpPr>
          <p:cNvPr id="10" name="Rectangle 9"/>
          <p:cNvSpPr/>
          <p:nvPr/>
        </p:nvSpPr>
        <p:spPr>
          <a:xfrm>
            <a:off x="8046720" y="1828800"/>
            <a:ext cx="2011680" cy="4572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1828800"/>
            <a:ext cx="2011680" cy="457200"/>
          </a:xfrm>
          <a:prstGeom prst="rect">
            <a:avLst/>
          </a:prstGeom>
          <a:noFill/>
        </p:spPr>
        <p:txBody>
          <a:bodyPr wrap="square">
            <a:spAutoFit/>
          </a:bodyPr>
          <a:lstStyle/>
          <a:p>
            <a:pPr algn="ctr">
              <a:defRPr sz="1400" b="1">
                <a:solidFill>
                  <a:srgbClr val="FFFFFF"/>
                </a:solidFill>
                <a:latin typeface="Microsoft YaHei"/>
              </a:defRPr>
            </a:pPr>
            <a:r>
              <a:t>说明</a:t>
            </a:r>
          </a:p>
        </p:txBody>
      </p:sp>
      <p:sp>
        <p:nvSpPr>
          <p:cNvPr id="12" name="Rectangle 11"/>
          <p:cNvSpPr/>
          <p:nvPr/>
        </p:nvSpPr>
        <p:spPr>
          <a:xfrm>
            <a:off x="10058400" y="1828800"/>
            <a:ext cx="2011680" cy="4572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0" y="1828800"/>
            <a:ext cx="2011680" cy="457200"/>
          </a:xfrm>
          <a:prstGeom prst="rect">
            <a:avLst/>
          </a:prstGeom>
          <a:noFill/>
        </p:spPr>
        <p:txBody>
          <a:bodyPr wrap="square">
            <a:spAutoFit/>
          </a:bodyPr>
          <a:lstStyle/>
          <a:p>
            <a:pPr algn="ctr">
              <a:defRPr sz="1400" b="1">
                <a:solidFill>
                  <a:srgbClr val="FFFFFF"/>
                </a:solidFill>
                <a:latin typeface="Microsoft YaHei"/>
              </a:defRPr>
            </a:pPr>
            <a:r>
              <a:t>示例</a:t>
            </a:r>
          </a:p>
        </p:txBody>
      </p:sp>
      <p:sp>
        <p:nvSpPr>
          <p:cNvPr id="14" name="Rectangle 13"/>
          <p:cNvSpPr/>
          <p:nvPr/>
        </p:nvSpPr>
        <p:spPr>
          <a:xfrm>
            <a:off x="6400800" y="2286000"/>
            <a:ext cx="1645920" cy="36576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286000"/>
            <a:ext cx="1645920" cy="365760"/>
          </a:xfrm>
          <a:prstGeom prst="rect">
            <a:avLst/>
          </a:prstGeom>
          <a:noFill/>
        </p:spPr>
        <p:txBody>
          <a:bodyPr wrap="square">
            <a:spAutoFit/>
          </a:bodyPr>
          <a:lstStyle/>
          <a:p>
            <a:pPr algn="ctr">
              <a:defRPr sz="1100" b="1">
                <a:solidFill>
                  <a:srgbClr val="00D2FF"/>
                </a:solidFill>
                <a:latin typeface="Microsoft YaHei"/>
              </a:defRPr>
            </a:pPr>
            <a:r>
              <a:t>df.shape</a:t>
            </a:r>
          </a:p>
        </p:txBody>
      </p:sp>
      <p:sp>
        <p:nvSpPr>
          <p:cNvPr id="16" name="Rectangle 15"/>
          <p:cNvSpPr/>
          <p:nvPr/>
        </p:nvSpPr>
        <p:spPr>
          <a:xfrm>
            <a:off x="8046720" y="2286000"/>
            <a:ext cx="2011680" cy="36576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0" y="2286000"/>
            <a:ext cx="2011680" cy="365760"/>
          </a:xfrm>
          <a:prstGeom prst="rect">
            <a:avLst/>
          </a:prstGeom>
          <a:noFill/>
        </p:spPr>
        <p:txBody>
          <a:bodyPr wrap="square">
            <a:spAutoFit/>
          </a:bodyPr>
          <a:lstStyle/>
          <a:p>
            <a:pPr algn="ctr">
              <a:defRPr sz="1100" b="0">
                <a:solidFill>
                  <a:srgbClr val="BBBBCC"/>
                </a:solidFill>
                <a:latin typeface="Microsoft YaHei"/>
              </a:defRPr>
            </a:pPr>
            <a:r>
              <a:t>(行数, 列数)</a:t>
            </a:r>
          </a:p>
        </p:txBody>
      </p:sp>
      <p:sp>
        <p:nvSpPr>
          <p:cNvPr id="18" name="Rectangle 17"/>
          <p:cNvSpPr/>
          <p:nvPr/>
        </p:nvSpPr>
        <p:spPr>
          <a:xfrm>
            <a:off x="10058400" y="2286000"/>
            <a:ext cx="2011680" cy="36576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0" y="2286000"/>
            <a:ext cx="2011680" cy="365760"/>
          </a:xfrm>
          <a:prstGeom prst="rect">
            <a:avLst/>
          </a:prstGeom>
          <a:noFill/>
        </p:spPr>
        <p:txBody>
          <a:bodyPr wrap="square">
            <a:spAutoFit/>
          </a:bodyPr>
          <a:lstStyle/>
          <a:p>
            <a:pPr algn="ctr">
              <a:defRPr sz="1100" b="0">
                <a:solidFill>
                  <a:srgbClr val="BBBBCC"/>
                </a:solidFill>
                <a:latin typeface="Microsoft YaHei"/>
              </a:defRPr>
            </a:pPr>
            <a:r>
              <a:t>(3, 4)</a:t>
            </a:r>
          </a:p>
        </p:txBody>
      </p:sp>
      <p:sp>
        <p:nvSpPr>
          <p:cNvPr id="20" name="Rectangle 19"/>
          <p:cNvSpPr/>
          <p:nvPr/>
        </p:nvSpPr>
        <p:spPr>
          <a:xfrm>
            <a:off x="6400800" y="2651760"/>
            <a:ext cx="1645920" cy="36576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2651760"/>
            <a:ext cx="1645920" cy="365760"/>
          </a:xfrm>
          <a:prstGeom prst="rect">
            <a:avLst/>
          </a:prstGeom>
          <a:noFill/>
        </p:spPr>
        <p:txBody>
          <a:bodyPr wrap="square">
            <a:spAutoFit/>
          </a:bodyPr>
          <a:lstStyle/>
          <a:p>
            <a:pPr algn="ctr">
              <a:defRPr sz="1100" b="1">
                <a:solidFill>
                  <a:srgbClr val="00D2FF"/>
                </a:solidFill>
                <a:latin typeface="Microsoft YaHei"/>
              </a:defRPr>
            </a:pPr>
            <a:r>
              <a:t>df.dtypes</a:t>
            </a:r>
          </a:p>
        </p:txBody>
      </p:sp>
      <p:sp>
        <p:nvSpPr>
          <p:cNvPr id="22" name="Rectangle 21"/>
          <p:cNvSpPr/>
          <p:nvPr/>
        </p:nvSpPr>
        <p:spPr>
          <a:xfrm>
            <a:off x="8046720" y="2651760"/>
            <a:ext cx="2011680" cy="36576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0" y="2651760"/>
            <a:ext cx="2011680" cy="365760"/>
          </a:xfrm>
          <a:prstGeom prst="rect">
            <a:avLst/>
          </a:prstGeom>
          <a:noFill/>
        </p:spPr>
        <p:txBody>
          <a:bodyPr wrap="square">
            <a:spAutoFit/>
          </a:bodyPr>
          <a:lstStyle/>
          <a:p>
            <a:pPr algn="ctr">
              <a:defRPr sz="1100" b="0">
                <a:solidFill>
                  <a:srgbClr val="BBBBCC"/>
                </a:solidFill>
                <a:latin typeface="Microsoft YaHei"/>
              </a:defRPr>
            </a:pPr>
            <a:r>
              <a:t>每列的数据类型</a:t>
            </a:r>
          </a:p>
        </p:txBody>
      </p:sp>
      <p:sp>
        <p:nvSpPr>
          <p:cNvPr id="24" name="Rectangle 23"/>
          <p:cNvSpPr/>
          <p:nvPr/>
        </p:nvSpPr>
        <p:spPr>
          <a:xfrm>
            <a:off x="10058400" y="2651760"/>
            <a:ext cx="2011680" cy="36576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0" y="2651760"/>
            <a:ext cx="2011680" cy="365760"/>
          </a:xfrm>
          <a:prstGeom prst="rect">
            <a:avLst/>
          </a:prstGeom>
          <a:noFill/>
        </p:spPr>
        <p:txBody>
          <a:bodyPr wrap="square">
            <a:spAutoFit/>
          </a:bodyPr>
          <a:lstStyle/>
          <a:p>
            <a:pPr algn="ctr">
              <a:defRPr sz="1100" b="0">
                <a:solidFill>
                  <a:srgbClr val="BBBBCC"/>
                </a:solidFill>
                <a:latin typeface="Microsoft YaHei"/>
              </a:defRPr>
            </a:pPr>
            <a:r>
              <a:t>int64, float64, ...</a:t>
            </a:r>
          </a:p>
        </p:txBody>
      </p:sp>
      <p:sp>
        <p:nvSpPr>
          <p:cNvPr id="26" name="Rectangle 25"/>
          <p:cNvSpPr/>
          <p:nvPr/>
        </p:nvSpPr>
        <p:spPr>
          <a:xfrm>
            <a:off x="6400800" y="3017520"/>
            <a:ext cx="1645920" cy="36576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3017520"/>
            <a:ext cx="1645920" cy="365760"/>
          </a:xfrm>
          <a:prstGeom prst="rect">
            <a:avLst/>
          </a:prstGeom>
          <a:noFill/>
        </p:spPr>
        <p:txBody>
          <a:bodyPr wrap="square">
            <a:spAutoFit/>
          </a:bodyPr>
          <a:lstStyle/>
          <a:p>
            <a:pPr algn="ctr">
              <a:defRPr sz="1100" b="1">
                <a:solidFill>
                  <a:srgbClr val="00D2FF"/>
                </a:solidFill>
                <a:latin typeface="Microsoft YaHei"/>
              </a:defRPr>
            </a:pPr>
            <a:r>
              <a:t>df.index</a:t>
            </a:r>
          </a:p>
        </p:txBody>
      </p:sp>
      <p:sp>
        <p:nvSpPr>
          <p:cNvPr id="28" name="Rectangle 27"/>
          <p:cNvSpPr/>
          <p:nvPr/>
        </p:nvSpPr>
        <p:spPr>
          <a:xfrm>
            <a:off x="8046720" y="3017520"/>
            <a:ext cx="2011680" cy="36576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0" y="3017520"/>
            <a:ext cx="2011680" cy="365760"/>
          </a:xfrm>
          <a:prstGeom prst="rect">
            <a:avLst/>
          </a:prstGeom>
          <a:noFill/>
        </p:spPr>
        <p:txBody>
          <a:bodyPr wrap="square">
            <a:spAutoFit/>
          </a:bodyPr>
          <a:lstStyle/>
          <a:p>
            <a:pPr algn="ctr">
              <a:defRPr sz="1100" b="0">
                <a:solidFill>
                  <a:srgbClr val="BBBBCC"/>
                </a:solidFill>
                <a:latin typeface="Microsoft YaHei"/>
              </a:defRPr>
            </a:pPr>
            <a:r>
              <a:t>行索引</a:t>
            </a:r>
          </a:p>
        </p:txBody>
      </p:sp>
      <p:sp>
        <p:nvSpPr>
          <p:cNvPr id="30" name="Rectangle 29"/>
          <p:cNvSpPr/>
          <p:nvPr/>
        </p:nvSpPr>
        <p:spPr>
          <a:xfrm>
            <a:off x="10058400" y="3017520"/>
            <a:ext cx="2011680" cy="36576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0" y="3017520"/>
            <a:ext cx="2011680" cy="365760"/>
          </a:xfrm>
          <a:prstGeom prst="rect">
            <a:avLst/>
          </a:prstGeom>
          <a:noFill/>
        </p:spPr>
        <p:txBody>
          <a:bodyPr wrap="square">
            <a:spAutoFit/>
          </a:bodyPr>
          <a:lstStyle/>
          <a:p>
            <a:pPr algn="ctr">
              <a:defRPr sz="1100" b="0">
                <a:solidFill>
                  <a:srgbClr val="BBBBCC"/>
                </a:solidFill>
                <a:latin typeface="Microsoft YaHei"/>
              </a:defRPr>
            </a:pPr>
            <a:r>
              <a:t>RangeIndex(0, 3)</a:t>
            </a:r>
          </a:p>
        </p:txBody>
      </p:sp>
      <p:sp>
        <p:nvSpPr>
          <p:cNvPr id="32" name="Rectangle 31"/>
          <p:cNvSpPr/>
          <p:nvPr/>
        </p:nvSpPr>
        <p:spPr>
          <a:xfrm>
            <a:off x="6400800" y="3383280"/>
            <a:ext cx="1645920" cy="36576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383280"/>
            <a:ext cx="1645920" cy="365760"/>
          </a:xfrm>
          <a:prstGeom prst="rect">
            <a:avLst/>
          </a:prstGeom>
          <a:noFill/>
        </p:spPr>
        <p:txBody>
          <a:bodyPr wrap="square">
            <a:spAutoFit/>
          </a:bodyPr>
          <a:lstStyle/>
          <a:p>
            <a:pPr algn="ctr">
              <a:defRPr sz="1100" b="1">
                <a:solidFill>
                  <a:srgbClr val="00D2FF"/>
                </a:solidFill>
                <a:latin typeface="Microsoft YaHei"/>
              </a:defRPr>
            </a:pPr>
            <a:r>
              <a:t>df.columns</a:t>
            </a:r>
          </a:p>
        </p:txBody>
      </p:sp>
      <p:sp>
        <p:nvSpPr>
          <p:cNvPr id="34" name="Rectangle 33"/>
          <p:cNvSpPr/>
          <p:nvPr/>
        </p:nvSpPr>
        <p:spPr>
          <a:xfrm>
            <a:off x="8046720" y="3383280"/>
            <a:ext cx="2011680" cy="36576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0" y="3383280"/>
            <a:ext cx="2011680" cy="365760"/>
          </a:xfrm>
          <a:prstGeom prst="rect">
            <a:avLst/>
          </a:prstGeom>
          <a:noFill/>
        </p:spPr>
        <p:txBody>
          <a:bodyPr wrap="square">
            <a:spAutoFit/>
          </a:bodyPr>
          <a:lstStyle/>
          <a:p>
            <a:pPr algn="ctr">
              <a:defRPr sz="1100" b="0">
                <a:solidFill>
                  <a:srgbClr val="BBBBCC"/>
                </a:solidFill>
                <a:latin typeface="Microsoft YaHei"/>
              </a:defRPr>
            </a:pPr>
            <a:r>
              <a:t>列名</a:t>
            </a:r>
          </a:p>
        </p:txBody>
      </p:sp>
      <p:sp>
        <p:nvSpPr>
          <p:cNvPr id="36" name="Rectangle 35"/>
          <p:cNvSpPr/>
          <p:nvPr/>
        </p:nvSpPr>
        <p:spPr>
          <a:xfrm>
            <a:off x="10058400" y="3383280"/>
            <a:ext cx="2011680" cy="36576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58400" y="3383280"/>
            <a:ext cx="2011680" cy="365760"/>
          </a:xfrm>
          <a:prstGeom prst="rect">
            <a:avLst/>
          </a:prstGeom>
          <a:noFill/>
        </p:spPr>
        <p:txBody>
          <a:bodyPr wrap="square">
            <a:spAutoFit/>
          </a:bodyPr>
          <a:lstStyle/>
          <a:p>
            <a:pPr algn="ctr">
              <a:defRPr sz="1100" b="0">
                <a:solidFill>
                  <a:srgbClr val="BBBBCC"/>
                </a:solidFill>
                <a:latin typeface="Microsoft YaHei"/>
              </a:defRPr>
            </a:pPr>
            <a:r>
              <a:t>Index(['姓名','年龄',...])</a:t>
            </a:r>
          </a:p>
        </p:txBody>
      </p:sp>
      <p:sp>
        <p:nvSpPr>
          <p:cNvPr id="38" name="Rectangle 37"/>
          <p:cNvSpPr/>
          <p:nvPr/>
        </p:nvSpPr>
        <p:spPr>
          <a:xfrm>
            <a:off x="6400800" y="3749040"/>
            <a:ext cx="1645920" cy="36576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0" y="3749040"/>
            <a:ext cx="1645920" cy="365760"/>
          </a:xfrm>
          <a:prstGeom prst="rect">
            <a:avLst/>
          </a:prstGeom>
          <a:noFill/>
        </p:spPr>
        <p:txBody>
          <a:bodyPr wrap="square">
            <a:spAutoFit/>
          </a:bodyPr>
          <a:lstStyle/>
          <a:p>
            <a:pPr algn="ctr">
              <a:defRPr sz="1100" b="1">
                <a:solidFill>
                  <a:srgbClr val="00D2FF"/>
                </a:solidFill>
                <a:latin typeface="Microsoft YaHei"/>
              </a:defRPr>
            </a:pPr>
            <a:r>
              <a:t>df.values</a:t>
            </a:r>
          </a:p>
        </p:txBody>
      </p:sp>
      <p:sp>
        <p:nvSpPr>
          <p:cNvPr id="40" name="Rectangle 39"/>
          <p:cNvSpPr/>
          <p:nvPr/>
        </p:nvSpPr>
        <p:spPr>
          <a:xfrm>
            <a:off x="8046720" y="3749040"/>
            <a:ext cx="2011680" cy="36576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46720" y="3749040"/>
            <a:ext cx="2011680" cy="365760"/>
          </a:xfrm>
          <a:prstGeom prst="rect">
            <a:avLst/>
          </a:prstGeom>
          <a:noFill/>
        </p:spPr>
        <p:txBody>
          <a:bodyPr wrap="square">
            <a:spAutoFit/>
          </a:bodyPr>
          <a:lstStyle/>
          <a:p>
            <a:pPr algn="ctr">
              <a:defRPr sz="1100" b="0">
                <a:solidFill>
                  <a:srgbClr val="BBBBCC"/>
                </a:solidFill>
                <a:latin typeface="Microsoft YaHei"/>
              </a:defRPr>
            </a:pPr>
            <a:r>
              <a:t>转换为NumPy数组</a:t>
            </a:r>
          </a:p>
        </p:txBody>
      </p:sp>
      <p:sp>
        <p:nvSpPr>
          <p:cNvPr id="42" name="Rectangle 41"/>
          <p:cNvSpPr/>
          <p:nvPr/>
        </p:nvSpPr>
        <p:spPr>
          <a:xfrm>
            <a:off x="10058400" y="3749040"/>
            <a:ext cx="2011680" cy="36576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58400" y="3749040"/>
            <a:ext cx="2011680" cy="365760"/>
          </a:xfrm>
          <a:prstGeom prst="rect">
            <a:avLst/>
          </a:prstGeom>
          <a:noFill/>
        </p:spPr>
        <p:txBody>
          <a:bodyPr wrap="square">
            <a:spAutoFit/>
          </a:bodyPr>
          <a:lstStyle/>
          <a:p>
            <a:pPr algn="ctr">
              <a:defRPr sz="1100" b="0">
                <a:solidFill>
                  <a:srgbClr val="BBBBCC"/>
                </a:solidFill>
                <a:latin typeface="Microsoft YaHei"/>
              </a:defRPr>
            </a:pPr>
            <a:r>
              <a:t>ndarray</a:t>
            </a:r>
          </a:p>
        </p:txBody>
      </p:sp>
      <p:sp>
        <p:nvSpPr>
          <p:cNvPr id="44" name="Rectangle 43"/>
          <p:cNvSpPr/>
          <p:nvPr/>
        </p:nvSpPr>
        <p:spPr>
          <a:xfrm>
            <a:off x="6400800" y="4114800"/>
            <a:ext cx="1645920" cy="36576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800" y="4114800"/>
            <a:ext cx="1645920" cy="365760"/>
          </a:xfrm>
          <a:prstGeom prst="rect">
            <a:avLst/>
          </a:prstGeom>
          <a:noFill/>
        </p:spPr>
        <p:txBody>
          <a:bodyPr wrap="square">
            <a:spAutoFit/>
          </a:bodyPr>
          <a:lstStyle/>
          <a:p>
            <a:pPr algn="ctr">
              <a:defRPr sz="1100" b="1">
                <a:solidFill>
                  <a:srgbClr val="00D2FF"/>
                </a:solidFill>
                <a:latin typeface="Microsoft YaHei"/>
              </a:defRPr>
            </a:pPr>
            <a:r>
              <a:t>df.info()</a:t>
            </a:r>
          </a:p>
        </p:txBody>
      </p:sp>
      <p:sp>
        <p:nvSpPr>
          <p:cNvPr id="46" name="Rectangle 45"/>
          <p:cNvSpPr/>
          <p:nvPr/>
        </p:nvSpPr>
        <p:spPr>
          <a:xfrm>
            <a:off x="8046720" y="4114800"/>
            <a:ext cx="2011680" cy="36576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046720" y="4114800"/>
            <a:ext cx="2011680" cy="365760"/>
          </a:xfrm>
          <a:prstGeom prst="rect">
            <a:avLst/>
          </a:prstGeom>
          <a:noFill/>
        </p:spPr>
        <p:txBody>
          <a:bodyPr wrap="square">
            <a:spAutoFit/>
          </a:bodyPr>
          <a:lstStyle/>
          <a:p>
            <a:pPr algn="ctr">
              <a:defRPr sz="1100" b="0">
                <a:solidFill>
                  <a:srgbClr val="BBBBCC"/>
                </a:solidFill>
                <a:latin typeface="Microsoft YaHei"/>
              </a:defRPr>
            </a:pPr>
            <a:r>
              <a:t>整体信息</a:t>
            </a:r>
          </a:p>
        </p:txBody>
      </p:sp>
      <p:sp>
        <p:nvSpPr>
          <p:cNvPr id="48" name="Rectangle 47"/>
          <p:cNvSpPr/>
          <p:nvPr/>
        </p:nvSpPr>
        <p:spPr>
          <a:xfrm>
            <a:off x="10058400" y="4114800"/>
            <a:ext cx="2011680" cy="36576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058400" y="4114800"/>
            <a:ext cx="2011680" cy="365760"/>
          </a:xfrm>
          <a:prstGeom prst="rect">
            <a:avLst/>
          </a:prstGeom>
          <a:noFill/>
        </p:spPr>
        <p:txBody>
          <a:bodyPr wrap="square">
            <a:spAutoFit/>
          </a:bodyPr>
          <a:lstStyle/>
          <a:p>
            <a:pPr algn="ctr">
              <a:defRPr sz="1100" b="0">
                <a:solidFill>
                  <a:srgbClr val="BBBBCC"/>
                </a:solidFill>
                <a:latin typeface="Microsoft YaHei"/>
              </a:defRPr>
            </a:pPr>
            <a:r>
              <a:t>行/列数, dtype, 内存</a:t>
            </a:r>
          </a:p>
        </p:txBody>
      </p:sp>
      <p:sp>
        <p:nvSpPr>
          <p:cNvPr id="50" name="Rectangle 49"/>
          <p:cNvSpPr/>
          <p:nvPr/>
        </p:nvSpPr>
        <p:spPr>
          <a:xfrm>
            <a:off x="6400800" y="4480560"/>
            <a:ext cx="1645920" cy="36576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00800" y="4480560"/>
            <a:ext cx="1645920" cy="365760"/>
          </a:xfrm>
          <a:prstGeom prst="rect">
            <a:avLst/>
          </a:prstGeom>
          <a:noFill/>
        </p:spPr>
        <p:txBody>
          <a:bodyPr wrap="square">
            <a:spAutoFit/>
          </a:bodyPr>
          <a:lstStyle/>
          <a:p>
            <a:pPr algn="ctr">
              <a:defRPr sz="1100" b="1">
                <a:solidFill>
                  <a:srgbClr val="00D2FF"/>
                </a:solidFill>
                <a:latin typeface="Microsoft YaHei"/>
              </a:defRPr>
            </a:pPr>
            <a:r>
              <a:t>df.describe()</a:t>
            </a:r>
          </a:p>
        </p:txBody>
      </p:sp>
      <p:sp>
        <p:nvSpPr>
          <p:cNvPr id="52" name="Rectangle 51"/>
          <p:cNvSpPr/>
          <p:nvPr/>
        </p:nvSpPr>
        <p:spPr>
          <a:xfrm>
            <a:off x="8046720" y="4480560"/>
            <a:ext cx="2011680" cy="36576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046720" y="4480560"/>
            <a:ext cx="2011680" cy="365760"/>
          </a:xfrm>
          <a:prstGeom prst="rect">
            <a:avLst/>
          </a:prstGeom>
          <a:noFill/>
        </p:spPr>
        <p:txBody>
          <a:bodyPr wrap="square">
            <a:spAutoFit/>
          </a:bodyPr>
          <a:lstStyle/>
          <a:p>
            <a:pPr algn="ctr">
              <a:defRPr sz="1100" b="0">
                <a:solidFill>
                  <a:srgbClr val="BBBBCC"/>
                </a:solidFill>
                <a:latin typeface="Microsoft YaHei"/>
              </a:defRPr>
            </a:pPr>
            <a:r>
              <a:t>描述性统计</a:t>
            </a:r>
          </a:p>
        </p:txBody>
      </p:sp>
      <p:sp>
        <p:nvSpPr>
          <p:cNvPr id="54" name="Rectangle 53"/>
          <p:cNvSpPr/>
          <p:nvPr/>
        </p:nvSpPr>
        <p:spPr>
          <a:xfrm>
            <a:off x="10058400" y="4480560"/>
            <a:ext cx="2011680" cy="36576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058400" y="4480560"/>
            <a:ext cx="2011680" cy="365760"/>
          </a:xfrm>
          <a:prstGeom prst="rect">
            <a:avLst/>
          </a:prstGeom>
          <a:noFill/>
        </p:spPr>
        <p:txBody>
          <a:bodyPr wrap="square">
            <a:spAutoFit/>
          </a:bodyPr>
          <a:lstStyle/>
          <a:p>
            <a:pPr algn="ctr">
              <a:defRPr sz="1100" b="0">
                <a:solidFill>
                  <a:srgbClr val="BBBBCC"/>
                </a:solidFill>
                <a:latin typeface="Microsoft YaHei"/>
              </a:defRPr>
            </a:pPr>
            <a:r>
              <a:t>均值, 标准差, 四分位数</a:t>
            </a:r>
          </a:p>
        </p:txBody>
      </p:sp>
      <p:sp>
        <p:nvSpPr>
          <p:cNvPr id="56" name="Rounded Rectangle 55"/>
          <p:cNvSpPr/>
          <p:nvPr/>
        </p:nvSpPr>
        <p:spPr>
          <a:xfrm>
            <a:off x="548640" y="4846320"/>
            <a:ext cx="10972800" cy="1645920"/>
          </a:xfrm>
          <a:prstGeom prst="roundRect">
            <a:avLst>
              <a:gd name="adj" fmla="val 5000"/>
            </a:avLst>
          </a:prstGeom>
          <a:solidFill>
            <a:srgbClr val="25253D"/>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31520" y="4937760"/>
            <a:ext cx="10607040" cy="365760"/>
          </a:xfrm>
          <a:prstGeom prst="rect">
            <a:avLst/>
          </a:prstGeom>
          <a:noFill/>
        </p:spPr>
        <p:txBody>
          <a:bodyPr wrap="square">
            <a:spAutoFit/>
          </a:bodyPr>
          <a:lstStyle/>
          <a:p>
            <a:pPr algn="l">
              <a:defRPr sz="1500" b="1">
                <a:solidFill>
                  <a:srgbClr val="00D2FF"/>
                </a:solidFill>
                <a:latin typeface="Microsoft YaHei"/>
              </a:defRPr>
            </a:pPr>
            <a:r>
              <a:t>DataFrame的核心特征</a:t>
            </a:r>
          </a:p>
        </p:txBody>
      </p:sp>
      <p:sp>
        <p:nvSpPr>
          <p:cNvPr id="58" name="TextBox 57"/>
          <p:cNvSpPr txBox="1"/>
          <p:nvPr/>
        </p:nvSpPr>
        <p:spPr>
          <a:xfrm>
            <a:off x="731520" y="5303520"/>
            <a:ext cx="10607040" cy="1097280"/>
          </a:xfrm>
          <a:prstGeom prst="rect">
            <a:avLst/>
          </a:prstGeom>
          <a:noFill/>
        </p:spPr>
        <p:txBody>
          <a:bodyPr wrap="square">
            <a:spAutoFit/>
          </a:bodyPr>
          <a:lstStyle/>
          <a:p>
            <a:pPr>
              <a:spcAft>
                <a:spcPts val="400"/>
              </a:spcAft>
              <a:defRPr sz="1300">
                <a:solidFill>
                  <a:srgbClr val="BBBBCC"/>
                </a:solidFill>
                <a:latin typeface="Microsoft YaHei"/>
              </a:defRPr>
            </a:pPr>
            <a:r>
              <a:t>每列作为独立的NumPy数组(或Extension Array)存储 -&gt; 每列可以有不同dtype</a:t>
            </a:r>
          </a:p>
          <a:p>
            <a:pPr>
              <a:spcAft>
                <a:spcPts val="400"/>
              </a:spcAft>
              <a:defRPr sz="1300">
                <a:solidFill>
                  <a:srgbClr val="BBBBCC"/>
                </a:solidFill>
                <a:latin typeface="Microsoft YaHei"/>
              </a:defRPr>
            </a:pPr>
            <a:r>
              <a:t>通过行索引(Index)实现自动数据对齐(automatic alignment)</a:t>
            </a:r>
          </a:p>
          <a:p>
            <a:pPr>
              <a:spcAft>
                <a:spcPts val="400"/>
              </a:spcAft>
              <a:defRPr sz="1300">
                <a:solidFill>
                  <a:srgbClr val="BBBBCC"/>
                </a:solidFill>
                <a:latin typeface="Microsoft YaHei"/>
              </a:defRPr>
            </a:pPr>
            <a:r>
              <a:t>系统化的缺失值(NaN)处理: isna(), fillna(), dropna()等一致的API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3</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索引: loc vs iloc</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基于标签 vs 基于整数位置</a:t>
            </a:r>
          </a:p>
        </p:txBody>
      </p:sp>
      <p:sp>
        <p:nvSpPr>
          <p:cNvPr id="6" name="Rounded Rectangle 5"/>
          <p:cNvSpPr/>
          <p:nvPr/>
        </p:nvSpPr>
        <p:spPr>
          <a:xfrm>
            <a:off x="548640" y="1828800"/>
            <a:ext cx="5486400" cy="438912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65960"/>
            <a:ext cx="5120640" cy="4114800"/>
          </a:xfrm>
          <a:prstGeom prst="rect">
            <a:avLst/>
          </a:prstGeom>
          <a:noFill/>
        </p:spPr>
        <p:txBody>
          <a:bodyPr wrap="square">
            <a:spAutoFit/>
          </a:bodyPr>
          <a:lstStyle/>
          <a:p>
            <a:pPr>
              <a:spcAft>
                <a:spcPts val="200"/>
              </a:spcAft>
              <a:defRPr sz="1100">
                <a:solidFill>
                  <a:srgbClr val="00E696"/>
                </a:solidFill>
                <a:latin typeface="Consolas"/>
              </a:defRPr>
            </a:pPr>
            <a:r>
              <a:t># 1. 列选择</a:t>
            </a:r>
          </a:p>
          <a:p>
            <a:pPr>
              <a:spcAft>
                <a:spcPts val="200"/>
              </a:spcAft>
              <a:defRPr sz="1100">
                <a:solidFill>
                  <a:srgbClr val="00E696"/>
                </a:solidFill>
                <a:latin typeface="Consolas"/>
              </a:defRPr>
            </a:pPr>
            <a:r>
              <a:t>df['年龄']                  # 返回Series</a:t>
            </a:r>
          </a:p>
          <a:p>
            <a:pPr>
              <a:spcAft>
                <a:spcPts val="200"/>
              </a:spcAft>
              <a:defRPr sz="1100">
                <a:solidFill>
                  <a:srgbClr val="00E696"/>
                </a:solidFill>
                <a:latin typeface="Consolas"/>
              </a:defRPr>
            </a:pPr>
            <a:r>
              <a:t>df[['姓名', '年龄']]         # 返回DataFrame</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2. loc - 基于标签的索引</a:t>
            </a:r>
          </a:p>
          <a:p>
            <a:pPr>
              <a:spcAft>
                <a:spcPts val="200"/>
              </a:spcAft>
              <a:defRPr sz="1100">
                <a:solidFill>
                  <a:srgbClr val="00E696"/>
                </a:solidFill>
                <a:latin typeface="Consolas"/>
              </a:defRPr>
            </a:pPr>
            <a:r>
              <a:t>df.loc[0, '姓名']           # '张三'</a:t>
            </a:r>
          </a:p>
          <a:p>
            <a:pPr>
              <a:spcAft>
                <a:spcPts val="200"/>
              </a:spcAft>
              <a:defRPr sz="1100">
                <a:solidFill>
                  <a:srgbClr val="00E696"/>
                </a:solidFill>
                <a:latin typeface="Consolas"/>
              </a:defRPr>
            </a:pPr>
            <a:r>
              <a:t>df.loc[0:1, ['姓名','年龄']] # 行0~1 (包含末尾!)</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3. iloc - 基于整数位置的索引</a:t>
            </a:r>
          </a:p>
          <a:p>
            <a:pPr>
              <a:spcAft>
                <a:spcPts val="200"/>
              </a:spcAft>
              <a:defRPr sz="1100">
                <a:solidFill>
                  <a:srgbClr val="00E696"/>
                </a:solidFill>
                <a:latin typeface="Consolas"/>
              </a:defRPr>
            </a:pPr>
            <a:r>
              <a:t>df.iloc[0, 0]              # '张三'</a:t>
            </a:r>
          </a:p>
          <a:p>
            <a:pPr>
              <a:spcAft>
                <a:spcPts val="200"/>
              </a:spcAft>
              <a:defRPr sz="1100">
                <a:solidFill>
                  <a:srgbClr val="00E696"/>
                </a:solidFill>
                <a:latin typeface="Consolas"/>
              </a:defRPr>
            </a:pPr>
            <a:r>
              <a:t>df.iloc[0:2, 0:2]          # 行0~1 (不包含末尾!)</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4. 布尔索引</a:t>
            </a:r>
          </a:p>
          <a:p>
            <a:pPr>
              <a:spcAft>
                <a:spcPts val="200"/>
              </a:spcAft>
              <a:defRPr sz="1100">
                <a:solidFill>
                  <a:srgbClr val="00E696"/>
                </a:solidFill>
                <a:latin typeface="Consolas"/>
              </a:defRPr>
            </a:pPr>
            <a:r>
              <a:t>df[df['年龄'] &gt; 30]         # 年龄 &gt; 30的行</a:t>
            </a:r>
          </a:p>
          <a:p>
            <a:pPr>
              <a:spcAft>
                <a:spcPts val="200"/>
              </a:spcAft>
              <a:defRPr sz="1100">
                <a:solidFill>
                  <a:srgbClr val="00E696"/>
                </a:solidFill>
                <a:latin typeface="Consolas"/>
              </a:defRPr>
            </a:pPr>
            <a:r>
              <a:t>df.query('年龄 &gt; 30 and 身高 &gt; 170')</a:t>
            </a:r>
          </a:p>
        </p:txBody>
      </p:sp>
      <p:sp>
        <p:nvSpPr>
          <p:cNvPr id="8" name="Rounded Rectangle 7"/>
          <p:cNvSpPr/>
          <p:nvPr/>
        </p:nvSpPr>
        <p:spPr>
          <a:xfrm>
            <a:off x="6400800" y="1828800"/>
            <a:ext cx="5120640" cy="2286000"/>
          </a:xfrm>
          <a:prstGeom prst="roundRect">
            <a:avLst>
              <a:gd name="adj" fmla="val 5000"/>
            </a:avLst>
          </a:prstGeom>
          <a:solidFill>
            <a:srgbClr val="25253D"/>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920240"/>
            <a:ext cx="4754880" cy="365760"/>
          </a:xfrm>
          <a:prstGeom prst="rect">
            <a:avLst/>
          </a:prstGeom>
          <a:noFill/>
        </p:spPr>
        <p:txBody>
          <a:bodyPr wrap="square">
            <a:spAutoFit/>
          </a:bodyPr>
          <a:lstStyle/>
          <a:p>
            <a:pPr algn="l">
              <a:defRPr sz="1500" b="1">
                <a:solidFill>
                  <a:srgbClr val="FF8C00"/>
                </a:solidFill>
                <a:latin typeface="Microsoft YaHei"/>
              </a:defRPr>
            </a:pPr>
            <a:r>
              <a:t>loc vs iloc核心区别</a:t>
            </a:r>
          </a:p>
        </p:txBody>
      </p:sp>
      <p:sp>
        <p:nvSpPr>
          <p:cNvPr id="10" name="TextBox 9"/>
          <p:cNvSpPr txBox="1"/>
          <p:nvPr/>
        </p:nvSpPr>
        <p:spPr>
          <a:xfrm>
            <a:off x="6583680" y="2286000"/>
            <a:ext cx="4754880" cy="1737360"/>
          </a:xfrm>
          <a:prstGeom prst="rect">
            <a:avLst/>
          </a:prstGeom>
          <a:noFill/>
        </p:spPr>
        <p:txBody>
          <a:bodyPr wrap="square">
            <a:spAutoFit/>
          </a:bodyPr>
          <a:lstStyle/>
          <a:p>
            <a:pPr>
              <a:spcAft>
                <a:spcPts val="400"/>
              </a:spcAft>
              <a:defRPr sz="1300">
                <a:solidFill>
                  <a:srgbClr val="BBBBCC"/>
                </a:solidFill>
                <a:latin typeface="Microsoft YaHei"/>
              </a:defRPr>
            </a:pPr>
            <a:r>
              <a:t>loc: 通过标签(名称)访问</a:t>
            </a:r>
          </a:p>
          <a:p>
            <a:pPr>
              <a:spcAft>
                <a:spcPts val="400"/>
              </a:spcAft>
              <a:defRPr sz="1300">
                <a:solidFill>
                  <a:srgbClr val="BBBBCC"/>
                </a:solidFill>
                <a:latin typeface="Microsoft YaHei"/>
              </a:defRPr>
            </a:pPr>
            <a:r>
              <a:t>  -&gt; 切片时包含末尾索引</a:t>
            </a:r>
          </a:p>
          <a:p>
            <a:pPr>
              <a:spcAft>
                <a:spcPts val="400"/>
              </a:spcAft>
              <a:defRPr sz="1300">
                <a:solidFill>
                  <a:srgbClr val="BBBBCC"/>
                </a:solidFill>
                <a:latin typeface="Microsoft YaHei"/>
              </a:defRPr>
            </a:pPr>
            <a:r>
              <a:t>  -&gt; df.loc[0:2] -&gt; 行0, 1, 2 (3个)</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iloc: 通过整数位置访问</a:t>
            </a:r>
          </a:p>
          <a:p>
            <a:pPr>
              <a:spcAft>
                <a:spcPts val="400"/>
              </a:spcAft>
              <a:defRPr sz="1300">
                <a:solidFill>
                  <a:srgbClr val="BBBBCC"/>
                </a:solidFill>
                <a:latin typeface="Microsoft YaHei"/>
              </a:defRPr>
            </a:pPr>
            <a:r>
              <a:t>  -&gt; 切片时不包含末尾索引</a:t>
            </a:r>
          </a:p>
          <a:p>
            <a:pPr>
              <a:spcAft>
                <a:spcPts val="400"/>
              </a:spcAft>
              <a:defRPr sz="1300">
                <a:solidFill>
                  <a:srgbClr val="BBBBCC"/>
                </a:solidFill>
                <a:latin typeface="Microsoft YaHei"/>
              </a:defRPr>
            </a:pPr>
            <a:r>
              <a:t>  -&gt; df.iloc[0:2] -&gt; 行0, 1 (2个)</a:t>
            </a:r>
          </a:p>
        </p:txBody>
      </p:sp>
      <p:sp>
        <p:nvSpPr>
          <p:cNvPr id="11" name="Rounded Rectangle 10"/>
          <p:cNvSpPr/>
          <p:nvPr/>
        </p:nvSpPr>
        <p:spPr>
          <a:xfrm>
            <a:off x="6400800" y="4389120"/>
            <a:ext cx="5120640" cy="201168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4480560"/>
            <a:ext cx="4754880" cy="365760"/>
          </a:xfrm>
          <a:prstGeom prst="rect">
            <a:avLst/>
          </a:prstGeom>
          <a:noFill/>
        </p:spPr>
        <p:txBody>
          <a:bodyPr wrap="square">
            <a:spAutoFit/>
          </a:bodyPr>
          <a:lstStyle/>
          <a:p>
            <a:pPr algn="l">
              <a:defRPr sz="1500" b="1">
                <a:solidFill>
                  <a:srgbClr val="00E696"/>
                </a:solidFill>
                <a:latin typeface="Microsoft YaHei"/>
              </a:defRPr>
            </a:pPr>
            <a:r>
              <a:t>query()方法</a:t>
            </a:r>
          </a:p>
        </p:txBody>
      </p:sp>
      <p:sp>
        <p:nvSpPr>
          <p:cNvPr id="13" name="TextBox 12"/>
          <p:cNvSpPr txBox="1"/>
          <p:nvPr/>
        </p:nvSpPr>
        <p:spPr>
          <a:xfrm>
            <a:off x="6583680" y="4846320"/>
            <a:ext cx="4754880" cy="1463040"/>
          </a:xfrm>
          <a:prstGeom prst="rect">
            <a:avLst/>
          </a:prstGeom>
          <a:noFill/>
        </p:spPr>
        <p:txBody>
          <a:bodyPr wrap="square">
            <a:spAutoFit/>
          </a:bodyPr>
          <a:lstStyle/>
          <a:p>
            <a:pPr>
              <a:spcAft>
                <a:spcPts val="400"/>
              </a:spcAft>
              <a:defRPr sz="1300">
                <a:solidFill>
                  <a:srgbClr val="BBBBCC"/>
                </a:solidFill>
                <a:latin typeface="Microsoft YaHei"/>
              </a:defRPr>
            </a:pPr>
            <a:r>
              <a:t>用字符串表达式进行行过滤</a:t>
            </a:r>
          </a:p>
          <a:p>
            <a:pPr>
              <a:spcAft>
                <a:spcPts val="400"/>
              </a:spcAft>
              <a:defRPr sz="1300">
                <a:solidFill>
                  <a:srgbClr val="BBBBCC"/>
                </a:solidFill>
                <a:latin typeface="Microsoft YaHei"/>
              </a:defRPr>
            </a:pPr>
            <a:r>
              <a:t>可读性好，适合链式调用</a:t>
            </a:r>
          </a:p>
          <a:p>
            <a:pPr>
              <a:spcAft>
                <a:spcPts val="400"/>
              </a:spcAft>
              <a:defRPr sz="1300">
                <a:solidFill>
                  <a:srgbClr val="BBBBCC"/>
                </a:solidFill>
                <a:latin typeface="Microsoft YaHei"/>
              </a:defRPr>
            </a:pPr>
            <a:r>
              <a:t>内部使用numexpr引擎 (快速)</a:t>
            </a:r>
          </a:p>
          <a:p>
            <a:pPr>
              <a:spcAft>
                <a:spcPts val="400"/>
              </a:spcAft>
              <a:defRPr sz="1300">
                <a:solidFill>
                  <a:srgbClr val="BBBBCC"/>
                </a:solidFill>
                <a:latin typeface="Microsoft YaHei"/>
              </a:defRPr>
            </a:pPr>
            <a:r>
              <a:t>例: df.query('年龄 &gt; 30 and 身高 &gt; 170')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3</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方法链 (Method Chaining)</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无需中间变量连续应用多个转换</a:t>
            </a:r>
          </a:p>
        </p:txBody>
      </p:sp>
      <p:sp>
        <p:nvSpPr>
          <p:cNvPr id="6" name="Rounded Rectangle 5"/>
          <p:cNvSpPr/>
          <p:nvPr/>
        </p:nvSpPr>
        <p:spPr>
          <a:xfrm>
            <a:off x="548640" y="1828800"/>
            <a:ext cx="5486400" cy="228600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65960"/>
            <a:ext cx="5120640" cy="2011680"/>
          </a:xfrm>
          <a:prstGeom prst="rect">
            <a:avLst/>
          </a:prstGeom>
          <a:noFill/>
        </p:spPr>
        <p:txBody>
          <a:bodyPr wrap="square">
            <a:spAutoFit/>
          </a:bodyPr>
          <a:lstStyle/>
          <a:p>
            <a:pPr>
              <a:spcAft>
                <a:spcPts val="200"/>
              </a:spcAft>
              <a:defRPr sz="1100">
                <a:solidFill>
                  <a:srgbClr val="00E696"/>
                </a:solidFill>
                <a:latin typeface="Consolas"/>
              </a:defRPr>
            </a:pPr>
            <a:r>
              <a:t># 不好的例子: 滥用中间变量</a:t>
            </a:r>
          </a:p>
          <a:p>
            <a:pPr>
              <a:spcAft>
                <a:spcPts val="200"/>
              </a:spcAft>
              <a:defRPr sz="1100">
                <a:solidFill>
                  <a:srgbClr val="00E696"/>
                </a:solidFill>
                <a:latin typeface="Consolas"/>
              </a:defRPr>
            </a:pPr>
            <a:r>
              <a:t>df2 = df.dropna()</a:t>
            </a:r>
          </a:p>
          <a:p>
            <a:pPr>
              <a:spcAft>
                <a:spcPts val="200"/>
              </a:spcAft>
              <a:defRPr sz="1100">
                <a:solidFill>
                  <a:srgbClr val="00E696"/>
                </a:solidFill>
                <a:latin typeface="Consolas"/>
              </a:defRPr>
            </a:pPr>
            <a:r>
              <a:t>df3 = df2[df2['年龄'] &gt; 25]</a:t>
            </a:r>
          </a:p>
          <a:p>
            <a:pPr>
              <a:spcAft>
                <a:spcPts val="200"/>
              </a:spcAft>
              <a:defRPr sz="1100">
                <a:solidFill>
                  <a:srgbClr val="00E696"/>
                </a:solidFill>
                <a:latin typeface="Consolas"/>
              </a:defRPr>
            </a:pPr>
            <a:r>
              <a:t>df4 = df3.assign(年龄段=df3['年龄']//10*10)</a:t>
            </a:r>
          </a:p>
          <a:p>
            <a:pPr>
              <a:spcAft>
                <a:spcPts val="200"/>
              </a:spcAft>
              <a:defRPr sz="1100">
                <a:solidFill>
                  <a:srgbClr val="00E696"/>
                </a:solidFill>
                <a:latin typeface="Consolas"/>
              </a:defRPr>
            </a:pPr>
            <a:r>
              <a:t>result = df4.sort_values('身高', ascending=False)</a:t>
            </a:r>
          </a:p>
        </p:txBody>
      </p:sp>
      <p:sp>
        <p:nvSpPr>
          <p:cNvPr id="8" name="Rounded Rectangle 7"/>
          <p:cNvSpPr/>
          <p:nvPr/>
        </p:nvSpPr>
        <p:spPr>
          <a:xfrm>
            <a:off x="548640" y="4297680"/>
            <a:ext cx="5486400" cy="228600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434840"/>
            <a:ext cx="5120640" cy="2011680"/>
          </a:xfrm>
          <a:prstGeom prst="rect">
            <a:avLst/>
          </a:prstGeom>
          <a:noFill/>
        </p:spPr>
        <p:txBody>
          <a:bodyPr wrap="square">
            <a:spAutoFit/>
          </a:bodyPr>
          <a:lstStyle/>
          <a:p>
            <a:pPr>
              <a:spcAft>
                <a:spcPts val="200"/>
              </a:spcAft>
              <a:defRPr sz="1100">
                <a:solidFill>
                  <a:srgbClr val="00E696"/>
                </a:solidFill>
                <a:latin typeface="Consolas"/>
              </a:defRPr>
            </a:pPr>
            <a:r>
              <a:t># 好的例子: 方法链</a:t>
            </a:r>
          </a:p>
          <a:p>
            <a:pPr>
              <a:spcAft>
                <a:spcPts val="200"/>
              </a:spcAft>
              <a:defRPr sz="1100">
                <a:solidFill>
                  <a:srgbClr val="00E696"/>
                </a:solidFill>
                <a:latin typeface="Consolas"/>
              </a:defRPr>
            </a:pPr>
            <a:r>
              <a:t>result = (df</a:t>
            </a:r>
          </a:p>
          <a:p>
            <a:pPr>
              <a:spcAft>
                <a:spcPts val="200"/>
              </a:spcAft>
              <a:defRPr sz="1100">
                <a:solidFill>
                  <a:srgbClr val="00E696"/>
                </a:solidFill>
                <a:latin typeface="Consolas"/>
              </a:defRPr>
            </a:pPr>
            <a:r>
              <a:t>    .dropna()</a:t>
            </a:r>
          </a:p>
          <a:p>
            <a:pPr>
              <a:spcAft>
                <a:spcPts val="200"/>
              </a:spcAft>
              <a:defRPr sz="1100">
                <a:solidFill>
                  <a:srgbClr val="00E696"/>
                </a:solidFill>
                <a:latin typeface="Consolas"/>
              </a:defRPr>
            </a:pPr>
            <a:r>
              <a:t>    .query('年龄 &gt; 25')</a:t>
            </a:r>
          </a:p>
          <a:p>
            <a:pPr>
              <a:spcAft>
                <a:spcPts val="200"/>
              </a:spcAft>
              <a:defRPr sz="1100">
                <a:solidFill>
                  <a:srgbClr val="00E696"/>
                </a:solidFill>
                <a:latin typeface="Consolas"/>
              </a:defRPr>
            </a:pPr>
            <a:r>
              <a:t>    .assign(年龄段=lambda x: x['年龄']//10*10)</a:t>
            </a:r>
          </a:p>
          <a:p>
            <a:pPr>
              <a:spcAft>
                <a:spcPts val="200"/>
              </a:spcAft>
              <a:defRPr sz="1100">
                <a:solidFill>
                  <a:srgbClr val="00E696"/>
                </a:solidFill>
                <a:latin typeface="Consolas"/>
              </a:defRPr>
            </a:pPr>
            <a:r>
              <a:t>    .sort_values('身高', ascending=False)</a:t>
            </a:r>
          </a:p>
          <a:p>
            <a:pPr>
              <a:spcAft>
                <a:spcPts val="200"/>
              </a:spcAft>
              <a:defRPr sz="1100">
                <a:solidFill>
                  <a:srgbClr val="00E696"/>
                </a:solidFill>
                <a:latin typeface="Consolas"/>
              </a:defRPr>
            </a:pPr>
            <a:r>
              <a:t>)</a:t>
            </a:r>
          </a:p>
        </p:txBody>
      </p:sp>
      <p:sp>
        <p:nvSpPr>
          <p:cNvPr id="10" name="Rounded Rectangle 9"/>
          <p:cNvSpPr/>
          <p:nvPr/>
        </p:nvSpPr>
        <p:spPr>
          <a:xfrm>
            <a:off x="6400800" y="1828800"/>
            <a:ext cx="5120640" cy="2011680"/>
          </a:xfrm>
          <a:prstGeom prst="roundRect">
            <a:avLst>
              <a:gd name="adj" fmla="val 5000"/>
            </a:avLst>
          </a:prstGeom>
          <a:solidFill>
            <a:srgbClr val="25253D"/>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1920240"/>
            <a:ext cx="4754880" cy="365760"/>
          </a:xfrm>
          <a:prstGeom prst="rect">
            <a:avLst/>
          </a:prstGeom>
          <a:noFill/>
        </p:spPr>
        <p:txBody>
          <a:bodyPr wrap="square">
            <a:spAutoFit/>
          </a:bodyPr>
          <a:lstStyle/>
          <a:p>
            <a:pPr algn="l">
              <a:defRPr sz="1500" b="1">
                <a:solidFill>
                  <a:srgbClr val="00D2FF"/>
                </a:solidFill>
                <a:latin typeface="Microsoft YaHei"/>
              </a:defRPr>
            </a:pPr>
            <a:r>
              <a:t>pipe()整合自定义函数</a:t>
            </a:r>
          </a:p>
        </p:txBody>
      </p:sp>
      <p:sp>
        <p:nvSpPr>
          <p:cNvPr id="12" name="TextBox 11"/>
          <p:cNvSpPr txBox="1"/>
          <p:nvPr/>
        </p:nvSpPr>
        <p:spPr>
          <a:xfrm>
            <a:off x="6583680" y="2286000"/>
            <a:ext cx="4754880" cy="1463040"/>
          </a:xfrm>
          <a:prstGeom prst="rect">
            <a:avLst/>
          </a:prstGeom>
          <a:noFill/>
        </p:spPr>
        <p:txBody>
          <a:bodyPr wrap="square">
            <a:spAutoFit/>
          </a:bodyPr>
          <a:lstStyle/>
          <a:p>
            <a:pPr>
              <a:spcAft>
                <a:spcPts val="400"/>
              </a:spcAft>
              <a:defRPr sz="1300">
                <a:solidFill>
                  <a:srgbClr val="BBBBCC"/>
                </a:solidFill>
                <a:latin typeface="Microsoft YaHei"/>
              </a:defRPr>
            </a:pPr>
            <a:r>
              <a:t>def 去除异常值(df, col, n_std=3):</a:t>
            </a:r>
          </a:p>
          <a:p>
            <a:pPr>
              <a:spcAft>
                <a:spcPts val="400"/>
              </a:spcAft>
              <a:defRPr sz="1300">
                <a:solidFill>
                  <a:srgbClr val="BBBBCC"/>
                </a:solidFill>
                <a:latin typeface="Microsoft YaHei"/>
              </a:defRPr>
            </a:pPr>
            <a:r>
              <a:t>    mean, std = df[col].mean(), df[col].std()</a:t>
            </a:r>
          </a:p>
          <a:p>
            <a:pPr>
              <a:spcAft>
                <a:spcPts val="400"/>
              </a:spcAft>
              <a:defRPr sz="1300">
                <a:solidFill>
                  <a:srgbClr val="BBBBCC"/>
                </a:solidFill>
                <a:latin typeface="Microsoft YaHei"/>
              </a:defRPr>
            </a:pPr>
            <a:r>
              <a:t>    return df[abs(df[col]-mean) &lt;= n_std*std]</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result = (df</a:t>
            </a:r>
          </a:p>
          <a:p>
            <a:pPr>
              <a:spcAft>
                <a:spcPts val="400"/>
              </a:spcAft>
              <a:defRPr sz="1300">
                <a:solidFill>
                  <a:srgbClr val="BBBBCC"/>
                </a:solidFill>
                <a:latin typeface="Microsoft YaHei"/>
              </a:defRPr>
            </a:pPr>
            <a:r>
              <a:t>    .pipe(去除异常值, '身高')</a:t>
            </a:r>
          </a:p>
          <a:p>
            <a:pPr>
              <a:spcAft>
                <a:spcPts val="400"/>
              </a:spcAft>
              <a:defRPr sz="1300">
                <a:solidFill>
                  <a:srgbClr val="BBBBCC"/>
                </a:solidFill>
                <a:latin typeface="Microsoft YaHei"/>
              </a:defRPr>
            </a:pPr>
            <a:r>
              <a:t>    .assign(BMI=lambda x: x['身高']/100))</a:t>
            </a:r>
          </a:p>
        </p:txBody>
      </p:sp>
      <p:sp>
        <p:nvSpPr>
          <p:cNvPr id="13" name="Rounded Rectangle 12"/>
          <p:cNvSpPr/>
          <p:nvPr/>
        </p:nvSpPr>
        <p:spPr>
          <a:xfrm>
            <a:off x="6400800" y="4114800"/>
            <a:ext cx="5120640" cy="246888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4206240"/>
            <a:ext cx="4754880" cy="365760"/>
          </a:xfrm>
          <a:prstGeom prst="rect">
            <a:avLst/>
          </a:prstGeom>
          <a:noFill/>
        </p:spPr>
        <p:txBody>
          <a:bodyPr wrap="square">
            <a:spAutoFit/>
          </a:bodyPr>
          <a:lstStyle/>
          <a:p>
            <a:pPr algn="l">
              <a:defRPr sz="1500" b="1">
                <a:solidFill>
                  <a:srgbClr val="00E696"/>
                </a:solidFill>
                <a:latin typeface="Microsoft YaHei"/>
              </a:defRPr>
            </a:pPr>
            <a:r>
              <a:t>方法链的优点</a:t>
            </a:r>
          </a:p>
        </p:txBody>
      </p:sp>
      <p:sp>
        <p:nvSpPr>
          <p:cNvPr id="15" name="TextBox 14"/>
          <p:cNvSpPr txBox="1"/>
          <p:nvPr/>
        </p:nvSpPr>
        <p:spPr>
          <a:xfrm>
            <a:off x="6583680" y="4572000"/>
            <a:ext cx="4754880" cy="1920240"/>
          </a:xfrm>
          <a:prstGeom prst="rect">
            <a:avLst/>
          </a:prstGeom>
          <a:noFill/>
        </p:spPr>
        <p:txBody>
          <a:bodyPr wrap="square">
            <a:spAutoFit/>
          </a:bodyPr>
          <a:lstStyle/>
          <a:p>
            <a:pPr>
              <a:spcAft>
                <a:spcPts val="400"/>
              </a:spcAft>
              <a:defRPr sz="1300">
                <a:solidFill>
                  <a:srgbClr val="BBBBCC"/>
                </a:solidFill>
                <a:latin typeface="Microsoft YaHei"/>
              </a:defRPr>
            </a:pPr>
            <a:r>
              <a:t>可读性: 数据转换过程从上到下阅读</a:t>
            </a:r>
          </a:p>
          <a:p>
            <a:pPr>
              <a:spcAft>
                <a:spcPts val="400"/>
              </a:spcAft>
              <a:defRPr sz="1300">
                <a:solidFill>
                  <a:srgbClr val="BBBBCC"/>
                </a:solidFill>
                <a:latin typeface="Microsoft YaHei"/>
              </a:defRPr>
            </a:pPr>
            <a:r>
              <a:t>调试: 注释各步骤查看中间结果</a:t>
            </a:r>
          </a:p>
          <a:p>
            <a:pPr>
              <a:spcAft>
                <a:spcPts val="400"/>
              </a:spcAft>
              <a:defRPr sz="1300">
                <a:solidFill>
                  <a:srgbClr val="BBBBCC"/>
                </a:solidFill>
                <a:latin typeface="Microsoft YaHei"/>
              </a:defRPr>
            </a:pPr>
            <a:r>
              <a:t>可重现性: 整个转换为一个表达式</a:t>
            </a:r>
          </a:p>
          <a:p>
            <a:pPr>
              <a:spcAft>
                <a:spcPts val="400"/>
              </a:spcAft>
              <a:defRPr sz="1300">
                <a:solidFill>
                  <a:srgbClr val="BBBBCC"/>
                </a:solidFill>
                <a:latin typeface="Microsoft YaHei"/>
              </a:defRPr>
            </a:pPr>
            <a:r>
              <a:t>pipe(): 自定义函数也可集成到链中</a:t>
            </a:r>
          </a:p>
          <a:p>
            <a:pPr>
              <a:spcAft>
                <a:spcPts val="400"/>
              </a:spcAft>
              <a:defRPr sz="1300">
                <a:solidFill>
                  <a:srgbClr val="BBBBCC"/>
                </a:solidFill>
                <a:latin typeface="Microsoft YaHei"/>
              </a:defRPr>
            </a:pPr>
            <a:r>
              <a:t>assign(): 添加新列 (用lambda引用当前df)</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3</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GroupBy: 分割-应用-合并 (Split-Apply-Combine)</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McKinney (2010)强调的核心模式</a:t>
            </a:r>
          </a:p>
        </p:txBody>
      </p:sp>
      <p:sp>
        <p:nvSpPr>
          <p:cNvPr id="6" name="Rounded Rectangle 5"/>
          <p:cNvSpPr/>
          <p:nvPr/>
        </p:nvSpPr>
        <p:spPr>
          <a:xfrm>
            <a:off x="548640" y="1828800"/>
            <a:ext cx="5943600" cy="457200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65960"/>
            <a:ext cx="5577840" cy="4297680"/>
          </a:xfrm>
          <a:prstGeom prst="rect">
            <a:avLst/>
          </a:prstGeom>
          <a:noFill/>
        </p:spPr>
        <p:txBody>
          <a:bodyPr wrap="square">
            <a:spAutoFit/>
          </a:bodyPr>
          <a:lstStyle/>
          <a:p>
            <a:pPr>
              <a:spcAft>
                <a:spcPts val="200"/>
              </a:spcAft>
              <a:defRPr sz="1100">
                <a:solidFill>
                  <a:srgbClr val="00E696"/>
                </a:solidFill>
                <a:latin typeface="Consolas"/>
              </a:defRPr>
            </a:pPr>
            <a:r>
              <a:t>np.random.seed(42)</a:t>
            </a:r>
          </a:p>
          <a:p>
            <a:pPr>
              <a:spcAft>
                <a:spcPts val="200"/>
              </a:spcAft>
              <a:defRPr sz="1100">
                <a:solidFill>
                  <a:srgbClr val="00E696"/>
                </a:solidFill>
                <a:latin typeface="Consolas"/>
              </a:defRPr>
            </a:pPr>
            <a:r>
              <a:t>df = pd.DataFrame({</a:t>
            </a:r>
          </a:p>
          <a:p>
            <a:pPr>
              <a:spcAft>
                <a:spcPts val="200"/>
              </a:spcAft>
              <a:defRPr sz="1100">
                <a:solidFill>
                  <a:srgbClr val="00E696"/>
                </a:solidFill>
                <a:latin typeface="Consolas"/>
              </a:defRPr>
            </a:pPr>
            <a:r>
              <a:t>    '部门': np.random.choice(['开发','市场','销售'], 100),</a:t>
            </a:r>
          </a:p>
          <a:p>
            <a:pPr>
              <a:spcAft>
                <a:spcPts val="200"/>
              </a:spcAft>
              <a:defRPr sz="1100">
                <a:solidFill>
                  <a:srgbClr val="00E696"/>
                </a:solidFill>
                <a:latin typeface="Consolas"/>
              </a:defRPr>
            </a:pPr>
            <a:r>
              <a:t>    '职级': np.random.choice(['员工','主管','经理'], 100),</a:t>
            </a:r>
          </a:p>
          <a:p>
            <a:pPr>
              <a:spcAft>
                <a:spcPts val="200"/>
              </a:spcAft>
              <a:defRPr sz="1100">
                <a:solidFill>
                  <a:srgbClr val="00E696"/>
                </a:solidFill>
                <a:latin typeface="Consolas"/>
              </a:defRPr>
            </a:pPr>
            <a:r>
              <a:t>    '年薪': np.random.normal(5000,1000,100).astype(int),</a:t>
            </a:r>
          </a:p>
          <a:p>
            <a:pPr>
              <a:spcAft>
                <a:spcPts val="200"/>
              </a:spcAft>
              <a:defRPr sz="1100">
                <a:solidFill>
                  <a:srgbClr val="00E696"/>
                </a:solidFill>
                <a:latin typeface="Consolas"/>
              </a:defRPr>
            </a:pPr>
            <a:r>
              <a:t>    '绩效': np.random.uniform(0,100,100).round(1)</a:t>
            </a:r>
          </a:p>
          <a:p>
            <a:pPr>
              <a:spcAft>
                <a:spcPts val="200"/>
              </a:spcAft>
              <a:defRPr sz="1100">
                <a:solidFill>
                  <a:srgbClr val="00E696"/>
                </a:solidFill>
                <a:latin typeface="Consolas"/>
              </a:defRPr>
            </a:pPr>
            <a:r>
              <a:t>})</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agg: 分组聚合</a:t>
            </a:r>
          </a:p>
          <a:p>
            <a:pPr>
              <a:spcAft>
                <a:spcPts val="200"/>
              </a:spcAft>
              <a:defRPr sz="1100">
                <a:solidFill>
                  <a:srgbClr val="00E696"/>
                </a:solidFill>
                <a:latin typeface="Consolas"/>
              </a:defRPr>
            </a:pPr>
            <a:r>
              <a:t>df.groupby('部门')['年薪'].agg(['mean','std','min','max'])</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transform: 保持原始大小 (分组Z-score)</a:t>
            </a:r>
          </a:p>
          <a:p>
            <a:pPr>
              <a:spcAft>
                <a:spcPts val="200"/>
              </a:spcAft>
              <a:defRPr sz="1100">
                <a:solidFill>
                  <a:srgbClr val="00E696"/>
                </a:solidFill>
                <a:latin typeface="Consolas"/>
              </a:defRPr>
            </a:pPr>
            <a:r>
              <a:t>df['年薪_zscore'] = df.groupby('部门')['年薪'].transform(</a:t>
            </a:r>
          </a:p>
          <a:p>
            <a:pPr>
              <a:spcAft>
                <a:spcPts val="200"/>
              </a:spcAft>
              <a:defRPr sz="1100">
                <a:solidFill>
                  <a:srgbClr val="00E696"/>
                </a:solidFill>
                <a:latin typeface="Consolas"/>
              </a:defRPr>
            </a:pPr>
            <a:r>
              <a:t>    lambda x: (x - x.mean()) / x.std())</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apply: 高自由度的分组操作</a:t>
            </a:r>
          </a:p>
          <a:p>
            <a:pPr>
              <a:spcAft>
                <a:spcPts val="200"/>
              </a:spcAft>
              <a:defRPr sz="1100">
                <a:solidFill>
                  <a:srgbClr val="00E696"/>
                </a:solidFill>
                <a:latin typeface="Consolas"/>
              </a:defRPr>
            </a:pPr>
            <a:r>
              <a:t>def 前N名(group, n=3):</a:t>
            </a:r>
          </a:p>
          <a:p>
            <a:pPr>
              <a:spcAft>
                <a:spcPts val="200"/>
              </a:spcAft>
              <a:defRPr sz="1100">
                <a:solidFill>
                  <a:srgbClr val="00E696"/>
                </a:solidFill>
                <a:latin typeface="Consolas"/>
              </a:defRPr>
            </a:pPr>
            <a:r>
              <a:t>    return group.nlargest(n, '绩效')</a:t>
            </a:r>
          </a:p>
          <a:p>
            <a:pPr>
              <a:spcAft>
                <a:spcPts val="200"/>
              </a:spcAft>
              <a:defRPr sz="1100">
                <a:solidFill>
                  <a:srgbClr val="00E696"/>
                </a:solidFill>
                <a:latin typeface="Consolas"/>
              </a:defRPr>
            </a:pPr>
            <a:r>
              <a:t>df.groupby('部门').apply(前N名, n=2)</a:t>
            </a:r>
          </a:p>
        </p:txBody>
      </p:sp>
      <p:sp>
        <p:nvSpPr>
          <p:cNvPr id="8" name="Rounded Rectangle 7"/>
          <p:cNvSpPr/>
          <p:nvPr/>
        </p:nvSpPr>
        <p:spPr>
          <a:xfrm>
            <a:off x="6858000" y="1828800"/>
            <a:ext cx="4754880" cy="4572000"/>
          </a:xfrm>
          <a:prstGeom prst="roundRect">
            <a:avLst>
              <a:gd name="adj" fmla="val 5000"/>
            </a:avLst>
          </a:prstGeom>
          <a:solidFill>
            <a:srgbClr val="25253D"/>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0" y="1920240"/>
            <a:ext cx="4389120" cy="365760"/>
          </a:xfrm>
          <a:prstGeom prst="rect">
            <a:avLst/>
          </a:prstGeom>
          <a:noFill/>
        </p:spPr>
        <p:txBody>
          <a:bodyPr wrap="square">
            <a:spAutoFit/>
          </a:bodyPr>
          <a:lstStyle/>
          <a:p>
            <a:pPr algn="l">
              <a:defRPr sz="1500" b="1">
                <a:solidFill>
                  <a:srgbClr val="FF8C00"/>
                </a:solidFill>
                <a:latin typeface="Microsoft YaHei"/>
              </a:defRPr>
            </a:pPr>
            <a:r>
              <a:t>GroupBy的3种模式</a:t>
            </a:r>
          </a:p>
        </p:txBody>
      </p:sp>
      <p:sp>
        <p:nvSpPr>
          <p:cNvPr id="10" name="TextBox 9"/>
          <p:cNvSpPr txBox="1"/>
          <p:nvPr/>
        </p:nvSpPr>
        <p:spPr>
          <a:xfrm>
            <a:off x="7040880" y="2286000"/>
            <a:ext cx="4389120" cy="4023360"/>
          </a:xfrm>
          <a:prstGeom prst="rect">
            <a:avLst/>
          </a:prstGeom>
          <a:noFill/>
        </p:spPr>
        <p:txBody>
          <a:bodyPr wrap="square">
            <a:spAutoFit/>
          </a:bodyPr>
          <a:lstStyle/>
          <a:p>
            <a:pPr>
              <a:spcAft>
                <a:spcPts val="400"/>
              </a:spcAft>
              <a:defRPr sz="1300">
                <a:solidFill>
                  <a:srgbClr val="BBBBCC"/>
                </a:solidFill>
                <a:latin typeface="Microsoft YaHei"/>
              </a:defRPr>
            </a:pPr>
            <a:r>
              <a:t>1. agg (聚合): 组 -&gt; 标量</a:t>
            </a:r>
          </a:p>
          <a:p>
            <a:pPr>
              <a:spcAft>
                <a:spcPts val="400"/>
              </a:spcAft>
              <a:defRPr sz="1300">
                <a:solidFill>
                  <a:srgbClr val="BBBBCC"/>
                </a:solidFill>
                <a:latin typeface="Microsoft YaHei"/>
              </a:defRPr>
            </a:pPr>
            <a:r>
              <a:t>   分组平均、标准差、最小、最大</a:t>
            </a:r>
          </a:p>
          <a:p>
            <a:pPr>
              <a:spcAft>
                <a:spcPts val="400"/>
              </a:spcAft>
              <a:defRPr sz="1300">
                <a:solidFill>
                  <a:srgbClr val="BBBBCC"/>
                </a:solidFill>
                <a:latin typeface="Microsoft YaHei"/>
              </a:defRPr>
            </a:pPr>
            <a:r>
              <a:t>   结果: 组数个行</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2. transform (转换): 组 -&gt; 原始大小</a:t>
            </a:r>
          </a:p>
          <a:p>
            <a:pPr>
              <a:spcAft>
                <a:spcPts val="400"/>
              </a:spcAft>
              <a:defRPr sz="1300">
                <a:solidFill>
                  <a:srgbClr val="BBBBCC"/>
                </a:solidFill>
                <a:latin typeface="Microsoft YaHei"/>
              </a:defRPr>
            </a:pPr>
            <a:r>
              <a:t>   分组Z-score、累积和、比例</a:t>
            </a:r>
          </a:p>
          <a:p>
            <a:pPr>
              <a:spcAft>
                <a:spcPts val="400"/>
              </a:spcAft>
              <a:defRPr sz="1300">
                <a:solidFill>
                  <a:srgbClr val="BBBBCC"/>
                </a:solidFill>
                <a:latin typeface="Microsoft YaHei"/>
              </a:defRPr>
            </a:pPr>
            <a:r>
              <a:t>   结果: 与原始相同大小 (非常有用!)</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3. apply (自由形式): 最灵活</a:t>
            </a:r>
          </a:p>
          <a:p>
            <a:pPr>
              <a:spcAft>
                <a:spcPts val="400"/>
              </a:spcAft>
              <a:defRPr sz="1300">
                <a:solidFill>
                  <a:srgbClr val="BBBBCC"/>
                </a:solidFill>
                <a:latin typeface="Microsoft YaHei"/>
              </a:defRPr>
            </a:pPr>
            <a:r>
              <a:t>   分组提取前N个</a:t>
            </a:r>
          </a:p>
          <a:p>
            <a:pPr>
              <a:spcAft>
                <a:spcPts val="400"/>
              </a:spcAft>
              <a:defRPr sz="1300">
                <a:solidFill>
                  <a:srgbClr val="BBBBCC"/>
                </a:solidFill>
                <a:latin typeface="Microsoft YaHei"/>
              </a:defRPr>
            </a:pPr>
            <a:r>
              <a:t>   应用自定义函数</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Split-Apply-Combine模式:</a:t>
            </a:r>
          </a:p>
          <a:p>
            <a:pPr>
              <a:spcAft>
                <a:spcPts val="400"/>
              </a:spcAft>
              <a:defRPr sz="1300">
                <a:solidFill>
                  <a:srgbClr val="BBBBCC"/>
                </a:solidFill>
                <a:latin typeface="Microsoft YaHei"/>
              </a:defRPr>
            </a:pPr>
            <a:r>
              <a:t>分割(groupby) -&gt; 应用(agg/transform/apply)</a:t>
            </a:r>
          </a:p>
          <a:p>
            <a:pPr>
              <a:spcAft>
                <a:spcPts val="400"/>
              </a:spcAft>
              <a:defRPr sz="1300">
                <a:solidFill>
                  <a:srgbClr val="BBBBCC"/>
                </a:solidFill>
                <a:latin typeface="Microsoft YaHei"/>
              </a:defRPr>
            </a:pPr>
            <a:r>
              <a:t>-&gt; 合并(自动)</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3</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Merge与Join</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与SQL JOIN相同的表连接操作</a:t>
            </a:r>
          </a:p>
        </p:txBody>
      </p:sp>
      <p:sp>
        <p:nvSpPr>
          <p:cNvPr id="6" name="Rounded Rectangle 5"/>
          <p:cNvSpPr/>
          <p:nvPr/>
        </p:nvSpPr>
        <p:spPr>
          <a:xfrm>
            <a:off x="548640" y="1828800"/>
            <a:ext cx="5486400" cy="292608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65960"/>
            <a:ext cx="5120640" cy="2651760"/>
          </a:xfrm>
          <a:prstGeom prst="rect">
            <a:avLst/>
          </a:prstGeom>
          <a:noFill/>
        </p:spPr>
        <p:txBody>
          <a:bodyPr wrap="square">
            <a:spAutoFit/>
          </a:bodyPr>
          <a:lstStyle/>
          <a:p>
            <a:pPr>
              <a:spcAft>
                <a:spcPts val="200"/>
              </a:spcAft>
              <a:defRPr sz="1100">
                <a:solidFill>
                  <a:srgbClr val="00E696"/>
                </a:solidFill>
                <a:latin typeface="Consolas"/>
              </a:defRPr>
            </a:pPr>
            <a:r>
              <a:t># 准备两个表</a:t>
            </a:r>
          </a:p>
          <a:p>
            <a:pPr>
              <a:spcAft>
                <a:spcPts val="200"/>
              </a:spcAft>
              <a:defRPr sz="1100">
                <a:solidFill>
                  <a:srgbClr val="00E696"/>
                </a:solidFill>
                <a:latin typeface="Consolas"/>
              </a:defRPr>
            </a:pPr>
            <a:r>
              <a:t>员工 = pd.DataFrame({</a:t>
            </a:r>
          </a:p>
          <a:p>
            <a:pPr>
              <a:spcAft>
                <a:spcPts val="200"/>
              </a:spcAft>
              <a:defRPr sz="1100">
                <a:solidFill>
                  <a:srgbClr val="00E696"/>
                </a:solidFill>
                <a:latin typeface="Consolas"/>
              </a:defRPr>
            </a:pPr>
            <a:r>
              <a:t>    '工号': [1, 2, 3, 4],</a:t>
            </a:r>
          </a:p>
          <a:p>
            <a:pPr>
              <a:spcAft>
                <a:spcPts val="200"/>
              </a:spcAft>
              <a:defRPr sz="1100">
                <a:solidFill>
                  <a:srgbClr val="00E696"/>
                </a:solidFill>
                <a:latin typeface="Consolas"/>
              </a:defRPr>
            </a:pPr>
            <a:r>
              <a:t>    '姓名': ['张三','李四','王五','赵六'],</a:t>
            </a:r>
          </a:p>
          <a:p>
            <a:pPr>
              <a:spcAft>
                <a:spcPts val="200"/>
              </a:spcAft>
              <a:defRPr sz="1100">
                <a:solidFill>
                  <a:srgbClr val="00E696"/>
                </a:solidFill>
                <a:latin typeface="Consolas"/>
              </a:defRPr>
            </a:pPr>
            <a:r>
              <a:t>    '部门代码': ['D01','D02','D01','D03']</a:t>
            </a:r>
          </a:p>
          <a:p>
            <a:pPr>
              <a:spcAft>
                <a:spcPts val="200"/>
              </a:spcAft>
              <a:defRPr sz="1100">
                <a:solidFill>
                  <a:srgbClr val="00E696"/>
                </a:solidFill>
                <a:latin typeface="Consolas"/>
              </a:defRPr>
            </a:pPr>
            <a:r>
              <a:t>})</a:t>
            </a:r>
          </a:p>
          <a:p>
            <a:pPr>
              <a:spcAft>
                <a:spcPts val="200"/>
              </a:spcAft>
              <a:defRPr sz="1100">
                <a:solidFill>
                  <a:srgbClr val="00E696"/>
                </a:solidFill>
                <a:latin typeface="Consolas"/>
              </a:defRPr>
            </a:pPr>
            <a:r>
              <a:t>部门 = pd.DataFrame({</a:t>
            </a:r>
          </a:p>
          <a:p>
            <a:pPr>
              <a:spcAft>
                <a:spcPts val="200"/>
              </a:spcAft>
              <a:defRPr sz="1100">
                <a:solidFill>
                  <a:srgbClr val="00E696"/>
                </a:solidFill>
                <a:latin typeface="Consolas"/>
              </a:defRPr>
            </a:pPr>
            <a:r>
              <a:t>    '代码': ['D01','D02','D03'],</a:t>
            </a:r>
          </a:p>
          <a:p>
            <a:pPr>
              <a:spcAft>
                <a:spcPts val="200"/>
              </a:spcAft>
              <a:defRPr sz="1100">
                <a:solidFill>
                  <a:srgbClr val="00E696"/>
                </a:solidFill>
                <a:latin typeface="Consolas"/>
              </a:defRPr>
            </a:pPr>
            <a:r>
              <a:t>    '部门名': ['开发部','市场部','销售部']</a:t>
            </a:r>
          </a:p>
          <a:p>
            <a:pPr>
              <a:spcAft>
                <a:spcPts val="200"/>
              </a:spcAft>
              <a:defRPr sz="1100">
                <a:solidFill>
                  <a:srgbClr val="00E696"/>
                </a:solidFill>
                <a:latin typeface="Consolas"/>
              </a:defRPr>
            </a:pPr>
            <a:r>
              <a:t>})</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与SQL JOIN相同</a:t>
            </a:r>
          </a:p>
          <a:p>
            <a:pPr>
              <a:spcAft>
                <a:spcPts val="200"/>
              </a:spcAft>
              <a:defRPr sz="1100">
                <a:solidFill>
                  <a:srgbClr val="00E696"/>
                </a:solidFill>
                <a:latin typeface="Consolas"/>
              </a:defRPr>
            </a:pPr>
            <a:r>
              <a:t>result = pd.merge(员工, 部门,</a:t>
            </a:r>
          </a:p>
          <a:p>
            <a:pPr>
              <a:spcAft>
                <a:spcPts val="200"/>
              </a:spcAft>
              <a:defRPr sz="1100">
                <a:solidFill>
                  <a:srgbClr val="00E696"/>
                </a:solidFill>
                <a:latin typeface="Consolas"/>
              </a:defRPr>
            </a:pPr>
            <a:r>
              <a:t>    left_on='部门代码', right_on='代码', how='left')</a:t>
            </a:r>
          </a:p>
        </p:txBody>
      </p:sp>
      <p:sp>
        <p:nvSpPr>
          <p:cNvPr id="8" name="Rectangle 7"/>
          <p:cNvSpPr/>
          <p:nvPr/>
        </p:nvSpPr>
        <p:spPr>
          <a:xfrm>
            <a:off x="548640" y="5029200"/>
            <a:ext cx="1828800" cy="4572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5029200"/>
            <a:ext cx="1828800" cy="457200"/>
          </a:xfrm>
          <a:prstGeom prst="rect">
            <a:avLst/>
          </a:prstGeom>
          <a:noFill/>
        </p:spPr>
        <p:txBody>
          <a:bodyPr wrap="square">
            <a:spAutoFit/>
          </a:bodyPr>
          <a:lstStyle/>
          <a:p>
            <a:pPr algn="ctr">
              <a:defRPr sz="1400" b="1">
                <a:solidFill>
                  <a:srgbClr val="FFFFFF"/>
                </a:solidFill>
                <a:latin typeface="Microsoft YaHei"/>
              </a:defRPr>
            </a:pPr>
            <a:r>
              <a:t>Join类型</a:t>
            </a:r>
          </a:p>
        </p:txBody>
      </p:sp>
      <p:sp>
        <p:nvSpPr>
          <p:cNvPr id="10" name="Rectangle 9"/>
          <p:cNvSpPr/>
          <p:nvPr/>
        </p:nvSpPr>
        <p:spPr>
          <a:xfrm>
            <a:off x="2377440" y="5029200"/>
            <a:ext cx="2743200" cy="4572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77440" y="5029200"/>
            <a:ext cx="2743200" cy="457200"/>
          </a:xfrm>
          <a:prstGeom prst="rect">
            <a:avLst/>
          </a:prstGeom>
          <a:noFill/>
        </p:spPr>
        <p:txBody>
          <a:bodyPr wrap="square">
            <a:spAutoFit/>
          </a:bodyPr>
          <a:lstStyle/>
          <a:p>
            <a:pPr algn="ctr">
              <a:defRPr sz="1400" b="1">
                <a:solidFill>
                  <a:srgbClr val="FFFFFF"/>
                </a:solidFill>
                <a:latin typeface="Microsoft YaHei"/>
              </a:defRPr>
            </a:pPr>
            <a:r>
              <a:t>SQL对应</a:t>
            </a:r>
          </a:p>
        </p:txBody>
      </p:sp>
      <p:sp>
        <p:nvSpPr>
          <p:cNvPr id="12" name="Rectangle 11"/>
          <p:cNvSpPr/>
          <p:nvPr/>
        </p:nvSpPr>
        <p:spPr>
          <a:xfrm>
            <a:off x="5120640" y="5029200"/>
            <a:ext cx="4572000" cy="4572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0" y="5029200"/>
            <a:ext cx="4572000" cy="457200"/>
          </a:xfrm>
          <a:prstGeom prst="rect">
            <a:avLst/>
          </a:prstGeom>
          <a:noFill/>
        </p:spPr>
        <p:txBody>
          <a:bodyPr wrap="square">
            <a:spAutoFit/>
          </a:bodyPr>
          <a:lstStyle/>
          <a:p>
            <a:pPr algn="ctr">
              <a:defRPr sz="1400" b="1">
                <a:solidFill>
                  <a:srgbClr val="FFFFFF"/>
                </a:solidFill>
                <a:latin typeface="Microsoft YaHei"/>
              </a:defRPr>
            </a:pPr>
            <a:r>
              <a:t>说明</a:t>
            </a:r>
          </a:p>
        </p:txBody>
      </p:sp>
      <p:sp>
        <p:nvSpPr>
          <p:cNvPr id="14" name="Rectangle 13"/>
          <p:cNvSpPr/>
          <p:nvPr/>
        </p:nvSpPr>
        <p:spPr>
          <a:xfrm>
            <a:off x="548640" y="5486400"/>
            <a:ext cx="1828800" cy="36576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486400"/>
            <a:ext cx="1828800" cy="365760"/>
          </a:xfrm>
          <a:prstGeom prst="rect">
            <a:avLst/>
          </a:prstGeom>
          <a:noFill/>
        </p:spPr>
        <p:txBody>
          <a:bodyPr wrap="square">
            <a:spAutoFit/>
          </a:bodyPr>
          <a:lstStyle/>
          <a:p>
            <a:pPr algn="ctr">
              <a:defRPr sz="1200" b="1">
                <a:solidFill>
                  <a:srgbClr val="00D2FF"/>
                </a:solidFill>
                <a:latin typeface="Microsoft YaHei"/>
              </a:defRPr>
            </a:pPr>
            <a:r>
              <a:t>inner</a:t>
            </a:r>
          </a:p>
        </p:txBody>
      </p:sp>
      <p:sp>
        <p:nvSpPr>
          <p:cNvPr id="16" name="Rectangle 15"/>
          <p:cNvSpPr/>
          <p:nvPr/>
        </p:nvSpPr>
        <p:spPr>
          <a:xfrm>
            <a:off x="2377440" y="5486400"/>
            <a:ext cx="2743200" cy="36576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77440" y="5486400"/>
            <a:ext cx="2743200" cy="365760"/>
          </a:xfrm>
          <a:prstGeom prst="rect">
            <a:avLst/>
          </a:prstGeom>
          <a:noFill/>
        </p:spPr>
        <p:txBody>
          <a:bodyPr wrap="square">
            <a:spAutoFit/>
          </a:bodyPr>
          <a:lstStyle/>
          <a:p>
            <a:pPr algn="ctr">
              <a:defRPr sz="1200" b="0">
                <a:solidFill>
                  <a:srgbClr val="BBBBCC"/>
                </a:solidFill>
                <a:latin typeface="Microsoft YaHei"/>
              </a:defRPr>
            </a:pPr>
            <a:r>
              <a:t>INNER JOIN</a:t>
            </a:r>
          </a:p>
        </p:txBody>
      </p:sp>
      <p:sp>
        <p:nvSpPr>
          <p:cNvPr id="18" name="Rectangle 17"/>
          <p:cNvSpPr/>
          <p:nvPr/>
        </p:nvSpPr>
        <p:spPr>
          <a:xfrm>
            <a:off x="5120640" y="5486400"/>
            <a:ext cx="4572000" cy="36576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640" y="5486400"/>
            <a:ext cx="4572000" cy="365760"/>
          </a:xfrm>
          <a:prstGeom prst="rect">
            <a:avLst/>
          </a:prstGeom>
          <a:noFill/>
        </p:spPr>
        <p:txBody>
          <a:bodyPr wrap="square">
            <a:spAutoFit/>
          </a:bodyPr>
          <a:lstStyle/>
          <a:p>
            <a:pPr algn="ctr">
              <a:defRPr sz="1200" b="0">
                <a:solidFill>
                  <a:srgbClr val="BBBBCC"/>
                </a:solidFill>
                <a:latin typeface="Microsoft YaHei"/>
              </a:defRPr>
            </a:pPr>
            <a:r>
              <a:t>只保留两侧都有键的行</a:t>
            </a:r>
          </a:p>
        </p:txBody>
      </p:sp>
      <p:sp>
        <p:nvSpPr>
          <p:cNvPr id="20" name="Rectangle 19"/>
          <p:cNvSpPr/>
          <p:nvPr/>
        </p:nvSpPr>
        <p:spPr>
          <a:xfrm>
            <a:off x="548640" y="5852160"/>
            <a:ext cx="1828800" cy="36576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852160"/>
            <a:ext cx="1828800" cy="365760"/>
          </a:xfrm>
          <a:prstGeom prst="rect">
            <a:avLst/>
          </a:prstGeom>
          <a:noFill/>
        </p:spPr>
        <p:txBody>
          <a:bodyPr wrap="square">
            <a:spAutoFit/>
          </a:bodyPr>
          <a:lstStyle/>
          <a:p>
            <a:pPr algn="ctr">
              <a:defRPr sz="1200" b="1">
                <a:solidFill>
                  <a:srgbClr val="00D2FF"/>
                </a:solidFill>
                <a:latin typeface="Microsoft YaHei"/>
              </a:defRPr>
            </a:pPr>
            <a:r>
              <a:t>left</a:t>
            </a:r>
          </a:p>
        </p:txBody>
      </p:sp>
      <p:sp>
        <p:nvSpPr>
          <p:cNvPr id="22" name="Rectangle 21"/>
          <p:cNvSpPr/>
          <p:nvPr/>
        </p:nvSpPr>
        <p:spPr>
          <a:xfrm>
            <a:off x="2377440" y="5852160"/>
            <a:ext cx="2743200" cy="36576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77440" y="5852160"/>
            <a:ext cx="2743200" cy="365760"/>
          </a:xfrm>
          <a:prstGeom prst="rect">
            <a:avLst/>
          </a:prstGeom>
          <a:noFill/>
        </p:spPr>
        <p:txBody>
          <a:bodyPr wrap="square">
            <a:spAutoFit/>
          </a:bodyPr>
          <a:lstStyle/>
          <a:p>
            <a:pPr algn="ctr">
              <a:defRPr sz="1200" b="0">
                <a:solidFill>
                  <a:srgbClr val="BBBBCC"/>
                </a:solidFill>
                <a:latin typeface="Microsoft YaHei"/>
              </a:defRPr>
            </a:pPr>
            <a:r>
              <a:t>LEFT JOIN</a:t>
            </a:r>
          </a:p>
        </p:txBody>
      </p:sp>
      <p:sp>
        <p:nvSpPr>
          <p:cNvPr id="24" name="Rectangle 23"/>
          <p:cNvSpPr/>
          <p:nvPr/>
        </p:nvSpPr>
        <p:spPr>
          <a:xfrm>
            <a:off x="5120640" y="5852160"/>
            <a:ext cx="4572000" cy="36576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20640" y="5852160"/>
            <a:ext cx="4572000" cy="365760"/>
          </a:xfrm>
          <a:prstGeom prst="rect">
            <a:avLst/>
          </a:prstGeom>
          <a:noFill/>
        </p:spPr>
        <p:txBody>
          <a:bodyPr wrap="square">
            <a:spAutoFit/>
          </a:bodyPr>
          <a:lstStyle/>
          <a:p>
            <a:pPr algn="ctr">
              <a:defRPr sz="1200" b="0">
                <a:solidFill>
                  <a:srgbClr val="BBBBCC"/>
                </a:solidFill>
                <a:latin typeface="Microsoft YaHei"/>
              </a:defRPr>
            </a:pPr>
            <a:r>
              <a:t>以左表为基准</a:t>
            </a:r>
          </a:p>
        </p:txBody>
      </p:sp>
      <p:sp>
        <p:nvSpPr>
          <p:cNvPr id="26" name="Rectangle 25"/>
          <p:cNvSpPr/>
          <p:nvPr/>
        </p:nvSpPr>
        <p:spPr>
          <a:xfrm>
            <a:off x="548640" y="6217920"/>
            <a:ext cx="1828800" cy="36576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6217920"/>
            <a:ext cx="1828800" cy="365760"/>
          </a:xfrm>
          <a:prstGeom prst="rect">
            <a:avLst/>
          </a:prstGeom>
          <a:noFill/>
        </p:spPr>
        <p:txBody>
          <a:bodyPr wrap="square">
            <a:spAutoFit/>
          </a:bodyPr>
          <a:lstStyle/>
          <a:p>
            <a:pPr algn="ctr">
              <a:defRPr sz="1200" b="1">
                <a:solidFill>
                  <a:srgbClr val="00D2FF"/>
                </a:solidFill>
                <a:latin typeface="Microsoft YaHei"/>
              </a:defRPr>
            </a:pPr>
            <a:r>
              <a:t>right</a:t>
            </a:r>
          </a:p>
        </p:txBody>
      </p:sp>
      <p:sp>
        <p:nvSpPr>
          <p:cNvPr id="28" name="Rectangle 27"/>
          <p:cNvSpPr/>
          <p:nvPr/>
        </p:nvSpPr>
        <p:spPr>
          <a:xfrm>
            <a:off x="2377440" y="6217920"/>
            <a:ext cx="2743200" cy="36576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377440" y="6217920"/>
            <a:ext cx="2743200" cy="365760"/>
          </a:xfrm>
          <a:prstGeom prst="rect">
            <a:avLst/>
          </a:prstGeom>
          <a:noFill/>
        </p:spPr>
        <p:txBody>
          <a:bodyPr wrap="square">
            <a:spAutoFit/>
          </a:bodyPr>
          <a:lstStyle/>
          <a:p>
            <a:pPr algn="ctr">
              <a:defRPr sz="1200" b="0">
                <a:solidFill>
                  <a:srgbClr val="BBBBCC"/>
                </a:solidFill>
                <a:latin typeface="Microsoft YaHei"/>
              </a:defRPr>
            </a:pPr>
            <a:r>
              <a:t>RIGHT JOIN</a:t>
            </a:r>
          </a:p>
        </p:txBody>
      </p:sp>
      <p:sp>
        <p:nvSpPr>
          <p:cNvPr id="30" name="Rectangle 29"/>
          <p:cNvSpPr/>
          <p:nvPr/>
        </p:nvSpPr>
        <p:spPr>
          <a:xfrm>
            <a:off x="5120640" y="6217920"/>
            <a:ext cx="4572000" cy="36576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20640" y="6217920"/>
            <a:ext cx="4572000" cy="365760"/>
          </a:xfrm>
          <a:prstGeom prst="rect">
            <a:avLst/>
          </a:prstGeom>
          <a:noFill/>
        </p:spPr>
        <p:txBody>
          <a:bodyPr wrap="square">
            <a:spAutoFit/>
          </a:bodyPr>
          <a:lstStyle/>
          <a:p>
            <a:pPr algn="ctr">
              <a:defRPr sz="1200" b="0">
                <a:solidFill>
                  <a:srgbClr val="BBBBCC"/>
                </a:solidFill>
                <a:latin typeface="Microsoft YaHei"/>
              </a:defRPr>
            </a:pPr>
            <a:r>
              <a:t>以右表为基准</a:t>
            </a:r>
          </a:p>
        </p:txBody>
      </p:sp>
      <p:sp>
        <p:nvSpPr>
          <p:cNvPr id="32" name="Rectangle 31"/>
          <p:cNvSpPr/>
          <p:nvPr/>
        </p:nvSpPr>
        <p:spPr>
          <a:xfrm>
            <a:off x="548640" y="6583680"/>
            <a:ext cx="1828800" cy="36576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6583680"/>
            <a:ext cx="1828800" cy="365760"/>
          </a:xfrm>
          <a:prstGeom prst="rect">
            <a:avLst/>
          </a:prstGeom>
          <a:noFill/>
        </p:spPr>
        <p:txBody>
          <a:bodyPr wrap="square">
            <a:spAutoFit/>
          </a:bodyPr>
          <a:lstStyle/>
          <a:p>
            <a:pPr algn="ctr">
              <a:defRPr sz="1200" b="1">
                <a:solidFill>
                  <a:srgbClr val="00D2FF"/>
                </a:solidFill>
                <a:latin typeface="Microsoft YaHei"/>
              </a:defRPr>
            </a:pPr>
            <a:r>
              <a:t>outer</a:t>
            </a:r>
          </a:p>
        </p:txBody>
      </p:sp>
      <p:sp>
        <p:nvSpPr>
          <p:cNvPr id="34" name="Rectangle 33"/>
          <p:cNvSpPr/>
          <p:nvPr/>
        </p:nvSpPr>
        <p:spPr>
          <a:xfrm>
            <a:off x="2377440" y="6583680"/>
            <a:ext cx="2743200" cy="36576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377440" y="6583680"/>
            <a:ext cx="2743200" cy="365760"/>
          </a:xfrm>
          <a:prstGeom prst="rect">
            <a:avLst/>
          </a:prstGeom>
          <a:noFill/>
        </p:spPr>
        <p:txBody>
          <a:bodyPr wrap="square">
            <a:spAutoFit/>
          </a:bodyPr>
          <a:lstStyle/>
          <a:p>
            <a:pPr algn="ctr">
              <a:defRPr sz="1200" b="0">
                <a:solidFill>
                  <a:srgbClr val="BBBBCC"/>
                </a:solidFill>
                <a:latin typeface="Microsoft YaHei"/>
              </a:defRPr>
            </a:pPr>
            <a:r>
              <a:t>FULL OUTER JOIN</a:t>
            </a:r>
          </a:p>
        </p:txBody>
      </p:sp>
      <p:sp>
        <p:nvSpPr>
          <p:cNvPr id="36" name="Rectangle 35"/>
          <p:cNvSpPr/>
          <p:nvPr/>
        </p:nvSpPr>
        <p:spPr>
          <a:xfrm>
            <a:off x="5120640" y="6583680"/>
            <a:ext cx="4572000" cy="36576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20640" y="6583680"/>
            <a:ext cx="4572000" cy="365760"/>
          </a:xfrm>
          <a:prstGeom prst="rect">
            <a:avLst/>
          </a:prstGeom>
          <a:noFill/>
        </p:spPr>
        <p:txBody>
          <a:bodyPr wrap="square">
            <a:spAutoFit/>
          </a:bodyPr>
          <a:lstStyle/>
          <a:p>
            <a:pPr algn="ctr">
              <a:defRPr sz="1200" b="0">
                <a:solidFill>
                  <a:srgbClr val="BBBBCC"/>
                </a:solidFill>
                <a:latin typeface="Microsoft YaHei"/>
              </a:defRPr>
            </a:pPr>
            <a:r>
              <a:t>包含两侧所有行</a:t>
            </a:r>
          </a:p>
        </p:txBody>
      </p:sp>
      <p:sp>
        <p:nvSpPr>
          <p:cNvPr id="38" name="Rounded Rectangle 37"/>
          <p:cNvSpPr/>
          <p:nvPr/>
        </p:nvSpPr>
        <p:spPr>
          <a:xfrm>
            <a:off x="6400800" y="1828800"/>
            <a:ext cx="5120640" cy="2926080"/>
          </a:xfrm>
          <a:prstGeom prst="roundRect">
            <a:avLst>
              <a:gd name="adj" fmla="val 5000"/>
            </a:avLst>
          </a:prstGeom>
          <a:solidFill>
            <a:srgbClr val="25253D"/>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0" y="1920240"/>
            <a:ext cx="4754880" cy="365760"/>
          </a:xfrm>
          <a:prstGeom prst="rect">
            <a:avLst/>
          </a:prstGeom>
          <a:noFill/>
        </p:spPr>
        <p:txBody>
          <a:bodyPr wrap="square">
            <a:spAutoFit/>
          </a:bodyPr>
          <a:lstStyle/>
          <a:p>
            <a:pPr algn="l">
              <a:defRPr sz="1500" b="1">
                <a:solidFill>
                  <a:srgbClr val="00D2FF"/>
                </a:solidFill>
                <a:latin typeface="Microsoft YaHei"/>
              </a:defRPr>
            </a:pPr>
            <a:r>
              <a:t>Merge核心参数</a:t>
            </a:r>
          </a:p>
        </p:txBody>
      </p:sp>
      <p:sp>
        <p:nvSpPr>
          <p:cNvPr id="40" name="TextBox 39"/>
          <p:cNvSpPr txBox="1"/>
          <p:nvPr/>
        </p:nvSpPr>
        <p:spPr>
          <a:xfrm>
            <a:off x="6583680" y="2286000"/>
            <a:ext cx="4754880" cy="2377440"/>
          </a:xfrm>
          <a:prstGeom prst="rect">
            <a:avLst/>
          </a:prstGeom>
          <a:noFill/>
        </p:spPr>
        <p:txBody>
          <a:bodyPr wrap="square">
            <a:spAutoFit/>
          </a:bodyPr>
          <a:lstStyle/>
          <a:p>
            <a:pPr>
              <a:spcAft>
                <a:spcPts val="400"/>
              </a:spcAft>
              <a:defRPr sz="1300">
                <a:solidFill>
                  <a:srgbClr val="BBBBCC"/>
                </a:solidFill>
                <a:latin typeface="Microsoft YaHei"/>
              </a:defRPr>
            </a:pPr>
            <a:r>
              <a:t>on: 两侧表的键列名相同时</a:t>
            </a:r>
          </a:p>
          <a:p>
            <a:pPr>
              <a:spcAft>
                <a:spcPts val="400"/>
              </a:spcAft>
              <a:defRPr sz="1300">
                <a:solidFill>
                  <a:srgbClr val="BBBBCC"/>
                </a:solidFill>
                <a:latin typeface="Microsoft YaHei"/>
              </a:defRPr>
            </a:pPr>
            <a:r>
              <a:t>left_on / right_on: 键列名不同时</a:t>
            </a:r>
          </a:p>
          <a:p>
            <a:pPr>
              <a:spcAft>
                <a:spcPts val="400"/>
              </a:spcAft>
              <a:defRPr sz="1300">
                <a:solidFill>
                  <a:srgbClr val="BBBBCC"/>
                </a:solidFill>
                <a:latin typeface="Microsoft YaHei"/>
              </a:defRPr>
            </a:pPr>
            <a:r>
              <a:t>how: 'inner','left','right','outer'</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concat: 行方向/列方向简单拼接</a:t>
            </a:r>
          </a:p>
          <a:p>
            <a:pPr>
              <a:spcAft>
                <a:spcPts val="400"/>
              </a:spcAft>
              <a:defRPr sz="1300">
                <a:solidFill>
                  <a:srgbClr val="BBBBCC"/>
                </a:solidFill>
                <a:latin typeface="Microsoft YaHei"/>
              </a:defRPr>
            </a:pPr>
            <a:r>
              <a:t>  pd.concat([df1, df2], axis=0)</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join: 基于索引的连接</a:t>
            </a:r>
          </a:p>
          <a:p>
            <a:pPr>
              <a:spcAft>
                <a:spcPts val="400"/>
              </a:spcAft>
              <a:defRPr sz="1300">
                <a:solidFill>
                  <a:srgbClr val="BBBBCC"/>
                </a:solidFill>
                <a:latin typeface="Microsoft YaHei"/>
              </a:defRPr>
            </a:pPr>
            <a:r>
              <a:t>  df1.join(df2, how='left')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3</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Apply/Map与时间序列窗口函数</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自定义函数应用与移动平均</a:t>
            </a:r>
          </a:p>
        </p:txBody>
      </p:sp>
      <p:sp>
        <p:nvSpPr>
          <p:cNvPr id="6" name="Rounded Rectangle 5"/>
          <p:cNvSpPr/>
          <p:nvPr/>
        </p:nvSpPr>
        <p:spPr>
          <a:xfrm>
            <a:off x="548640" y="1828800"/>
            <a:ext cx="5486400" cy="228600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65960"/>
            <a:ext cx="5120640" cy="2011680"/>
          </a:xfrm>
          <a:prstGeom prst="rect">
            <a:avLst/>
          </a:prstGeom>
          <a:noFill/>
        </p:spPr>
        <p:txBody>
          <a:bodyPr wrap="square">
            <a:spAutoFit/>
          </a:bodyPr>
          <a:lstStyle/>
          <a:p>
            <a:pPr>
              <a:spcAft>
                <a:spcPts val="200"/>
              </a:spcAft>
              <a:defRPr sz="1100">
                <a:solidFill>
                  <a:srgbClr val="00E696"/>
                </a:solidFill>
                <a:latin typeface="Consolas"/>
              </a:defRPr>
            </a:pPr>
            <a:r>
              <a:t># apply: 对DataFrame的每列/行应用函数</a:t>
            </a:r>
          </a:p>
          <a:p>
            <a:pPr>
              <a:spcAft>
                <a:spcPts val="200"/>
              </a:spcAft>
              <a:defRPr sz="1100">
                <a:solidFill>
                  <a:srgbClr val="00E696"/>
                </a:solidFill>
                <a:latin typeface="Consolas"/>
              </a:defRPr>
            </a:pPr>
            <a:r>
              <a:t>df.apply(np.mean, axis=0)  # 按列求均值</a:t>
            </a:r>
          </a:p>
          <a:p>
            <a:pPr>
              <a:spcAft>
                <a:spcPts val="200"/>
              </a:spcAft>
              <a:defRPr sz="1100">
                <a:solidFill>
                  <a:srgbClr val="00E696"/>
                </a:solidFill>
                <a:latin typeface="Consolas"/>
              </a:defRPr>
            </a:pPr>
            <a:r>
              <a:t>df.apply(np.mean, axis=1)  # 按行求均值</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map: 对Series的每个元素应用函数/字典</a:t>
            </a:r>
          </a:p>
          <a:p>
            <a:pPr>
              <a:spcAft>
                <a:spcPts val="200"/>
              </a:spcAft>
              <a:defRPr sz="1100">
                <a:solidFill>
                  <a:srgbClr val="00E696"/>
                </a:solidFill>
                <a:latin typeface="Consolas"/>
              </a:defRPr>
            </a:pPr>
            <a:r>
              <a:t>df['Sex'] = df['Sex'].map({'male':0, 'female':1})</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applymap: 对DataFrame所有元素应用函数</a:t>
            </a:r>
          </a:p>
          <a:p>
            <a:pPr>
              <a:spcAft>
                <a:spcPts val="200"/>
              </a:spcAft>
              <a:defRPr sz="1100">
                <a:solidFill>
                  <a:srgbClr val="00E696"/>
                </a:solidFill>
                <a:latin typeface="Consolas"/>
              </a:defRPr>
            </a:pPr>
            <a:r>
              <a:t>df.applymap(lambda x: round(x, 2))</a:t>
            </a:r>
          </a:p>
        </p:txBody>
      </p:sp>
      <p:sp>
        <p:nvSpPr>
          <p:cNvPr id="8" name="Rounded Rectangle 7"/>
          <p:cNvSpPr/>
          <p:nvPr/>
        </p:nvSpPr>
        <p:spPr>
          <a:xfrm>
            <a:off x="548640" y="4297680"/>
            <a:ext cx="5486400" cy="228600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434840"/>
            <a:ext cx="5120640" cy="2011680"/>
          </a:xfrm>
          <a:prstGeom prst="rect">
            <a:avLst/>
          </a:prstGeom>
          <a:noFill/>
        </p:spPr>
        <p:txBody>
          <a:bodyPr wrap="square">
            <a:spAutoFit/>
          </a:bodyPr>
          <a:lstStyle/>
          <a:p>
            <a:pPr>
              <a:spcAft>
                <a:spcPts val="200"/>
              </a:spcAft>
              <a:defRPr sz="1100">
                <a:solidFill>
                  <a:srgbClr val="00E696"/>
                </a:solidFill>
                <a:latin typeface="Consolas"/>
              </a:defRPr>
            </a:pPr>
            <a:r>
              <a:t># 时间序列窗口函数</a:t>
            </a:r>
          </a:p>
          <a:p>
            <a:pPr>
              <a:spcAft>
                <a:spcPts val="200"/>
              </a:spcAft>
              <a:defRPr sz="1100">
                <a:solidFill>
                  <a:srgbClr val="00E696"/>
                </a:solidFill>
                <a:latin typeface="Consolas"/>
              </a:defRPr>
            </a:pPr>
            <a:r>
              <a:t>df['MA_7'] = df['股价'].rolling(window=7).mean()</a:t>
            </a:r>
          </a:p>
          <a:p>
            <a:pPr>
              <a:spcAft>
                <a:spcPts val="200"/>
              </a:spcAft>
              <a:defRPr sz="1100">
                <a:solidFill>
                  <a:srgbClr val="00E696"/>
                </a:solidFill>
                <a:latin typeface="Consolas"/>
              </a:defRPr>
            </a:pPr>
            <a:r>
              <a:t>df['MA_30'] = df['股价'].rolling(window=30).mean()</a:t>
            </a:r>
          </a:p>
          <a:p>
            <a:pPr>
              <a:spcAft>
                <a:spcPts val="200"/>
              </a:spcAft>
              <a:defRPr sz="1100">
                <a:solidFill>
                  <a:srgbClr val="00E696"/>
                </a:solidFill>
                <a:latin typeface="Consolas"/>
              </a:defRPr>
            </a:pPr>
            <a:r>
              <a:t>df['波动率'] = df['股价'].rolling(window=20).std()</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累积窗口</a:t>
            </a:r>
          </a:p>
          <a:p>
            <a:pPr>
              <a:spcAft>
                <a:spcPts val="200"/>
              </a:spcAft>
              <a:defRPr sz="1100">
                <a:solidFill>
                  <a:srgbClr val="00E696"/>
                </a:solidFill>
                <a:latin typeface="Consolas"/>
              </a:defRPr>
            </a:pPr>
            <a:r>
              <a:t>df['累积均值'] = df['股价'].expanding().mean()</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指数加权移动平均 (EWM)</a:t>
            </a:r>
          </a:p>
          <a:p>
            <a:pPr>
              <a:spcAft>
                <a:spcPts val="200"/>
              </a:spcAft>
              <a:defRPr sz="1100">
                <a:solidFill>
                  <a:srgbClr val="00E696"/>
                </a:solidFill>
                <a:latin typeface="Consolas"/>
              </a:defRPr>
            </a:pPr>
            <a:r>
              <a:t>df['EWM_12'] = df['股价'].ewm(span=12).mean()</a:t>
            </a:r>
          </a:p>
        </p:txBody>
      </p:sp>
      <p:sp>
        <p:nvSpPr>
          <p:cNvPr id="10" name="Rectangle 9"/>
          <p:cNvSpPr/>
          <p:nvPr/>
        </p:nvSpPr>
        <p:spPr>
          <a:xfrm>
            <a:off x="6400800" y="1828800"/>
            <a:ext cx="1463040" cy="4572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828800"/>
            <a:ext cx="1463040" cy="457200"/>
          </a:xfrm>
          <a:prstGeom prst="rect">
            <a:avLst/>
          </a:prstGeom>
          <a:noFill/>
        </p:spPr>
        <p:txBody>
          <a:bodyPr wrap="square">
            <a:spAutoFit/>
          </a:bodyPr>
          <a:lstStyle/>
          <a:p>
            <a:pPr algn="ctr">
              <a:defRPr sz="1400" b="1">
                <a:solidFill>
                  <a:srgbClr val="FFFFFF"/>
                </a:solidFill>
                <a:latin typeface="Microsoft YaHei"/>
              </a:defRPr>
            </a:pPr>
            <a:r>
              <a:t>窗口函数</a:t>
            </a:r>
          </a:p>
        </p:txBody>
      </p:sp>
      <p:sp>
        <p:nvSpPr>
          <p:cNvPr id="12" name="Rectangle 11"/>
          <p:cNvSpPr/>
          <p:nvPr/>
        </p:nvSpPr>
        <p:spPr>
          <a:xfrm>
            <a:off x="7863840" y="1828800"/>
            <a:ext cx="2011680" cy="4572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1828800"/>
            <a:ext cx="2011680" cy="457200"/>
          </a:xfrm>
          <a:prstGeom prst="rect">
            <a:avLst/>
          </a:prstGeom>
          <a:noFill/>
        </p:spPr>
        <p:txBody>
          <a:bodyPr wrap="square">
            <a:spAutoFit/>
          </a:bodyPr>
          <a:lstStyle/>
          <a:p>
            <a:pPr algn="ctr">
              <a:defRPr sz="1400" b="1">
                <a:solidFill>
                  <a:srgbClr val="FFFFFF"/>
                </a:solidFill>
                <a:latin typeface="Microsoft YaHei"/>
              </a:defRPr>
            </a:pPr>
            <a:r>
              <a:t>说明</a:t>
            </a:r>
          </a:p>
        </p:txBody>
      </p:sp>
      <p:sp>
        <p:nvSpPr>
          <p:cNvPr id="14" name="Rectangle 13"/>
          <p:cNvSpPr/>
          <p:nvPr/>
        </p:nvSpPr>
        <p:spPr>
          <a:xfrm>
            <a:off x="9875520" y="1828800"/>
            <a:ext cx="2194560" cy="4572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0" y="1828800"/>
            <a:ext cx="2194560" cy="457200"/>
          </a:xfrm>
          <a:prstGeom prst="rect">
            <a:avLst/>
          </a:prstGeom>
          <a:noFill/>
        </p:spPr>
        <p:txBody>
          <a:bodyPr wrap="square">
            <a:spAutoFit/>
          </a:bodyPr>
          <a:lstStyle/>
          <a:p>
            <a:pPr algn="ctr">
              <a:defRPr sz="1400" b="1">
                <a:solidFill>
                  <a:srgbClr val="FFFFFF"/>
                </a:solidFill>
                <a:latin typeface="Microsoft YaHei"/>
              </a:defRPr>
            </a:pPr>
            <a:r>
              <a:t>使用示例</a:t>
            </a:r>
          </a:p>
        </p:txBody>
      </p:sp>
      <p:sp>
        <p:nvSpPr>
          <p:cNvPr id="16" name="Rectangle 15"/>
          <p:cNvSpPr/>
          <p:nvPr/>
        </p:nvSpPr>
        <p:spPr>
          <a:xfrm>
            <a:off x="6400800" y="2286000"/>
            <a:ext cx="146304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2286000"/>
            <a:ext cx="1463040" cy="411480"/>
          </a:xfrm>
          <a:prstGeom prst="rect">
            <a:avLst/>
          </a:prstGeom>
          <a:noFill/>
        </p:spPr>
        <p:txBody>
          <a:bodyPr wrap="square">
            <a:spAutoFit/>
          </a:bodyPr>
          <a:lstStyle/>
          <a:p>
            <a:pPr algn="ctr">
              <a:defRPr sz="1100" b="1">
                <a:solidFill>
                  <a:srgbClr val="00D2FF"/>
                </a:solidFill>
                <a:latin typeface="Microsoft YaHei"/>
              </a:defRPr>
            </a:pPr>
            <a:r>
              <a:t>rolling(n)</a:t>
            </a:r>
          </a:p>
        </p:txBody>
      </p:sp>
      <p:sp>
        <p:nvSpPr>
          <p:cNvPr id="18" name="Rectangle 17"/>
          <p:cNvSpPr/>
          <p:nvPr/>
        </p:nvSpPr>
        <p:spPr>
          <a:xfrm>
            <a:off x="7863840" y="2286000"/>
            <a:ext cx="201168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2286000"/>
            <a:ext cx="2011680" cy="411480"/>
          </a:xfrm>
          <a:prstGeom prst="rect">
            <a:avLst/>
          </a:prstGeom>
          <a:noFill/>
        </p:spPr>
        <p:txBody>
          <a:bodyPr wrap="square">
            <a:spAutoFit/>
          </a:bodyPr>
          <a:lstStyle/>
          <a:p>
            <a:pPr algn="ctr">
              <a:defRPr sz="1100" b="0">
                <a:solidFill>
                  <a:srgbClr val="BBBBCC"/>
                </a:solidFill>
                <a:latin typeface="Microsoft YaHei"/>
              </a:defRPr>
            </a:pPr>
            <a:r>
              <a:t>固定大小n的窗口</a:t>
            </a:r>
          </a:p>
        </p:txBody>
      </p:sp>
      <p:sp>
        <p:nvSpPr>
          <p:cNvPr id="20" name="Rectangle 19"/>
          <p:cNvSpPr/>
          <p:nvPr/>
        </p:nvSpPr>
        <p:spPr>
          <a:xfrm>
            <a:off x="9875520" y="2286000"/>
            <a:ext cx="219456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0" y="2286000"/>
            <a:ext cx="2194560" cy="411480"/>
          </a:xfrm>
          <a:prstGeom prst="rect">
            <a:avLst/>
          </a:prstGeom>
          <a:noFill/>
        </p:spPr>
        <p:txBody>
          <a:bodyPr wrap="square">
            <a:spAutoFit/>
          </a:bodyPr>
          <a:lstStyle/>
          <a:p>
            <a:pPr algn="ctr">
              <a:defRPr sz="1100" b="0">
                <a:solidFill>
                  <a:srgbClr val="BBBBCC"/>
                </a:solidFill>
                <a:latin typeface="Microsoft YaHei"/>
              </a:defRPr>
            </a:pPr>
            <a:r>
              <a:t>移动平均, 移动标准差</a:t>
            </a:r>
          </a:p>
        </p:txBody>
      </p:sp>
      <p:sp>
        <p:nvSpPr>
          <p:cNvPr id="22" name="Rectangle 21"/>
          <p:cNvSpPr/>
          <p:nvPr/>
        </p:nvSpPr>
        <p:spPr>
          <a:xfrm>
            <a:off x="6400800" y="2697480"/>
            <a:ext cx="146304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2697480"/>
            <a:ext cx="1463040" cy="411480"/>
          </a:xfrm>
          <a:prstGeom prst="rect">
            <a:avLst/>
          </a:prstGeom>
          <a:noFill/>
        </p:spPr>
        <p:txBody>
          <a:bodyPr wrap="square">
            <a:spAutoFit/>
          </a:bodyPr>
          <a:lstStyle/>
          <a:p>
            <a:pPr algn="ctr">
              <a:defRPr sz="1100" b="1">
                <a:solidFill>
                  <a:srgbClr val="00D2FF"/>
                </a:solidFill>
                <a:latin typeface="Microsoft YaHei"/>
              </a:defRPr>
            </a:pPr>
            <a:r>
              <a:t>expanding()</a:t>
            </a:r>
          </a:p>
        </p:txBody>
      </p:sp>
      <p:sp>
        <p:nvSpPr>
          <p:cNvPr id="24" name="Rectangle 23"/>
          <p:cNvSpPr/>
          <p:nvPr/>
        </p:nvSpPr>
        <p:spPr>
          <a:xfrm>
            <a:off x="7863840" y="2697480"/>
            <a:ext cx="201168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0" y="2697480"/>
            <a:ext cx="2011680" cy="411480"/>
          </a:xfrm>
          <a:prstGeom prst="rect">
            <a:avLst/>
          </a:prstGeom>
          <a:noFill/>
        </p:spPr>
        <p:txBody>
          <a:bodyPr wrap="square">
            <a:spAutoFit/>
          </a:bodyPr>
          <a:lstStyle/>
          <a:p>
            <a:pPr algn="ctr">
              <a:defRPr sz="1100" b="0">
                <a:solidFill>
                  <a:srgbClr val="BBBBCC"/>
                </a:solidFill>
                <a:latin typeface="Microsoft YaHei"/>
              </a:defRPr>
            </a:pPr>
            <a:r>
              <a:t>从开始到当前的累积</a:t>
            </a:r>
          </a:p>
        </p:txBody>
      </p:sp>
      <p:sp>
        <p:nvSpPr>
          <p:cNvPr id="26" name="Rectangle 25"/>
          <p:cNvSpPr/>
          <p:nvPr/>
        </p:nvSpPr>
        <p:spPr>
          <a:xfrm>
            <a:off x="9875520" y="2697480"/>
            <a:ext cx="219456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75520" y="2697480"/>
            <a:ext cx="2194560" cy="411480"/>
          </a:xfrm>
          <a:prstGeom prst="rect">
            <a:avLst/>
          </a:prstGeom>
          <a:noFill/>
        </p:spPr>
        <p:txBody>
          <a:bodyPr wrap="square">
            <a:spAutoFit/>
          </a:bodyPr>
          <a:lstStyle/>
          <a:p>
            <a:pPr algn="ctr">
              <a:defRPr sz="1100" b="0">
                <a:solidFill>
                  <a:srgbClr val="BBBBCC"/>
                </a:solidFill>
                <a:latin typeface="Microsoft YaHei"/>
              </a:defRPr>
            </a:pPr>
            <a:r>
              <a:t>累积最大值, 累积均值</a:t>
            </a:r>
          </a:p>
        </p:txBody>
      </p:sp>
      <p:sp>
        <p:nvSpPr>
          <p:cNvPr id="28" name="Rectangle 27"/>
          <p:cNvSpPr/>
          <p:nvPr/>
        </p:nvSpPr>
        <p:spPr>
          <a:xfrm>
            <a:off x="6400800" y="3108960"/>
            <a:ext cx="146304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3108960"/>
            <a:ext cx="1463040" cy="411480"/>
          </a:xfrm>
          <a:prstGeom prst="rect">
            <a:avLst/>
          </a:prstGeom>
          <a:noFill/>
        </p:spPr>
        <p:txBody>
          <a:bodyPr wrap="square">
            <a:spAutoFit/>
          </a:bodyPr>
          <a:lstStyle/>
          <a:p>
            <a:pPr algn="ctr">
              <a:defRPr sz="1100" b="1">
                <a:solidFill>
                  <a:srgbClr val="00D2FF"/>
                </a:solidFill>
                <a:latin typeface="Microsoft YaHei"/>
              </a:defRPr>
            </a:pPr>
            <a:r>
              <a:t>ewm(span=n)</a:t>
            </a:r>
          </a:p>
        </p:txBody>
      </p:sp>
      <p:sp>
        <p:nvSpPr>
          <p:cNvPr id="30" name="Rectangle 29"/>
          <p:cNvSpPr/>
          <p:nvPr/>
        </p:nvSpPr>
        <p:spPr>
          <a:xfrm>
            <a:off x="7863840" y="3108960"/>
            <a:ext cx="201168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0" y="3108960"/>
            <a:ext cx="2011680" cy="411480"/>
          </a:xfrm>
          <a:prstGeom prst="rect">
            <a:avLst/>
          </a:prstGeom>
          <a:noFill/>
        </p:spPr>
        <p:txBody>
          <a:bodyPr wrap="square">
            <a:spAutoFit/>
          </a:bodyPr>
          <a:lstStyle/>
          <a:p>
            <a:pPr algn="ctr">
              <a:defRPr sz="1100" b="0">
                <a:solidFill>
                  <a:srgbClr val="BBBBCC"/>
                </a:solidFill>
                <a:latin typeface="Microsoft YaHei"/>
              </a:defRPr>
            </a:pPr>
            <a:r>
              <a:t>指数加权</a:t>
            </a:r>
          </a:p>
        </p:txBody>
      </p:sp>
      <p:sp>
        <p:nvSpPr>
          <p:cNvPr id="32" name="Rectangle 31"/>
          <p:cNvSpPr/>
          <p:nvPr/>
        </p:nvSpPr>
        <p:spPr>
          <a:xfrm>
            <a:off x="9875520" y="3108960"/>
            <a:ext cx="219456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75520" y="3108960"/>
            <a:ext cx="2194560" cy="411480"/>
          </a:xfrm>
          <a:prstGeom prst="rect">
            <a:avLst/>
          </a:prstGeom>
          <a:noFill/>
        </p:spPr>
        <p:txBody>
          <a:bodyPr wrap="square">
            <a:spAutoFit/>
          </a:bodyPr>
          <a:lstStyle/>
          <a:p>
            <a:pPr algn="ctr">
              <a:defRPr sz="1100" b="0">
                <a:solidFill>
                  <a:srgbClr val="BBBBCC"/>
                </a:solidFill>
                <a:latin typeface="Microsoft YaHei"/>
              </a:defRPr>
            </a:pPr>
            <a:r>
              <a:t>MACD, 指数移动平均</a:t>
            </a:r>
          </a:p>
        </p:txBody>
      </p:sp>
      <p:sp>
        <p:nvSpPr>
          <p:cNvPr id="34" name="Rounded Rectangle 33"/>
          <p:cNvSpPr/>
          <p:nvPr/>
        </p:nvSpPr>
        <p:spPr>
          <a:xfrm>
            <a:off x="6400800" y="3657600"/>
            <a:ext cx="5120640" cy="2926080"/>
          </a:xfrm>
          <a:prstGeom prst="roundRect">
            <a:avLst>
              <a:gd name="adj" fmla="val 5000"/>
            </a:avLst>
          </a:prstGeom>
          <a:solidFill>
            <a:srgbClr val="25253D"/>
          </a:solidFill>
          <a:ln w="12700">
            <a:solidFill>
              <a:srgbClr val="A06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0" y="3749040"/>
            <a:ext cx="4754880" cy="365760"/>
          </a:xfrm>
          <a:prstGeom prst="rect">
            <a:avLst/>
          </a:prstGeom>
          <a:noFill/>
        </p:spPr>
        <p:txBody>
          <a:bodyPr wrap="square">
            <a:spAutoFit/>
          </a:bodyPr>
          <a:lstStyle/>
          <a:p>
            <a:pPr algn="l">
              <a:defRPr sz="1500" b="1">
                <a:solidFill>
                  <a:srgbClr val="A06CFF"/>
                </a:solidFill>
                <a:latin typeface="Microsoft YaHei"/>
              </a:defRPr>
            </a:pPr>
            <a:r>
              <a:t>实践提示: 移动平均交叉(MA Crossover)</a:t>
            </a:r>
          </a:p>
        </p:txBody>
      </p:sp>
      <p:sp>
        <p:nvSpPr>
          <p:cNvPr id="36" name="TextBox 35"/>
          <p:cNvSpPr txBox="1"/>
          <p:nvPr/>
        </p:nvSpPr>
        <p:spPr>
          <a:xfrm>
            <a:off x="6583680" y="4114800"/>
            <a:ext cx="4754880" cy="2377440"/>
          </a:xfrm>
          <a:prstGeom prst="rect">
            <a:avLst/>
          </a:prstGeom>
          <a:noFill/>
        </p:spPr>
        <p:txBody>
          <a:bodyPr wrap="square">
            <a:spAutoFit/>
          </a:bodyPr>
          <a:lstStyle/>
          <a:p>
            <a:pPr>
              <a:spcAft>
                <a:spcPts val="400"/>
              </a:spcAft>
              <a:defRPr sz="1300">
                <a:solidFill>
                  <a:srgbClr val="BBBBCC"/>
                </a:solidFill>
                <a:latin typeface="Microsoft YaHei"/>
              </a:defRPr>
            </a:pPr>
            <a:r>
              <a:t>金叉: 短期MA(7日)上穿长期MA(30日)</a:t>
            </a:r>
          </a:p>
          <a:p>
            <a:pPr>
              <a:spcAft>
                <a:spcPts val="400"/>
              </a:spcAft>
              <a:defRPr sz="1300">
                <a:solidFill>
                  <a:srgbClr val="BBBBCC"/>
                </a:solidFill>
                <a:latin typeface="Microsoft YaHei"/>
              </a:defRPr>
            </a:pPr>
            <a:r>
              <a:t>  -&gt; 买入信号</a:t>
            </a:r>
          </a:p>
          <a:p>
            <a:pPr>
              <a:spcAft>
                <a:spcPts val="400"/>
              </a:spcAft>
              <a:defRPr sz="1300">
                <a:solidFill>
                  <a:srgbClr val="BBBBCC"/>
                </a:solidFill>
                <a:latin typeface="Microsoft YaHei"/>
              </a:defRPr>
            </a:pPr>
            <a:r>
              <a:t>死叉: 下穿 -&gt; 卖出信号</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MACD = EWM(12) - EWM(26)</a:t>
            </a:r>
          </a:p>
          <a:p>
            <a:pPr>
              <a:spcAft>
                <a:spcPts val="400"/>
              </a:spcAft>
              <a:defRPr sz="1300">
                <a:solidFill>
                  <a:srgbClr val="BBBBCC"/>
                </a:solidFill>
                <a:latin typeface="Microsoft YaHei"/>
              </a:defRPr>
            </a:pPr>
            <a:r>
              <a:t>技术分析的核心指标</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McKinney(2010)基于金融数据分析的</a:t>
            </a:r>
          </a:p>
          <a:p>
            <a:pPr>
              <a:spcAft>
                <a:spcPts val="400"/>
              </a:spcAft>
              <a:defRPr sz="1300">
                <a:solidFill>
                  <a:srgbClr val="BBBBCC"/>
                </a:solidFill>
                <a:latin typeface="Microsoft YaHei"/>
              </a:defRPr>
            </a:pPr>
            <a:r>
              <a:t>经验内置于Pandas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3</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数据透视表与MultiIndex</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对应SQL GROUP BY + CASE WHEN的数据汇总</a:t>
            </a:r>
          </a:p>
        </p:txBody>
      </p:sp>
      <p:sp>
        <p:nvSpPr>
          <p:cNvPr id="6" name="Rounded Rectangle 5"/>
          <p:cNvSpPr/>
          <p:nvPr/>
        </p:nvSpPr>
        <p:spPr>
          <a:xfrm>
            <a:off x="548640" y="1828800"/>
            <a:ext cx="5486400" cy="274320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65960"/>
            <a:ext cx="5120640" cy="2468880"/>
          </a:xfrm>
          <a:prstGeom prst="rect">
            <a:avLst/>
          </a:prstGeom>
          <a:noFill/>
        </p:spPr>
        <p:txBody>
          <a:bodyPr wrap="square">
            <a:spAutoFit/>
          </a:bodyPr>
          <a:lstStyle/>
          <a:p>
            <a:pPr>
              <a:spcAft>
                <a:spcPts val="200"/>
              </a:spcAft>
              <a:defRPr sz="1100">
                <a:solidFill>
                  <a:srgbClr val="00E696"/>
                </a:solidFill>
                <a:latin typeface="Consolas"/>
              </a:defRPr>
            </a:pPr>
            <a:r>
              <a:t># 基本数据透视表</a:t>
            </a:r>
          </a:p>
          <a:p>
            <a:pPr>
              <a:spcAft>
                <a:spcPts val="200"/>
              </a:spcAft>
              <a:defRPr sz="1100">
                <a:solidFill>
                  <a:srgbClr val="00E696"/>
                </a:solidFill>
                <a:latin typeface="Consolas"/>
              </a:defRPr>
            </a:pPr>
            <a:r>
              <a:t>透视 = pd.pivot_table(</a:t>
            </a:r>
          </a:p>
          <a:p>
            <a:pPr>
              <a:spcAft>
                <a:spcPts val="200"/>
              </a:spcAft>
              <a:defRPr sz="1100">
                <a:solidFill>
                  <a:srgbClr val="00E696"/>
                </a:solidFill>
                <a:latin typeface="Consolas"/>
              </a:defRPr>
            </a:pPr>
            <a:r>
              <a:t>    销售,</a:t>
            </a:r>
          </a:p>
          <a:p>
            <a:pPr>
              <a:spcAft>
                <a:spcPts val="200"/>
              </a:spcAft>
              <a:defRPr sz="1100">
                <a:solidFill>
                  <a:srgbClr val="00E696"/>
                </a:solidFill>
                <a:latin typeface="Consolas"/>
              </a:defRPr>
            </a:pPr>
            <a:r>
              <a:t>    values='销售额',</a:t>
            </a:r>
          </a:p>
          <a:p>
            <a:pPr>
              <a:spcAft>
                <a:spcPts val="200"/>
              </a:spcAft>
              <a:defRPr sz="1100">
                <a:solidFill>
                  <a:srgbClr val="00E696"/>
                </a:solidFill>
                <a:latin typeface="Consolas"/>
              </a:defRPr>
            </a:pPr>
            <a:r>
              <a:t>    index='地区',       # 行基准</a:t>
            </a:r>
          </a:p>
          <a:p>
            <a:pPr>
              <a:spcAft>
                <a:spcPts val="200"/>
              </a:spcAft>
              <a:defRPr sz="1100">
                <a:solidFill>
                  <a:srgbClr val="00E696"/>
                </a:solidFill>
                <a:latin typeface="Consolas"/>
              </a:defRPr>
            </a:pPr>
            <a:r>
              <a:t>    columns='产品',      # 列基准</a:t>
            </a:r>
          </a:p>
          <a:p>
            <a:pPr>
              <a:spcAft>
                <a:spcPts val="200"/>
              </a:spcAft>
              <a:defRPr sz="1100">
                <a:solidFill>
                  <a:srgbClr val="00E696"/>
                </a:solidFill>
                <a:latin typeface="Consolas"/>
              </a:defRPr>
            </a:pPr>
            <a:r>
              <a:t>    aggfunc='mean',     # 聚合函数</a:t>
            </a:r>
          </a:p>
          <a:p>
            <a:pPr>
              <a:spcAft>
                <a:spcPts val="200"/>
              </a:spcAft>
              <a:defRPr sz="1100">
                <a:solidFill>
                  <a:srgbClr val="00E696"/>
                </a:solidFill>
                <a:latin typeface="Consolas"/>
              </a:defRPr>
            </a:pPr>
            <a:r>
              <a:t>    margins=True         # 添加合计行/列</a:t>
            </a:r>
          </a:p>
          <a:p>
            <a:pPr>
              <a:spcAft>
                <a:spcPts val="200"/>
              </a:spcAft>
              <a:defRPr sz="1100">
                <a:solidFill>
                  <a:srgbClr val="00E696"/>
                </a:solidFill>
                <a:latin typeface="Consolas"/>
              </a:defRPr>
            </a:pPr>
            <a:r>
              <a:t>)</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交叉表 (Crosstab) - 频次统计</a:t>
            </a:r>
          </a:p>
          <a:p>
            <a:pPr>
              <a:spcAft>
                <a:spcPts val="200"/>
              </a:spcAft>
              <a:defRPr sz="1100">
                <a:solidFill>
                  <a:srgbClr val="00E696"/>
                </a:solidFill>
                <a:latin typeface="Consolas"/>
              </a:defRPr>
            </a:pPr>
            <a:r>
              <a:t>pd.crosstab(销售['地区'], 销售['产品'], margins=True)</a:t>
            </a:r>
          </a:p>
        </p:txBody>
      </p:sp>
      <p:sp>
        <p:nvSpPr>
          <p:cNvPr id="8" name="Rounded Rectangle 7"/>
          <p:cNvSpPr/>
          <p:nvPr/>
        </p:nvSpPr>
        <p:spPr>
          <a:xfrm>
            <a:off x="548640" y="4754880"/>
            <a:ext cx="5486400" cy="182880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892040"/>
            <a:ext cx="5120640" cy="1554480"/>
          </a:xfrm>
          <a:prstGeom prst="rect">
            <a:avLst/>
          </a:prstGeom>
          <a:noFill/>
        </p:spPr>
        <p:txBody>
          <a:bodyPr wrap="square">
            <a:spAutoFit/>
          </a:bodyPr>
          <a:lstStyle/>
          <a:p>
            <a:pPr>
              <a:spcAft>
                <a:spcPts val="200"/>
              </a:spcAft>
              <a:defRPr sz="1100">
                <a:solidFill>
                  <a:srgbClr val="00E696"/>
                </a:solidFill>
                <a:latin typeface="Consolas"/>
              </a:defRPr>
            </a:pPr>
            <a:r>
              <a:t># MultiIndex (多级索引)</a:t>
            </a:r>
          </a:p>
          <a:p>
            <a:pPr>
              <a:spcAft>
                <a:spcPts val="200"/>
              </a:spcAft>
              <a:defRPr sz="1100">
                <a:solidFill>
                  <a:srgbClr val="00E696"/>
                </a:solidFill>
                <a:latin typeface="Consolas"/>
              </a:defRPr>
            </a:pPr>
            <a:r>
              <a:t>df_multi.loc['北京']                # 北京的所有季度</a:t>
            </a:r>
          </a:p>
          <a:p>
            <a:pPr>
              <a:spcAft>
                <a:spcPts val="200"/>
              </a:spcAft>
              <a:defRPr sz="1100">
                <a:solidFill>
                  <a:srgbClr val="00E696"/>
                </a:solidFill>
                <a:latin typeface="Consolas"/>
              </a:defRPr>
            </a:pPr>
            <a:r>
              <a:t>df_multi.loc[('北京', '第一季度')]     # 特定行</a:t>
            </a:r>
          </a:p>
          <a:p>
            <a:pPr>
              <a:spcAft>
                <a:spcPts val="200"/>
              </a:spcAft>
              <a:defRPr sz="1100">
                <a:solidFill>
                  <a:srgbClr val="00E696"/>
                </a:solidFill>
                <a:latin typeface="Consolas"/>
              </a:defRPr>
            </a:pPr>
            <a:r>
              <a:t>df_multi.xs('第一季度', level='季度')  # 选择特定级别</a:t>
            </a:r>
          </a:p>
          <a:p>
            <a:pPr>
              <a:spcAft>
                <a:spcPts val="200"/>
              </a:spcAft>
              <a:defRPr sz="1100">
                <a:solidFill>
                  <a:srgbClr val="00E696"/>
                </a:solidFill>
                <a:latin typeface="Consolas"/>
              </a:defRPr>
            </a:pPr>
            <a:r>
              <a:t>df_multi.unstack(level='季度')      # 将季度移到列</a:t>
            </a:r>
          </a:p>
        </p:txBody>
      </p:sp>
      <p:sp>
        <p:nvSpPr>
          <p:cNvPr id="10" name="Rounded Rectangle 9"/>
          <p:cNvSpPr/>
          <p:nvPr/>
        </p:nvSpPr>
        <p:spPr>
          <a:xfrm>
            <a:off x="6400800" y="1828800"/>
            <a:ext cx="5120640" cy="475488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1920240"/>
            <a:ext cx="4754880" cy="365760"/>
          </a:xfrm>
          <a:prstGeom prst="rect">
            <a:avLst/>
          </a:prstGeom>
          <a:noFill/>
        </p:spPr>
        <p:txBody>
          <a:bodyPr wrap="square">
            <a:spAutoFit/>
          </a:bodyPr>
          <a:lstStyle/>
          <a:p>
            <a:pPr algn="l">
              <a:defRPr sz="1500" b="1">
                <a:solidFill>
                  <a:srgbClr val="00E696"/>
                </a:solidFill>
                <a:latin typeface="Microsoft YaHei"/>
              </a:defRPr>
            </a:pPr>
            <a:r>
              <a:t>Pandas内存优化4种策略</a:t>
            </a:r>
          </a:p>
        </p:txBody>
      </p:sp>
      <p:sp>
        <p:nvSpPr>
          <p:cNvPr id="12" name="TextBox 11"/>
          <p:cNvSpPr txBox="1"/>
          <p:nvPr/>
        </p:nvSpPr>
        <p:spPr>
          <a:xfrm>
            <a:off x="6583680" y="2286000"/>
            <a:ext cx="4754880" cy="4206240"/>
          </a:xfrm>
          <a:prstGeom prst="rect">
            <a:avLst/>
          </a:prstGeom>
          <a:noFill/>
        </p:spPr>
        <p:txBody>
          <a:bodyPr wrap="square">
            <a:spAutoFit/>
          </a:bodyPr>
          <a:lstStyle/>
          <a:p>
            <a:pPr>
              <a:spcAft>
                <a:spcPts val="400"/>
              </a:spcAft>
              <a:defRPr sz="1300">
                <a:solidFill>
                  <a:srgbClr val="BBBBCC"/>
                </a:solidFill>
                <a:latin typeface="Microsoft YaHei"/>
              </a:defRPr>
            </a:pPr>
            <a:r>
              <a:t>1. 数值类型降级:</a:t>
            </a:r>
          </a:p>
          <a:p>
            <a:pPr>
              <a:spcAft>
                <a:spcPts val="400"/>
              </a:spcAft>
              <a:defRPr sz="1300">
                <a:solidFill>
                  <a:srgbClr val="BBBBCC"/>
                </a:solidFill>
                <a:latin typeface="Microsoft YaHei"/>
              </a:defRPr>
            </a:pPr>
            <a:r>
              <a:t>   int64 -&gt; int32/int16 (节约50~75%)</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2. Categorical类型转换:</a:t>
            </a:r>
          </a:p>
          <a:p>
            <a:pPr>
              <a:spcAft>
                <a:spcPts val="400"/>
              </a:spcAft>
              <a:defRPr sz="1300">
                <a:solidFill>
                  <a:srgbClr val="BBBBCC"/>
                </a:solidFill>
                <a:latin typeface="Microsoft YaHei"/>
              </a:defRPr>
            </a:pPr>
            <a:r>
              <a:t>   对重复字符串有效 (节约90~99%)</a:t>
            </a:r>
          </a:p>
          <a:p>
            <a:pPr>
              <a:spcAft>
                <a:spcPts val="400"/>
              </a:spcAft>
              <a:defRPr sz="1300">
                <a:solidFill>
                  <a:srgbClr val="BBBBCC"/>
                </a:solidFill>
                <a:latin typeface="Microsoft YaHei"/>
              </a:defRPr>
            </a:pPr>
            <a:r>
              <a:t>   100万行 x 3个唯一值: 64MB -&gt; 1MB</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3. Sparse类型:</a:t>
            </a:r>
          </a:p>
          <a:p>
            <a:pPr>
              <a:spcAft>
                <a:spcPts val="400"/>
              </a:spcAft>
              <a:defRPr sz="1300">
                <a:solidFill>
                  <a:srgbClr val="BBBBCC"/>
                </a:solidFill>
                <a:latin typeface="Microsoft YaHei"/>
              </a:defRPr>
            </a:pPr>
            <a:r>
              <a:t>   大部分为0的数据 (节约90%+)</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4. 分块读取 (chunksize):</a:t>
            </a:r>
          </a:p>
          <a:p>
            <a:pPr>
              <a:spcAft>
                <a:spcPts val="400"/>
              </a:spcAft>
              <a:defRPr sz="1300">
                <a:solidFill>
                  <a:srgbClr val="BBBBCC"/>
                </a:solidFill>
                <a:latin typeface="Microsoft YaHei"/>
              </a:defRPr>
            </a:pPr>
            <a:r>
              <a:t>   chunks = pd.read_csv('huge.csv',</a:t>
            </a:r>
          </a:p>
          <a:p>
            <a:pPr>
              <a:spcAft>
                <a:spcPts val="400"/>
              </a:spcAft>
              <a:defRPr sz="1300">
                <a:solidFill>
                  <a:srgbClr val="BBBBCC"/>
                </a:solidFill>
                <a:latin typeface="Microsoft YaHei"/>
              </a:defRPr>
            </a:pPr>
            <a:r>
              <a:t>       chunksize=100000)</a:t>
            </a:r>
          </a:p>
          <a:p>
            <a:pPr>
              <a:spcAft>
                <a:spcPts val="400"/>
              </a:spcAft>
              <a:defRPr sz="1300">
                <a:solidFill>
                  <a:srgbClr val="BBBBCC"/>
                </a:solidFill>
                <a:latin typeface="Microsoft YaHei"/>
              </a:defRPr>
            </a:pPr>
            <a:r>
              <a:t>   在RAM限制内处理</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3</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SQL vs Pandas比较</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为了解SQL的人提供的Pandas映射</a:t>
            </a:r>
          </a:p>
        </p:txBody>
      </p:sp>
      <p:sp>
        <p:nvSpPr>
          <p:cNvPr id="6" name="Rectangle 5"/>
          <p:cNvSpPr/>
          <p:nvPr/>
        </p:nvSpPr>
        <p:spPr>
          <a:xfrm>
            <a:off x="548640" y="1828800"/>
            <a:ext cx="3200400" cy="4572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28800"/>
            <a:ext cx="3200400" cy="457200"/>
          </a:xfrm>
          <a:prstGeom prst="rect">
            <a:avLst/>
          </a:prstGeom>
          <a:noFill/>
        </p:spPr>
        <p:txBody>
          <a:bodyPr wrap="square">
            <a:spAutoFit/>
          </a:bodyPr>
          <a:lstStyle/>
          <a:p>
            <a:pPr algn="ctr">
              <a:defRPr sz="1400" b="1">
                <a:solidFill>
                  <a:srgbClr val="FFFFFF"/>
                </a:solidFill>
                <a:latin typeface="Microsoft YaHei"/>
              </a:defRPr>
            </a:pPr>
            <a:r>
              <a:t>SQL</a:t>
            </a:r>
          </a:p>
        </p:txBody>
      </p:sp>
      <p:sp>
        <p:nvSpPr>
          <p:cNvPr id="8" name="Rectangle 7"/>
          <p:cNvSpPr/>
          <p:nvPr/>
        </p:nvSpPr>
        <p:spPr>
          <a:xfrm>
            <a:off x="3749040" y="1828800"/>
            <a:ext cx="3657600" cy="4572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49040" y="1828800"/>
            <a:ext cx="3657600" cy="457200"/>
          </a:xfrm>
          <a:prstGeom prst="rect">
            <a:avLst/>
          </a:prstGeom>
          <a:noFill/>
        </p:spPr>
        <p:txBody>
          <a:bodyPr wrap="square">
            <a:spAutoFit/>
          </a:bodyPr>
          <a:lstStyle/>
          <a:p>
            <a:pPr algn="ctr">
              <a:defRPr sz="1400" b="1">
                <a:solidFill>
                  <a:srgbClr val="FFFFFF"/>
                </a:solidFill>
                <a:latin typeface="Microsoft YaHei"/>
              </a:defRPr>
            </a:pPr>
            <a:r>
              <a:t>Pandas</a:t>
            </a:r>
          </a:p>
        </p:txBody>
      </p:sp>
      <p:sp>
        <p:nvSpPr>
          <p:cNvPr id="10" name="Rectangle 9"/>
          <p:cNvSpPr/>
          <p:nvPr/>
        </p:nvSpPr>
        <p:spPr>
          <a:xfrm>
            <a:off x="7406640" y="1828800"/>
            <a:ext cx="3200400" cy="4572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06640" y="1828800"/>
            <a:ext cx="3200400" cy="457200"/>
          </a:xfrm>
          <a:prstGeom prst="rect">
            <a:avLst/>
          </a:prstGeom>
          <a:noFill/>
        </p:spPr>
        <p:txBody>
          <a:bodyPr wrap="square">
            <a:spAutoFit/>
          </a:bodyPr>
          <a:lstStyle/>
          <a:p>
            <a:pPr algn="ctr">
              <a:defRPr sz="1400" b="1">
                <a:solidFill>
                  <a:srgbClr val="FFFFFF"/>
                </a:solidFill>
                <a:latin typeface="Microsoft YaHei"/>
              </a:defRPr>
            </a:pPr>
            <a:r>
              <a:t>备注</a:t>
            </a:r>
          </a:p>
        </p:txBody>
      </p:sp>
      <p:sp>
        <p:nvSpPr>
          <p:cNvPr id="12" name="Rectangle 11"/>
          <p:cNvSpPr/>
          <p:nvPr/>
        </p:nvSpPr>
        <p:spPr>
          <a:xfrm>
            <a:off x="548640" y="2286000"/>
            <a:ext cx="32004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286000"/>
            <a:ext cx="3200400" cy="411480"/>
          </a:xfrm>
          <a:prstGeom prst="rect">
            <a:avLst/>
          </a:prstGeom>
          <a:noFill/>
        </p:spPr>
        <p:txBody>
          <a:bodyPr wrap="square">
            <a:spAutoFit/>
          </a:bodyPr>
          <a:lstStyle/>
          <a:p>
            <a:pPr algn="ctr">
              <a:defRPr sz="1200" b="1">
                <a:solidFill>
                  <a:srgbClr val="00D2FF"/>
                </a:solidFill>
                <a:latin typeface="Microsoft YaHei"/>
              </a:defRPr>
            </a:pPr>
            <a:r>
              <a:t>SELECT col FROM t</a:t>
            </a:r>
          </a:p>
        </p:txBody>
      </p:sp>
      <p:sp>
        <p:nvSpPr>
          <p:cNvPr id="14" name="Rectangle 13"/>
          <p:cNvSpPr/>
          <p:nvPr/>
        </p:nvSpPr>
        <p:spPr>
          <a:xfrm>
            <a:off x="3749040" y="2286000"/>
            <a:ext cx="36576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0" y="2286000"/>
            <a:ext cx="3657600" cy="411480"/>
          </a:xfrm>
          <a:prstGeom prst="rect">
            <a:avLst/>
          </a:prstGeom>
          <a:noFill/>
        </p:spPr>
        <p:txBody>
          <a:bodyPr wrap="square">
            <a:spAutoFit/>
          </a:bodyPr>
          <a:lstStyle/>
          <a:p>
            <a:pPr algn="ctr">
              <a:defRPr sz="1200" b="0">
                <a:solidFill>
                  <a:srgbClr val="BBBBCC"/>
                </a:solidFill>
                <a:latin typeface="Microsoft YaHei"/>
              </a:defRPr>
            </a:pPr>
            <a:r>
              <a:t>df['col'] 或 df[['col']]</a:t>
            </a:r>
          </a:p>
        </p:txBody>
      </p:sp>
      <p:sp>
        <p:nvSpPr>
          <p:cNvPr id="16" name="Rectangle 15"/>
          <p:cNvSpPr/>
          <p:nvPr/>
        </p:nvSpPr>
        <p:spPr>
          <a:xfrm>
            <a:off x="7406640" y="2286000"/>
            <a:ext cx="32004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06640" y="2286000"/>
            <a:ext cx="3200400" cy="411480"/>
          </a:xfrm>
          <a:prstGeom prst="rect">
            <a:avLst/>
          </a:prstGeom>
          <a:noFill/>
        </p:spPr>
        <p:txBody>
          <a:bodyPr wrap="square">
            <a:spAutoFit/>
          </a:bodyPr>
          <a:lstStyle/>
          <a:p>
            <a:pPr algn="ctr">
              <a:defRPr sz="1200" b="0">
                <a:solidFill>
                  <a:srgbClr val="BBBBCC"/>
                </a:solidFill>
                <a:latin typeface="Microsoft YaHei"/>
              </a:defRPr>
            </a:pPr>
            <a:r>
              <a:t>列选择</a:t>
            </a:r>
          </a:p>
        </p:txBody>
      </p:sp>
      <p:sp>
        <p:nvSpPr>
          <p:cNvPr id="18" name="Rectangle 17"/>
          <p:cNvSpPr/>
          <p:nvPr/>
        </p:nvSpPr>
        <p:spPr>
          <a:xfrm>
            <a:off x="548640" y="2697480"/>
            <a:ext cx="32004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697480"/>
            <a:ext cx="3200400" cy="411480"/>
          </a:xfrm>
          <a:prstGeom prst="rect">
            <a:avLst/>
          </a:prstGeom>
          <a:noFill/>
        </p:spPr>
        <p:txBody>
          <a:bodyPr wrap="square">
            <a:spAutoFit/>
          </a:bodyPr>
          <a:lstStyle/>
          <a:p>
            <a:pPr algn="ctr">
              <a:defRPr sz="1200" b="1">
                <a:solidFill>
                  <a:srgbClr val="00D2FF"/>
                </a:solidFill>
                <a:latin typeface="Microsoft YaHei"/>
              </a:defRPr>
            </a:pPr>
            <a:r>
              <a:t>WHERE cond</a:t>
            </a:r>
          </a:p>
        </p:txBody>
      </p:sp>
      <p:sp>
        <p:nvSpPr>
          <p:cNvPr id="20" name="Rectangle 19"/>
          <p:cNvSpPr/>
          <p:nvPr/>
        </p:nvSpPr>
        <p:spPr>
          <a:xfrm>
            <a:off x="3749040" y="2697480"/>
            <a:ext cx="36576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49040" y="2697480"/>
            <a:ext cx="3657600" cy="411480"/>
          </a:xfrm>
          <a:prstGeom prst="rect">
            <a:avLst/>
          </a:prstGeom>
          <a:noFill/>
        </p:spPr>
        <p:txBody>
          <a:bodyPr wrap="square">
            <a:spAutoFit/>
          </a:bodyPr>
          <a:lstStyle/>
          <a:p>
            <a:pPr algn="ctr">
              <a:defRPr sz="1200" b="0">
                <a:solidFill>
                  <a:srgbClr val="BBBBCC"/>
                </a:solidFill>
                <a:latin typeface="Microsoft YaHei"/>
              </a:defRPr>
            </a:pPr>
            <a:r>
              <a:t>df[df['col']&gt;v] / df.query()</a:t>
            </a:r>
          </a:p>
        </p:txBody>
      </p:sp>
      <p:sp>
        <p:nvSpPr>
          <p:cNvPr id="22" name="Rectangle 21"/>
          <p:cNvSpPr/>
          <p:nvPr/>
        </p:nvSpPr>
        <p:spPr>
          <a:xfrm>
            <a:off x="7406640" y="2697480"/>
            <a:ext cx="32004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06640" y="2697480"/>
            <a:ext cx="3200400" cy="411480"/>
          </a:xfrm>
          <a:prstGeom prst="rect">
            <a:avLst/>
          </a:prstGeom>
          <a:noFill/>
        </p:spPr>
        <p:txBody>
          <a:bodyPr wrap="square">
            <a:spAutoFit/>
          </a:bodyPr>
          <a:lstStyle/>
          <a:p>
            <a:pPr algn="ctr">
              <a:defRPr sz="1200" b="0">
                <a:solidFill>
                  <a:srgbClr val="BBBBCC"/>
                </a:solidFill>
                <a:latin typeface="Microsoft YaHei"/>
              </a:defRPr>
            </a:pPr>
            <a:r>
              <a:t>行过滤</a:t>
            </a:r>
          </a:p>
        </p:txBody>
      </p:sp>
      <p:sp>
        <p:nvSpPr>
          <p:cNvPr id="24" name="Rectangle 23"/>
          <p:cNvSpPr/>
          <p:nvPr/>
        </p:nvSpPr>
        <p:spPr>
          <a:xfrm>
            <a:off x="548640" y="3108960"/>
            <a:ext cx="32004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108960"/>
            <a:ext cx="3200400" cy="411480"/>
          </a:xfrm>
          <a:prstGeom prst="rect">
            <a:avLst/>
          </a:prstGeom>
          <a:noFill/>
        </p:spPr>
        <p:txBody>
          <a:bodyPr wrap="square">
            <a:spAutoFit/>
          </a:bodyPr>
          <a:lstStyle/>
          <a:p>
            <a:pPr algn="ctr">
              <a:defRPr sz="1200" b="1">
                <a:solidFill>
                  <a:srgbClr val="00D2FF"/>
                </a:solidFill>
                <a:latin typeface="Microsoft YaHei"/>
              </a:defRPr>
            </a:pPr>
            <a:r>
              <a:t>GROUP BY col</a:t>
            </a:r>
          </a:p>
        </p:txBody>
      </p:sp>
      <p:sp>
        <p:nvSpPr>
          <p:cNvPr id="26" name="Rectangle 25"/>
          <p:cNvSpPr/>
          <p:nvPr/>
        </p:nvSpPr>
        <p:spPr>
          <a:xfrm>
            <a:off x="3749040" y="3108960"/>
            <a:ext cx="36576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49040" y="3108960"/>
            <a:ext cx="3657600" cy="411480"/>
          </a:xfrm>
          <a:prstGeom prst="rect">
            <a:avLst/>
          </a:prstGeom>
          <a:noFill/>
        </p:spPr>
        <p:txBody>
          <a:bodyPr wrap="square">
            <a:spAutoFit/>
          </a:bodyPr>
          <a:lstStyle/>
          <a:p>
            <a:pPr algn="ctr">
              <a:defRPr sz="1200" b="0">
                <a:solidFill>
                  <a:srgbClr val="BBBBCC"/>
                </a:solidFill>
                <a:latin typeface="Microsoft YaHei"/>
              </a:defRPr>
            </a:pPr>
            <a:r>
              <a:t>df.groupby('col')</a:t>
            </a:r>
          </a:p>
        </p:txBody>
      </p:sp>
      <p:sp>
        <p:nvSpPr>
          <p:cNvPr id="28" name="Rectangle 27"/>
          <p:cNvSpPr/>
          <p:nvPr/>
        </p:nvSpPr>
        <p:spPr>
          <a:xfrm>
            <a:off x="7406640" y="3108960"/>
            <a:ext cx="32004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06640" y="3108960"/>
            <a:ext cx="3200400" cy="411480"/>
          </a:xfrm>
          <a:prstGeom prst="rect">
            <a:avLst/>
          </a:prstGeom>
          <a:noFill/>
        </p:spPr>
        <p:txBody>
          <a:bodyPr wrap="square">
            <a:spAutoFit/>
          </a:bodyPr>
          <a:lstStyle/>
          <a:p>
            <a:pPr algn="ctr">
              <a:defRPr sz="1200" b="0">
                <a:solidFill>
                  <a:srgbClr val="BBBBCC"/>
                </a:solidFill>
                <a:latin typeface="Microsoft YaHei"/>
              </a:defRPr>
            </a:pPr>
            <a:r>
              <a:t>分组聚合</a:t>
            </a:r>
          </a:p>
        </p:txBody>
      </p:sp>
      <p:sp>
        <p:nvSpPr>
          <p:cNvPr id="30" name="Rectangle 29"/>
          <p:cNvSpPr/>
          <p:nvPr/>
        </p:nvSpPr>
        <p:spPr>
          <a:xfrm>
            <a:off x="548640" y="3520440"/>
            <a:ext cx="32004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3520440"/>
            <a:ext cx="3200400" cy="411480"/>
          </a:xfrm>
          <a:prstGeom prst="rect">
            <a:avLst/>
          </a:prstGeom>
          <a:noFill/>
        </p:spPr>
        <p:txBody>
          <a:bodyPr wrap="square">
            <a:spAutoFit/>
          </a:bodyPr>
          <a:lstStyle/>
          <a:p>
            <a:pPr algn="ctr">
              <a:defRPr sz="1200" b="1">
                <a:solidFill>
                  <a:srgbClr val="00D2FF"/>
                </a:solidFill>
                <a:latin typeface="Microsoft YaHei"/>
              </a:defRPr>
            </a:pPr>
            <a:r>
              <a:t>ORDER BY col</a:t>
            </a:r>
          </a:p>
        </p:txBody>
      </p:sp>
      <p:sp>
        <p:nvSpPr>
          <p:cNvPr id="32" name="Rectangle 31"/>
          <p:cNvSpPr/>
          <p:nvPr/>
        </p:nvSpPr>
        <p:spPr>
          <a:xfrm>
            <a:off x="3749040" y="3520440"/>
            <a:ext cx="36576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749040" y="3520440"/>
            <a:ext cx="3657600" cy="411480"/>
          </a:xfrm>
          <a:prstGeom prst="rect">
            <a:avLst/>
          </a:prstGeom>
          <a:noFill/>
        </p:spPr>
        <p:txBody>
          <a:bodyPr wrap="square">
            <a:spAutoFit/>
          </a:bodyPr>
          <a:lstStyle/>
          <a:p>
            <a:pPr algn="ctr">
              <a:defRPr sz="1200" b="0">
                <a:solidFill>
                  <a:srgbClr val="BBBBCC"/>
                </a:solidFill>
                <a:latin typeface="Microsoft YaHei"/>
              </a:defRPr>
            </a:pPr>
            <a:r>
              <a:t>df.sort_values('col')</a:t>
            </a:r>
          </a:p>
        </p:txBody>
      </p:sp>
      <p:sp>
        <p:nvSpPr>
          <p:cNvPr id="34" name="Rectangle 33"/>
          <p:cNvSpPr/>
          <p:nvPr/>
        </p:nvSpPr>
        <p:spPr>
          <a:xfrm>
            <a:off x="7406640" y="3520440"/>
            <a:ext cx="32004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06640" y="3520440"/>
            <a:ext cx="3200400" cy="411480"/>
          </a:xfrm>
          <a:prstGeom prst="rect">
            <a:avLst/>
          </a:prstGeom>
          <a:noFill/>
        </p:spPr>
        <p:txBody>
          <a:bodyPr wrap="square">
            <a:spAutoFit/>
          </a:bodyPr>
          <a:lstStyle/>
          <a:p>
            <a:pPr algn="ctr">
              <a:defRPr sz="1200" b="0">
                <a:solidFill>
                  <a:srgbClr val="BBBBCC"/>
                </a:solidFill>
                <a:latin typeface="Microsoft YaHei"/>
              </a:defRPr>
            </a:pPr>
            <a:r>
              <a:t>排序</a:t>
            </a:r>
          </a:p>
        </p:txBody>
      </p:sp>
      <p:sp>
        <p:nvSpPr>
          <p:cNvPr id="36" name="Rectangle 35"/>
          <p:cNvSpPr/>
          <p:nvPr/>
        </p:nvSpPr>
        <p:spPr>
          <a:xfrm>
            <a:off x="548640" y="3931920"/>
            <a:ext cx="32004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3931920"/>
            <a:ext cx="3200400" cy="411480"/>
          </a:xfrm>
          <a:prstGeom prst="rect">
            <a:avLst/>
          </a:prstGeom>
          <a:noFill/>
        </p:spPr>
        <p:txBody>
          <a:bodyPr wrap="square">
            <a:spAutoFit/>
          </a:bodyPr>
          <a:lstStyle/>
          <a:p>
            <a:pPr algn="ctr">
              <a:defRPr sz="1200" b="1">
                <a:solidFill>
                  <a:srgbClr val="00D2FF"/>
                </a:solidFill>
                <a:latin typeface="Microsoft YaHei"/>
              </a:defRPr>
            </a:pPr>
            <a:r>
              <a:t>JOIN t1, t2 ON</a:t>
            </a:r>
          </a:p>
        </p:txBody>
      </p:sp>
      <p:sp>
        <p:nvSpPr>
          <p:cNvPr id="38" name="Rectangle 37"/>
          <p:cNvSpPr/>
          <p:nvPr/>
        </p:nvSpPr>
        <p:spPr>
          <a:xfrm>
            <a:off x="3749040" y="3931920"/>
            <a:ext cx="36576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749040" y="3931920"/>
            <a:ext cx="3657600" cy="411480"/>
          </a:xfrm>
          <a:prstGeom prst="rect">
            <a:avLst/>
          </a:prstGeom>
          <a:noFill/>
        </p:spPr>
        <p:txBody>
          <a:bodyPr wrap="square">
            <a:spAutoFit/>
          </a:bodyPr>
          <a:lstStyle/>
          <a:p>
            <a:pPr algn="ctr">
              <a:defRPr sz="1200" b="0">
                <a:solidFill>
                  <a:srgbClr val="BBBBCC"/>
                </a:solidFill>
                <a:latin typeface="Microsoft YaHei"/>
              </a:defRPr>
            </a:pPr>
            <a:r>
              <a:t>pd.merge(t1, t2, on=)</a:t>
            </a:r>
          </a:p>
        </p:txBody>
      </p:sp>
      <p:sp>
        <p:nvSpPr>
          <p:cNvPr id="40" name="Rectangle 39"/>
          <p:cNvSpPr/>
          <p:nvPr/>
        </p:nvSpPr>
        <p:spPr>
          <a:xfrm>
            <a:off x="7406640" y="3931920"/>
            <a:ext cx="32004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06640" y="3931920"/>
            <a:ext cx="3200400" cy="411480"/>
          </a:xfrm>
          <a:prstGeom prst="rect">
            <a:avLst/>
          </a:prstGeom>
          <a:noFill/>
        </p:spPr>
        <p:txBody>
          <a:bodyPr wrap="square">
            <a:spAutoFit/>
          </a:bodyPr>
          <a:lstStyle/>
          <a:p>
            <a:pPr algn="ctr">
              <a:defRPr sz="1200" b="0">
                <a:solidFill>
                  <a:srgbClr val="BBBBCC"/>
                </a:solidFill>
                <a:latin typeface="Microsoft YaHei"/>
              </a:defRPr>
            </a:pPr>
            <a:r>
              <a:t>表连接</a:t>
            </a:r>
          </a:p>
        </p:txBody>
      </p:sp>
      <p:sp>
        <p:nvSpPr>
          <p:cNvPr id="42" name="Rectangle 41"/>
          <p:cNvSpPr/>
          <p:nvPr/>
        </p:nvSpPr>
        <p:spPr>
          <a:xfrm>
            <a:off x="548640" y="4343400"/>
            <a:ext cx="32004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4343400"/>
            <a:ext cx="3200400" cy="411480"/>
          </a:xfrm>
          <a:prstGeom prst="rect">
            <a:avLst/>
          </a:prstGeom>
          <a:noFill/>
        </p:spPr>
        <p:txBody>
          <a:bodyPr wrap="square">
            <a:spAutoFit/>
          </a:bodyPr>
          <a:lstStyle/>
          <a:p>
            <a:pPr algn="ctr">
              <a:defRPr sz="1200" b="1">
                <a:solidFill>
                  <a:srgbClr val="00D2FF"/>
                </a:solidFill>
                <a:latin typeface="Microsoft YaHei"/>
              </a:defRPr>
            </a:pPr>
            <a:r>
              <a:t>DISTINCT</a:t>
            </a:r>
          </a:p>
        </p:txBody>
      </p:sp>
      <p:sp>
        <p:nvSpPr>
          <p:cNvPr id="44" name="Rectangle 43"/>
          <p:cNvSpPr/>
          <p:nvPr/>
        </p:nvSpPr>
        <p:spPr>
          <a:xfrm>
            <a:off x="3749040" y="4343400"/>
            <a:ext cx="36576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749040" y="4343400"/>
            <a:ext cx="3657600" cy="411480"/>
          </a:xfrm>
          <a:prstGeom prst="rect">
            <a:avLst/>
          </a:prstGeom>
          <a:noFill/>
        </p:spPr>
        <p:txBody>
          <a:bodyPr wrap="square">
            <a:spAutoFit/>
          </a:bodyPr>
          <a:lstStyle/>
          <a:p>
            <a:pPr algn="ctr">
              <a:defRPr sz="1200" b="0">
                <a:solidFill>
                  <a:srgbClr val="BBBBCC"/>
                </a:solidFill>
                <a:latin typeface="Microsoft YaHei"/>
              </a:defRPr>
            </a:pPr>
            <a:r>
              <a:t>df.drop_duplicates()</a:t>
            </a:r>
          </a:p>
        </p:txBody>
      </p:sp>
      <p:sp>
        <p:nvSpPr>
          <p:cNvPr id="46" name="Rectangle 45"/>
          <p:cNvSpPr/>
          <p:nvPr/>
        </p:nvSpPr>
        <p:spPr>
          <a:xfrm>
            <a:off x="7406640" y="4343400"/>
            <a:ext cx="32004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406640" y="4343400"/>
            <a:ext cx="3200400" cy="411480"/>
          </a:xfrm>
          <a:prstGeom prst="rect">
            <a:avLst/>
          </a:prstGeom>
          <a:noFill/>
        </p:spPr>
        <p:txBody>
          <a:bodyPr wrap="square">
            <a:spAutoFit/>
          </a:bodyPr>
          <a:lstStyle/>
          <a:p>
            <a:pPr algn="ctr">
              <a:defRPr sz="1200" b="0">
                <a:solidFill>
                  <a:srgbClr val="BBBBCC"/>
                </a:solidFill>
                <a:latin typeface="Microsoft YaHei"/>
              </a:defRPr>
            </a:pPr>
            <a:r>
              <a:t>去重</a:t>
            </a:r>
          </a:p>
        </p:txBody>
      </p:sp>
      <p:sp>
        <p:nvSpPr>
          <p:cNvPr id="48" name="Rectangle 47"/>
          <p:cNvSpPr/>
          <p:nvPr/>
        </p:nvSpPr>
        <p:spPr>
          <a:xfrm>
            <a:off x="548640" y="4754880"/>
            <a:ext cx="32004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 y="4754880"/>
            <a:ext cx="3200400" cy="411480"/>
          </a:xfrm>
          <a:prstGeom prst="rect">
            <a:avLst/>
          </a:prstGeom>
          <a:noFill/>
        </p:spPr>
        <p:txBody>
          <a:bodyPr wrap="square">
            <a:spAutoFit/>
          </a:bodyPr>
          <a:lstStyle/>
          <a:p>
            <a:pPr algn="ctr">
              <a:defRPr sz="1200" b="1">
                <a:solidFill>
                  <a:srgbClr val="00D2FF"/>
                </a:solidFill>
                <a:latin typeface="Microsoft YaHei"/>
              </a:defRPr>
            </a:pPr>
            <a:r>
              <a:t>COUNT(*)</a:t>
            </a:r>
          </a:p>
        </p:txBody>
      </p:sp>
      <p:sp>
        <p:nvSpPr>
          <p:cNvPr id="50" name="Rectangle 49"/>
          <p:cNvSpPr/>
          <p:nvPr/>
        </p:nvSpPr>
        <p:spPr>
          <a:xfrm>
            <a:off x="3749040" y="4754880"/>
            <a:ext cx="36576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749040" y="4754880"/>
            <a:ext cx="3657600" cy="411480"/>
          </a:xfrm>
          <a:prstGeom prst="rect">
            <a:avLst/>
          </a:prstGeom>
          <a:noFill/>
        </p:spPr>
        <p:txBody>
          <a:bodyPr wrap="square">
            <a:spAutoFit/>
          </a:bodyPr>
          <a:lstStyle/>
          <a:p>
            <a:pPr algn="ctr">
              <a:defRPr sz="1200" b="0">
                <a:solidFill>
                  <a:srgbClr val="BBBBCC"/>
                </a:solidFill>
                <a:latin typeface="Microsoft YaHei"/>
              </a:defRPr>
            </a:pPr>
            <a:r>
              <a:t>df.shape[0] / len(df)</a:t>
            </a:r>
          </a:p>
        </p:txBody>
      </p:sp>
      <p:sp>
        <p:nvSpPr>
          <p:cNvPr id="52" name="Rectangle 51"/>
          <p:cNvSpPr/>
          <p:nvPr/>
        </p:nvSpPr>
        <p:spPr>
          <a:xfrm>
            <a:off x="7406640" y="4754880"/>
            <a:ext cx="32004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406640" y="4754880"/>
            <a:ext cx="3200400" cy="411480"/>
          </a:xfrm>
          <a:prstGeom prst="rect">
            <a:avLst/>
          </a:prstGeom>
          <a:noFill/>
        </p:spPr>
        <p:txBody>
          <a:bodyPr wrap="square">
            <a:spAutoFit/>
          </a:bodyPr>
          <a:lstStyle/>
          <a:p>
            <a:pPr algn="ctr">
              <a:defRPr sz="1200" b="0">
                <a:solidFill>
                  <a:srgbClr val="BBBBCC"/>
                </a:solidFill>
                <a:latin typeface="Microsoft YaHei"/>
              </a:defRPr>
            </a:pPr>
            <a:r>
              <a:t>行数</a:t>
            </a:r>
          </a:p>
        </p:txBody>
      </p:sp>
      <p:sp>
        <p:nvSpPr>
          <p:cNvPr id="54" name="Rectangle 53"/>
          <p:cNvSpPr/>
          <p:nvPr/>
        </p:nvSpPr>
        <p:spPr>
          <a:xfrm>
            <a:off x="548640" y="5166360"/>
            <a:ext cx="32004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48640" y="5166360"/>
            <a:ext cx="3200400" cy="411480"/>
          </a:xfrm>
          <a:prstGeom prst="rect">
            <a:avLst/>
          </a:prstGeom>
          <a:noFill/>
        </p:spPr>
        <p:txBody>
          <a:bodyPr wrap="square">
            <a:spAutoFit/>
          </a:bodyPr>
          <a:lstStyle/>
          <a:p>
            <a:pPr algn="ctr">
              <a:defRPr sz="1200" b="1">
                <a:solidFill>
                  <a:srgbClr val="00D2FF"/>
                </a:solidFill>
                <a:latin typeface="Microsoft YaHei"/>
              </a:defRPr>
            </a:pPr>
            <a:r>
              <a:t>LIMIT n</a:t>
            </a:r>
          </a:p>
        </p:txBody>
      </p:sp>
      <p:sp>
        <p:nvSpPr>
          <p:cNvPr id="56" name="Rectangle 55"/>
          <p:cNvSpPr/>
          <p:nvPr/>
        </p:nvSpPr>
        <p:spPr>
          <a:xfrm>
            <a:off x="3749040" y="5166360"/>
            <a:ext cx="36576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749040" y="5166360"/>
            <a:ext cx="3657600" cy="411480"/>
          </a:xfrm>
          <a:prstGeom prst="rect">
            <a:avLst/>
          </a:prstGeom>
          <a:noFill/>
        </p:spPr>
        <p:txBody>
          <a:bodyPr wrap="square">
            <a:spAutoFit/>
          </a:bodyPr>
          <a:lstStyle/>
          <a:p>
            <a:pPr algn="ctr">
              <a:defRPr sz="1200" b="0">
                <a:solidFill>
                  <a:srgbClr val="BBBBCC"/>
                </a:solidFill>
                <a:latin typeface="Microsoft YaHei"/>
              </a:defRPr>
            </a:pPr>
            <a:r>
              <a:t>df.head(n)</a:t>
            </a:r>
          </a:p>
        </p:txBody>
      </p:sp>
      <p:sp>
        <p:nvSpPr>
          <p:cNvPr id="58" name="Rectangle 57"/>
          <p:cNvSpPr/>
          <p:nvPr/>
        </p:nvSpPr>
        <p:spPr>
          <a:xfrm>
            <a:off x="7406640" y="5166360"/>
            <a:ext cx="32004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406640" y="5166360"/>
            <a:ext cx="3200400" cy="411480"/>
          </a:xfrm>
          <a:prstGeom prst="rect">
            <a:avLst/>
          </a:prstGeom>
          <a:noFill/>
        </p:spPr>
        <p:txBody>
          <a:bodyPr wrap="square">
            <a:spAutoFit/>
          </a:bodyPr>
          <a:lstStyle/>
          <a:p>
            <a:pPr algn="ctr">
              <a:defRPr sz="1200" b="0">
                <a:solidFill>
                  <a:srgbClr val="BBBBCC"/>
                </a:solidFill>
                <a:latin typeface="Microsoft YaHei"/>
              </a:defRPr>
            </a:pPr>
            <a:r>
              <a:t>前n个</a:t>
            </a:r>
          </a:p>
        </p:txBody>
      </p:sp>
      <p:sp>
        <p:nvSpPr>
          <p:cNvPr id="60" name="Rounded Rectangle 59"/>
          <p:cNvSpPr/>
          <p:nvPr/>
        </p:nvSpPr>
        <p:spPr>
          <a:xfrm>
            <a:off x="548640" y="5669280"/>
            <a:ext cx="10972800" cy="914400"/>
          </a:xfrm>
          <a:prstGeom prst="roundRect">
            <a:avLst>
              <a:gd name="adj" fmla="val 5000"/>
            </a:avLst>
          </a:prstGeom>
          <a:solidFill>
            <a:srgbClr val="25253D"/>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31520" y="5760720"/>
            <a:ext cx="10607040" cy="365760"/>
          </a:xfrm>
          <a:prstGeom prst="rect">
            <a:avLst/>
          </a:prstGeom>
          <a:noFill/>
        </p:spPr>
        <p:txBody>
          <a:bodyPr wrap="square">
            <a:spAutoFit/>
          </a:bodyPr>
          <a:lstStyle/>
          <a:p>
            <a:pPr algn="l">
              <a:defRPr sz="1500" b="1">
                <a:solidFill>
                  <a:srgbClr val="00D2FF"/>
                </a:solidFill>
                <a:latin typeface="Microsoft YaHei"/>
              </a:defRPr>
            </a:pPr>
            <a:r>
              <a:t>核心信息</a:t>
            </a:r>
          </a:p>
        </p:txBody>
      </p:sp>
      <p:sp>
        <p:nvSpPr>
          <p:cNvPr id="62" name="TextBox 61"/>
          <p:cNvSpPr txBox="1"/>
          <p:nvPr/>
        </p:nvSpPr>
        <p:spPr>
          <a:xfrm>
            <a:off x="731520" y="6126480"/>
            <a:ext cx="10607040" cy="365760"/>
          </a:xfrm>
          <a:prstGeom prst="rect">
            <a:avLst/>
          </a:prstGeom>
          <a:noFill/>
        </p:spPr>
        <p:txBody>
          <a:bodyPr wrap="square">
            <a:spAutoFit/>
          </a:bodyPr>
          <a:lstStyle/>
          <a:p>
            <a:pPr>
              <a:spcAft>
                <a:spcPts val="400"/>
              </a:spcAft>
              <a:defRPr sz="1300">
                <a:solidFill>
                  <a:srgbClr val="BBBBCC"/>
                </a:solidFill>
                <a:latin typeface="Microsoft YaHei"/>
              </a:defRPr>
            </a:pPr>
            <a:r>
              <a:t>有SQL经验的话Pandas非常直观! 几乎可以1:1对应，方法链使分析更加灵活。</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01028"/>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0"/>
            <a:ext cx="12191695" cy="50800"/>
          </a:xfrm>
          <a:prstGeom prst="rect">
            <a:avLst/>
          </a:prstGeom>
          <a:solidFill>
            <a:srgbClr val="00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1828800"/>
            <a:ext cx="12191695" cy="457200"/>
          </a:xfrm>
          <a:prstGeom prst="rect">
            <a:avLst/>
          </a:prstGeom>
          <a:noFill/>
        </p:spPr>
        <p:txBody>
          <a:bodyPr wrap="square">
            <a:spAutoFit/>
          </a:bodyPr>
          <a:lstStyle/>
          <a:p>
            <a:pPr algn="ctr">
              <a:defRPr sz="2000" b="1">
                <a:solidFill>
                  <a:srgbClr val="00E696"/>
                </a:solidFill>
                <a:latin typeface="Microsoft YaHei"/>
              </a:defRPr>
            </a:pPr>
            <a:r>
              <a:t>SECTION 4</a:t>
            </a:r>
          </a:p>
        </p:txBody>
      </p:sp>
      <p:sp>
        <p:nvSpPr>
          <p:cNvPr id="5" name="Rectangle 4"/>
          <p:cNvSpPr/>
          <p:nvPr/>
        </p:nvSpPr>
        <p:spPr>
          <a:xfrm>
            <a:off x="5029200" y="2468880"/>
            <a:ext cx="2103120" cy="38100"/>
          </a:xfrm>
          <a:prstGeom prst="rect">
            <a:avLst/>
          </a:prstGeom>
          <a:solidFill>
            <a:srgbClr val="00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743200"/>
            <a:ext cx="12191695" cy="914400"/>
          </a:xfrm>
          <a:prstGeom prst="rect">
            <a:avLst/>
          </a:prstGeom>
          <a:noFill/>
        </p:spPr>
        <p:txBody>
          <a:bodyPr wrap="square">
            <a:spAutoFit/>
          </a:bodyPr>
          <a:lstStyle/>
          <a:p>
            <a:pPr algn="ctr">
              <a:defRPr sz="4400" b="1">
                <a:solidFill>
                  <a:srgbClr val="FFFFFF"/>
                </a:solidFill>
                <a:latin typeface="Microsoft YaHei"/>
              </a:defRPr>
            </a:pPr>
            <a:r>
              <a:t>数据预处理</a:t>
            </a:r>
          </a:p>
        </p:txBody>
      </p:sp>
      <p:sp>
        <p:nvSpPr>
          <p:cNvPr id="7" name="TextBox 6"/>
          <p:cNvSpPr txBox="1"/>
          <p:nvPr/>
        </p:nvSpPr>
        <p:spPr>
          <a:xfrm>
            <a:off x="0" y="3840480"/>
            <a:ext cx="12191695" cy="457200"/>
          </a:xfrm>
          <a:prstGeom prst="rect">
            <a:avLst/>
          </a:prstGeom>
          <a:noFill/>
        </p:spPr>
        <p:txBody>
          <a:bodyPr wrap="square">
            <a:spAutoFit/>
          </a:bodyPr>
          <a:lstStyle/>
          <a:p>
            <a:pPr algn="ctr">
              <a:defRPr sz="1800" b="0">
                <a:solidFill>
                  <a:srgbClr val="888899"/>
                </a:solidFill>
                <a:latin typeface="Microsoft YaHei"/>
              </a:defRPr>
            </a:pPr>
            <a:r>
              <a:t>缺失值处理、异常值检测、特征缩放、编码</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4</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缺失值处理5种策略</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根据情况选择合适的策略很重要</a:t>
            </a:r>
          </a:p>
        </p:txBody>
      </p:sp>
      <p:sp>
        <p:nvSpPr>
          <p:cNvPr id="6" name="Rectangle 5"/>
          <p:cNvSpPr/>
          <p:nvPr/>
        </p:nvSpPr>
        <p:spPr>
          <a:xfrm>
            <a:off x="548640" y="1828800"/>
            <a:ext cx="1371600" cy="457200"/>
          </a:xfrm>
          <a:prstGeom prst="rect">
            <a:avLst/>
          </a:prstGeom>
          <a:solidFill>
            <a:srgbClr val="00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28800"/>
            <a:ext cx="1371600" cy="457200"/>
          </a:xfrm>
          <a:prstGeom prst="rect">
            <a:avLst/>
          </a:prstGeom>
          <a:noFill/>
        </p:spPr>
        <p:txBody>
          <a:bodyPr wrap="square">
            <a:spAutoFit/>
          </a:bodyPr>
          <a:lstStyle/>
          <a:p>
            <a:pPr algn="ctr">
              <a:defRPr sz="1400" b="1">
                <a:solidFill>
                  <a:srgbClr val="FFFFFF"/>
                </a:solidFill>
                <a:latin typeface="Microsoft YaHei"/>
              </a:defRPr>
            </a:pPr>
            <a:r>
              <a:t>策略</a:t>
            </a:r>
          </a:p>
        </p:txBody>
      </p:sp>
      <p:sp>
        <p:nvSpPr>
          <p:cNvPr id="8" name="Rectangle 7"/>
          <p:cNvSpPr/>
          <p:nvPr/>
        </p:nvSpPr>
        <p:spPr>
          <a:xfrm>
            <a:off x="1920240" y="1828800"/>
            <a:ext cx="1828800" cy="457200"/>
          </a:xfrm>
          <a:prstGeom prst="rect">
            <a:avLst/>
          </a:prstGeom>
          <a:solidFill>
            <a:srgbClr val="00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20240" y="1828800"/>
            <a:ext cx="1828800" cy="457200"/>
          </a:xfrm>
          <a:prstGeom prst="rect">
            <a:avLst/>
          </a:prstGeom>
          <a:noFill/>
        </p:spPr>
        <p:txBody>
          <a:bodyPr wrap="square">
            <a:spAutoFit/>
          </a:bodyPr>
          <a:lstStyle/>
          <a:p>
            <a:pPr algn="ctr">
              <a:defRPr sz="1400" b="1">
                <a:solidFill>
                  <a:srgbClr val="FFFFFF"/>
                </a:solidFill>
                <a:latin typeface="Microsoft YaHei"/>
              </a:defRPr>
            </a:pPr>
            <a:r>
              <a:t>方法</a:t>
            </a:r>
          </a:p>
        </p:txBody>
      </p:sp>
      <p:sp>
        <p:nvSpPr>
          <p:cNvPr id="10" name="Rectangle 9"/>
          <p:cNvSpPr/>
          <p:nvPr/>
        </p:nvSpPr>
        <p:spPr>
          <a:xfrm>
            <a:off x="3749040" y="1828800"/>
            <a:ext cx="1645920" cy="457200"/>
          </a:xfrm>
          <a:prstGeom prst="rect">
            <a:avLst/>
          </a:prstGeom>
          <a:solidFill>
            <a:srgbClr val="00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49040" y="1828800"/>
            <a:ext cx="1645920" cy="457200"/>
          </a:xfrm>
          <a:prstGeom prst="rect">
            <a:avLst/>
          </a:prstGeom>
          <a:noFill/>
        </p:spPr>
        <p:txBody>
          <a:bodyPr wrap="square">
            <a:spAutoFit/>
          </a:bodyPr>
          <a:lstStyle/>
          <a:p>
            <a:pPr algn="ctr">
              <a:defRPr sz="1400" b="1">
                <a:solidFill>
                  <a:srgbClr val="FFFFFF"/>
                </a:solidFill>
                <a:latin typeface="Microsoft YaHei"/>
              </a:defRPr>
            </a:pPr>
            <a:r>
              <a:t>优点</a:t>
            </a:r>
          </a:p>
        </p:txBody>
      </p:sp>
      <p:sp>
        <p:nvSpPr>
          <p:cNvPr id="12" name="Rectangle 11"/>
          <p:cNvSpPr/>
          <p:nvPr/>
        </p:nvSpPr>
        <p:spPr>
          <a:xfrm>
            <a:off x="5394960" y="1828800"/>
            <a:ext cx="1645920" cy="457200"/>
          </a:xfrm>
          <a:prstGeom prst="rect">
            <a:avLst/>
          </a:prstGeom>
          <a:solidFill>
            <a:srgbClr val="00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94960" y="1828800"/>
            <a:ext cx="1645920" cy="457200"/>
          </a:xfrm>
          <a:prstGeom prst="rect">
            <a:avLst/>
          </a:prstGeom>
          <a:noFill/>
        </p:spPr>
        <p:txBody>
          <a:bodyPr wrap="square">
            <a:spAutoFit/>
          </a:bodyPr>
          <a:lstStyle/>
          <a:p>
            <a:pPr algn="ctr">
              <a:defRPr sz="1400" b="1">
                <a:solidFill>
                  <a:srgbClr val="FFFFFF"/>
                </a:solidFill>
                <a:latin typeface="Microsoft YaHei"/>
              </a:defRPr>
            </a:pPr>
            <a:r>
              <a:t>缺点</a:t>
            </a:r>
          </a:p>
        </p:txBody>
      </p:sp>
      <p:sp>
        <p:nvSpPr>
          <p:cNvPr id="14" name="Rectangle 13"/>
          <p:cNvSpPr/>
          <p:nvPr/>
        </p:nvSpPr>
        <p:spPr>
          <a:xfrm>
            <a:off x="7040880" y="1828800"/>
            <a:ext cx="2011680" cy="457200"/>
          </a:xfrm>
          <a:prstGeom prst="rect">
            <a:avLst/>
          </a:prstGeom>
          <a:solidFill>
            <a:srgbClr val="00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0" y="1828800"/>
            <a:ext cx="2011680" cy="457200"/>
          </a:xfrm>
          <a:prstGeom prst="rect">
            <a:avLst/>
          </a:prstGeom>
          <a:noFill/>
        </p:spPr>
        <p:txBody>
          <a:bodyPr wrap="square">
            <a:spAutoFit/>
          </a:bodyPr>
          <a:lstStyle/>
          <a:p>
            <a:pPr algn="ctr">
              <a:defRPr sz="1400" b="1">
                <a:solidFill>
                  <a:srgbClr val="FFFFFF"/>
                </a:solidFill>
                <a:latin typeface="Microsoft YaHei"/>
              </a:defRPr>
            </a:pPr>
            <a:r>
              <a:t>适用场景</a:t>
            </a:r>
          </a:p>
        </p:txBody>
      </p:sp>
      <p:sp>
        <p:nvSpPr>
          <p:cNvPr id="16" name="Rectangle 15"/>
          <p:cNvSpPr/>
          <p:nvPr/>
        </p:nvSpPr>
        <p:spPr>
          <a:xfrm>
            <a:off x="548640" y="2286000"/>
            <a:ext cx="13716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286000"/>
            <a:ext cx="1371600" cy="457200"/>
          </a:xfrm>
          <a:prstGeom prst="rect">
            <a:avLst/>
          </a:prstGeom>
          <a:noFill/>
        </p:spPr>
        <p:txBody>
          <a:bodyPr wrap="square">
            <a:spAutoFit/>
          </a:bodyPr>
          <a:lstStyle/>
          <a:p>
            <a:pPr algn="ctr">
              <a:defRPr sz="1100" b="1">
                <a:solidFill>
                  <a:srgbClr val="00D2FF"/>
                </a:solidFill>
                <a:latin typeface="Microsoft YaHei"/>
              </a:defRPr>
            </a:pPr>
            <a:r>
              <a:t>删除行</a:t>
            </a:r>
          </a:p>
        </p:txBody>
      </p:sp>
      <p:sp>
        <p:nvSpPr>
          <p:cNvPr id="18" name="Rectangle 17"/>
          <p:cNvSpPr/>
          <p:nvPr/>
        </p:nvSpPr>
        <p:spPr>
          <a:xfrm>
            <a:off x="1920240" y="2286000"/>
            <a:ext cx="18288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20240" y="2286000"/>
            <a:ext cx="1828800" cy="457200"/>
          </a:xfrm>
          <a:prstGeom prst="rect">
            <a:avLst/>
          </a:prstGeom>
          <a:noFill/>
        </p:spPr>
        <p:txBody>
          <a:bodyPr wrap="square">
            <a:spAutoFit/>
          </a:bodyPr>
          <a:lstStyle/>
          <a:p>
            <a:pPr algn="ctr">
              <a:defRPr sz="1100" b="0">
                <a:solidFill>
                  <a:srgbClr val="BBBBCC"/>
                </a:solidFill>
                <a:latin typeface="Microsoft YaHei"/>
              </a:defRPr>
            </a:pPr>
            <a:r>
              <a:t>dropna()</a:t>
            </a:r>
          </a:p>
        </p:txBody>
      </p:sp>
      <p:sp>
        <p:nvSpPr>
          <p:cNvPr id="20" name="Rectangle 19"/>
          <p:cNvSpPr/>
          <p:nvPr/>
        </p:nvSpPr>
        <p:spPr>
          <a:xfrm>
            <a:off x="3749040" y="2286000"/>
            <a:ext cx="164592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49040" y="2286000"/>
            <a:ext cx="1645920" cy="457200"/>
          </a:xfrm>
          <a:prstGeom prst="rect">
            <a:avLst/>
          </a:prstGeom>
          <a:noFill/>
        </p:spPr>
        <p:txBody>
          <a:bodyPr wrap="square">
            <a:spAutoFit/>
          </a:bodyPr>
          <a:lstStyle/>
          <a:p>
            <a:pPr algn="ctr">
              <a:defRPr sz="1100" b="0">
                <a:solidFill>
                  <a:srgbClr val="BBBBCC"/>
                </a:solidFill>
                <a:latin typeface="Microsoft YaHei"/>
              </a:defRPr>
            </a:pPr>
            <a:r>
              <a:t>简单</a:t>
            </a:r>
          </a:p>
        </p:txBody>
      </p:sp>
      <p:sp>
        <p:nvSpPr>
          <p:cNvPr id="22" name="Rectangle 21"/>
          <p:cNvSpPr/>
          <p:nvPr/>
        </p:nvSpPr>
        <p:spPr>
          <a:xfrm>
            <a:off x="5394960" y="2286000"/>
            <a:ext cx="164592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94960" y="2286000"/>
            <a:ext cx="1645920" cy="457200"/>
          </a:xfrm>
          <a:prstGeom prst="rect">
            <a:avLst/>
          </a:prstGeom>
          <a:noFill/>
        </p:spPr>
        <p:txBody>
          <a:bodyPr wrap="square">
            <a:spAutoFit/>
          </a:bodyPr>
          <a:lstStyle/>
          <a:p>
            <a:pPr algn="ctr">
              <a:defRPr sz="1100" b="0">
                <a:solidFill>
                  <a:srgbClr val="BBBBCC"/>
                </a:solidFill>
                <a:latin typeface="Microsoft YaHei"/>
              </a:defRPr>
            </a:pPr>
            <a:r>
              <a:t>数据损失</a:t>
            </a:r>
          </a:p>
        </p:txBody>
      </p:sp>
      <p:sp>
        <p:nvSpPr>
          <p:cNvPr id="24" name="Rectangle 23"/>
          <p:cNvSpPr/>
          <p:nvPr/>
        </p:nvSpPr>
        <p:spPr>
          <a:xfrm>
            <a:off x="7040880" y="2286000"/>
            <a:ext cx="201168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0" y="2286000"/>
            <a:ext cx="2011680" cy="457200"/>
          </a:xfrm>
          <a:prstGeom prst="rect">
            <a:avLst/>
          </a:prstGeom>
          <a:noFill/>
        </p:spPr>
        <p:txBody>
          <a:bodyPr wrap="square">
            <a:spAutoFit/>
          </a:bodyPr>
          <a:lstStyle/>
          <a:p>
            <a:pPr algn="ctr">
              <a:defRPr sz="1100" b="0">
                <a:solidFill>
                  <a:srgbClr val="BBBBCC"/>
                </a:solidFill>
                <a:latin typeface="Microsoft YaHei"/>
              </a:defRPr>
            </a:pPr>
            <a:r>
              <a:t>缺失 &lt; 5%</a:t>
            </a:r>
          </a:p>
        </p:txBody>
      </p:sp>
      <p:sp>
        <p:nvSpPr>
          <p:cNvPr id="26" name="Rectangle 25"/>
          <p:cNvSpPr/>
          <p:nvPr/>
        </p:nvSpPr>
        <p:spPr>
          <a:xfrm>
            <a:off x="548640" y="2743200"/>
            <a:ext cx="137160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2743200"/>
            <a:ext cx="1371600" cy="457200"/>
          </a:xfrm>
          <a:prstGeom prst="rect">
            <a:avLst/>
          </a:prstGeom>
          <a:noFill/>
        </p:spPr>
        <p:txBody>
          <a:bodyPr wrap="square">
            <a:spAutoFit/>
          </a:bodyPr>
          <a:lstStyle/>
          <a:p>
            <a:pPr algn="ctr">
              <a:defRPr sz="1100" b="1">
                <a:solidFill>
                  <a:srgbClr val="00D2FF"/>
                </a:solidFill>
                <a:latin typeface="Microsoft YaHei"/>
              </a:defRPr>
            </a:pPr>
            <a:r>
              <a:t>均值替代</a:t>
            </a:r>
          </a:p>
        </p:txBody>
      </p:sp>
      <p:sp>
        <p:nvSpPr>
          <p:cNvPr id="28" name="Rectangle 27"/>
          <p:cNvSpPr/>
          <p:nvPr/>
        </p:nvSpPr>
        <p:spPr>
          <a:xfrm>
            <a:off x="1920240" y="2743200"/>
            <a:ext cx="182880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920240" y="2743200"/>
            <a:ext cx="1828800" cy="457200"/>
          </a:xfrm>
          <a:prstGeom prst="rect">
            <a:avLst/>
          </a:prstGeom>
          <a:noFill/>
        </p:spPr>
        <p:txBody>
          <a:bodyPr wrap="square">
            <a:spAutoFit/>
          </a:bodyPr>
          <a:lstStyle/>
          <a:p>
            <a:pPr algn="ctr">
              <a:defRPr sz="1100" b="0">
                <a:solidFill>
                  <a:srgbClr val="BBBBCC"/>
                </a:solidFill>
                <a:latin typeface="Microsoft YaHei"/>
              </a:defRPr>
            </a:pPr>
            <a:r>
              <a:t>fillna(mean)</a:t>
            </a:r>
          </a:p>
        </p:txBody>
      </p:sp>
      <p:sp>
        <p:nvSpPr>
          <p:cNvPr id="30" name="Rectangle 29"/>
          <p:cNvSpPr/>
          <p:nvPr/>
        </p:nvSpPr>
        <p:spPr>
          <a:xfrm>
            <a:off x="3749040" y="2743200"/>
            <a:ext cx="164592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49040" y="2743200"/>
            <a:ext cx="1645920" cy="457200"/>
          </a:xfrm>
          <a:prstGeom prst="rect">
            <a:avLst/>
          </a:prstGeom>
          <a:noFill/>
        </p:spPr>
        <p:txBody>
          <a:bodyPr wrap="square">
            <a:spAutoFit/>
          </a:bodyPr>
          <a:lstStyle/>
          <a:p>
            <a:pPr algn="ctr">
              <a:defRPr sz="1100" b="0">
                <a:solidFill>
                  <a:srgbClr val="BBBBCC"/>
                </a:solidFill>
                <a:latin typeface="Microsoft YaHei"/>
              </a:defRPr>
            </a:pPr>
            <a:r>
              <a:t>保持分布</a:t>
            </a:r>
          </a:p>
        </p:txBody>
      </p:sp>
      <p:sp>
        <p:nvSpPr>
          <p:cNvPr id="32" name="Rectangle 31"/>
          <p:cNvSpPr/>
          <p:nvPr/>
        </p:nvSpPr>
        <p:spPr>
          <a:xfrm>
            <a:off x="5394960" y="2743200"/>
            <a:ext cx="164592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94960" y="2743200"/>
            <a:ext cx="1645920" cy="457200"/>
          </a:xfrm>
          <a:prstGeom prst="rect">
            <a:avLst/>
          </a:prstGeom>
          <a:noFill/>
        </p:spPr>
        <p:txBody>
          <a:bodyPr wrap="square">
            <a:spAutoFit/>
          </a:bodyPr>
          <a:lstStyle/>
          <a:p>
            <a:pPr algn="ctr">
              <a:defRPr sz="1100" b="0">
                <a:solidFill>
                  <a:srgbClr val="BBBBCC"/>
                </a:solidFill>
                <a:latin typeface="Microsoft YaHei"/>
              </a:defRPr>
            </a:pPr>
            <a:r>
              <a:t>低估方差</a:t>
            </a:r>
          </a:p>
        </p:txBody>
      </p:sp>
      <p:sp>
        <p:nvSpPr>
          <p:cNvPr id="34" name="Rectangle 33"/>
          <p:cNvSpPr/>
          <p:nvPr/>
        </p:nvSpPr>
        <p:spPr>
          <a:xfrm>
            <a:off x="7040880" y="2743200"/>
            <a:ext cx="201168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040880" y="2743200"/>
            <a:ext cx="2011680" cy="457200"/>
          </a:xfrm>
          <a:prstGeom prst="rect">
            <a:avLst/>
          </a:prstGeom>
          <a:noFill/>
        </p:spPr>
        <p:txBody>
          <a:bodyPr wrap="square">
            <a:spAutoFit/>
          </a:bodyPr>
          <a:lstStyle/>
          <a:p>
            <a:pPr algn="ctr">
              <a:defRPr sz="1100" b="0">
                <a:solidFill>
                  <a:srgbClr val="BBBBCC"/>
                </a:solidFill>
                <a:latin typeface="Microsoft YaHei"/>
              </a:defRPr>
            </a:pPr>
            <a:r>
              <a:t>正态分布, MCAR</a:t>
            </a:r>
          </a:p>
        </p:txBody>
      </p:sp>
      <p:sp>
        <p:nvSpPr>
          <p:cNvPr id="36" name="Rectangle 35"/>
          <p:cNvSpPr/>
          <p:nvPr/>
        </p:nvSpPr>
        <p:spPr>
          <a:xfrm>
            <a:off x="548640" y="3200400"/>
            <a:ext cx="13716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3200400"/>
            <a:ext cx="1371600" cy="457200"/>
          </a:xfrm>
          <a:prstGeom prst="rect">
            <a:avLst/>
          </a:prstGeom>
          <a:noFill/>
        </p:spPr>
        <p:txBody>
          <a:bodyPr wrap="square">
            <a:spAutoFit/>
          </a:bodyPr>
          <a:lstStyle/>
          <a:p>
            <a:pPr algn="ctr">
              <a:defRPr sz="1100" b="1">
                <a:solidFill>
                  <a:srgbClr val="00D2FF"/>
                </a:solidFill>
                <a:latin typeface="Microsoft YaHei"/>
              </a:defRPr>
            </a:pPr>
            <a:r>
              <a:t>中位数替代</a:t>
            </a:r>
          </a:p>
        </p:txBody>
      </p:sp>
      <p:sp>
        <p:nvSpPr>
          <p:cNvPr id="38" name="Rectangle 37"/>
          <p:cNvSpPr/>
          <p:nvPr/>
        </p:nvSpPr>
        <p:spPr>
          <a:xfrm>
            <a:off x="1920240" y="3200400"/>
            <a:ext cx="18288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920240" y="3200400"/>
            <a:ext cx="1828800" cy="457200"/>
          </a:xfrm>
          <a:prstGeom prst="rect">
            <a:avLst/>
          </a:prstGeom>
          <a:noFill/>
        </p:spPr>
        <p:txBody>
          <a:bodyPr wrap="square">
            <a:spAutoFit/>
          </a:bodyPr>
          <a:lstStyle/>
          <a:p>
            <a:pPr algn="ctr">
              <a:defRPr sz="1100" b="0">
                <a:solidFill>
                  <a:srgbClr val="BBBBCC"/>
                </a:solidFill>
                <a:latin typeface="Microsoft YaHei"/>
              </a:defRPr>
            </a:pPr>
            <a:r>
              <a:t>fillna(median)</a:t>
            </a:r>
          </a:p>
        </p:txBody>
      </p:sp>
      <p:sp>
        <p:nvSpPr>
          <p:cNvPr id="40" name="Rectangle 39"/>
          <p:cNvSpPr/>
          <p:nvPr/>
        </p:nvSpPr>
        <p:spPr>
          <a:xfrm>
            <a:off x="3749040" y="3200400"/>
            <a:ext cx="164592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749040" y="3200400"/>
            <a:ext cx="1645920" cy="457200"/>
          </a:xfrm>
          <a:prstGeom prst="rect">
            <a:avLst/>
          </a:prstGeom>
          <a:noFill/>
        </p:spPr>
        <p:txBody>
          <a:bodyPr wrap="square">
            <a:spAutoFit/>
          </a:bodyPr>
          <a:lstStyle/>
          <a:p>
            <a:pPr algn="ctr">
              <a:defRPr sz="1100" b="0">
                <a:solidFill>
                  <a:srgbClr val="BBBBCC"/>
                </a:solidFill>
                <a:latin typeface="Microsoft YaHei"/>
              </a:defRPr>
            </a:pPr>
            <a:r>
              <a:t>对异常值鲁棒</a:t>
            </a:r>
          </a:p>
        </p:txBody>
      </p:sp>
      <p:sp>
        <p:nvSpPr>
          <p:cNvPr id="42" name="Rectangle 41"/>
          <p:cNvSpPr/>
          <p:nvPr/>
        </p:nvSpPr>
        <p:spPr>
          <a:xfrm>
            <a:off x="5394960" y="3200400"/>
            <a:ext cx="164592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394960" y="3200400"/>
            <a:ext cx="1645920" cy="457200"/>
          </a:xfrm>
          <a:prstGeom prst="rect">
            <a:avLst/>
          </a:prstGeom>
          <a:noFill/>
        </p:spPr>
        <p:txBody>
          <a:bodyPr wrap="square">
            <a:spAutoFit/>
          </a:bodyPr>
          <a:lstStyle/>
          <a:p>
            <a:pPr algn="ctr">
              <a:defRPr sz="1100" b="0">
                <a:solidFill>
                  <a:srgbClr val="BBBBCC"/>
                </a:solidFill>
                <a:latin typeface="Microsoft YaHei"/>
              </a:defRPr>
            </a:pPr>
            <a:r>
              <a:t>低估方差</a:t>
            </a:r>
          </a:p>
        </p:txBody>
      </p:sp>
      <p:sp>
        <p:nvSpPr>
          <p:cNvPr id="44" name="Rectangle 43"/>
          <p:cNvSpPr/>
          <p:nvPr/>
        </p:nvSpPr>
        <p:spPr>
          <a:xfrm>
            <a:off x="7040880" y="3200400"/>
            <a:ext cx="201168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040880" y="3200400"/>
            <a:ext cx="2011680" cy="457200"/>
          </a:xfrm>
          <a:prstGeom prst="rect">
            <a:avLst/>
          </a:prstGeom>
          <a:noFill/>
        </p:spPr>
        <p:txBody>
          <a:bodyPr wrap="square">
            <a:spAutoFit/>
          </a:bodyPr>
          <a:lstStyle/>
          <a:p>
            <a:pPr algn="ctr">
              <a:defRPr sz="1100" b="0">
                <a:solidFill>
                  <a:srgbClr val="BBBBCC"/>
                </a:solidFill>
                <a:latin typeface="Microsoft YaHei"/>
              </a:defRPr>
            </a:pPr>
            <a:r>
              <a:t>偏斜分布</a:t>
            </a:r>
          </a:p>
        </p:txBody>
      </p:sp>
      <p:sp>
        <p:nvSpPr>
          <p:cNvPr id="46" name="Rectangle 45"/>
          <p:cNvSpPr/>
          <p:nvPr/>
        </p:nvSpPr>
        <p:spPr>
          <a:xfrm>
            <a:off x="548640" y="3657600"/>
            <a:ext cx="137160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48640" y="3657600"/>
            <a:ext cx="1371600" cy="457200"/>
          </a:xfrm>
          <a:prstGeom prst="rect">
            <a:avLst/>
          </a:prstGeom>
          <a:noFill/>
        </p:spPr>
        <p:txBody>
          <a:bodyPr wrap="square">
            <a:spAutoFit/>
          </a:bodyPr>
          <a:lstStyle/>
          <a:p>
            <a:pPr algn="ctr">
              <a:defRPr sz="1100" b="1">
                <a:solidFill>
                  <a:srgbClr val="00D2FF"/>
                </a:solidFill>
                <a:latin typeface="Microsoft YaHei"/>
              </a:defRPr>
            </a:pPr>
            <a:r>
              <a:t>插值</a:t>
            </a:r>
          </a:p>
        </p:txBody>
      </p:sp>
      <p:sp>
        <p:nvSpPr>
          <p:cNvPr id="48" name="Rectangle 47"/>
          <p:cNvSpPr/>
          <p:nvPr/>
        </p:nvSpPr>
        <p:spPr>
          <a:xfrm>
            <a:off x="1920240" y="3657600"/>
            <a:ext cx="182880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920240" y="3657600"/>
            <a:ext cx="1828800" cy="457200"/>
          </a:xfrm>
          <a:prstGeom prst="rect">
            <a:avLst/>
          </a:prstGeom>
          <a:noFill/>
        </p:spPr>
        <p:txBody>
          <a:bodyPr wrap="square">
            <a:spAutoFit/>
          </a:bodyPr>
          <a:lstStyle/>
          <a:p>
            <a:pPr algn="ctr">
              <a:defRPr sz="1100" b="0">
                <a:solidFill>
                  <a:srgbClr val="BBBBCC"/>
                </a:solidFill>
                <a:latin typeface="Microsoft YaHei"/>
              </a:defRPr>
            </a:pPr>
            <a:r>
              <a:t>interpolate()</a:t>
            </a:r>
          </a:p>
        </p:txBody>
      </p:sp>
      <p:sp>
        <p:nvSpPr>
          <p:cNvPr id="50" name="Rectangle 49"/>
          <p:cNvSpPr/>
          <p:nvPr/>
        </p:nvSpPr>
        <p:spPr>
          <a:xfrm>
            <a:off x="3749040" y="3657600"/>
            <a:ext cx="164592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749040" y="3657600"/>
            <a:ext cx="1645920" cy="457200"/>
          </a:xfrm>
          <a:prstGeom prst="rect">
            <a:avLst/>
          </a:prstGeom>
          <a:noFill/>
        </p:spPr>
        <p:txBody>
          <a:bodyPr wrap="square">
            <a:spAutoFit/>
          </a:bodyPr>
          <a:lstStyle/>
          <a:p>
            <a:pPr algn="ctr">
              <a:defRPr sz="1100" b="0">
                <a:solidFill>
                  <a:srgbClr val="BBBBCC"/>
                </a:solidFill>
                <a:latin typeface="Microsoft YaHei"/>
              </a:defRPr>
            </a:pPr>
            <a:r>
              <a:t>保持连续性</a:t>
            </a:r>
          </a:p>
        </p:txBody>
      </p:sp>
      <p:sp>
        <p:nvSpPr>
          <p:cNvPr id="52" name="Rectangle 51"/>
          <p:cNvSpPr/>
          <p:nvPr/>
        </p:nvSpPr>
        <p:spPr>
          <a:xfrm>
            <a:off x="5394960" y="3657600"/>
            <a:ext cx="164592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394960" y="3657600"/>
            <a:ext cx="1645920" cy="457200"/>
          </a:xfrm>
          <a:prstGeom prst="rect">
            <a:avLst/>
          </a:prstGeom>
          <a:noFill/>
        </p:spPr>
        <p:txBody>
          <a:bodyPr wrap="square">
            <a:spAutoFit/>
          </a:bodyPr>
          <a:lstStyle/>
          <a:p>
            <a:pPr algn="ctr">
              <a:defRPr sz="1100" b="0">
                <a:solidFill>
                  <a:srgbClr val="BBBBCC"/>
                </a:solidFill>
                <a:latin typeface="Microsoft YaHei"/>
              </a:defRPr>
            </a:pPr>
            <a:r>
              <a:t>外推风险</a:t>
            </a:r>
          </a:p>
        </p:txBody>
      </p:sp>
      <p:sp>
        <p:nvSpPr>
          <p:cNvPr id="54" name="Rectangle 53"/>
          <p:cNvSpPr/>
          <p:nvPr/>
        </p:nvSpPr>
        <p:spPr>
          <a:xfrm>
            <a:off x="7040880" y="3657600"/>
            <a:ext cx="201168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040880" y="3657600"/>
            <a:ext cx="2011680" cy="457200"/>
          </a:xfrm>
          <a:prstGeom prst="rect">
            <a:avLst/>
          </a:prstGeom>
          <a:noFill/>
        </p:spPr>
        <p:txBody>
          <a:bodyPr wrap="square">
            <a:spAutoFit/>
          </a:bodyPr>
          <a:lstStyle/>
          <a:p>
            <a:pPr algn="ctr">
              <a:defRPr sz="1100" b="0">
                <a:solidFill>
                  <a:srgbClr val="BBBBCC"/>
                </a:solidFill>
                <a:latin typeface="Microsoft YaHei"/>
              </a:defRPr>
            </a:pPr>
            <a:r>
              <a:t>时间序列数据</a:t>
            </a:r>
          </a:p>
        </p:txBody>
      </p:sp>
      <p:sp>
        <p:nvSpPr>
          <p:cNvPr id="56" name="Rectangle 55"/>
          <p:cNvSpPr/>
          <p:nvPr/>
        </p:nvSpPr>
        <p:spPr>
          <a:xfrm>
            <a:off x="548640" y="4114800"/>
            <a:ext cx="13716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8640" y="4114800"/>
            <a:ext cx="1371600" cy="457200"/>
          </a:xfrm>
          <a:prstGeom prst="rect">
            <a:avLst/>
          </a:prstGeom>
          <a:noFill/>
        </p:spPr>
        <p:txBody>
          <a:bodyPr wrap="square">
            <a:spAutoFit/>
          </a:bodyPr>
          <a:lstStyle/>
          <a:p>
            <a:pPr algn="ctr">
              <a:defRPr sz="1100" b="1">
                <a:solidFill>
                  <a:srgbClr val="00D2FF"/>
                </a:solidFill>
                <a:latin typeface="Microsoft YaHei"/>
              </a:defRPr>
            </a:pPr>
            <a:r>
              <a:t>分组替代</a:t>
            </a:r>
          </a:p>
        </p:txBody>
      </p:sp>
      <p:sp>
        <p:nvSpPr>
          <p:cNvPr id="58" name="Rectangle 57"/>
          <p:cNvSpPr/>
          <p:nvPr/>
        </p:nvSpPr>
        <p:spPr>
          <a:xfrm>
            <a:off x="1920240" y="4114800"/>
            <a:ext cx="18288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920240" y="4114800"/>
            <a:ext cx="1828800" cy="457200"/>
          </a:xfrm>
          <a:prstGeom prst="rect">
            <a:avLst/>
          </a:prstGeom>
          <a:noFill/>
        </p:spPr>
        <p:txBody>
          <a:bodyPr wrap="square">
            <a:spAutoFit/>
          </a:bodyPr>
          <a:lstStyle/>
          <a:p>
            <a:pPr algn="ctr">
              <a:defRPr sz="1100" b="0">
                <a:solidFill>
                  <a:srgbClr val="BBBBCC"/>
                </a:solidFill>
                <a:latin typeface="Microsoft YaHei"/>
              </a:defRPr>
            </a:pPr>
            <a:r>
              <a:t>groupby.transform</a:t>
            </a:r>
          </a:p>
        </p:txBody>
      </p:sp>
      <p:sp>
        <p:nvSpPr>
          <p:cNvPr id="60" name="Rectangle 59"/>
          <p:cNvSpPr/>
          <p:nvPr/>
        </p:nvSpPr>
        <p:spPr>
          <a:xfrm>
            <a:off x="3749040" y="4114800"/>
            <a:ext cx="164592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749040" y="4114800"/>
            <a:ext cx="1645920" cy="457200"/>
          </a:xfrm>
          <a:prstGeom prst="rect">
            <a:avLst/>
          </a:prstGeom>
          <a:noFill/>
        </p:spPr>
        <p:txBody>
          <a:bodyPr wrap="square">
            <a:spAutoFit/>
          </a:bodyPr>
          <a:lstStyle/>
          <a:p>
            <a:pPr algn="ctr">
              <a:defRPr sz="1100" b="0">
                <a:solidFill>
                  <a:srgbClr val="BBBBCC"/>
                </a:solidFill>
                <a:latin typeface="Microsoft YaHei"/>
              </a:defRPr>
            </a:pPr>
            <a:r>
              <a:t>反映组特性</a:t>
            </a:r>
          </a:p>
        </p:txBody>
      </p:sp>
      <p:sp>
        <p:nvSpPr>
          <p:cNvPr id="62" name="Rectangle 61"/>
          <p:cNvSpPr/>
          <p:nvPr/>
        </p:nvSpPr>
        <p:spPr>
          <a:xfrm>
            <a:off x="5394960" y="4114800"/>
            <a:ext cx="164592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394960" y="4114800"/>
            <a:ext cx="1645920" cy="457200"/>
          </a:xfrm>
          <a:prstGeom prst="rect">
            <a:avLst/>
          </a:prstGeom>
          <a:noFill/>
        </p:spPr>
        <p:txBody>
          <a:bodyPr wrap="square">
            <a:spAutoFit/>
          </a:bodyPr>
          <a:lstStyle/>
          <a:p>
            <a:pPr algn="ctr">
              <a:defRPr sz="1100" b="0">
                <a:solidFill>
                  <a:srgbClr val="BBBBCC"/>
                </a:solidFill>
                <a:latin typeface="Microsoft YaHei"/>
              </a:defRPr>
            </a:pPr>
            <a:r>
              <a:t>实现复杂</a:t>
            </a:r>
          </a:p>
        </p:txBody>
      </p:sp>
      <p:sp>
        <p:nvSpPr>
          <p:cNvPr id="64" name="Rectangle 63"/>
          <p:cNvSpPr/>
          <p:nvPr/>
        </p:nvSpPr>
        <p:spPr>
          <a:xfrm>
            <a:off x="7040880" y="4114800"/>
            <a:ext cx="201168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040880" y="4114800"/>
            <a:ext cx="2011680" cy="457200"/>
          </a:xfrm>
          <a:prstGeom prst="rect">
            <a:avLst/>
          </a:prstGeom>
          <a:noFill/>
        </p:spPr>
        <p:txBody>
          <a:bodyPr wrap="square">
            <a:spAutoFit/>
          </a:bodyPr>
          <a:lstStyle/>
          <a:p>
            <a:pPr algn="ctr">
              <a:defRPr sz="1100" b="0">
                <a:solidFill>
                  <a:srgbClr val="BBBBCC"/>
                </a:solidFill>
                <a:latin typeface="Microsoft YaHei"/>
              </a:defRPr>
            </a:pPr>
            <a:r>
              <a:t>组间差异大时</a:t>
            </a:r>
          </a:p>
        </p:txBody>
      </p:sp>
      <p:sp>
        <p:nvSpPr>
          <p:cNvPr id="66" name="Rounded Rectangle 65"/>
          <p:cNvSpPr/>
          <p:nvPr/>
        </p:nvSpPr>
        <p:spPr>
          <a:xfrm>
            <a:off x="548640" y="4389120"/>
            <a:ext cx="10972800" cy="228600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31520" y="4526280"/>
            <a:ext cx="10607040" cy="2011680"/>
          </a:xfrm>
          <a:prstGeom prst="rect">
            <a:avLst/>
          </a:prstGeom>
          <a:noFill/>
        </p:spPr>
        <p:txBody>
          <a:bodyPr wrap="square">
            <a:spAutoFit/>
          </a:bodyPr>
          <a:lstStyle/>
          <a:p>
            <a:pPr>
              <a:spcAft>
                <a:spcPts val="200"/>
              </a:spcAft>
              <a:defRPr sz="1000">
                <a:solidFill>
                  <a:srgbClr val="00E696"/>
                </a:solidFill>
                <a:latin typeface="Consolas"/>
              </a:defRPr>
            </a:pPr>
            <a:r>
              <a:t>df = pd.DataFrame({'A': [1, np.nan, 3, np.nan, 5], 'B': [10,20,np.nan,40,50], '分组': ['X','X','Y','Y','Y']})</a:t>
            </a:r>
          </a:p>
          <a:p>
            <a:pPr>
              <a:spcAft>
                <a:spcPts val="200"/>
              </a:spcAft>
              <a:defRPr sz="1000">
                <a:solidFill>
                  <a:srgbClr val="00E696"/>
                </a:solidFill>
                <a:latin typeface="Consolas"/>
              </a:defRPr>
            </a:pPr>
          </a:p>
          <a:p>
            <a:pPr>
              <a:spcAft>
                <a:spcPts val="200"/>
              </a:spcAft>
              <a:defRPr sz="1000">
                <a:solidFill>
                  <a:srgbClr val="00E696"/>
                </a:solidFill>
                <a:latin typeface="Consolas"/>
              </a:defRPr>
            </a:pPr>
            <a:r>
              <a:t># 各策略比较</a:t>
            </a:r>
          </a:p>
          <a:p>
            <a:pPr>
              <a:spcAft>
                <a:spcPts val="200"/>
              </a:spcAft>
              <a:defRPr sz="1000">
                <a:solidFill>
                  <a:srgbClr val="00E696"/>
                </a:solidFill>
                <a:latin typeface="Consolas"/>
              </a:defRPr>
            </a:pPr>
            <a:r>
              <a:t>print('删除:',   df['A'].dropna().values)                              # 删除NaN</a:t>
            </a:r>
          </a:p>
          <a:p>
            <a:pPr>
              <a:spcAft>
                <a:spcPts val="200"/>
              </a:spcAft>
              <a:defRPr sz="1000">
                <a:solidFill>
                  <a:srgbClr val="00E696"/>
                </a:solidFill>
                <a:latin typeface="Consolas"/>
              </a:defRPr>
            </a:pPr>
            <a:r>
              <a:t>print('均值:',   df['A'].fillna(df['A'].mean()).values)               # 用整体均值替代</a:t>
            </a:r>
          </a:p>
          <a:p>
            <a:pPr>
              <a:spcAft>
                <a:spcPts val="200"/>
              </a:spcAft>
              <a:defRPr sz="1000">
                <a:solidFill>
                  <a:srgbClr val="00E696"/>
                </a:solidFill>
                <a:latin typeface="Consolas"/>
              </a:defRPr>
            </a:pPr>
            <a:r>
              <a:t>print('中位数:', df['A'].fillna(df['A'].median()).values)             # 用整体中位数替代</a:t>
            </a:r>
          </a:p>
          <a:p>
            <a:pPr>
              <a:spcAft>
                <a:spcPts val="200"/>
              </a:spcAft>
              <a:defRPr sz="1000">
                <a:solidFill>
                  <a:srgbClr val="00E696"/>
                </a:solidFill>
                <a:latin typeface="Consolas"/>
              </a:defRPr>
            </a:pPr>
            <a:r>
              <a:t>print('插值:',   df['A'].interpolate().values)                        # 线性插值</a:t>
            </a:r>
          </a:p>
          <a:p>
            <a:pPr>
              <a:spcAft>
                <a:spcPts val="200"/>
              </a:spcAft>
              <a:defRPr sz="1000">
                <a:solidFill>
                  <a:srgbClr val="00E696"/>
                </a:solidFill>
                <a:latin typeface="Consolas"/>
              </a:defRPr>
            </a:pPr>
            <a:r>
              <a:t>print('分组:', df.groupby('分组')['A'].transform(lambda x: x.fillna(x.mean())).values)  # 用组均值替代</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4</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异常值检测3种方法</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IQR, Z-score, 可视化方法</a:t>
            </a:r>
          </a:p>
        </p:txBody>
      </p:sp>
      <p:sp>
        <p:nvSpPr>
          <p:cNvPr id="6" name="Rounded Rectangle 5"/>
          <p:cNvSpPr/>
          <p:nvPr/>
        </p:nvSpPr>
        <p:spPr>
          <a:xfrm>
            <a:off x="548640" y="1828800"/>
            <a:ext cx="5303520" cy="2286000"/>
          </a:xfrm>
          <a:prstGeom prst="roundRect">
            <a:avLst>
              <a:gd name="adj" fmla="val 5000"/>
            </a:avLst>
          </a:prstGeom>
          <a:solidFill>
            <a:srgbClr val="25253D"/>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20240"/>
            <a:ext cx="4937760" cy="365760"/>
          </a:xfrm>
          <a:prstGeom prst="rect">
            <a:avLst/>
          </a:prstGeom>
          <a:noFill/>
        </p:spPr>
        <p:txBody>
          <a:bodyPr wrap="square">
            <a:spAutoFit/>
          </a:bodyPr>
          <a:lstStyle/>
          <a:p>
            <a:pPr algn="l">
              <a:defRPr sz="1500" b="1">
                <a:solidFill>
                  <a:srgbClr val="00D2FF"/>
                </a:solidFill>
                <a:latin typeface="Microsoft YaHei"/>
              </a:defRPr>
            </a:pPr>
            <a:r>
              <a:t>IQR方法 (四分位距)</a:t>
            </a:r>
          </a:p>
        </p:txBody>
      </p:sp>
      <p:sp>
        <p:nvSpPr>
          <p:cNvPr id="8" name="TextBox 7"/>
          <p:cNvSpPr txBox="1"/>
          <p:nvPr/>
        </p:nvSpPr>
        <p:spPr>
          <a:xfrm>
            <a:off x="731520" y="2286000"/>
            <a:ext cx="4937760" cy="1737360"/>
          </a:xfrm>
          <a:prstGeom prst="rect">
            <a:avLst/>
          </a:prstGeom>
          <a:noFill/>
        </p:spPr>
        <p:txBody>
          <a:bodyPr wrap="square">
            <a:spAutoFit/>
          </a:bodyPr>
          <a:lstStyle/>
          <a:p>
            <a:pPr>
              <a:spcAft>
                <a:spcPts val="400"/>
              </a:spcAft>
              <a:defRPr sz="1300">
                <a:solidFill>
                  <a:srgbClr val="BBBBCC"/>
                </a:solidFill>
                <a:latin typeface="Microsoft YaHei"/>
              </a:defRPr>
            </a:pPr>
            <a:r>
              <a:t>异常值范围: Q1 - 1.5*IQR &lt; x &lt; Q3 + 1.5*IQR</a:t>
            </a:r>
          </a:p>
          <a:p>
            <a:pPr>
              <a:spcAft>
                <a:spcPts val="400"/>
              </a:spcAft>
              <a:defRPr sz="1300">
                <a:solidFill>
                  <a:srgbClr val="BBBBCC"/>
                </a:solidFill>
                <a:latin typeface="Microsoft YaHei"/>
              </a:defRPr>
            </a:pPr>
            <a:r>
              <a:t>IQR = Q3 - Q1 (四分位距)</a:t>
            </a:r>
          </a:p>
          <a:p>
            <a:pPr>
              <a:spcAft>
                <a:spcPts val="400"/>
              </a:spcAft>
              <a:defRPr sz="1300">
                <a:solidFill>
                  <a:srgbClr val="BBBBCC"/>
                </a:solidFill>
                <a:latin typeface="Microsoft YaHei"/>
              </a:defRPr>
            </a:pPr>
            <a:r>
              <a:t>不需要正态分布假设</a:t>
            </a:r>
          </a:p>
          <a:p>
            <a:pPr>
              <a:spcAft>
                <a:spcPts val="400"/>
              </a:spcAft>
              <a:defRPr sz="1300">
                <a:solidFill>
                  <a:srgbClr val="BBBBCC"/>
                </a:solidFill>
                <a:latin typeface="Microsoft YaHei"/>
              </a:defRPr>
            </a:pPr>
            <a:r>
              <a:t>与箱线图的标准相同</a:t>
            </a:r>
          </a:p>
        </p:txBody>
      </p:sp>
      <p:sp>
        <p:nvSpPr>
          <p:cNvPr id="9" name="Rounded Rectangle 8"/>
          <p:cNvSpPr/>
          <p:nvPr/>
        </p:nvSpPr>
        <p:spPr>
          <a:xfrm>
            <a:off x="6217920" y="1828800"/>
            <a:ext cx="5303520" cy="2286000"/>
          </a:xfrm>
          <a:prstGeom prst="roundRect">
            <a:avLst>
              <a:gd name="adj" fmla="val 5000"/>
            </a:avLst>
          </a:prstGeom>
          <a:solidFill>
            <a:srgbClr val="25253D"/>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937760" cy="365760"/>
          </a:xfrm>
          <a:prstGeom prst="rect">
            <a:avLst/>
          </a:prstGeom>
          <a:noFill/>
        </p:spPr>
        <p:txBody>
          <a:bodyPr wrap="square">
            <a:spAutoFit/>
          </a:bodyPr>
          <a:lstStyle/>
          <a:p>
            <a:pPr algn="l">
              <a:defRPr sz="1500" b="1">
                <a:solidFill>
                  <a:srgbClr val="FF8C00"/>
                </a:solidFill>
                <a:latin typeface="Microsoft YaHei"/>
              </a:defRPr>
            </a:pPr>
            <a:r>
              <a:t>Z-score方法</a:t>
            </a:r>
          </a:p>
        </p:txBody>
      </p:sp>
      <p:sp>
        <p:nvSpPr>
          <p:cNvPr id="11" name="TextBox 10"/>
          <p:cNvSpPr txBox="1"/>
          <p:nvPr/>
        </p:nvSpPr>
        <p:spPr>
          <a:xfrm>
            <a:off x="6400800" y="2286000"/>
            <a:ext cx="4937760" cy="1737360"/>
          </a:xfrm>
          <a:prstGeom prst="rect">
            <a:avLst/>
          </a:prstGeom>
          <a:noFill/>
        </p:spPr>
        <p:txBody>
          <a:bodyPr wrap="square">
            <a:spAutoFit/>
          </a:bodyPr>
          <a:lstStyle/>
          <a:p>
            <a:pPr>
              <a:spcAft>
                <a:spcPts val="400"/>
              </a:spcAft>
              <a:defRPr sz="1300">
                <a:solidFill>
                  <a:srgbClr val="BBBBCC"/>
                </a:solidFill>
                <a:latin typeface="Microsoft YaHei"/>
              </a:defRPr>
            </a:pPr>
            <a:r>
              <a:t>z = (x - mu) / sigma</a:t>
            </a:r>
          </a:p>
          <a:p>
            <a:pPr>
              <a:spcAft>
                <a:spcPts val="400"/>
              </a:spcAft>
              <a:defRPr sz="1300">
                <a:solidFill>
                  <a:srgbClr val="BBBBCC"/>
                </a:solidFill>
                <a:latin typeface="Microsoft YaHei"/>
              </a:defRPr>
            </a:pPr>
            <a:r>
              <a:t>|z| &gt; 3 时判定为异常值</a:t>
            </a:r>
          </a:p>
          <a:p>
            <a:pPr>
              <a:spcAft>
                <a:spcPts val="400"/>
              </a:spcAft>
              <a:defRPr sz="1300">
                <a:solidFill>
                  <a:srgbClr val="BBBBCC"/>
                </a:solidFill>
                <a:latin typeface="Microsoft YaHei"/>
              </a:defRPr>
            </a:pPr>
            <a:r>
              <a:t>需要正态分布假设</a:t>
            </a:r>
          </a:p>
          <a:p>
            <a:pPr>
              <a:spcAft>
                <a:spcPts val="400"/>
              </a:spcAft>
              <a:defRPr sz="1300">
                <a:solidFill>
                  <a:srgbClr val="BBBBCC"/>
                </a:solidFill>
                <a:latin typeface="Microsoft YaHei"/>
              </a:defRPr>
            </a:pPr>
            <a:r>
              <a:t>对均值和标准差敏感</a:t>
            </a:r>
          </a:p>
        </p:txBody>
      </p:sp>
      <p:sp>
        <p:nvSpPr>
          <p:cNvPr id="12" name="Rounded Rectangle 11"/>
          <p:cNvSpPr/>
          <p:nvPr/>
        </p:nvSpPr>
        <p:spPr>
          <a:xfrm>
            <a:off x="548640" y="4389120"/>
            <a:ext cx="5303520" cy="228600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526280"/>
            <a:ext cx="4937760" cy="2011680"/>
          </a:xfrm>
          <a:prstGeom prst="rect">
            <a:avLst/>
          </a:prstGeom>
          <a:noFill/>
        </p:spPr>
        <p:txBody>
          <a:bodyPr wrap="square">
            <a:spAutoFit/>
          </a:bodyPr>
          <a:lstStyle/>
          <a:p>
            <a:pPr>
              <a:spcAft>
                <a:spcPts val="200"/>
              </a:spcAft>
              <a:defRPr sz="1100">
                <a:solidFill>
                  <a:srgbClr val="00E696"/>
                </a:solidFill>
                <a:latin typeface="Consolas"/>
              </a:defRPr>
            </a:pPr>
            <a:r>
              <a:t>def iqr_outlier(series):</a:t>
            </a:r>
          </a:p>
          <a:p>
            <a:pPr>
              <a:spcAft>
                <a:spcPts val="200"/>
              </a:spcAft>
              <a:defRPr sz="1100">
                <a:solidFill>
                  <a:srgbClr val="00E696"/>
                </a:solidFill>
                <a:latin typeface="Consolas"/>
              </a:defRPr>
            </a:pPr>
            <a:r>
              <a:t>    Q1, Q3 = series.quantile([0.25, 0.75])</a:t>
            </a:r>
          </a:p>
          <a:p>
            <a:pPr>
              <a:spcAft>
                <a:spcPts val="200"/>
              </a:spcAft>
              <a:defRPr sz="1100">
                <a:solidFill>
                  <a:srgbClr val="00E696"/>
                </a:solidFill>
                <a:latin typeface="Consolas"/>
              </a:defRPr>
            </a:pPr>
            <a:r>
              <a:t>    IQR = Q3 - Q1</a:t>
            </a:r>
          </a:p>
          <a:p>
            <a:pPr>
              <a:spcAft>
                <a:spcPts val="200"/>
              </a:spcAft>
              <a:defRPr sz="1100">
                <a:solidFill>
                  <a:srgbClr val="00E696"/>
                </a:solidFill>
                <a:latin typeface="Consolas"/>
              </a:defRPr>
            </a:pPr>
            <a:r>
              <a:t>    lower = Q1 - 1.5 * IQR</a:t>
            </a:r>
          </a:p>
          <a:p>
            <a:pPr>
              <a:spcAft>
                <a:spcPts val="200"/>
              </a:spcAft>
              <a:defRPr sz="1100">
                <a:solidFill>
                  <a:srgbClr val="00E696"/>
                </a:solidFill>
                <a:latin typeface="Consolas"/>
              </a:defRPr>
            </a:pPr>
            <a:r>
              <a:t>    upper = Q3 + 1.5 * IQR</a:t>
            </a:r>
          </a:p>
          <a:p>
            <a:pPr>
              <a:spcAft>
                <a:spcPts val="200"/>
              </a:spcAft>
              <a:defRPr sz="1100">
                <a:solidFill>
                  <a:srgbClr val="00E696"/>
                </a:solidFill>
                <a:latin typeface="Consolas"/>
              </a:defRPr>
            </a:pPr>
            <a:r>
              <a:t>    return (series &lt; lower) | (series &gt; upper)</a:t>
            </a:r>
          </a:p>
        </p:txBody>
      </p:sp>
      <p:sp>
        <p:nvSpPr>
          <p:cNvPr id="14" name="Rounded Rectangle 13"/>
          <p:cNvSpPr/>
          <p:nvPr/>
        </p:nvSpPr>
        <p:spPr>
          <a:xfrm>
            <a:off x="6217920" y="4389120"/>
            <a:ext cx="5303520" cy="228600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526280"/>
            <a:ext cx="4937760" cy="2011680"/>
          </a:xfrm>
          <a:prstGeom prst="rect">
            <a:avLst/>
          </a:prstGeom>
          <a:noFill/>
        </p:spPr>
        <p:txBody>
          <a:bodyPr wrap="square">
            <a:spAutoFit/>
          </a:bodyPr>
          <a:lstStyle/>
          <a:p>
            <a:pPr>
              <a:spcAft>
                <a:spcPts val="200"/>
              </a:spcAft>
              <a:defRPr sz="1100">
                <a:solidFill>
                  <a:srgbClr val="00E696"/>
                </a:solidFill>
                <a:latin typeface="Consolas"/>
              </a:defRPr>
            </a:pPr>
            <a:r>
              <a:t>def zscore_outlier(series, threshold=3):</a:t>
            </a:r>
          </a:p>
          <a:p>
            <a:pPr>
              <a:spcAft>
                <a:spcPts val="200"/>
              </a:spcAft>
              <a:defRPr sz="1100">
                <a:solidFill>
                  <a:srgbClr val="00E696"/>
                </a:solidFill>
                <a:latin typeface="Consolas"/>
              </a:defRPr>
            </a:pPr>
            <a:r>
              <a:t>    z = (series - series.mean()) / series.std()</a:t>
            </a:r>
          </a:p>
          <a:p>
            <a:pPr>
              <a:spcAft>
                <a:spcPts val="200"/>
              </a:spcAft>
              <a:defRPr sz="1100">
                <a:solidFill>
                  <a:srgbClr val="00E696"/>
                </a:solidFill>
                <a:latin typeface="Consolas"/>
              </a:defRPr>
            </a:pPr>
            <a:r>
              <a:t>    return abs(z) &gt; threshold</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使用示例</a:t>
            </a:r>
          </a:p>
          <a:p>
            <a:pPr>
              <a:spcAft>
                <a:spcPts val="200"/>
              </a:spcAft>
              <a:defRPr sz="1100">
                <a:solidFill>
                  <a:srgbClr val="00E696"/>
                </a:solidFill>
                <a:latin typeface="Consolas"/>
              </a:defRPr>
            </a:pPr>
            <a:r>
              <a:t>mask = iqr_outlier(df['年薪'])</a:t>
            </a:r>
          </a:p>
          <a:p>
            <a:pPr>
              <a:spcAft>
                <a:spcPts val="200"/>
              </a:spcAft>
              <a:defRPr sz="1100">
                <a:solidFill>
                  <a:srgbClr val="00E696"/>
                </a:solidFill>
                <a:latin typeface="Consolas"/>
              </a:defRPr>
            </a:pPr>
            <a:r>
              <a:t>df_clean = df[~mask]  # 去除异常值</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4</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特征缩放3种方法</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StandardScaler, MinMaxScaler, RobustScaler</a:t>
            </a:r>
          </a:p>
        </p:txBody>
      </p:sp>
      <p:sp>
        <p:nvSpPr>
          <p:cNvPr id="6" name="Rectangle 5"/>
          <p:cNvSpPr/>
          <p:nvPr/>
        </p:nvSpPr>
        <p:spPr>
          <a:xfrm>
            <a:off x="548640" y="1828800"/>
            <a:ext cx="2286000" cy="457200"/>
          </a:xfrm>
          <a:prstGeom prst="rect">
            <a:avLst/>
          </a:prstGeom>
          <a:solidFill>
            <a:srgbClr val="00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28800"/>
            <a:ext cx="2286000" cy="457200"/>
          </a:xfrm>
          <a:prstGeom prst="rect">
            <a:avLst/>
          </a:prstGeom>
          <a:noFill/>
        </p:spPr>
        <p:txBody>
          <a:bodyPr wrap="square">
            <a:spAutoFit/>
          </a:bodyPr>
          <a:lstStyle/>
          <a:p>
            <a:pPr algn="ctr">
              <a:defRPr sz="1400" b="1">
                <a:solidFill>
                  <a:srgbClr val="FFFFFF"/>
                </a:solidFill>
                <a:latin typeface="Microsoft YaHei"/>
              </a:defRPr>
            </a:pPr>
            <a:r>
              <a:t>缩放器</a:t>
            </a:r>
          </a:p>
        </p:txBody>
      </p:sp>
      <p:sp>
        <p:nvSpPr>
          <p:cNvPr id="8" name="Rectangle 7"/>
          <p:cNvSpPr/>
          <p:nvPr/>
        </p:nvSpPr>
        <p:spPr>
          <a:xfrm>
            <a:off x="2834640" y="1828800"/>
            <a:ext cx="2743200" cy="457200"/>
          </a:xfrm>
          <a:prstGeom prst="rect">
            <a:avLst/>
          </a:prstGeom>
          <a:solidFill>
            <a:srgbClr val="00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34640" y="1828800"/>
            <a:ext cx="2743200" cy="457200"/>
          </a:xfrm>
          <a:prstGeom prst="rect">
            <a:avLst/>
          </a:prstGeom>
          <a:noFill/>
        </p:spPr>
        <p:txBody>
          <a:bodyPr wrap="square">
            <a:spAutoFit/>
          </a:bodyPr>
          <a:lstStyle/>
          <a:p>
            <a:pPr algn="ctr">
              <a:defRPr sz="1400" b="1">
                <a:solidFill>
                  <a:srgbClr val="FFFFFF"/>
                </a:solidFill>
                <a:latin typeface="Microsoft YaHei"/>
              </a:defRPr>
            </a:pPr>
            <a:r>
              <a:t>公式</a:t>
            </a:r>
          </a:p>
        </p:txBody>
      </p:sp>
      <p:sp>
        <p:nvSpPr>
          <p:cNvPr id="10" name="Rectangle 9"/>
          <p:cNvSpPr/>
          <p:nvPr/>
        </p:nvSpPr>
        <p:spPr>
          <a:xfrm>
            <a:off x="5577840" y="1828800"/>
            <a:ext cx="2286000" cy="457200"/>
          </a:xfrm>
          <a:prstGeom prst="rect">
            <a:avLst/>
          </a:prstGeom>
          <a:solidFill>
            <a:srgbClr val="00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7840" y="1828800"/>
            <a:ext cx="2286000" cy="457200"/>
          </a:xfrm>
          <a:prstGeom prst="rect">
            <a:avLst/>
          </a:prstGeom>
          <a:noFill/>
        </p:spPr>
        <p:txBody>
          <a:bodyPr wrap="square">
            <a:spAutoFit/>
          </a:bodyPr>
          <a:lstStyle/>
          <a:p>
            <a:pPr algn="ctr">
              <a:defRPr sz="1400" b="1">
                <a:solidFill>
                  <a:srgbClr val="FFFFFF"/>
                </a:solidFill>
                <a:latin typeface="Microsoft YaHei"/>
              </a:defRPr>
            </a:pPr>
            <a:r>
              <a:t>特性</a:t>
            </a:r>
          </a:p>
        </p:txBody>
      </p:sp>
      <p:sp>
        <p:nvSpPr>
          <p:cNvPr id="12" name="Rectangle 11"/>
          <p:cNvSpPr/>
          <p:nvPr/>
        </p:nvSpPr>
        <p:spPr>
          <a:xfrm>
            <a:off x="7863840" y="1828800"/>
            <a:ext cx="2743200" cy="457200"/>
          </a:xfrm>
          <a:prstGeom prst="rect">
            <a:avLst/>
          </a:prstGeom>
          <a:solidFill>
            <a:srgbClr val="00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1828800"/>
            <a:ext cx="2743200" cy="457200"/>
          </a:xfrm>
          <a:prstGeom prst="rect">
            <a:avLst/>
          </a:prstGeom>
          <a:noFill/>
        </p:spPr>
        <p:txBody>
          <a:bodyPr wrap="square">
            <a:spAutoFit/>
          </a:bodyPr>
          <a:lstStyle/>
          <a:p>
            <a:pPr algn="ctr">
              <a:defRPr sz="1400" b="1">
                <a:solidFill>
                  <a:srgbClr val="FFFFFF"/>
                </a:solidFill>
                <a:latin typeface="Microsoft YaHei"/>
              </a:defRPr>
            </a:pPr>
            <a:r>
              <a:t>使用场景</a:t>
            </a:r>
          </a:p>
        </p:txBody>
      </p:sp>
      <p:sp>
        <p:nvSpPr>
          <p:cNvPr id="14" name="Rectangle 13"/>
          <p:cNvSpPr/>
          <p:nvPr/>
        </p:nvSpPr>
        <p:spPr>
          <a:xfrm>
            <a:off x="548640" y="2286000"/>
            <a:ext cx="2286000"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286000"/>
            <a:ext cx="2286000" cy="502920"/>
          </a:xfrm>
          <a:prstGeom prst="rect">
            <a:avLst/>
          </a:prstGeom>
          <a:noFill/>
        </p:spPr>
        <p:txBody>
          <a:bodyPr wrap="square">
            <a:spAutoFit/>
          </a:bodyPr>
          <a:lstStyle/>
          <a:p>
            <a:pPr algn="ctr">
              <a:defRPr sz="1200" b="1">
                <a:solidFill>
                  <a:srgbClr val="00D2FF"/>
                </a:solidFill>
                <a:latin typeface="Microsoft YaHei"/>
              </a:defRPr>
            </a:pPr>
            <a:r>
              <a:t>StandardScaler</a:t>
            </a:r>
          </a:p>
        </p:txBody>
      </p:sp>
      <p:sp>
        <p:nvSpPr>
          <p:cNvPr id="16" name="Rectangle 15"/>
          <p:cNvSpPr/>
          <p:nvPr/>
        </p:nvSpPr>
        <p:spPr>
          <a:xfrm>
            <a:off x="2834640" y="2286000"/>
            <a:ext cx="2743200"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34640" y="2286000"/>
            <a:ext cx="2743200" cy="502920"/>
          </a:xfrm>
          <a:prstGeom prst="rect">
            <a:avLst/>
          </a:prstGeom>
          <a:noFill/>
        </p:spPr>
        <p:txBody>
          <a:bodyPr wrap="square">
            <a:spAutoFit/>
          </a:bodyPr>
          <a:lstStyle/>
          <a:p>
            <a:pPr algn="ctr">
              <a:defRPr sz="1200" b="0">
                <a:solidFill>
                  <a:srgbClr val="BBBBCC"/>
                </a:solidFill>
                <a:latin typeface="Microsoft YaHei"/>
              </a:defRPr>
            </a:pPr>
            <a:r>
              <a:t>z = (x-mu)/sigma</a:t>
            </a:r>
          </a:p>
        </p:txBody>
      </p:sp>
      <p:sp>
        <p:nvSpPr>
          <p:cNvPr id="18" name="Rectangle 17"/>
          <p:cNvSpPr/>
          <p:nvPr/>
        </p:nvSpPr>
        <p:spPr>
          <a:xfrm>
            <a:off x="5577840" y="2286000"/>
            <a:ext cx="2286000"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77840" y="2286000"/>
            <a:ext cx="2286000" cy="502920"/>
          </a:xfrm>
          <a:prstGeom prst="rect">
            <a:avLst/>
          </a:prstGeom>
          <a:noFill/>
        </p:spPr>
        <p:txBody>
          <a:bodyPr wrap="square">
            <a:spAutoFit/>
          </a:bodyPr>
          <a:lstStyle/>
          <a:p>
            <a:pPr algn="ctr">
              <a:defRPr sz="1200" b="0">
                <a:solidFill>
                  <a:srgbClr val="BBBBCC"/>
                </a:solidFill>
                <a:latin typeface="Microsoft YaHei"/>
              </a:defRPr>
            </a:pPr>
            <a:r>
              <a:t>均值0, 方差1</a:t>
            </a:r>
          </a:p>
        </p:txBody>
      </p:sp>
      <p:sp>
        <p:nvSpPr>
          <p:cNvPr id="20" name="Rectangle 19"/>
          <p:cNvSpPr/>
          <p:nvPr/>
        </p:nvSpPr>
        <p:spPr>
          <a:xfrm>
            <a:off x="7863840" y="2286000"/>
            <a:ext cx="2743200"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0" y="2286000"/>
            <a:ext cx="2743200" cy="502920"/>
          </a:xfrm>
          <a:prstGeom prst="rect">
            <a:avLst/>
          </a:prstGeom>
          <a:noFill/>
        </p:spPr>
        <p:txBody>
          <a:bodyPr wrap="square">
            <a:spAutoFit/>
          </a:bodyPr>
          <a:lstStyle/>
          <a:p>
            <a:pPr algn="ctr">
              <a:defRPr sz="1200" b="0">
                <a:solidFill>
                  <a:srgbClr val="BBBBCC"/>
                </a:solidFill>
                <a:latin typeface="Microsoft YaHei"/>
              </a:defRPr>
            </a:pPr>
            <a:r>
              <a:t>正态分布, SVM, 逻辑回归</a:t>
            </a:r>
          </a:p>
        </p:txBody>
      </p:sp>
      <p:sp>
        <p:nvSpPr>
          <p:cNvPr id="22" name="Rectangle 21"/>
          <p:cNvSpPr/>
          <p:nvPr/>
        </p:nvSpPr>
        <p:spPr>
          <a:xfrm>
            <a:off x="548640" y="2788920"/>
            <a:ext cx="2286000" cy="50292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2788920"/>
            <a:ext cx="2286000" cy="502920"/>
          </a:xfrm>
          <a:prstGeom prst="rect">
            <a:avLst/>
          </a:prstGeom>
          <a:noFill/>
        </p:spPr>
        <p:txBody>
          <a:bodyPr wrap="square">
            <a:spAutoFit/>
          </a:bodyPr>
          <a:lstStyle/>
          <a:p>
            <a:pPr algn="ctr">
              <a:defRPr sz="1200" b="1">
                <a:solidFill>
                  <a:srgbClr val="00D2FF"/>
                </a:solidFill>
                <a:latin typeface="Microsoft YaHei"/>
              </a:defRPr>
            </a:pPr>
            <a:r>
              <a:t>MinMaxScaler</a:t>
            </a:r>
          </a:p>
        </p:txBody>
      </p:sp>
      <p:sp>
        <p:nvSpPr>
          <p:cNvPr id="24" name="Rectangle 23"/>
          <p:cNvSpPr/>
          <p:nvPr/>
        </p:nvSpPr>
        <p:spPr>
          <a:xfrm>
            <a:off x="2834640" y="2788920"/>
            <a:ext cx="2743200" cy="50292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34640" y="2788920"/>
            <a:ext cx="2743200" cy="502920"/>
          </a:xfrm>
          <a:prstGeom prst="rect">
            <a:avLst/>
          </a:prstGeom>
          <a:noFill/>
        </p:spPr>
        <p:txBody>
          <a:bodyPr wrap="square">
            <a:spAutoFit/>
          </a:bodyPr>
          <a:lstStyle/>
          <a:p>
            <a:pPr algn="ctr">
              <a:defRPr sz="1200" b="0">
                <a:solidFill>
                  <a:srgbClr val="BBBBCC"/>
                </a:solidFill>
                <a:latin typeface="Microsoft YaHei"/>
              </a:defRPr>
            </a:pPr>
            <a:r>
              <a:t>z = (x-min)/(max-min)</a:t>
            </a:r>
          </a:p>
        </p:txBody>
      </p:sp>
      <p:sp>
        <p:nvSpPr>
          <p:cNvPr id="26" name="Rectangle 25"/>
          <p:cNvSpPr/>
          <p:nvPr/>
        </p:nvSpPr>
        <p:spPr>
          <a:xfrm>
            <a:off x="5577840" y="2788920"/>
            <a:ext cx="2286000" cy="50292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577840" y="2788920"/>
            <a:ext cx="2286000" cy="502920"/>
          </a:xfrm>
          <a:prstGeom prst="rect">
            <a:avLst/>
          </a:prstGeom>
          <a:noFill/>
        </p:spPr>
        <p:txBody>
          <a:bodyPr wrap="square">
            <a:spAutoFit/>
          </a:bodyPr>
          <a:lstStyle/>
          <a:p>
            <a:pPr algn="ctr">
              <a:defRPr sz="1200" b="0">
                <a:solidFill>
                  <a:srgbClr val="BBBBCC"/>
                </a:solidFill>
                <a:latin typeface="Microsoft YaHei"/>
              </a:defRPr>
            </a:pPr>
            <a:r>
              <a:t>[0,1]范围</a:t>
            </a:r>
          </a:p>
        </p:txBody>
      </p:sp>
      <p:sp>
        <p:nvSpPr>
          <p:cNvPr id="28" name="Rectangle 27"/>
          <p:cNvSpPr/>
          <p:nvPr/>
        </p:nvSpPr>
        <p:spPr>
          <a:xfrm>
            <a:off x="7863840" y="2788920"/>
            <a:ext cx="2743200" cy="50292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0" y="2788920"/>
            <a:ext cx="2743200" cy="502920"/>
          </a:xfrm>
          <a:prstGeom prst="rect">
            <a:avLst/>
          </a:prstGeom>
          <a:noFill/>
        </p:spPr>
        <p:txBody>
          <a:bodyPr wrap="square">
            <a:spAutoFit/>
          </a:bodyPr>
          <a:lstStyle/>
          <a:p>
            <a:pPr algn="ctr">
              <a:defRPr sz="1200" b="0">
                <a:solidFill>
                  <a:srgbClr val="BBBBCC"/>
                </a:solidFill>
                <a:latin typeface="Microsoft YaHei"/>
              </a:defRPr>
            </a:pPr>
            <a:r>
              <a:t>神经网络, 图像</a:t>
            </a:r>
          </a:p>
        </p:txBody>
      </p:sp>
      <p:sp>
        <p:nvSpPr>
          <p:cNvPr id="30" name="Rectangle 29"/>
          <p:cNvSpPr/>
          <p:nvPr/>
        </p:nvSpPr>
        <p:spPr>
          <a:xfrm>
            <a:off x="548640" y="3291840"/>
            <a:ext cx="2286000"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3291840"/>
            <a:ext cx="2286000" cy="502920"/>
          </a:xfrm>
          <a:prstGeom prst="rect">
            <a:avLst/>
          </a:prstGeom>
          <a:noFill/>
        </p:spPr>
        <p:txBody>
          <a:bodyPr wrap="square">
            <a:spAutoFit/>
          </a:bodyPr>
          <a:lstStyle/>
          <a:p>
            <a:pPr algn="ctr">
              <a:defRPr sz="1200" b="1">
                <a:solidFill>
                  <a:srgbClr val="00D2FF"/>
                </a:solidFill>
                <a:latin typeface="Microsoft YaHei"/>
              </a:defRPr>
            </a:pPr>
            <a:r>
              <a:t>RobustScaler</a:t>
            </a:r>
          </a:p>
        </p:txBody>
      </p:sp>
      <p:sp>
        <p:nvSpPr>
          <p:cNvPr id="32" name="Rectangle 31"/>
          <p:cNvSpPr/>
          <p:nvPr/>
        </p:nvSpPr>
        <p:spPr>
          <a:xfrm>
            <a:off x="2834640" y="3291840"/>
            <a:ext cx="2743200"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34640" y="3291840"/>
            <a:ext cx="2743200" cy="502920"/>
          </a:xfrm>
          <a:prstGeom prst="rect">
            <a:avLst/>
          </a:prstGeom>
          <a:noFill/>
        </p:spPr>
        <p:txBody>
          <a:bodyPr wrap="square">
            <a:spAutoFit/>
          </a:bodyPr>
          <a:lstStyle/>
          <a:p>
            <a:pPr algn="ctr">
              <a:defRPr sz="1200" b="0">
                <a:solidFill>
                  <a:srgbClr val="BBBBCC"/>
                </a:solidFill>
                <a:latin typeface="Microsoft YaHei"/>
              </a:defRPr>
            </a:pPr>
            <a:r>
              <a:t>z = (x-Q2)/(Q3-Q1)</a:t>
            </a:r>
          </a:p>
        </p:txBody>
      </p:sp>
      <p:sp>
        <p:nvSpPr>
          <p:cNvPr id="34" name="Rectangle 33"/>
          <p:cNvSpPr/>
          <p:nvPr/>
        </p:nvSpPr>
        <p:spPr>
          <a:xfrm>
            <a:off x="5577840" y="3291840"/>
            <a:ext cx="2286000"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77840" y="3291840"/>
            <a:ext cx="2286000" cy="502920"/>
          </a:xfrm>
          <a:prstGeom prst="rect">
            <a:avLst/>
          </a:prstGeom>
          <a:noFill/>
        </p:spPr>
        <p:txBody>
          <a:bodyPr wrap="square">
            <a:spAutoFit/>
          </a:bodyPr>
          <a:lstStyle/>
          <a:p>
            <a:pPr algn="ctr">
              <a:defRPr sz="1200" b="0">
                <a:solidFill>
                  <a:srgbClr val="BBBBCC"/>
                </a:solidFill>
                <a:latin typeface="Microsoft YaHei"/>
              </a:defRPr>
            </a:pPr>
            <a:r>
              <a:t>基于中位数/IQR</a:t>
            </a:r>
          </a:p>
        </p:txBody>
      </p:sp>
      <p:sp>
        <p:nvSpPr>
          <p:cNvPr id="36" name="Rectangle 35"/>
          <p:cNvSpPr/>
          <p:nvPr/>
        </p:nvSpPr>
        <p:spPr>
          <a:xfrm>
            <a:off x="7863840" y="3291840"/>
            <a:ext cx="2743200"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63840" y="3291840"/>
            <a:ext cx="2743200" cy="502920"/>
          </a:xfrm>
          <a:prstGeom prst="rect">
            <a:avLst/>
          </a:prstGeom>
          <a:noFill/>
        </p:spPr>
        <p:txBody>
          <a:bodyPr wrap="square">
            <a:spAutoFit/>
          </a:bodyPr>
          <a:lstStyle/>
          <a:p>
            <a:pPr algn="ctr">
              <a:defRPr sz="1200" b="0">
                <a:solidFill>
                  <a:srgbClr val="BBBBCC"/>
                </a:solidFill>
                <a:latin typeface="Microsoft YaHei"/>
              </a:defRPr>
            </a:pPr>
            <a:r>
              <a:t>存在异常值时</a:t>
            </a:r>
          </a:p>
        </p:txBody>
      </p:sp>
      <p:sp>
        <p:nvSpPr>
          <p:cNvPr id="38" name="Rounded Rectangle 37"/>
          <p:cNvSpPr/>
          <p:nvPr/>
        </p:nvSpPr>
        <p:spPr>
          <a:xfrm>
            <a:off x="548640" y="3657600"/>
            <a:ext cx="5486400" cy="182880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3794760"/>
            <a:ext cx="5120640" cy="1554480"/>
          </a:xfrm>
          <a:prstGeom prst="rect">
            <a:avLst/>
          </a:prstGeom>
          <a:noFill/>
        </p:spPr>
        <p:txBody>
          <a:bodyPr wrap="square">
            <a:spAutoFit/>
          </a:bodyPr>
          <a:lstStyle/>
          <a:p>
            <a:pPr>
              <a:spcAft>
                <a:spcPts val="200"/>
              </a:spcAft>
              <a:defRPr sz="1200">
                <a:solidFill>
                  <a:srgbClr val="00E696"/>
                </a:solidFill>
                <a:latin typeface="Consolas"/>
              </a:defRPr>
            </a:pPr>
            <a:r>
              <a:t>from sklearn.preprocessing import (StandardScaler,</a:t>
            </a:r>
          </a:p>
          <a:p>
            <a:pPr>
              <a:spcAft>
                <a:spcPts val="200"/>
              </a:spcAft>
              <a:defRPr sz="1200">
                <a:solidFill>
                  <a:srgbClr val="00E696"/>
                </a:solidFill>
                <a:latin typeface="Consolas"/>
              </a:defRPr>
            </a:pPr>
            <a:r>
              <a:t>    MinMaxScaler, RobustScaler)</a:t>
            </a:r>
          </a:p>
          <a:p>
            <a:pPr>
              <a:spcAft>
                <a:spcPts val="200"/>
              </a:spcAft>
              <a:defRPr sz="1200">
                <a:solidFill>
                  <a:srgbClr val="00E696"/>
                </a:solidFill>
                <a:latin typeface="Consolas"/>
              </a:defRPr>
            </a:pPr>
          </a:p>
          <a:p>
            <a:pPr>
              <a:spcAft>
                <a:spcPts val="200"/>
              </a:spcAft>
              <a:defRPr sz="1200">
                <a:solidFill>
                  <a:srgbClr val="00E696"/>
                </a:solidFill>
                <a:latin typeface="Consolas"/>
              </a:defRPr>
            </a:pPr>
            <a:r>
              <a:t># 重要: fit只在train上, transform在train/test上都做</a:t>
            </a:r>
          </a:p>
          <a:p>
            <a:pPr>
              <a:spcAft>
                <a:spcPts val="200"/>
              </a:spcAft>
              <a:defRPr sz="1200">
                <a:solidFill>
                  <a:srgbClr val="00E696"/>
                </a:solidFill>
                <a:latin typeface="Consolas"/>
              </a:defRPr>
            </a:pPr>
            <a:r>
              <a:t>scaler = StandardScaler()</a:t>
            </a:r>
          </a:p>
          <a:p>
            <a:pPr>
              <a:spcAft>
                <a:spcPts val="200"/>
              </a:spcAft>
              <a:defRPr sz="1200">
                <a:solidFill>
                  <a:srgbClr val="00E696"/>
                </a:solidFill>
                <a:latin typeface="Consolas"/>
              </a:defRPr>
            </a:pPr>
            <a:r>
              <a:t>X_train_scaled = scaler.fit_transform(X_train)</a:t>
            </a:r>
          </a:p>
          <a:p>
            <a:pPr>
              <a:spcAft>
                <a:spcPts val="200"/>
              </a:spcAft>
              <a:defRPr sz="1200">
                <a:solidFill>
                  <a:srgbClr val="00E696"/>
                </a:solidFill>
                <a:latin typeface="Consolas"/>
              </a:defRPr>
            </a:pPr>
            <a:r>
              <a:t>X_test_scaled = scaler.transform(X_test)  # 不用fit!</a:t>
            </a:r>
          </a:p>
        </p:txBody>
      </p:sp>
      <p:sp>
        <p:nvSpPr>
          <p:cNvPr id="40" name="Rounded Rectangle 39"/>
          <p:cNvSpPr/>
          <p:nvPr/>
        </p:nvSpPr>
        <p:spPr>
          <a:xfrm>
            <a:off x="6400800" y="3657600"/>
            <a:ext cx="5120640" cy="2926080"/>
          </a:xfrm>
          <a:prstGeom prst="roundRect">
            <a:avLst>
              <a:gd name="adj" fmla="val 5000"/>
            </a:avLst>
          </a:prstGeom>
          <a:solidFill>
            <a:srgbClr val="25253D"/>
          </a:solidFill>
          <a:ln w="12700">
            <a:solidFill>
              <a:srgbClr val="FF4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0" y="3749040"/>
            <a:ext cx="4754880" cy="365760"/>
          </a:xfrm>
          <a:prstGeom prst="rect">
            <a:avLst/>
          </a:prstGeom>
          <a:noFill/>
        </p:spPr>
        <p:txBody>
          <a:bodyPr wrap="square">
            <a:spAutoFit/>
          </a:bodyPr>
          <a:lstStyle/>
          <a:p>
            <a:pPr algn="l">
              <a:defRPr sz="1500" b="1">
                <a:solidFill>
                  <a:srgbClr val="FF4545"/>
                </a:solidFill>
                <a:latin typeface="Microsoft YaHei"/>
              </a:defRPr>
            </a:pPr>
            <a:r>
              <a:t>Data Leakage警告!</a:t>
            </a:r>
          </a:p>
        </p:txBody>
      </p:sp>
      <p:sp>
        <p:nvSpPr>
          <p:cNvPr id="42" name="TextBox 41"/>
          <p:cNvSpPr txBox="1"/>
          <p:nvPr/>
        </p:nvSpPr>
        <p:spPr>
          <a:xfrm>
            <a:off x="6583680" y="4114800"/>
            <a:ext cx="4754880" cy="2377440"/>
          </a:xfrm>
          <a:prstGeom prst="rect">
            <a:avLst/>
          </a:prstGeom>
          <a:noFill/>
        </p:spPr>
        <p:txBody>
          <a:bodyPr wrap="square">
            <a:spAutoFit/>
          </a:bodyPr>
          <a:lstStyle/>
          <a:p>
            <a:pPr>
              <a:spcAft>
                <a:spcPts val="400"/>
              </a:spcAft>
              <a:defRPr sz="1300">
                <a:solidFill>
                  <a:srgbClr val="BBBBCC"/>
                </a:solidFill>
                <a:latin typeface="Microsoft YaHei"/>
              </a:defRPr>
            </a:pPr>
            <a:r>
              <a:t>对全部数据做fit_transform会导致</a:t>
            </a:r>
          </a:p>
          <a:p>
            <a:pPr>
              <a:spcAft>
                <a:spcPts val="400"/>
              </a:spcAft>
              <a:defRPr sz="1300">
                <a:solidFill>
                  <a:srgbClr val="BBBBCC"/>
                </a:solidFill>
                <a:latin typeface="Microsoft YaHei"/>
              </a:defRPr>
            </a:pPr>
            <a:r>
              <a:t>测试数据的信息泄露到训练中!</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正确做法:</a:t>
            </a:r>
          </a:p>
          <a:p>
            <a:pPr>
              <a:spcAft>
                <a:spcPts val="400"/>
              </a:spcAft>
              <a:defRPr sz="1300">
                <a:solidFill>
                  <a:srgbClr val="BBBBCC"/>
                </a:solidFill>
                <a:latin typeface="Microsoft YaHei"/>
              </a:defRPr>
            </a:pPr>
            <a:r>
              <a:t>  1. scaler.fit_transform(X_train) -- 在train上fit</a:t>
            </a:r>
          </a:p>
          <a:p>
            <a:pPr>
              <a:spcAft>
                <a:spcPts val="400"/>
              </a:spcAft>
              <a:defRPr sz="1300">
                <a:solidFill>
                  <a:srgbClr val="BBBBCC"/>
                </a:solidFill>
                <a:latin typeface="Microsoft YaHei"/>
              </a:defRPr>
            </a:pPr>
            <a:r>
              <a:t>  2. scaler.transform(X_test) -- 在test上只transform</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错误做法:</a:t>
            </a:r>
          </a:p>
          <a:p>
            <a:pPr>
              <a:spcAft>
                <a:spcPts val="400"/>
              </a:spcAft>
              <a:defRPr sz="1300">
                <a:solidFill>
                  <a:srgbClr val="BBBBCC"/>
                </a:solidFill>
                <a:latin typeface="Microsoft YaHei"/>
              </a:defRPr>
            </a:pPr>
            <a:r>
              <a:t>  scaler.fit_transform(X_all) -- 在全部数据上fit</a:t>
            </a:r>
          </a:p>
          <a:p>
            <a:pPr>
              <a:spcAft>
                <a:spcPts val="400"/>
              </a:spcAft>
              <a:defRPr sz="1300">
                <a:solidFill>
                  <a:srgbClr val="BBBBCC"/>
                </a:solidFill>
                <a:latin typeface="Microsoft YaHei"/>
              </a:defRPr>
            </a:pPr>
            <a:r>
              <a:t>  -&gt; 发生Data Leakage!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4</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分类变量编码</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Label Encoding, One-Hot Encoding, Ordinal Encoding</a:t>
            </a:r>
          </a:p>
        </p:txBody>
      </p:sp>
      <p:sp>
        <p:nvSpPr>
          <p:cNvPr id="6" name="Rounded Rectangle 5"/>
          <p:cNvSpPr/>
          <p:nvPr/>
        </p:nvSpPr>
        <p:spPr>
          <a:xfrm>
            <a:off x="548640" y="1828800"/>
            <a:ext cx="3474720" cy="2286000"/>
          </a:xfrm>
          <a:prstGeom prst="roundRect">
            <a:avLst>
              <a:gd name="adj" fmla="val 5000"/>
            </a:avLst>
          </a:prstGeom>
          <a:solidFill>
            <a:srgbClr val="25253D"/>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20240"/>
            <a:ext cx="3108960" cy="365760"/>
          </a:xfrm>
          <a:prstGeom prst="rect">
            <a:avLst/>
          </a:prstGeom>
          <a:noFill/>
        </p:spPr>
        <p:txBody>
          <a:bodyPr wrap="square">
            <a:spAutoFit/>
          </a:bodyPr>
          <a:lstStyle/>
          <a:p>
            <a:pPr algn="l">
              <a:defRPr sz="1500" b="1">
                <a:solidFill>
                  <a:srgbClr val="00D2FF"/>
                </a:solidFill>
                <a:latin typeface="Microsoft YaHei"/>
              </a:defRPr>
            </a:pPr>
            <a:r>
              <a:t>Label Encoding</a:t>
            </a:r>
          </a:p>
        </p:txBody>
      </p:sp>
      <p:sp>
        <p:nvSpPr>
          <p:cNvPr id="8" name="TextBox 7"/>
          <p:cNvSpPr txBox="1"/>
          <p:nvPr/>
        </p:nvSpPr>
        <p:spPr>
          <a:xfrm>
            <a:off x="731520" y="2286000"/>
            <a:ext cx="3108960" cy="1737360"/>
          </a:xfrm>
          <a:prstGeom prst="rect">
            <a:avLst/>
          </a:prstGeom>
          <a:noFill/>
        </p:spPr>
        <p:txBody>
          <a:bodyPr wrap="square">
            <a:spAutoFit/>
          </a:bodyPr>
          <a:lstStyle/>
          <a:p>
            <a:pPr>
              <a:spcAft>
                <a:spcPts val="400"/>
              </a:spcAft>
              <a:defRPr sz="1300">
                <a:solidFill>
                  <a:srgbClr val="BBBBCC"/>
                </a:solidFill>
                <a:latin typeface="Microsoft YaHei"/>
              </a:defRPr>
            </a:pPr>
            <a:r>
              <a:t>为每个类别分配整数</a:t>
            </a:r>
          </a:p>
          <a:p>
            <a:pPr>
              <a:spcAft>
                <a:spcPts val="400"/>
              </a:spcAft>
              <a:defRPr sz="1300">
                <a:solidFill>
                  <a:srgbClr val="BBBBCC"/>
                </a:solidFill>
                <a:latin typeface="Microsoft YaHei"/>
              </a:defRPr>
            </a:pPr>
            <a:r>
              <a:t>例: male-&gt;0, female-&gt;1</a:t>
            </a:r>
          </a:p>
          <a:p>
            <a:pPr>
              <a:spcAft>
                <a:spcPts val="400"/>
              </a:spcAft>
              <a:defRPr sz="1300">
                <a:solidFill>
                  <a:srgbClr val="BBBBCC"/>
                </a:solidFill>
                <a:latin typeface="Microsoft YaHei"/>
              </a:defRPr>
            </a:pPr>
            <a:r>
              <a:t>适合树模型</a:t>
            </a:r>
          </a:p>
          <a:p>
            <a:pPr>
              <a:spcAft>
                <a:spcPts val="400"/>
              </a:spcAft>
              <a:defRPr sz="1300">
                <a:solidFill>
                  <a:srgbClr val="BBBBCC"/>
                </a:solidFill>
                <a:latin typeface="Microsoft YaHei"/>
              </a:defRPr>
            </a:pPr>
            <a:r>
              <a:t>可能产生顺序关系 (注意)</a:t>
            </a:r>
          </a:p>
          <a:p>
            <a:pPr>
              <a:spcAft>
                <a:spcPts val="400"/>
              </a:spcAft>
              <a:defRPr sz="1300">
                <a:solidFill>
                  <a:srgbClr val="BBBBCC"/>
                </a:solidFill>
                <a:latin typeface="Microsoft YaHei"/>
              </a:defRPr>
            </a:pPr>
            <a:r>
              <a:t>df['Sex'].map({'male':0,'female':1})</a:t>
            </a:r>
          </a:p>
        </p:txBody>
      </p:sp>
      <p:sp>
        <p:nvSpPr>
          <p:cNvPr id="9" name="Rounded Rectangle 8"/>
          <p:cNvSpPr/>
          <p:nvPr/>
        </p:nvSpPr>
        <p:spPr>
          <a:xfrm>
            <a:off x="4297680" y="1828800"/>
            <a:ext cx="3474720" cy="228600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1920240"/>
            <a:ext cx="3108960" cy="365760"/>
          </a:xfrm>
          <a:prstGeom prst="rect">
            <a:avLst/>
          </a:prstGeom>
          <a:noFill/>
        </p:spPr>
        <p:txBody>
          <a:bodyPr wrap="square">
            <a:spAutoFit/>
          </a:bodyPr>
          <a:lstStyle/>
          <a:p>
            <a:pPr algn="l">
              <a:defRPr sz="1500" b="1">
                <a:solidFill>
                  <a:srgbClr val="00E696"/>
                </a:solidFill>
                <a:latin typeface="Microsoft YaHei"/>
              </a:defRPr>
            </a:pPr>
            <a:r>
              <a:t>One-Hot Encoding</a:t>
            </a:r>
          </a:p>
        </p:txBody>
      </p:sp>
      <p:sp>
        <p:nvSpPr>
          <p:cNvPr id="11" name="TextBox 10"/>
          <p:cNvSpPr txBox="1"/>
          <p:nvPr/>
        </p:nvSpPr>
        <p:spPr>
          <a:xfrm>
            <a:off x="4480560" y="2286000"/>
            <a:ext cx="3108960" cy="1737360"/>
          </a:xfrm>
          <a:prstGeom prst="rect">
            <a:avLst/>
          </a:prstGeom>
          <a:noFill/>
        </p:spPr>
        <p:txBody>
          <a:bodyPr wrap="square">
            <a:spAutoFit/>
          </a:bodyPr>
          <a:lstStyle/>
          <a:p>
            <a:pPr>
              <a:spcAft>
                <a:spcPts val="400"/>
              </a:spcAft>
              <a:defRPr sz="1300">
                <a:solidFill>
                  <a:srgbClr val="BBBBCC"/>
                </a:solidFill>
                <a:latin typeface="Microsoft YaHei"/>
              </a:defRPr>
            </a:pPr>
            <a:r>
              <a:t>将每个类别转为二进制向量</a:t>
            </a:r>
          </a:p>
          <a:p>
            <a:pPr>
              <a:spcAft>
                <a:spcPts val="400"/>
              </a:spcAft>
              <a:defRPr sz="1300">
                <a:solidFill>
                  <a:srgbClr val="BBBBCC"/>
                </a:solidFill>
                <a:latin typeface="Microsoft YaHei"/>
              </a:defRPr>
            </a:pPr>
            <a:r>
              <a:t>例: [1,0,0], [0,1,0], [0,0,1]</a:t>
            </a:r>
          </a:p>
          <a:p>
            <a:pPr>
              <a:spcAft>
                <a:spcPts val="400"/>
              </a:spcAft>
              <a:defRPr sz="1300">
                <a:solidFill>
                  <a:srgbClr val="BBBBCC"/>
                </a:solidFill>
                <a:latin typeface="Microsoft YaHei"/>
              </a:defRPr>
            </a:pPr>
            <a:r>
              <a:t>无顺序关系 (安全)</a:t>
            </a:r>
          </a:p>
          <a:p>
            <a:pPr>
              <a:spcAft>
                <a:spcPts val="400"/>
              </a:spcAft>
              <a:defRPr sz="1300">
                <a:solidFill>
                  <a:srgbClr val="BBBBCC"/>
                </a:solidFill>
                <a:latin typeface="Microsoft YaHei"/>
              </a:defRPr>
            </a:pPr>
            <a:r>
              <a:t>唯一值多时维度爆炸问题</a:t>
            </a:r>
          </a:p>
          <a:p>
            <a:pPr>
              <a:spcAft>
                <a:spcPts val="400"/>
              </a:spcAft>
              <a:defRPr sz="1300">
                <a:solidFill>
                  <a:srgbClr val="BBBBCC"/>
                </a:solidFill>
                <a:latin typeface="Microsoft YaHei"/>
              </a:defRPr>
            </a:pPr>
            <a:r>
              <a:t>pd.get_dummies(df, columns=['地区'])</a:t>
            </a:r>
          </a:p>
        </p:txBody>
      </p:sp>
      <p:sp>
        <p:nvSpPr>
          <p:cNvPr id="12" name="Rounded Rectangle 11"/>
          <p:cNvSpPr/>
          <p:nvPr/>
        </p:nvSpPr>
        <p:spPr>
          <a:xfrm>
            <a:off x="8046720" y="1828800"/>
            <a:ext cx="3474720" cy="2286000"/>
          </a:xfrm>
          <a:prstGeom prst="roundRect">
            <a:avLst>
              <a:gd name="adj" fmla="val 5000"/>
            </a:avLst>
          </a:prstGeom>
          <a:solidFill>
            <a:srgbClr val="25253D"/>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920240"/>
            <a:ext cx="3108960" cy="365760"/>
          </a:xfrm>
          <a:prstGeom prst="rect">
            <a:avLst/>
          </a:prstGeom>
          <a:noFill/>
        </p:spPr>
        <p:txBody>
          <a:bodyPr wrap="square">
            <a:spAutoFit/>
          </a:bodyPr>
          <a:lstStyle/>
          <a:p>
            <a:pPr algn="l">
              <a:defRPr sz="1500" b="1">
                <a:solidFill>
                  <a:srgbClr val="FF8C00"/>
                </a:solidFill>
                <a:latin typeface="Microsoft YaHei"/>
              </a:defRPr>
            </a:pPr>
            <a:r>
              <a:t>Ordinal Encoding</a:t>
            </a:r>
          </a:p>
        </p:txBody>
      </p:sp>
      <p:sp>
        <p:nvSpPr>
          <p:cNvPr id="14" name="TextBox 13"/>
          <p:cNvSpPr txBox="1"/>
          <p:nvPr/>
        </p:nvSpPr>
        <p:spPr>
          <a:xfrm>
            <a:off x="8229600" y="2286000"/>
            <a:ext cx="3108960" cy="1737360"/>
          </a:xfrm>
          <a:prstGeom prst="rect">
            <a:avLst/>
          </a:prstGeom>
          <a:noFill/>
        </p:spPr>
        <p:txBody>
          <a:bodyPr wrap="square">
            <a:spAutoFit/>
          </a:bodyPr>
          <a:lstStyle/>
          <a:p>
            <a:pPr>
              <a:spcAft>
                <a:spcPts val="400"/>
              </a:spcAft>
              <a:defRPr sz="1300">
                <a:solidFill>
                  <a:srgbClr val="BBBBCC"/>
                </a:solidFill>
                <a:latin typeface="Microsoft YaHei"/>
              </a:defRPr>
            </a:pPr>
            <a:r>
              <a:t>为有序类别分配整数</a:t>
            </a:r>
          </a:p>
          <a:p>
            <a:pPr>
              <a:spcAft>
                <a:spcPts val="400"/>
              </a:spcAft>
              <a:defRPr sz="1300">
                <a:solidFill>
                  <a:srgbClr val="BBBBCC"/>
                </a:solidFill>
                <a:latin typeface="Microsoft YaHei"/>
              </a:defRPr>
            </a:pPr>
            <a:r>
              <a:t>例: 小学-&gt;1, 初中-&gt;2, 高中-&gt;3</a:t>
            </a:r>
          </a:p>
          <a:p>
            <a:pPr>
              <a:spcAft>
                <a:spcPts val="400"/>
              </a:spcAft>
              <a:defRPr sz="1300">
                <a:solidFill>
                  <a:srgbClr val="BBBBCC"/>
                </a:solidFill>
                <a:latin typeface="Microsoft YaHei"/>
              </a:defRPr>
            </a:pPr>
            <a:r>
              <a:t>保留顺序信息</a:t>
            </a:r>
          </a:p>
          <a:p>
            <a:pPr>
              <a:spcAft>
                <a:spcPts val="400"/>
              </a:spcAft>
              <a:defRPr sz="1300">
                <a:solidFill>
                  <a:srgbClr val="BBBBCC"/>
                </a:solidFill>
                <a:latin typeface="Microsoft YaHei"/>
              </a:defRPr>
            </a:pPr>
            <a:r>
              <a:t>不适合名义变量</a:t>
            </a:r>
          </a:p>
          <a:p>
            <a:pPr>
              <a:spcAft>
                <a:spcPts val="400"/>
              </a:spcAft>
              <a:defRPr sz="1300">
                <a:solidFill>
                  <a:srgbClr val="BBBBCC"/>
                </a:solidFill>
                <a:latin typeface="Microsoft YaHei"/>
              </a:defRPr>
            </a:pPr>
            <a:r>
              <a:t>OrdinalEncoder(categories=...)</a:t>
            </a:r>
          </a:p>
        </p:txBody>
      </p:sp>
      <p:sp>
        <p:nvSpPr>
          <p:cNvPr id="15" name="Rounded Rectangle 14"/>
          <p:cNvSpPr/>
          <p:nvPr/>
        </p:nvSpPr>
        <p:spPr>
          <a:xfrm>
            <a:off x="548640" y="4389120"/>
            <a:ext cx="10972800" cy="2194560"/>
          </a:xfrm>
          <a:prstGeom prst="roundRect">
            <a:avLst>
              <a:gd name="adj" fmla="val 5000"/>
            </a:avLst>
          </a:prstGeom>
          <a:solidFill>
            <a:srgbClr val="25253D"/>
          </a:solidFill>
          <a:ln w="12700">
            <a:solidFill>
              <a:srgbClr val="A06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480560"/>
            <a:ext cx="10607040" cy="365760"/>
          </a:xfrm>
          <a:prstGeom prst="rect">
            <a:avLst/>
          </a:prstGeom>
          <a:noFill/>
        </p:spPr>
        <p:txBody>
          <a:bodyPr wrap="square">
            <a:spAutoFit/>
          </a:bodyPr>
          <a:lstStyle/>
          <a:p>
            <a:pPr algn="l">
              <a:defRPr sz="1500" b="1">
                <a:solidFill>
                  <a:srgbClr val="A06CFF"/>
                </a:solidFill>
                <a:latin typeface="Microsoft YaHei"/>
              </a:defRPr>
            </a:pPr>
            <a:r>
              <a:t>编码选择指南</a:t>
            </a:r>
          </a:p>
        </p:txBody>
      </p:sp>
      <p:sp>
        <p:nvSpPr>
          <p:cNvPr id="17" name="TextBox 16"/>
          <p:cNvSpPr txBox="1"/>
          <p:nvPr/>
        </p:nvSpPr>
        <p:spPr>
          <a:xfrm>
            <a:off x="731520" y="4846320"/>
            <a:ext cx="10607040" cy="1645920"/>
          </a:xfrm>
          <a:prstGeom prst="rect">
            <a:avLst/>
          </a:prstGeom>
          <a:noFill/>
        </p:spPr>
        <p:txBody>
          <a:bodyPr wrap="square">
            <a:spAutoFit/>
          </a:bodyPr>
          <a:lstStyle/>
          <a:p>
            <a:pPr>
              <a:spcAft>
                <a:spcPts val="400"/>
              </a:spcAft>
              <a:defRPr sz="1300">
                <a:solidFill>
                  <a:srgbClr val="BBBBCC"/>
                </a:solidFill>
                <a:latin typeface="Microsoft YaHei"/>
              </a:defRPr>
            </a:pPr>
            <a:r>
              <a:t>二元类别 (2个值): Label Encoding -&gt; male/female, yes/no</a:t>
            </a:r>
          </a:p>
          <a:p>
            <a:pPr>
              <a:spcAft>
                <a:spcPts val="400"/>
              </a:spcAft>
              <a:defRPr sz="1300">
                <a:solidFill>
                  <a:srgbClr val="BBBBCC"/>
                </a:solidFill>
                <a:latin typeface="Microsoft YaHei"/>
              </a:defRPr>
            </a:pPr>
            <a:r>
              <a:t>名义类别 (无序): One-Hot Encoding -&gt; 地区, 颜色, 产品类型</a:t>
            </a:r>
          </a:p>
          <a:p>
            <a:pPr>
              <a:spcAft>
                <a:spcPts val="400"/>
              </a:spcAft>
              <a:defRPr sz="1300">
                <a:solidFill>
                  <a:srgbClr val="BBBBCC"/>
                </a:solidFill>
                <a:latin typeface="Microsoft YaHei"/>
              </a:defRPr>
            </a:pPr>
            <a:r>
              <a:t>有序类别 (有序): Ordinal Encoding -&gt; 学历, 等级, 满意度</a:t>
            </a:r>
          </a:p>
          <a:p>
            <a:pPr>
              <a:spcAft>
                <a:spcPts val="400"/>
              </a:spcAft>
              <a:defRPr sz="1300">
                <a:solidFill>
                  <a:srgbClr val="BBBBCC"/>
                </a:solidFill>
                <a:latin typeface="Microsoft YaHei"/>
              </a:defRPr>
            </a:pPr>
            <a:r>
              <a:t>唯一值非常多 (100+): 考虑Target Encoding, Hash Encoding</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注意: 对名义变量使用Label Encoding会导致模型学习错误的顺序关系!</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01028"/>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A0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0"/>
            <a:ext cx="12191695" cy="50800"/>
          </a:xfrm>
          <a:prstGeom prst="rect">
            <a:avLst/>
          </a:prstGeom>
          <a:solidFill>
            <a:srgbClr val="A0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1828800"/>
            <a:ext cx="12191695" cy="457200"/>
          </a:xfrm>
          <a:prstGeom prst="rect">
            <a:avLst/>
          </a:prstGeom>
          <a:noFill/>
        </p:spPr>
        <p:txBody>
          <a:bodyPr wrap="square">
            <a:spAutoFit/>
          </a:bodyPr>
          <a:lstStyle/>
          <a:p>
            <a:pPr algn="ctr">
              <a:defRPr sz="2000" b="1">
                <a:solidFill>
                  <a:srgbClr val="A06CFF"/>
                </a:solidFill>
                <a:latin typeface="Microsoft YaHei"/>
              </a:defRPr>
            </a:pPr>
            <a:r>
              <a:t>SECTION 5</a:t>
            </a:r>
          </a:p>
        </p:txBody>
      </p:sp>
      <p:sp>
        <p:nvSpPr>
          <p:cNvPr id="5" name="Rectangle 4"/>
          <p:cNvSpPr/>
          <p:nvPr/>
        </p:nvSpPr>
        <p:spPr>
          <a:xfrm>
            <a:off x="5029200" y="2468880"/>
            <a:ext cx="2103120" cy="38100"/>
          </a:xfrm>
          <a:prstGeom prst="rect">
            <a:avLst/>
          </a:prstGeom>
          <a:solidFill>
            <a:srgbClr val="A0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743200"/>
            <a:ext cx="12191695" cy="914400"/>
          </a:xfrm>
          <a:prstGeom prst="rect">
            <a:avLst/>
          </a:prstGeom>
          <a:noFill/>
        </p:spPr>
        <p:txBody>
          <a:bodyPr wrap="square">
            <a:spAutoFit/>
          </a:bodyPr>
          <a:lstStyle/>
          <a:p>
            <a:pPr algn="ctr">
              <a:defRPr sz="4400" b="1">
                <a:solidFill>
                  <a:srgbClr val="FFFFFF"/>
                </a:solidFill>
                <a:latin typeface="Microsoft YaHei"/>
              </a:defRPr>
            </a:pPr>
            <a:r>
              <a:t>Tidy Data概念</a:t>
            </a:r>
          </a:p>
        </p:txBody>
      </p:sp>
      <p:sp>
        <p:nvSpPr>
          <p:cNvPr id="7" name="TextBox 6"/>
          <p:cNvSpPr txBox="1"/>
          <p:nvPr/>
        </p:nvSpPr>
        <p:spPr>
          <a:xfrm>
            <a:off x="0" y="3840480"/>
            <a:ext cx="12191695" cy="457200"/>
          </a:xfrm>
          <a:prstGeom prst="rect">
            <a:avLst/>
          </a:prstGeom>
          <a:noFill/>
        </p:spPr>
        <p:txBody>
          <a:bodyPr wrap="square">
            <a:spAutoFit/>
          </a:bodyPr>
          <a:lstStyle/>
          <a:p>
            <a:pPr algn="ctr">
              <a:defRPr sz="1800" b="0">
                <a:solidFill>
                  <a:srgbClr val="888899"/>
                </a:solidFill>
                <a:latin typeface="Microsoft YaHei"/>
              </a:defRPr>
            </a:pPr>
            <a:r>
              <a:t>Wickham (2014)的整洁数据3原则</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5</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Wickham的Tidy Data 3原则</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Journal of Statistical Software, 2014</a:t>
            </a:r>
          </a:p>
        </p:txBody>
      </p:sp>
      <p:sp>
        <p:nvSpPr>
          <p:cNvPr id="6" name="Rounded Rectangle 5"/>
          <p:cNvSpPr/>
          <p:nvPr/>
        </p:nvSpPr>
        <p:spPr>
          <a:xfrm>
            <a:off x="548640" y="1828800"/>
            <a:ext cx="3474720" cy="1828800"/>
          </a:xfrm>
          <a:prstGeom prst="roundRect">
            <a:avLst>
              <a:gd name="adj" fmla="val 5000"/>
            </a:avLst>
          </a:prstGeom>
          <a:solidFill>
            <a:srgbClr val="25253D"/>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20240"/>
            <a:ext cx="3108960" cy="365760"/>
          </a:xfrm>
          <a:prstGeom prst="rect">
            <a:avLst/>
          </a:prstGeom>
          <a:noFill/>
        </p:spPr>
        <p:txBody>
          <a:bodyPr wrap="square">
            <a:spAutoFit/>
          </a:bodyPr>
          <a:lstStyle/>
          <a:p>
            <a:pPr algn="l">
              <a:defRPr sz="1500" b="1">
                <a:solidFill>
                  <a:srgbClr val="00D2FF"/>
                </a:solidFill>
                <a:latin typeface="Microsoft YaHei"/>
              </a:defRPr>
            </a:pPr>
            <a:r>
              <a:t>原则1: 变量 = 列</a:t>
            </a:r>
          </a:p>
        </p:txBody>
      </p:sp>
      <p:sp>
        <p:nvSpPr>
          <p:cNvPr id="8" name="TextBox 7"/>
          <p:cNvSpPr txBox="1"/>
          <p:nvPr/>
        </p:nvSpPr>
        <p:spPr>
          <a:xfrm>
            <a:off x="731520" y="2286000"/>
            <a:ext cx="3108960" cy="1280160"/>
          </a:xfrm>
          <a:prstGeom prst="rect">
            <a:avLst/>
          </a:prstGeom>
          <a:noFill/>
        </p:spPr>
        <p:txBody>
          <a:bodyPr wrap="square">
            <a:spAutoFit/>
          </a:bodyPr>
          <a:lstStyle/>
          <a:p>
            <a:pPr>
              <a:spcAft>
                <a:spcPts val="400"/>
              </a:spcAft>
              <a:defRPr sz="1300">
                <a:solidFill>
                  <a:srgbClr val="BBBBCC"/>
                </a:solidFill>
                <a:latin typeface="Microsoft YaHei"/>
              </a:defRPr>
            </a:pPr>
            <a:r>
              <a:t>每个变量(variable)</a:t>
            </a:r>
          </a:p>
          <a:p>
            <a:pPr>
              <a:spcAft>
                <a:spcPts val="400"/>
              </a:spcAft>
              <a:defRPr sz="1300">
                <a:solidFill>
                  <a:srgbClr val="BBBBCC"/>
                </a:solidFill>
                <a:latin typeface="Microsoft YaHei"/>
              </a:defRPr>
            </a:pPr>
            <a:r>
              <a:t>构成一列(column)。</a:t>
            </a:r>
          </a:p>
          <a:p>
            <a:pPr>
              <a:spcAft>
                <a:spcPts val="400"/>
              </a:spcAft>
              <a:defRPr sz="1300">
                <a:solidFill>
                  <a:srgbClr val="BBBBCC"/>
                </a:solidFill>
                <a:latin typeface="Microsoft YaHei"/>
              </a:defRPr>
            </a:pPr>
            <a:r>
              <a:t>例: 姓名、年龄、分数等</a:t>
            </a:r>
          </a:p>
          <a:p>
            <a:pPr>
              <a:spcAft>
                <a:spcPts val="400"/>
              </a:spcAft>
              <a:defRPr sz="1300">
                <a:solidFill>
                  <a:srgbClr val="BBBBCC"/>
                </a:solidFill>
                <a:latin typeface="Microsoft YaHei"/>
              </a:defRPr>
            </a:pPr>
            <a:r>
              <a:t>各自表示为独立的列</a:t>
            </a:r>
          </a:p>
        </p:txBody>
      </p:sp>
      <p:sp>
        <p:nvSpPr>
          <p:cNvPr id="9" name="Rounded Rectangle 8"/>
          <p:cNvSpPr/>
          <p:nvPr/>
        </p:nvSpPr>
        <p:spPr>
          <a:xfrm>
            <a:off x="4297680" y="1828800"/>
            <a:ext cx="3474720" cy="182880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1920240"/>
            <a:ext cx="3108960" cy="365760"/>
          </a:xfrm>
          <a:prstGeom prst="rect">
            <a:avLst/>
          </a:prstGeom>
          <a:noFill/>
        </p:spPr>
        <p:txBody>
          <a:bodyPr wrap="square">
            <a:spAutoFit/>
          </a:bodyPr>
          <a:lstStyle/>
          <a:p>
            <a:pPr algn="l">
              <a:defRPr sz="1500" b="1">
                <a:solidFill>
                  <a:srgbClr val="00E696"/>
                </a:solidFill>
                <a:latin typeface="Microsoft YaHei"/>
              </a:defRPr>
            </a:pPr>
            <a:r>
              <a:t>原则2: 观测 = 行</a:t>
            </a:r>
          </a:p>
        </p:txBody>
      </p:sp>
      <p:sp>
        <p:nvSpPr>
          <p:cNvPr id="11" name="TextBox 10"/>
          <p:cNvSpPr txBox="1"/>
          <p:nvPr/>
        </p:nvSpPr>
        <p:spPr>
          <a:xfrm>
            <a:off x="4480560" y="2286000"/>
            <a:ext cx="3108960" cy="1280160"/>
          </a:xfrm>
          <a:prstGeom prst="rect">
            <a:avLst/>
          </a:prstGeom>
          <a:noFill/>
        </p:spPr>
        <p:txBody>
          <a:bodyPr wrap="square">
            <a:spAutoFit/>
          </a:bodyPr>
          <a:lstStyle/>
          <a:p>
            <a:pPr>
              <a:spcAft>
                <a:spcPts val="400"/>
              </a:spcAft>
              <a:defRPr sz="1300">
                <a:solidFill>
                  <a:srgbClr val="BBBBCC"/>
                </a:solidFill>
                <a:latin typeface="Microsoft YaHei"/>
              </a:defRPr>
            </a:pPr>
            <a:r>
              <a:t>每个观测(observation)</a:t>
            </a:r>
          </a:p>
          <a:p>
            <a:pPr>
              <a:spcAft>
                <a:spcPts val="400"/>
              </a:spcAft>
              <a:defRPr sz="1300">
                <a:solidFill>
                  <a:srgbClr val="BBBBCC"/>
                </a:solidFill>
                <a:latin typeface="Microsoft YaHei"/>
              </a:defRPr>
            </a:pPr>
            <a:r>
              <a:t>构成一行(row)。</a:t>
            </a:r>
          </a:p>
          <a:p>
            <a:pPr>
              <a:spcAft>
                <a:spcPts val="400"/>
              </a:spcAft>
              <a:defRPr sz="1300">
                <a:solidFill>
                  <a:srgbClr val="BBBBCC"/>
                </a:solidFill>
                <a:latin typeface="Microsoft YaHei"/>
              </a:defRPr>
            </a:pPr>
            <a:r>
              <a:t>例: 一个学生的信息</a:t>
            </a:r>
          </a:p>
          <a:p>
            <a:pPr>
              <a:spcAft>
                <a:spcPts val="400"/>
              </a:spcAft>
              <a:defRPr sz="1300">
                <a:solidFill>
                  <a:srgbClr val="BBBBCC"/>
                </a:solidFill>
                <a:latin typeface="Microsoft YaHei"/>
              </a:defRPr>
            </a:pPr>
            <a:r>
              <a:t>表示为一行</a:t>
            </a:r>
          </a:p>
        </p:txBody>
      </p:sp>
      <p:sp>
        <p:nvSpPr>
          <p:cNvPr id="12" name="Rounded Rectangle 11"/>
          <p:cNvSpPr/>
          <p:nvPr/>
        </p:nvSpPr>
        <p:spPr>
          <a:xfrm>
            <a:off x="8046720" y="1828800"/>
            <a:ext cx="3474720" cy="1828800"/>
          </a:xfrm>
          <a:prstGeom prst="roundRect">
            <a:avLst>
              <a:gd name="adj" fmla="val 5000"/>
            </a:avLst>
          </a:prstGeom>
          <a:solidFill>
            <a:srgbClr val="25253D"/>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920240"/>
            <a:ext cx="3108960" cy="365760"/>
          </a:xfrm>
          <a:prstGeom prst="rect">
            <a:avLst/>
          </a:prstGeom>
          <a:noFill/>
        </p:spPr>
        <p:txBody>
          <a:bodyPr wrap="square">
            <a:spAutoFit/>
          </a:bodyPr>
          <a:lstStyle/>
          <a:p>
            <a:pPr algn="l">
              <a:defRPr sz="1500" b="1">
                <a:solidFill>
                  <a:srgbClr val="FF8C00"/>
                </a:solidFill>
                <a:latin typeface="Microsoft YaHei"/>
              </a:defRPr>
            </a:pPr>
            <a:r>
              <a:t>原则3: 观测单位 = 表</a:t>
            </a:r>
          </a:p>
        </p:txBody>
      </p:sp>
      <p:sp>
        <p:nvSpPr>
          <p:cNvPr id="14" name="TextBox 13"/>
          <p:cNvSpPr txBox="1"/>
          <p:nvPr/>
        </p:nvSpPr>
        <p:spPr>
          <a:xfrm>
            <a:off x="8229600" y="2286000"/>
            <a:ext cx="3108960" cy="1280160"/>
          </a:xfrm>
          <a:prstGeom prst="rect">
            <a:avLst/>
          </a:prstGeom>
          <a:noFill/>
        </p:spPr>
        <p:txBody>
          <a:bodyPr wrap="square">
            <a:spAutoFit/>
          </a:bodyPr>
          <a:lstStyle/>
          <a:p>
            <a:pPr>
              <a:spcAft>
                <a:spcPts val="400"/>
              </a:spcAft>
              <a:defRPr sz="1300">
                <a:solidFill>
                  <a:srgbClr val="BBBBCC"/>
                </a:solidFill>
                <a:latin typeface="Microsoft YaHei"/>
              </a:defRPr>
            </a:pPr>
            <a:r>
              <a:t>每种观测单位类型</a:t>
            </a:r>
          </a:p>
          <a:p>
            <a:pPr>
              <a:spcAft>
                <a:spcPts val="400"/>
              </a:spcAft>
              <a:defRPr sz="1300">
                <a:solidFill>
                  <a:srgbClr val="BBBBCC"/>
                </a:solidFill>
                <a:latin typeface="Microsoft YaHei"/>
              </a:defRPr>
            </a:pPr>
            <a:r>
              <a:t>构成一个表。</a:t>
            </a:r>
          </a:p>
          <a:p>
            <a:pPr>
              <a:spcAft>
                <a:spcPts val="400"/>
              </a:spcAft>
              <a:defRPr sz="1300">
                <a:solidFill>
                  <a:srgbClr val="BBBBCC"/>
                </a:solidFill>
                <a:latin typeface="Microsoft YaHei"/>
              </a:defRPr>
            </a:pPr>
            <a:r>
              <a:t>例: 学生表、课程表</a:t>
            </a:r>
          </a:p>
          <a:p>
            <a:pPr>
              <a:spcAft>
                <a:spcPts val="400"/>
              </a:spcAft>
              <a:defRPr sz="1300">
                <a:solidFill>
                  <a:srgbClr val="BBBBCC"/>
                </a:solidFill>
                <a:latin typeface="Microsoft YaHei"/>
              </a:defRPr>
            </a:pPr>
            <a:r>
              <a:t>分为独立的表</a:t>
            </a:r>
          </a:p>
        </p:txBody>
      </p:sp>
      <p:sp>
        <p:nvSpPr>
          <p:cNvPr id="15" name="Rounded Rectangle 14"/>
          <p:cNvSpPr/>
          <p:nvPr/>
        </p:nvSpPr>
        <p:spPr>
          <a:xfrm>
            <a:off x="548640" y="3931920"/>
            <a:ext cx="10972800" cy="2743200"/>
          </a:xfrm>
          <a:prstGeom prst="roundRect">
            <a:avLst>
              <a:gd name="adj" fmla="val 5000"/>
            </a:avLst>
          </a:prstGeom>
          <a:solidFill>
            <a:srgbClr val="25253D"/>
          </a:solidFill>
          <a:ln w="12700">
            <a:solidFill>
              <a:srgbClr val="A06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023360"/>
            <a:ext cx="10607040" cy="365760"/>
          </a:xfrm>
          <a:prstGeom prst="rect">
            <a:avLst/>
          </a:prstGeom>
          <a:noFill/>
        </p:spPr>
        <p:txBody>
          <a:bodyPr wrap="square">
            <a:spAutoFit/>
          </a:bodyPr>
          <a:lstStyle/>
          <a:p>
            <a:pPr algn="l">
              <a:defRPr sz="1500" b="1">
                <a:solidFill>
                  <a:srgbClr val="A06CFF"/>
                </a:solidFill>
                <a:latin typeface="Microsoft YaHei"/>
              </a:defRPr>
            </a:pPr>
            <a:r>
              <a:t>Messy Data的5种类型 (Wickham 2014)</a:t>
            </a:r>
          </a:p>
        </p:txBody>
      </p:sp>
      <p:sp>
        <p:nvSpPr>
          <p:cNvPr id="17" name="TextBox 16"/>
          <p:cNvSpPr txBox="1"/>
          <p:nvPr/>
        </p:nvSpPr>
        <p:spPr>
          <a:xfrm>
            <a:off x="731520" y="4389120"/>
            <a:ext cx="10607040" cy="2194560"/>
          </a:xfrm>
          <a:prstGeom prst="rect">
            <a:avLst/>
          </a:prstGeom>
          <a:noFill/>
        </p:spPr>
        <p:txBody>
          <a:bodyPr wrap="square">
            <a:spAutoFit/>
          </a:bodyPr>
          <a:lstStyle/>
          <a:p>
            <a:pPr>
              <a:spcAft>
                <a:spcPts val="400"/>
              </a:spcAft>
              <a:defRPr sz="1300">
                <a:solidFill>
                  <a:srgbClr val="BBBBCC"/>
                </a:solidFill>
                <a:latin typeface="Microsoft YaHei"/>
              </a:defRPr>
            </a:pPr>
            <a:r>
              <a:t>(1) 列标题是值而非变量名  -&gt;  用melt()转换</a:t>
            </a:r>
          </a:p>
          <a:p>
            <a:pPr>
              <a:spcAft>
                <a:spcPts val="400"/>
              </a:spcAft>
              <a:defRPr sz="1300">
                <a:solidFill>
                  <a:srgbClr val="BBBBCC"/>
                </a:solidFill>
                <a:latin typeface="Microsoft YaHei"/>
              </a:defRPr>
            </a:pPr>
            <a:r>
              <a:t>(2) 一列中存储了多个变量  -&gt;  用str.split() + assign()分离</a:t>
            </a:r>
          </a:p>
          <a:p>
            <a:pPr>
              <a:spcAft>
                <a:spcPts val="400"/>
              </a:spcAft>
              <a:defRPr sz="1300">
                <a:solidFill>
                  <a:srgbClr val="BBBBCC"/>
                </a:solidFill>
                <a:latin typeface="Microsoft YaHei"/>
              </a:defRPr>
            </a:pPr>
            <a:r>
              <a:t>(3) 变量同时存储在行和列中  -&gt;  melt() + pivot() 组合</a:t>
            </a:r>
          </a:p>
          <a:p>
            <a:pPr>
              <a:spcAft>
                <a:spcPts val="400"/>
              </a:spcAft>
              <a:defRPr sz="1300">
                <a:solidFill>
                  <a:srgbClr val="BBBBCC"/>
                </a:solidFill>
                <a:latin typeface="Microsoft YaHei"/>
              </a:defRPr>
            </a:pPr>
            <a:r>
              <a:t>(4) 一个表中混合了多个观测单位  -&gt;  分离表</a:t>
            </a:r>
          </a:p>
          <a:p>
            <a:pPr>
              <a:spcAft>
                <a:spcPts val="400"/>
              </a:spcAft>
              <a:defRPr sz="1300">
                <a:solidFill>
                  <a:srgbClr val="BBBBCC"/>
                </a:solidFill>
                <a:latin typeface="Microsoft YaHei"/>
              </a:defRPr>
            </a:pPr>
            <a:r>
              <a:t>(5) 一个观测单位分散在多个表中  -&gt;  用merge()合并</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scikit-learn的输入格式 '行=样本, 列=特征' 与Tidy Data原则完全一致!</a:t>
            </a:r>
          </a:p>
          <a:p>
            <a:pPr>
              <a:spcAft>
                <a:spcPts val="400"/>
              </a:spcAft>
              <a:defRPr sz="1300">
                <a:solidFill>
                  <a:srgbClr val="BBBBCC"/>
                </a:solidFill>
                <a:latin typeface="Microsoft YaHei"/>
              </a:defRPr>
            </a:pPr>
            <a:r>
              <a:t>Tidy Data -&gt; groupby/agg自然运行, seaborn可视化兼容, 直接投入ML管道</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5</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melt/pivot: Messy -&gt; Tidy转换</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Wide Format &lt;-&gt; Long Format转换</a:t>
            </a:r>
          </a:p>
        </p:txBody>
      </p:sp>
      <p:sp>
        <p:nvSpPr>
          <p:cNvPr id="6" name="Rounded Rectangle 5"/>
          <p:cNvSpPr/>
          <p:nvPr/>
        </p:nvSpPr>
        <p:spPr>
          <a:xfrm>
            <a:off x="548640" y="1828800"/>
            <a:ext cx="5486400" cy="438912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65960"/>
            <a:ext cx="5120640" cy="4114800"/>
          </a:xfrm>
          <a:prstGeom prst="rect">
            <a:avLst/>
          </a:prstGeom>
          <a:noFill/>
        </p:spPr>
        <p:txBody>
          <a:bodyPr wrap="square">
            <a:spAutoFit/>
          </a:bodyPr>
          <a:lstStyle/>
          <a:p>
            <a:pPr>
              <a:spcAft>
                <a:spcPts val="200"/>
              </a:spcAft>
              <a:defRPr sz="1100">
                <a:solidFill>
                  <a:srgbClr val="00E696"/>
                </a:solidFill>
                <a:latin typeface="Consolas"/>
              </a:defRPr>
            </a:pPr>
            <a:r>
              <a:t># Messy: 列标题是值的情况</a:t>
            </a:r>
          </a:p>
          <a:p>
            <a:pPr>
              <a:spcAft>
                <a:spcPts val="200"/>
              </a:spcAft>
              <a:defRPr sz="1100">
                <a:solidFill>
                  <a:srgbClr val="00E696"/>
                </a:solidFill>
                <a:latin typeface="Consolas"/>
              </a:defRPr>
            </a:pPr>
            <a:r>
              <a:t>messy = pd.DataFrame({</a:t>
            </a:r>
          </a:p>
          <a:p>
            <a:pPr>
              <a:spcAft>
                <a:spcPts val="200"/>
              </a:spcAft>
              <a:defRPr sz="1100">
                <a:solidFill>
                  <a:srgbClr val="00E696"/>
                </a:solidFill>
                <a:latin typeface="Consolas"/>
              </a:defRPr>
            </a:pPr>
            <a:r>
              <a:t>    '姓名': ['张三', '李四'],</a:t>
            </a:r>
          </a:p>
          <a:p>
            <a:pPr>
              <a:spcAft>
                <a:spcPts val="200"/>
              </a:spcAft>
              <a:defRPr sz="1100">
                <a:solidFill>
                  <a:srgbClr val="00E696"/>
                </a:solidFill>
                <a:latin typeface="Consolas"/>
              </a:defRPr>
            </a:pPr>
            <a:r>
              <a:t>    '2023_语文': [85, 92],</a:t>
            </a:r>
          </a:p>
          <a:p>
            <a:pPr>
              <a:spcAft>
                <a:spcPts val="200"/>
              </a:spcAft>
              <a:defRPr sz="1100">
                <a:solidFill>
                  <a:srgbClr val="00E696"/>
                </a:solidFill>
                <a:latin typeface="Consolas"/>
              </a:defRPr>
            </a:pPr>
            <a:r>
              <a:t>    '2023_数学': [90, 88],</a:t>
            </a:r>
          </a:p>
          <a:p>
            <a:pPr>
              <a:spcAft>
                <a:spcPts val="200"/>
              </a:spcAft>
              <a:defRPr sz="1100">
                <a:solidFill>
                  <a:srgbClr val="00E696"/>
                </a:solidFill>
                <a:latin typeface="Consolas"/>
              </a:defRPr>
            </a:pPr>
            <a:r>
              <a:t>    '2024_语文': [88, 95],</a:t>
            </a:r>
          </a:p>
          <a:p>
            <a:pPr>
              <a:spcAft>
                <a:spcPts val="200"/>
              </a:spcAft>
              <a:defRPr sz="1100">
                <a:solidFill>
                  <a:srgbClr val="00E696"/>
                </a:solidFill>
                <a:latin typeface="Consolas"/>
              </a:defRPr>
            </a:pPr>
            <a:r>
              <a:t>    '2024_数学': [92, 90]</a:t>
            </a:r>
          </a:p>
          <a:p>
            <a:pPr>
              <a:spcAft>
                <a:spcPts val="200"/>
              </a:spcAft>
              <a:defRPr sz="1100">
                <a:solidFill>
                  <a:srgbClr val="00E696"/>
                </a:solidFill>
                <a:latin typeface="Consolas"/>
              </a:defRPr>
            </a:pPr>
            <a:r>
              <a:t>})</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转换为Tidy</a:t>
            </a:r>
          </a:p>
          <a:p>
            <a:pPr>
              <a:spcAft>
                <a:spcPts val="200"/>
              </a:spcAft>
              <a:defRPr sz="1100">
                <a:solidFill>
                  <a:srgbClr val="00E696"/>
                </a:solidFill>
                <a:latin typeface="Consolas"/>
              </a:defRPr>
            </a:pPr>
            <a:r>
              <a:t>tidy = (messy</a:t>
            </a:r>
          </a:p>
          <a:p>
            <a:pPr>
              <a:spcAft>
                <a:spcPts val="200"/>
              </a:spcAft>
              <a:defRPr sz="1100">
                <a:solidFill>
                  <a:srgbClr val="00E696"/>
                </a:solidFill>
                <a:latin typeface="Consolas"/>
              </a:defRPr>
            </a:pPr>
            <a:r>
              <a:t>    .melt(id_vars='姓名',</a:t>
            </a:r>
          </a:p>
          <a:p>
            <a:pPr>
              <a:spcAft>
                <a:spcPts val="200"/>
              </a:spcAft>
              <a:defRPr sz="1100">
                <a:solidFill>
                  <a:srgbClr val="00E696"/>
                </a:solidFill>
                <a:latin typeface="Consolas"/>
              </a:defRPr>
            </a:pPr>
            <a:r>
              <a:t>          var_name='科目_年份',</a:t>
            </a:r>
          </a:p>
          <a:p>
            <a:pPr>
              <a:spcAft>
                <a:spcPts val="200"/>
              </a:spcAft>
              <a:defRPr sz="1100">
                <a:solidFill>
                  <a:srgbClr val="00E696"/>
                </a:solidFill>
                <a:latin typeface="Consolas"/>
              </a:defRPr>
            </a:pPr>
            <a:r>
              <a:t>          value_name='分数')</a:t>
            </a:r>
          </a:p>
          <a:p>
            <a:pPr>
              <a:spcAft>
                <a:spcPts val="200"/>
              </a:spcAft>
              <a:defRPr sz="1100">
                <a:solidFill>
                  <a:srgbClr val="00E696"/>
                </a:solidFill>
                <a:latin typeface="Consolas"/>
              </a:defRPr>
            </a:pPr>
            <a:r>
              <a:t>    .assign(</a:t>
            </a:r>
          </a:p>
          <a:p>
            <a:pPr>
              <a:spcAft>
                <a:spcPts val="200"/>
              </a:spcAft>
              <a:defRPr sz="1100">
                <a:solidFill>
                  <a:srgbClr val="00E696"/>
                </a:solidFill>
                <a:latin typeface="Consolas"/>
              </a:defRPr>
            </a:pPr>
            <a:r>
              <a:t>        年份=lambda x: x['科目_年份'].str.split('_').str[0],</a:t>
            </a:r>
          </a:p>
          <a:p>
            <a:pPr>
              <a:spcAft>
                <a:spcPts val="200"/>
              </a:spcAft>
              <a:defRPr sz="1100">
                <a:solidFill>
                  <a:srgbClr val="00E696"/>
                </a:solidFill>
                <a:latin typeface="Consolas"/>
              </a:defRPr>
            </a:pPr>
            <a:r>
              <a:t>        科目=lambda x: x['科目_年份'].str.split('_').str[1]</a:t>
            </a:r>
          </a:p>
          <a:p>
            <a:pPr>
              <a:spcAft>
                <a:spcPts val="200"/>
              </a:spcAft>
              <a:defRPr sz="1100">
                <a:solidFill>
                  <a:srgbClr val="00E696"/>
                </a:solidFill>
                <a:latin typeface="Consolas"/>
              </a:defRPr>
            </a:pPr>
            <a:r>
              <a:t>    )</a:t>
            </a:r>
          </a:p>
          <a:p>
            <a:pPr>
              <a:spcAft>
                <a:spcPts val="200"/>
              </a:spcAft>
              <a:defRPr sz="1100">
                <a:solidFill>
                  <a:srgbClr val="00E696"/>
                </a:solidFill>
                <a:latin typeface="Consolas"/>
              </a:defRPr>
            </a:pPr>
            <a:r>
              <a:t>    .drop(columns='科目_年份')</a:t>
            </a:r>
          </a:p>
          <a:p>
            <a:pPr>
              <a:spcAft>
                <a:spcPts val="200"/>
              </a:spcAft>
              <a:defRPr sz="1100">
                <a:solidFill>
                  <a:srgbClr val="00E696"/>
                </a:solidFill>
                <a:latin typeface="Consolas"/>
              </a:defRPr>
            </a:pPr>
            <a:r>
              <a:t>)</a:t>
            </a:r>
          </a:p>
        </p:txBody>
      </p:sp>
      <p:sp>
        <p:nvSpPr>
          <p:cNvPr id="8" name="Rounded Rectangle 7"/>
          <p:cNvSpPr/>
          <p:nvPr/>
        </p:nvSpPr>
        <p:spPr>
          <a:xfrm>
            <a:off x="6400800" y="1828800"/>
            <a:ext cx="5120640" cy="2286000"/>
          </a:xfrm>
          <a:prstGeom prst="roundRect">
            <a:avLst>
              <a:gd name="adj" fmla="val 5000"/>
            </a:avLst>
          </a:prstGeom>
          <a:solidFill>
            <a:srgbClr val="25253D"/>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920240"/>
            <a:ext cx="4754880" cy="365760"/>
          </a:xfrm>
          <a:prstGeom prst="rect">
            <a:avLst/>
          </a:prstGeom>
          <a:noFill/>
        </p:spPr>
        <p:txBody>
          <a:bodyPr wrap="square">
            <a:spAutoFit/>
          </a:bodyPr>
          <a:lstStyle/>
          <a:p>
            <a:pPr algn="l">
              <a:defRPr sz="1500" b="1">
                <a:solidFill>
                  <a:srgbClr val="00D2FF"/>
                </a:solidFill>
                <a:latin typeface="Microsoft YaHei"/>
              </a:defRPr>
            </a:pPr>
            <a:r>
              <a:t>melt() -- Wide -&gt; Long</a:t>
            </a:r>
          </a:p>
        </p:txBody>
      </p:sp>
      <p:sp>
        <p:nvSpPr>
          <p:cNvPr id="10" name="TextBox 9"/>
          <p:cNvSpPr txBox="1"/>
          <p:nvPr/>
        </p:nvSpPr>
        <p:spPr>
          <a:xfrm>
            <a:off x="6583680" y="2286000"/>
            <a:ext cx="4754880" cy="1737360"/>
          </a:xfrm>
          <a:prstGeom prst="rect">
            <a:avLst/>
          </a:prstGeom>
          <a:noFill/>
        </p:spPr>
        <p:txBody>
          <a:bodyPr wrap="square">
            <a:spAutoFit/>
          </a:bodyPr>
          <a:lstStyle/>
          <a:p>
            <a:pPr>
              <a:spcAft>
                <a:spcPts val="400"/>
              </a:spcAft>
              <a:defRPr sz="1300">
                <a:solidFill>
                  <a:srgbClr val="BBBBCC"/>
                </a:solidFill>
                <a:latin typeface="Microsoft YaHei"/>
              </a:defRPr>
            </a:pPr>
            <a:r>
              <a:t>id_vars: 保留的列 (标识符)</a:t>
            </a:r>
          </a:p>
          <a:p>
            <a:pPr>
              <a:spcAft>
                <a:spcPts val="400"/>
              </a:spcAft>
              <a:defRPr sz="1300">
                <a:solidFill>
                  <a:srgbClr val="BBBBCC"/>
                </a:solidFill>
                <a:latin typeface="Microsoft YaHei"/>
              </a:defRPr>
            </a:pPr>
            <a:r>
              <a:t>value_vars: 要融化的列 (省略则全部其余)</a:t>
            </a:r>
          </a:p>
          <a:p>
            <a:pPr>
              <a:spcAft>
                <a:spcPts val="400"/>
              </a:spcAft>
              <a:defRPr sz="1300">
                <a:solidFill>
                  <a:srgbClr val="BBBBCC"/>
                </a:solidFill>
                <a:latin typeface="Microsoft YaHei"/>
              </a:defRPr>
            </a:pPr>
            <a:r>
              <a:t>var_name: 变量名列的名称</a:t>
            </a:r>
          </a:p>
          <a:p>
            <a:pPr>
              <a:spcAft>
                <a:spcPts val="400"/>
              </a:spcAft>
              <a:defRPr sz="1300">
                <a:solidFill>
                  <a:srgbClr val="BBBBCC"/>
                </a:solidFill>
                <a:latin typeface="Microsoft YaHei"/>
              </a:defRPr>
            </a:pPr>
            <a:r>
              <a:t>value_name: 值列的名称</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结果: 宽表 -&gt; 长表</a:t>
            </a:r>
          </a:p>
        </p:txBody>
      </p:sp>
      <p:sp>
        <p:nvSpPr>
          <p:cNvPr id="11" name="Rounded Rectangle 10"/>
          <p:cNvSpPr/>
          <p:nvPr/>
        </p:nvSpPr>
        <p:spPr>
          <a:xfrm>
            <a:off x="6400800" y="4389120"/>
            <a:ext cx="5120640" cy="2194560"/>
          </a:xfrm>
          <a:prstGeom prst="roundRect">
            <a:avLst>
              <a:gd name="adj" fmla="val 5000"/>
            </a:avLst>
          </a:prstGeom>
          <a:solidFill>
            <a:srgbClr val="25253D"/>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4480560"/>
            <a:ext cx="4754880" cy="365760"/>
          </a:xfrm>
          <a:prstGeom prst="rect">
            <a:avLst/>
          </a:prstGeom>
          <a:noFill/>
        </p:spPr>
        <p:txBody>
          <a:bodyPr wrap="square">
            <a:spAutoFit/>
          </a:bodyPr>
          <a:lstStyle/>
          <a:p>
            <a:pPr algn="l">
              <a:defRPr sz="1500" b="1">
                <a:solidFill>
                  <a:srgbClr val="FF8C00"/>
                </a:solidFill>
                <a:latin typeface="Microsoft YaHei"/>
              </a:defRPr>
            </a:pPr>
            <a:r>
              <a:t>pivot() / pivot_table() -- Long -&gt; Wide</a:t>
            </a:r>
          </a:p>
        </p:txBody>
      </p:sp>
      <p:sp>
        <p:nvSpPr>
          <p:cNvPr id="13" name="TextBox 12"/>
          <p:cNvSpPr txBox="1"/>
          <p:nvPr/>
        </p:nvSpPr>
        <p:spPr>
          <a:xfrm>
            <a:off x="6583680" y="4846320"/>
            <a:ext cx="4754880" cy="1645920"/>
          </a:xfrm>
          <a:prstGeom prst="rect">
            <a:avLst/>
          </a:prstGeom>
          <a:noFill/>
        </p:spPr>
        <p:txBody>
          <a:bodyPr wrap="square">
            <a:spAutoFit/>
          </a:bodyPr>
          <a:lstStyle/>
          <a:p>
            <a:pPr>
              <a:spcAft>
                <a:spcPts val="400"/>
              </a:spcAft>
              <a:defRPr sz="1300">
                <a:solidFill>
                  <a:srgbClr val="BBBBCC"/>
                </a:solidFill>
                <a:latin typeface="Microsoft YaHei"/>
              </a:defRPr>
            </a:pPr>
            <a:r>
              <a:t>index: 成为行的列</a:t>
            </a:r>
          </a:p>
          <a:p>
            <a:pPr>
              <a:spcAft>
                <a:spcPts val="400"/>
              </a:spcAft>
              <a:defRPr sz="1300">
                <a:solidFill>
                  <a:srgbClr val="BBBBCC"/>
                </a:solidFill>
                <a:latin typeface="Microsoft YaHei"/>
              </a:defRPr>
            </a:pPr>
            <a:r>
              <a:t>columns: 成为列的列</a:t>
            </a:r>
          </a:p>
          <a:p>
            <a:pPr>
              <a:spcAft>
                <a:spcPts val="400"/>
              </a:spcAft>
              <a:defRPr sz="1300">
                <a:solidFill>
                  <a:srgbClr val="BBBBCC"/>
                </a:solidFill>
                <a:latin typeface="Microsoft YaHei"/>
              </a:defRPr>
            </a:pPr>
            <a:r>
              <a:t>values: 成为值的列</a:t>
            </a:r>
          </a:p>
          <a:p>
            <a:pPr>
              <a:spcAft>
                <a:spcPts val="400"/>
              </a:spcAft>
              <a:defRPr sz="1300">
                <a:solidFill>
                  <a:srgbClr val="BBBBCC"/>
                </a:solidFill>
                <a:latin typeface="Microsoft YaHei"/>
              </a:defRPr>
            </a:pPr>
            <a:r>
              <a:t>aggfunc: 聚合函数 (仅pivot_table)</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结果: 长表 -&gt; 宽表</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01028"/>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FF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0"/>
            <a:ext cx="12191695" cy="50800"/>
          </a:xfrm>
          <a:prstGeom prst="rect">
            <a:avLst/>
          </a:prstGeom>
          <a:solidFill>
            <a:srgbClr val="FF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1828800"/>
            <a:ext cx="12191695" cy="457200"/>
          </a:xfrm>
          <a:prstGeom prst="rect">
            <a:avLst/>
          </a:prstGeom>
          <a:noFill/>
        </p:spPr>
        <p:txBody>
          <a:bodyPr wrap="square">
            <a:spAutoFit/>
          </a:bodyPr>
          <a:lstStyle/>
          <a:p>
            <a:pPr algn="ctr">
              <a:defRPr sz="2000" b="1">
                <a:solidFill>
                  <a:srgbClr val="FF4545"/>
                </a:solidFill>
                <a:latin typeface="Microsoft YaHei"/>
              </a:defRPr>
            </a:pPr>
            <a:r>
              <a:t>SECTION 6</a:t>
            </a:r>
          </a:p>
        </p:txBody>
      </p:sp>
      <p:sp>
        <p:nvSpPr>
          <p:cNvPr id="5" name="Rectangle 4"/>
          <p:cNvSpPr/>
          <p:nvPr/>
        </p:nvSpPr>
        <p:spPr>
          <a:xfrm>
            <a:off x="5029200" y="2468880"/>
            <a:ext cx="2103120" cy="38100"/>
          </a:xfrm>
          <a:prstGeom prst="rect">
            <a:avLst/>
          </a:prstGeom>
          <a:solidFill>
            <a:srgbClr val="FF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743200"/>
            <a:ext cx="12191695" cy="914400"/>
          </a:xfrm>
          <a:prstGeom prst="rect">
            <a:avLst/>
          </a:prstGeom>
          <a:noFill/>
        </p:spPr>
        <p:txBody>
          <a:bodyPr wrap="square">
            <a:spAutoFit/>
          </a:bodyPr>
          <a:lstStyle/>
          <a:p>
            <a:pPr algn="ctr">
              <a:defRPr sz="4400" b="1">
                <a:solidFill>
                  <a:srgbClr val="FFFFFF"/>
                </a:solidFill>
                <a:latin typeface="Microsoft YaHei"/>
              </a:defRPr>
            </a:pPr>
            <a:r>
              <a:t>向量化 vs 循环: 性能的科学</a:t>
            </a:r>
          </a:p>
        </p:txBody>
      </p:sp>
      <p:sp>
        <p:nvSpPr>
          <p:cNvPr id="7" name="TextBox 6"/>
          <p:cNvSpPr txBox="1"/>
          <p:nvPr/>
        </p:nvSpPr>
        <p:spPr>
          <a:xfrm>
            <a:off x="0" y="3840480"/>
            <a:ext cx="12191695" cy="457200"/>
          </a:xfrm>
          <a:prstGeom prst="rect">
            <a:avLst/>
          </a:prstGeom>
          <a:noFill/>
        </p:spPr>
        <p:txBody>
          <a:bodyPr wrap="square">
            <a:spAutoFit/>
          </a:bodyPr>
          <a:lstStyle/>
          <a:p>
            <a:pPr algn="ctr">
              <a:defRPr sz="1800" b="0">
                <a:solidFill>
                  <a:srgbClr val="888899"/>
                </a:solidFill>
                <a:latin typeface="Microsoft YaHei"/>
              </a:defRPr>
            </a:pPr>
            <a:r>
              <a:t>相比Python循环提升100~1000倍速度的原理</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6</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向量化 vs 循环: 性能比较</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Harris et al. (2020) Nature论文确认的100~1000倍速度提升</a:t>
            </a:r>
          </a:p>
        </p:txBody>
      </p:sp>
      <p:sp>
        <p:nvSpPr>
          <p:cNvPr id="6" name="Rectangle 5"/>
          <p:cNvSpPr/>
          <p:nvPr/>
        </p:nvSpPr>
        <p:spPr>
          <a:xfrm>
            <a:off x="548640" y="1828800"/>
            <a:ext cx="2286000" cy="457200"/>
          </a:xfrm>
          <a:prstGeom prst="rect">
            <a:avLst/>
          </a:prstGeom>
          <a:solidFill>
            <a:srgbClr val="FF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28800"/>
            <a:ext cx="2286000" cy="457200"/>
          </a:xfrm>
          <a:prstGeom prst="rect">
            <a:avLst/>
          </a:prstGeom>
          <a:noFill/>
        </p:spPr>
        <p:txBody>
          <a:bodyPr wrap="square">
            <a:spAutoFit/>
          </a:bodyPr>
          <a:lstStyle/>
          <a:p>
            <a:pPr algn="ctr">
              <a:defRPr sz="1400" b="1">
                <a:solidFill>
                  <a:srgbClr val="FFFFFF"/>
                </a:solidFill>
                <a:latin typeface="Microsoft YaHei"/>
              </a:defRPr>
            </a:pPr>
            <a:r>
              <a:t>因素</a:t>
            </a:r>
          </a:p>
        </p:txBody>
      </p:sp>
      <p:sp>
        <p:nvSpPr>
          <p:cNvPr id="8" name="Rectangle 7"/>
          <p:cNvSpPr/>
          <p:nvPr/>
        </p:nvSpPr>
        <p:spPr>
          <a:xfrm>
            <a:off x="2834640" y="1828800"/>
            <a:ext cx="3200400" cy="457200"/>
          </a:xfrm>
          <a:prstGeom prst="rect">
            <a:avLst/>
          </a:prstGeom>
          <a:solidFill>
            <a:srgbClr val="FF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34640" y="1828800"/>
            <a:ext cx="3200400" cy="457200"/>
          </a:xfrm>
          <a:prstGeom prst="rect">
            <a:avLst/>
          </a:prstGeom>
          <a:noFill/>
        </p:spPr>
        <p:txBody>
          <a:bodyPr wrap="square">
            <a:spAutoFit/>
          </a:bodyPr>
          <a:lstStyle/>
          <a:p>
            <a:pPr algn="ctr">
              <a:defRPr sz="1400" b="1">
                <a:solidFill>
                  <a:srgbClr val="FFFFFF"/>
                </a:solidFill>
                <a:latin typeface="Microsoft YaHei"/>
              </a:defRPr>
            </a:pPr>
            <a:r>
              <a:t>Python循环</a:t>
            </a:r>
          </a:p>
        </p:txBody>
      </p:sp>
      <p:sp>
        <p:nvSpPr>
          <p:cNvPr id="10" name="Rectangle 9"/>
          <p:cNvSpPr/>
          <p:nvPr/>
        </p:nvSpPr>
        <p:spPr>
          <a:xfrm>
            <a:off x="6035040" y="1828800"/>
            <a:ext cx="3200400" cy="457200"/>
          </a:xfrm>
          <a:prstGeom prst="rect">
            <a:avLst/>
          </a:prstGeom>
          <a:solidFill>
            <a:srgbClr val="FF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0" y="1828800"/>
            <a:ext cx="3200400" cy="457200"/>
          </a:xfrm>
          <a:prstGeom prst="rect">
            <a:avLst/>
          </a:prstGeom>
          <a:noFill/>
        </p:spPr>
        <p:txBody>
          <a:bodyPr wrap="square">
            <a:spAutoFit/>
          </a:bodyPr>
          <a:lstStyle/>
          <a:p>
            <a:pPr algn="ctr">
              <a:defRPr sz="1400" b="1">
                <a:solidFill>
                  <a:srgbClr val="FFFFFF"/>
                </a:solidFill>
                <a:latin typeface="Microsoft YaHei"/>
              </a:defRPr>
            </a:pPr>
            <a:r>
              <a:t>NumPy向量化</a:t>
            </a:r>
          </a:p>
        </p:txBody>
      </p:sp>
      <p:sp>
        <p:nvSpPr>
          <p:cNvPr id="12" name="Rectangle 11"/>
          <p:cNvSpPr/>
          <p:nvPr/>
        </p:nvSpPr>
        <p:spPr>
          <a:xfrm>
            <a:off x="548640" y="2286000"/>
            <a:ext cx="22860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286000"/>
            <a:ext cx="2286000" cy="411480"/>
          </a:xfrm>
          <a:prstGeom prst="rect">
            <a:avLst/>
          </a:prstGeom>
          <a:noFill/>
        </p:spPr>
        <p:txBody>
          <a:bodyPr wrap="square">
            <a:spAutoFit/>
          </a:bodyPr>
          <a:lstStyle/>
          <a:p>
            <a:pPr algn="ctr">
              <a:defRPr sz="1200" b="1">
                <a:solidFill>
                  <a:srgbClr val="00D2FF"/>
                </a:solidFill>
                <a:latin typeface="Microsoft YaHei"/>
              </a:defRPr>
            </a:pPr>
            <a:r>
              <a:t>执行引擎</a:t>
            </a:r>
          </a:p>
        </p:txBody>
      </p:sp>
      <p:sp>
        <p:nvSpPr>
          <p:cNvPr id="14" name="Rectangle 13"/>
          <p:cNvSpPr/>
          <p:nvPr/>
        </p:nvSpPr>
        <p:spPr>
          <a:xfrm>
            <a:off x="2834640" y="2286000"/>
            <a:ext cx="32004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34640" y="2286000"/>
            <a:ext cx="3200400" cy="411480"/>
          </a:xfrm>
          <a:prstGeom prst="rect">
            <a:avLst/>
          </a:prstGeom>
          <a:noFill/>
        </p:spPr>
        <p:txBody>
          <a:bodyPr wrap="square">
            <a:spAutoFit/>
          </a:bodyPr>
          <a:lstStyle/>
          <a:p>
            <a:pPr algn="ctr">
              <a:defRPr sz="1200" b="0">
                <a:solidFill>
                  <a:srgbClr val="BBBBCC"/>
                </a:solidFill>
                <a:latin typeface="Microsoft YaHei"/>
              </a:defRPr>
            </a:pPr>
            <a:r>
              <a:t>Python解释器</a:t>
            </a:r>
          </a:p>
        </p:txBody>
      </p:sp>
      <p:sp>
        <p:nvSpPr>
          <p:cNvPr id="16" name="Rectangle 15"/>
          <p:cNvSpPr/>
          <p:nvPr/>
        </p:nvSpPr>
        <p:spPr>
          <a:xfrm>
            <a:off x="6035040" y="2286000"/>
            <a:ext cx="32004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0" y="2286000"/>
            <a:ext cx="3200400" cy="411480"/>
          </a:xfrm>
          <a:prstGeom prst="rect">
            <a:avLst/>
          </a:prstGeom>
          <a:noFill/>
        </p:spPr>
        <p:txBody>
          <a:bodyPr wrap="square">
            <a:spAutoFit/>
          </a:bodyPr>
          <a:lstStyle/>
          <a:p>
            <a:pPr algn="ctr">
              <a:defRPr sz="1200" b="0">
                <a:solidFill>
                  <a:srgbClr val="BBBBCC"/>
                </a:solidFill>
                <a:latin typeface="Microsoft YaHei"/>
              </a:defRPr>
            </a:pPr>
            <a:r>
              <a:t>C/Fortran编译代码</a:t>
            </a:r>
          </a:p>
        </p:txBody>
      </p:sp>
      <p:sp>
        <p:nvSpPr>
          <p:cNvPr id="18" name="Rectangle 17"/>
          <p:cNvSpPr/>
          <p:nvPr/>
        </p:nvSpPr>
        <p:spPr>
          <a:xfrm>
            <a:off x="548640" y="2697480"/>
            <a:ext cx="22860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697480"/>
            <a:ext cx="2286000" cy="411480"/>
          </a:xfrm>
          <a:prstGeom prst="rect">
            <a:avLst/>
          </a:prstGeom>
          <a:noFill/>
        </p:spPr>
        <p:txBody>
          <a:bodyPr wrap="square">
            <a:spAutoFit/>
          </a:bodyPr>
          <a:lstStyle/>
          <a:p>
            <a:pPr algn="ctr">
              <a:defRPr sz="1200" b="1">
                <a:solidFill>
                  <a:srgbClr val="00D2FF"/>
                </a:solidFill>
                <a:latin typeface="Microsoft YaHei"/>
              </a:defRPr>
            </a:pPr>
            <a:r>
              <a:t>类型检查</a:t>
            </a:r>
          </a:p>
        </p:txBody>
      </p:sp>
      <p:sp>
        <p:nvSpPr>
          <p:cNvPr id="20" name="Rectangle 19"/>
          <p:cNvSpPr/>
          <p:nvPr/>
        </p:nvSpPr>
        <p:spPr>
          <a:xfrm>
            <a:off x="2834640" y="2697480"/>
            <a:ext cx="32004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34640" y="2697480"/>
            <a:ext cx="3200400" cy="411480"/>
          </a:xfrm>
          <a:prstGeom prst="rect">
            <a:avLst/>
          </a:prstGeom>
          <a:noFill/>
        </p:spPr>
        <p:txBody>
          <a:bodyPr wrap="square">
            <a:spAutoFit/>
          </a:bodyPr>
          <a:lstStyle/>
          <a:p>
            <a:pPr algn="ctr">
              <a:defRPr sz="1200" b="0">
                <a:solidFill>
                  <a:srgbClr val="BBBBCC"/>
                </a:solidFill>
                <a:latin typeface="Microsoft YaHei"/>
              </a:defRPr>
            </a:pPr>
            <a:r>
              <a:t>每次运算</a:t>
            </a:r>
          </a:p>
        </p:txBody>
      </p:sp>
      <p:sp>
        <p:nvSpPr>
          <p:cNvPr id="22" name="Rectangle 21"/>
          <p:cNvSpPr/>
          <p:nvPr/>
        </p:nvSpPr>
        <p:spPr>
          <a:xfrm>
            <a:off x="6035040" y="2697480"/>
            <a:ext cx="32004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0" y="2697480"/>
            <a:ext cx="3200400" cy="411480"/>
          </a:xfrm>
          <a:prstGeom prst="rect">
            <a:avLst/>
          </a:prstGeom>
          <a:noFill/>
        </p:spPr>
        <p:txBody>
          <a:bodyPr wrap="square">
            <a:spAutoFit/>
          </a:bodyPr>
          <a:lstStyle/>
          <a:p>
            <a:pPr algn="ctr">
              <a:defRPr sz="1200" b="0">
                <a:solidFill>
                  <a:srgbClr val="BBBBCC"/>
                </a:solidFill>
                <a:latin typeface="Microsoft YaHei"/>
              </a:defRPr>
            </a:pPr>
            <a:r>
              <a:t>只做一次</a:t>
            </a:r>
          </a:p>
        </p:txBody>
      </p:sp>
      <p:sp>
        <p:nvSpPr>
          <p:cNvPr id="24" name="Rectangle 23"/>
          <p:cNvSpPr/>
          <p:nvPr/>
        </p:nvSpPr>
        <p:spPr>
          <a:xfrm>
            <a:off x="548640" y="3108960"/>
            <a:ext cx="22860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108960"/>
            <a:ext cx="2286000" cy="411480"/>
          </a:xfrm>
          <a:prstGeom prst="rect">
            <a:avLst/>
          </a:prstGeom>
          <a:noFill/>
        </p:spPr>
        <p:txBody>
          <a:bodyPr wrap="square">
            <a:spAutoFit/>
          </a:bodyPr>
          <a:lstStyle/>
          <a:p>
            <a:pPr algn="ctr">
              <a:defRPr sz="1200" b="1">
                <a:solidFill>
                  <a:srgbClr val="00D2FF"/>
                </a:solidFill>
                <a:latin typeface="Microsoft YaHei"/>
              </a:defRPr>
            </a:pPr>
            <a:r>
              <a:t>内存访问</a:t>
            </a:r>
          </a:p>
        </p:txBody>
      </p:sp>
      <p:sp>
        <p:nvSpPr>
          <p:cNvPr id="26" name="Rectangle 25"/>
          <p:cNvSpPr/>
          <p:nvPr/>
        </p:nvSpPr>
        <p:spPr>
          <a:xfrm>
            <a:off x="2834640" y="3108960"/>
            <a:ext cx="32004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34640" y="3108960"/>
            <a:ext cx="3200400" cy="411480"/>
          </a:xfrm>
          <a:prstGeom prst="rect">
            <a:avLst/>
          </a:prstGeom>
          <a:noFill/>
        </p:spPr>
        <p:txBody>
          <a:bodyPr wrap="square">
            <a:spAutoFit/>
          </a:bodyPr>
          <a:lstStyle/>
          <a:p>
            <a:pPr algn="ctr">
              <a:defRPr sz="1200" b="0">
                <a:solidFill>
                  <a:srgbClr val="BBBBCC"/>
                </a:solidFill>
                <a:latin typeface="Microsoft YaHei"/>
              </a:defRPr>
            </a:pPr>
            <a:r>
              <a:t>不连续 (指针追踪)</a:t>
            </a:r>
          </a:p>
        </p:txBody>
      </p:sp>
      <p:sp>
        <p:nvSpPr>
          <p:cNvPr id="28" name="Rectangle 27"/>
          <p:cNvSpPr/>
          <p:nvPr/>
        </p:nvSpPr>
        <p:spPr>
          <a:xfrm>
            <a:off x="6035040" y="3108960"/>
            <a:ext cx="32004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035040" y="3108960"/>
            <a:ext cx="3200400" cy="411480"/>
          </a:xfrm>
          <a:prstGeom prst="rect">
            <a:avLst/>
          </a:prstGeom>
          <a:noFill/>
        </p:spPr>
        <p:txBody>
          <a:bodyPr wrap="square">
            <a:spAutoFit/>
          </a:bodyPr>
          <a:lstStyle/>
          <a:p>
            <a:pPr algn="ctr">
              <a:defRPr sz="1200" b="0">
                <a:solidFill>
                  <a:srgbClr val="BBBBCC"/>
                </a:solidFill>
                <a:latin typeface="Microsoft YaHei"/>
              </a:defRPr>
            </a:pPr>
            <a:r>
              <a:t>连续 (缓存友好)</a:t>
            </a:r>
          </a:p>
        </p:txBody>
      </p:sp>
      <p:sp>
        <p:nvSpPr>
          <p:cNvPr id="30" name="Rectangle 29"/>
          <p:cNvSpPr/>
          <p:nvPr/>
        </p:nvSpPr>
        <p:spPr>
          <a:xfrm>
            <a:off x="548640" y="3520440"/>
            <a:ext cx="22860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3520440"/>
            <a:ext cx="2286000" cy="411480"/>
          </a:xfrm>
          <a:prstGeom prst="rect">
            <a:avLst/>
          </a:prstGeom>
          <a:noFill/>
        </p:spPr>
        <p:txBody>
          <a:bodyPr wrap="square">
            <a:spAutoFit/>
          </a:bodyPr>
          <a:lstStyle/>
          <a:p>
            <a:pPr algn="ctr">
              <a:defRPr sz="1200" b="1">
                <a:solidFill>
                  <a:srgbClr val="00D2FF"/>
                </a:solidFill>
                <a:latin typeface="Microsoft YaHei"/>
              </a:defRPr>
            </a:pPr>
            <a:r>
              <a:t>SIMD利用</a:t>
            </a:r>
          </a:p>
        </p:txBody>
      </p:sp>
      <p:sp>
        <p:nvSpPr>
          <p:cNvPr id="32" name="Rectangle 31"/>
          <p:cNvSpPr/>
          <p:nvPr/>
        </p:nvSpPr>
        <p:spPr>
          <a:xfrm>
            <a:off x="2834640" y="3520440"/>
            <a:ext cx="32004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34640" y="3520440"/>
            <a:ext cx="3200400" cy="411480"/>
          </a:xfrm>
          <a:prstGeom prst="rect">
            <a:avLst/>
          </a:prstGeom>
          <a:noFill/>
        </p:spPr>
        <p:txBody>
          <a:bodyPr wrap="square">
            <a:spAutoFit/>
          </a:bodyPr>
          <a:lstStyle/>
          <a:p>
            <a:pPr algn="ctr">
              <a:defRPr sz="1200" b="0">
                <a:solidFill>
                  <a:srgbClr val="BBBBCC"/>
                </a:solidFill>
                <a:latin typeface="Microsoft YaHei"/>
              </a:defRPr>
            </a:pPr>
            <a:r>
              <a:t>不可能</a:t>
            </a:r>
          </a:p>
        </p:txBody>
      </p:sp>
      <p:sp>
        <p:nvSpPr>
          <p:cNvPr id="34" name="Rectangle 33"/>
          <p:cNvSpPr/>
          <p:nvPr/>
        </p:nvSpPr>
        <p:spPr>
          <a:xfrm>
            <a:off x="6035040" y="3520440"/>
            <a:ext cx="32004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35040" y="3520440"/>
            <a:ext cx="3200400" cy="411480"/>
          </a:xfrm>
          <a:prstGeom prst="rect">
            <a:avLst/>
          </a:prstGeom>
          <a:noFill/>
        </p:spPr>
        <p:txBody>
          <a:bodyPr wrap="square">
            <a:spAutoFit/>
          </a:bodyPr>
          <a:lstStyle/>
          <a:p>
            <a:pPr algn="ctr">
              <a:defRPr sz="1200" b="0">
                <a:solidFill>
                  <a:srgbClr val="BBBBCC"/>
                </a:solidFill>
                <a:latin typeface="Microsoft YaHei"/>
              </a:defRPr>
            </a:pPr>
            <a:r>
              <a:t>可能 (SSE, AVX)</a:t>
            </a:r>
          </a:p>
        </p:txBody>
      </p:sp>
      <p:sp>
        <p:nvSpPr>
          <p:cNvPr id="36" name="Rectangle 35"/>
          <p:cNvSpPr/>
          <p:nvPr/>
        </p:nvSpPr>
        <p:spPr>
          <a:xfrm>
            <a:off x="548640" y="3931920"/>
            <a:ext cx="22860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3931920"/>
            <a:ext cx="2286000" cy="411480"/>
          </a:xfrm>
          <a:prstGeom prst="rect">
            <a:avLst/>
          </a:prstGeom>
          <a:noFill/>
        </p:spPr>
        <p:txBody>
          <a:bodyPr wrap="square">
            <a:spAutoFit/>
          </a:bodyPr>
          <a:lstStyle/>
          <a:p>
            <a:pPr algn="ctr">
              <a:defRPr sz="1200" b="1">
                <a:solidFill>
                  <a:srgbClr val="00D2FF"/>
                </a:solidFill>
                <a:latin typeface="Microsoft YaHei"/>
              </a:defRPr>
            </a:pPr>
            <a:r>
              <a:t>GIL</a:t>
            </a:r>
          </a:p>
        </p:txBody>
      </p:sp>
      <p:sp>
        <p:nvSpPr>
          <p:cNvPr id="38" name="Rectangle 37"/>
          <p:cNvSpPr/>
          <p:nvPr/>
        </p:nvSpPr>
        <p:spPr>
          <a:xfrm>
            <a:off x="2834640" y="3931920"/>
            <a:ext cx="32004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834640" y="3931920"/>
            <a:ext cx="3200400" cy="411480"/>
          </a:xfrm>
          <a:prstGeom prst="rect">
            <a:avLst/>
          </a:prstGeom>
          <a:noFill/>
        </p:spPr>
        <p:txBody>
          <a:bodyPr wrap="square">
            <a:spAutoFit/>
          </a:bodyPr>
          <a:lstStyle/>
          <a:p>
            <a:pPr algn="ctr">
              <a:defRPr sz="1200" b="0">
                <a:solidFill>
                  <a:srgbClr val="BBBBCC"/>
                </a:solidFill>
                <a:latin typeface="Microsoft YaHei"/>
              </a:defRPr>
            </a:pPr>
            <a:r>
              <a:t>持有</a:t>
            </a:r>
          </a:p>
        </p:txBody>
      </p:sp>
      <p:sp>
        <p:nvSpPr>
          <p:cNvPr id="40" name="Rectangle 39"/>
          <p:cNvSpPr/>
          <p:nvPr/>
        </p:nvSpPr>
        <p:spPr>
          <a:xfrm>
            <a:off x="6035040" y="3931920"/>
            <a:ext cx="32004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035040" y="3931920"/>
            <a:ext cx="3200400" cy="411480"/>
          </a:xfrm>
          <a:prstGeom prst="rect">
            <a:avLst/>
          </a:prstGeom>
          <a:noFill/>
        </p:spPr>
        <p:txBody>
          <a:bodyPr wrap="square">
            <a:spAutoFit/>
          </a:bodyPr>
          <a:lstStyle/>
          <a:p>
            <a:pPr algn="ctr">
              <a:defRPr sz="1200" b="0">
                <a:solidFill>
                  <a:srgbClr val="BBBBCC"/>
                </a:solidFill>
                <a:latin typeface="Microsoft YaHei"/>
              </a:defRPr>
            </a:pPr>
            <a:r>
              <a:t>可释放</a:t>
            </a:r>
          </a:p>
        </p:txBody>
      </p:sp>
      <p:sp>
        <p:nvSpPr>
          <p:cNvPr id="42" name="Rectangle 41"/>
          <p:cNvSpPr/>
          <p:nvPr/>
        </p:nvSpPr>
        <p:spPr>
          <a:xfrm>
            <a:off x="548640" y="4343400"/>
            <a:ext cx="22860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4343400"/>
            <a:ext cx="2286000" cy="411480"/>
          </a:xfrm>
          <a:prstGeom prst="rect">
            <a:avLst/>
          </a:prstGeom>
          <a:noFill/>
        </p:spPr>
        <p:txBody>
          <a:bodyPr wrap="square">
            <a:spAutoFit/>
          </a:bodyPr>
          <a:lstStyle/>
          <a:p>
            <a:pPr algn="ctr">
              <a:defRPr sz="1200" b="1">
                <a:solidFill>
                  <a:srgbClr val="00D2FF"/>
                </a:solidFill>
                <a:latin typeface="Microsoft YaHei"/>
              </a:defRPr>
            </a:pPr>
            <a:r>
              <a:t>BLAS/LAPACK</a:t>
            </a:r>
          </a:p>
        </p:txBody>
      </p:sp>
      <p:sp>
        <p:nvSpPr>
          <p:cNvPr id="44" name="Rectangle 43"/>
          <p:cNvSpPr/>
          <p:nvPr/>
        </p:nvSpPr>
        <p:spPr>
          <a:xfrm>
            <a:off x="2834640" y="4343400"/>
            <a:ext cx="32004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834640" y="4343400"/>
            <a:ext cx="3200400" cy="411480"/>
          </a:xfrm>
          <a:prstGeom prst="rect">
            <a:avLst/>
          </a:prstGeom>
          <a:noFill/>
        </p:spPr>
        <p:txBody>
          <a:bodyPr wrap="square">
            <a:spAutoFit/>
          </a:bodyPr>
          <a:lstStyle/>
          <a:p>
            <a:pPr algn="ctr">
              <a:defRPr sz="1200" b="0">
                <a:solidFill>
                  <a:srgbClr val="BBBBCC"/>
                </a:solidFill>
                <a:latin typeface="Microsoft YaHei"/>
              </a:defRPr>
            </a:pPr>
            <a:r>
              <a:t>未使用</a:t>
            </a:r>
          </a:p>
        </p:txBody>
      </p:sp>
      <p:sp>
        <p:nvSpPr>
          <p:cNvPr id="46" name="Rectangle 45"/>
          <p:cNvSpPr/>
          <p:nvPr/>
        </p:nvSpPr>
        <p:spPr>
          <a:xfrm>
            <a:off x="6035040" y="4343400"/>
            <a:ext cx="32004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035040" y="4343400"/>
            <a:ext cx="3200400" cy="411480"/>
          </a:xfrm>
          <a:prstGeom prst="rect">
            <a:avLst/>
          </a:prstGeom>
          <a:noFill/>
        </p:spPr>
        <p:txBody>
          <a:bodyPr wrap="square">
            <a:spAutoFit/>
          </a:bodyPr>
          <a:lstStyle/>
          <a:p>
            <a:pPr algn="ctr">
              <a:defRPr sz="1200" b="0">
                <a:solidFill>
                  <a:srgbClr val="BBBBCC"/>
                </a:solidFill>
                <a:latin typeface="Microsoft YaHei"/>
              </a:defRPr>
            </a:pPr>
            <a:r>
              <a:t>使用 (Intel MKL等)</a:t>
            </a:r>
          </a:p>
        </p:txBody>
      </p:sp>
      <p:sp>
        <p:nvSpPr>
          <p:cNvPr id="48" name="Rounded Rectangle 47"/>
          <p:cNvSpPr/>
          <p:nvPr/>
        </p:nvSpPr>
        <p:spPr>
          <a:xfrm>
            <a:off x="548640" y="4572000"/>
            <a:ext cx="5486400" cy="210312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31520" y="4709160"/>
            <a:ext cx="5120640" cy="1828800"/>
          </a:xfrm>
          <a:prstGeom prst="rect">
            <a:avLst/>
          </a:prstGeom>
          <a:noFill/>
        </p:spPr>
        <p:txBody>
          <a:bodyPr wrap="square">
            <a:spAutoFit/>
          </a:bodyPr>
          <a:lstStyle/>
          <a:p>
            <a:pPr>
              <a:spcAft>
                <a:spcPts val="200"/>
              </a:spcAft>
              <a:defRPr sz="1200">
                <a:solidFill>
                  <a:srgbClr val="00E696"/>
                </a:solidFill>
                <a:latin typeface="Consolas"/>
              </a:defRPr>
            </a:pPr>
            <a:r>
              <a:t>n = 1_000_000</a:t>
            </a:r>
          </a:p>
          <a:p>
            <a:pPr>
              <a:spcAft>
                <a:spcPts val="200"/>
              </a:spcAft>
              <a:defRPr sz="1200">
                <a:solidFill>
                  <a:srgbClr val="00E696"/>
                </a:solidFill>
                <a:latin typeface="Consolas"/>
              </a:defRPr>
            </a:pPr>
            <a:r>
              <a:t>a = np.random.randn(n); b = np.random.randn(n)</a:t>
            </a:r>
          </a:p>
          <a:p>
            <a:pPr>
              <a:spcAft>
                <a:spcPts val="200"/>
              </a:spcAft>
              <a:defRPr sz="1200">
                <a:solidFill>
                  <a:srgbClr val="00E696"/>
                </a:solidFill>
                <a:latin typeface="Consolas"/>
              </a:defRPr>
            </a:pPr>
          </a:p>
          <a:p>
            <a:pPr>
              <a:spcAft>
                <a:spcPts val="200"/>
              </a:spcAft>
              <a:defRPr sz="1200">
                <a:solidFill>
                  <a:srgbClr val="00E696"/>
                </a:solidFill>
                <a:latin typeface="Consolas"/>
              </a:defRPr>
            </a:pPr>
            <a:r>
              <a:t># Python循环: ~0.3秒</a:t>
            </a:r>
          </a:p>
          <a:p>
            <a:pPr>
              <a:spcAft>
                <a:spcPts val="200"/>
              </a:spcAft>
              <a:defRPr sz="1200">
                <a:solidFill>
                  <a:srgbClr val="00E696"/>
                </a:solidFill>
                <a:latin typeface="Consolas"/>
              </a:defRPr>
            </a:pPr>
            <a:r>
              <a:t>c_loop = [a[i]+b[i] for i in range(n)]</a:t>
            </a:r>
          </a:p>
          <a:p>
            <a:pPr>
              <a:spcAft>
                <a:spcPts val="200"/>
              </a:spcAft>
              <a:defRPr sz="1200">
                <a:solidFill>
                  <a:srgbClr val="00E696"/>
                </a:solidFill>
                <a:latin typeface="Consolas"/>
              </a:defRPr>
            </a:pPr>
          </a:p>
          <a:p>
            <a:pPr>
              <a:spcAft>
                <a:spcPts val="200"/>
              </a:spcAft>
              <a:defRPr sz="1200">
                <a:solidFill>
                  <a:srgbClr val="00E696"/>
                </a:solidFill>
                <a:latin typeface="Consolas"/>
              </a:defRPr>
            </a:pPr>
            <a:r>
              <a:t># NumPy向量化: ~0.001秒 (快300倍!)</a:t>
            </a:r>
          </a:p>
          <a:p>
            <a:pPr>
              <a:spcAft>
                <a:spcPts val="200"/>
              </a:spcAft>
              <a:defRPr sz="1200">
                <a:solidFill>
                  <a:srgbClr val="00E696"/>
                </a:solidFill>
                <a:latin typeface="Consolas"/>
              </a:defRPr>
            </a:pPr>
            <a:r>
              <a:t>c_vec = a + b</a:t>
            </a:r>
          </a:p>
        </p:txBody>
      </p:sp>
      <p:sp>
        <p:nvSpPr>
          <p:cNvPr id="50" name="Rounded Rectangle 49"/>
          <p:cNvSpPr/>
          <p:nvPr/>
        </p:nvSpPr>
        <p:spPr>
          <a:xfrm>
            <a:off x="6400800" y="4572000"/>
            <a:ext cx="5120640" cy="2103120"/>
          </a:xfrm>
          <a:prstGeom prst="roundRect">
            <a:avLst>
              <a:gd name="adj" fmla="val 5000"/>
            </a:avLst>
          </a:prstGeom>
          <a:solidFill>
            <a:srgbClr val="25253D"/>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583680" y="4663440"/>
            <a:ext cx="4754880" cy="365760"/>
          </a:xfrm>
          <a:prstGeom prst="rect">
            <a:avLst/>
          </a:prstGeom>
          <a:noFill/>
        </p:spPr>
        <p:txBody>
          <a:bodyPr wrap="square">
            <a:spAutoFit/>
          </a:bodyPr>
          <a:lstStyle/>
          <a:p>
            <a:pPr algn="l">
              <a:defRPr sz="1500" b="1">
                <a:solidFill>
                  <a:srgbClr val="FF8C00"/>
                </a:solidFill>
                <a:latin typeface="Microsoft YaHei"/>
              </a:defRPr>
            </a:pPr>
            <a:r>
              <a:t>速度提升原因总结</a:t>
            </a:r>
          </a:p>
        </p:txBody>
      </p:sp>
      <p:sp>
        <p:nvSpPr>
          <p:cNvPr id="52" name="TextBox 51"/>
          <p:cNvSpPr txBox="1"/>
          <p:nvPr/>
        </p:nvSpPr>
        <p:spPr>
          <a:xfrm>
            <a:off x="6583680" y="5029200"/>
            <a:ext cx="4754880" cy="1554480"/>
          </a:xfrm>
          <a:prstGeom prst="rect">
            <a:avLst/>
          </a:prstGeom>
          <a:noFill/>
        </p:spPr>
        <p:txBody>
          <a:bodyPr wrap="square">
            <a:spAutoFit/>
          </a:bodyPr>
          <a:lstStyle/>
          <a:p>
            <a:pPr>
              <a:spcAft>
                <a:spcPts val="400"/>
              </a:spcAft>
              <a:defRPr sz="1300">
                <a:solidFill>
                  <a:srgbClr val="BBBBCC"/>
                </a:solidFill>
                <a:latin typeface="Microsoft YaHei"/>
              </a:defRPr>
            </a:pPr>
            <a:r>
              <a:t>1. C编译代码: 消除Python解释器开销</a:t>
            </a:r>
          </a:p>
          <a:p>
            <a:pPr>
              <a:spcAft>
                <a:spcPts val="400"/>
              </a:spcAft>
              <a:defRPr sz="1300">
                <a:solidFill>
                  <a:srgbClr val="BBBBCC"/>
                </a:solidFill>
                <a:latin typeface="Microsoft YaHei"/>
              </a:defRPr>
            </a:pPr>
            <a:r>
              <a:t>2. 连续内存: 最大化CPU L1/L2缓存命中率</a:t>
            </a:r>
          </a:p>
          <a:p>
            <a:pPr>
              <a:spcAft>
                <a:spcPts val="400"/>
              </a:spcAft>
              <a:defRPr sz="1300">
                <a:solidFill>
                  <a:srgbClr val="BBBBCC"/>
                </a:solidFill>
                <a:latin typeface="Microsoft YaHei"/>
              </a:defRPr>
            </a:pPr>
            <a:r>
              <a:t>3. SIMD: 单条指令同时处理多个数据</a:t>
            </a:r>
          </a:p>
          <a:p>
            <a:pPr>
              <a:spcAft>
                <a:spcPts val="400"/>
              </a:spcAft>
              <a:defRPr sz="1300">
                <a:solidFill>
                  <a:srgbClr val="BBBBCC"/>
                </a:solidFill>
                <a:latin typeface="Microsoft YaHei"/>
              </a:defRPr>
            </a:pPr>
            <a:r>
              <a:t>4. 省略类型检查: 同质dtype只需检查一次</a:t>
            </a:r>
          </a:p>
          <a:p>
            <a:pPr>
              <a:spcAft>
                <a:spcPts val="400"/>
              </a:spcAft>
              <a:defRPr sz="1300">
                <a:solidFill>
                  <a:srgbClr val="BBBBCC"/>
                </a:solidFill>
                <a:latin typeface="Microsoft YaHei"/>
              </a:defRPr>
            </a:pPr>
            <a:r>
              <a:t>5. BLAS/LAPACK: 使用优化的数值库</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6</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SIMD与CPU缓存的作用</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向量化性能的硬件原理</a:t>
            </a:r>
          </a:p>
        </p:txBody>
      </p:sp>
      <p:sp>
        <p:nvSpPr>
          <p:cNvPr id="6" name="Rounded Rectangle 5"/>
          <p:cNvSpPr/>
          <p:nvPr/>
        </p:nvSpPr>
        <p:spPr>
          <a:xfrm>
            <a:off x="548640" y="1828800"/>
            <a:ext cx="5303520" cy="2286000"/>
          </a:xfrm>
          <a:prstGeom prst="roundRect">
            <a:avLst>
              <a:gd name="adj" fmla="val 5000"/>
            </a:avLst>
          </a:prstGeom>
          <a:solidFill>
            <a:srgbClr val="25253D"/>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20240"/>
            <a:ext cx="4937760" cy="365760"/>
          </a:xfrm>
          <a:prstGeom prst="rect">
            <a:avLst/>
          </a:prstGeom>
          <a:noFill/>
        </p:spPr>
        <p:txBody>
          <a:bodyPr wrap="square">
            <a:spAutoFit/>
          </a:bodyPr>
          <a:lstStyle/>
          <a:p>
            <a:pPr algn="l">
              <a:defRPr sz="1500" b="1">
                <a:solidFill>
                  <a:srgbClr val="00D2FF"/>
                </a:solidFill>
                <a:latin typeface="Microsoft YaHei"/>
              </a:defRPr>
            </a:pPr>
            <a:r>
              <a:t>SIMD (Single Instruction, Multiple Data)</a:t>
            </a:r>
          </a:p>
        </p:txBody>
      </p:sp>
      <p:sp>
        <p:nvSpPr>
          <p:cNvPr id="8" name="TextBox 7"/>
          <p:cNvSpPr txBox="1"/>
          <p:nvPr/>
        </p:nvSpPr>
        <p:spPr>
          <a:xfrm>
            <a:off x="731520" y="2286000"/>
            <a:ext cx="4937760" cy="1737360"/>
          </a:xfrm>
          <a:prstGeom prst="rect">
            <a:avLst/>
          </a:prstGeom>
          <a:noFill/>
        </p:spPr>
        <p:txBody>
          <a:bodyPr wrap="square">
            <a:spAutoFit/>
          </a:bodyPr>
          <a:lstStyle/>
          <a:p>
            <a:pPr>
              <a:spcAft>
                <a:spcPts val="400"/>
              </a:spcAft>
              <a:defRPr sz="1300">
                <a:solidFill>
                  <a:srgbClr val="BBBBCC"/>
                </a:solidFill>
                <a:latin typeface="Microsoft YaHei"/>
              </a:defRPr>
            </a:pPr>
            <a:r>
              <a:t>一条CPU指令同时处理多个数据</a:t>
            </a:r>
          </a:p>
          <a:p>
            <a:pPr>
              <a:spcAft>
                <a:spcPts val="400"/>
              </a:spcAft>
              <a:defRPr sz="1300">
                <a:solidFill>
                  <a:srgbClr val="BBBBCC"/>
                </a:solidFill>
                <a:latin typeface="Microsoft YaHei"/>
              </a:defRPr>
            </a:pPr>
            <a:r>
              <a:t>AVX-256: 一次运算8个float32</a:t>
            </a:r>
          </a:p>
          <a:p>
            <a:pPr>
              <a:spcAft>
                <a:spcPts val="400"/>
              </a:spcAft>
              <a:defRPr sz="1300">
                <a:solidFill>
                  <a:srgbClr val="BBBBCC"/>
                </a:solidFill>
                <a:latin typeface="Microsoft YaHei"/>
              </a:defRPr>
            </a:pPr>
            <a:r>
              <a:t>AVX-512: 一次运算16个float32</a:t>
            </a:r>
          </a:p>
          <a:p>
            <a:pPr>
              <a:spcAft>
                <a:spcPts val="400"/>
              </a:spcAft>
              <a:defRPr sz="1300">
                <a:solidFill>
                  <a:srgbClr val="BBBBCC"/>
                </a:solidFill>
                <a:latin typeface="Microsoft YaHei"/>
              </a:defRPr>
            </a:pPr>
            <a:r>
              <a:t>NumPy内部利用SIMD指令</a:t>
            </a:r>
          </a:p>
          <a:p>
            <a:pPr>
              <a:spcAft>
                <a:spcPts val="400"/>
              </a:spcAft>
              <a:defRPr sz="1300">
                <a:solidFill>
                  <a:srgbClr val="BBBBCC"/>
                </a:solidFill>
                <a:latin typeface="Microsoft YaHei"/>
              </a:defRPr>
            </a:pPr>
            <a:r>
              <a:t>Python循环中无法利用SIMD</a:t>
            </a:r>
          </a:p>
        </p:txBody>
      </p:sp>
      <p:sp>
        <p:nvSpPr>
          <p:cNvPr id="9" name="Rounded Rectangle 8"/>
          <p:cNvSpPr/>
          <p:nvPr/>
        </p:nvSpPr>
        <p:spPr>
          <a:xfrm>
            <a:off x="6217920" y="1828800"/>
            <a:ext cx="5303520" cy="2286000"/>
          </a:xfrm>
          <a:prstGeom prst="roundRect">
            <a:avLst>
              <a:gd name="adj" fmla="val 5000"/>
            </a:avLst>
          </a:prstGeom>
          <a:solidFill>
            <a:srgbClr val="25253D"/>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937760" cy="365760"/>
          </a:xfrm>
          <a:prstGeom prst="rect">
            <a:avLst/>
          </a:prstGeom>
          <a:noFill/>
        </p:spPr>
        <p:txBody>
          <a:bodyPr wrap="square">
            <a:spAutoFit/>
          </a:bodyPr>
          <a:lstStyle/>
          <a:p>
            <a:pPr algn="l">
              <a:defRPr sz="1500" b="1">
                <a:solidFill>
                  <a:srgbClr val="FF8C00"/>
                </a:solidFill>
                <a:latin typeface="Microsoft YaHei"/>
              </a:defRPr>
            </a:pPr>
            <a:r>
              <a:t>CPU缓存效率</a:t>
            </a:r>
          </a:p>
        </p:txBody>
      </p:sp>
      <p:sp>
        <p:nvSpPr>
          <p:cNvPr id="11" name="TextBox 10"/>
          <p:cNvSpPr txBox="1"/>
          <p:nvPr/>
        </p:nvSpPr>
        <p:spPr>
          <a:xfrm>
            <a:off x="6400800" y="2286000"/>
            <a:ext cx="4937760" cy="1737360"/>
          </a:xfrm>
          <a:prstGeom prst="rect">
            <a:avLst/>
          </a:prstGeom>
          <a:noFill/>
        </p:spPr>
        <p:txBody>
          <a:bodyPr wrap="square">
            <a:spAutoFit/>
          </a:bodyPr>
          <a:lstStyle/>
          <a:p>
            <a:pPr>
              <a:spcAft>
                <a:spcPts val="400"/>
              </a:spcAft>
              <a:defRPr sz="1300">
                <a:solidFill>
                  <a:srgbClr val="BBBBCC"/>
                </a:solidFill>
                <a:latin typeface="Microsoft YaHei"/>
              </a:defRPr>
            </a:pPr>
            <a:r>
              <a:t>NumPy数组: 连续内存 -&gt; L1/L2缓存命中率高</a:t>
            </a:r>
          </a:p>
          <a:p>
            <a:pPr>
              <a:spcAft>
                <a:spcPts val="400"/>
              </a:spcAft>
              <a:defRPr sz="1300">
                <a:solidFill>
                  <a:srgbClr val="BBBBCC"/>
                </a:solidFill>
                <a:latin typeface="Microsoft YaHei"/>
              </a:defRPr>
            </a:pPr>
            <a:r>
              <a:t>Python列表: 指针间接访问 -&gt; 缓存未命中频繁</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L1缓存: ~1ns (最快, 32~64KB)</a:t>
            </a:r>
          </a:p>
          <a:p>
            <a:pPr>
              <a:spcAft>
                <a:spcPts val="400"/>
              </a:spcAft>
              <a:defRPr sz="1300">
                <a:solidFill>
                  <a:srgbClr val="BBBBCC"/>
                </a:solidFill>
                <a:latin typeface="Microsoft YaHei"/>
              </a:defRPr>
            </a:pPr>
            <a:r>
              <a:t>L2缓存: ~4ns (256KB~1MB)</a:t>
            </a:r>
          </a:p>
          <a:p>
            <a:pPr>
              <a:spcAft>
                <a:spcPts val="400"/>
              </a:spcAft>
              <a:defRPr sz="1300">
                <a:solidFill>
                  <a:srgbClr val="BBBBCC"/>
                </a:solidFill>
                <a:latin typeface="Microsoft YaHei"/>
              </a:defRPr>
            </a:pPr>
            <a:r>
              <a:t>主内存: ~100ns (非常慢)</a:t>
            </a:r>
          </a:p>
        </p:txBody>
      </p:sp>
      <p:sp>
        <p:nvSpPr>
          <p:cNvPr id="12" name="Rounded Rectangle 11"/>
          <p:cNvSpPr/>
          <p:nvPr/>
        </p:nvSpPr>
        <p:spPr>
          <a:xfrm>
            <a:off x="548640" y="4389120"/>
            <a:ext cx="5303520" cy="228600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480560"/>
            <a:ext cx="4937760" cy="365760"/>
          </a:xfrm>
          <a:prstGeom prst="rect">
            <a:avLst/>
          </a:prstGeom>
          <a:noFill/>
        </p:spPr>
        <p:txBody>
          <a:bodyPr wrap="square">
            <a:spAutoFit/>
          </a:bodyPr>
          <a:lstStyle/>
          <a:p>
            <a:pPr algn="l">
              <a:defRPr sz="1500" b="1">
                <a:solidFill>
                  <a:srgbClr val="00E696"/>
                </a:solidFill>
                <a:latin typeface="Microsoft YaHei"/>
              </a:defRPr>
            </a:pPr>
            <a:r>
              <a:t>实战基准测试: 成对欧氏距离</a:t>
            </a:r>
          </a:p>
        </p:txBody>
      </p:sp>
      <p:sp>
        <p:nvSpPr>
          <p:cNvPr id="14" name="TextBox 13"/>
          <p:cNvSpPr txBox="1"/>
          <p:nvPr/>
        </p:nvSpPr>
        <p:spPr>
          <a:xfrm>
            <a:off x="731520" y="4846320"/>
            <a:ext cx="4937760" cy="1737360"/>
          </a:xfrm>
          <a:prstGeom prst="rect">
            <a:avLst/>
          </a:prstGeom>
          <a:noFill/>
        </p:spPr>
        <p:txBody>
          <a:bodyPr wrap="square">
            <a:spAutoFit/>
          </a:bodyPr>
          <a:lstStyle/>
          <a:p>
            <a:pPr>
              <a:spcAft>
                <a:spcPts val="400"/>
              </a:spcAft>
              <a:defRPr sz="1300">
                <a:solidFill>
                  <a:srgbClr val="BBBBCC"/>
                </a:solidFill>
                <a:latin typeface="Microsoft YaHei"/>
              </a:defRPr>
            </a:pPr>
            <a:r>
              <a:t>200x300 成对距离计算结果:</a:t>
            </a:r>
          </a:p>
          <a:p>
            <a:pPr>
              <a:spcAft>
                <a:spcPts val="400"/>
              </a:spcAft>
              <a:defRPr sz="1300">
                <a:solidFill>
                  <a:srgbClr val="BBBBCC"/>
                </a:solidFill>
                <a:latin typeface="Microsoft YaHei"/>
              </a:defRPr>
            </a:pPr>
            <a:r>
              <a:t>  Python 三重循环: ~15秒</a:t>
            </a:r>
          </a:p>
          <a:p>
            <a:pPr>
              <a:spcAft>
                <a:spcPts val="400"/>
              </a:spcAft>
              <a:defRPr sz="1300">
                <a:solidFill>
                  <a:srgbClr val="BBBBCC"/>
                </a:solidFill>
                <a:latin typeface="Microsoft YaHei"/>
              </a:defRPr>
            </a:pPr>
            <a:r>
              <a:t>  NumPy 向量化: ~0.01秒</a:t>
            </a:r>
          </a:p>
          <a:p>
            <a:pPr>
              <a:spcAft>
                <a:spcPts val="400"/>
              </a:spcAft>
              <a:defRPr sz="1300">
                <a:solidFill>
                  <a:srgbClr val="BBBBCC"/>
                </a:solidFill>
                <a:latin typeface="Microsoft YaHei"/>
              </a:defRPr>
            </a:pPr>
            <a:r>
              <a:t>  Numba JIT: ~0.02秒</a:t>
            </a:r>
          </a:p>
          <a:p>
            <a:pPr>
              <a:spcAft>
                <a:spcPts val="400"/>
              </a:spcAft>
              <a:defRPr sz="1300">
                <a:solidFill>
                  <a:srgbClr val="BBBBCC"/>
                </a:solidFill>
                <a:latin typeface="Microsoft YaHei"/>
              </a:defRPr>
            </a:pPr>
            <a:r>
              <a:t>  Numba parallel: ~0.005秒</a:t>
            </a:r>
          </a:p>
          <a:p>
            <a:pPr>
              <a:spcAft>
                <a:spcPts val="400"/>
              </a:spcAft>
              <a:defRPr sz="1300">
                <a:solidFill>
                  <a:srgbClr val="BBBBCC"/>
                </a:solidFill>
                <a:latin typeface="Microsoft YaHei"/>
              </a:defRPr>
            </a:pPr>
            <a:r>
              <a:t>向量化比循环快约500~1000倍!</a:t>
            </a:r>
          </a:p>
        </p:txBody>
      </p:sp>
      <p:sp>
        <p:nvSpPr>
          <p:cNvPr id="15" name="Rounded Rectangle 14"/>
          <p:cNvSpPr/>
          <p:nvPr/>
        </p:nvSpPr>
        <p:spPr>
          <a:xfrm>
            <a:off x="6217920" y="4389120"/>
            <a:ext cx="5303520" cy="2286000"/>
          </a:xfrm>
          <a:prstGeom prst="roundRect">
            <a:avLst>
              <a:gd name="adj" fmla="val 5000"/>
            </a:avLst>
          </a:prstGeom>
          <a:solidFill>
            <a:srgbClr val="25253D"/>
          </a:solidFill>
          <a:ln w="12700">
            <a:solidFill>
              <a:srgbClr val="A06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4480560"/>
            <a:ext cx="4937760" cy="365760"/>
          </a:xfrm>
          <a:prstGeom prst="rect">
            <a:avLst/>
          </a:prstGeom>
          <a:noFill/>
        </p:spPr>
        <p:txBody>
          <a:bodyPr wrap="square">
            <a:spAutoFit/>
          </a:bodyPr>
          <a:lstStyle/>
          <a:p>
            <a:pPr algn="l">
              <a:defRPr sz="1500" b="1">
                <a:solidFill>
                  <a:srgbClr val="A06CFF"/>
                </a:solidFill>
                <a:latin typeface="Microsoft YaHei"/>
              </a:defRPr>
            </a:pPr>
            <a:r>
              <a:t>性能优化选择指南</a:t>
            </a:r>
          </a:p>
        </p:txBody>
      </p:sp>
      <p:sp>
        <p:nvSpPr>
          <p:cNvPr id="17" name="TextBox 16"/>
          <p:cNvSpPr txBox="1"/>
          <p:nvPr/>
        </p:nvSpPr>
        <p:spPr>
          <a:xfrm>
            <a:off x="6400800" y="4846320"/>
            <a:ext cx="4937760" cy="1737360"/>
          </a:xfrm>
          <a:prstGeom prst="rect">
            <a:avLst/>
          </a:prstGeom>
          <a:noFill/>
        </p:spPr>
        <p:txBody>
          <a:bodyPr wrap="square">
            <a:spAutoFit/>
          </a:bodyPr>
          <a:lstStyle/>
          <a:p>
            <a:pPr>
              <a:spcAft>
                <a:spcPts val="400"/>
              </a:spcAft>
              <a:defRPr sz="1300">
                <a:solidFill>
                  <a:srgbClr val="BBBBCC"/>
                </a:solidFill>
                <a:latin typeface="Microsoft YaHei"/>
              </a:defRPr>
            </a:pPr>
            <a:r>
              <a:t>第1选择: NumPy向量化 (最简单且最快)</a:t>
            </a:r>
          </a:p>
          <a:p>
            <a:pPr>
              <a:spcAft>
                <a:spcPts val="400"/>
              </a:spcAft>
              <a:defRPr sz="1300">
                <a:solidFill>
                  <a:srgbClr val="BBBBCC"/>
                </a:solidFill>
                <a:latin typeface="Microsoft YaHei"/>
              </a:defRPr>
            </a:pPr>
            <a:r>
              <a:t>第2选择: Numba JIT (难以向量化的复杂循环)</a:t>
            </a:r>
          </a:p>
          <a:p>
            <a:pPr>
              <a:spcAft>
                <a:spcPts val="400"/>
              </a:spcAft>
              <a:defRPr sz="1300">
                <a:solidFill>
                  <a:srgbClr val="BBBBCC"/>
                </a:solidFill>
                <a:latin typeface="Microsoft YaHei"/>
              </a:defRPr>
            </a:pPr>
            <a:r>
              <a:t>第3选择: Numba parallel (利用多核)</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能向量化就用NumPy!</a:t>
            </a:r>
          </a:p>
          <a:p>
            <a:pPr>
              <a:spcAft>
                <a:spcPts val="400"/>
              </a:spcAft>
              <a:defRPr sz="1300">
                <a:solidFill>
                  <a:srgbClr val="BBBBCC"/>
                </a:solidFill>
                <a:latin typeface="Microsoft YaHei"/>
              </a:defRPr>
            </a:pPr>
            <a:r>
              <a:t>复杂条件分支/动态规划才用Numba</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6</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向量化实战: 成对欧氏距离</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循环 vs 广播比较</a:t>
            </a:r>
          </a:p>
        </p:txBody>
      </p:sp>
      <p:sp>
        <p:nvSpPr>
          <p:cNvPr id="6" name="Rounded Rectangle 5"/>
          <p:cNvSpPr/>
          <p:nvPr/>
        </p:nvSpPr>
        <p:spPr>
          <a:xfrm>
            <a:off x="548640" y="1828800"/>
            <a:ext cx="5486400" cy="256032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65960"/>
            <a:ext cx="5120640" cy="2286000"/>
          </a:xfrm>
          <a:prstGeom prst="rect">
            <a:avLst/>
          </a:prstGeom>
          <a:noFill/>
        </p:spPr>
        <p:txBody>
          <a:bodyPr wrap="square">
            <a:spAutoFit/>
          </a:bodyPr>
          <a:lstStyle/>
          <a:p>
            <a:pPr>
              <a:spcAft>
                <a:spcPts val="200"/>
              </a:spcAft>
              <a:defRPr sz="1100">
                <a:solidFill>
                  <a:srgbClr val="00E696"/>
                </a:solidFill>
                <a:latin typeface="Consolas"/>
              </a:defRPr>
            </a:pPr>
            <a:r>
              <a:t># Python循环: O(n*m*d) 三重循环</a:t>
            </a:r>
          </a:p>
          <a:p>
            <a:pPr>
              <a:spcAft>
                <a:spcPts val="200"/>
              </a:spcAft>
              <a:defRPr sz="1100">
                <a:solidFill>
                  <a:srgbClr val="00E696"/>
                </a:solidFill>
                <a:latin typeface="Consolas"/>
              </a:defRPr>
            </a:pPr>
            <a:r>
              <a:t>def dist_loop(X, Y):</a:t>
            </a:r>
          </a:p>
          <a:p>
            <a:pPr>
              <a:spcAft>
                <a:spcPts val="200"/>
              </a:spcAft>
              <a:defRPr sz="1100">
                <a:solidFill>
                  <a:srgbClr val="00E696"/>
                </a:solidFill>
                <a:latin typeface="Consolas"/>
              </a:defRPr>
            </a:pPr>
            <a:r>
              <a:t>    n, d = X.shape; m = Y.shape[0]</a:t>
            </a:r>
          </a:p>
          <a:p>
            <a:pPr>
              <a:spcAft>
                <a:spcPts val="200"/>
              </a:spcAft>
              <a:defRPr sz="1100">
                <a:solidFill>
                  <a:srgbClr val="00E696"/>
                </a:solidFill>
                <a:latin typeface="Consolas"/>
              </a:defRPr>
            </a:pPr>
            <a:r>
              <a:t>    D = np.zeros((n, m))</a:t>
            </a:r>
          </a:p>
          <a:p>
            <a:pPr>
              <a:spcAft>
                <a:spcPts val="200"/>
              </a:spcAft>
              <a:defRPr sz="1100">
                <a:solidFill>
                  <a:srgbClr val="00E696"/>
                </a:solidFill>
                <a:latin typeface="Consolas"/>
              </a:defRPr>
            </a:pPr>
            <a:r>
              <a:t>    for i in range(n):</a:t>
            </a:r>
          </a:p>
          <a:p>
            <a:pPr>
              <a:spcAft>
                <a:spcPts val="200"/>
              </a:spcAft>
              <a:defRPr sz="1100">
                <a:solidFill>
                  <a:srgbClr val="00E696"/>
                </a:solidFill>
                <a:latin typeface="Consolas"/>
              </a:defRPr>
            </a:pPr>
            <a:r>
              <a:t>        for j in range(m):</a:t>
            </a:r>
          </a:p>
          <a:p>
            <a:pPr>
              <a:spcAft>
                <a:spcPts val="200"/>
              </a:spcAft>
              <a:defRPr sz="1100">
                <a:solidFill>
                  <a:srgbClr val="00E696"/>
                </a:solidFill>
                <a:latin typeface="Consolas"/>
              </a:defRPr>
            </a:pPr>
            <a:r>
              <a:t>            s = 0</a:t>
            </a:r>
          </a:p>
          <a:p>
            <a:pPr>
              <a:spcAft>
                <a:spcPts val="200"/>
              </a:spcAft>
              <a:defRPr sz="1100">
                <a:solidFill>
                  <a:srgbClr val="00E696"/>
                </a:solidFill>
                <a:latin typeface="Consolas"/>
              </a:defRPr>
            </a:pPr>
            <a:r>
              <a:t>            for k in range(d):</a:t>
            </a:r>
          </a:p>
          <a:p>
            <a:pPr>
              <a:spcAft>
                <a:spcPts val="200"/>
              </a:spcAft>
              <a:defRPr sz="1100">
                <a:solidFill>
                  <a:srgbClr val="00E696"/>
                </a:solidFill>
                <a:latin typeface="Consolas"/>
              </a:defRPr>
            </a:pPr>
            <a:r>
              <a:t>                s += (X[i,k] - Y[j,k])**2</a:t>
            </a:r>
          </a:p>
          <a:p>
            <a:pPr>
              <a:spcAft>
                <a:spcPts val="200"/>
              </a:spcAft>
              <a:defRPr sz="1100">
                <a:solidFill>
                  <a:srgbClr val="00E696"/>
                </a:solidFill>
                <a:latin typeface="Consolas"/>
              </a:defRPr>
            </a:pPr>
            <a:r>
              <a:t>            D[i,j] = np.sqrt(s)</a:t>
            </a:r>
          </a:p>
          <a:p>
            <a:pPr>
              <a:spcAft>
                <a:spcPts val="200"/>
              </a:spcAft>
              <a:defRPr sz="1100">
                <a:solidFill>
                  <a:srgbClr val="00E696"/>
                </a:solidFill>
                <a:latin typeface="Consolas"/>
              </a:defRPr>
            </a:pPr>
            <a:r>
              <a:t>    return D</a:t>
            </a:r>
          </a:p>
        </p:txBody>
      </p:sp>
      <p:sp>
        <p:nvSpPr>
          <p:cNvPr id="8" name="Rounded Rectangle 7"/>
          <p:cNvSpPr/>
          <p:nvPr/>
        </p:nvSpPr>
        <p:spPr>
          <a:xfrm>
            <a:off x="548640" y="4572000"/>
            <a:ext cx="5486400" cy="201168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709160"/>
            <a:ext cx="5120640" cy="1737360"/>
          </a:xfrm>
          <a:prstGeom prst="rect">
            <a:avLst/>
          </a:prstGeom>
          <a:noFill/>
        </p:spPr>
        <p:txBody>
          <a:bodyPr wrap="square">
            <a:spAutoFit/>
          </a:bodyPr>
          <a:lstStyle/>
          <a:p>
            <a:pPr>
              <a:spcAft>
                <a:spcPts val="200"/>
              </a:spcAft>
              <a:defRPr sz="1100">
                <a:solidFill>
                  <a:srgbClr val="00E696"/>
                </a:solidFill>
                <a:latin typeface="Consolas"/>
              </a:defRPr>
            </a:pPr>
            <a:r>
              <a:t># NumPy广播: 只需一行!</a:t>
            </a:r>
          </a:p>
          <a:p>
            <a:pPr>
              <a:spcAft>
                <a:spcPts val="200"/>
              </a:spcAft>
              <a:defRPr sz="1100">
                <a:solidFill>
                  <a:srgbClr val="00E696"/>
                </a:solidFill>
                <a:latin typeface="Consolas"/>
              </a:defRPr>
            </a:pPr>
            <a:r>
              <a:t>def dist_vectorized(X, Y):</a:t>
            </a:r>
          </a:p>
          <a:p>
            <a:pPr>
              <a:spcAft>
                <a:spcPts val="200"/>
              </a:spcAft>
              <a:defRPr sz="1100">
                <a:solidFill>
                  <a:srgbClr val="00E696"/>
                </a:solidFill>
                <a:latin typeface="Consolas"/>
              </a:defRPr>
            </a:pPr>
            <a:r>
              <a:t>    return np.sqrt(np.sum(</a:t>
            </a:r>
          </a:p>
          <a:p>
            <a:pPr>
              <a:spcAft>
                <a:spcPts val="200"/>
              </a:spcAft>
              <a:defRPr sz="1100">
                <a:solidFill>
                  <a:srgbClr val="00E696"/>
                </a:solidFill>
                <a:latin typeface="Consolas"/>
              </a:defRPr>
            </a:pPr>
            <a:r>
              <a:t>        (X[:,np.newaxis,:] - Y[np.newaxis,:,:])**2,</a:t>
            </a:r>
          </a:p>
          <a:p>
            <a:pPr>
              <a:spcAft>
                <a:spcPts val="200"/>
              </a:spcAft>
              <a:defRPr sz="1100">
                <a:solidFill>
                  <a:srgbClr val="00E696"/>
                </a:solidFill>
                <a:latin typeface="Consolas"/>
              </a:defRPr>
            </a:pPr>
            <a:r>
              <a:t>        axis=2))</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KNN、K-Means等基于距离的算法必需!</a:t>
            </a:r>
          </a:p>
        </p:txBody>
      </p:sp>
      <p:sp>
        <p:nvSpPr>
          <p:cNvPr id="10" name="Rounded Rectangle 9"/>
          <p:cNvSpPr/>
          <p:nvPr/>
        </p:nvSpPr>
        <p:spPr>
          <a:xfrm>
            <a:off x="6400800" y="1828800"/>
            <a:ext cx="5120640" cy="4754880"/>
          </a:xfrm>
          <a:prstGeom prst="roundRect">
            <a:avLst>
              <a:gd name="adj" fmla="val 5000"/>
            </a:avLst>
          </a:prstGeom>
          <a:solidFill>
            <a:srgbClr val="25253D"/>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1920240"/>
            <a:ext cx="4754880" cy="365760"/>
          </a:xfrm>
          <a:prstGeom prst="rect">
            <a:avLst/>
          </a:prstGeom>
          <a:noFill/>
        </p:spPr>
        <p:txBody>
          <a:bodyPr wrap="square">
            <a:spAutoFit/>
          </a:bodyPr>
          <a:lstStyle/>
          <a:p>
            <a:pPr algn="l">
              <a:defRPr sz="1500" b="1">
                <a:solidFill>
                  <a:srgbClr val="00D2FF"/>
                </a:solidFill>
                <a:latin typeface="Microsoft YaHei"/>
              </a:defRPr>
            </a:pPr>
            <a:r>
              <a:t>广播距离计算解析</a:t>
            </a:r>
          </a:p>
        </p:txBody>
      </p:sp>
      <p:sp>
        <p:nvSpPr>
          <p:cNvPr id="12" name="TextBox 11"/>
          <p:cNvSpPr txBox="1"/>
          <p:nvPr/>
        </p:nvSpPr>
        <p:spPr>
          <a:xfrm>
            <a:off x="6583680" y="2286000"/>
            <a:ext cx="4754880" cy="4206240"/>
          </a:xfrm>
          <a:prstGeom prst="rect">
            <a:avLst/>
          </a:prstGeom>
          <a:noFill/>
        </p:spPr>
        <p:txBody>
          <a:bodyPr wrap="square">
            <a:spAutoFit/>
          </a:bodyPr>
          <a:lstStyle/>
          <a:p>
            <a:pPr>
              <a:spcAft>
                <a:spcPts val="400"/>
              </a:spcAft>
              <a:defRPr sz="1300">
                <a:solidFill>
                  <a:srgbClr val="BBBBCC"/>
                </a:solidFill>
                <a:latin typeface="Microsoft YaHei"/>
              </a:defRPr>
            </a:pPr>
            <a:r>
              <a:t>X: shape (n, d)  -&gt;  (n, 1, d)</a:t>
            </a:r>
          </a:p>
          <a:p>
            <a:pPr>
              <a:spcAft>
                <a:spcPts val="400"/>
              </a:spcAft>
              <a:defRPr sz="1300">
                <a:solidFill>
                  <a:srgbClr val="BBBBCC"/>
                </a:solidFill>
                <a:latin typeface="Microsoft YaHei"/>
              </a:defRPr>
            </a:pPr>
            <a:r>
              <a:t>Y: shape (m, d)  -&gt;  (1, m, d)</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X[:,np.newaxis,:] - Y[np.newaxis,:,:]</a:t>
            </a:r>
          </a:p>
          <a:p>
            <a:pPr>
              <a:spcAft>
                <a:spcPts val="400"/>
              </a:spcAft>
              <a:defRPr sz="1300">
                <a:solidFill>
                  <a:srgbClr val="BBBBCC"/>
                </a:solidFill>
                <a:latin typeface="Microsoft YaHei"/>
              </a:defRPr>
            </a:pPr>
            <a:r>
              <a:t>  -&gt; shape (n, m, d)  (差向量)</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**2  -&gt; 平方</a:t>
            </a:r>
          </a:p>
          <a:p>
            <a:pPr>
              <a:spcAft>
                <a:spcPts val="400"/>
              </a:spcAft>
              <a:defRPr sz="1300">
                <a:solidFill>
                  <a:srgbClr val="BBBBCC"/>
                </a:solidFill>
                <a:latin typeface="Microsoft YaHei"/>
              </a:defRPr>
            </a:pPr>
            <a:r>
              <a:t>np.sum(..., axis=2)  -&gt; 求和 -&gt; (n, m)</a:t>
            </a:r>
          </a:p>
          <a:p>
            <a:pPr>
              <a:spcAft>
                <a:spcPts val="400"/>
              </a:spcAft>
              <a:defRPr sz="1300">
                <a:solidFill>
                  <a:srgbClr val="BBBBCC"/>
                </a:solidFill>
                <a:latin typeface="Microsoft YaHei"/>
              </a:defRPr>
            </a:pPr>
            <a:r>
              <a:t>np.sqrt(...)  -&gt; 欧氏距离</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整个过程在C层面执行!</a:t>
            </a:r>
          </a:p>
          <a:p>
            <a:pPr>
              <a:spcAft>
                <a:spcPts val="400"/>
              </a:spcAft>
              <a:defRPr sz="1300">
                <a:solidFill>
                  <a:srgbClr val="BBBBCC"/>
                </a:solidFill>
                <a:latin typeface="Microsoft YaHei"/>
              </a:defRPr>
            </a:pPr>
            <a:r>
              <a:t>内存: 需要O(n*m*d) (大数据注意)</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01028"/>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A0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0"/>
            <a:ext cx="12191695" cy="50800"/>
          </a:xfrm>
          <a:prstGeom prst="rect">
            <a:avLst/>
          </a:prstGeom>
          <a:solidFill>
            <a:srgbClr val="A0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1828800"/>
            <a:ext cx="12191695" cy="457200"/>
          </a:xfrm>
          <a:prstGeom prst="rect">
            <a:avLst/>
          </a:prstGeom>
          <a:noFill/>
        </p:spPr>
        <p:txBody>
          <a:bodyPr wrap="square">
            <a:spAutoFit/>
          </a:bodyPr>
          <a:lstStyle/>
          <a:p>
            <a:pPr algn="ctr">
              <a:defRPr sz="2000" b="1">
                <a:solidFill>
                  <a:srgbClr val="A06CFF"/>
                </a:solidFill>
                <a:latin typeface="Microsoft YaHei"/>
              </a:defRPr>
            </a:pPr>
            <a:r>
              <a:t>SECTION 7</a:t>
            </a:r>
          </a:p>
        </p:txBody>
      </p:sp>
      <p:sp>
        <p:nvSpPr>
          <p:cNvPr id="5" name="Rectangle 4"/>
          <p:cNvSpPr/>
          <p:nvPr/>
        </p:nvSpPr>
        <p:spPr>
          <a:xfrm>
            <a:off x="5029200" y="2468880"/>
            <a:ext cx="2103120" cy="38100"/>
          </a:xfrm>
          <a:prstGeom prst="rect">
            <a:avLst/>
          </a:prstGeom>
          <a:solidFill>
            <a:srgbClr val="A0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743200"/>
            <a:ext cx="12191695" cy="914400"/>
          </a:xfrm>
          <a:prstGeom prst="rect">
            <a:avLst/>
          </a:prstGeom>
          <a:noFill/>
        </p:spPr>
        <p:txBody>
          <a:bodyPr wrap="square">
            <a:spAutoFit/>
          </a:bodyPr>
          <a:lstStyle/>
          <a:p>
            <a:pPr algn="ctr">
              <a:defRPr sz="4400" b="1">
                <a:solidFill>
                  <a:srgbClr val="FFFFFF"/>
                </a:solidFill>
                <a:latin typeface="Microsoft YaHei"/>
              </a:defRPr>
            </a:pPr>
            <a:r>
              <a:t>论文综述整合</a:t>
            </a:r>
          </a:p>
        </p:txBody>
      </p:sp>
      <p:sp>
        <p:nvSpPr>
          <p:cNvPr id="7" name="TextBox 6"/>
          <p:cNvSpPr txBox="1"/>
          <p:nvPr/>
        </p:nvSpPr>
        <p:spPr>
          <a:xfrm>
            <a:off x="0" y="3840480"/>
            <a:ext cx="12191695" cy="457200"/>
          </a:xfrm>
          <a:prstGeom prst="rect">
            <a:avLst/>
          </a:prstGeom>
          <a:noFill/>
        </p:spPr>
        <p:txBody>
          <a:bodyPr wrap="square">
            <a:spAutoFit/>
          </a:bodyPr>
          <a:lstStyle/>
          <a:p>
            <a:pPr algn="ctr">
              <a:defRPr sz="1800" b="0">
                <a:solidFill>
                  <a:srgbClr val="888899"/>
                </a:solidFill>
                <a:latin typeface="Microsoft YaHei"/>
              </a:defRPr>
            </a:pPr>
            <a:r>
              <a:t>Harris(2020), McKinney(2010), Walt(2011), Wickham(2014), Reback(2020)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7</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第3章相关论文概览</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5篇核心论文及学术背景</a:t>
            </a:r>
          </a:p>
        </p:txBody>
      </p:sp>
      <p:sp>
        <p:nvSpPr>
          <p:cNvPr id="6" name="Rectangle 5"/>
          <p:cNvSpPr/>
          <p:nvPr/>
        </p:nvSpPr>
        <p:spPr>
          <a:xfrm>
            <a:off x="548640" y="1828800"/>
            <a:ext cx="457200" cy="457200"/>
          </a:xfrm>
          <a:prstGeom prst="rect">
            <a:avLst/>
          </a:prstGeom>
          <a:solidFill>
            <a:srgbClr val="A0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28800"/>
            <a:ext cx="457200" cy="457200"/>
          </a:xfrm>
          <a:prstGeom prst="rect">
            <a:avLst/>
          </a:prstGeom>
          <a:noFill/>
        </p:spPr>
        <p:txBody>
          <a:bodyPr wrap="square">
            <a:spAutoFit/>
          </a:bodyPr>
          <a:lstStyle/>
          <a:p>
            <a:pPr algn="ctr">
              <a:defRPr sz="1400" b="1">
                <a:solidFill>
                  <a:srgbClr val="FFFFFF"/>
                </a:solidFill>
                <a:latin typeface="Microsoft YaHei"/>
              </a:defRPr>
            </a:pPr>
            <a:r>
              <a:t>#</a:t>
            </a:r>
          </a:p>
        </p:txBody>
      </p:sp>
      <p:sp>
        <p:nvSpPr>
          <p:cNvPr id="8" name="Rectangle 7"/>
          <p:cNvSpPr/>
          <p:nvPr/>
        </p:nvSpPr>
        <p:spPr>
          <a:xfrm>
            <a:off x="1005840" y="1828800"/>
            <a:ext cx="2743200" cy="457200"/>
          </a:xfrm>
          <a:prstGeom prst="rect">
            <a:avLst/>
          </a:prstGeom>
          <a:solidFill>
            <a:srgbClr val="A0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828800"/>
            <a:ext cx="2743200" cy="457200"/>
          </a:xfrm>
          <a:prstGeom prst="rect">
            <a:avLst/>
          </a:prstGeom>
          <a:noFill/>
        </p:spPr>
        <p:txBody>
          <a:bodyPr wrap="square">
            <a:spAutoFit/>
          </a:bodyPr>
          <a:lstStyle/>
          <a:p>
            <a:pPr algn="ctr">
              <a:defRPr sz="1400" b="1">
                <a:solidFill>
                  <a:srgbClr val="FFFFFF"/>
                </a:solidFill>
                <a:latin typeface="Microsoft YaHei"/>
              </a:defRPr>
            </a:pPr>
            <a:r>
              <a:t>论文</a:t>
            </a:r>
          </a:p>
        </p:txBody>
      </p:sp>
      <p:sp>
        <p:nvSpPr>
          <p:cNvPr id="10" name="Rectangle 9"/>
          <p:cNvSpPr/>
          <p:nvPr/>
        </p:nvSpPr>
        <p:spPr>
          <a:xfrm>
            <a:off x="3749040" y="1828800"/>
            <a:ext cx="5029200" cy="457200"/>
          </a:xfrm>
          <a:prstGeom prst="rect">
            <a:avLst/>
          </a:prstGeom>
          <a:solidFill>
            <a:srgbClr val="A0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49040" y="1828800"/>
            <a:ext cx="5029200" cy="457200"/>
          </a:xfrm>
          <a:prstGeom prst="rect">
            <a:avLst/>
          </a:prstGeom>
          <a:noFill/>
        </p:spPr>
        <p:txBody>
          <a:bodyPr wrap="square">
            <a:spAutoFit/>
          </a:bodyPr>
          <a:lstStyle/>
          <a:p>
            <a:pPr algn="ctr">
              <a:defRPr sz="1400" b="1">
                <a:solidFill>
                  <a:srgbClr val="FFFFFF"/>
                </a:solidFill>
                <a:latin typeface="Microsoft YaHei"/>
              </a:defRPr>
            </a:pPr>
            <a:r>
              <a:t>核心贡献</a:t>
            </a:r>
          </a:p>
        </p:txBody>
      </p:sp>
      <p:sp>
        <p:nvSpPr>
          <p:cNvPr id="12" name="Rectangle 11"/>
          <p:cNvSpPr/>
          <p:nvPr/>
        </p:nvSpPr>
        <p:spPr>
          <a:xfrm>
            <a:off x="8778240" y="1828800"/>
            <a:ext cx="1371600" cy="457200"/>
          </a:xfrm>
          <a:prstGeom prst="rect">
            <a:avLst/>
          </a:prstGeom>
          <a:solidFill>
            <a:srgbClr val="A0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0" y="1828800"/>
            <a:ext cx="1371600" cy="457200"/>
          </a:xfrm>
          <a:prstGeom prst="rect">
            <a:avLst/>
          </a:prstGeom>
          <a:noFill/>
        </p:spPr>
        <p:txBody>
          <a:bodyPr wrap="square">
            <a:spAutoFit/>
          </a:bodyPr>
          <a:lstStyle/>
          <a:p>
            <a:pPr algn="ctr">
              <a:defRPr sz="1400" b="1">
                <a:solidFill>
                  <a:srgbClr val="FFFFFF"/>
                </a:solidFill>
                <a:latin typeface="Microsoft YaHei"/>
              </a:defRPr>
            </a:pPr>
            <a:r>
              <a:t>引用数</a:t>
            </a:r>
          </a:p>
        </p:txBody>
      </p:sp>
      <p:sp>
        <p:nvSpPr>
          <p:cNvPr id="14" name="Rectangle 13"/>
          <p:cNvSpPr/>
          <p:nvPr/>
        </p:nvSpPr>
        <p:spPr>
          <a:xfrm>
            <a:off x="548640" y="2286000"/>
            <a:ext cx="457200"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286000"/>
            <a:ext cx="457200" cy="502920"/>
          </a:xfrm>
          <a:prstGeom prst="rect">
            <a:avLst/>
          </a:prstGeom>
          <a:noFill/>
        </p:spPr>
        <p:txBody>
          <a:bodyPr wrap="square">
            <a:spAutoFit/>
          </a:bodyPr>
          <a:lstStyle/>
          <a:p>
            <a:pPr algn="ctr">
              <a:defRPr sz="1200" b="1">
                <a:solidFill>
                  <a:srgbClr val="00D2FF"/>
                </a:solidFill>
                <a:latin typeface="Microsoft YaHei"/>
              </a:defRPr>
            </a:pPr>
            <a:r>
              <a:t>1</a:t>
            </a:r>
          </a:p>
        </p:txBody>
      </p:sp>
      <p:sp>
        <p:nvSpPr>
          <p:cNvPr id="16" name="Rectangle 15"/>
          <p:cNvSpPr/>
          <p:nvPr/>
        </p:nvSpPr>
        <p:spPr>
          <a:xfrm>
            <a:off x="1005840" y="2286000"/>
            <a:ext cx="2743200"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286000"/>
            <a:ext cx="2743200" cy="502920"/>
          </a:xfrm>
          <a:prstGeom prst="rect">
            <a:avLst/>
          </a:prstGeom>
          <a:noFill/>
        </p:spPr>
        <p:txBody>
          <a:bodyPr wrap="square">
            <a:spAutoFit/>
          </a:bodyPr>
          <a:lstStyle/>
          <a:p>
            <a:pPr algn="ctr">
              <a:defRPr sz="1200" b="0">
                <a:solidFill>
                  <a:srgbClr val="BBBBCC"/>
                </a:solidFill>
                <a:latin typeface="Microsoft YaHei"/>
              </a:defRPr>
            </a:pPr>
            <a:r>
              <a:t>McKinney (2010)</a:t>
            </a:r>
          </a:p>
        </p:txBody>
      </p:sp>
      <p:sp>
        <p:nvSpPr>
          <p:cNvPr id="18" name="Rectangle 17"/>
          <p:cNvSpPr/>
          <p:nvPr/>
        </p:nvSpPr>
        <p:spPr>
          <a:xfrm>
            <a:off x="3749040" y="2286000"/>
            <a:ext cx="5029200"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49040" y="2286000"/>
            <a:ext cx="5029200" cy="502920"/>
          </a:xfrm>
          <a:prstGeom prst="rect">
            <a:avLst/>
          </a:prstGeom>
          <a:noFill/>
        </p:spPr>
        <p:txBody>
          <a:bodyPr wrap="square">
            <a:spAutoFit/>
          </a:bodyPr>
          <a:lstStyle/>
          <a:p>
            <a:pPr algn="ctr">
              <a:defRPr sz="1200" b="0">
                <a:solidFill>
                  <a:srgbClr val="BBBBCC"/>
                </a:solidFill>
                <a:latin typeface="Microsoft YaHei"/>
              </a:defRPr>
            </a:pPr>
            <a:r>
              <a:t>Pandas DataFrame, Split-Apply-Combine</a:t>
            </a:r>
          </a:p>
        </p:txBody>
      </p:sp>
      <p:sp>
        <p:nvSpPr>
          <p:cNvPr id="20" name="Rectangle 19"/>
          <p:cNvSpPr/>
          <p:nvPr/>
        </p:nvSpPr>
        <p:spPr>
          <a:xfrm>
            <a:off x="8778240" y="2286000"/>
            <a:ext cx="1371600"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0" y="2286000"/>
            <a:ext cx="1371600" cy="502920"/>
          </a:xfrm>
          <a:prstGeom prst="rect">
            <a:avLst/>
          </a:prstGeom>
          <a:noFill/>
        </p:spPr>
        <p:txBody>
          <a:bodyPr wrap="square">
            <a:spAutoFit/>
          </a:bodyPr>
          <a:lstStyle/>
          <a:p>
            <a:pPr algn="ctr">
              <a:defRPr sz="1200" b="0">
                <a:solidFill>
                  <a:srgbClr val="BBBBCC"/>
                </a:solidFill>
                <a:latin typeface="Microsoft YaHei"/>
              </a:defRPr>
            </a:pPr>
            <a:r>
              <a:t>10,000+</a:t>
            </a:r>
          </a:p>
        </p:txBody>
      </p:sp>
      <p:sp>
        <p:nvSpPr>
          <p:cNvPr id="22" name="Rectangle 21"/>
          <p:cNvSpPr/>
          <p:nvPr/>
        </p:nvSpPr>
        <p:spPr>
          <a:xfrm>
            <a:off x="548640" y="2788920"/>
            <a:ext cx="457200" cy="50292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2788920"/>
            <a:ext cx="457200" cy="502920"/>
          </a:xfrm>
          <a:prstGeom prst="rect">
            <a:avLst/>
          </a:prstGeom>
          <a:noFill/>
        </p:spPr>
        <p:txBody>
          <a:bodyPr wrap="square">
            <a:spAutoFit/>
          </a:bodyPr>
          <a:lstStyle/>
          <a:p>
            <a:pPr algn="ctr">
              <a:defRPr sz="1200" b="1">
                <a:solidFill>
                  <a:srgbClr val="00D2FF"/>
                </a:solidFill>
                <a:latin typeface="Microsoft YaHei"/>
              </a:defRPr>
            </a:pPr>
            <a:r>
              <a:t>2</a:t>
            </a:r>
          </a:p>
        </p:txBody>
      </p:sp>
      <p:sp>
        <p:nvSpPr>
          <p:cNvPr id="24" name="Rectangle 23"/>
          <p:cNvSpPr/>
          <p:nvPr/>
        </p:nvSpPr>
        <p:spPr>
          <a:xfrm>
            <a:off x="1005840" y="2788920"/>
            <a:ext cx="2743200" cy="50292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2788920"/>
            <a:ext cx="2743200" cy="502920"/>
          </a:xfrm>
          <a:prstGeom prst="rect">
            <a:avLst/>
          </a:prstGeom>
          <a:noFill/>
        </p:spPr>
        <p:txBody>
          <a:bodyPr wrap="square">
            <a:spAutoFit/>
          </a:bodyPr>
          <a:lstStyle/>
          <a:p>
            <a:pPr algn="ctr">
              <a:defRPr sz="1200" b="0">
                <a:solidFill>
                  <a:srgbClr val="BBBBCC"/>
                </a:solidFill>
                <a:latin typeface="Microsoft YaHei"/>
              </a:defRPr>
            </a:pPr>
            <a:r>
              <a:t>Walt et al. (2011)</a:t>
            </a:r>
          </a:p>
        </p:txBody>
      </p:sp>
      <p:sp>
        <p:nvSpPr>
          <p:cNvPr id="26" name="Rectangle 25"/>
          <p:cNvSpPr/>
          <p:nvPr/>
        </p:nvSpPr>
        <p:spPr>
          <a:xfrm>
            <a:off x="3749040" y="2788920"/>
            <a:ext cx="5029200" cy="50292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49040" y="2788920"/>
            <a:ext cx="5029200" cy="502920"/>
          </a:xfrm>
          <a:prstGeom prst="rect">
            <a:avLst/>
          </a:prstGeom>
          <a:noFill/>
        </p:spPr>
        <p:txBody>
          <a:bodyPr wrap="square">
            <a:spAutoFit/>
          </a:bodyPr>
          <a:lstStyle/>
          <a:p>
            <a:pPr algn="ctr">
              <a:defRPr sz="1200" b="0">
                <a:solidFill>
                  <a:srgbClr val="BBBBCC"/>
                </a:solidFill>
                <a:latin typeface="Microsoft YaHei"/>
              </a:defRPr>
            </a:pPr>
            <a:r>
              <a:t>ndarray内部结构 (stride, dtype) 文档化</a:t>
            </a:r>
          </a:p>
        </p:txBody>
      </p:sp>
      <p:sp>
        <p:nvSpPr>
          <p:cNvPr id="28" name="Rectangle 27"/>
          <p:cNvSpPr/>
          <p:nvPr/>
        </p:nvSpPr>
        <p:spPr>
          <a:xfrm>
            <a:off x="8778240" y="2788920"/>
            <a:ext cx="1371600" cy="50292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78240" y="2788920"/>
            <a:ext cx="1371600" cy="502920"/>
          </a:xfrm>
          <a:prstGeom prst="rect">
            <a:avLst/>
          </a:prstGeom>
          <a:noFill/>
        </p:spPr>
        <p:txBody>
          <a:bodyPr wrap="square">
            <a:spAutoFit/>
          </a:bodyPr>
          <a:lstStyle/>
          <a:p>
            <a:pPr algn="ctr">
              <a:defRPr sz="1200" b="0">
                <a:solidFill>
                  <a:srgbClr val="BBBBCC"/>
                </a:solidFill>
                <a:latin typeface="Microsoft YaHei"/>
              </a:defRPr>
            </a:pPr>
            <a:r>
              <a:t>5,000+</a:t>
            </a:r>
          </a:p>
        </p:txBody>
      </p:sp>
      <p:sp>
        <p:nvSpPr>
          <p:cNvPr id="30" name="Rectangle 29"/>
          <p:cNvSpPr/>
          <p:nvPr/>
        </p:nvSpPr>
        <p:spPr>
          <a:xfrm>
            <a:off x="548640" y="3291840"/>
            <a:ext cx="457200"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3291840"/>
            <a:ext cx="457200" cy="502920"/>
          </a:xfrm>
          <a:prstGeom prst="rect">
            <a:avLst/>
          </a:prstGeom>
          <a:noFill/>
        </p:spPr>
        <p:txBody>
          <a:bodyPr wrap="square">
            <a:spAutoFit/>
          </a:bodyPr>
          <a:lstStyle/>
          <a:p>
            <a:pPr algn="ctr">
              <a:defRPr sz="1200" b="1">
                <a:solidFill>
                  <a:srgbClr val="00D2FF"/>
                </a:solidFill>
                <a:latin typeface="Microsoft YaHei"/>
              </a:defRPr>
            </a:pPr>
            <a:r>
              <a:t>3</a:t>
            </a:r>
          </a:p>
        </p:txBody>
      </p:sp>
      <p:sp>
        <p:nvSpPr>
          <p:cNvPr id="32" name="Rectangle 31"/>
          <p:cNvSpPr/>
          <p:nvPr/>
        </p:nvSpPr>
        <p:spPr>
          <a:xfrm>
            <a:off x="1005840" y="3291840"/>
            <a:ext cx="2743200"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5840" y="3291840"/>
            <a:ext cx="2743200" cy="502920"/>
          </a:xfrm>
          <a:prstGeom prst="rect">
            <a:avLst/>
          </a:prstGeom>
          <a:noFill/>
        </p:spPr>
        <p:txBody>
          <a:bodyPr wrap="square">
            <a:spAutoFit/>
          </a:bodyPr>
          <a:lstStyle/>
          <a:p>
            <a:pPr algn="ctr">
              <a:defRPr sz="1200" b="0">
                <a:solidFill>
                  <a:srgbClr val="BBBBCC"/>
                </a:solidFill>
                <a:latin typeface="Microsoft YaHei"/>
              </a:defRPr>
            </a:pPr>
            <a:r>
              <a:t>Harris et al. (2020)</a:t>
            </a:r>
          </a:p>
        </p:txBody>
      </p:sp>
      <p:sp>
        <p:nvSpPr>
          <p:cNvPr id="34" name="Rectangle 33"/>
          <p:cNvSpPr/>
          <p:nvPr/>
        </p:nvSpPr>
        <p:spPr>
          <a:xfrm>
            <a:off x="3749040" y="3291840"/>
            <a:ext cx="5029200"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749040" y="3291840"/>
            <a:ext cx="5029200" cy="502920"/>
          </a:xfrm>
          <a:prstGeom prst="rect">
            <a:avLst/>
          </a:prstGeom>
          <a:noFill/>
        </p:spPr>
        <p:txBody>
          <a:bodyPr wrap="square">
            <a:spAutoFit/>
          </a:bodyPr>
          <a:lstStyle/>
          <a:p>
            <a:pPr algn="ctr">
              <a:defRPr sz="1200" b="0">
                <a:solidFill>
                  <a:srgbClr val="BBBBCC"/>
                </a:solidFill>
                <a:latin typeface="Microsoft YaHei"/>
              </a:defRPr>
            </a:pPr>
            <a:r>
              <a:t>NumPy Nature论文, 数组编程范式</a:t>
            </a:r>
          </a:p>
        </p:txBody>
      </p:sp>
      <p:sp>
        <p:nvSpPr>
          <p:cNvPr id="36" name="Rectangle 35"/>
          <p:cNvSpPr/>
          <p:nvPr/>
        </p:nvSpPr>
        <p:spPr>
          <a:xfrm>
            <a:off x="8778240" y="3291840"/>
            <a:ext cx="1371600"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778240" y="3291840"/>
            <a:ext cx="1371600" cy="502920"/>
          </a:xfrm>
          <a:prstGeom prst="rect">
            <a:avLst/>
          </a:prstGeom>
          <a:noFill/>
        </p:spPr>
        <p:txBody>
          <a:bodyPr wrap="square">
            <a:spAutoFit/>
          </a:bodyPr>
          <a:lstStyle/>
          <a:p>
            <a:pPr algn="ctr">
              <a:defRPr sz="1200" b="0">
                <a:solidFill>
                  <a:srgbClr val="BBBBCC"/>
                </a:solidFill>
                <a:latin typeface="Microsoft YaHei"/>
              </a:defRPr>
            </a:pPr>
            <a:r>
              <a:t>8,000+</a:t>
            </a:r>
          </a:p>
        </p:txBody>
      </p:sp>
      <p:sp>
        <p:nvSpPr>
          <p:cNvPr id="38" name="Rectangle 37"/>
          <p:cNvSpPr/>
          <p:nvPr/>
        </p:nvSpPr>
        <p:spPr>
          <a:xfrm>
            <a:off x="548640" y="3794760"/>
            <a:ext cx="457200" cy="50292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3794760"/>
            <a:ext cx="457200" cy="502920"/>
          </a:xfrm>
          <a:prstGeom prst="rect">
            <a:avLst/>
          </a:prstGeom>
          <a:noFill/>
        </p:spPr>
        <p:txBody>
          <a:bodyPr wrap="square">
            <a:spAutoFit/>
          </a:bodyPr>
          <a:lstStyle/>
          <a:p>
            <a:pPr algn="ctr">
              <a:defRPr sz="1200" b="1">
                <a:solidFill>
                  <a:srgbClr val="00D2FF"/>
                </a:solidFill>
                <a:latin typeface="Microsoft YaHei"/>
              </a:defRPr>
            </a:pPr>
            <a:r>
              <a:t>4</a:t>
            </a:r>
          </a:p>
        </p:txBody>
      </p:sp>
      <p:sp>
        <p:nvSpPr>
          <p:cNvPr id="40" name="Rectangle 39"/>
          <p:cNvSpPr/>
          <p:nvPr/>
        </p:nvSpPr>
        <p:spPr>
          <a:xfrm>
            <a:off x="1005840" y="3794760"/>
            <a:ext cx="2743200" cy="50292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 y="3794760"/>
            <a:ext cx="2743200" cy="502920"/>
          </a:xfrm>
          <a:prstGeom prst="rect">
            <a:avLst/>
          </a:prstGeom>
          <a:noFill/>
        </p:spPr>
        <p:txBody>
          <a:bodyPr wrap="square">
            <a:spAutoFit/>
          </a:bodyPr>
          <a:lstStyle/>
          <a:p>
            <a:pPr algn="ctr">
              <a:defRPr sz="1200" b="0">
                <a:solidFill>
                  <a:srgbClr val="BBBBCC"/>
                </a:solidFill>
                <a:latin typeface="Microsoft YaHei"/>
              </a:defRPr>
            </a:pPr>
            <a:r>
              <a:t>Reback et al. (2020)</a:t>
            </a:r>
          </a:p>
        </p:txBody>
      </p:sp>
      <p:sp>
        <p:nvSpPr>
          <p:cNvPr id="42" name="Rectangle 41"/>
          <p:cNvSpPr/>
          <p:nvPr/>
        </p:nvSpPr>
        <p:spPr>
          <a:xfrm>
            <a:off x="3749040" y="3794760"/>
            <a:ext cx="5029200" cy="50292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749040" y="3794760"/>
            <a:ext cx="5029200" cy="502920"/>
          </a:xfrm>
          <a:prstGeom prst="rect">
            <a:avLst/>
          </a:prstGeom>
          <a:noFill/>
        </p:spPr>
        <p:txBody>
          <a:bodyPr wrap="square">
            <a:spAutoFit/>
          </a:bodyPr>
          <a:lstStyle/>
          <a:p>
            <a:pPr algn="ctr">
              <a:defRPr sz="1200" b="0">
                <a:solidFill>
                  <a:srgbClr val="BBBBCC"/>
                </a:solidFill>
                <a:latin typeface="Microsoft YaHei"/>
              </a:defRPr>
            </a:pPr>
            <a:r>
              <a:t>Pandas官方引用文档, 全部功能概览</a:t>
            </a:r>
          </a:p>
        </p:txBody>
      </p:sp>
      <p:sp>
        <p:nvSpPr>
          <p:cNvPr id="44" name="Rectangle 43"/>
          <p:cNvSpPr/>
          <p:nvPr/>
        </p:nvSpPr>
        <p:spPr>
          <a:xfrm>
            <a:off x="8778240" y="3794760"/>
            <a:ext cx="1371600" cy="50292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778240" y="3794760"/>
            <a:ext cx="1371600" cy="502920"/>
          </a:xfrm>
          <a:prstGeom prst="rect">
            <a:avLst/>
          </a:prstGeom>
          <a:noFill/>
        </p:spPr>
        <p:txBody>
          <a:bodyPr wrap="square">
            <a:spAutoFit/>
          </a:bodyPr>
          <a:lstStyle/>
          <a:p>
            <a:pPr algn="ctr">
              <a:defRPr sz="1200" b="0">
                <a:solidFill>
                  <a:srgbClr val="BBBBCC"/>
                </a:solidFill>
                <a:latin typeface="Microsoft YaHei"/>
              </a:defRPr>
            </a:pPr>
            <a:r>
              <a:t>15,000+</a:t>
            </a:r>
          </a:p>
        </p:txBody>
      </p:sp>
      <p:sp>
        <p:nvSpPr>
          <p:cNvPr id="46" name="Rectangle 45"/>
          <p:cNvSpPr/>
          <p:nvPr/>
        </p:nvSpPr>
        <p:spPr>
          <a:xfrm>
            <a:off x="548640" y="4297680"/>
            <a:ext cx="457200"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48640" y="4297680"/>
            <a:ext cx="457200" cy="502920"/>
          </a:xfrm>
          <a:prstGeom prst="rect">
            <a:avLst/>
          </a:prstGeom>
          <a:noFill/>
        </p:spPr>
        <p:txBody>
          <a:bodyPr wrap="square">
            <a:spAutoFit/>
          </a:bodyPr>
          <a:lstStyle/>
          <a:p>
            <a:pPr algn="ctr">
              <a:defRPr sz="1200" b="1">
                <a:solidFill>
                  <a:srgbClr val="00D2FF"/>
                </a:solidFill>
                <a:latin typeface="Microsoft YaHei"/>
              </a:defRPr>
            </a:pPr>
            <a:r>
              <a:t>5</a:t>
            </a:r>
          </a:p>
        </p:txBody>
      </p:sp>
      <p:sp>
        <p:nvSpPr>
          <p:cNvPr id="48" name="Rectangle 47"/>
          <p:cNvSpPr/>
          <p:nvPr/>
        </p:nvSpPr>
        <p:spPr>
          <a:xfrm>
            <a:off x="1005840" y="4297680"/>
            <a:ext cx="2743200"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05840" y="4297680"/>
            <a:ext cx="2743200" cy="502920"/>
          </a:xfrm>
          <a:prstGeom prst="rect">
            <a:avLst/>
          </a:prstGeom>
          <a:noFill/>
        </p:spPr>
        <p:txBody>
          <a:bodyPr wrap="square">
            <a:spAutoFit/>
          </a:bodyPr>
          <a:lstStyle/>
          <a:p>
            <a:pPr algn="ctr">
              <a:defRPr sz="1200" b="0">
                <a:solidFill>
                  <a:srgbClr val="BBBBCC"/>
                </a:solidFill>
                <a:latin typeface="Microsoft YaHei"/>
              </a:defRPr>
            </a:pPr>
            <a:r>
              <a:t>Wickham (2014)</a:t>
            </a:r>
          </a:p>
        </p:txBody>
      </p:sp>
      <p:sp>
        <p:nvSpPr>
          <p:cNvPr id="50" name="Rectangle 49"/>
          <p:cNvSpPr/>
          <p:nvPr/>
        </p:nvSpPr>
        <p:spPr>
          <a:xfrm>
            <a:off x="3749040" y="4297680"/>
            <a:ext cx="5029200"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749040" y="4297680"/>
            <a:ext cx="5029200" cy="502920"/>
          </a:xfrm>
          <a:prstGeom prst="rect">
            <a:avLst/>
          </a:prstGeom>
          <a:noFill/>
        </p:spPr>
        <p:txBody>
          <a:bodyPr wrap="square">
            <a:spAutoFit/>
          </a:bodyPr>
          <a:lstStyle/>
          <a:p>
            <a:pPr algn="ctr">
              <a:defRPr sz="1200" b="0">
                <a:solidFill>
                  <a:srgbClr val="BBBBCC"/>
                </a:solidFill>
                <a:latin typeface="Microsoft YaHei"/>
              </a:defRPr>
            </a:pPr>
            <a:r>
              <a:t>Tidy Data 3原则, messy data 5种类型</a:t>
            </a:r>
          </a:p>
        </p:txBody>
      </p:sp>
      <p:sp>
        <p:nvSpPr>
          <p:cNvPr id="52" name="Rectangle 51"/>
          <p:cNvSpPr/>
          <p:nvPr/>
        </p:nvSpPr>
        <p:spPr>
          <a:xfrm>
            <a:off x="8778240" y="4297680"/>
            <a:ext cx="1371600"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778240" y="4297680"/>
            <a:ext cx="1371600" cy="502920"/>
          </a:xfrm>
          <a:prstGeom prst="rect">
            <a:avLst/>
          </a:prstGeom>
          <a:noFill/>
        </p:spPr>
        <p:txBody>
          <a:bodyPr wrap="square">
            <a:spAutoFit/>
          </a:bodyPr>
          <a:lstStyle/>
          <a:p>
            <a:pPr algn="ctr">
              <a:defRPr sz="1200" b="0">
                <a:solidFill>
                  <a:srgbClr val="BBBBCC"/>
                </a:solidFill>
                <a:latin typeface="Microsoft YaHei"/>
              </a:defRPr>
            </a:pPr>
            <a:r>
              <a:t>7,000+</a:t>
            </a:r>
          </a:p>
        </p:txBody>
      </p:sp>
      <p:sp>
        <p:nvSpPr>
          <p:cNvPr id="54" name="Rounded Rectangle 53"/>
          <p:cNvSpPr/>
          <p:nvPr/>
        </p:nvSpPr>
        <p:spPr>
          <a:xfrm>
            <a:off x="548640" y="4754880"/>
            <a:ext cx="10972800" cy="1828800"/>
          </a:xfrm>
          <a:prstGeom prst="roundRect">
            <a:avLst>
              <a:gd name="adj" fmla="val 5000"/>
            </a:avLst>
          </a:prstGeom>
          <a:solidFill>
            <a:srgbClr val="25253D"/>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31520" y="4846320"/>
            <a:ext cx="10607040" cy="365760"/>
          </a:xfrm>
          <a:prstGeom prst="rect">
            <a:avLst/>
          </a:prstGeom>
          <a:noFill/>
        </p:spPr>
        <p:txBody>
          <a:bodyPr wrap="square">
            <a:spAutoFit/>
          </a:bodyPr>
          <a:lstStyle/>
          <a:p>
            <a:pPr algn="l">
              <a:defRPr sz="1500" b="1">
                <a:solidFill>
                  <a:srgbClr val="00D2FF"/>
                </a:solidFill>
                <a:latin typeface="Microsoft YaHei"/>
              </a:defRPr>
            </a:pPr>
            <a:r>
              <a:t>论文间关联关系 (按时间顺序)</a:t>
            </a:r>
          </a:p>
        </p:txBody>
      </p:sp>
      <p:sp>
        <p:nvSpPr>
          <p:cNvPr id="56" name="TextBox 55"/>
          <p:cNvSpPr txBox="1"/>
          <p:nvPr/>
        </p:nvSpPr>
        <p:spPr>
          <a:xfrm>
            <a:off x="731520" y="5212080"/>
            <a:ext cx="10607040" cy="1280160"/>
          </a:xfrm>
          <a:prstGeom prst="rect">
            <a:avLst/>
          </a:prstGeom>
          <a:noFill/>
        </p:spPr>
        <p:txBody>
          <a:bodyPr wrap="square">
            <a:spAutoFit/>
          </a:bodyPr>
          <a:lstStyle/>
          <a:p>
            <a:pPr>
              <a:spcAft>
                <a:spcPts val="400"/>
              </a:spcAft>
              <a:defRPr sz="1300">
                <a:solidFill>
                  <a:srgbClr val="BBBBCC"/>
                </a:solidFill>
                <a:latin typeface="Microsoft YaHei"/>
              </a:defRPr>
            </a:pPr>
            <a:r>
              <a:t>McKinney (2010): 'ndarray对异质数据不够用' -&gt; 开发Pandas</a:t>
            </a:r>
          </a:p>
          <a:p>
            <a:pPr>
              <a:spcAft>
                <a:spcPts val="400"/>
              </a:spcAft>
              <a:defRPr sz="1300">
                <a:solidFill>
                  <a:srgbClr val="BBBBCC"/>
                </a:solidFill>
                <a:latin typeface="Microsoft YaHei"/>
              </a:defRPr>
            </a:pPr>
            <a:r>
              <a:t>Walt et al. (2011): ndarray技术设计详细文档化 (stride, ufunc, broadcast)</a:t>
            </a:r>
          </a:p>
          <a:p>
            <a:pPr>
              <a:spcAft>
                <a:spcPts val="400"/>
              </a:spcAft>
              <a:defRPr sz="1300">
                <a:solidFill>
                  <a:srgbClr val="BBBBCC"/>
                </a:solidFill>
                <a:latin typeface="Microsoft YaHei"/>
              </a:defRPr>
            </a:pPr>
            <a:r>
              <a:t>Wickham (2014): 数据整理原则体系化 -&gt; 影响了Pandas melt()/pivot_table()的设计</a:t>
            </a:r>
          </a:p>
          <a:p>
            <a:pPr>
              <a:spcAft>
                <a:spcPts val="400"/>
              </a:spcAft>
              <a:defRPr sz="1300">
                <a:solidFill>
                  <a:srgbClr val="BBBBCC"/>
                </a:solidFill>
                <a:latin typeface="Microsoft YaHei"/>
              </a:defRPr>
            </a:pPr>
            <a:r>
              <a:t>Harris et al. (2020): NumPy 15年发展总结, 获Nature正式认可</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7</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Harris et al. (2020) -- NumPy Nature论文</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"Array programming with NumPy", Nature, 585, 357-362</a:t>
            </a:r>
          </a:p>
        </p:txBody>
      </p:sp>
      <p:sp>
        <p:nvSpPr>
          <p:cNvPr id="6" name="Rounded Rectangle 5"/>
          <p:cNvSpPr/>
          <p:nvPr/>
        </p:nvSpPr>
        <p:spPr>
          <a:xfrm>
            <a:off x="548640" y="1828800"/>
            <a:ext cx="5303520" cy="2286000"/>
          </a:xfrm>
          <a:prstGeom prst="roundRect">
            <a:avLst>
              <a:gd name="adj" fmla="val 5000"/>
            </a:avLst>
          </a:prstGeom>
          <a:solidFill>
            <a:srgbClr val="25253D"/>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20240"/>
            <a:ext cx="4937760" cy="365760"/>
          </a:xfrm>
          <a:prstGeom prst="rect">
            <a:avLst/>
          </a:prstGeom>
          <a:noFill/>
        </p:spPr>
        <p:txBody>
          <a:bodyPr wrap="square">
            <a:spAutoFit/>
          </a:bodyPr>
          <a:lstStyle/>
          <a:p>
            <a:pPr algn="l">
              <a:defRPr sz="1500" b="1">
                <a:solidFill>
                  <a:srgbClr val="00D2FF"/>
                </a:solidFill>
                <a:latin typeface="Microsoft YaHei"/>
              </a:defRPr>
            </a:pPr>
            <a:r>
              <a:t>背景与意义</a:t>
            </a:r>
          </a:p>
        </p:txBody>
      </p:sp>
      <p:sp>
        <p:nvSpPr>
          <p:cNvPr id="8" name="TextBox 7"/>
          <p:cNvSpPr txBox="1"/>
          <p:nvPr/>
        </p:nvSpPr>
        <p:spPr>
          <a:xfrm>
            <a:off x="731520" y="2286000"/>
            <a:ext cx="4937760" cy="1737360"/>
          </a:xfrm>
          <a:prstGeom prst="rect">
            <a:avLst/>
          </a:prstGeom>
          <a:noFill/>
        </p:spPr>
        <p:txBody>
          <a:bodyPr wrap="square">
            <a:spAutoFit/>
          </a:bodyPr>
          <a:lstStyle/>
          <a:p>
            <a:pPr>
              <a:spcAft>
                <a:spcPts val="400"/>
              </a:spcAft>
              <a:defRPr sz="1300">
                <a:solidFill>
                  <a:srgbClr val="BBBBCC"/>
                </a:solidFill>
                <a:latin typeface="Microsoft YaHei"/>
              </a:defRPr>
            </a:pPr>
            <a:r>
              <a:t>软件库论文在Nature上发表 = 证明NumPy的学术影响力</a:t>
            </a:r>
          </a:p>
          <a:p>
            <a:pPr>
              <a:spcAft>
                <a:spcPts val="400"/>
              </a:spcAft>
              <a:defRPr sz="1300">
                <a:solidFill>
                  <a:srgbClr val="BBBBCC"/>
                </a:solidFill>
                <a:latin typeface="Microsoft YaHei"/>
              </a:defRPr>
            </a:pPr>
            <a:r>
              <a:t>总结了NumPy 15年的发展历程</a:t>
            </a:r>
          </a:p>
          <a:p>
            <a:pPr>
              <a:spcAft>
                <a:spcPts val="400"/>
              </a:spcAft>
              <a:defRPr sz="1300">
                <a:solidFill>
                  <a:srgbClr val="BBBBCC"/>
                </a:solidFill>
                <a:latin typeface="Microsoft YaHei"/>
              </a:defRPr>
            </a:pPr>
            <a:r>
              <a:t>正式认可NumPy在现代科学计算中的核心角色</a:t>
            </a:r>
          </a:p>
          <a:p>
            <a:pPr>
              <a:spcAft>
                <a:spcPts val="400"/>
              </a:spcAft>
              <a:defRPr sz="1300">
                <a:solidFill>
                  <a:srgbClr val="BBBBCC"/>
                </a:solidFill>
                <a:latin typeface="Microsoft YaHei"/>
              </a:defRPr>
            </a:pPr>
            <a:r>
              <a:t>正式定义了数组编程(Array Programming)范式</a:t>
            </a:r>
          </a:p>
        </p:txBody>
      </p:sp>
      <p:sp>
        <p:nvSpPr>
          <p:cNvPr id="9" name="Rounded Rectangle 8"/>
          <p:cNvSpPr/>
          <p:nvPr/>
        </p:nvSpPr>
        <p:spPr>
          <a:xfrm>
            <a:off x="6217920" y="1828800"/>
            <a:ext cx="5303520" cy="228600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937760" cy="365760"/>
          </a:xfrm>
          <a:prstGeom prst="rect">
            <a:avLst/>
          </a:prstGeom>
          <a:noFill/>
        </p:spPr>
        <p:txBody>
          <a:bodyPr wrap="square">
            <a:spAutoFit/>
          </a:bodyPr>
          <a:lstStyle/>
          <a:p>
            <a:pPr algn="l">
              <a:defRPr sz="1500" b="1">
                <a:solidFill>
                  <a:srgbClr val="00E696"/>
                </a:solidFill>
                <a:latin typeface="Microsoft YaHei"/>
              </a:defRPr>
            </a:pPr>
            <a:r>
              <a:t>4个核心贡献</a:t>
            </a:r>
          </a:p>
        </p:txBody>
      </p:sp>
      <p:sp>
        <p:nvSpPr>
          <p:cNvPr id="11" name="TextBox 10"/>
          <p:cNvSpPr txBox="1"/>
          <p:nvPr/>
        </p:nvSpPr>
        <p:spPr>
          <a:xfrm>
            <a:off x="6400800" y="2286000"/>
            <a:ext cx="4937760" cy="1737360"/>
          </a:xfrm>
          <a:prstGeom prst="rect">
            <a:avLst/>
          </a:prstGeom>
          <a:noFill/>
        </p:spPr>
        <p:txBody>
          <a:bodyPr wrap="square">
            <a:spAutoFit/>
          </a:bodyPr>
          <a:lstStyle/>
          <a:p>
            <a:pPr>
              <a:spcAft>
                <a:spcPts val="400"/>
              </a:spcAft>
              <a:defRPr sz="1300">
                <a:solidFill>
                  <a:srgbClr val="BBBBCC"/>
                </a:solidFill>
                <a:latin typeface="Microsoft YaHei"/>
              </a:defRPr>
            </a:pPr>
            <a:r>
              <a:t>1. 数组编程范式: 用数组整体运算替代循环</a:t>
            </a:r>
          </a:p>
          <a:p>
            <a:pPr>
              <a:spcAft>
                <a:spcPts val="400"/>
              </a:spcAft>
              <a:defRPr sz="1300">
                <a:solidFill>
                  <a:srgbClr val="BBBBCC"/>
                </a:solidFill>
                <a:latin typeface="Microsoft YaHei"/>
              </a:defRPr>
            </a:pPr>
            <a:r>
              <a:t>2. Python科学生态系统层级结构可视化</a:t>
            </a:r>
          </a:p>
          <a:p>
            <a:pPr>
              <a:spcAft>
                <a:spcPts val="400"/>
              </a:spcAft>
              <a:defRPr sz="1300">
                <a:solidFill>
                  <a:srgbClr val="BBBBCC"/>
                </a:solidFill>
                <a:latin typeface="Microsoft YaHei"/>
              </a:defRPr>
            </a:pPr>
            <a:r>
              <a:t>3. NumPy API协议: __array_ufunc__, __array_function__</a:t>
            </a:r>
          </a:p>
          <a:p>
            <a:pPr>
              <a:spcAft>
                <a:spcPts val="400"/>
              </a:spcAft>
              <a:defRPr sz="1300">
                <a:solidFill>
                  <a:srgbClr val="BBBBCC"/>
                </a:solidFill>
                <a:latin typeface="Microsoft YaHei"/>
              </a:defRPr>
            </a:pPr>
            <a:r>
              <a:t>4. GPU/分布式环境扩展: JAX, CuPy, Dask Array兼容</a:t>
            </a:r>
          </a:p>
        </p:txBody>
      </p:sp>
      <p:sp>
        <p:nvSpPr>
          <p:cNvPr id="12" name="Rounded Rectangle 11"/>
          <p:cNvSpPr/>
          <p:nvPr/>
        </p:nvSpPr>
        <p:spPr>
          <a:xfrm>
            <a:off x="548640" y="4389120"/>
            <a:ext cx="10972800" cy="2194560"/>
          </a:xfrm>
          <a:prstGeom prst="roundRect">
            <a:avLst>
              <a:gd name="adj" fmla="val 5000"/>
            </a:avLst>
          </a:prstGeom>
          <a:solidFill>
            <a:srgbClr val="25253D"/>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480560"/>
            <a:ext cx="10607040" cy="365760"/>
          </a:xfrm>
          <a:prstGeom prst="rect">
            <a:avLst/>
          </a:prstGeom>
          <a:noFill/>
        </p:spPr>
        <p:txBody>
          <a:bodyPr wrap="square">
            <a:spAutoFit/>
          </a:bodyPr>
          <a:lstStyle/>
          <a:p>
            <a:pPr algn="l">
              <a:defRPr sz="1500" b="1">
                <a:solidFill>
                  <a:srgbClr val="FF8C00"/>
                </a:solidFill>
                <a:latin typeface="Microsoft YaHei"/>
              </a:defRPr>
            </a:pPr>
            <a:r>
              <a:t>核心引文与ML课程相关性</a:t>
            </a:r>
          </a:p>
        </p:txBody>
      </p:sp>
      <p:sp>
        <p:nvSpPr>
          <p:cNvPr id="14" name="TextBox 13"/>
          <p:cNvSpPr txBox="1"/>
          <p:nvPr/>
        </p:nvSpPr>
        <p:spPr>
          <a:xfrm>
            <a:off x="731520" y="4846320"/>
            <a:ext cx="10607040" cy="1645920"/>
          </a:xfrm>
          <a:prstGeom prst="rect">
            <a:avLst/>
          </a:prstGeom>
          <a:noFill/>
        </p:spPr>
        <p:txBody>
          <a:bodyPr wrap="square">
            <a:spAutoFit/>
          </a:bodyPr>
          <a:lstStyle/>
          <a:p>
            <a:pPr>
              <a:spcAft>
                <a:spcPts val="400"/>
              </a:spcAft>
              <a:defRPr sz="1300">
                <a:solidFill>
                  <a:srgbClr val="BBBBCC"/>
                </a:solidFill>
                <a:latin typeface="Microsoft YaHei"/>
              </a:defRPr>
            </a:pPr>
            <a:r>
              <a:t>"数组编程是一种对整个数组应用运算而非对单个元素进行循环的编程范式。</a:t>
            </a:r>
          </a:p>
          <a:p>
            <a:pPr>
              <a:spcAft>
                <a:spcPts val="400"/>
              </a:spcAft>
              <a:defRPr sz="1300">
                <a:solidFill>
                  <a:srgbClr val="BBBBCC"/>
                </a:solidFill>
                <a:latin typeface="Microsoft YaHei"/>
              </a:defRPr>
            </a:pPr>
            <a:r>
              <a:t> 这种范式同时提升了代码的简洁性、可读性和性能。"</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ML课程相关性: 本课程使用的几乎所有库(scikit-learn, TensorFlow, PyTorch)都以NumPy为基础。</a:t>
            </a:r>
          </a:p>
          <a:p>
            <a:pPr>
              <a:spcAft>
                <a:spcPts val="400"/>
              </a:spcAft>
              <a:defRPr sz="1300">
                <a:solidFill>
                  <a:srgbClr val="BBBBCC"/>
                </a:solidFill>
                <a:latin typeface="Microsoft YaHei"/>
              </a:defRPr>
            </a:pPr>
            <a:r>
              <a:t>本论文系统地解释了该基础设施的设计原则。</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7</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McKinney (2010) &amp; Wickham (2014)</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Pandas的诞生与Tidy Data原则</a:t>
            </a:r>
          </a:p>
        </p:txBody>
      </p:sp>
      <p:sp>
        <p:nvSpPr>
          <p:cNvPr id="6" name="Rounded Rectangle 5"/>
          <p:cNvSpPr/>
          <p:nvPr/>
        </p:nvSpPr>
        <p:spPr>
          <a:xfrm>
            <a:off x="548640" y="1828800"/>
            <a:ext cx="5303520" cy="4389120"/>
          </a:xfrm>
          <a:prstGeom prst="roundRect">
            <a:avLst>
              <a:gd name="adj" fmla="val 5000"/>
            </a:avLst>
          </a:prstGeom>
          <a:solidFill>
            <a:srgbClr val="25253D"/>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20240"/>
            <a:ext cx="4937760" cy="365760"/>
          </a:xfrm>
          <a:prstGeom prst="rect">
            <a:avLst/>
          </a:prstGeom>
          <a:noFill/>
        </p:spPr>
        <p:txBody>
          <a:bodyPr wrap="square">
            <a:spAutoFit/>
          </a:bodyPr>
          <a:lstStyle/>
          <a:p>
            <a:pPr algn="l">
              <a:defRPr sz="1500" b="1">
                <a:solidFill>
                  <a:srgbClr val="FF8C00"/>
                </a:solidFill>
                <a:latin typeface="Microsoft YaHei"/>
              </a:defRPr>
            </a:pPr>
            <a:r>
              <a:t>McKinney (2010) -- Pandas的诞生</a:t>
            </a:r>
          </a:p>
        </p:txBody>
      </p:sp>
      <p:sp>
        <p:nvSpPr>
          <p:cNvPr id="8" name="TextBox 7"/>
          <p:cNvSpPr txBox="1"/>
          <p:nvPr/>
        </p:nvSpPr>
        <p:spPr>
          <a:xfrm>
            <a:off x="731520" y="2286000"/>
            <a:ext cx="4937760" cy="3840480"/>
          </a:xfrm>
          <a:prstGeom prst="rect">
            <a:avLst/>
          </a:prstGeom>
          <a:noFill/>
        </p:spPr>
        <p:txBody>
          <a:bodyPr wrap="square">
            <a:spAutoFit/>
          </a:bodyPr>
          <a:lstStyle/>
          <a:p>
            <a:pPr>
              <a:spcAft>
                <a:spcPts val="400"/>
              </a:spcAft>
              <a:defRPr sz="1300">
                <a:solidFill>
                  <a:srgbClr val="BBBBCC"/>
                </a:solidFill>
                <a:latin typeface="Microsoft YaHei"/>
              </a:defRPr>
            </a:pPr>
            <a:r>
              <a:t>"Data Structures for Statistical Computing in Python"</a:t>
            </a:r>
          </a:p>
          <a:p>
            <a:pPr>
              <a:spcAft>
                <a:spcPts val="400"/>
              </a:spcAft>
              <a:defRPr sz="1300">
                <a:solidFill>
                  <a:srgbClr val="BBBBCC"/>
                </a:solidFill>
                <a:latin typeface="Microsoft YaHei"/>
              </a:defRPr>
            </a:pPr>
            <a:r>
              <a:t>SciPy 2010</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背景: 在AQR Capital进行金融数据分析时</a:t>
            </a:r>
          </a:p>
          <a:p>
            <a:pPr>
              <a:spcAft>
                <a:spcPts val="400"/>
              </a:spcAft>
              <a:defRPr sz="1300">
                <a:solidFill>
                  <a:srgbClr val="BBBBCC"/>
                </a:solidFill>
                <a:latin typeface="Microsoft YaHei"/>
              </a:defRPr>
            </a:pPr>
            <a:r>
              <a:t>发现Python缺少与R的data.frame对应的结构</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核心贡献:</a:t>
            </a:r>
          </a:p>
          <a:p>
            <a:pPr>
              <a:spcAft>
                <a:spcPts val="400"/>
              </a:spcAft>
              <a:defRPr sz="1300">
                <a:solidFill>
                  <a:srgbClr val="BBBBCC"/>
                </a:solidFill>
                <a:latin typeface="Microsoft YaHei"/>
              </a:defRPr>
            </a:pPr>
            <a:r>
              <a:t>  1. 引入Series和DataFrame (基于索引的自动对齐)</a:t>
            </a:r>
          </a:p>
          <a:p>
            <a:pPr>
              <a:spcAft>
                <a:spcPts val="400"/>
              </a:spcAft>
              <a:defRPr sz="1300">
                <a:solidFill>
                  <a:srgbClr val="BBBBCC"/>
                </a:solidFill>
                <a:latin typeface="Microsoft YaHei"/>
              </a:defRPr>
            </a:pPr>
            <a:r>
              <a:t>  2. 系统化的缺失值(NaN)处理API</a:t>
            </a:r>
          </a:p>
          <a:p>
            <a:pPr>
              <a:spcAft>
                <a:spcPts val="400"/>
              </a:spcAft>
              <a:defRPr sz="1300">
                <a:solidFill>
                  <a:srgbClr val="BBBBCC"/>
                </a:solidFill>
                <a:latin typeface="Microsoft YaHei"/>
              </a:defRPr>
            </a:pPr>
            <a:r>
              <a:t>  3. Split-Apply-Combine模式 (groupby)</a:t>
            </a:r>
          </a:p>
          <a:p>
            <a:pPr>
              <a:spcAft>
                <a:spcPts val="400"/>
              </a:spcAft>
              <a:defRPr sz="1300">
                <a:solidFill>
                  <a:srgbClr val="BBBBCC"/>
                </a:solidFill>
                <a:latin typeface="Microsoft YaHei"/>
              </a:defRPr>
            </a:pPr>
            <a:r>
              <a:t>  4. 关系数据连接 (merge, join)</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引文: "Python中没有与R的data.frame对应的</a:t>
            </a:r>
          </a:p>
          <a:p>
            <a:pPr>
              <a:spcAft>
                <a:spcPts val="400"/>
              </a:spcAft>
              <a:defRPr sz="1300">
                <a:solidFill>
                  <a:srgbClr val="BBBBCC"/>
                </a:solidFill>
                <a:latin typeface="Microsoft YaHei"/>
              </a:defRPr>
            </a:pPr>
            <a:r>
              <a:t>高级数据结构。"</a:t>
            </a:r>
          </a:p>
        </p:txBody>
      </p:sp>
      <p:sp>
        <p:nvSpPr>
          <p:cNvPr id="9" name="Rounded Rectangle 8"/>
          <p:cNvSpPr/>
          <p:nvPr/>
        </p:nvSpPr>
        <p:spPr>
          <a:xfrm>
            <a:off x="6217920" y="1828800"/>
            <a:ext cx="5303520" cy="4389120"/>
          </a:xfrm>
          <a:prstGeom prst="roundRect">
            <a:avLst>
              <a:gd name="adj" fmla="val 5000"/>
            </a:avLst>
          </a:prstGeom>
          <a:solidFill>
            <a:srgbClr val="25253D"/>
          </a:solidFill>
          <a:ln w="12700">
            <a:solidFill>
              <a:srgbClr val="A06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937760" cy="365760"/>
          </a:xfrm>
          <a:prstGeom prst="rect">
            <a:avLst/>
          </a:prstGeom>
          <a:noFill/>
        </p:spPr>
        <p:txBody>
          <a:bodyPr wrap="square">
            <a:spAutoFit/>
          </a:bodyPr>
          <a:lstStyle/>
          <a:p>
            <a:pPr algn="l">
              <a:defRPr sz="1500" b="1">
                <a:solidFill>
                  <a:srgbClr val="A06CFF"/>
                </a:solidFill>
                <a:latin typeface="Microsoft YaHei"/>
              </a:defRPr>
            </a:pPr>
            <a:r>
              <a:t>Wickham (2014) -- Tidy Data原则</a:t>
            </a:r>
          </a:p>
        </p:txBody>
      </p:sp>
      <p:sp>
        <p:nvSpPr>
          <p:cNvPr id="11" name="TextBox 10"/>
          <p:cNvSpPr txBox="1"/>
          <p:nvPr/>
        </p:nvSpPr>
        <p:spPr>
          <a:xfrm>
            <a:off x="6400800" y="2286000"/>
            <a:ext cx="4937760" cy="3840480"/>
          </a:xfrm>
          <a:prstGeom prst="rect">
            <a:avLst/>
          </a:prstGeom>
          <a:noFill/>
        </p:spPr>
        <p:txBody>
          <a:bodyPr wrap="square">
            <a:spAutoFit/>
          </a:bodyPr>
          <a:lstStyle/>
          <a:p>
            <a:pPr>
              <a:spcAft>
                <a:spcPts val="400"/>
              </a:spcAft>
              <a:defRPr sz="1300">
                <a:solidFill>
                  <a:srgbClr val="BBBBCC"/>
                </a:solidFill>
                <a:latin typeface="Microsoft YaHei"/>
              </a:defRPr>
            </a:pPr>
            <a:r>
              <a:t>"Tidy Data", J. of Statistical Software, 59(10)</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背景: 数据科学家50~80%的工作是数据清洗</a:t>
            </a:r>
          </a:p>
          <a:p>
            <a:pPr>
              <a:spcAft>
                <a:spcPts val="400"/>
              </a:spcAft>
              <a:defRPr sz="1300">
                <a:solidFill>
                  <a:srgbClr val="BBBBCC"/>
                </a:solidFill>
                <a:latin typeface="Microsoft YaHei"/>
              </a:defRPr>
            </a:pPr>
            <a:r>
              <a:t>缺乏系统理论 -&gt; 原则体系化</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核心贡献:</a:t>
            </a:r>
          </a:p>
          <a:p>
            <a:pPr>
              <a:spcAft>
                <a:spcPts val="400"/>
              </a:spcAft>
              <a:defRPr sz="1300">
                <a:solidFill>
                  <a:srgbClr val="BBBBCC"/>
                </a:solidFill>
                <a:latin typeface="Microsoft YaHei"/>
              </a:defRPr>
            </a:pPr>
            <a:r>
              <a:t>  1. 整洁数据的3原则 (变量=列, 观测=行, 观测单位=表)</a:t>
            </a:r>
          </a:p>
          <a:p>
            <a:pPr>
              <a:spcAft>
                <a:spcPts val="400"/>
              </a:spcAft>
              <a:defRPr sz="1300">
                <a:solidFill>
                  <a:srgbClr val="BBBBCC"/>
                </a:solidFill>
                <a:latin typeface="Microsoft YaHei"/>
              </a:defRPr>
            </a:pPr>
            <a:r>
              <a:t>  2. 混乱数据的5种类型分类</a:t>
            </a:r>
          </a:p>
          <a:p>
            <a:pPr>
              <a:spcAft>
                <a:spcPts val="400"/>
              </a:spcAft>
              <a:defRPr sz="1300">
                <a:solidFill>
                  <a:srgbClr val="BBBBCC"/>
                </a:solidFill>
                <a:latin typeface="Microsoft YaHei"/>
              </a:defRPr>
            </a:pPr>
            <a:r>
              <a:t>  3. 转换工具: melt(wide-&gt;long), pivot(long-&gt;wide)</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ML相关性:</a:t>
            </a:r>
          </a:p>
          <a:p>
            <a:pPr>
              <a:spcAft>
                <a:spcPts val="400"/>
              </a:spcAft>
              <a:defRPr sz="1300">
                <a:solidFill>
                  <a:srgbClr val="BBBBCC"/>
                </a:solidFill>
                <a:latin typeface="Microsoft YaHei"/>
              </a:defRPr>
            </a:pPr>
            <a:r>
              <a:t>  scikit-learn的 "行=样本, 列=特征" 格式</a:t>
            </a:r>
          </a:p>
          <a:p>
            <a:pPr>
              <a:spcAft>
                <a:spcPts val="400"/>
              </a:spcAft>
              <a:defRPr sz="1300">
                <a:solidFill>
                  <a:srgbClr val="BBBBCC"/>
                </a:solidFill>
                <a:latin typeface="Microsoft YaHei"/>
              </a:defRPr>
            </a:pPr>
            <a:r>
              <a:t>  = 与Tidy Data原则完全一致!</a:t>
            </a:r>
          </a:p>
          <a:p>
            <a:pPr>
              <a:spcAft>
                <a:spcPts val="400"/>
              </a:spcAft>
              <a:defRPr sz="1300">
                <a:solidFill>
                  <a:srgbClr val="BBBBCC"/>
                </a:solidFill>
                <a:latin typeface="Microsoft YaHei"/>
              </a:defRPr>
            </a:pPr>
            <a:r>
              <a:t>引文: "整洁的数据可以复用相同的分析代码"</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01028"/>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0"/>
            <a:ext cx="12191695" cy="50800"/>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1828800"/>
            <a:ext cx="12191695" cy="457200"/>
          </a:xfrm>
          <a:prstGeom prst="rect">
            <a:avLst/>
          </a:prstGeom>
          <a:noFill/>
        </p:spPr>
        <p:txBody>
          <a:bodyPr wrap="square">
            <a:spAutoFit/>
          </a:bodyPr>
          <a:lstStyle/>
          <a:p>
            <a:pPr algn="ctr">
              <a:defRPr sz="2000" b="1">
                <a:solidFill>
                  <a:srgbClr val="00D2FF"/>
                </a:solidFill>
                <a:latin typeface="Microsoft YaHei"/>
              </a:defRPr>
            </a:pPr>
            <a:r>
              <a:t>SECTION 8</a:t>
            </a:r>
          </a:p>
        </p:txBody>
      </p:sp>
      <p:sp>
        <p:nvSpPr>
          <p:cNvPr id="5" name="Rectangle 4"/>
          <p:cNvSpPr/>
          <p:nvPr/>
        </p:nvSpPr>
        <p:spPr>
          <a:xfrm>
            <a:off x="5029200" y="2468880"/>
            <a:ext cx="2103120" cy="38100"/>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743200"/>
            <a:ext cx="12191695" cy="914400"/>
          </a:xfrm>
          <a:prstGeom prst="rect">
            <a:avLst/>
          </a:prstGeom>
          <a:noFill/>
        </p:spPr>
        <p:txBody>
          <a:bodyPr wrap="square">
            <a:spAutoFit/>
          </a:bodyPr>
          <a:lstStyle/>
          <a:p>
            <a:pPr algn="ctr">
              <a:defRPr sz="4400" b="1">
                <a:solidFill>
                  <a:srgbClr val="FFFFFF"/>
                </a:solidFill>
                <a:latin typeface="Microsoft YaHei"/>
              </a:defRPr>
            </a:pPr>
            <a:r>
              <a:t>实现代码详细解说</a:t>
            </a:r>
          </a:p>
        </p:txBody>
      </p:sp>
      <p:sp>
        <p:nvSpPr>
          <p:cNvPr id="7" name="TextBox 6"/>
          <p:cNvSpPr txBox="1"/>
          <p:nvPr/>
        </p:nvSpPr>
        <p:spPr>
          <a:xfrm>
            <a:off x="0" y="3840480"/>
            <a:ext cx="12191695" cy="457200"/>
          </a:xfrm>
          <a:prstGeom prst="rect">
            <a:avLst/>
          </a:prstGeom>
          <a:noFill/>
        </p:spPr>
        <p:txBody>
          <a:bodyPr wrap="square">
            <a:spAutoFit/>
          </a:bodyPr>
          <a:lstStyle/>
          <a:p>
            <a:pPr algn="ctr">
              <a:defRPr sz="1800" b="0">
                <a:solidFill>
                  <a:srgbClr val="888899"/>
                </a:solidFill>
                <a:latin typeface="Microsoft YaHei"/>
              </a:defRPr>
            </a:pPr>
            <a:r>
              <a:t>3个实验代码: NumPy线性代数、Pandas管道、向量化基准测试</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8</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实验1: NumPy线性代数</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01_numpy_linear_algebra.py - SVD降维</a:t>
            </a:r>
          </a:p>
        </p:txBody>
      </p:sp>
      <p:sp>
        <p:nvSpPr>
          <p:cNvPr id="6" name="Rounded Rectangle 5"/>
          <p:cNvSpPr/>
          <p:nvPr/>
        </p:nvSpPr>
        <p:spPr>
          <a:xfrm>
            <a:off x="548640" y="1828800"/>
            <a:ext cx="5943600" cy="457200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65960"/>
            <a:ext cx="5577840" cy="4297680"/>
          </a:xfrm>
          <a:prstGeom prst="rect">
            <a:avLst/>
          </a:prstGeom>
          <a:noFill/>
        </p:spPr>
        <p:txBody>
          <a:bodyPr wrap="square">
            <a:spAutoFit/>
          </a:bodyPr>
          <a:lstStyle/>
          <a:p>
            <a:pPr>
              <a:spcAft>
                <a:spcPts val="200"/>
              </a:spcAft>
              <a:defRPr sz="1100">
                <a:solidFill>
                  <a:srgbClr val="00E696"/>
                </a:solidFill>
                <a:latin typeface="Consolas"/>
              </a:defRPr>
            </a:pPr>
            <a:r>
              <a:t># 使用SVD进行降维</a:t>
            </a:r>
          </a:p>
          <a:p>
            <a:pPr>
              <a:spcAft>
                <a:spcPts val="200"/>
              </a:spcAft>
              <a:defRPr sz="1100">
                <a:solidFill>
                  <a:srgbClr val="00E696"/>
                </a:solidFill>
                <a:latin typeface="Consolas"/>
              </a:defRPr>
            </a:pPr>
            <a:r>
              <a:t>import numpy as np</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A = np.array([[1,2,0],[0,1,1],[2,0,1],</a:t>
            </a:r>
          </a:p>
          <a:p>
            <a:pPr>
              <a:spcAft>
                <a:spcPts val="200"/>
              </a:spcAft>
              <a:defRPr sz="1100">
                <a:solidFill>
                  <a:srgbClr val="00E696"/>
                </a:solidFill>
                <a:latin typeface="Consolas"/>
              </a:defRPr>
            </a:pPr>
            <a:r>
              <a:t>              [1,1,1],[3,2,1]], dtype=float)</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U, s, Vt = np.linalg.svd(A, full_matrices=False)</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用前k个奇异值近似</a:t>
            </a:r>
          </a:p>
          <a:p>
            <a:pPr>
              <a:spcAft>
                <a:spcPts val="200"/>
              </a:spcAft>
              <a:defRPr sz="1100">
                <a:solidFill>
                  <a:srgbClr val="00E696"/>
                </a:solidFill>
                <a:latin typeface="Consolas"/>
              </a:defRPr>
            </a:pPr>
            <a:r>
              <a:t>k = 2</a:t>
            </a:r>
          </a:p>
          <a:p>
            <a:pPr>
              <a:spcAft>
                <a:spcPts val="200"/>
              </a:spcAft>
              <a:defRPr sz="1100">
                <a:solidFill>
                  <a:srgbClr val="00E696"/>
                </a:solidFill>
                <a:latin typeface="Consolas"/>
              </a:defRPr>
            </a:pPr>
            <a:r>
              <a:t>A_approx = U[:,:k] @ np.diag(s[:k]) @ Vt[:k,:]</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能量(方差解释力)分析</a:t>
            </a:r>
          </a:p>
          <a:p>
            <a:pPr>
              <a:spcAft>
                <a:spcPts val="200"/>
              </a:spcAft>
              <a:defRPr sz="1100">
                <a:solidFill>
                  <a:srgbClr val="00E696"/>
                </a:solidFill>
                <a:latin typeface="Consolas"/>
              </a:defRPr>
            </a:pPr>
            <a:r>
              <a:t>energy = s**2 / np.sum(s**2) * 100</a:t>
            </a:r>
          </a:p>
          <a:p>
            <a:pPr>
              <a:spcAft>
                <a:spcPts val="200"/>
              </a:spcAft>
              <a:defRPr sz="1100">
                <a:solidFill>
                  <a:srgbClr val="00E696"/>
                </a:solidFill>
                <a:latin typeface="Consolas"/>
              </a:defRPr>
            </a:pPr>
            <a:r>
              <a:t>print(f'奇异值: {s}')</a:t>
            </a:r>
          </a:p>
          <a:p>
            <a:pPr>
              <a:spcAft>
                <a:spcPts val="200"/>
              </a:spcAft>
              <a:defRPr sz="1100">
                <a:solidFill>
                  <a:srgbClr val="00E696"/>
                </a:solidFill>
                <a:latin typeface="Consolas"/>
              </a:defRPr>
            </a:pPr>
            <a:r>
              <a:t>print(f'能量比例: {energy}')</a:t>
            </a:r>
          </a:p>
          <a:p>
            <a:pPr>
              <a:spcAft>
                <a:spcPts val="200"/>
              </a:spcAft>
              <a:defRPr sz="1100">
                <a:solidFill>
                  <a:srgbClr val="00E696"/>
                </a:solidFill>
                <a:latin typeface="Consolas"/>
              </a:defRPr>
            </a:pPr>
            <a:r>
              <a:t>print(f'前{k}个累积: {np.sum(energy[:k]):.1f}%')</a:t>
            </a:r>
          </a:p>
        </p:txBody>
      </p:sp>
      <p:sp>
        <p:nvSpPr>
          <p:cNvPr id="8" name="Rounded Rectangle 7"/>
          <p:cNvSpPr/>
          <p:nvPr/>
        </p:nvSpPr>
        <p:spPr>
          <a:xfrm>
            <a:off x="6858000" y="1828800"/>
            <a:ext cx="4754880" cy="4572000"/>
          </a:xfrm>
          <a:prstGeom prst="roundRect">
            <a:avLst>
              <a:gd name="adj" fmla="val 5000"/>
            </a:avLst>
          </a:prstGeom>
          <a:solidFill>
            <a:srgbClr val="25253D"/>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0" y="1920240"/>
            <a:ext cx="4389120" cy="365760"/>
          </a:xfrm>
          <a:prstGeom prst="rect">
            <a:avLst/>
          </a:prstGeom>
          <a:noFill/>
        </p:spPr>
        <p:txBody>
          <a:bodyPr wrap="square">
            <a:spAutoFit/>
          </a:bodyPr>
          <a:lstStyle/>
          <a:p>
            <a:pPr algn="l">
              <a:defRPr sz="1500" b="1">
                <a:solidFill>
                  <a:srgbClr val="00D2FF"/>
                </a:solidFill>
                <a:latin typeface="Microsoft YaHei"/>
              </a:defRPr>
            </a:pPr>
            <a:r>
              <a:t>代码解析</a:t>
            </a:r>
          </a:p>
        </p:txBody>
      </p:sp>
      <p:sp>
        <p:nvSpPr>
          <p:cNvPr id="10" name="TextBox 9"/>
          <p:cNvSpPr txBox="1"/>
          <p:nvPr/>
        </p:nvSpPr>
        <p:spPr>
          <a:xfrm>
            <a:off x="7040880" y="2286000"/>
            <a:ext cx="4389120" cy="4023360"/>
          </a:xfrm>
          <a:prstGeom prst="rect">
            <a:avLst/>
          </a:prstGeom>
          <a:noFill/>
        </p:spPr>
        <p:txBody>
          <a:bodyPr wrap="square">
            <a:spAutoFit/>
          </a:bodyPr>
          <a:lstStyle/>
          <a:p>
            <a:pPr>
              <a:spcAft>
                <a:spcPts val="400"/>
              </a:spcAft>
              <a:defRPr sz="1300">
                <a:solidFill>
                  <a:srgbClr val="BBBBCC"/>
                </a:solidFill>
                <a:latin typeface="Microsoft YaHei"/>
              </a:defRPr>
            </a:pPr>
            <a:r>
              <a:t>SVD: 将A分解为 U * Sigma * V^T</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奇异值(s)的大小 = 该方向的数据方差量</a:t>
            </a:r>
          </a:p>
          <a:p>
            <a:pPr>
              <a:spcAft>
                <a:spcPts val="400"/>
              </a:spcAft>
              <a:defRPr sz="1300">
                <a:solidFill>
                  <a:srgbClr val="BBBBCC"/>
                </a:solidFill>
                <a:latin typeface="Microsoft YaHei"/>
              </a:defRPr>
            </a:pPr>
            <a:r>
              <a:t>只使用前k个 = 最小化信息损失 + 降维</a:t>
            </a:r>
          </a:p>
          <a:p>
            <a:pPr>
              <a:spcAft>
                <a:spcPts val="400"/>
              </a:spcAft>
              <a:defRPr sz="1300">
                <a:solidFill>
                  <a:srgbClr val="BBBBCC"/>
                </a:solidFill>
                <a:latin typeface="Microsoft YaHei"/>
              </a:defRPr>
            </a:pPr>
            <a:r>
              <a:t>-&gt; 这就是PCA的数学基础!</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full_matrices=False: 截断SVD</a:t>
            </a:r>
          </a:p>
          <a:p>
            <a:pPr>
              <a:spcAft>
                <a:spcPts val="400"/>
              </a:spcAft>
              <a:defRPr sz="1300">
                <a:solidFill>
                  <a:srgbClr val="BBBBCC"/>
                </a:solidFill>
                <a:latin typeface="Microsoft YaHei"/>
              </a:defRPr>
            </a:pPr>
            <a:r>
              <a:t>  U: (m, k), s: (k,), Vt: (k, n)</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能量比例 = s^2 / sum(s^2) * 100</a:t>
            </a:r>
          </a:p>
          <a:p>
            <a:pPr>
              <a:spcAft>
                <a:spcPts val="400"/>
              </a:spcAft>
              <a:defRPr sz="1300">
                <a:solidFill>
                  <a:srgbClr val="BBBBCC"/>
                </a:solidFill>
                <a:latin typeface="Microsoft YaHei"/>
              </a:defRPr>
            </a:pPr>
            <a:r>
              <a:t>  每个奇异值解释总方差的百分比</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实践: 选择使累积能量&gt;95%的k</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8</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实验1 (续): 正规方程求解比较</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逆矩阵 vs solve vs lstsq</a:t>
            </a:r>
          </a:p>
        </p:txBody>
      </p:sp>
      <p:sp>
        <p:nvSpPr>
          <p:cNvPr id="6" name="Rounded Rectangle 5"/>
          <p:cNvSpPr/>
          <p:nvPr/>
        </p:nvSpPr>
        <p:spPr>
          <a:xfrm>
            <a:off x="548640" y="1828800"/>
            <a:ext cx="6400800" cy="411480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65960"/>
            <a:ext cx="6035040" cy="3840480"/>
          </a:xfrm>
          <a:prstGeom prst="rect">
            <a:avLst/>
          </a:prstGeom>
          <a:noFill/>
        </p:spPr>
        <p:txBody>
          <a:bodyPr wrap="square">
            <a:spAutoFit/>
          </a:bodyPr>
          <a:lstStyle/>
          <a:p>
            <a:pPr>
              <a:spcAft>
                <a:spcPts val="200"/>
              </a:spcAft>
              <a:defRPr sz="1100">
                <a:solidFill>
                  <a:srgbClr val="00E696"/>
                </a:solidFill>
                <a:latin typeface="Consolas"/>
              </a:defRPr>
            </a:pPr>
            <a:r>
              <a:t># 数据生成: y = 3x + 2 + noise</a:t>
            </a:r>
          </a:p>
          <a:p>
            <a:pPr>
              <a:spcAft>
                <a:spcPts val="200"/>
              </a:spcAft>
              <a:defRPr sz="1100">
                <a:solidFill>
                  <a:srgbClr val="00E696"/>
                </a:solidFill>
                <a:latin typeface="Consolas"/>
              </a:defRPr>
            </a:pPr>
            <a:r>
              <a:t>np.random.seed(42)</a:t>
            </a:r>
          </a:p>
          <a:p>
            <a:pPr>
              <a:spcAft>
                <a:spcPts val="200"/>
              </a:spcAft>
              <a:defRPr sz="1100">
                <a:solidFill>
                  <a:srgbClr val="00E696"/>
                </a:solidFill>
                <a:latin typeface="Consolas"/>
              </a:defRPr>
            </a:pPr>
            <a:r>
              <a:t>X_raw = np.random.uniform(0, 10, (50, 1))</a:t>
            </a:r>
          </a:p>
          <a:p>
            <a:pPr>
              <a:spcAft>
                <a:spcPts val="200"/>
              </a:spcAft>
              <a:defRPr sz="1100">
                <a:solidFill>
                  <a:srgbClr val="00E696"/>
                </a:solidFill>
                <a:latin typeface="Consolas"/>
              </a:defRPr>
            </a:pPr>
            <a:r>
              <a:t>y = 3 * X_raw + 2 + np.random.normal(0, 1, (50, 1))</a:t>
            </a:r>
          </a:p>
          <a:p>
            <a:pPr>
              <a:spcAft>
                <a:spcPts val="200"/>
              </a:spcAft>
              <a:defRPr sz="1100">
                <a:solidFill>
                  <a:srgbClr val="00E696"/>
                </a:solidFill>
                <a:latin typeface="Consolas"/>
              </a:defRPr>
            </a:pPr>
            <a:r>
              <a:t>X = np.hstack([np.ones((50, 1)), X_raw])</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方法1: 逆矩阵 (数值不稳定)</a:t>
            </a:r>
          </a:p>
          <a:p>
            <a:pPr>
              <a:spcAft>
                <a:spcPts val="200"/>
              </a:spcAft>
              <a:defRPr sz="1100">
                <a:solidFill>
                  <a:srgbClr val="00E696"/>
                </a:solidFill>
                <a:latin typeface="Consolas"/>
              </a:defRPr>
            </a:pPr>
            <a:r>
              <a:t>beta_inv = np.linalg.inv(X.T @ X) @ X.T @ y</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方法2: solve (基于LU分解, 稳定)</a:t>
            </a:r>
          </a:p>
          <a:p>
            <a:pPr>
              <a:spcAft>
                <a:spcPts val="200"/>
              </a:spcAft>
              <a:defRPr sz="1100">
                <a:solidFill>
                  <a:srgbClr val="00E696"/>
                </a:solidFill>
                <a:latin typeface="Consolas"/>
              </a:defRPr>
            </a:pPr>
            <a:r>
              <a:t>beta_solve = np.linalg.solve(X.T @ X, X.T @ y)</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方法3: lstsq (基于SVD, 最稳定, 推荐!)</a:t>
            </a:r>
          </a:p>
          <a:p>
            <a:pPr>
              <a:spcAft>
                <a:spcPts val="200"/>
              </a:spcAft>
              <a:defRPr sz="1100">
                <a:solidFill>
                  <a:srgbClr val="00E696"/>
                </a:solidFill>
                <a:latin typeface="Consolas"/>
              </a:defRPr>
            </a:pPr>
            <a:r>
              <a:t>beta_lstsq, _, _, _ = np.linalg.lstsq(X, y, rcond=None)</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print(f'真值: 截距=2, 斜率=3')</a:t>
            </a:r>
          </a:p>
          <a:p>
            <a:pPr>
              <a:spcAft>
                <a:spcPts val="200"/>
              </a:spcAft>
              <a:defRPr sz="1100">
                <a:solidFill>
                  <a:srgbClr val="00E696"/>
                </a:solidFill>
                <a:latin typeface="Consolas"/>
              </a:defRPr>
            </a:pPr>
            <a:r>
              <a:t>print(f'lstsq: 截距={beta_lstsq[0,0]:.4f}, 斜率={beta_lstsq[1,0]:.4f}')</a:t>
            </a:r>
          </a:p>
        </p:txBody>
      </p:sp>
      <p:sp>
        <p:nvSpPr>
          <p:cNvPr id="8" name="Rounded Rectangle 7"/>
          <p:cNvSpPr/>
          <p:nvPr/>
        </p:nvSpPr>
        <p:spPr>
          <a:xfrm>
            <a:off x="7315200" y="1828800"/>
            <a:ext cx="4206240" cy="4572000"/>
          </a:xfrm>
          <a:prstGeom prst="roundRect">
            <a:avLst>
              <a:gd name="adj" fmla="val 5000"/>
            </a:avLst>
          </a:prstGeom>
          <a:solidFill>
            <a:srgbClr val="25253D"/>
          </a:solidFill>
          <a:ln w="12700">
            <a:solidFill>
              <a:srgbClr val="FF4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0" y="1920240"/>
            <a:ext cx="3840480" cy="365760"/>
          </a:xfrm>
          <a:prstGeom prst="rect">
            <a:avLst/>
          </a:prstGeom>
          <a:noFill/>
        </p:spPr>
        <p:txBody>
          <a:bodyPr wrap="square">
            <a:spAutoFit/>
          </a:bodyPr>
          <a:lstStyle/>
          <a:p>
            <a:pPr algn="l">
              <a:defRPr sz="1500" b="1">
                <a:solidFill>
                  <a:srgbClr val="FF4545"/>
                </a:solidFill>
                <a:latin typeface="Microsoft YaHei"/>
              </a:defRPr>
            </a:pPr>
            <a:r>
              <a:t>建议</a:t>
            </a:r>
          </a:p>
        </p:txBody>
      </p:sp>
      <p:sp>
        <p:nvSpPr>
          <p:cNvPr id="10" name="TextBox 9"/>
          <p:cNvSpPr txBox="1"/>
          <p:nvPr/>
        </p:nvSpPr>
        <p:spPr>
          <a:xfrm>
            <a:off x="7498080" y="2286000"/>
            <a:ext cx="3840480" cy="4023360"/>
          </a:xfrm>
          <a:prstGeom prst="rect">
            <a:avLst/>
          </a:prstGeom>
          <a:noFill/>
        </p:spPr>
        <p:txBody>
          <a:bodyPr wrap="square">
            <a:spAutoFit/>
          </a:bodyPr>
          <a:lstStyle/>
          <a:p>
            <a:pPr>
              <a:spcAft>
                <a:spcPts val="400"/>
              </a:spcAft>
              <a:defRPr sz="1300">
                <a:solidFill>
                  <a:srgbClr val="BBBBCC"/>
                </a:solidFill>
                <a:latin typeface="Microsoft YaHei"/>
              </a:defRPr>
            </a:pPr>
            <a:r>
              <a:t>实际中始终使用np.linalg.lstsq()!</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逆矩阵计算的问题:</a:t>
            </a:r>
          </a:p>
          <a:p>
            <a:pPr>
              <a:spcAft>
                <a:spcPts val="400"/>
              </a:spcAft>
              <a:defRPr sz="1300">
                <a:solidFill>
                  <a:srgbClr val="BBBBCC"/>
                </a:solidFill>
                <a:latin typeface="Microsoft YaHei"/>
              </a:defRPr>
            </a:pPr>
            <a:r>
              <a:t>  - 条件数(condition number)大的矩阵</a:t>
            </a:r>
          </a:p>
          <a:p>
            <a:pPr>
              <a:spcAft>
                <a:spcPts val="400"/>
              </a:spcAft>
              <a:defRPr sz="1300">
                <a:solidFill>
                  <a:srgbClr val="BBBBCC"/>
                </a:solidFill>
                <a:latin typeface="Microsoft YaHei"/>
              </a:defRPr>
            </a:pPr>
            <a:r>
              <a:t>    数值不稳定</a:t>
            </a:r>
          </a:p>
          <a:p>
            <a:pPr>
              <a:spcAft>
                <a:spcPts val="400"/>
              </a:spcAft>
              <a:defRPr sz="1300">
                <a:solidFill>
                  <a:srgbClr val="BBBBCC"/>
                </a:solidFill>
                <a:latin typeface="Microsoft YaHei"/>
              </a:defRPr>
            </a:pPr>
            <a:r>
              <a:t>  - 无法处理奇异矩阵(singular matrix)</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lstsq的优点:</a:t>
            </a:r>
          </a:p>
          <a:p>
            <a:pPr>
              <a:spcAft>
                <a:spcPts val="400"/>
              </a:spcAft>
              <a:defRPr sz="1300">
                <a:solidFill>
                  <a:srgbClr val="BBBBCC"/>
                </a:solidFill>
                <a:latin typeface="Microsoft YaHei"/>
              </a:defRPr>
            </a:pPr>
            <a:r>
              <a:t>  - 基于SVD最稳定</a:t>
            </a:r>
          </a:p>
          <a:p>
            <a:pPr>
              <a:spcAft>
                <a:spcPts val="400"/>
              </a:spcAft>
              <a:defRPr sz="1300">
                <a:solidFill>
                  <a:srgbClr val="BBBBCC"/>
                </a:solidFill>
                <a:latin typeface="Microsoft YaHei"/>
              </a:defRPr>
            </a:pPr>
            <a:r>
              <a:t>  - 可处理秩不足(rank-deficient)矩阵</a:t>
            </a:r>
          </a:p>
          <a:p>
            <a:pPr>
              <a:spcAft>
                <a:spcPts val="400"/>
              </a:spcAft>
              <a:defRPr sz="1300">
                <a:solidFill>
                  <a:srgbClr val="BBBBCC"/>
                </a:solidFill>
                <a:latin typeface="Microsoft YaHei"/>
              </a:defRPr>
            </a:pPr>
            <a:r>
              <a:t>  - 同时返回残差、秩、奇异值</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scikit-learn的LinearRegression也</a:t>
            </a:r>
          </a:p>
          <a:p>
            <a:pPr>
              <a:spcAft>
                <a:spcPts val="400"/>
              </a:spcAft>
              <a:defRPr sz="1300">
                <a:solidFill>
                  <a:srgbClr val="BBBBCC"/>
                </a:solidFill>
                <a:latin typeface="Microsoft YaHei"/>
              </a:defRPr>
            </a:pPr>
            <a:r>
              <a:t>内部使用lstsq!</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8</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实验2: Pandas数据管道</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02_pandas_data_pipeline.py - 缺失值策略比较</a:t>
            </a:r>
          </a:p>
        </p:txBody>
      </p:sp>
      <p:sp>
        <p:nvSpPr>
          <p:cNvPr id="6" name="Rounded Rectangle 5"/>
          <p:cNvSpPr/>
          <p:nvPr/>
        </p:nvSpPr>
        <p:spPr>
          <a:xfrm>
            <a:off x="548640" y="1828800"/>
            <a:ext cx="5943600" cy="457200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65960"/>
            <a:ext cx="5577840" cy="4297680"/>
          </a:xfrm>
          <a:prstGeom prst="rect">
            <a:avLst/>
          </a:prstGeom>
          <a:noFill/>
        </p:spPr>
        <p:txBody>
          <a:bodyPr wrap="square">
            <a:spAutoFit/>
          </a:bodyPr>
          <a:lstStyle/>
          <a:p>
            <a:pPr>
              <a:spcAft>
                <a:spcPts val="200"/>
              </a:spcAft>
              <a:defRPr sz="1000">
                <a:solidFill>
                  <a:srgbClr val="00E696"/>
                </a:solidFill>
                <a:latin typeface="Consolas"/>
              </a:defRPr>
            </a:pPr>
            <a:r>
              <a:t>import pandas as pd; import numpy as np</a:t>
            </a:r>
          </a:p>
          <a:p>
            <a:pPr>
              <a:spcAft>
                <a:spcPts val="200"/>
              </a:spcAft>
              <a:defRPr sz="1000">
                <a:solidFill>
                  <a:srgbClr val="00E696"/>
                </a:solidFill>
                <a:latin typeface="Consolas"/>
              </a:defRPr>
            </a:pPr>
            <a:r>
              <a:t>np.random.seed(42); n = 500</a:t>
            </a:r>
          </a:p>
          <a:p>
            <a:pPr>
              <a:spcAft>
                <a:spcPts val="200"/>
              </a:spcAft>
              <a:defRPr sz="1000">
                <a:solidFill>
                  <a:srgbClr val="00E696"/>
                </a:solidFill>
                <a:latin typeface="Consolas"/>
              </a:defRPr>
            </a:pPr>
            <a:r>
              <a:t>df = pd.DataFrame({</a:t>
            </a:r>
          </a:p>
          <a:p>
            <a:pPr>
              <a:spcAft>
                <a:spcPts val="200"/>
              </a:spcAft>
              <a:defRPr sz="1000">
                <a:solidFill>
                  <a:srgbClr val="00E696"/>
                </a:solidFill>
                <a:latin typeface="Consolas"/>
              </a:defRPr>
            </a:pPr>
            <a:r>
              <a:t>    '日期': pd.date_range('2024-01-01', periods=n, freq='6H'),</a:t>
            </a:r>
          </a:p>
          <a:p>
            <a:pPr>
              <a:spcAft>
                <a:spcPts val="200"/>
              </a:spcAft>
              <a:defRPr sz="1000">
                <a:solidFill>
                  <a:srgbClr val="00E696"/>
                </a:solidFill>
                <a:latin typeface="Consolas"/>
              </a:defRPr>
            </a:pPr>
            <a:r>
              <a:t>    '客户ID': np.random.choice(['C001','C002','C003'], n),</a:t>
            </a:r>
          </a:p>
          <a:p>
            <a:pPr>
              <a:spcAft>
                <a:spcPts val="200"/>
              </a:spcAft>
              <a:defRPr sz="1000">
                <a:solidFill>
                  <a:srgbClr val="00E696"/>
                </a:solidFill>
                <a:latin typeface="Consolas"/>
              </a:defRPr>
            </a:pPr>
            <a:r>
              <a:t>    '金额': np.random.exponential(50000, n).astype(int)+5000,</a:t>
            </a:r>
          </a:p>
          <a:p>
            <a:pPr>
              <a:spcAft>
                <a:spcPts val="200"/>
              </a:spcAft>
              <a:defRPr sz="1000">
                <a:solidFill>
                  <a:srgbClr val="00E696"/>
                </a:solidFill>
                <a:latin typeface="Consolas"/>
              </a:defRPr>
            </a:pPr>
            <a:r>
              <a:t>    '数量': np.random.randint(1, 10, size=n)})</a:t>
            </a:r>
          </a:p>
          <a:p>
            <a:pPr>
              <a:spcAft>
                <a:spcPts val="200"/>
              </a:spcAft>
              <a:defRPr sz="1000">
                <a:solidFill>
                  <a:srgbClr val="00E696"/>
                </a:solidFill>
                <a:latin typeface="Consolas"/>
              </a:defRPr>
            </a:pPr>
          </a:p>
          <a:p>
            <a:pPr>
              <a:spcAft>
                <a:spcPts val="200"/>
              </a:spcAft>
              <a:defRPr sz="1000">
                <a:solidFill>
                  <a:srgbClr val="00E696"/>
                </a:solidFill>
                <a:latin typeface="Consolas"/>
              </a:defRPr>
            </a:pPr>
            <a:r>
              <a:t># 人工插入缺失值 (10%)</a:t>
            </a:r>
          </a:p>
          <a:p>
            <a:pPr>
              <a:spcAft>
                <a:spcPts val="200"/>
              </a:spcAft>
              <a:defRPr sz="1000">
                <a:solidFill>
                  <a:srgbClr val="00E696"/>
                </a:solidFill>
                <a:latin typeface="Consolas"/>
              </a:defRPr>
            </a:pPr>
            <a:r>
              <a:t>mask = np.random.random(n) &lt; 0.1</a:t>
            </a:r>
          </a:p>
          <a:p>
            <a:pPr>
              <a:spcAft>
                <a:spcPts val="200"/>
              </a:spcAft>
              <a:defRPr sz="1000">
                <a:solidFill>
                  <a:srgbClr val="00E696"/>
                </a:solidFill>
                <a:latin typeface="Consolas"/>
              </a:defRPr>
            </a:pPr>
            <a:r>
              <a:t>df.loc[mask, '金额'] = np.nan</a:t>
            </a:r>
          </a:p>
          <a:p>
            <a:pPr>
              <a:spcAft>
                <a:spcPts val="200"/>
              </a:spcAft>
              <a:defRPr sz="1000">
                <a:solidFill>
                  <a:srgbClr val="00E696"/>
                </a:solidFill>
                <a:latin typeface="Consolas"/>
              </a:defRPr>
            </a:pPr>
          </a:p>
          <a:p>
            <a:pPr>
              <a:spcAft>
                <a:spcPts val="200"/>
              </a:spcAft>
              <a:defRPr sz="1000">
                <a:solidFill>
                  <a:srgbClr val="00E696"/>
                </a:solidFill>
                <a:latin typeface="Consolas"/>
              </a:defRPr>
            </a:pPr>
            <a:r>
              <a:t># 5种策略比较</a:t>
            </a:r>
          </a:p>
          <a:p>
            <a:pPr>
              <a:spcAft>
                <a:spcPts val="200"/>
              </a:spcAft>
              <a:defRPr sz="1000">
                <a:solidFill>
                  <a:srgbClr val="00E696"/>
                </a:solidFill>
                <a:latin typeface="Consolas"/>
              </a:defRPr>
            </a:pPr>
            <a:r>
              <a:t>strategies = {</a:t>
            </a:r>
          </a:p>
          <a:p>
            <a:pPr>
              <a:spcAft>
                <a:spcPts val="200"/>
              </a:spcAft>
              <a:defRPr sz="1000">
                <a:solidFill>
                  <a:srgbClr val="00E696"/>
                </a:solidFill>
                <a:latin typeface="Consolas"/>
              </a:defRPr>
            </a:pPr>
            <a:r>
              <a:t>    '删除': df['金额'].dropna(),</a:t>
            </a:r>
          </a:p>
          <a:p>
            <a:pPr>
              <a:spcAft>
                <a:spcPts val="200"/>
              </a:spcAft>
              <a:defRPr sz="1000">
                <a:solidFill>
                  <a:srgbClr val="00E696"/>
                </a:solidFill>
                <a:latin typeface="Consolas"/>
              </a:defRPr>
            </a:pPr>
            <a:r>
              <a:t>    '均值': df['金额'].fillna(df['金额'].mean()),</a:t>
            </a:r>
          </a:p>
          <a:p>
            <a:pPr>
              <a:spcAft>
                <a:spcPts val="200"/>
              </a:spcAft>
              <a:defRPr sz="1000">
                <a:solidFill>
                  <a:srgbClr val="00E696"/>
                </a:solidFill>
                <a:latin typeface="Consolas"/>
              </a:defRPr>
            </a:pPr>
            <a:r>
              <a:t>    '中位数': df['金额'].fillna(df['金额'].median()),</a:t>
            </a:r>
          </a:p>
          <a:p>
            <a:pPr>
              <a:spcAft>
                <a:spcPts val="200"/>
              </a:spcAft>
              <a:defRPr sz="1000">
                <a:solidFill>
                  <a:srgbClr val="00E696"/>
                </a:solidFill>
                <a:latin typeface="Consolas"/>
              </a:defRPr>
            </a:pPr>
            <a:r>
              <a:t>    '0替代': df['金额'].fillna(0),</a:t>
            </a:r>
          </a:p>
          <a:p>
            <a:pPr>
              <a:spcAft>
                <a:spcPts val="200"/>
              </a:spcAft>
              <a:defRPr sz="1000">
                <a:solidFill>
                  <a:srgbClr val="00E696"/>
                </a:solidFill>
                <a:latin typeface="Consolas"/>
              </a:defRPr>
            </a:pPr>
            <a:r>
              <a:t>    '插值': df['金额'].interpolate()}</a:t>
            </a:r>
          </a:p>
        </p:txBody>
      </p:sp>
      <p:sp>
        <p:nvSpPr>
          <p:cNvPr id="8" name="Rounded Rectangle 7"/>
          <p:cNvSpPr/>
          <p:nvPr/>
        </p:nvSpPr>
        <p:spPr>
          <a:xfrm>
            <a:off x="6858000" y="1828800"/>
            <a:ext cx="4754880" cy="457200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0" y="1920240"/>
            <a:ext cx="4389120" cy="365760"/>
          </a:xfrm>
          <a:prstGeom prst="rect">
            <a:avLst/>
          </a:prstGeom>
          <a:noFill/>
        </p:spPr>
        <p:txBody>
          <a:bodyPr wrap="square">
            <a:spAutoFit/>
          </a:bodyPr>
          <a:lstStyle/>
          <a:p>
            <a:pPr algn="l">
              <a:defRPr sz="1500" b="1">
                <a:solidFill>
                  <a:srgbClr val="00E696"/>
                </a:solidFill>
                <a:latin typeface="Microsoft YaHei"/>
              </a:defRPr>
            </a:pPr>
            <a:r>
              <a:t>代码解析与结果</a:t>
            </a:r>
          </a:p>
        </p:txBody>
      </p:sp>
      <p:sp>
        <p:nvSpPr>
          <p:cNvPr id="10" name="TextBox 9"/>
          <p:cNvSpPr txBox="1"/>
          <p:nvPr/>
        </p:nvSpPr>
        <p:spPr>
          <a:xfrm>
            <a:off x="7040880" y="2286000"/>
            <a:ext cx="4389120" cy="4023360"/>
          </a:xfrm>
          <a:prstGeom prst="rect">
            <a:avLst/>
          </a:prstGeom>
          <a:noFill/>
        </p:spPr>
        <p:txBody>
          <a:bodyPr wrap="square">
            <a:spAutoFit/>
          </a:bodyPr>
          <a:lstStyle/>
          <a:p>
            <a:pPr>
              <a:spcAft>
                <a:spcPts val="400"/>
              </a:spcAft>
              <a:defRPr sz="1300">
                <a:solidFill>
                  <a:srgbClr val="BBBBCC"/>
                </a:solidFill>
                <a:latin typeface="Microsoft YaHei"/>
              </a:defRPr>
            </a:pPr>
            <a:r>
              <a:t>用均值和标准差比较各策略的影响:</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删除: 保持原始统计量 (数据损失)</a:t>
            </a:r>
          </a:p>
          <a:p>
            <a:pPr>
              <a:spcAft>
                <a:spcPts val="400"/>
              </a:spcAft>
              <a:defRPr sz="1300">
                <a:solidFill>
                  <a:srgbClr val="BBBBCC"/>
                </a:solidFill>
                <a:latin typeface="Microsoft YaHei"/>
              </a:defRPr>
            </a:pPr>
            <a:r>
              <a:t>均值: 均值相同, 低估方差</a:t>
            </a:r>
          </a:p>
          <a:p>
            <a:pPr>
              <a:spcAft>
                <a:spcPts val="400"/>
              </a:spcAft>
              <a:defRPr sz="1300">
                <a:solidFill>
                  <a:srgbClr val="BBBBCC"/>
                </a:solidFill>
                <a:latin typeface="Microsoft YaHei"/>
              </a:defRPr>
            </a:pPr>
            <a:r>
              <a:t>中位数: 对异常值鲁棒, 低估方差</a:t>
            </a:r>
          </a:p>
          <a:p>
            <a:pPr>
              <a:spcAft>
                <a:spcPts val="400"/>
              </a:spcAft>
              <a:defRPr sz="1300">
                <a:solidFill>
                  <a:srgbClr val="BBBBCC"/>
                </a:solidFill>
                <a:latin typeface="Microsoft YaHei"/>
              </a:defRPr>
            </a:pPr>
            <a:r>
              <a:t>0替代: 均值和方差都扭曲 (不推荐)</a:t>
            </a:r>
          </a:p>
          <a:p>
            <a:pPr>
              <a:spcAft>
                <a:spcPts val="400"/>
              </a:spcAft>
              <a:defRPr sz="1300">
                <a:solidFill>
                  <a:srgbClr val="BBBBCC"/>
                </a:solidFill>
                <a:latin typeface="Microsoft YaHei"/>
              </a:defRPr>
            </a:pPr>
            <a:r>
              <a:t>插值: 在时间序列中保持连续性</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GroupBy + Transform模式:</a:t>
            </a:r>
          </a:p>
          <a:p>
            <a:pPr>
              <a:spcAft>
                <a:spcPts val="400"/>
              </a:spcAft>
              <a:defRPr sz="1300">
                <a:solidFill>
                  <a:srgbClr val="BBBBCC"/>
                </a:solidFill>
                <a:latin typeface="Microsoft YaHei"/>
              </a:defRPr>
            </a:pPr>
            <a:r>
              <a:t>  分组Z-score归一化</a:t>
            </a:r>
          </a:p>
          <a:p>
            <a:pPr>
              <a:spcAft>
                <a:spcPts val="400"/>
              </a:spcAft>
              <a:defRPr sz="1300">
                <a:solidFill>
                  <a:srgbClr val="BBBBCC"/>
                </a:solidFill>
                <a:latin typeface="Microsoft YaHei"/>
              </a:defRPr>
            </a:pPr>
            <a:r>
              <a:t>  分组累积求和 (cumsum)</a:t>
            </a:r>
          </a:p>
          <a:p>
            <a:pPr>
              <a:spcAft>
                <a:spcPts val="400"/>
              </a:spcAft>
              <a:defRPr sz="1300">
                <a:solidFill>
                  <a:srgbClr val="BBBBCC"/>
                </a:solidFill>
                <a:latin typeface="Microsoft YaHei"/>
              </a:defRPr>
            </a:pPr>
            <a:r>
              <a:t>  用组中位数替代缺失值</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最推荐: 根据情况选择合适的策略!</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8</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实验2 (续): GroupBy + Transform模式</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分组归一化与缺失值处理</a:t>
            </a:r>
          </a:p>
        </p:txBody>
      </p:sp>
      <p:sp>
        <p:nvSpPr>
          <p:cNvPr id="6" name="Rounded Rectangle 5"/>
          <p:cNvSpPr/>
          <p:nvPr/>
        </p:nvSpPr>
        <p:spPr>
          <a:xfrm>
            <a:off x="548640" y="1828800"/>
            <a:ext cx="5486400" cy="228600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65960"/>
            <a:ext cx="5120640" cy="2011680"/>
          </a:xfrm>
          <a:prstGeom prst="rect">
            <a:avLst/>
          </a:prstGeom>
          <a:noFill/>
        </p:spPr>
        <p:txBody>
          <a:bodyPr wrap="square">
            <a:spAutoFit/>
          </a:bodyPr>
          <a:lstStyle/>
          <a:p>
            <a:pPr>
              <a:spcAft>
                <a:spcPts val="200"/>
              </a:spcAft>
              <a:defRPr sz="1200">
                <a:solidFill>
                  <a:srgbClr val="00E696"/>
                </a:solidFill>
                <a:latin typeface="Consolas"/>
              </a:defRPr>
            </a:pPr>
            <a:r>
              <a:t># 按客户分组Z-score归一化</a:t>
            </a:r>
          </a:p>
          <a:p>
            <a:pPr>
              <a:spcAft>
                <a:spcPts val="200"/>
              </a:spcAft>
              <a:defRPr sz="1200">
                <a:solidFill>
                  <a:srgbClr val="00E696"/>
                </a:solidFill>
                <a:latin typeface="Consolas"/>
              </a:defRPr>
            </a:pPr>
            <a:r>
              <a:t>df['金额_zscore'] = df.groupby('客户ID')['金额'].transform(</a:t>
            </a:r>
          </a:p>
          <a:p>
            <a:pPr>
              <a:spcAft>
                <a:spcPts val="200"/>
              </a:spcAft>
              <a:defRPr sz="1200">
                <a:solidFill>
                  <a:srgbClr val="00E696"/>
                </a:solidFill>
                <a:latin typeface="Consolas"/>
              </a:defRPr>
            </a:pPr>
            <a:r>
              <a:t>    lambda x: (x - x.mean()) / x.std())</a:t>
            </a:r>
          </a:p>
          <a:p>
            <a:pPr>
              <a:spcAft>
                <a:spcPts val="200"/>
              </a:spcAft>
              <a:defRPr sz="1200">
                <a:solidFill>
                  <a:srgbClr val="00E696"/>
                </a:solidFill>
                <a:latin typeface="Consolas"/>
              </a:defRPr>
            </a:pPr>
          </a:p>
          <a:p>
            <a:pPr>
              <a:spcAft>
                <a:spcPts val="200"/>
              </a:spcAft>
              <a:defRPr sz="1200">
                <a:solidFill>
                  <a:srgbClr val="00E696"/>
                </a:solidFill>
                <a:latin typeface="Consolas"/>
              </a:defRPr>
            </a:pPr>
            <a:r>
              <a:t># 按客户分组累积求和</a:t>
            </a:r>
          </a:p>
          <a:p>
            <a:pPr>
              <a:spcAft>
                <a:spcPts val="200"/>
              </a:spcAft>
              <a:defRPr sz="1200">
                <a:solidFill>
                  <a:srgbClr val="00E696"/>
                </a:solidFill>
                <a:latin typeface="Consolas"/>
              </a:defRPr>
            </a:pPr>
            <a:r>
              <a:t>df['累积金额'] = df.groupby('客户ID')['金额'].cumsum()</a:t>
            </a:r>
          </a:p>
        </p:txBody>
      </p:sp>
      <p:sp>
        <p:nvSpPr>
          <p:cNvPr id="8" name="Rounded Rectangle 7"/>
          <p:cNvSpPr/>
          <p:nvPr/>
        </p:nvSpPr>
        <p:spPr>
          <a:xfrm>
            <a:off x="548640" y="4297680"/>
            <a:ext cx="5486400" cy="228600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434840"/>
            <a:ext cx="5120640" cy="2011680"/>
          </a:xfrm>
          <a:prstGeom prst="rect">
            <a:avLst/>
          </a:prstGeom>
          <a:noFill/>
        </p:spPr>
        <p:txBody>
          <a:bodyPr wrap="square">
            <a:spAutoFit/>
          </a:bodyPr>
          <a:lstStyle/>
          <a:p>
            <a:pPr>
              <a:spcAft>
                <a:spcPts val="200"/>
              </a:spcAft>
              <a:defRPr sz="1200">
                <a:solidFill>
                  <a:srgbClr val="00E696"/>
                </a:solidFill>
                <a:latin typeface="Consolas"/>
              </a:defRPr>
            </a:pPr>
            <a:r>
              <a:t># 用组中位数替代缺失值</a:t>
            </a:r>
          </a:p>
          <a:p>
            <a:pPr>
              <a:spcAft>
                <a:spcPts val="200"/>
              </a:spcAft>
              <a:defRPr sz="1200">
                <a:solidFill>
                  <a:srgbClr val="00E696"/>
                </a:solidFill>
                <a:latin typeface="Consolas"/>
              </a:defRPr>
            </a:pPr>
            <a:r>
              <a:t>df['金额_filled'] = df.groupby('客户ID')['金额'].transform(</a:t>
            </a:r>
          </a:p>
          <a:p>
            <a:pPr>
              <a:spcAft>
                <a:spcPts val="200"/>
              </a:spcAft>
              <a:defRPr sz="1200">
                <a:solidFill>
                  <a:srgbClr val="00E696"/>
                </a:solidFill>
                <a:latin typeface="Consolas"/>
              </a:defRPr>
            </a:pPr>
            <a:r>
              <a:t>    lambda x: x.fillna(x.median()))</a:t>
            </a:r>
          </a:p>
          <a:p>
            <a:pPr>
              <a:spcAft>
                <a:spcPts val="200"/>
              </a:spcAft>
              <a:defRPr sz="1200">
                <a:solidFill>
                  <a:srgbClr val="00E696"/>
                </a:solidFill>
                <a:latin typeface="Consolas"/>
              </a:defRPr>
            </a:pPr>
          </a:p>
          <a:p>
            <a:pPr>
              <a:spcAft>
                <a:spcPts val="200"/>
              </a:spcAft>
              <a:defRPr sz="1200">
                <a:solidFill>
                  <a:srgbClr val="00E696"/>
                </a:solidFill>
                <a:latin typeface="Consolas"/>
              </a:defRPr>
            </a:pPr>
            <a:r>
              <a:t># 这个模式是ML预处理中最强大的工具!</a:t>
            </a:r>
          </a:p>
          <a:p>
            <a:pPr>
              <a:spcAft>
                <a:spcPts val="200"/>
              </a:spcAft>
              <a:defRPr sz="1200">
                <a:solidFill>
                  <a:srgbClr val="00E696"/>
                </a:solidFill>
                <a:latin typeface="Consolas"/>
              </a:defRPr>
            </a:pPr>
            <a:r>
              <a:t># 分组替代比整体均值更准确</a:t>
            </a:r>
          </a:p>
        </p:txBody>
      </p:sp>
      <p:sp>
        <p:nvSpPr>
          <p:cNvPr id="10" name="Rounded Rectangle 9"/>
          <p:cNvSpPr/>
          <p:nvPr/>
        </p:nvSpPr>
        <p:spPr>
          <a:xfrm>
            <a:off x="6400800" y="1828800"/>
            <a:ext cx="5120640" cy="4754880"/>
          </a:xfrm>
          <a:prstGeom prst="roundRect">
            <a:avLst>
              <a:gd name="adj" fmla="val 5000"/>
            </a:avLst>
          </a:prstGeom>
          <a:solidFill>
            <a:srgbClr val="25253D"/>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1920240"/>
            <a:ext cx="4754880" cy="365760"/>
          </a:xfrm>
          <a:prstGeom prst="rect">
            <a:avLst/>
          </a:prstGeom>
          <a:noFill/>
        </p:spPr>
        <p:txBody>
          <a:bodyPr wrap="square">
            <a:spAutoFit/>
          </a:bodyPr>
          <a:lstStyle/>
          <a:p>
            <a:pPr algn="l">
              <a:defRPr sz="1500" b="1">
                <a:solidFill>
                  <a:srgbClr val="FF8C00"/>
                </a:solidFill>
                <a:latin typeface="Microsoft YaHei"/>
              </a:defRPr>
            </a:pPr>
            <a:r>
              <a:t>transform的核心特性</a:t>
            </a:r>
          </a:p>
        </p:txBody>
      </p:sp>
      <p:sp>
        <p:nvSpPr>
          <p:cNvPr id="12" name="TextBox 11"/>
          <p:cNvSpPr txBox="1"/>
          <p:nvPr/>
        </p:nvSpPr>
        <p:spPr>
          <a:xfrm>
            <a:off x="6583680" y="2286000"/>
            <a:ext cx="4754880" cy="4206240"/>
          </a:xfrm>
          <a:prstGeom prst="rect">
            <a:avLst/>
          </a:prstGeom>
          <a:noFill/>
        </p:spPr>
        <p:txBody>
          <a:bodyPr wrap="square">
            <a:spAutoFit/>
          </a:bodyPr>
          <a:lstStyle/>
          <a:p>
            <a:pPr>
              <a:spcAft>
                <a:spcPts val="400"/>
              </a:spcAft>
              <a:defRPr sz="1300">
                <a:solidFill>
                  <a:srgbClr val="BBBBCC"/>
                </a:solidFill>
                <a:latin typeface="Microsoft YaHei"/>
              </a:defRPr>
            </a:pPr>
            <a:r>
              <a:t>transform vs agg 区别:</a:t>
            </a:r>
          </a:p>
          <a:p>
            <a:pPr>
              <a:spcAft>
                <a:spcPts val="400"/>
              </a:spcAft>
              <a:defRPr sz="1300">
                <a:solidFill>
                  <a:srgbClr val="BBBBCC"/>
                </a:solidFill>
                <a:latin typeface="Microsoft YaHei"/>
              </a:defRPr>
            </a:pPr>
            <a:r>
              <a:t>  agg: 组 -&gt; 标量 (行数减少)</a:t>
            </a:r>
          </a:p>
          <a:p>
            <a:pPr>
              <a:spcAft>
                <a:spcPts val="400"/>
              </a:spcAft>
              <a:defRPr sz="1300">
                <a:solidFill>
                  <a:srgbClr val="BBBBCC"/>
                </a:solidFill>
                <a:latin typeface="Microsoft YaHei"/>
              </a:defRPr>
            </a:pPr>
            <a:r>
              <a:t>  transform: 组 -&gt; 原始大小 (行数不变)</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transform应用模式:</a:t>
            </a:r>
          </a:p>
          <a:p>
            <a:pPr>
              <a:spcAft>
                <a:spcPts val="400"/>
              </a:spcAft>
              <a:defRPr sz="1300">
                <a:solidFill>
                  <a:srgbClr val="BBBBCC"/>
                </a:solidFill>
                <a:latin typeface="Microsoft YaHei"/>
              </a:defRPr>
            </a:pPr>
            <a:r>
              <a:t>  1. 分组Z-score归一化</a:t>
            </a:r>
          </a:p>
          <a:p>
            <a:pPr>
              <a:spcAft>
                <a:spcPts val="400"/>
              </a:spcAft>
              <a:defRPr sz="1300">
                <a:solidFill>
                  <a:srgbClr val="BBBBCC"/>
                </a:solidFill>
                <a:latin typeface="Microsoft YaHei"/>
              </a:defRPr>
            </a:pPr>
            <a:r>
              <a:t>  2. 分组比例计算</a:t>
            </a:r>
          </a:p>
          <a:p>
            <a:pPr>
              <a:spcAft>
                <a:spcPts val="400"/>
              </a:spcAft>
              <a:defRPr sz="1300">
                <a:solidFill>
                  <a:srgbClr val="BBBBCC"/>
                </a:solidFill>
                <a:latin typeface="Microsoft YaHei"/>
              </a:defRPr>
            </a:pPr>
            <a:r>
              <a:t>  3. 分组缺失值替代</a:t>
            </a:r>
          </a:p>
          <a:p>
            <a:pPr>
              <a:spcAft>
                <a:spcPts val="400"/>
              </a:spcAft>
              <a:defRPr sz="1300">
                <a:solidFill>
                  <a:srgbClr val="BBBBCC"/>
                </a:solidFill>
                <a:latin typeface="Microsoft YaHei"/>
              </a:defRPr>
            </a:pPr>
            <a:r>
              <a:t>  4. 分组累积和/移动平均</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为什么有用?</a:t>
            </a:r>
          </a:p>
          <a:p>
            <a:pPr>
              <a:spcAft>
                <a:spcPts val="400"/>
              </a:spcAft>
              <a:defRPr sz="1300">
                <a:solidFill>
                  <a:srgbClr val="BBBBCC"/>
                </a:solidFill>
                <a:latin typeface="Microsoft YaHei"/>
              </a:defRPr>
            </a:pPr>
            <a:r>
              <a:t>  可直接作为新列添加到原始DataFrame</a:t>
            </a:r>
          </a:p>
          <a:p>
            <a:pPr>
              <a:spcAft>
                <a:spcPts val="400"/>
              </a:spcAft>
              <a:defRPr sz="1300">
                <a:solidFill>
                  <a:srgbClr val="BBBBCC"/>
                </a:solidFill>
                <a:latin typeface="Microsoft YaHei"/>
              </a:defRPr>
            </a:pPr>
            <a:r>
              <a:t>  分组统计比整体统计更准确的替代</a:t>
            </a:r>
          </a:p>
          <a:p>
            <a:pPr>
              <a:spcAft>
                <a:spcPts val="400"/>
              </a:spcAft>
              <a:defRPr sz="1300">
                <a:solidFill>
                  <a:srgbClr val="BBBBCC"/>
                </a:solidFill>
                <a:latin typeface="Microsoft YaHei"/>
              </a:defRPr>
            </a:pPr>
            <a:r>
              <a:t>  ML中特征工程的核心工具</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8</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实验3: 向量化基准测试</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03_vectorization_benchmark.py - 距离计算性能比较</a:t>
            </a:r>
          </a:p>
        </p:txBody>
      </p:sp>
      <p:sp>
        <p:nvSpPr>
          <p:cNvPr id="6" name="Rounded Rectangle 5"/>
          <p:cNvSpPr/>
          <p:nvPr/>
        </p:nvSpPr>
        <p:spPr>
          <a:xfrm>
            <a:off x="548640" y="1828800"/>
            <a:ext cx="5486400" cy="457200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65960"/>
            <a:ext cx="5120640" cy="4297680"/>
          </a:xfrm>
          <a:prstGeom prst="rect">
            <a:avLst/>
          </a:prstGeom>
          <a:noFill/>
        </p:spPr>
        <p:txBody>
          <a:bodyPr wrap="square">
            <a:spAutoFit/>
          </a:bodyPr>
          <a:lstStyle/>
          <a:p>
            <a:pPr>
              <a:spcAft>
                <a:spcPts val="200"/>
              </a:spcAft>
              <a:defRPr sz="1100">
                <a:solidFill>
                  <a:srgbClr val="00E696"/>
                </a:solidFill>
                <a:latin typeface="Consolas"/>
              </a:defRPr>
            </a:pPr>
            <a:r>
              <a:t>def dist_loop(X, Y):</a:t>
            </a:r>
          </a:p>
          <a:p>
            <a:pPr>
              <a:spcAft>
                <a:spcPts val="200"/>
              </a:spcAft>
              <a:defRPr sz="1100">
                <a:solidFill>
                  <a:srgbClr val="00E696"/>
                </a:solidFill>
                <a:latin typeface="Consolas"/>
              </a:defRPr>
            </a:pPr>
            <a:r>
              <a:t>    n, d = X.shape; m = Y.shape[0]</a:t>
            </a:r>
          </a:p>
          <a:p>
            <a:pPr>
              <a:spcAft>
                <a:spcPts val="200"/>
              </a:spcAft>
              <a:defRPr sz="1100">
                <a:solidFill>
                  <a:srgbClr val="00E696"/>
                </a:solidFill>
                <a:latin typeface="Consolas"/>
              </a:defRPr>
            </a:pPr>
            <a:r>
              <a:t>    D = np.zeros((n, m))</a:t>
            </a:r>
          </a:p>
          <a:p>
            <a:pPr>
              <a:spcAft>
                <a:spcPts val="200"/>
              </a:spcAft>
              <a:defRPr sz="1100">
                <a:solidFill>
                  <a:srgbClr val="00E696"/>
                </a:solidFill>
                <a:latin typeface="Consolas"/>
              </a:defRPr>
            </a:pPr>
            <a:r>
              <a:t>    for i in range(n):</a:t>
            </a:r>
          </a:p>
          <a:p>
            <a:pPr>
              <a:spcAft>
                <a:spcPts val="200"/>
              </a:spcAft>
              <a:defRPr sz="1100">
                <a:solidFill>
                  <a:srgbClr val="00E696"/>
                </a:solidFill>
                <a:latin typeface="Consolas"/>
              </a:defRPr>
            </a:pPr>
            <a:r>
              <a:t>        for j in range(m):</a:t>
            </a:r>
          </a:p>
          <a:p>
            <a:pPr>
              <a:spcAft>
                <a:spcPts val="200"/>
              </a:spcAft>
              <a:defRPr sz="1100">
                <a:solidFill>
                  <a:srgbClr val="00E696"/>
                </a:solidFill>
                <a:latin typeface="Consolas"/>
              </a:defRPr>
            </a:pPr>
            <a:r>
              <a:t>            s = 0</a:t>
            </a:r>
          </a:p>
          <a:p>
            <a:pPr>
              <a:spcAft>
                <a:spcPts val="200"/>
              </a:spcAft>
              <a:defRPr sz="1100">
                <a:solidFill>
                  <a:srgbClr val="00E696"/>
                </a:solidFill>
                <a:latin typeface="Consolas"/>
              </a:defRPr>
            </a:pPr>
            <a:r>
              <a:t>            for k in range(d):</a:t>
            </a:r>
          </a:p>
          <a:p>
            <a:pPr>
              <a:spcAft>
                <a:spcPts val="200"/>
              </a:spcAft>
              <a:defRPr sz="1100">
                <a:solidFill>
                  <a:srgbClr val="00E696"/>
                </a:solidFill>
                <a:latin typeface="Consolas"/>
              </a:defRPr>
            </a:pPr>
            <a:r>
              <a:t>                s += (X[i,k]-Y[j,k])**2</a:t>
            </a:r>
          </a:p>
          <a:p>
            <a:pPr>
              <a:spcAft>
                <a:spcPts val="200"/>
              </a:spcAft>
              <a:defRPr sz="1100">
                <a:solidFill>
                  <a:srgbClr val="00E696"/>
                </a:solidFill>
                <a:latin typeface="Consolas"/>
              </a:defRPr>
            </a:pPr>
            <a:r>
              <a:t>            D[i,j] = np.sqrt(s)</a:t>
            </a:r>
          </a:p>
          <a:p>
            <a:pPr>
              <a:spcAft>
                <a:spcPts val="200"/>
              </a:spcAft>
              <a:defRPr sz="1100">
                <a:solidFill>
                  <a:srgbClr val="00E696"/>
                </a:solidFill>
                <a:latin typeface="Consolas"/>
              </a:defRPr>
            </a:pPr>
            <a:r>
              <a:t>    return D</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def dist_vectorized(X, Y):</a:t>
            </a:r>
          </a:p>
          <a:p>
            <a:pPr>
              <a:spcAft>
                <a:spcPts val="200"/>
              </a:spcAft>
              <a:defRPr sz="1100">
                <a:solidFill>
                  <a:srgbClr val="00E696"/>
                </a:solidFill>
                <a:latin typeface="Consolas"/>
              </a:defRPr>
            </a:pPr>
            <a:r>
              <a:t>    return np.sqrt(np.sum(</a:t>
            </a:r>
          </a:p>
          <a:p>
            <a:pPr>
              <a:spcAft>
                <a:spcPts val="200"/>
              </a:spcAft>
              <a:defRPr sz="1100">
                <a:solidFill>
                  <a:srgbClr val="00E696"/>
                </a:solidFill>
                <a:latin typeface="Consolas"/>
              </a:defRPr>
            </a:pPr>
            <a:r>
              <a:t>        (X[:,np.newaxis,:]-Y[np.newaxis,:,:])**2, axis=2))</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X = np.random.randn(200, 10)</a:t>
            </a:r>
          </a:p>
          <a:p>
            <a:pPr>
              <a:spcAft>
                <a:spcPts val="200"/>
              </a:spcAft>
              <a:defRPr sz="1100">
                <a:solidFill>
                  <a:srgbClr val="00E696"/>
                </a:solidFill>
                <a:latin typeface="Consolas"/>
              </a:defRPr>
            </a:pPr>
            <a:r>
              <a:t>Y = np.random.randn(300, 10)</a:t>
            </a:r>
          </a:p>
          <a:p>
            <a:pPr>
              <a:spcAft>
                <a:spcPts val="200"/>
              </a:spcAft>
              <a:defRPr sz="1100">
                <a:solidFill>
                  <a:srgbClr val="00E696"/>
                </a:solidFill>
                <a:latin typeface="Consolas"/>
              </a:defRPr>
            </a:pPr>
            <a:r>
              <a:t># 循环: ~15秒 / 向量化: ~0.01秒 / 速度: ~1000倍</a:t>
            </a:r>
          </a:p>
        </p:txBody>
      </p:sp>
      <p:sp>
        <p:nvSpPr>
          <p:cNvPr id="8" name="Rounded Rectangle 7"/>
          <p:cNvSpPr/>
          <p:nvPr/>
        </p:nvSpPr>
        <p:spPr>
          <a:xfrm>
            <a:off x="6400800" y="1828800"/>
            <a:ext cx="5120640" cy="4572000"/>
          </a:xfrm>
          <a:prstGeom prst="roundRect">
            <a:avLst>
              <a:gd name="adj" fmla="val 5000"/>
            </a:avLst>
          </a:prstGeom>
          <a:solidFill>
            <a:srgbClr val="25253D"/>
          </a:solidFill>
          <a:ln w="12700">
            <a:solidFill>
              <a:srgbClr val="FF4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920240"/>
            <a:ext cx="4754880" cy="365760"/>
          </a:xfrm>
          <a:prstGeom prst="rect">
            <a:avLst/>
          </a:prstGeom>
          <a:noFill/>
        </p:spPr>
        <p:txBody>
          <a:bodyPr wrap="square">
            <a:spAutoFit/>
          </a:bodyPr>
          <a:lstStyle/>
          <a:p>
            <a:pPr algn="l">
              <a:defRPr sz="1500" b="1">
                <a:solidFill>
                  <a:srgbClr val="FF4545"/>
                </a:solidFill>
                <a:latin typeface="Microsoft YaHei"/>
              </a:defRPr>
            </a:pPr>
            <a:r>
              <a:t>基准测试结果及解析</a:t>
            </a:r>
          </a:p>
        </p:txBody>
      </p:sp>
      <p:sp>
        <p:nvSpPr>
          <p:cNvPr id="10" name="TextBox 9"/>
          <p:cNvSpPr txBox="1"/>
          <p:nvPr/>
        </p:nvSpPr>
        <p:spPr>
          <a:xfrm>
            <a:off x="6583680" y="2286000"/>
            <a:ext cx="4754880" cy="4023360"/>
          </a:xfrm>
          <a:prstGeom prst="rect">
            <a:avLst/>
          </a:prstGeom>
          <a:noFill/>
        </p:spPr>
        <p:txBody>
          <a:bodyPr wrap="square">
            <a:spAutoFit/>
          </a:bodyPr>
          <a:lstStyle/>
          <a:p>
            <a:pPr>
              <a:spcAft>
                <a:spcPts val="400"/>
              </a:spcAft>
              <a:defRPr sz="1300">
                <a:solidFill>
                  <a:srgbClr val="BBBBCC"/>
                </a:solidFill>
                <a:latin typeface="Microsoft YaHei"/>
              </a:defRPr>
            </a:pPr>
            <a:r>
              <a:t>200x300 成对距离 (10维):</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方法            | 时间      | 速度比</a:t>
            </a:r>
          </a:p>
          <a:p>
            <a:pPr>
              <a:spcAft>
                <a:spcPts val="400"/>
              </a:spcAft>
              <a:defRPr sz="1300">
                <a:solidFill>
                  <a:srgbClr val="BBBBCC"/>
                </a:solidFill>
                <a:latin typeface="Microsoft YaHei"/>
              </a:defRPr>
            </a:pPr>
            <a:r>
              <a:t>Python循环      | ~15秒    | 1x</a:t>
            </a:r>
          </a:p>
          <a:p>
            <a:pPr>
              <a:spcAft>
                <a:spcPts val="400"/>
              </a:spcAft>
              <a:defRPr sz="1300">
                <a:solidFill>
                  <a:srgbClr val="BBBBCC"/>
                </a:solidFill>
                <a:latin typeface="Microsoft YaHei"/>
              </a:defRPr>
            </a:pPr>
            <a:r>
              <a:t>NumPy向量化     | ~0.01秒  | 1,500x</a:t>
            </a:r>
          </a:p>
          <a:p>
            <a:pPr>
              <a:spcAft>
                <a:spcPts val="400"/>
              </a:spcAft>
              <a:defRPr sz="1300">
                <a:solidFill>
                  <a:srgbClr val="BBBBCC"/>
                </a:solidFill>
                <a:latin typeface="Microsoft YaHei"/>
              </a:defRPr>
            </a:pPr>
            <a:r>
              <a:t>Numba JIT       | ~0.02秒  | 750x</a:t>
            </a:r>
          </a:p>
          <a:p>
            <a:pPr>
              <a:spcAft>
                <a:spcPts val="400"/>
              </a:spcAft>
              <a:defRPr sz="1300">
                <a:solidFill>
                  <a:srgbClr val="BBBBCC"/>
                </a:solidFill>
                <a:latin typeface="Microsoft YaHei"/>
              </a:defRPr>
            </a:pPr>
            <a:r>
              <a:t>Numba parallel  | ~0.005秒 | 3,000x</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结果一致: np.allclose(D_loop, D_vec) = True</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KNN、K-Means等基于距离的算法中</a:t>
            </a:r>
          </a:p>
          <a:p>
            <a:pPr>
              <a:spcAft>
                <a:spcPts val="400"/>
              </a:spcAft>
              <a:defRPr sz="1300">
                <a:solidFill>
                  <a:srgbClr val="BBBBCC"/>
                </a:solidFill>
                <a:latin typeface="Microsoft YaHei"/>
              </a:defRPr>
            </a:pPr>
            <a:r>
              <a:t>向量化不是选择而是必须!</a:t>
            </a:r>
          </a:p>
          <a:p>
            <a:pPr>
              <a:spcAft>
                <a:spcPts val="400"/>
              </a:spcAft>
              <a:defRPr sz="1300">
                <a:solidFill>
                  <a:srgbClr val="BBBBCC"/>
                </a:solidFill>
                <a:latin typeface="Microsoft YaHei"/>
              </a:defRPr>
            </a:pPr>
            <a:r>
              <a:t>scikit-learn内部也使用向量化</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01028"/>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0"/>
            <a:ext cx="12191695" cy="508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1828800"/>
            <a:ext cx="12191695" cy="457200"/>
          </a:xfrm>
          <a:prstGeom prst="rect">
            <a:avLst/>
          </a:prstGeom>
          <a:noFill/>
        </p:spPr>
        <p:txBody>
          <a:bodyPr wrap="square">
            <a:spAutoFit/>
          </a:bodyPr>
          <a:lstStyle/>
          <a:p>
            <a:pPr algn="ctr">
              <a:defRPr sz="2000" b="1">
                <a:solidFill>
                  <a:srgbClr val="0096FF"/>
                </a:solidFill>
                <a:latin typeface="Microsoft YaHei"/>
              </a:defRPr>
            </a:pPr>
            <a:r>
              <a:t>SECTION 9</a:t>
            </a:r>
          </a:p>
        </p:txBody>
      </p:sp>
      <p:sp>
        <p:nvSpPr>
          <p:cNvPr id="5" name="Rectangle 4"/>
          <p:cNvSpPr/>
          <p:nvPr/>
        </p:nvSpPr>
        <p:spPr>
          <a:xfrm>
            <a:off x="5029200" y="2468880"/>
            <a:ext cx="210312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743200"/>
            <a:ext cx="12191695" cy="914400"/>
          </a:xfrm>
          <a:prstGeom prst="rect">
            <a:avLst/>
          </a:prstGeom>
          <a:noFill/>
        </p:spPr>
        <p:txBody>
          <a:bodyPr wrap="square">
            <a:spAutoFit/>
          </a:bodyPr>
          <a:lstStyle/>
          <a:p>
            <a:pPr algn="ctr">
              <a:defRPr sz="4400" b="1">
                <a:solidFill>
                  <a:srgbClr val="FFFFFF"/>
                </a:solidFill>
                <a:latin typeface="Microsoft YaHei"/>
              </a:defRPr>
            </a:pPr>
            <a:r>
              <a:t>核心总结与复习</a:t>
            </a:r>
          </a:p>
        </p:txBody>
      </p:sp>
      <p:sp>
        <p:nvSpPr>
          <p:cNvPr id="7" name="TextBox 6"/>
          <p:cNvSpPr txBox="1"/>
          <p:nvPr/>
        </p:nvSpPr>
        <p:spPr>
          <a:xfrm>
            <a:off x="0" y="3840480"/>
            <a:ext cx="12191695" cy="457200"/>
          </a:xfrm>
          <a:prstGeom prst="rect">
            <a:avLst/>
          </a:prstGeom>
          <a:noFill/>
        </p:spPr>
        <p:txBody>
          <a:bodyPr wrap="square">
            <a:spAutoFit/>
          </a:bodyPr>
          <a:lstStyle/>
          <a:p>
            <a:pPr algn="ctr">
              <a:defRPr sz="1800" b="0">
                <a:solidFill>
                  <a:srgbClr val="888899"/>
                </a:solidFill>
                <a:latin typeface="Microsoft YaHei"/>
              </a:defRPr>
            </a:pPr>
            <a:r>
              <a:t>第3章核心概念整理与复习题</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9</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核心总结表</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第3章学习的所有概念整理</a:t>
            </a:r>
          </a:p>
        </p:txBody>
      </p:sp>
      <p:sp>
        <p:nvSpPr>
          <p:cNvPr id="6" name="Rectangle 5"/>
          <p:cNvSpPr/>
          <p:nvPr/>
        </p:nvSpPr>
        <p:spPr>
          <a:xfrm>
            <a:off x="548640" y="1828800"/>
            <a:ext cx="2286000" cy="4572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28800"/>
            <a:ext cx="2286000" cy="457200"/>
          </a:xfrm>
          <a:prstGeom prst="rect">
            <a:avLst/>
          </a:prstGeom>
          <a:noFill/>
        </p:spPr>
        <p:txBody>
          <a:bodyPr wrap="square">
            <a:spAutoFit/>
          </a:bodyPr>
          <a:lstStyle/>
          <a:p>
            <a:pPr algn="ctr">
              <a:defRPr sz="1400" b="1">
                <a:solidFill>
                  <a:srgbClr val="FFFFFF"/>
                </a:solidFill>
                <a:latin typeface="Microsoft YaHei"/>
              </a:defRPr>
            </a:pPr>
            <a:r>
              <a:t>概念</a:t>
            </a:r>
          </a:p>
        </p:txBody>
      </p:sp>
      <p:sp>
        <p:nvSpPr>
          <p:cNvPr id="8" name="Rectangle 7"/>
          <p:cNvSpPr/>
          <p:nvPr/>
        </p:nvSpPr>
        <p:spPr>
          <a:xfrm>
            <a:off x="2834640" y="1828800"/>
            <a:ext cx="8686800" cy="4572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34640" y="1828800"/>
            <a:ext cx="8686800" cy="457200"/>
          </a:xfrm>
          <a:prstGeom prst="rect">
            <a:avLst/>
          </a:prstGeom>
          <a:noFill/>
        </p:spPr>
        <p:txBody>
          <a:bodyPr wrap="square">
            <a:spAutoFit/>
          </a:bodyPr>
          <a:lstStyle/>
          <a:p>
            <a:pPr algn="ctr">
              <a:defRPr sz="1400" b="1">
                <a:solidFill>
                  <a:srgbClr val="FFFFFF"/>
                </a:solidFill>
                <a:latin typeface="Microsoft YaHei"/>
              </a:defRPr>
            </a:pPr>
            <a:r>
              <a:t>核心要点</a:t>
            </a:r>
          </a:p>
        </p:txBody>
      </p:sp>
      <p:sp>
        <p:nvSpPr>
          <p:cNvPr id="10" name="Rectangle 9"/>
          <p:cNvSpPr/>
          <p:nvPr/>
        </p:nvSpPr>
        <p:spPr>
          <a:xfrm>
            <a:off x="548640" y="2286000"/>
            <a:ext cx="22860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86000"/>
            <a:ext cx="2286000" cy="411480"/>
          </a:xfrm>
          <a:prstGeom prst="rect">
            <a:avLst/>
          </a:prstGeom>
          <a:noFill/>
        </p:spPr>
        <p:txBody>
          <a:bodyPr wrap="square">
            <a:spAutoFit/>
          </a:bodyPr>
          <a:lstStyle/>
          <a:p>
            <a:pPr algn="ctr">
              <a:defRPr sz="1200" b="1">
                <a:solidFill>
                  <a:srgbClr val="00D2FF"/>
                </a:solidFill>
                <a:latin typeface="Microsoft YaHei"/>
              </a:defRPr>
            </a:pPr>
            <a:r>
              <a:t>ndarray</a:t>
            </a:r>
          </a:p>
        </p:txBody>
      </p:sp>
      <p:sp>
        <p:nvSpPr>
          <p:cNvPr id="12" name="Rectangle 11"/>
          <p:cNvSpPr/>
          <p:nvPr/>
        </p:nvSpPr>
        <p:spPr>
          <a:xfrm>
            <a:off x="2834640" y="2286000"/>
            <a:ext cx="86868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34640" y="2286000"/>
            <a:ext cx="8686800" cy="411480"/>
          </a:xfrm>
          <a:prstGeom prst="rect">
            <a:avLst/>
          </a:prstGeom>
          <a:noFill/>
        </p:spPr>
        <p:txBody>
          <a:bodyPr wrap="square">
            <a:spAutoFit/>
          </a:bodyPr>
          <a:lstStyle/>
          <a:p>
            <a:pPr algn="ctr">
              <a:defRPr sz="1200" b="0">
                <a:solidFill>
                  <a:srgbClr val="BBBBCC"/>
                </a:solidFill>
                <a:latin typeface="Microsoft YaHei"/>
              </a:defRPr>
            </a:pPr>
            <a:r>
              <a:t>连续内存, stride, 同质dtype, 向量化运算的基础</a:t>
            </a:r>
          </a:p>
        </p:txBody>
      </p:sp>
      <p:sp>
        <p:nvSpPr>
          <p:cNvPr id="14" name="Rectangle 13"/>
          <p:cNvSpPr/>
          <p:nvPr/>
        </p:nvSpPr>
        <p:spPr>
          <a:xfrm>
            <a:off x="548640" y="2697480"/>
            <a:ext cx="22860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697480"/>
            <a:ext cx="2286000" cy="411480"/>
          </a:xfrm>
          <a:prstGeom prst="rect">
            <a:avLst/>
          </a:prstGeom>
          <a:noFill/>
        </p:spPr>
        <p:txBody>
          <a:bodyPr wrap="square">
            <a:spAutoFit/>
          </a:bodyPr>
          <a:lstStyle/>
          <a:p>
            <a:pPr algn="ctr">
              <a:defRPr sz="1200" b="1">
                <a:solidFill>
                  <a:srgbClr val="00D2FF"/>
                </a:solidFill>
                <a:latin typeface="Microsoft YaHei"/>
              </a:defRPr>
            </a:pPr>
            <a:r>
              <a:t>广播</a:t>
            </a:r>
          </a:p>
        </p:txBody>
      </p:sp>
      <p:sp>
        <p:nvSpPr>
          <p:cNvPr id="16" name="Rectangle 15"/>
          <p:cNvSpPr/>
          <p:nvPr/>
        </p:nvSpPr>
        <p:spPr>
          <a:xfrm>
            <a:off x="2834640" y="2697480"/>
            <a:ext cx="86868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34640" y="2697480"/>
            <a:ext cx="8686800" cy="411480"/>
          </a:xfrm>
          <a:prstGeom prst="rect">
            <a:avLst/>
          </a:prstGeom>
          <a:noFill/>
        </p:spPr>
        <p:txBody>
          <a:bodyPr wrap="square">
            <a:spAutoFit/>
          </a:bodyPr>
          <a:lstStyle/>
          <a:p>
            <a:pPr algn="ctr">
              <a:defRPr sz="1200" b="0">
                <a:solidFill>
                  <a:srgbClr val="BBBBCC"/>
                </a:solidFill>
                <a:latin typeface="Microsoft YaHei"/>
              </a:defRPr>
            </a:pPr>
            <a:r>
              <a:t>不同大小数组间运算自动化, stride=0虚拟扩展</a:t>
            </a:r>
          </a:p>
        </p:txBody>
      </p:sp>
      <p:sp>
        <p:nvSpPr>
          <p:cNvPr id="18" name="Rectangle 17"/>
          <p:cNvSpPr/>
          <p:nvPr/>
        </p:nvSpPr>
        <p:spPr>
          <a:xfrm>
            <a:off x="548640" y="3108960"/>
            <a:ext cx="22860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108960"/>
            <a:ext cx="2286000" cy="411480"/>
          </a:xfrm>
          <a:prstGeom prst="rect">
            <a:avLst/>
          </a:prstGeom>
          <a:noFill/>
        </p:spPr>
        <p:txBody>
          <a:bodyPr wrap="square">
            <a:spAutoFit/>
          </a:bodyPr>
          <a:lstStyle/>
          <a:p>
            <a:pPr algn="ctr">
              <a:defRPr sz="1200" b="1">
                <a:solidFill>
                  <a:srgbClr val="00D2FF"/>
                </a:solidFill>
                <a:latin typeface="Microsoft YaHei"/>
              </a:defRPr>
            </a:pPr>
            <a:r>
              <a:t>DataFrame</a:t>
            </a:r>
          </a:p>
        </p:txBody>
      </p:sp>
      <p:sp>
        <p:nvSpPr>
          <p:cNvPr id="20" name="Rectangle 19"/>
          <p:cNvSpPr/>
          <p:nvPr/>
        </p:nvSpPr>
        <p:spPr>
          <a:xfrm>
            <a:off x="2834640" y="3108960"/>
            <a:ext cx="86868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34640" y="3108960"/>
            <a:ext cx="8686800" cy="411480"/>
          </a:xfrm>
          <a:prstGeom prst="rect">
            <a:avLst/>
          </a:prstGeom>
          <a:noFill/>
        </p:spPr>
        <p:txBody>
          <a:bodyPr wrap="square">
            <a:spAutoFit/>
          </a:bodyPr>
          <a:lstStyle/>
          <a:p>
            <a:pPr algn="ctr">
              <a:defRPr sz="1200" b="0">
                <a:solidFill>
                  <a:srgbClr val="BBBBCC"/>
                </a:solidFill>
                <a:latin typeface="Microsoft YaHei"/>
              </a:defRPr>
            </a:pPr>
            <a:r>
              <a:t>异质表结构, 按列独立数组, 基于标签索引</a:t>
            </a:r>
          </a:p>
        </p:txBody>
      </p:sp>
      <p:sp>
        <p:nvSpPr>
          <p:cNvPr id="22" name="Rectangle 21"/>
          <p:cNvSpPr/>
          <p:nvPr/>
        </p:nvSpPr>
        <p:spPr>
          <a:xfrm>
            <a:off x="548640" y="3520440"/>
            <a:ext cx="22860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3520440"/>
            <a:ext cx="2286000" cy="411480"/>
          </a:xfrm>
          <a:prstGeom prst="rect">
            <a:avLst/>
          </a:prstGeom>
          <a:noFill/>
        </p:spPr>
        <p:txBody>
          <a:bodyPr wrap="square">
            <a:spAutoFit/>
          </a:bodyPr>
          <a:lstStyle/>
          <a:p>
            <a:pPr algn="ctr">
              <a:defRPr sz="1200" b="1">
                <a:solidFill>
                  <a:srgbClr val="00D2FF"/>
                </a:solidFill>
                <a:latin typeface="Microsoft YaHei"/>
              </a:defRPr>
            </a:pPr>
            <a:r>
              <a:t>方法链</a:t>
            </a:r>
          </a:p>
        </p:txBody>
      </p:sp>
      <p:sp>
        <p:nvSpPr>
          <p:cNvPr id="24" name="Rectangle 23"/>
          <p:cNvSpPr/>
          <p:nvPr/>
        </p:nvSpPr>
        <p:spPr>
          <a:xfrm>
            <a:off x="2834640" y="3520440"/>
            <a:ext cx="86868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34640" y="3520440"/>
            <a:ext cx="8686800" cy="411480"/>
          </a:xfrm>
          <a:prstGeom prst="rect">
            <a:avLst/>
          </a:prstGeom>
          <a:noFill/>
        </p:spPr>
        <p:txBody>
          <a:bodyPr wrap="square">
            <a:spAutoFit/>
          </a:bodyPr>
          <a:lstStyle/>
          <a:p>
            <a:pPr algn="ctr">
              <a:defRPr sz="1200" b="0">
                <a:solidFill>
                  <a:srgbClr val="BBBBCC"/>
                </a:solidFill>
                <a:latin typeface="Microsoft YaHei"/>
              </a:defRPr>
            </a:pPr>
            <a:r>
              <a:t>.assign().query().sort_values() 模式</a:t>
            </a:r>
          </a:p>
        </p:txBody>
      </p:sp>
      <p:sp>
        <p:nvSpPr>
          <p:cNvPr id="26" name="Rectangle 25"/>
          <p:cNvSpPr/>
          <p:nvPr/>
        </p:nvSpPr>
        <p:spPr>
          <a:xfrm>
            <a:off x="548640" y="3931920"/>
            <a:ext cx="22860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3931920"/>
            <a:ext cx="2286000" cy="411480"/>
          </a:xfrm>
          <a:prstGeom prst="rect">
            <a:avLst/>
          </a:prstGeom>
          <a:noFill/>
        </p:spPr>
        <p:txBody>
          <a:bodyPr wrap="square">
            <a:spAutoFit/>
          </a:bodyPr>
          <a:lstStyle/>
          <a:p>
            <a:pPr algn="ctr">
              <a:defRPr sz="1200" b="1">
                <a:solidFill>
                  <a:srgbClr val="00D2FF"/>
                </a:solidFill>
                <a:latin typeface="Microsoft YaHei"/>
              </a:defRPr>
            </a:pPr>
            <a:r>
              <a:t>GroupBy</a:t>
            </a:r>
          </a:p>
        </p:txBody>
      </p:sp>
      <p:sp>
        <p:nvSpPr>
          <p:cNvPr id="28" name="Rectangle 27"/>
          <p:cNvSpPr/>
          <p:nvPr/>
        </p:nvSpPr>
        <p:spPr>
          <a:xfrm>
            <a:off x="2834640" y="3931920"/>
            <a:ext cx="86868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34640" y="3931920"/>
            <a:ext cx="8686800" cy="411480"/>
          </a:xfrm>
          <a:prstGeom prst="rect">
            <a:avLst/>
          </a:prstGeom>
          <a:noFill/>
        </p:spPr>
        <p:txBody>
          <a:bodyPr wrap="square">
            <a:spAutoFit/>
          </a:bodyPr>
          <a:lstStyle/>
          <a:p>
            <a:pPr algn="ctr">
              <a:defRPr sz="1200" b="0">
                <a:solidFill>
                  <a:srgbClr val="BBBBCC"/>
                </a:solidFill>
                <a:latin typeface="Microsoft YaHei"/>
              </a:defRPr>
            </a:pPr>
            <a:r>
              <a:t>分割-应用-合并, agg / transform / apply</a:t>
            </a:r>
          </a:p>
        </p:txBody>
      </p:sp>
      <p:sp>
        <p:nvSpPr>
          <p:cNvPr id="30" name="Rectangle 29"/>
          <p:cNvSpPr/>
          <p:nvPr/>
        </p:nvSpPr>
        <p:spPr>
          <a:xfrm>
            <a:off x="548640" y="4343400"/>
            <a:ext cx="22860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4343400"/>
            <a:ext cx="2286000" cy="411480"/>
          </a:xfrm>
          <a:prstGeom prst="rect">
            <a:avLst/>
          </a:prstGeom>
          <a:noFill/>
        </p:spPr>
        <p:txBody>
          <a:bodyPr wrap="square">
            <a:spAutoFit/>
          </a:bodyPr>
          <a:lstStyle/>
          <a:p>
            <a:pPr algn="ctr">
              <a:defRPr sz="1200" b="1">
                <a:solidFill>
                  <a:srgbClr val="00D2FF"/>
                </a:solidFill>
                <a:latin typeface="Microsoft YaHei"/>
              </a:defRPr>
            </a:pPr>
            <a:r>
              <a:t>Tidy Data</a:t>
            </a:r>
          </a:p>
        </p:txBody>
      </p:sp>
      <p:sp>
        <p:nvSpPr>
          <p:cNvPr id="32" name="Rectangle 31"/>
          <p:cNvSpPr/>
          <p:nvPr/>
        </p:nvSpPr>
        <p:spPr>
          <a:xfrm>
            <a:off x="2834640" y="4343400"/>
            <a:ext cx="86868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34640" y="4343400"/>
            <a:ext cx="8686800" cy="411480"/>
          </a:xfrm>
          <a:prstGeom prst="rect">
            <a:avLst/>
          </a:prstGeom>
          <a:noFill/>
        </p:spPr>
        <p:txBody>
          <a:bodyPr wrap="square">
            <a:spAutoFit/>
          </a:bodyPr>
          <a:lstStyle/>
          <a:p>
            <a:pPr algn="ctr">
              <a:defRPr sz="1200" b="0">
                <a:solidFill>
                  <a:srgbClr val="BBBBCC"/>
                </a:solidFill>
                <a:latin typeface="Microsoft YaHei"/>
              </a:defRPr>
            </a:pPr>
            <a:r>
              <a:t>变量=列, 观测=行, 观测单位=表 (Wickham 2014)</a:t>
            </a:r>
          </a:p>
        </p:txBody>
      </p:sp>
      <p:sp>
        <p:nvSpPr>
          <p:cNvPr id="34" name="Rectangle 33"/>
          <p:cNvSpPr/>
          <p:nvPr/>
        </p:nvSpPr>
        <p:spPr>
          <a:xfrm>
            <a:off x="548640" y="4754880"/>
            <a:ext cx="22860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4754880"/>
            <a:ext cx="2286000" cy="411480"/>
          </a:xfrm>
          <a:prstGeom prst="rect">
            <a:avLst/>
          </a:prstGeom>
          <a:noFill/>
        </p:spPr>
        <p:txBody>
          <a:bodyPr wrap="square">
            <a:spAutoFit/>
          </a:bodyPr>
          <a:lstStyle/>
          <a:p>
            <a:pPr algn="ctr">
              <a:defRPr sz="1200" b="1">
                <a:solidFill>
                  <a:srgbClr val="00D2FF"/>
                </a:solidFill>
                <a:latin typeface="Microsoft YaHei"/>
              </a:defRPr>
            </a:pPr>
            <a:r>
              <a:t>向量化</a:t>
            </a:r>
          </a:p>
        </p:txBody>
      </p:sp>
      <p:sp>
        <p:nvSpPr>
          <p:cNvPr id="36" name="Rectangle 35"/>
          <p:cNvSpPr/>
          <p:nvPr/>
        </p:nvSpPr>
        <p:spPr>
          <a:xfrm>
            <a:off x="2834640" y="4754880"/>
            <a:ext cx="86868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34640" y="4754880"/>
            <a:ext cx="8686800" cy="411480"/>
          </a:xfrm>
          <a:prstGeom prst="rect">
            <a:avLst/>
          </a:prstGeom>
          <a:noFill/>
        </p:spPr>
        <p:txBody>
          <a:bodyPr wrap="square">
            <a:spAutoFit/>
          </a:bodyPr>
          <a:lstStyle/>
          <a:p>
            <a:pPr algn="ctr">
              <a:defRPr sz="1200" b="0">
                <a:solidFill>
                  <a:srgbClr val="BBBBCC"/>
                </a:solidFill>
                <a:latin typeface="Microsoft YaHei"/>
              </a:defRPr>
            </a:pPr>
            <a:r>
              <a:t>C循环, 连续内存, SIMD带来100~1000倍性能提升</a:t>
            </a:r>
          </a:p>
        </p:txBody>
      </p:sp>
      <p:sp>
        <p:nvSpPr>
          <p:cNvPr id="38" name="Rectangle 37"/>
          <p:cNvSpPr/>
          <p:nvPr/>
        </p:nvSpPr>
        <p:spPr>
          <a:xfrm>
            <a:off x="548640" y="5166360"/>
            <a:ext cx="22860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5166360"/>
            <a:ext cx="2286000" cy="411480"/>
          </a:xfrm>
          <a:prstGeom prst="rect">
            <a:avLst/>
          </a:prstGeom>
          <a:noFill/>
        </p:spPr>
        <p:txBody>
          <a:bodyPr wrap="square">
            <a:spAutoFit/>
          </a:bodyPr>
          <a:lstStyle/>
          <a:p>
            <a:pPr algn="ctr">
              <a:defRPr sz="1200" b="1">
                <a:solidFill>
                  <a:srgbClr val="00D2FF"/>
                </a:solidFill>
                <a:latin typeface="Microsoft YaHei"/>
              </a:defRPr>
            </a:pPr>
            <a:r>
              <a:t>缺失值策略</a:t>
            </a:r>
          </a:p>
        </p:txBody>
      </p:sp>
      <p:sp>
        <p:nvSpPr>
          <p:cNvPr id="40" name="Rectangle 39"/>
          <p:cNvSpPr/>
          <p:nvPr/>
        </p:nvSpPr>
        <p:spPr>
          <a:xfrm>
            <a:off x="2834640" y="5166360"/>
            <a:ext cx="86868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834640" y="5166360"/>
            <a:ext cx="8686800" cy="411480"/>
          </a:xfrm>
          <a:prstGeom prst="rect">
            <a:avLst/>
          </a:prstGeom>
          <a:noFill/>
        </p:spPr>
        <p:txBody>
          <a:bodyPr wrap="square">
            <a:spAutoFit/>
          </a:bodyPr>
          <a:lstStyle/>
          <a:p>
            <a:pPr algn="ctr">
              <a:defRPr sz="1200" b="0">
                <a:solidFill>
                  <a:srgbClr val="BBBBCC"/>
                </a:solidFill>
                <a:latin typeface="Microsoft YaHei"/>
              </a:defRPr>
            </a:pPr>
            <a:r>
              <a:t>删除 / 均值 / 中位数 / 插值 / 分组 -- 根据情况选择</a:t>
            </a:r>
          </a:p>
        </p:txBody>
      </p:sp>
      <p:sp>
        <p:nvSpPr>
          <p:cNvPr id="42" name="Rectangle 41"/>
          <p:cNvSpPr/>
          <p:nvPr/>
        </p:nvSpPr>
        <p:spPr>
          <a:xfrm>
            <a:off x="548640" y="5577840"/>
            <a:ext cx="22860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5577840"/>
            <a:ext cx="2286000" cy="411480"/>
          </a:xfrm>
          <a:prstGeom prst="rect">
            <a:avLst/>
          </a:prstGeom>
          <a:noFill/>
        </p:spPr>
        <p:txBody>
          <a:bodyPr wrap="square">
            <a:spAutoFit/>
          </a:bodyPr>
          <a:lstStyle/>
          <a:p>
            <a:pPr algn="ctr">
              <a:defRPr sz="1200" b="1">
                <a:solidFill>
                  <a:srgbClr val="00D2FF"/>
                </a:solidFill>
                <a:latin typeface="Microsoft YaHei"/>
              </a:defRPr>
            </a:pPr>
            <a:r>
              <a:t>缩放</a:t>
            </a:r>
          </a:p>
        </p:txBody>
      </p:sp>
      <p:sp>
        <p:nvSpPr>
          <p:cNvPr id="44" name="Rectangle 43"/>
          <p:cNvSpPr/>
          <p:nvPr/>
        </p:nvSpPr>
        <p:spPr>
          <a:xfrm>
            <a:off x="2834640" y="5577840"/>
            <a:ext cx="8686800" cy="4114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834640" y="5577840"/>
            <a:ext cx="8686800" cy="411480"/>
          </a:xfrm>
          <a:prstGeom prst="rect">
            <a:avLst/>
          </a:prstGeom>
          <a:noFill/>
        </p:spPr>
        <p:txBody>
          <a:bodyPr wrap="square">
            <a:spAutoFit/>
          </a:bodyPr>
          <a:lstStyle/>
          <a:p>
            <a:pPr algn="ctr">
              <a:defRPr sz="1200" b="0">
                <a:solidFill>
                  <a:srgbClr val="BBBBCC"/>
                </a:solidFill>
                <a:latin typeface="Microsoft YaHei"/>
              </a:defRPr>
            </a:pPr>
            <a:r>
              <a:t>Standard / MinMax / Robust -- 只在train上fit, 注意Leakage</a:t>
            </a:r>
          </a:p>
        </p:txBody>
      </p:sp>
      <p:sp>
        <p:nvSpPr>
          <p:cNvPr id="46" name="Rectangle 45"/>
          <p:cNvSpPr/>
          <p:nvPr/>
        </p:nvSpPr>
        <p:spPr>
          <a:xfrm>
            <a:off x="548640" y="5989320"/>
            <a:ext cx="22860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48640" y="5989320"/>
            <a:ext cx="2286000" cy="411480"/>
          </a:xfrm>
          <a:prstGeom prst="rect">
            <a:avLst/>
          </a:prstGeom>
          <a:noFill/>
        </p:spPr>
        <p:txBody>
          <a:bodyPr wrap="square">
            <a:spAutoFit/>
          </a:bodyPr>
          <a:lstStyle/>
          <a:p>
            <a:pPr algn="ctr">
              <a:defRPr sz="1200" b="1">
                <a:solidFill>
                  <a:srgbClr val="00D2FF"/>
                </a:solidFill>
                <a:latin typeface="Microsoft YaHei"/>
              </a:defRPr>
            </a:pPr>
            <a:r>
              <a:t>SVD</a:t>
            </a:r>
          </a:p>
        </p:txBody>
      </p:sp>
      <p:sp>
        <p:nvSpPr>
          <p:cNvPr id="48" name="Rectangle 47"/>
          <p:cNvSpPr/>
          <p:nvPr/>
        </p:nvSpPr>
        <p:spPr>
          <a:xfrm>
            <a:off x="2834640" y="5989320"/>
            <a:ext cx="8686800" cy="4114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834640" y="5989320"/>
            <a:ext cx="8686800" cy="411480"/>
          </a:xfrm>
          <a:prstGeom prst="rect">
            <a:avLst/>
          </a:prstGeom>
          <a:noFill/>
        </p:spPr>
        <p:txBody>
          <a:bodyPr wrap="square">
            <a:spAutoFit/>
          </a:bodyPr>
          <a:lstStyle/>
          <a:p>
            <a:pPr algn="ctr">
              <a:defRPr sz="1200" b="0">
                <a:solidFill>
                  <a:srgbClr val="BBBBCC"/>
                </a:solidFill>
                <a:latin typeface="Microsoft YaHei"/>
              </a:defRPr>
            </a:pPr>
            <a:r>
              <a:t>A = U Sigma V^T, PCA的数学基础, 降维的核心</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9</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第3章核心公式整理</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NumPy与ML中使用的主要公式</a:t>
            </a:r>
          </a:p>
        </p:txBody>
      </p:sp>
      <p:sp>
        <p:nvSpPr>
          <p:cNvPr id="6" name="Rounded Rectangle 5"/>
          <p:cNvSpPr/>
          <p:nvPr/>
        </p:nvSpPr>
        <p:spPr>
          <a:xfrm>
            <a:off x="548640" y="1828800"/>
            <a:ext cx="5303520" cy="2103120"/>
          </a:xfrm>
          <a:prstGeom prst="roundRect">
            <a:avLst>
              <a:gd name="adj" fmla="val 5000"/>
            </a:avLst>
          </a:prstGeom>
          <a:solidFill>
            <a:srgbClr val="25253D"/>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20240"/>
            <a:ext cx="4937760" cy="365760"/>
          </a:xfrm>
          <a:prstGeom prst="rect">
            <a:avLst/>
          </a:prstGeom>
          <a:noFill/>
        </p:spPr>
        <p:txBody>
          <a:bodyPr wrap="square">
            <a:spAutoFit/>
          </a:bodyPr>
          <a:lstStyle/>
          <a:p>
            <a:pPr algn="l">
              <a:defRPr sz="1500" b="1">
                <a:solidFill>
                  <a:srgbClr val="00D2FF"/>
                </a:solidFill>
                <a:latin typeface="Microsoft YaHei"/>
              </a:defRPr>
            </a:pPr>
            <a:r>
              <a:t>线性代数分解</a:t>
            </a:r>
          </a:p>
        </p:txBody>
      </p:sp>
      <p:sp>
        <p:nvSpPr>
          <p:cNvPr id="8" name="TextBox 7"/>
          <p:cNvSpPr txBox="1"/>
          <p:nvPr/>
        </p:nvSpPr>
        <p:spPr>
          <a:xfrm>
            <a:off x="731520" y="2286000"/>
            <a:ext cx="4937760" cy="1554480"/>
          </a:xfrm>
          <a:prstGeom prst="rect">
            <a:avLst/>
          </a:prstGeom>
          <a:noFill/>
        </p:spPr>
        <p:txBody>
          <a:bodyPr wrap="square">
            <a:spAutoFit/>
          </a:bodyPr>
          <a:lstStyle/>
          <a:p>
            <a:pPr>
              <a:spcAft>
                <a:spcPts val="400"/>
              </a:spcAft>
              <a:defRPr sz="1300">
                <a:solidFill>
                  <a:srgbClr val="BBBBCC"/>
                </a:solidFill>
                <a:latin typeface="Microsoft YaHei"/>
              </a:defRPr>
            </a:pPr>
            <a:r>
              <a:t>SVD: A = U * Sigma * V^T</a:t>
            </a:r>
          </a:p>
          <a:p>
            <a:pPr>
              <a:spcAft>
                <a:spcPts val="400"/>
              </a:spcAft>
              <a:defRPr sz="1300">
                <a:solidFill>
                  <a:srgbClr val="BBBBCC"/>
                </a:solidFill>
                <a:latin typeface="Microsoft YaHei"/>
              </a:defRPr>
            </a:pPr>
            <a:r>
              <a:t>特征值分解: Av = lambda * v</a:t>
            </a:r>
          </a:p>
          <a:p>
            <a:pPr>
              <a:spcAft>
                <a:spcPts val="400"/>
              </a:spcAft>
              <a:defRPr sz="1300">
                <a:solidFill>
                  <a:srgbClr val="BBBBCC"/>
                </a:solidFill>
                <a:latin typeface="Microsoft YaHei"/>
              </a:defRPr>
            </a:pPr>
            <a:r>
              <a:t>LU分解: A = P * L * U</a:t>
            </a:r>
          </a:p>
          <a:p>
            <a:pPr>
              <a:spcAft>
                <a:spcPts val="400"/>
              </a:spcAft>
              <a:defRPr sz="1300">
                <a:solidFill>
                  <a:srgbClr val="BBBBCC"/>
                </a:solidFill>
                <a:latin typeface="Microsoft YaHei"/>
              </a:defRPr>
            </a:pPr>
            <a:r>
              <a:t>QR分解: A = Q * R, Q^T Q = I</a:t>
            </a:r>
          </a:p>
        </p:txBody>
      </p:sp>
      <p:sp>
        <p:nvSpPr>
          <p:cNvPr id="9" name="Rounded Rectangle 8"/>
          <p:cNvSpPr/>
          <p:nvPr/>
        </p:nvSpPr>
        <p:spPr>
          <a:xfrm>
            <a:off x="6217920" y="1828800"/>
            <a:ext cx="5303520" cy="210312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937760" cy="365760"/>
          </a:xfrm>
          <a:prstGeom prst="rect">
            <a:avLst/>
          </a:prstGeom>
          <a:noFill/>
        </p:spPr>
        <p:txBody>
          <a:bodyPr wrap="square">
            <a:spAutoFit/>
          </a:bodyPr>
          <a:lstStyle/>
          <a:p>
            <a:pPr algn="l">
              <a:defRPr sz="1500" b="1">
                <a:solidFill>
                  <a:srgbClr val="00E696"/>
                </a:solidFill>
                <a:latin typeface="Microsoft YaHei"/>
              </a:defRPr>
            </a:pPr>
            <a:r>
              <a:t>正规方程与回归</a:t>
            </a:r>
          </a:p>
        </p:txBody>
      </p:sp>
      <p:sp>
        <p:nvSpPr>
          <p:cNvPr id="11" name="TextBox 10"/>
          <p:cNvSpPr txBox="1"/>
          <p:nvPr/>
        </p:nvSpPr>
        <p:spPr>
          <a:xfrm>
            <a:off x="6400800" y="2286000"/>
            <a:ext cx="4937760" cy="1554480"/>
          </a:xfrm>
          <a:prstGeom prst="rect">
            <a:avLst/>
          </a:prstGeom>
          <a:noFill/>
        </p:spPr>
        <p:txBody>
          <a:bodyPr wrap="square">
            <a:spAutoFit/>
          </a:bodyPr>
          <a:lstStyle/>
          <a:p>
            <a:pPr>
              <a:spcAft>
                <a:spcPts val="400"/>
              </a:spcAft>
              <a:defRPr sz="1300">
                <a:solidFill>
                  <a:srgbClr val="BBBBCC"/>
                </a:solidFill>
                <a:latin typeface="Microsoft YaHei"/>
              </a:defRPr>
            </a:pPr>
            <a:r>
              <a:t>正规方程: beta = (X^T X)^{-1} X^T y</a:t>
            </a:r>
          </a:p>
          <a:p>
            <a:pPr>
              <a:spcAft>
                <a:spcPts val="400"/>
              </a:spcAft>
              <a:defRPr sz="1300">
                <a:solidFill>
                  <a:srgbClr val="BBBBCC"/>
                </a:solidFill>
                <a:latin typeface="Microsoft YaHei"/>
              </a:defRPr>
            </a:pPr>
            <a:r>
              <a:t>最小二乘法: min ||Xbeta - y||^2</a:t>
            </a:r>
          </a:p>
          <a:p>
            <a:pPr>
              <a:spcAft>
                <a:spcPts val="400"/>
              </a:spcAft>
              <a:defRPr sz="1300">
                <a:solidFill>
                  <a:srgbClr val="BBBBCC"/>
                </a:solidFill>
                <a:latin typeface="Microsoft YaHei"/>
              </a:defRPr>
            </a:pPr>
            <a:r>
              <a:t>条件数: kappa(A) = ||A|| * ||A^{-1}||</a:t>
            </a:r>
          </a:p>
          <a:p>
            <a:pPr>
              <a:spcAft>
                <a:spcPts val="400"/>
              </a:spcAft>
              <a:defRPr sz="1300">
                <a:solidFill>
                  <a:srgbClr val="BBBBCC"/>
                </a:solidFill>
                <a:latin typeface="Microsoft YaHei"/>
              </a:defRPr>
            </a:pPr>
            <a:r>
              <a:t>推荐: np.linalg.lstsq(X, y)</a:t>
            </a:r>
          </a:p>
        </p:txBody>
      </p:sp>
      <p:sp>
        <p:nvSpPr>
          <p:cNvPr id="12" name="Rounded Rectangle 11"/>
          <p:cNvSpPr/>
          <p:nvPr/>
        </p:nvSpPr>
        <p:spPr>
          <a:xfrm>
            <a:off x="548640" y="4114800"/>
            <a:ext cx="5303520" cy="2103120"/>
          </a:xfrm>
          <a:prstGeom prst="roundRect">
            <a:avLst>
              <a:gd name="adj" fmla="val 5000"/>
            </a:avLst>
          </a:prstGeom>
          <a:solidFill>
            <a:srgbClr val="25253D"/>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206240"/>
            <a:ext cx="4937760" cy="365760"/>
          </a:xfrm>
          <a:prstGeom prst="rect">
            <a:avLst/>
          </a:prstGeom>
          <a:noFill/>
        </p:spPr>
        <p:txBody>
          <a:bodyPr wrap="square">
            <a:spAutoFit/>
          </a:bodyPr>
          <a:lstStyle/>
          <a:p>
            <a:pPr algn="l">
              <a:defRPr sz="1500" b="1">
                <a:solidFill>
                  <a:srgbClr val="FF8C00"/>
                </a:solidFill>
                <a:latin typeface="Microsoft YaHei"/>
              </a:defRPr>
            </a:pPr>
            <a:r>
              <a:t>特征缩放</a:t>
            </a:r>
          </a:p>
        </p:txBody>
      </p:sp>
      <p:sp>
        <p:nvSpPr>
          <p:cNvPr id="14" name="TextBox 13"/>
          <p:cNvSpPr txBox="1"/>
          <p:nvPr/>
        </p:nvSpPr>
        <p:spPr>
          <a:xfrm>
            <a:off x="731520" y="4572000"/>
            <a:ext cx="4937760" cy="1554480"/>
          </a:xfrm>
          <a:prstGeom prst="rect">
            <a:avLst/>
          </a:prstGeom>
          <a:noFill/>
        </p:spPr>
        <p:txBody>
          <a:bodyPr wrap="square">
            <a:spAutoFit/>
          </a:bodyPr>
          <a:lstStyle/>
          <a:p>
            <a:pPr>
              <a:spcAft>
                <a:spcPts val="400"/>
              </a:spcAft>
              <a:defRPr sz="1300">
                <a:solidFill>
                  <a:srgbClr val="BBBBCC"/>
                </a:solidFill>
                <a:latin typeface="Microsoft YaHei"/>
              </a:defRPr>
            </a:pPr>
            <a:r>
              <a:t>StandardScaler: z = (x - mu) / sigma</a:t>
            </a:r>
          </a:p>
          <a:p>
            <a:pPr>
              <a:spcAft>
                <a:spcPts val="400"/>
              </a:spcAft>
              <a:defRPr sz="1300">
                <a:solidFill>
                  <a:srgbClr val="BBBBCC"/>
                </a:solidFill>
                <a:latin typeface="Microsoft YaHei"/>
              </a:defRPr>
            </a:pPr>
            <a:r>
              <a:t>MinMaxScaler: z = (x - x_min) / (x_max - x_min)</a:t>
            </a:r>
          </a:p>
          <a:p>
            <a:pPr>
              <a:spcAft>
                <a:spcPts val="400"/>
              </a:spcAft>
              <a:defRPr sz="1300">
                <a:solidFill>
                  <a:srgbClr val="BBBBCC"/>
                </a:solidFill>
                <a:latin typeface="Microsoft YaHei"/>
              </a:defRPr>
            </a:pPr>
            <a:r>
              <a:t>RobustScaler: z = (x - Q2) / (Q3 - Q1)</a:t>
            </a:r>
          </a:p>
          <a:p>
            <a:pPr>
              <a:spcAft>
                <a:spcPts val="400"/>
              </a:spcAft>
              <a:defRPr sz="1300">
                <a:solidFill>
                  <a:srgbClr val="BBBBCC"/>
                </a:solidFill>
                <a:latin typeface="Microsoft YaHei"/>
              </a:defRPr>
            </a:pPr>
            <a:r>
              <a:t>Data Leakage: 只在train上fit, test上只transform!</a:t>
            </a:r>
          </a:p>
        </p:txBody>
      </p:sp>
      <p:sp>
        <p:nvSpPr>
          <p:cNvPr id="15" name="Rounded Rectangle 14"/>
          <p:cNvSpPr/>
          <p:nvPr/>
        </p:nvSpPr>
        <p:spPr>
          <a:xfrm>
            <a:off x="6217920" y="4114800"/>
            <a:ext cx="5303520" cy="2103120"/>
          </a:xfrm>
          <a:prstGeom prst="roundRect">
            <a:avLst>
              <a:gd name="adj" fmla="val 5000"/>
            </a:avLst>
          </a:prstGeom>
          <a:solidFill>
            <a:srgbClr val="25253D"/>
          </a:solidFill>
          <a:ln w="12700">
            <a:solidFill>
              <a:srgbClr val="A06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4206240"/>
            <a:ext cx="4937760" cy="365760"/>
          </a:xfrm>
          <a:prstGeom prst="rect">
            <a:avLst/>
          </a:prstGeom>
          <a:noFill/>
        </p:spPr>
        <p:txBody>
          <a:bodyPr wrap="square">
            <a:spAutoFit/>
          </a:bodyPr>
          <a:lstStyle/>
          <a:p>
            <a:pPr algn="l">
              <a:defRPr sz="1500" b="1">
                <a:solidFill>
                  <a:srgbClr val="A06CFF"/>
                </a:solidFill>
                <a:latin typeface="Microsoft YaHei"/>
              </a:defRPr>
            </a:pPr>
            <a:r>
              <a:t>异常值检测</a:t>
            </a:r>
          </a:p>
        </p:txBody>
      </p:sp>
      <p:sp>
        <p:nvSpPr>
          <p:cNvPr id="17" name="TextBox 16"/>
          <p:cNvSpPr txBox="1"/>
          <p:nvPr/>
        </p:nvSpPr>
        <p:spPr>
          <a:xfrm>
            <a:off x="6400800" y="4572000"/>
            <a:ext cx="4937760" cy="1554480"/>
          </a:xfrm>
          <a:prstGeom prst="rect">
            <a:avLst/>
          </a:prstGeom>
          <a:noFill/>
        </p:spPr>
        <p:txBody>
          <a:bodyPr wrap="square">
            <a:spAutoFit/>
          </a:bodyPr>
          <a:lstStyle/>
          <a:p>
            <a:pPr>
              <a:spcAft>
                <a:spcPts val="400"/>
              </a:spcAft>
              <a:defRPr sz="1300">
                <a:solidFill>
                  <a:srgbClr val="BBBBCC"/>
                </a:solidFill>
                <a:latin typeface="Microsoft YaHei"/>
              </a:defRPr>
            </a:pPr>
            <a:r>
              <a:t>IQR: Q1 - 1.5*IQR &lt; x &lt; Q3 + 1.5*IQR</a:t>
            </a:r>
          </a:p>
          <a:p>
            <a:pPr>
              <a:spcAft>
                <a:spcPts val="400"/>
              </a:spcAft>
              <a:defRPr sz="1300">
                <a:solidFill>
                  <a:srgbClr val="BBBBCC"/>
                </a:solidFill>
                <a:latin typeface="Microsoft YaHei"/>
              </a:defRPr>
            </a:pPr>
            <a:r>
              <a:t>Z-score: |z| = |(x - mu)/sigma| &gt; 3</a:t>
            </a:r>
          </a:p>
          <a:p>
            <a:pPr>
              <a:spcAft>
                <a:spcPts val="400"/>
              </a:spcAft>
              <a:defRPr sz="1300">
                <a:solidFill>
                  <a:srgbClr val="BBBBCC"/>
                </a:solidFill>
                <a:latin typeface="Microsoft YaHei"/>
              </a:defRPr>
            </a:pPr>
            <a:r>
              <a:t>方差解释力: s^2 / sum(s^2) * 100</a:t>
            </a:r>
          </a:p>
          <a:p>
            <a:pPr>
              <a:spcAft>
                <a:spcPts val="400"/>
              </a:spcAft>
              <a:defRPr sz="1300">
                <a:solidFill>
                  <a:srgbClr val="BBBBCC"/>
                </a:solidFill>
                <a:latin typeface="Microsoft YaHei"/>
              </a:defRPr>
            </a:pPr>
            <a:r>
              <a:t>选择使累积能量&gt;95%的k</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9</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大规模数据处理工具</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超越Pandas的局限</a:t>
            </a:r>
          </a:p>
        </p:txBody>
      </p:sp>
      <p:sp>
        <p:nvSpPr>
          <p:cNvPr id="6" name="Rectangle 5"/>
          <p:cNvSpPr/>
          <p:nvPr/>
        </p:nvSpPr>
        <p:spPr>
          <a:xfrm>
            <a:off x="548640" y="1828800"/>
            <a:ext cx="1828800" cy="4572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28800"/>
            <a:ext cx="1828800" cy="457200"/>
          </a:xfrm>
          <a:prstGeom prst="rect">
            <a:avLst/>
          </a:prstGeom>
          <a:noFill/>
        </p:spPr>
        <p:txBody>
          <a:bodyPr wrap="square">
            <a:spAutoFit/>
          </a:bodyPr>
          <a:lstStyle/>
          <a:p>
            <a:pPr algn="ctr">
              <a:defRPr sz="1400" b="1">
                <a:solidFill>
                  <a:srgbClr val="FFFFFF"/>
                </a:solidFill>
                <a:latin typeface="Microsoft YaHei"/>
              </a:defRPr>
            </a:pPr>
            <a:r>
              <a:t>库</a:t>
            </a:r>
          </a:p>
        </p:txBody>
      </p:sp>
      <p:sp>
        <p:nvSpPr>
          <p:cNvPr id="8" name="Rectangle 7"/>
          <p:cNvSpPr/>
          <p:nvPr/>
        </p:nvSpPr>
        <p:spPr>
          <a:xfrm>
            <a:off x="2377440" y="1828800"/>
            <a:ext cx="4572000" cy="4572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77440" y="1828800"/>
            <a:ext cx="4572000" cy="457200"/>
          </a:xfrm>
          <a:prstGeom prst="rect">
            <a:avLst/>
          </a:prstGeom>
          <a:noFill/>
        </p:spPr>
        <p:txBody>
          <a:bodyPr wrap="square">
            <a:spAutoFit/>
          </a:bodyPr>
          <a:lstStyle/>
          <a:p>
            <a:pPr algn="ctr">
              <a:defRPr sz="1400" b="1">
                <a:solidFill>
                  <a:srgbClr val="FFFFFF"/>
                </a:solidFill>
                <a:latin typeface="Microsoft YaHei"/>
              </a:defRPr>
            </a:pPr>
            <a:r>
              <a:t>特点</a:t>
            </a:r>
          </a:p>
        </p:txBody>
      </p:sp>
      <p:sp>
        <p:nvSpPr>
          <p:cNvPr id="10" name="Rectangle 9"/>
          <p:cNvSpPr/>
          <p:nvPr/>
        </p:nvSpPr>
        <p:spPr>
          <a:xfrm>
            <a:off x="6949440" y="1828800"/>
            <a:ext cx="3657600" cy="4572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0" y="1828800"/>
            <a:ext cx="3657600" cy="457200"/>
          </a:xfrm>
          <a:prstGeom prst="rect">
            <a:avLst/>
          </a:prstGeom>
          <a:noFill/>
        </p:spPr>
        <p:txBody>
          <a:bodyPr wrap="square">
            <a:spAutoFit/>
          </a:bodyPr>
          <a:lstStyle/>
          <a:p>
            <a:pPr algn="ctr">
              <a:defRPr sz="1400" b="1">
                <a:solidFill>
                  <a:srgbClr val="FFFFFF"/>
                </a:solidFill>
                <a:latin typeface="Microsoft YaHei"/>
              </a:defRPr>
            </a:pPr>
            <a:r>
              <a:t>适用场景</a:t>
            </a:r>
          </a:p>
        </p:txBody>
      </p:sp>
      <p:sp>
        <p:nvSpPr>
          <p:cNvPr id="12" name="Rectangle 11"/>
          <p:cNvSpPr/>
          <p:nvPr/>
        </p:nvSpPr>
        <p:spPr>
          <a:xfrm>
            <a:off x="548640" y="2286000"/>
            <a:ext cx="18288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286000"/>
            <a:ext cx="1828800" cy="457200"/>
          </a:xfrm>
          <a:prstGeom prst="rect">
            <a:avLst/>
          </a:prstGeom>
          <a:noFill/>
        </p:spPr>
        <p:txBody>
          <a:bodyPr wrap="square">
            <a:spAutoFit/>
          </a:bodyPr>
          <a:lstStyle/>
          <a:p>
            <a:pPr algn="ctr">
              <a:defRPr sz="1200" b="1">
                <a:solidFill>
                  <a:srgbClr val="00D2FF"/>
                </a:solidFill>
                <a:latin typeface="Microsoft YaHei"/>
              </a:defRPr>
            </a:pPr>
            <a:r>
              <a:t>Dask</a:t>
            </a:r>
          </a:p>
        </p:txBody>
      </p:sp>
      <p:sp>
        <p:nvSpPr>
          <p:cNvPr id="14" name="Rectangle 13"/>
          <p:cNvSpPr/>
          <p:nvPr/>
        </p:nvSpPr>
        <p:spPr>
          <a:xfrm>
            <a:off x="2377440" y="2286000"/>
            <a:ext cx="45720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77440" y="2286000"/>
            <a:ext cx="4572000" cy="457200"/>
          </a:xfrm>
          <a:prstGeom prst="rect">
            <a:avLst/>
          </a:prstGeom>
          <a:noFill/>
        </p:spPr>
        <p:txBody>
          <a:bodyPr wrap="square">
            <a:spAutoFit/>
          </a:bodyPr>
          <a:lstStyle/>
          <a:p>
            <a:pPr algn="ctr">
              <a:defRPr sz="1200" b="0">
                <a:solidFill>
                  <a:srgbClr val="BBBBCC"/>
                </a:solidFill>
                <a:latin typeface="Microsoft YaHei"/>
              </a:defRPr>
            </a:pPr>
            <a:r>
              <a:t>Pandas API兼容, 延迟执行, 分布式处理</a:t>
            </a:r>
          </a:p>
        </p:txBody>
      </p:sp>
      <p:sp>
        <p:nvSpPr>
          <p:cNvPr id="16" name="Rectangle 15"/>
          <p:cNvSpPr/>
          <p:nvPr/>
        </p:nvSpPr>
        <p:spPr>
          <a:xfrm>
            <a:off x="6949440" y="2286000"/>
            <a:ext cx="36576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0" y="2286000"/>
            <a:ext cx="3657600" cy="457200"/>
          </a:xfrm>
          <a:prstGeom prst="rect">
            <a:avLst/>
          </a:prstGeom>
          <a:noFill/>
        </p:spPr>
        <p:txBody>
          <a:bodyPr wrap="square">
            <a:spAutoFit/>
          </a:bodyPr>
          <a:lstStyle/>
          <a:p>
            <a:pPr algn="ctr">
              <a:defRPr sz="1200" b="0">
                <a:solidFill>
                  <a:srgbClr val="BBBBCC"/>
                </a:solidFill>
                <a:latin typeface="Microsoft YaHei"/>
              </a:defRPr>
            </a:pPr>
            <a:r>
              <a:t>中大规模 (数~数百GB)</a:t>
            </a:r>
          </a:p>
        </p:txBody>
      </p:sp>
      <p:sp>
        <p:nvSpPr>
          <p:cNvPr id="18" name="Rectangle 17"/>
          <p:cNvSpPr/>
          <p:nvPr/>
        </p:nvSpPr>
        <p:spPr>
          <a:xfrm>
            <a:off x="548640" y="2743200"/>
            <a:ext cx="182880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743200"/>
            <a:ext cx="1828800" cy="457200"/>
          </a:xfrm>
          <a:prstGeom prst="rect">
            <a:avLst/>
          </a:prstGeom>
          <a:noFill/>
        </p:spPr>
        <p:txBody>
          <a:bodyPr wrap="square">
            <a:spAutoFit/>
          </a:bodyPr>
          <a:lstStyle/>
          <a:p>
            <a:pPr algn="ctr">
              <a:defRPr sz="1200" b="1">
                <a:solidFill>
                  <a:srgbClr val="00D2FF"/>
                </a:solidFill>
                <a:latin typeface="Microsoft YaHei"/>
              </a:defRPr>
            </a:pPr>
            <a:r>
              <a:t>Polars</a:t>
            </a:r>
          </a:p>
        </p:txBody>
      </p:sp>
      <p:sp>
        <p:nvSpPr>
          <p:cNvPr id="20" name="Rectangle 19"/>
          <p:cNvSpPr/>
          <p:nvPr/>
        </p:nvSpPr>
        <p:spPr>
          <a:xfrm>
            <a:off x="2377440" y="2743200"/>
            <a:ext cx="457200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377440" y="2743200"/>
            <a:ext cx="4572000" cy="457200"/>
          </a:xfrm>
          <a:prstGeom prst="rect">
            <a:avLst/>
          </a:prstGeom>
          <a:noFill/>
        </p:spPr>
        <p:txBody>
          <a:bodyPr wrap="square">
            <a:spAutoFit/>
          </a:bodyPr>
          <a:lstStyle/>
          <a:p>
            <a:pPr algn="ctr">
              <a:defRPr sz="1200" b="0">
                <a:solidFill>
                  <a:srgbClr val="BBBBCC"/>
                </a:solidFill>
                <a:latin typeface="Microsoft YaHei"/>
              </a:defRPr>
            </a:pPr>
            <a:r>
              <a:t>基于Rust, 延迟执行, 非常快</a:t>
            </a:r>
          </a:p>
        </p:txBody>
      </p:sp>
      <p:sp>
        <p:nvSpPr>
          <p:cNvPr id="22" name="Rectangle 21"/>
          <p:cNvSpPr/>
          <p:nvPr/>
        </p:nvSpPr>
        <p:spPr>
          <a:xfrm>
            <a:off x="6949440" y="2743200"/>
            <a:ext cx="365760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0" y="2743200"/>
            <a:ext cx="3657600" cy="457200"/>
          </a:xfrm>
          <a:prstGeom prst="rect">
            <a:avLst/>
          </a:prstGeom>
          <a:noFill/>
        </p:spPr>
        <p:txBody>
          <a:bodyPr wrap="square">
            <a:spAutoFit/>
          </a:bodyPr>
          <a:lstStyle/>
          <a:p>
            <a:pPr algn="ctr">
              <a:defRPr sz="1200" b="0">
                <a:solidFill>
                  <a:srgbClr val="BBBBCC"/>
                </a:solidFill>
                <a:latin typeface="Microsoft YaHei"/>
              </a:defRPr>
            </a:pPr>
            <a:r>
              <a:t>单机大规模</a:t>
            </a:r>
          </a:p>
        </p:txBody>
      </p:sp>
      <p:sp>
        <p:nvSpPr>
          <p:cNvPr id="24" name="Rectangle 23"/>
          <p:cNvSpPr/>
          <p:nvPr/>
        </p:nvSpPr>
        <p:spPr>
          <a:xfrm>
            <a:off x="548640" y="3200400"/>
            <a:ext cx="18288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200400"/>
            <a:ext cx="1828800" cy="457200"/>
          </a:xfrm>
          <a:prstGeom prst="rect">
            <a:avLst/>
          </a:prstGeom>
          <a:noFill/>
        </p:spPr>
        <p:txBody>
          <a:bodyPr wrap="square">
            <a:spAutoFit/>
          </a:bodyPr>
          <a:lstStyle/>
          <a:p>
            <a:pPr algn="ctr">
              <a:defRPr sz="1200" b="1">
                <a:solidFill>
                  <a:srgbClr val="00D2FF"/>
                </a:solidFill>
                <a:latin typeface="Microsoft YaHei"/>
              </a:defRPr>
            </a:pPr>
            <a:r>
              <a:t>Vaex</a:t>
            </a:r>
          </a:p>
        </p:txBody>
      </p:sp>
      <p:sp>
        <p:nvSpPr>
          <p:cNvPr id="26" name="Rectangle 25"/>
          <p:cNvSpPr/>
          <p:nvPr/>
        </p:nvSpPr>
        <p:spPr>
          <a:xfrm>
            <a:off x="2377440" y="3200400"/>
            <a:ext cx="45720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77440" y="3200400"/>
            <a:ext cx="4572000" cy="457200"/>
          </a:xfrm>
          <a:prstGeom prst="rect">
            <a:avLst/>
          </a:prstGeom>
          <a:noFill/>
        </p:spPr>
        <p:txBody>
          <a:bodyPr wrap="square">
            <a:spAutoFit/>
          </a:bodyPr>
          <a:lstStyle/>
          <a:p>
            <a:pPr algn="ctr">
              <a:defRPr sz="1200" b="0">
                <a:solidFill>
                  <a:srgbClr val="BBBBCC"/>
                </a:solidFill>
                <a:latin typeface="Microsoft YaHei"/>
              </a:defRPr>
            </a:pPr>
            <a:r>
              <a:t>Out-of-core, 内存映射, 10亿行</a:t>
            </a:r>
          </a:p>
        </p:txBody>
      </p:sp>
      <p:sp>
        <p:nvSpPr>
          <p:cNvPr id="28" name="Rectangle 27"/>
          <p:cNvSpPr/>
          <p:nvPr/>
        </p:nvSpPr>
        <p:spPr>
          <a:xfrm>
            <a:off x="6949440" y="3200400"/>
            <a:ext cx="36576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49440" y="3200400"/>
            <a:ext cx="3657600" cy="457200"/>
          </a:xfrm>
          <a:prstGeom prst="rect">
            <a:avLst/>
          </a:prstGeom>
          <a:noFill/>
        </p:spPr>
        <p:txBody>
          <a:bodyPr wrap="square">
            <a:spAutoFit/>
          </a:bodyPr>
          <a:lstStyle/>
          <a:p>
            <a:pPr algn="ctr">
              <a:defRPr sz="1200" b="0">
                <a:solidFill>
                  <a:srgbClr val="BBBBCC"/>
                </a:solidFill>
                <a:latin typeface="Microsoft YaHei"/>
              </a:defRPr>
            </a:pPr>
            <a:r>
              <a:t>探索性分析</a:t>
            </a:r>
          </a:p>
        </p:txBody>
      </p:sp>
      <p:sp>
        <p:nvSpPr>
          <p:cNvPr id="30" name="Rectangle 29"/>
          <p:cNvSpPr/>
          <p:nvPr/>
        </p:nvSpPr>
        <p:spPr>
          <a:xfrm>
            <a:off x="548640" y="3657600"/>
            <a:ext cx="182880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3657600"/>
            <a:ext cx="1828800" cy="457200"/>
          </a:xfrm>
          <a:prstGeom prst="rect">
            <a:avLst/>
          </a:prstGeom>
          <a:noFill/>
        </p:spPr>
        <p:txBody>
          <a:bodyPr wrap="square">
            <a:spAutoFit/>
          </a:bodyPr>
          <a:lstStyle/>
          <a:p>
            <a:pPr algn="ctr">
              <a:defRPr sz="1200" b="1">
                <a:solidFill>
                  <a:srgbClr val="00D2FF"/>
                </a:solidFill>
                <a:latin typeface="Microsoft YaHei"/>
              </a:defRPr>
            </a:pPr>
            <a:r>
              <a:t>PySpark</a:t>
            </a:r>
          </a:p>
        </p:txBody>
      </p:sp>
      <p:sp>
        <p:nvSpPr>
          <p:cNvPr id="32" name="Rectangle 31"/>
          <p:cNvSpPr/>
          <p:nvPr/>
        </p:nvSpPr>
        <p:spPr>
          <a:xfrm>
            <a:off x="2377440" y="3657600"/>
            <a:ext cx="457200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377440" y="3657600"/>
            <a:ext cx="4572000" cy="457200"/>
          </a:xfrm>
          <a:prstGeom prst="rect">
            <a:avLst/>
          </a:prstGeom>
          <a:noFill/>
        </p:spPr>
        <p:txBody>
          <a:bodyPr wrap="square">
            <a:spAutoFit/>
          </a:bodyPr>
          <a:lstStyle/>
          <a:p>
            <a:pPr algn="ctr">
              <a:defRPr sz="1200" b="0">
                <a:solidFill>
                  <a:srgbClr val="BBBBCC"/>
                </a:solidFill>
                <a:latin typeface="Microsoft YaHei"/>
              </a:defRPr>
            </a:pPr>
            <a:r>
              <a:t>集群分布式处理</a:t>
            </a:r>
          </a:p>
        </p:txBody>
      </p:sp>
      <p:sp>
        <p:nvSpPr>
          <p:cNvPr id="34" name="Rectangle 33"/>
          <p:cNvSpPr/>
          <p:nvPr/>
        </p:nvSpPr>
        <p:spPr>
          <a:xfrm>
            <a:off x="6949440" y="3657600"/>
            <a:ext cx="365760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49440" y="3657600"/>
            <a:ext cx="3657600" cy="457200"/>
          </a:xfrm>
          <a:prstGeom prst="rect">
            <a:avLst/>
          </a:prstGeom>
          <a:noFill/>
        </p:spPr>
        <p:txBody>
          <a:bodyPr wrap="square">
            <a:spAutoFit/>
          </a:bodyPr>
          <a:lstStyle/>
          <a:p>
            <a:pPr algn="ctr">
              <a:defRPr sz="1200" b="0">
                <a:solidFill>
                  <a:srgbClr val="BBBBCC"/>
                </a:solidFill>
                <a:latin typeface="Microsoft YaHei"/>
              </a:defRPr>
            </a:pPr>
            <a:r>
              <a:t>超大规模 (TB以上)</a:t>
            </a:r>
          </a:p>
        </p:txBody>
      </p:sp>
      <p:sp>
        <p:nvSpPr>
          <p:cNvPr id="36" name="Rounded Rectangle 35"/>
          <p:cNvSpPr/>
          <p:nvPr/>
        </p:nvSpPr>
        <p:spPr>
          <a:xfrm>
            <a:off x="548640" y="4114800"/>
            <a:ext cx="5303520" cy="228600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4251960"/>
            <a:ext cx="4937760" cy="2011680"/>
          </a:xfrm>
          <a:prstGeom prst="rect">
            <a:avLst/>
          </a:prstGeom>
          <a:noFill/>
        </p:spPr>
        <p:txBody>
          <a:bodyPr wrap="square">
            <a:spAutoFit/>
          </a:bodyPr>
          <a:lstStyle/>
          <a:p>
            <a:pPr>
              <a:spcAft>
                <a:spcPts val="200"/>
              </a:spcAft>
              <a:defRPr sz="1100">
                <a:solidFill>
                  <a:srgbClr val="00E696"/>
                </a:solidFill>
                <a:latin typeface="Consolas"/>
              </a:defRPr>
            </a:pPr>
            <a:r>
              <a:t># Dask示例 -- 与Pandas API几乎相同!</a:t>
            </a:r>
          </a:p>
          <a:p>
            <a:pPr>
              <a:spcAft>
                <a:spcPts val="200"/>
              </a:spcAft>
              <a:defRPr sz="1100">
                <a:solidFill>
                  <a:srgbClr val="00E696"/>
                </a:solidFill>
                <a:latin typeface="Consolas"/>
              </a:defRPr>
            </a:pPr>
            <a:r>
              <a:t>import dask.dataframe as dd</a:t>
            </a:r>
          </a:p>
          <a:p>
            <a:pPr>
              <a:spcAft>
                <a:spcPts val="200"/>
              </a:spcAft>
              <a:defRPr sz="1100">
                <a:solidFill>
                  <a:srgbClr val="00E696"/>
                </a:solidFill>
                <a:latin typeface="Consolas"/>
              </a:defRPr>
            </a:pPr>
            <a:r>
              <a:t>ddf = dd.read_csv('large_*.csv')</a:t>
            </a:r>
          </a:p>
          <a:p>
            <a:pPr>
              <a:spcAft>
                <a:spcPts val="200"/>
              </a:spcAft>
              <a:defRPr sz="1100">
                <a:solidFill>
                  <a:srgbClr val="00E696"/>
                </a:solidFill>
                <a:latin typeface="Consolas"/>
              </a:defRPr>
            </a:pPr>
            <a:r>
              <a:t>result = ddf.groupby('col').mean().compute()</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np.einsum: 爱因斯坦求和约定</a:t>
            </a:r>
          </a:p>
          <a:p>
            <a:pPr>
              <a:spcAft>
                <a:spcPts val="200"/>
              </a:spcAft>
              <a:defRPr sz="1100">
                <a:solidFill>
                  <a:srgbClr val="00E696"/>
                </a:solidFill>
                <a:latin typeface="Consolas"/>
              </a:defRPr>
            </a:pPr>
            <a:r>
              <a:t>C = np.einsum('ik,kj-&gt;ij', A, B)  # == A @ B</a:t>
            </a:r>
          </a:p>
          <a:p>
            <a:pPr>
              <a:spcAft>
                <a:spcPts val="200"/>
              </a:spcAft>
              <a:defRPr sz="1100">
                <a:solidFill>
                  <a:srgbClr val="00E696"/>
                </a:solidFill>
                <a:latin typeface="Consolas"/>
              </a:defRPr>
            </a:pPr>
            <a:r>
              <a:t># 批量矩阵乘法 (深度学习注意力)</a:t>
            </a:r>
          </a:p>
          <a:p>
            <a:pPr>
              <a:spcAft>
                <a:spcPts val="200"/>
              </a:spcAft>
              <a:defRPr sz="1100">
                <a:solidFill>
                  <a:srgbClr val="00E696"/>
                </a:solidFill>
                <a:latin typeface="Consolas"/>
              </a:defRPr>
            </a:pPr>
            <a:r>
              <a:t>scores = np.einsum('hid,hjd-&gt;hij', Q, K)</a:t>
            </a:r>
          </a:p>
        </p:txBody>
      </p:sp>
      <p:sp>
        <p:nvSpPr>
          <p:cNvPr id="38" name="Rounded Rectangle 37"/>
          <p:cNvSpPr/>
          <p:nvPr/>
        </p:nvSpPr>
        <p:spPr>
          <a:xfrm>
            <a:off x="6217920" y="4114800"/>
            <a:ext cx="5303520" cy="228600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0" y="4206240"/>
            <a:ext cx="4937760" cy="365760"/>
          </a:xfrm>
          <a:prstGeom prst="rect">
            <a:avLst/>
          </a:prstGeom>
          <a:noFill/>
        </p:spPr>
        <p:txBody>
          <a:bodyPr wrap="square">
            <a:spAutoFit/>
          </a:bodyPr>
          <a:lstStyle/>
          <a:p>
            <a:pPr algn="l">
              <a:defRPr sz="1500" b="1">
                <a:solidFill>
                  <a:srgbClr val="00E696"/>
                </a:solidFill>
                <a:latin typeface="Microsoft YaHei"/>
              </a:defRPr>
            </a:pPr>
            <a:r>
              <a:t>实际数据管道: Titanic示例</a:t>
            </a:r>
          </a:p>
        </p:txBody>
      </p:sp>
      <p:sp>
        <p:nvSpPr>
          <p:cNvPr id="40" name="TextBox 39"/>
          <p:cNvSpPr txBox="1"/>
          <p:nvPr/>
        </p:nvSpPr>
        <p:spPr>
          <a:xfrm>
            <a:off x="6400800" y="4572000"/>
            <a:ext cx="4937760" cy="1737360"/>
          </a:xfrm>
          <a:prstGeom prst="rect">
            <a:avLst/>
          </a:prstGeom>
          <a:noFill/>
        </p:spPr>
        <p:txBody>
          <a:bodyPr wrap="square">
            <a:spAutoFit/>
          </a:bodyPr>
          <a:lstStyle/>
          <a:p>
            <a:pPr>
              <a:spcAft>
                <a:spcPts val="400"/>
              </a:spcAft>
              <a:defRPr sz="1300">
                <a:solidFill>
                  <a:srgbClr val="BBBBCC"/>
                </a:solidFill>
                <a:latin typeface="Microsoft YaHei"/>
              </a:defRPr>
            </a:pPr>
            <a:r>
              <a:t>1. pd.read_csv() -&gt; DataFrame加载</a:t>
            </a:r>
          </a:p>
          <a:p>
            <a:pPr>
              <a:spcAft>
                <a:spcPts val="400"/>
              </a:spcAft>
              <a:defRPr sz="1300">
                <a:solidFill>
                  <a:srgbClr val="BBBBCC"/>
                </a:solidFill>
                <a:latin typeface="Microsoft YaHei"/>
              </a:defRPr>
            </a:pPr>
            <a:r>
              <a:t>2. groupby + transform分组替代缺失值</a:t>
            </a:r>
          </a:p>
          <a:p>
            <a:pPr>
              <a:spcAft>
                <a:spcPts val="400"/>
              </a:spcAft>
              <a:defRPr sz="1300">
                <a:solidFill>
                  <a:srgbClr val="BBBBCC"/>
                </a:solidFill>
                <a:latin typeface="Microsoft YaHei"/>
              </a:defRPr>
            </a:pPr>
            <a:r>
              <a:t>3. map()进行分类编码</a:t>
            </a:r>
          </a:p>
          <a:p>
            <a:pPr>
              <a:spcAft>
                <a:spcPts val="400"/>
              </a:spcAft>
              <a:defRPr sz="1300">
                <a:solidFill>
                  <a:srgbClr val="BBBBCC"/>
                </a:solidFill>
                <a:latin typeface="Microsoft YaHei"/>
              </a:defRPr>
            </a:pPr>
            <a:r>
              <a:t>4. .values转换为NumPy</a:t>
            </a:r>
          </a:p>
          <a:p>
            <a:pPr>
              <a:spcAft>
                <a:spcPts val="400"/>
              </a:spcAft>
              <a:defRPr sz="1300">
                <a:solidFill>
                  <a:srgbClr val="BBBBCC"/>
                </a:solidFill>
                <a:latin typeface="Microsoft YaHei"/>
              </a:defRPr>
            </a:pPr>
            <a:r>
              <a:t>5. train_test_split进行分割</a:t>
            </a:r>
          </a:p>
          <a:p>
            <a:pPr>
              <a:spcAft>
                <a:spcPts val="400"/>
              </a:spcAft>
              <a:defRPr sz="1300">
                <a:solidFill>
                  <a:srgbClr val="BBBBCC"/>
                </a:solidFill>
                <a:latin typeface="Microsoft YaHei"/>
              </a:defRPr>
            </a:pPr>
            <a:r>
              <a:t>6. StandardScaler: 只在train上fit!</a:t>
            </a:r>
          </a:p>
          <a:p>
            <a:pPr>
              <a:spcAft>
                <a:spcPts val="400"/>
              </a:spcAft>
              <a:defRPr sz="1300">
                <a:solidFill>
                  <a:srgbClr val="BBBBCC"/>
                </a:solidFill>
                <a:latin typeface="Microsoft YaHei"/>
              </a:defRPr>
            </a:pPr>
            <a:r>
              <a:t>7. LogisticRegression训练和评估</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9</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高级工具: np.einsum与Numba JIT</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张量运算与JIT编译加速</a:t>
            </a:r>
          </a:p>
        </p:txBody>
      </p:sp>
      <p:sp>
        <p:nvSpPr>
          <p:cNvPr id="6" name="Rounded Rectangle 5"/>
          <p:cNvSpPr/>
          <p:nvPr/>
        </p:nvSpPr>
        <p:spPr>
          <a:xfrm>
            <a:off x="548640" y="1828800"/>
            <a:ext cx="5486400" cy="274320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65960"/>
            <a:ext cx="5120640" cy="2468880"/>
          </a:xfrm>
          <a:prstGeom prst="rect">
            <a:avLst/>
          </a:prstGeom>
          <a:noFill/>
        </p:spPr>
        <p:txBody>
          <a:bodyPr wrap="square">
            <a:spAutoFit/>
          </a:bodyPr>
          <a:lstStyle/>
          <a:p>
            <a:pPr>
              <a:spcAft>
                <a:spcPts val="200"/>
              </a:spcAft>
              <a:defRPr sz="1100">
                <a:solidFill>
                  <a:srgbClr val="00E696"/>
                </a:solidFill>
                <a:latin typeface="Consolas"/>
              </a:defRPr>
            </a:pPr>
            <a:r>
              <a:t># np.einsum: 爱因斯坦求和约定</a:t>
            </a:r>
          </a:p>
          <a:p>
            <a:pPr>
              <a:spcAft>
                <a:spcPts val="200"/>
              </a:spcAft>
              <a:defRPr sz="1100">
                <a:solidFill>
                  <a:srgbClr val="00E696"/>
                </a:solidFill>
                <a:latin typeface="Consolas"/>
              </a:defRPr>
            </a:pPr>
            <a:r>
              <a:t>A = np.random.randn(3, 4)</a:t>
            </a:r>
          </a:p>
          <a:p>
            <a:pPr>
              <a:spcAft>
                <a:spcPts val="200"/>
              </a:spcAft>
              <a:defRPr sz="1100">
                <a:solidFill>
                  <a:srgbClr val="00E696"/>
                </a:solidFill>
                <a:latin typeface="Consolas"/>
              </a:defRPr>
            </a:pPr>
            <a:r>
              <a:t>B = np.random.randn(4, 5)</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矩阵乘法: C_ij = sum_k A_ik * B_kj</a:t>
            </a:r>
          </a:p>
          <a:p>
            <a:pPr>
              <a:spcAft>
                <a:spcPts val="200"/>
              </a:spcAft>
              <a:defRPr sz="1100">
                <a:solidFill>
                  <a:srgbClr val="00E696"/>
                </a:solidFill>
                <a:latin typeface="Consolas"/>
              </a:defRPr>
            </a:pPr>
            <a:r>
              <a:t>C = np.einsum('ik,kj-&gt;ij', A, B)</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迹(Trace): sum_i A_ii</a:t>
            </a:r>
          </a:p>
          <a:p>
            <a:pPr>
              <a:spcAft>
                <a:spcPts val="200"/>
              </a:spcAft>
              <a:defRPr sz="1100">
                <a:solidFill>
                  <a:srgbClr val="00E696"/>
                </a:solidFill>
                <a:latin typeface="Consolas"/>
              </a:defRPr>
            </a:pPr>
            <a:r>
              <a:t>trace = np.einsum('ii-&gt;', np.eye(3))</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批量矩阵乘法 (深度学习注意力核心!)</a:t>
            </a:r>
          </a:p>
          <a:p>
            <a:pPr>
              <a:spcAft>
                <a:spcPts val="200"/>
              </a:spcAft>
              <a:defRPr sz="1100">
                <a:solidFill>
                  <a:srgbClr val="00E696"/>
                </a:solidFill>
                <a:latin typeface="Consolas"/>
              </a:defRPr>
            </a:pPr>
            <a:r>
              <a:t>Q = np.random.randn(8, 64, 32)  # (heads, seq, d_k)</a:t>
            </a:r>
          </a:p>
          <a:p>
            <a:pPr>
              <a:spcAft>
                <a:spcPts val="200"/>
              </a:spcAft>
              <a:defRPr sz="1100">
                <a:solidFill>
                  <a:srgbClr val="00E696"/>
                </a:solidFill>
                <a:latin typeface="Consolas"/>
              </a:defRPr>
            </a:pPr>
            <a:r>
              <a:t>K = np.random.randn(8, 64, 32)</a:t>
            </a:r>
          </a:p>
          <a:p>
            <a:pPr>
              <a:spcAft>
                <a:spcPts val="200"/>
              </a:spcAft>
              <a:defRPr sz="1100">
                <a:solidFill>
                  <a:srgbClr val="00E696"/>
                </a:solidFill>
                <a:latin typeface="Consolas"/>
              </a:defRPr>
            </a:pPr>
            <a:r>
              <a:t>scores = np.einsum('hid,hjd-&gt;hij', Q, K)</a:t>
            </a:r>
          </a:p>
        </p:txBody>
      </p:sp>
      <p:sp>
        <p:nvSpPr>
          <p:cNvPr id="8" name="Rounded Rectangle 7"/>
          <p:cNvSpPr/>
          <p:nvPr/>
        </p:nvSpPr>
        <p:spPr>
          <a:xfrm>
            <a:off x="548640" y="4754880"/>
            <a:ext cx="5486400" cy="182880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892040"/>
            <a:ext cx="5120640" cy="1554480"/>
          </a:xfrm>
          <a:prstGeom prst="rect">
            <a:avLst/>
          </a:prstGeom>
          <a:noFill/>
        </p:spPr>
        <p:txBody>
          <a:bodyPr wrap="square">
            <a:spAutoFit/>
          </a:bodyPr>
          <a:lstStyle/>
          <a:p>
            <a:pPr>
              <a:spcAft>
                <a:spcPts val="200"/>
              </a:spcAft>
              <a:defRPr sz="1100">
                <a:solidFill>
                  <a:srgbClr val="00E696"/>
                </a:solidFill>
                <a:latin typeface="Consolas"/>
              </a:defRPr>
            </a:pPr>
            <a:r>
              <a:t># Numba JIT: 将Python循环加速到C速度</a:t>
            </a:r>
          </a:p>
          <a:p>
            <a:pPr>
              <a:spcAft>
                <a:spcPts val="200"/>
              </a:spcAft>
              <a:defRPr sz="1100">
                <a:solidFill>
                  <a:srgbClr val="00E696"/>
                </a:solidFill>
                <a:latin typeface="Consolas"/>
              </a:defRPr>
            </a:pPr>
            <a:r>
              <a:t>from numba import jit</a:t>
            </a:r>
          </a:p>
          <a:p>
            <a:pPr>
              <a:spcAft>
                <a:spcPts val="200"/>
              </a:spcAft>
              <a:defRPr sz="1100">
                <a:solidFill>
                  <a:srgbClr val="00E696"/>
                </a:solidFill>
                <a:latin typeface="Consolas"/>
              </a:defRPr>
            </a:pPr>
            <a:r>
              <a:t>@jit(nopython=True)</a:t>
            </a:r>
          </a:p>
          <a:p>
            <a:pPr>
              <a:spcAft>
                <a:spcPts val="200"/>
              </a:spcAft>
              <a:defRPr sz="1100">
                <a:solidFill>
                  <a:srgbClr val="00E696"/>
                </a:solidFill>
                <a:latin typeface="Consolas"/>
              </a:defRPr>
            </a:pPr>
            <a:r>
              <a:t>def fast_func(X, Y):</a:t>
            </a:r>
          </a:p>
          <a:p>
            <a:pPr>
              <a:spcAft>
                <a:spcPts val="200"/>
              </a:spcAft>
              <a:defRPr sz="1100">
                <a:solidFill>
                  <a:srgbClr val="00E696"/>
                </a:solidFill>
                <a:latin typeface="Consolas"/>
              </a:defRPr>
            </a:pPr>
            <a:r>
              <a:t>    # 用于难以向量化的复杂循环</a:t>
            </a:r>
          </a:p>
          <a:p>
            <a:pPr>
              <a:spcAft>
                <a:spcPts val="200"/>
              </a:spcAft>
              <a:defRPr sz="1100">
                <a:solidFill>
                  <a:srgbClr val="00E696"/>
                </a:solidFill>
                <a:latin typeface="Consolas"/>
              </a:defRPr>
            </a:pPr>
            <a:r>
              <a:t>    ...</a:t>
            </a:r>
          </a:p>
        </p:txBody>
      </p:sp>
      <p:sp>
        <p:nvSpPr>
          <p:cNvPr id="10" name="Rounded Rectangle 9"/>
          <p:cNvSpPr/>
          <p:nvPr/>
        </p:nvSpPr>
        <p:spPr>
          <a:xfrm>
            <a:off x="6400800" y="1828800"/>
            <a:ext cx="5120640" cy="2286000"/>
          </a:xfrm>
          <a:prstGeom prst="roundRect">
            <a:avLst>
              <a:gd name="adj" fmla="val 5000"/>
            </a:avLst>
          </a:prstGeom>
          <a:solidFill>
            <a:srgbClr val="25253D"/>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1920240"/>
            <a:ext cx="4754880" cy="365760"/>
          </a:xfrm>
          <a:prstGeom prst="rect">
            <a:avLst/>
          </a:prstGeom>
          <a:noFill/>
        </p:spPr>
        <p:txBody>
          <a:bodyPr wrap="square">
            <a:spAutoFit/>
          </a:bodyPr>
          <a:lstStyle/>
          <a:p>
            <a:pPr algn="l">
              <a:defRPr sz="1500" b="1">
                <a:solidFill>
                  <a:srgbClr val="00D2FF"/>
                </a:solidFill>
                <a:latin typeface="Microsoft YaHei"/>
              </a:defRPr>
            </a:pPr>
            <a:r>
              <a:t>np.einsum应用案例</a:t>
            </a:r>
          </a:p>
        </p:txBody>
      </p:sp>
      <p:sp>
        <p:nvSpPr>
          <p:cNvPr id="12" name="TextBox 11"/>
          <p:cNvSpPr txBox="1"/>
          <p:nvPr/>
        </p:nvSpPr>
        <p:spPr>
          <a:xfrm>
            <a:off x="6583680" y="2286000"/>
            <a:ext cx="4754880" cy="1737360"/>
          </a:xfrm>
          <a:prstGeom prst="rect">
            <a:avLst/>
          </a:prstGeom>
          <a:noFill/>
        </p:spPr>
        <p:txBody>
          <a:bodyPr wrap="square">
            <a:spAutoFit/>
          </a:bodyPr>
          <a:lstStyle/>
          <a:p>
            <a:pPr>
              <a:spcAft>
                <a:spcPts val="400"/>
              </a:spcAft>
              <a:defRPr sz="1300">
                <a:solidFill>
                  <a:srgbClr val="BBBBCC"/>
                </a:solidFill>
                <a:latin typeface="Microsoft YaHei"/>
              </a:defRPr>
            </a:pPr>
            <a:r>
              <a:t>矩阵乘法: 'ik,kj-&gt;ij' == A @ B</a:t>
            </a:r>
          </a:p>
          <a:p>
            <a:pPr>
              <a:spcAft>
                <a:spcPts val="400"/>
              </a:spcAft>
              <a:defRPr sz="1300">
                <a:solidFill>
                  <a:srgbClr val="BBBBCC"/>
                </a:solidFill>
                <a:latin typeface="Microsoft YaHei"/>
              </a:defRPr>
            </a:pPr>
            <a:r>
              <a:t>迹: 'ii-&gt;' == np.trace(A)</a:t>
            </a:r>
          </a:p>
          <a:p>
            <a:pPr>
              <a:spcAft>
                <a:spcPts val="400"/>
              </a:spcAft>
              <a:defRPr sz="1300">
                <a:solidFill>
                  <a:srgbClr val="BBBBCC"/>
                </a:solidFill>
                <a:latin typeface="Microsoft YaHei"/>
              </a:defRPr>
            </a:pPr>
            <a:r>
              <a:t>外积: 'i,j-&gt;ij' == np.outer(a, b)</a:t>
            </a:r>
          </a:p>
          <a:p>
            <a:pPr>
              <a:spcAft>
                <a:spcPts val="400"/>
              </a:spcAft>
              <a:defRPr sz="1300">
                <a:solidFill>
                  <a:srgbClr val="BBBBCC"/>
                </a:solidFill>
                <a:latin typeface="Microsoft YaHei"/>
              </a:defRPr>
            </a:pPr>
            <a:r>
              <a:t>批量矩阵乘法: 'bij,bjk-&gt;bik'</a:t>
            </a:r>
          </a:p>
          <a:p>
            <a:pPr>
              <a:spcAft>
                <a:spcPts val="400"/>
              </a:spcAft>
              <a:defRPr sz="1300">
                <a:solidFill>
                  <a:srgbClr val="BBBBCC"/>
                </a:solidFill>
                <a:latin typeface="Microsoft YaHei"/>
              </a:defRPr>
            </a:pPr>
            <a:r>
              <a:t>Self-Attention: 'hid,hjd-&gt;hij'</a:t>
            </a:r>
          </a:p>
          <a:p>
            <a:pPr>
              <a:spcAft>
                <a:spcPts val="400"/>
              </a:spcAft>
              <a:defRPr sz="1300">
                <a:solidFill>
                  <a:srgbClr val="BBBBCC"/>
                </a:solidFill>
                <a:latin typeface="Microsoft YaHei"/>
              </a:defRPr>
            </a:pPr>
            <a:r>
              <a:t>可读性好且内部优化也很好!</a:t>
            </a:r>
          </a:p>
        </p:txBody>
      </p:sp>
      <p:sp>
        <p:nvSpPr>
          <p:cNvPr id="13" name="Rounded Rectangle 12"/>
          <p:cNvSpPr/>
          <p:nvPr/>
        </p:nvSpPr>
        <p:spPr>
          <a:xfrm>
            <a:off x="6400800" y="4389120"/>
            <a:ext cx="5120640" cy="2194560"/>
          </a:xfrm>
          <a:prstGeom prst="roundRect">
            <a:avLst>
              <a:gd name="adj" fmla="val 5000"/>
            </a:avLst>
          </a:prstGeom>
          <a:solidFill>
            <a:srgbClr val="25253D"/>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4480560"/>
            <a:ext cx="4754880" cy="365760"/>
          </a:xfrm>
          <a:prstGeom prst="rect">
            <a:avLst/>
          </a:prstGeom>
          <a:noFill/>
        </p:spPr>
        <p:txBody>
          <a:bodyPr wrap="square">
            <a:spAutoFit/>
          </a:bodyPr>
          <a:lstStyle/>
          <a:p>
            <a:pPr algn="l">
              <a:defRPr sz="1500" b="1">
                <a:solidFill>
                  <a:srgbClr val="FF8C00"/>
                </a:solidFill>
                <a:latin typeface="Microsoft YaHei"/>
              </a:defRPr>
            </a:pPr>
            <a:r>
              <a:t>Numba选择指南</a:t>
            </a:r>
          </a:p>
        </p:txBody>
      </p:sp>
      <p:sp>
        <p:nvSpPr>
          <p:cNvPr id="15" name="TextBox 14"/>
          <p:cNvSpPr txBox="1"/>
          <p:nvPr/>
        </p:nvSpPr>
        <p:spPr>
          <a:xfrm>
            <a:off x="6583680" y="4846320"/>
            <a:ext cx="4754880" cy="1645920"/>
          </a:xfrm>
          <a:prstGeom prst="rect">
            <a:avLst/>
          </a:prstGeom>
          <a:noFill/>
        </p:spPr>
        <p:txBody>
          <a:bodyPr wrap="square">
            <a:spAutoFit/>
          </a:bodyPr>
          <a:lstStyle/>
          <a:p>
            <a:pPr>
              <a:spcAft>
                <a:spcPts val="400"/>
              </a:spcAft>
              <a:defRPr sz="1300">
                <a:solidFill>
                  <a:srgbClr val="BBBBCC"/>
                </a:solidFill>
                <a:latin typeface="Microsoft YaHei"/>
              </a:defRPr>
            </a:pPr>
            <a:r>
              <a:t>能向量化 -&gt; NumPy最好</a:t>
            </a:r>
          </a:p>
          <a:p>
            <a:pPr>
              <a:spcAft>
                <a:spcPts val="400"/>
              </a:spcAft>
              <a:defRPr sz="1300">
                <a:solidFill>
                  <a:srgbClr val="BBBBCC"/>
                </a:solidFill>
                <a:latin typeface="Microsoft YaHei"/>
              </a:defRPr>
            </a:pPr>
            <a:r>
              <a:t>难以向量化的复杂循环 -&gt; Numba JIT</a:t>
            </a:r>
          </a:p>
          <a:p>
            <a:pPr>
              <a:spcAft>
                <a:spcPts val="400"/>
              </a:spcAft>
              <a:defRPr sz="1300">
                <a:solidFill>
                  <a:srgbClr val="BBBBCC"/>
                </a:solidFill>
                <a:latin typeface="Microsoft YaHei"/>
              </a:defRPr>
            </a:pPr>
            <a:r>
              <a:t>需要并行化 -&gt; Numba parallel (prange)</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Numba JIT: 首次调用时编译 (warm-up)</a:t>
            </a:r>
          </a:p>
          <a:p>
            <a:pPr>
              <a:spcAft>
                <a:spcPts val="400"/>
              </a:spcAft>
              <a:defRPr sz="1300">
                <a:solidFill>
                  <a:srgbClr val="BBBBCC"/>
                </a:solidFill>
                <a:latin typeface="Microsoft YaHei"/>
              </a:defRPr>
            </a:pPr>
            <a:r>
              <a:t>之后调用达到C级速度!</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9</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复习题 (1/3)</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NumPy相关问题</a:t>
            </a:r>
          </a:p>
        </p:txBody>
      </p:sp>
      <p:sp>
        <p:nvSpPr>
          <p:cNvPr id="6" name="Rounded Rectangle 5"/>
          <p:cNvSpPr/>
          <p:nvPr/>
        </p:nvSpPr>
        <p:spPr>
          <a:xfrm>
            <a:off x="548640" y="1828800"/>
            <a:ext cx="10972800" cy="4754880"/>
          </a:xfrm>
          <a:prstGeom prst="roundRect">
            <a:avLst>
              <a:gd name="adj" fmla="val 5000"/>
            </a:avLst>
          </a:prstGeom>
          <a:solidFill>
            <a:srgbClr val="25253D"/>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20240"/>
            <a:ext cx="10607040" cy="365760"/>
          </a:xfrm>
          <a:prstGeom prst="rect">
            <a:avLst/>
          </a:prstGeom>
          <a:noFill/>
        </p:spPr>
        <p:txBody>
          <a:bodyPr wrap="square">
            <a:spAutoFit/>
          </a:bodyPr>
          <a:lstStyle/>
          <a:p>
            <a:pPr algn="l">
              <a:defRPr sz="1500" b="1">
                <a:solidFill>
                  <a:srgbClr val="0096FF"/>
                </a:solidFill>
                <a:latin typeface="Microsoft YaHei"/>
              </a:defRPr>
            </a:pPr>
            <a:r>
              <a:t>NumPy核心问题 1~4</a:t>
            </a:r>
          </a:p>
        </p:txBody>
      </p:sp>
      <p:sp>
        <p:nvSpPr>
          <p:cNvPr id="8" name="TextBox 7"/>
          <p:cNvSpPr txBox="1"/>
          <p:nvPr/>
        </p:nvSpPr>
        <p:spPr>
          <a:xfrm>
            <a:off x="731520" y="2286000"/>
            <a:ext cx="10607040" cy="4206240"/>
          </a:xfrm>
          <a:prstGeom prst="rect">
            <a:avLst/>
          </a:prstGeom>
          <a:noFill/>
        </p:spPr>
        <p:txBody>
          <a:bodyPr wrap="square">
            <a:spAutoFit/>
          </a:bodyPr>
          <a:lstStyle/>
          <a:p>
            <a:pPr>
              <a:spcAft>
                <a:spcPts val="400"/>
              </a:spcAft>
              <a:defRPr sz="1300">
                <a:solidFill>
                  <a:srgbClr val="BBBBCC"/>
                </a:solidFill>
                <a:latin typeface="Microsoft YaHei"/>
              </a:defRPr>
            </a:pPr>
            <a:r>
              <a:t>Q1. 说明NumPy ndarray的stride概念，并解释转置(transpose)运算时stride如何变化。</a:t>
            </a:r>
          </a:p>
          <a:p>
            <a:pPr>
              <a:spcAft>
                <a:spcPts val="400"/>
              </a:spcAft>
              <a:defRPr sz="1300">
                <a:solidFill>
                  <a:srgbClr val="BBBBCC"/>
                </a:solidFill>
                <a:latin typeface="Microsoft YaHei"/>
              </a:defRPr>
            </a:pPr>
            <a:r>
              <a:t>    -&gt; stride = 每个维度到下一个元素的字节数。转置只交换stride (无数据复制!)</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Q2. 描述广播的三条规则，并推导(3,1) + (1,4)运算的结果shape。</a:t>
            </a:r>
          </a:p>
          <a:p>
            <a:pPr>
              <a:spcAft>
                <a:spcPts val="400"/>
              </a:spcAft>
              <a:defRPr sz="1300">
                <a:solidFill>
                  <a:srgbClr val="BBBBCC"/>
                </a:solidFill>
                <a:latin typeface="Microsoft YaHei"/>
              </a:defRPr>
            </a:pPr>
            <a:r>
              <a:t>    -&gt; 规则1: 对齐维度, 规则2: 检查兼容性(3vs1, 1vs4), 规则3: 虚拟扩展 -&gt; 结果 (3,4)</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Q3. 从内存布局角度说明C-order和F-order的区别，</a:t>
            </a:r>
          </a:p>
          <a:p>
            <a:pPr>
              <a:spcAft>
                <a:spcPts val="400"/>
              </a:spcAft>
              <a:defRPr sz="1300">
                <a:solidFill>
                  <a:srgbClr val="BBBBCC"/>
                </a:solidFill>
                <a:latin typeface="Microsoft YaHei"/>
              </a:defRPr>
            </a:pPr>
            <a:r>
              <a:t>    并说明行方向遍历时哪个更高效及其原因。</a:t>
            </a:r>
          </a:p>
          <a:p>
            <a:pPr>
              <a:spcAft>
                <a:spcPts val="400"/>
              </a:spcAft>
              <a:defRPr sz="1300">
                <a:solidFill>
                  <a:srgbClr val="BBBBCC"/>
                </a:solidFill>
                <a:latin typeface="Microsoft YaHei"/>
              </a:defRPr>
            </a:pPr>
            <a:r>
              <a:t>    -&gt; C-order: 行优先存储, 行方向遍历时连续内存访问使缓存效率高</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Q4. 说明Harris et al.(2020)的Nature论文中提出的Python科学生态系统层级结构，</a:t>
            </a:r>
          </a:p>
          <a:p>
            <a:pPr>
              <a:spcAft>
                <a:spcPts val="400"/>
              </a:spcAft>
              <a:defRPr sz="1300">
                <a:solidFill>
                  <a:srgbClr val="BBBBCC"/>
                </a:solidFill>
                <a:latin typeface="Microsoft YaHei"/>
              </a:defRPr>
            </a:pPr>
            <a:r>
              <a:t>    并解释NumPy位于基础层的原因。</a:t>
            </a:r>
          </a:p>
          <a:p>
            <a:pPr>
              <a:spcAft>
                <a:spcPts val="400"/>
              </a:spcAft>
              <a:defRPr sz="1300">
                <a:solidFill>
                  <a:srgbClr val="BBBBCC"/>
                </a:solidFill>
                <a:latin typeface="Microsoft YaHei"/>
              </a:defRPr>
            </a:pPr>
            <a:r>
              <a:t>    -&gt; NumPy是Pandas、SciPy、scikit-learn等的基础。ndarray提供标准数组接口。</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9</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复习题 (2/3)</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Pandas及数据预处理相关问题</a:t>
            </a:r>
          </a:p>
        </p:txBody>
      </p:sp>
      <p:sp>
        <p:nvSpPr>
          <p:cNvPr id="6" name="Rounded Rectangle 5"/>
          <p:cNvSpPr/>
          <p:nvPr/>
        </p:nvSpPr>
        <p:spPr>
          <a:xfrm>
            <a:off x="548640" y="1828800"/>
            <a:ext cx="10972800" cy="475488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20240"/>
            <a:ext cx="10607040" cy="365760"/>
          </a:xfrm>
          <a:prstGeom prst="rect">
            <a:avLst/>
          </a:prstGeom>
          <a:noFill/>
        </p:spPr>
        <p:txBody>
          <a:bodyPr wrap="square">
            <a:spAutoFit/>
          </a:bodyPr>
          <a:lstStyle/>
          <a:p>
            <a:pPr algn="l">
              <a:defRPr sz="1500" b="1">
                <a:solidFill>
                  <a:srgbClr val="00E696"/>
                </a:solidFill>
                <a:latin typeface="Microsoft YaHei"/>
              </a:defRPr>
            </a:pPr>
            <a:r>
              <a:t>Pandas/预处理核心问题 5~7</a:t>
            </a:r>
          </a:p>
        </p:txBody>
      </p:sp>
      <p:sp>
        <p:nvSpPr>
          <p:cNvPr id="8" name="TextBox 7"/>
          <p:cNvSpPr txBox="1"/>
          <p:nvPr/>
        </p:nvSpPr>
        <p:spPr>
          <a:xfrm>
            <a:off x="731520" y="2286000"/>
            <a:ext cx="10607040" cy="4206240"/>
          </a:xfrm>
          <a:prstGeom prst="rect">
            <a:avLst/>
          </a:prstGeom>
          <a:noFill/>
        </p:spPr>
        <p:txBody>
          <a:bodyPr wrap="square">
            <a:spAutoFit/>
          </a:bodyPr>
          <a:lstStyle/>
          <a:p>
            <a:pPr>
              <a:spcAft>
                <a:spcPts val="400"/>
              </a:spcAft>
              <a:defRPr sz="1300">
                <a:solidFill>
                  <a:srgbClr val="BBBBCC"/>
                </a:solidFill>
                <a:latin typeface="Microsoft YaHei"/>
              </a:defRPr>
            </a:pPr>
            <a:r>
              <a:t>Q5. 说明Pandas的loc和iloc的区别，并解释切片时末尾索引包含与否不同的原因。</a:t>
            </a:r>
          </a:p>
          <a:p>
            <a:pPr>
              <a:spcAft>
                <a:spcPts val="400"/>
              </a:spcAft>
              <a:defRPr sz="1300">
                <a:solidFill>
                  <a:srgbClr val="BBBBCC"/>
                </a:solidFill>
                <a:latin typeface="Microsoft YaHei"/>
              </a:defRPr>
            </a:pPr>
            <a:r>
              <a:t>    -&gt; loc: 基于标签 (包含末尾) / iloc: 基于整数位置 (不包含末尾, Python惯例)</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Q6. 说明McKinney(2010)开发Pandas的动机，并描述NumPy ndarray不适合表格数据的原因。</a:t>
            </a:r>
          </a:p>
          <a:p>
            <a:pPr>
              <a:spcAft>
                <a:spcPts val="400"/>
              </a:spcAft>
              <a:defRPr sz="1300">
                <a:solidFill>
                  <a:srgbClr val="BBBBCC"/>
                </a:solidFill>
                <a:latin typeface="Microsoft YaHei"/>
              </a:defRPr>
            </a:pPr>
            <a:r>
              <a:t>    -&gt; Python缺少与R的data.frame对应的结构。ndarray只支持同质类型，</a:t>
            </a:r>
          </a:p>
          <a:p>
            <a:pPr>
              <a:spcAft>
                <a:spcPts val="400"/>
              </a:spcAft>
              <a:defRPr sz="1300">
                <a:solidFill>
                  <a:srgbClr val="BBBBCC"/>
                </a:solidFill>
                <a:latin typeface="Microsoft YaHei"/>
              </a:defRPr>
            </a:pPr>
            <a:r>
              <a:t>       对于字符串+数字+日期混合的异质表格数据处理不足。</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Q7. 比较缺失值处理5种策略的优缺点，并说明对于时间序列数据</a:t>
            </a:r>
          </a:p>
          <a:p>
            <a:pPr>
              <a:spcAft>
                <a:spcPts val="400"/>
              </a:spcAft>
              <a:defRPr sz="1300">
                <a:solidFill>
                  <a:srgbClr val="BBBBCC"/>
                </a:solidFill>
                <a:latin typeface="Microsoft YaHei"/>
              </a:defRPr>
            </a:pPr>
            <a:r>
              <a:t>    最合适的策略及其理由。</a:t>
            </a:r>
          </a:p>
          <a:p>
            <a:pPr>
              <a:spcAft>
                <a:spcPts val="400"/>
              </a:spcAft>
              <a:defRPr sz="1300">
                <a:solidFill>
                  <a:srgbClr val="BBBBCC"/>
                </a:solidFill>
                <a:latin typeface="Microsoft YaHei"/>
              </a:defRPr>
            </a:pPr>
            <a:r>
              <a:t>    -&gt; 时间序列: 插值(interpolate)最合适。保持时间连续性，反映前后值的趋势。</a:t>
            </a:r>
          </a:p>
          <a:p>
            <a:pPr>
              <a:spcAft>
                <a:spcPts val="400"/>
              </a:spcAft>
              <a:defRPr sz="1300">
                <a:solidFill>
                  <a:srgbClr val="BBBBCC"/>
                </a:solidFill>
                <a:latin typeface="Microsoft YaHei"/>
              </a:defRPr>
            </a:pPr>
            <a:r>
              <a:t>       删除行会断开时间序列，均值替代忽略了时间模式。</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9</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复习题 (3/3)</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Tidy Data、向量化、Data Leakage相关问题</a:t>
            </a:r>
          </a:p>
        </p:txBody>
      </p:sp>
      <p:sp>
        <p:nvSpPr>
          <p:cNvPr id="6" name="Rounded Rectangle 5"/>
          <p:cNvSpPr/>
          <p:nvPr/>
        </p:nvSpPr>
        <p:spPr>
          <a:xfrm>
            <a:off x="548640" y="1828800"/>
            <a:ext cx="10972800" cy="4754880"/>
          </a:xfrm>
          <a:prstGeom prst="roundRect">
            <a:avLst>
              <a:gd name="adj" fmla="val 5000"/>
            </a:avLst>
          </a:prstGeom>
          <a:solidFill>
            <a:srgbClr val="25253D"/>
          </a:solidFill>
          <a:ln w="12700">
            <a:solidFill>
              <a:srgbClr val="A06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20240"/>
            <a:ext cx="10607040" cy="365760"/>
          </a:xfrm>
          <a:prstGeom prst="rect">
            <a:avLst/>
          </a:prstGeom>
          <a:noFill/>
        </p:spPr>
        <p:txBody>
          <a:bodyPr wrap="square">
            <a:spAutoFit/>
          </a:bodyPr>
          <a:lstStyle/>
          <a:p>
            <a:pPr algn="l">
              <a:defRPr sz="1500" b="1">
                <a:solidFill>
                  <a:srgbClr val="A06CFF"/>
                </a:solidFill>
                <a:latin typeface="Microsoft YaHei"/>
              </a:defRPr>
            </a:pPr>
            <a:r>
              <a:t>进阶问题 8~10</a:t>
            </a:r>
          </a:p>
        </p:txBody>
      </p:sp>
      <p:sp>
        <p:nvSpPr>
          <p:cNvPr id="8" name="TextBox 7"/>
          <p:cNvSpPr txBox="1"/>
          <p:nvPr/>
        </p:nvSpPr>
        <p:spPr>
          <a:xfrm>
            <a:off x="731520" y="2286000"/>
            <a:ext cx="10607040" cy="4206240"/>
          </a:xfrm>
          <a:prstGeom prst="rect">
            <a:avLst/>
          </a:prstGeom>
          <a:noFill/>
        </p:spPr>
        <p:txBody>
          <a:bodyPr wrap="square">
            <a:spAutoFit/>
          </a:bodyPr>
          <a:lstStyle/>
          <a:p>
            <a:pPr>
              <a:spcAft>
                <a:spcPts val="400"/>
              </a:spcAft>
              <a:defRPr sz="1300">
                <a:solidFill>
                  <a:srgbClr val="BBBBCC"/>
                </a:solidFill>
                <a:latin typeface="Microsoft YaHei"/>
              </a:defRPr>
            </a:pPr>
            <a:r>
              <a:t>Q8. 描述Wickham(2014)的Tidy Data 3原则，并编写将列标题为值的messy data</a:t>
            </a:r>
          </a:p>
          <a:p>
            <a:pPr>
              <a:spcAft>
                <a:spcPts val="400"/>
              </a:spcAft>
              <a:defRPr sz="1300">
                <a:solidFill>
                  <a:srgbClr val="BBBBCC"/>
                </a:solidFill>
                <a:latin typeface="Microsoft YaHei"/>
              </a:defRPr>
            </a:pPr>
            <a:r>
              <a:t>    转换为tidy data的Pandas代码。</a:t>
            </a:r>
          </a:p>
          <a:p>
            <a:pPr>
              <a:spcAft>
                <a:spcPts val="400"/>
              </a:spcAft>
              <a:defRPr sz="1300">
                <a:solidFill>
                  <a:srgbClr val="BBBBCC"/>
                </a:solidFill>
                <a:latin typeface="Microsoft YaHei"/>
              </a:defRPr>
            </a:pPr>
            <a:r>
              <a:t>    -&gt; 原则: 变量=列, 观测=行, 观测单位=表。pd.melt(messy, id_vars='姓名', ...)</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Q9. 从硬件层面(SIMD, CPU缓存)解释向量化运算比Python循环</a:t>
            </a:r>
          </a:p>
          <a:p>
            <a:pPr>
              <a:spcAft>
                <a:spcPts val="400"/>
              </a:spcAft>
              <a:defRPr sz="1300">
                <a:solidFill>
                  <a:srgbClr val="BBBBCC"/>
                </a:solidFill>
                <a:latin typeface="Microsoft YaHei"/>
              </a:defRPr>
            </a:pPr>
            <a:r>
              <a:t>    快100~1000倍的原因。</a:t>
            </a:r>
          </a:p>
          <a:p>
            <a:pPr>
              <a:spcAft>
                <a:spcPts val="400"/>
              </a:spcAft>
              <a:defRPr sz="1300">
                <a:solidFill>
                  <a:srgbClr val="BBBBCC"/>
                </a:solidFill>
                <a:latin typeface="Microsoft YaHei"/>
              </a:defRPr>
            </a:pPr>
            <a:r>
              <a:t>    -&gt; SIMD: 一条指令同时处理多个数据 (AVX-256: 8个float32)</a:t>
            </a:r>
          </a:p>
          <a:p>
            <a:pPr>
              <a:spcAft>
                <a:spcPts val="400"/>
              </a:spcAft>
              <a:defRPr sz="1300">
                <a:solidFill>
                  <a:srgbClr val="BBBBCC"/>
                </a:solidFill>
                <a:latin typeface="Microsoft YaHei"/>
              </a:defRPr>
            </a:pPr>
            <a:r>
              <a:t>       CPU缓存: 连续内存访问最大化L1/L2缓存命中率</a:t>
            </a:r>
          </a:p>
          <a:p>
            <a:pPr>
              <a:spcAft>
                <a:spcPts val="400"/>
              </a:spcAft>
              <a:defRPr sz="1300">
                <a:solidFill>
                  <a:srgbClr val="BBBBCC"/>
                </a:solidFill>
                <a:latin typeface="Microsoft YaHei"/>
              </a:defRPr>
            </a:pPr>
            <a:r>
              <a:t>       + C编译代码, 省略类型检查, GIL释放</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Q10. 什么是Data Leakage，说明错误使用StandardScaler时如何发生。</a:t>
            </a:r>
          </a:p>
          <a:p>
            <a:pPr>
              <a:spcAft>
                <a:spcPts val="400"/>
              </a:spcAft>
              <a:defRPr sz="1300">
                <a:solidFill>
                  <a:srgbClr val="BBBBCC"/>
                </a:solidFill>
                <a:latin typeface="Microsoft YaHei"/>
              </a:defRPr>
            </a:pPr>
            <a:r>
              <a:t>    -&gt; 测试数据的信息泄露到训练中的现象。</a:t>
            </a:r>
          </a:p>
          <a:p>
            <a:pPr>
              <a:spcAft>
                <a:spcPts val="400"/>
              </a:spcAft>
              <a:defRPr sz="1300">
                <a:solidFill>
                  <a:srgbClr val="BBBBCC"/>
                </a:solidFill>
                <a:latin typeface="Microsoft YaHei"/>
              </a:defRPr>
            </a:pPr>
            <a:r>
              <a:t>       错误: scaler.fit_transform(X_all) -&gt; 测试的均值/标准差反映到训练中</a:t>
            </a:r>
          </a:p>
          <a:p>
            <a:pPr>
              <a:spcAft>
                <a:spcPts val="400"/>
              </a:spcAft>
              <a:defRPr sz="1300">
                <a:solidFill>
                  <a:srgbClr val="BBBBCC"/>
                </a:solidFill>
                <a:latin typeface="Microsoft YaHei"/>
              </a:defRPr>
            </a:pPr>
            <a:r>
              <a:t>       正确: scaler.fit_transform(X_train) 后 scaler.transform(X_test)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9</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第3章核心关键词总结</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一页看完第3章的全部内容</a:t>
            </a:r>
          </a:p>
        </p:txBody>
      </p:sp>
      <p:sp>
        <p:nvSpPr>
          <p:cNvPr id="6" name="Rounded Rectangle 5"/>
          <p:cNvSpPr/>
          <p:nvPr/>
        </p:nvSpPr>
        <p:spPr>
          <a:xfrm>
            <a:off x="548640" y="1828800"/>
            <a:ext cx="3474720" cy="2011680"/>
          </a:xfrm>
          <a:prstGeom prst="roundRect">
            <a:avLst>
              <a:gd name="adj" fmla="val 5000"/>
            </a:avLst>
          </a:prstGeom>
          <a:solidFill>
            <a:srgbClr val="25253D"/>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20240"/>
            <a:ext cx="3108960" cy="365760"/>
          </a:xfrm>
          <a:prstGeom prst="rect">
            <a:avLst/>
          </a:prstGeom>
          <a:noFill/>
        </p:spPr>
        <p:txBody>
          <a:bodyPr wrap="square">
            <a:spAutoFit/>
          </a:bodyPr>
          <a:lstStyle/>
          <a:p>
            <a:pPr algn="l">
              <a:defRPr sz="1500" b="1">
                <a:solidFill>
                  <a:srgbClr val="00D2FF"/>
                </a:solidFill>
                <a:latin typeface="Microsoft YaHei"/>
              </a:defRPr>
            </a:pPr>
            <a:r>
              <a:t>NumPy</a:t>
            </a:r>
          </a:p>
        </p:txBody>
      </p:sp>
      <p:sp>
        <p:nvSpPr>
          <p:cNvPr id="8" name="TextBox 7"/>
          <p:cNvSpPr txBox="1"/>
          <p:nvPr/>
        </p:nvSpPr>
        <p:spPr>
          <a:xfrm>
            <a:off x="731520" y="2286000"/>
            <a:ext cx="3108960" cy="1463040"/>
          </a:xfrm>
          <a:prstGeom prst="rect">
            <a:avLst/>
          </a:prstGeom>
          <a:noFill/>
        </p:spPr>
        <p:txBody>
          <a:bodyPr wrap="square">
            <a:spAutoFit/>
          </a:bodyPr>
          <a:lstStyle/>
          <a:p>
            <a:pPr>
              <a:spcAft>
                <a:spcPts val="400"/>
              </a:spcAft>
              <a:defRPr sz="1300">
                <a:solidFill>
                  <a:srgbClr val="BBBBCC"/>
                </a:solidFill>
                <a:latin typeface="Microsoft YaHei"/>
              </a:defRPr>
            </a:pPr>
            <a:r>
              <a:t>ndarray, stride, dtype</a:t>
            </a:r>
          </a:p>
          <a:p>
            <a:pPr>
              <a:spcAft>
                <a:spcPts val="400"/>
              </a:spcAft>
              <a:defRPr sz="1300">
                <a:solidFill>
                  <a:srgbClr val="BBBBCC"/>
                </a:solidFill>
                <a:latin typeface="Microsoft YaHei"/>
              </a:defRPr>
            </a:pPr>
            <a:r>
              <a:t>C-order/F-order</a:t>
            </a:r>
          </a:p>
          <a:p>
            <a:pPr>
              <a:spcAft>
                <a:spcPts val="400"/>
              </a:spcAft>
              <a:defRPr sz="1300">
                <a:solidFill>
                  <a:srgbClr val="BBBBCC"/>
                </a:solidFill>
                <a:latin typeface="Microsoft YaHei"/>
              </a:defRPr>
            </a:pPr>
            <a:r>
              <a:t>广播3条规则</a:t>
            </a:r>
          </a:p>
          <a:p>
            <a:pPr>
              <a:spcAft>
                <a:spcPts val="400"/>
              </a:spcAft>
              <a:defRPr sz="1300">
                <a:solidFill>
                  <a:srgbClr val="BBBBCC"/>
                </a:solidFill>
                <a:latin typeface="Microsoft YaHei"/>
              </a:defRPr>
            </a:pPr>
            <a:r>
              <a:t>ufunc, 向量化</a:t>
            </a:r>
          </a:p>
          <a:p>
            <a:pPr>
              <a:spcAft>
                <a:spcPts val="400"/>
              </a:spcAft>
              <a:defRPr sz="1300">
                <a:solidFill>
                  <a:srgbClr val="BBBBCC"/>
                </a:solidFill>
                <a:latin typeface="Microsoft YaHei"/>
              </a:defRPr>
            </a:pPr>
            <a:r>
              <a:t>SVD, 特征值分解, 正规方程</a:t>
            </a:r>
          </a:p>
        </p:txBody>
      </p:sp>
      <p:sp>
        <p:nvSpPr>
          <p:cNvPr id="9" name="Rounded Rectangle 8"/>
          <p:cNvSpPr/>
          <p:nvPr/>
        </p:nvSpPr>
        <p:spPr>
          <a:xfrm>
            <a:off x="4297680" y="1828800"/>
            <a:ext cx="3474720" cy="2011680"/>
          </a:xfrm>
          <a:prstGeom prst="roundRect">
            <a:avLst>
              <a:gd name="adj" fmla="val 5000"/>
            </a:avLst>
          </a:prstGeom>
          <a:solidFill>
            <a:srgbClr val="25253D"/>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1920240"/>
            <a:ext cx="3108960" cy="365760"/>
          </a:xfrm>
          <a:prstGeom prst="rect">
            <a:avLst/>
          </a:prstGeom>
          <a:noFill/>
        </p:spPr>
        <p:txBody>
          <a:bodyPr wrap="square">
            <a:spAutoFit/>
          </a:bodyPr>
          <a:lstStyle/>
          <a:p>
            <a:pPr algn="l">
              <a:defRPr sz="1500" b="1">
                <a:solidFill>
                  <a:srgbClr val="FF8C00"/>
                </a:solidFill>
                <a:latin typeface="Microsoft YaHei"/>
              </a:defRPr>
            </a:pPr>
            <a:r>
              <a:t>Pandas</a:t>
            </a:r>
          </a:p>
        </p:txBody>
      </p:sp>
      <p:sp>
        <p:nvSpPr>
          <p:cNvPr id="11" name="TextBox 10"/>
          <p:cNvSpPr txBox="1"/>
          <p:nvPr/>
        </p:nvSpPr>
        <p:spPr>
          <a:xfrm>
            <a:off x="4480560" y="2286000"/>
            <a:ext cx="3108960" cy="1463040"/>
          </a:xfrm>
          <a:prstGeom prst="rect">
            <a:avLst/>
          </a:prstGeom>
          <a:noFill/>
        </p:spPr>
        <p:txBody>
          <a:bodyPr wrap="square">
            <a:spAutoFit/>
          </a:bodyPr>
          <a:lstStyle/>
          <a:p>
            <a:pPr>
              <a:spcAft>
                <a:spcPts val="400"/>
              </a:spcAft>
              <a:defRPr sz="1300">
                <a:solidFill>
                  <a:srgbClr val="BBBBCC"/>
                </a:solidFill>
                <a:latin typeface="Microsoft YaHei"/>
              </a:defRPr>
            </a:pPr>
            <a:r>
              <a:t>DataFrame, Series</a:t>
            </a:r>
          </a:p>
          <a:p>
            <a:pPr>
              <a:spcAft>
                <a:spcPts val="400"/>
              </a:spcAft>
              <a:defRPr sz="1300">
                <a:solidFill>
                  <a:srgbClr val="BBBBCC"/>
                </a:solidFill>
                <a:latin typeface="Microsoft YaHei"/>
              </a:defRPr>
            </a:pPr>
            <a:r>
              <a:t>loc/iloc, query</a:t>
            </a:r>
          </a:p>
          <a:p>
            <a:pPr>
              <a:spcAft>
                <a:spcPts val="400"/>
              </a:spcAft>
              <a:defRPr sz="1300">
                <a:solidFill>
                  <a:srgbClr val="BBBBCC"/>
                </a:solidFill>
                <a:latin typeface="Microsoft YaHei"/>
              </a:defRPr>
            </a:pPr>
            <a:r>
              <a:t>方法链, pipe()</a:t>
            </a:r>
          </a:p>
          <a:p>
            <a:pPr>
              <a:spcAft>
                <a:spcPts val="400"/>
              </a:spcAft>
              <a:defRPr sz="1300">
                <a:solidFill>
                  <a:srgbClr val="BBBBCC"/>
                </a:solidFill>
                <a:latin typeface="Microsoft YaHei"/>
              </a:defRPr>
            </a:pPr>
            <a:r>
              <a:t>GroupBy: agg/transform/apply</a:t>
            </a:r>
          </a:p>
          <a:p>
            <a:pPr>
              <a:spcAft>
                <a:spcPts val="400"/>
              </a:spcAft>
              <a:defRPr sz="1300">
                <a:solidFill>
                  <a:srgbClr val="BBBBCC"/>
                </a:solidFill>
                <a:latin typeface="Microsoft YaHei"/>
              </a:defRPr>
            </a:pPr>
            <a:r>
              <a:t>merge/join, pivot/melt</a:t>
            </a:r>
          </a:p>
        </p:txBody>
      </p:sp>
      <p:sp>
        <p:nvSpPr>
          <p:cNvPr id="12" name="Rounded Rectangle 11"/>
          <p:cNvSpPr/>
          <p:nvPr/>
        </p:nvSpPr>
        <p:spPr>
          <a:xfrm>
            <a:off x="8046720" y="1828800"/>
            <a:ext cx="3474720" cy="201168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920240"/>
            <a:ext cx="3108960" cy="365760"/>
          </a:xfrm>
          <a:prstGeom prst="rect">
            <a:avLst/>
          </a:prstGeom>
          <a:noFill/>
        </p:spPr>
        <p:txBody>
          <a:bodyPr wrap="square">
            <a:spAutoFit/>
          </a:bodyPr>
          <a:lstStyle/>
          <a:p>
            <a:pPr algn="l">
              <a:defRPr sz="1500" b="1">
                <a:solidFill>
                  <a:srgbClr val="00E696"/>
                </a:solidFill>
                <a:latin typeface="Microsoft YaHei"/>
              </a:defRPr>
            </a:pPr>
            <a:r>
              <a:t>数据预处理</a:t>
            </a:r>
          </a:p>
        </p:txBody>
      </p:sp>
      <p:sp>
        <p:nvSpPr>
          <p:cNvPr id="14" name="TextBox 13"/>
          <p:cNvSpPr txBox="1"/>
          <p:nvPr/>
        </p:nvSpPr>
        <p:spPr>
          <a:xfrm>
            <a:off x="8229600" y="2286000"/>
            <a:ext cx="3108960" cy="1463040"/>
          </a:xfrm>
          <a:prstGeom prst="rect">
            <a:avLst/>
          </a:prstGeom>
          <a:noFill/>
        </p:spPr>
        <p:txBody>
          <a:bodyPr wrap="square">
            <a:spAutoFit/>
          </a:bodyPr>
          <a:lstStyle/>
          <a:p>
            <a:pPr>
              <a:spcAft>
                <a:spcPts val="400"/>
              </a:spcAft>
              <a:defRPr sz="1300">
                <a:solidFill>
                  <a:srgbClr val="BBBBCC"/>
                </a:solidFill>
                <a:latin typeface="Microsoft YaHei"/>
              </a:defRPr>
            </a:pPr>
            <a:r>
              <a:t>缺失值5种策略</a:t>
            </a:r>
          </a:p>
          <a:p>
            <a:pPr>
              <a:spcAft>
                <a:spcPts val="400"/>
              </a:spcAft>
              <a:defRPr sz="1300">
                <a:solidFill>
                  <a:srgbClr val="BBBBCC"/>
                </a:solidFill>
                <a:latin typeface="Microsoft YaHei"/>
              </a:defRPr>
            </a:pPr>
            <a:r>
              <a:t>异常值: IQR, Z-score</a:t>
            </a:r>
          </a:p>
          <a:p>
            <a:pPr>
              <a:spcAft>
                <a:spcPts val="400"/>
              </a:spcAft>
              <a:defRPr sz="1300">
                <a:solidFill>
                  <a:srgbClr val="BBBBCC"/>
                </a:solidFill>
                <a:latin typeface="Microsoft YaHei"/>
              </a:defRPr>
            </a:pPr>
            <a:r>
              <a:t>缩放: Standard/MinMax/Robust</a:t>
            </a:r>
          </a:p>
          <a:p>
            <a:pPr>
              <a:spcAft>
                <a:spcPts val="400"/>
              </a:spcAft>
              <a:defRPr sz="1300">
                <a:solidFill>
                  <a:srgbClr val="BBBBCC"/>
                </a:solidFill>
                <a:latin typeface="Microsoft YaHei"/>
              </a:defRPr>
            </a:pPr>
            <a:r>
              <a:t>编码: Label/OneHot/Ordinal</a:t>
            </a:r>
          </a:p>
          <a:p>
            <a:pPr>
              <a:spcAft>
                <a:spcPts val="400"/>
              </a:spcAft>
              <a:defRPr sz="1300">
                <a:solidFill>
                  <a:srgbClr val="BBBBCC"/>
                </a:solidFill>
                <a:latin typeface="Microsoft YaHei"/>
              </a:defRPr>
            </a:pPr>
            <a:r>
              <a:t>Data Leakage防止</a:t>
            </a:r>
          </a:p>
        </p:txBody>
      </p:sp>
      <p:sp>
        <p:nvSpPr>
          <p:cNvPr id="15" name="Rounded Rectangle 14"/>
          <p:cNvSpPr/>
          <p:nvPr/>
        </p:nvSpPr>
        <p:spPr>
          <a:xfrm>
            <a:off x="548640" y="4114800"/>
            <a:ext cx="3474720" cy="2011680"/>
          </a:xfrm>
          <a:prstGeom prst="roundRect">
            <a:avLst>
              <a:gd name="adj" fmla="val 5000"/>
            </a:avLst>
          </a:prstGeom>
          <a:solidFill>
            <a:srgbClr val="25253D"/>
          </a:solidFill>
          <a:ln w="12700">
            <a:solidFill>
              <a:srgbClr val="A06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06240"/>
            <a:ext cx="3108960" cy="365760"/>
          </a:xfrm>
          <a:prstGeom prst="rect">
            <a:avLst/>
          </a:prstGeom>
          <a:noFill/>
        </p:spPr>
        <p:txBody>
          <a:bodyPr wrap="square">
            <a:spAutoFit/>
          </a:bodyPr>
          <a:lstStyle/>
          <a:p>
            <a:pPr algn="l">
              <a:defRPr sz="1500" b="1">
                <a:solidFill>
                  <a:srgbClr val="A06CFF"/>
                </a:solidFill>
                <a:latin typeface="Microsoft YaHei"/>
              </a:defRPr>
            </a:pPr>
            <a:r>
              <a:t>Tidy Data</a:t>
            </a:r>
          </a:p>
        </p:txBody>
      </p:sp>
      <p:sp>
        <p:nvSpPr>
          <p:cNvPr id="17" name="TextBox 16"/>
          <p:cNvSpPr txBox="1"/>
          <p:nvPr/>
        </p:nvSpPr>
        <p:spPr>
          <a:xfrm>
            <a:off x="731520" y="4572000"/>
            <a:ext cx="3108960" cy="1463040"/>
          </a:xfrm>
          <a:prstGeom prst="rect">
            <a:avLst/>
          </a:prstGeom>
          <a:noFill/>
        </p:spPr>
        <p:txBody>
          <a:bodyPr wrap="square">
            <a:spAutoFit/>
          </a:bodyPr>
          <a:lstStyle/>
          <a:p>
            <a:pPr>
              <a:spcAft>
                <a:spcPts val="400"/>
              </a:spcAft>
              <a:defRPr sz="1300">
                <a:solidFill>
                  <a:srgbClr val="BBBBCC"/>
                </a:solidFill>
                <a:latin typeface="Microsoft YaHei"/>
              </a:defRPr>
            </a:pPr>
            <a:r>
              <a:t>Wickham 2014</a:t>
            </a:r>
          </a:p>
          <a:p>
            <a:pPr>
              <a:spcAft>
                <a:spcPts val="400"/>
              </a:spcAft>
              <a:defRPr sz="1300">
                <a:solidFill>
                  <a:srgbClr val="BBBBCC"/>
                </a:solidFill>
                <a:latin typeface="Microsoft YaHei"/>
              </a:defRPr>
            </a:pPr>
            <a:r>
              <a:t>变量=列, 观测=行</a:t>
            </a:r>
          </a:p>
          <a:p>
            <a:pPr>
              <a:spcAft>
                <a:spcPts val="400"/>
              </a:spcAft>
              <a:defRPr sz="1300">
                <a:solidFill>
                  <a:srgbClr val="BBBBCC"/>
                </a:solidFill>
                <a:latin typeface="Microsoft YaHei"/>
              </a:defRPr>
            </a:pPr>
            <a:r>
              <a:t>观测单位=表</a:t>
            </a:r>
          </a:p>
          <a:p>
            <a:pPr>
              <a:spcAft>
                <a:spcPts val="400"/>
              </a:spcAft>
              <a:defRPr sz="1300">
                <a:solidFill>
                  <a:srgbClr val="BBBBCC"/>
                </a:solidFill>
                <a:latin typeface="Microsoft YaHei"/>
              </a:defRPr>
            </a:pPr>
            <a:r>
              <a:t>melt(wide-&gt;long)</a:t>
            </a:r>
          </a:p>
          <a:p>
            <a:pPr>
              <a:spcAft>
                <a:spcPts val="400"/>
              </a:spcAft>
              <a:defRPr sz="1300">
                <a:solidFill>
                  <a:srgbClr val="BBBBCC"/>
                </a:solidFill>
                <a:latin typeface="Microsoft YaHei"/>
              </a:defRPr>
            </a:pPr>
            <a:r>
              <a:t>pivot(long-&gt;wide)</a:t>
            </a:r>
          </a:p>
        </p:txBody>
      </p:sp>
      <p:sp>
        <p:nvSpPr>
          <p:cNvPr id="18" name="Rounded Rectangle 17"/>
          <p:cNvSpPr/>
          <p:nvPr/>
        </p:nvSpPr>
        <p:spPr>
          <a:xfrm>
            <a:off x="4297680" y="4114800"/>
            <a:ext cx="3474720" cy="2011680"/>
          </a:xfrm>
          <a:prstGeom prst="roundRect">
            <a:avLst>
              <a:gd name="adj" fmla="val 5000"/>
            </a:avLst>
          </a:prstGeom>
          <a:solidFill>
            <a:srgbClr val="25253D"/>
          </a:solidFill>
          <a:ln w="12700">
            <a:solidFill>
              <a:srgbClr val="FF4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80560" y="4206240"/>
            <a:ext cx="3108960" cy="365760"/>
          </a:xfrm>
          <a:prstGeom prst="rect">
            <a:avLst/>
          </a:prstGeom>
          <a:noFill/>
        </p:spPr>
        <p:txBody>
          <a:bodyPr wrap="square">
            <a:spAutoFit/>
          </a:bodyPr>
          <a:lstStyle/>
          <a:p>
            <a:pPr algn="l">
              <a:defRPr sz="1500" b="1">
                <a:solidFill>
                  <a:srgbClr val="FF4545"/>
                </a:solidFill>
                <a:latin typeface="Microsoft YaHei"/>
              </a:defRPr>
            </a:pPr>
            <a:r>
              <a:t>向量化 vs 循环</a:t>
            </a:r>
          </a:p>
        </p:txBody>
      </p:sp>
      <p:sp>
        <p:nvSpPr>
          <p:cNvPr id="20" name="TextBox 19"/>
          <p:cNvSpPr txBox="1"/>
          <p:nvPr/>
        </p:nvSpPr>
        <p:spPr>
          <a:xfrm>
            <a:off x="4480560" y="4572000"/>
            <a:ext cx="3108960" cy="1463040"/>
          </a:xfrm>
          <a:prstGeom prst="rect">
            <a:avLst/>
          </a:prstGeom>
          <a:noFill/>
        </p:spPr>
        <p:txBody>
          <a:bodyPr wrap="square">
            <a:spAutoFit/>
          </a:bodyPr>
          <a:lstStyle/>
          <a:p>
            <a:pPr>
              <a:spcAft>
                <a:spcPts val="400"/>
              </a:spcAft>
              <a:defRPr sz="1300">
                <a:solidFill>
                  <a:srgbClr val="BBBBCC"/>
                </a:solidFill>
                <a:latin typeface="Microsoft YaHei"/>
              </a:defRPr>
            </a:pPr>
            <a:r>
              <a:t>100~1000倍速度提升</a:t>
            </a:r>
          </a:p>
          <a:p>
            <a:pPr>
              <a:spcAft>
                <a:spcPts val="400"/>
              </a:spcAft>
              <a:defRPr sz="1300">
                <a:solidFill>
                  <a:srgbClr val="BBBBCC"/>
                </a:solidFill>
                <a:latin typeface="Microsoft YaHei"/>
              </a:defRPr>
            </a:pPr>
            <a:r>
              <a:t>SIMD, CPU缓存</a:t>
            </a:r>
          </a:p>
          <a:p>
            <a:pPr>
              <a:spcAft>
                <a:spcPts val="400"/>
              </a:spcAft>
              <a:defRPr sz="1300">
                <a:solidFill>
                  <a:srgbClr val="BBBBCC"/>
                </a:solidFill>
                <a:latin typeface="Microsoft YaHei"/>
              </a:defRPr>
            </a:pPr>
            <a:r>
              <a:t>C编译, 省略类型检查</a:t>
            </a:r>
          </a:p>
          <a:p>
            <a:pPr>
              <a:spcAft>
                <a:spcPts val="400"/>
              </a:spcAft>
              <a:defRPr sz="1300">
                <a:solidFill>
                  <a:srgbClr val="BBBBCC"/>
                </a:solidFill>
                <a:latin typeface="Microsoft YaHei"/>
              </a:defRPr>
            </a:pPr>
            <a:r>
              <a:t>GIL释放, BLAS/LAPACK</a:t>
            </a:r>
          </a:p>
          <a:p>
            <a:pPr>
              <a:spcAft>
                <a:spcPts val="400"/>
              </a:spcAft>
              <a:defRPr sz="1300">
                <a:solidFill>
                  <a:srgbClr val="BBBBCC"/>
                </a:solidFill>
                <a:latin typeface="Microsoft YaHei"/>
              </a:defRPr>
            </a:pPr>
            <a:r>
              <a:t>Numba JIT替代方案</a:t>
            </a:r>
          </a:p>
        </p:txBody>
      </p:sp>
      <p:sp>
        <p:nvSpPr>
          <p:cNvPr id="21" name="Rounded Rectangle 20"/>
          <p:cNvSpPr/>
          <p:nvPr/>
        </p:nvSpPr>
        <p:spPr>
          <a:xfrm>
            <a:off x="8046720" y="4114800"/>
            <a:ext cx="3474720" cy="2011680"/>
          </a:xfrm>
          <a:prstGeom prst="roundRect">
            <a:avLst>
              <a:gd name="adj" fmla="val 5000"/>
            </a:avLst>
          </a:prstGeom>
          <a:solidFill>
            <a:srgbClr val="25253D"/>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4206240"/>
            <a:ext cx="3108960" cy="365760"/>
          </a:xfrm>
          <a:prstGeom prst="rect">
            <a:avLst/>
          </a:prstGeom>
          <a:noFill/>
        </p:spPr>
        <p:txBody>
          <a:bodyPr wrap="square">
            <a:spAutoFit/>
          </a:bodyPr>
          <a:lstStyle/>
          <a:p>
            <a:pPr algn="l">
              <a:defRPr sz="1500" b="1">
                <a:solidFill>
                  <a:srgbClr val="0096FF"/>
                </a:solidFill>
                <a:latin typeface="Microsoft YaHei"/>
              </a:defRPr>
            </a:pPr>
            <a:r>
              <a:t>5篇论文</a:t>
            </a:r>
          </a:p>
        </p:txBody>
      </p:sp>
      <p:sp>
        <p:nvSpPr>
          <p:cNvPr id="23" name="TextBox 22"/>
          <p:cNvSpPr txBox="1"/>
          <p:nvPr/>
        </p:nvSpPr>
        <p:spPr>
          <a:xfrm>
            <a:off x="8229600" y="4572000"/>
            <a:ext cx="3108960" cy="1463040"/>
          </a:xfrm>
          <a:prstGeom prst="rect">
            <a:avLst/>
          </a:prstGeom>
          <a:noFill/>
        </p:spPr>
        <p:txBody>
          <a:bodyPr wrap="square">
            <a:spAutoFit/>
          </a:bodyPr>
          <a:lstStyle/>
          <a:p>
            <a:pPr>
              <a:spcAft>
                <a:spcPts val="400"/>
              </a:spcAft>
              <a:defRPr sz="1300">
                <a:solidFill>
                  <a:srgbClr val="BBBBCC"/>
                </a:solidFill>
                <a:latin typeface="Microsoft YaHei"/>
              </a:defRPr>
            </a:pPr>
            <a:r>
              <a:t>McKinney (2010): Pandas</a:t>
            </a:r>
          </a:p>
          <a:p>
            <a:pPr>
              <a:spcAft>
                <a:spcPts val="400"/>
              </a:spcAft>
              <a:defRPr sz="1300">
                <a:solidFill>
                  <a:srgbClr val="BBBBCC"/>
                </a:solidFill>
                <a:latin typeface="Microsoft YaHei"/>
              </a:defRPr>
            </a:pPr>
            <a:r>
              <a:t>Walt et al. (2011): ndarray</a:t>
            </a:r>
          </a:p>
          <a:p>
            <a:pPr>
              <a:spcAft>
                <a:spcPts val="400"/>
              </a:spcAft>
              <a:defRPr sz="1300">
                <a:solidFill>
                  <a:srgbClr val="BBBBCC"/>
                </a:solidFill>
                <a:latin typeface="Microsoft YaHei"/>
              </a:defRPr>
            </a:pPr>
            <a:r>
              <a:t>Harris et al. (2020): NumPy Nature</a:t>
            </a:r>
          </a:p>
          <a:p>
            <a:pPr>
              <a:spcAft>
                <a:spcPts val="400"/>
              </a:spcAft>
              <a:defRPr sz="1300">
                <a:solidFill>
                  <a:srgbClr val="BBBBCC"/>
                </a:solidFill>
                <a:latin typeface="Microsoft YaHei"/>
              </a:defRPr>
            </a:pPr>
            <a:r>
              <a:t>Reback et al. (2020): Pandas官方</a:t>
            </a:r>
          </a:p>
          <a:p>
            <a:pPr>
              <a:spcAft>
                <a:spcPts val="400"/>
              </a:spcAft>
              <a:defRPr sz="1300">
                <a:solidFill>
                  <a:srgbClr val="BBBBCC"/>
                </a:solidFill>
                <a:latin typeface="Microsoft YaHei"/>
              </a:defRPr>
            </a:pPr>
            <a:r>
              <a:t>Wickham (2014): Tidy Data</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9</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内存相关整理: View/Copy &amp; 优化</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NumPy与Pandas的内存效率策略</a:t>
            </a:r>
          </a:p>
        </p:txBody>
      </p:sp>
      <p:sp>
        <p:nvSpPr>
          <p:cNvPr id="6" name="Rounded Rectangle 5"/>
          <p:cNvSpPr/>
          <p:nvPr/>
        </p:nvSpPr>
        <p:spPr>
          <a:xfrm>
            <a:off x="548640" y="1828800"/>
            <a:ext cx="5303520" cy="2286000"/>
          </a:xfrm>
          <a:prstGeom prst="roundRect">
            <a:avLst>
              <a:gd name="adj" fmla="val 5000"/>
            </a:avLst>
          </a:prstGeom>
          <a:solidFill>
            <a:srgbClr val="25253D"/>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20240"/>
            <a:ext cx="4937760" cy="365760"/>
          </a:xfrm>
          <a:prstGeom prst="rect">
            <a:avLst/>
          </a:prstGeom>
          <a:noFill/>
        </p:spPr>
        <p:txBody>
          <a:bodyPr wrap="square">
            <a:spAutoFit/>
          </a:bodyPr>
          <a:lstStyle/>
          <a:p>
            <a:pPr algn="l">
              <a:defRPr sz="1500" b="1">
                <a:solidFill>
                  <a:srgbClr val="00D2FF"/>
                </a:solidFill>
                <a:latin typeface="Microsoft YaHei"/>
              </a:defRPr>
            </a:pPr>
            <a:r>
              <a:t>NumPy View vs Copy整理</a:t>
            </a:r>
          </a:p>
        </p:txBody>
      </p:sp>
      <p:sp>
        <p:nvSpPr>
          <p:cNvPr id="8" name="TextBox 7"/>
          <p:cNvSpPr txBox="1"/>
          <p:nvPr/>
        </p:nvSpPr>
        <p:spPr>
          <a:xfrm>
            <a:off x="731520" y="2286000"/>
            <a:ext cx="4937760" cy="1737360"/>
          </a:xfrm>
          <a:prstGeom prst="rect">
            <a:avLst/>
          </a:prstGeom>
          <a:noFill/>
        </p:spPr>
        <p:txBody>
          <a:bodyPr wrap="square">
            <a:spAutoFit/>
          </a:bodyPr>
          <a:lstStyle/>
          <a:p>
            <a:pPr>
              <a:spcAft>
                <a:spcPts val="400"/>
              </a:spcAft>
              <a:defRPr sz="1300">
                <a:solidFill>
                  <a:srgbClr val="BBBBCC"/>
                </a:solidFill>
                <a:latin typeface="Microsoft YaHei"/>
              </a:defRPr>
            </a:pPr>
            <a:r>
              <a:t>View (共享内存): 切片, 转置, reshape, ravel</a:t>
            </a:r>
          </a:p>
          <a:p>
            <a:pPr>
              <a:spcAft>
                <a:spcPts val="400"/>
              </a:spcAft>
              <a:defRPr sz="1300">
                <a:solidFill>
                  <a:srgbClr val="BBBBCC"/>
                </a:solidFill>
                <a:latin typeface="Microsoft YaHei"/>
              </a:defRPr>
            </a:pPr>
            <a:r>
              <a:t>Copy (独立内存): 花式索引, 布尔索引, flatten, copy()</a:t>
            </a:r>
          </a:p>
          <a:p>
            <a:pPr>
              <a:spcAft>
                <a:spcPts val="400"/>
              </a:spcAft>
              <a:defRPr sz="1300">
                <a:solidFill>
                  <a:srgbClr val="BBBBCC"/>
                </a:solidFill>
                <a:latin typeface="Microsoft YaHei"/>
              </a:defRPr>
            </a:pPr>
            <a:r>
              <a:t>检查: np.shares_memory(a, b)</a:t>
            </a:r>
          </a:p>
          <a:p>
            <a:pPr>
              <a:spcAft>
                <a:spcPts val="400"/>
              </a:spcAft>
              <a:defRPr sz="1300">
                <a:solidFill>
                  <a:srgbClr val="BBBBCC"/>
                </a:solidFill>
                <a:latin typeface="Microsoft YaHei"/>
              </a:defRPr>
            </a:pPr>
            <a:r>
              <a:t>注意: 修改View时原始数据也会改变!</a:t>
            </a:r>
          </a:p>
        </p:txBody>
      </p:sp>
      <p:sp>
        <p:nvSpPr>
          <p:cNvPr id="9" name="Rounded Rectangle 8"/>
          <p:cNvSpPr/>
          <p:nvPr/>
        </p:nvSpPr>
        <p:spPr>
          <a:xfrm>
            <a:off x="6217920" y="1828800"/>
            <a:ext cx="5303520" cy="2286000"/>
          </a:xfrm>
          <a:prstGeom prst="roundRect">
            <a:avLst>
              <a:gd name="adj" fmla="val 5000"/>
            </a:avLst>
          </a:prstGeom>
          <a:solidFill>
            <a:srgbClr val="25253D"/>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937760" cy="365760"/>
          </a:xfrm>
          <a:prstGeom prst="rect">
            <a:avLst/>
          </a:prstGeom>
          <a:noFill/>
        </p:spPr>
        <p:txBody>
          <a:bodyPr wrap="square">
            <a:spAutoFit/>
          </a:bodyPr>
          <a:lstStyle/>
          <a:p>
            <a:pPr algn="l">
              <a:defRPr sz="1500" b="1">
                <a:solidFill>
                  <a:srgbClr val="FF8C00"/>
                </a:solidFill>
                <a:latin typeface="Microsoft YaHei"/>
              </a:defRPr>
            </a:pPr>
            <a:r>
              <a:t>Pandas内存优化</a:t>
            </a:r>
          </a:p>
        </p:txBody>
      </p:sp>
      <p:sp>
        <p:nvSpPr>
          <p:cNvPr id="11" name="TextBox 10"/>
          <p:cNvSpPr txBox="1"/>
          <p:nvPr/>
        </p:nvSpPr>
        <p:spPr>
          <a:xfrm>
            <a:off x="6400800" y="2286000"/>
            <a:ext cx="4937760" cy="1737360"/>
          </a:xfrm>
          <a:prstGeom prst="rect">
            <a:avLst/>
          </a:prstGeom>
          <a:noFill/>
        </p:spPr>
        <p:txBody>
          <a:bodyPr wrap="square">
            <a:spAutoFit/>
          </a:bodyPr>
          <a:lstStyle/>
          <a:p>
            <a:pPr>
              <a:spcAft>
                <a:spcPts val="400"/>
              </a:spcAft>
              <a:defRPr sz="1300">
                <a:solidFill>
                  <a:srgbClr val="BBBBCC"/>
                </a:solidFill>
                <a:latin typeface="Microsoft YaHei"/>
              </a:defRPr>
            </a:pPr>
            <a:r>
              <a:t>降级: int64-&gt;int32 (节约50~75%)</a:t>
            </a:r>
          </a:p>
          <a:p>
            <a:pPr>
              <a:spcAft>
                <a:spcPts val="400"/>
              </a:spcAft>
              <a:defRPr sz="1300">
                <a:solidFill>
                  <a:srgbClr val="BBBBCC"/>
                </a:solidFill>
                <a:latin typeface="Microsoft YaHei"/>
              </a:defRPr>
            </a:pPr>
            <a:r>
              <a:t>Categorical: object-&gt;category (节约90~99%)</a:t>
            </a:r>
          </a:p>
          <a:p>
            <a:pPr>
              <a:spcAft>
                <a:spcPts val="400"/>
              </a:spcAft>
              <a:defRPr sz="1300">
                <a:solidFill>
                  <a:srgbClr val="BBBBCC"/>
                </a:solidFill>
                <a:latin typeface="Microsoft YaHei"/>
              </a:defRPr>
            </a:pPr>
            <a:r>
              <a:t>Sparse: 大部分为0的数据 (节约90%+)</a:t>
            </a:r>
          </a:p>
          <a:p>
            <a:pPr>
              <a:spcAft>
                <a:spcPts val="400"/>
              </a:spcAft>
              <a:defRPr sz="1300">
                <a:solidFill>
                  <a:srgbClr val="BBBBCC"/>
                </a:solidFill>
                <a:latin typeface="Microsoft YaHei"/>
              </a:defRPr>
            </a:pPr>
            <a:r>
              <a:t>分块读取: chunksize参数 (在RAM限制内)</a:t>
            </a:r>
          </a:p>
        </p:txBody>
      </p:sp>
      <p:sp>
        <p:nvSpPr>
          <p:cNvPr id="12" name="Rounded Rectangle 11"/>
          <p:cNvSpPr/>
          <p:nvPr/>
        </p:nvSpPr>
        <p:spPr>
          <a:xfrm>
            <a:off x="548640" y="4389120"/>
            <a:ext cx="10972800" cy="219456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480560"/>
            <a:ext cx="10607040" cy="365760"/>
          </a:xfrm>
          <a:prstGeom prst="rect">
            <a:avLst/>
          </a:prstGeom>
          <a:noFill/>
        </p:spPr>
        <p:txBody>
          <a:bodyPr wrap="square">
            <a:spAutoFit/>
          </a:bodyPr>
          <a:lstStyle/>
          <a:p>
            <a:pPr algn="l">
              <a:defRPr sz="1500" b="1">
                <a:solidFill>
                  <a:srgbClr val="00E696"/>
                </a:solidFill>
                <a:latin typeface="Microsoft YaHei"/>
              </a:defRPr>
            </a:pPr>
            <a:r>
              <a:t>np.memmap: 内存映射文件</a:t>
            </a:r>
          </a:p>
        </p:txBody>
      </p:sp>
      <p:sp>
        <p:nvSpPr>
          <p:cNvPr id="14" name="TextBox 13"/>
          <p:cNvSpPr txBox="1"/>
          <p:nvPr/>
        </p:nvSpPr>
        <p:spPr>
          <a:xfrm>
            <a:off x="731520" y="4846320"/>
            <a:ext cx="10607040" cy="1645920"/>
          </a:xfrm>
          <a:prstGeom prst="rect">
            <a:avLst/>
          </a:prstGeom>
          <a:noFill/>
        </p:spPr>
        <p:txBody>
          <a:bodyPr wrap="square">
            <a:spAutoFit/>
          </a:bodyPr>
          <a:lstStyle/>
          <a:p>
            <a:pPr>
              <a:spcAft>
                <a:spcPts val="400"/>
              </a:spcAft>
              <a:defRPr sz="1300">
                <a:solidFill>
                  <a:srgbClr val="BBBBCC"/>
                </a:solidFill>
                <a:latin typeface="Microsoft YaHei"/>
              </a:defRPr>
            </a:pPr>
            <a:r>
              <a:t>处理大于RAM的数据时使用</a:t>
            </a:r>
          </a:p>
          <a:p>
            <a:pPr>
              <a:spcAft>
                <a:spcPts val="400"/>
              </a:spcAft>
              <a:defRPr sz="1300">
                <a:solidFill>
                  <a:srgbClr val="BBBBCC"/>
                </a:solidFill>
                <a:latin typeface="Microsoft YaHei"/>
              </a:defRPr>
            </a:pPr>
            <a:r>
              <a:t>fp = np.memmap('data.dat', dtype='float32', mode='w+', shape=(1000000, 100))</a:t>
            </a:r>
          </a:p>
          <a:p>
            <a:pPr>
              <a:spcAft>
                <a:spcPts val="400"/>
              </a:spcAft>
              <a:defRPr sz="1300">
                <a:solidFill>
                  <a:srgbClr val="BBBBCC"/>
                </a:solidFill>
                <a:latin typeface="Microsoft YaHei"/>
              </a:defRPr>
            </a:pPr>
            <a:r>
              <a:t>只将需要的部分加载到内存: chunk = fp_read[500:600]</a:t>
            </a:r>
          </a:p>
          <a:p>
            <a:pPr>
              <a:spcAft>
                <a:spcPts val="400"/>
              </a:spcAft>
              <a:defRPr sz="1300">
                <a:solidFill>
                  <a:srgbClr val="BBBBCC"/>
                </a:solidFill>
                <a:latin typeface="Microsoft YaHei"/>
              </a:defRPr>
            </a:pPr>
            <a:r>
              <a:t>scikit-learn的部分算法也支持memmap</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828800" cy="365760"/>
          </a:xfrm>
          <a:prstGeom prst="rect">
            <a:avLst/>
          </a:prstGeom>
          <a:noFill/>
        </p:spPr>
        <p:txBody>
          <a:bodyPr wrap="square">
            <a:spAutoFit/>
          </a:bodyPr>
          <a:lstStyle/>
          <a:p>
            <a:pPr algn="l">
              <a:defRPr sz="1200" b="1">
                <a:solidFill>
                  <a:srgbClr val="0096FF"/>
                </a:solidFill>
                <a:latin typeface="Microsoft YaHei"/>
              </a:defRPr>
            </a:pPr>
            <a:r>
              <a:t>SECTION 9</a:t>
            </a:r>
          </a:p>
        </p:txBody>
      </p:sp>
      <p:sp>
        <p:nvSpPr>
          <p:cNvPr id="4" name="TextBox 3"/>
          <p:cNvSpPr txBox="1"/>
          <p:nvPr/>
        </p:nvSpPr>
        <p:spPr>
          <a:xfrm>
            <a:off x="548640" y="822960"/>
            <a:ext cx="10058400" cy="548640"/>
          </a:xfrm>
          <a:prstGeom prst="rect">
            <a:avLst/>
          </a:prstGeom>
          <a:noFill/>
        </p:spPr>
        <p:txBody>
          <a:bodyPr wrap="square">
            <a:spAutoFit/>
          </a:bodyPr>
          <a:lstStyle/>
          <a:p>
            <a:pPr algn="l">
              <a:defRPr sz="3200" b="1">
                <a:solidFill>
                  <a:srgbClr val="FFFFFF"/>
                </a:solidFill>
                <a:latin typeface="Microsoft YaHei"/>
              </a:defRPr>
            </a:pPr>
            <a:r>
              <a:t>实践提示 &amp; 下一章预览</a:t>
            </a:r>
          </a:p>
        </p:txBody>
      </p:sp>
      <p:sp>
        <p:nvSpPr>
          <p:cNvPr id="5" name="TextBox 4"/>
          <p:cNvSpPr txBox="1"/>
          <p:nvPr/>
        </p:nvSpPr>
        <p:spPr>
          <a:xfrm>
            <a:off x="548640" y="1371600"/>
            <a:ext cx="10058400" cy="365760"/>
          </a:xfrm>
          <a:prstGeom prst="rect">
            <a:avLst/>
          </a:prstGeom>
          <a:noFill/>
        </p:spPr>
        <p:txBody>
          <a:bodyPr wrap="square">
            <a:spAutoFit/>
          </a:bodyPr>
          <a:lstStyle/>
          <a:p>
            <a:pPr algn="l">
              <a:defRPr sz="1600" b="0">
                <a:solidFill>
                  <a:srgbClr val="888899"/>
                </a:solidFill>
                <a:latin typeface="Microsoft YaHei"/>
              </a:defRPr>
            </a:pPr>
            <a:r>
              <a:t>第3章学到的内容如何在第4章之后使用</a:t>
            </a:r>
          </a:p>
        </p:txBody>
      </p:sp>
      <p:sp>
        <p:nvSpPr>
          <p:cNvPr id="6" name="Rounded Rectangle 5"/>
          <p:cNvSpPr/>
          <p:nvPr/>
        </p:nvSpPr>
        <p:spPr>
          <a:xfrm>
            <a:off x="548640" y="1828800"/>
            <a:ext cx="5303520" cy="2286000"/>
          </a:xfrm>
          <a:prstGeom prst="roundRect">
            <a:avLst>
              <a:gd name="adj" fmla="val 5000"/>
            </a:avLst>
          </a:prstGeom>
          <a:solidFill>
            <a:srgbClr val="25253D"/>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20240"/>
            <a:ext cx="4937760" cy="365760"/>
          </a:xfrm>
          <a:prstGeom prst="rect">
            <a:avLst/>
          </a:prstGeom>
          <a:noFill/>
        </p:spPr>
        <p:txBody>
          <a:bodyPr wrap="square">
            <a:spAutoFit/>
          </a:bodyPr>
          <a:lstStyle/>
          <a:p>
            <a:pPr algn="l">
              <a:defRPr sz="1500" b="1">
                <a:solidFill>
                  <a:srgbClr val="00D2FF"/>
                </a:solidFill>
                <a:latin typeface="Microsoft YaHei"/>
              </a:defRPr>
            </a:pPr>
            <a:r>
              <a:t>实践提示 Top 5</a:t>
            </a:r>
          </a:p>
        </p:txBody>
      </p:sp>
      <p:sp>
        <p:nvSpPr>
          <p:cNvPr id="8" name="TextBox 7"/>
          <p:cNvSpPr txBox="1"/>
          <p:nvPr/>
        </p:nvSpPr>
        <p:spPr>
          <a:xfrm>
            <a:off x="731520" y="2286000"/>
            <a:ext cx="4937760" cy="1737360"/>
          </a:xfrm>
          <a:prstGeom prst="rect">
            <a:avLst/>
          </a:prstGeom>
          <a:noFill/>
        </p:spPr>
        <p:txBody>
          <a:bodyPr wrap="square">
            <a:spAutoFit/>
          </a:bodyPr>
          <a:lstStyle/>
          <a:p>
            <a:pPr>
              <a:spcAft>
                <a:spcPts val="400"/>
              </a:spcAft>
              <a:defRPr sz="1300">
                <a:solidFill>
                  <a:srgbClr val="BBBBCC"/>
                </a:solidFill>
                <a:latin typeface="Microsoft YaHei"/>
              </a:defRPr>
            </a:pPr>
            <a:r>
              <a:t>1. 始终使用np.linalg.lstsq() (不推荐逆矩阵)</a:t>
            </a:r>
          </a:p>
          <a:p>
            <a:pPr>
              <a:spcAft>
                <a:spcPts val="400"/>
              </a:spcAft>
              <a:defRPr sz="1300">
                <a:solidFill>
                  <a:srgbClr val="BBBBCC"/>
                </a:solidFill>
                <a:latin typeface="Microsoft YaHei"/>
              </a:defRPr>
            </a:pPr>
            <a:r>
              <a:t>2. StandardScaler: 只在train上fit! (防止Data Leakage)</a:t>
            </a:r>
          </a:p>
          <a:p>
            <a:pPr>
              <a:spcAft>
                <a:spcPts val="400"/>
              </a:spcAft>
              <a:defRPr sz="1300">
                <a:solidFill>
                  <a:srgbClr val="BBBBCC"/>
                </a:solidFill>
                <a:latin typeface="Microsoft YaHei"/>
              </a:defRPr>
            </a:pPr>
            <a:r>
              <a:t>3. 方法链 + pipe()构建易读的管道</a:t>
            </a:r>
          </a:p>
          <a:p>
            <a:pPr>
              <a:spcAft>
                <a:spcPts val="400"/>
              </a:spcAft>
              <a:defRPr sz="1300">
                <a:solidFill>
                  <a:srgbClr val="BBBBCC"/>
                </a:solidFill>
                <a:latin typeface="Microsoft YaHei"/>
              </a:defRPr>
            </a:pPr>
            <a:r>
              <a:t>4. GroupBy transform进行分组预处理 (比整体均值更准确)</a:t>
            </a:r>
          </a:p>
          <a:p>
            <a:pPr>
              <a:spcAft>
                <a:spcPts val="400"/>
              </a:spcAft>
              <a:defRPr sz="1300">
                <a:solidFill>
                  <a:srgbClr val="BBBBCC"/>
                </a:solidFill>
                <a:latin typeface="Microsoft YaHei"/>
              </a:defRPr>
            </a:pPr>
            <a:r>
              <a:t>5. 优先向量化, 无法向量化时才用Numba JIT</a:t>
            </a:r>
          </a:p>
        </p:txBody>
      </p:sp>
      <p:sp>
        <p:nvSpPr>
          <p:cNvPr id="9" name="Rounded Rectangle 8"/>
          <p:cNvSpPr/>
          <p:nvPr/>
        </p:nvSpPr>
        <p:spPr>
          <a:xfrm>
            <a:off x="6217920" y="1828800"/>
            <a:ext cx="5303520" cy="228600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937760" cy="365760"/>
          </a:xfrm>
          <a:prstGeom prst="rect">
            <a:avLst/>
          </a:prstGeom>
          <a:noFill/>
        </p:spPr>
        <p:txBody>
          <a:bodyPr wrap="square">
            <a:spAutoFit/>
          </a:bodyPr>
          <a:lstStyle/>
          <a:p>
            <a:pPr algn="l">
              <a:defRPr sz="1500" b="1">
                <a:solidFill>
                  <a:srgbClr val="00E696"/>
                </a:solidFill>
                <a:latin typeface="Microsoft YaHei"/>
              </a:defRPr>
            </a:pPr>
            <a:r>
              <a:t>第3章的位置: 在ML管道中</a:t>
            </a:r>
          </a:p>
        </p:txBody>
      </p:sp>
      <p:sp>
        <p:nvSpPr>
          <p:cNvPr id="11" name="TextBox 10"/>
          <p:cNvSpPr txBox="1"/>
          <p:nvPr/>
        </p:nvSpPr>
        <p:spPr>
          <a:xfrm>
            <a:off x="6400800" y="2286000"/>
            <a:ext cx="4937760" cy="1737360"/>
          </a:xfrm>
          <a:prstGeom prst="rect">
            <a:avLst/>
          </a:prstGeom>
          <a:noFill/>
        </p:spPr>
        <p:txBody>
          <a:bodyPr wrap="square">
            <a:spAutoFit/>
          </a:bodyPr>
          <a:lstStyle/>
          <a:p>
            <a:pPr>
              <a:spcAft>
                <a:spcPts val="400"/>
              </a:spcAft>
              <a:defRPr sz="1300">
                <a:solidFill>
                  <a:srgbClr val="BBBBCC"/>
                </a:solidFill>
                <a:latin typeface="Microsoft YaHei"/>
              </a:defRPr>
            </a:pPr>
            <a:r>
              <a:t>第1章: ML概述 (定义, 学习类型)</a:t>
            </a:r>
          </a:p>
          <a:p>
            <a:pPr>
              <a:spcAft>
                <a:spcPts val="400"/>
              </a:spcAft>
              <a:defRPr sz="1300">
                <a:solidFill>
                  <a:srgbClr val="BBBBCC"/>
                </a:solidFill>
                <a:latin typeface="Microsoft YaHei"/>
              </a:defRPr>
            </a:pPr>
            <a:r>
              <a:t>第2章: ML项目 (完整管道)</a:t>
            </a:r>
          </a:p>
          <a:p>
            <a:pPr>
              <a:spcAft>
                <a:spcPts val="400"/>
              </a:spcAft>
              <a:defRPr sz="1300">
                <a:solidFill>
                  <a:srgbClr val="BBBBCC"/>
                </a:solidFill>
                <a:latin typeface="Microsoft YaHei"/>
              </a:defRPr>
            </a:pPr>
            <a:r>
              <a:t>第3章: 数据处理 (NumPy + Pandas) [当前]</a:t>
            </a:r>
          </a:p>
          <a:p>
            <a:pPr>
              <a:spcAft>
                <a:spcPts val="400"/>
              </a:spcAft>
              <a:defRPr sz="1300">
                <a:solidFill>
                  <a:srgbClr val="BBBBCC"/>
                </a:solidFill>
                <a:latin typeface="Microsoft YaHei"/>
              </a:defRPr>
            </a:pPr>
            <a:r>
              <a:t>第4章~: 具体ML算法</a:t>
            </a:r>
          </a:p>
          <a:p>
            <a:pPr>
              <a:spcAft>
                <a:spcPts val="400"/>
              </a:spcAft>
              <a:defRPr sz="1300">
                <a:solidFill>
                  <a:srgbClr val="BBBBCC"/>
                </a:solidFill>
                <a:latin typeface="Microsoft YaHei"/>
              </a:defRPr>
            </a:pPr>
          </a:p>
          <a:p>
            <a:pPr>
              <a:spcAft>
                <a:spcPts val="400"/>
              </a:spcAft>
              <a:defRPr sz="1300">
                <a:solidFill>
                  <a:srgbClr val="BBBBCC"/>
                </a:solidFill>
                <a:latin typeface="Microsoft YaHei"/>
              </a:defRPr>
            </a:pPr>
            <a:r>
              <a:t>第3章是所有后续章节的数据处理基础!</a:t>
            </a:r>
          </a:p>
        </p:txBody>
      </p:sp>
      <p:sp>
        <p:nvSpPr>
          <p:cNvPr id="12" name="Rounded Rectangle 11"/>
          <p:cNvSpPr/>
          <p:nvPr/>
        </p:nvSpPr>
        <p:spPr>
          <a:xfrm>
            <a:off x="548640" y="4389120"/>
            <a:ext cx="10972800" cy="2194560"/>
          </a:xfrm>
          <a:prstGeom prst="roundRect">
            <a:avLst>
              <a:gd name="adj" fmla="val 5000"/>
            </a:avLst>
          </a:prstGeom>
          <a:solidFill>
            <a:srgbClr val="25253D"/>
          </a:solidFill>
          <a:ln w="12700">
            <a:solidFill>
              <a:srgbClr val="A06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480560"/>
            <a:ext cx="10607040" cy="365760"/>
          </a:xfrm>
          <a:prstGeom prst="rect">
            <a:avLst/>
          </a:prstGeom>
          <a:noFill/>
        </p:spPr>
        <p:txBody>
          <a:bodyPr wrap="square">
            <a:spAutoFit/>
          </a:bodyPr>
          <a:lstStyle/>
          <a:p>
            <a:pPr algn="l">
              <a:defRPr sz="1500" b="1">
                <a:solidFill>
                  <a:srgbClr val="A06CFF"/>
                </a:solidFill>
                <a:latin typeface="Microsoft YaHei"/>
              </a:defRPr>
            </a:pPr>
            <a:r>
              <a:t>参考文献</a:t>
            </a:r>
          </a:p>
        </p:txBody>
      </p:sp>
      <p:sp>
        <p:nvSpPr>
          <p:cNvPr id="14" name="TextBox 13"/>
          <p:cNvSpPr txBox="1"/>
          <p:nvPr/>
        </p:nvSpPr>
        <p:spPr>
          <a:xfrm>
            <a:off x="731520" y="4846320"/>
            <a:ext cx="10607040" cy="1645920"/>
          </a:xfrm>
          <a:prstGeom prst="rect">
            <a:avLst/>
          </a:prstGeom>
          <a:noFill/>
        </p:spPr>
        <p:txBody>
          <a:bodyPr wrap="square">
            <a:spAutoFit/>
          </a:bodyPr>
          <a:lstStyle/>
          <a:p>
            <a:pPr>
              <a:spcAft>
                <a:spcPts val="400"/>
              </a:spcAft>
              <a:defRPr sz="1300">
                <a:solidFill>
                  <a:srgbClr val="BBBBCC"/>
                </a:solidFill>
                <a:latin typeface="Microsoft YaHei"/>
              </a:defRPr>
            </a:pPr>
            <a:r>
              <a:t>1. McKinney, W. (2010). 'Data Structures for Statistical Computing in Python.' SciPy 2010</a:t>
            </a:r>
          </a:p>
          <a:p>
            <a:pPr>
              <a:spcAft>
                <a:spcPts val="400"/>
              </a:spcAft>
              <a:defRPr sz="1300">
                <a:solidFill>
                  <a:srgbClr val="BBBBCC"/>
                </a:solidFill>
                <a:latin typeface="Microsoft YaHei"/>
              </a:defRPr>
            </a:pPr>
            <a:r>
              <a:t>2. Walt, S. et al. (2011). 'The NumPy Array.' Computing in Science &amp; Engineering, 13(2)</a:t>
            </a:r>
          </a:p>
          <a:p>
            <a:pPr>
              <a:spcAft>
                <a:spcPts val="400"/>
              </a:spcAft>
              <a:defRPr sz="1300">
                <a:solidFill>
                  <a:srgbClr val="BBBBCC"/>
                </a:solidFill>
                <a:latin typeface="Microsoft YaHei"/>
              </a:defRPr>
            </a:pPr>
            <a:r>
              <a:t>3. Harris, C.R. et al. (2020). 'Array programming with NumPy.' Nature, 585, 357-362</a:t>
            </a:r>
          </a:p>
          <a:p>
            <a:pPr>
              <a:spcAft>
                <a:spcPts val="400"/>
              </a:spcAft>
              <a:defRPr sz="1300">
                <a:solidFill>
                  <a:srgbClr val="BBBBCC"/>
                </a:solidFill>
                <a:latin typeface="Microsoft YaHei"/>
              </a:defRPr>
            </a:pPr>
            <a:r>
              <a:t>4. Reback, J. et al. (2020). 'pandas-dev/pandas: Pandas.' Zenodo</a:t>
            </a:r>
          </a:p>
          <a:p>
            <a:pPr>
              <a:spcAft>
                <a:spcPts val="400"/>
              </a:spcAft>
              <a:defRPr sz="1300">
                <a:solidFill>
                  <a:srgbClr val="BBBBCC"/>
                </a:solidFill>
                <a:latin typeface="Microsoft YaHei"/>
              </a:defRPr>
            </a:pPr>
            <a:r>
              <a:t>5. Wickham, H. (2014). 'Tidy Data.' Journal of Statistical Software, 59(10)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101028"/>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0"/>
            <a:ext cx="12191695" cy="508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2011680"/>
            <a:ext cx="12191695" cy="457200"/>
          </a:xfrm>
          <a:prstGeom prst="rect">
            <a:avLst/>
          </a:prstGeom>
          <a:noFill/>
        </p:spPr>
        <p:txBody>
          <a:bodyPr wrap="square">
            <a:spAutoFit/>
          </a:bodyPr>
          <a:lstStyle/>
          <a:p>
            <a:pPr algn="ctr">
              <a:defRPr sz="4800" b="1">
                <a:solidFill>
                  <a:srgbClr val="FFFFFF"/>
                </a:solidFill>
                <a:latin typeface="Microsoft YaHei"/>
              </a:defRPr>
            </a:pPr>
            <a:r>
              <a:t>THANK YOU</a:t>
            </a:r>
          </a:p>
        </p:txBody>
      </p:sp>
      <p:sp>
        <p:nvSpPr>
          <p:cNvPr id="5" name="Rectangle 4"/>
          <p:cNvSpPr/>
          <p:nvPr/>
        </p:nvSpPr>
        <p:spPr>
          <a:xfrm>
            <a:off x="5029200" y="2743200"/>
            <a:ext cx="210312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3017520"/>
            <a:ext cx="12191695" cy="548640"/>
          </a:xfrm>
          <a:prstGeom prst="rect">
            <a:avLst/>
          </a:prstGeom>
          <a:noFill/>
        </p:spPr>
        <p:txBody>
          <a:bodyPr wrap="square">
            <a:spAutoFit/>
          </a:bodyPr>
          <a:lstStyle/>
          <a:p>
            <a:pPr algn="ctr">
              <a:defRPr sz="2400" b="0">
                <a:solidFill>
                  <a:srgbClr val="00D2FF"/>
                </a:solidFill>
                <a:latin typeface="Microsoft YaHei"/>
              </a:defRPr>
            </a:pPr>
            <a:r>
              <a:t>第3章: Pandas与NumPy (扩展详细版)</a:t>
            </a:r>
          </a:p>
        </p:txBody>
      </p:sp>
      <p:sp>
        <p:nvSpPr>
          <p:cNvPr id="7" name="TextBox 6"/>
          <p:cNvSpPr txBox="1"/>
          <p:nvPr/>
        </p:nvSpPr>
        <p:spPr>
          <a:xfrm>
            <a:off x="0" y="3840480"/>
            <a:ext cx="12191695" cy="365760"/>
          </a:xfrm>
          <a:prstGeom prst="rect">
            <a:avLst/>
          </a:prstGeom>
          <a:noFill/>
        </p:spPr>
        <p:txBody>
          <a:bodyPr wrap="square">
            <a:spAutoFit/>
          </a:bodyPr>
          <a:lstStyle/>
          <a:p>
            <a:pPr algn="ctr">
              <a:defRPr sz="1400" b="0">
                <a:solidFill>
                  <a:srgbClr val="888899"/>
                </a:solidFill>
                <a:latin typeface="Microsoft YaHei"/>
              </a:defRPr>
            </a:pPr>
            <a:r>
              <a:t>NumPy ndarray | Pandas DataFrame | Broadcasting | Vectorization | Tidy Data | Linear Algebra</a:t>
            </a:r>
          </a:p>
        </p:txBody>
      </p:sp>
      <p:sp>
        <p:nvSpPr>
          <p:cNvPr id="8" name="TextBox 7"/>
          <p:cNvSpPr txBox="1"/>
          <p:nvPr/>
        </p:nvSpPr>
        <p:spPr>
          <a:xfrm>
            <a:off x="0" y="4572000"/>
            <a:ext cx="12191695" cy="365760"/>
          </a:xfrm>
          <a:prstGeom prst="rect">
            <a:avLst/>
          </a:prstGeom>
          <a:noFill/>
        </p:spPr>
        <p:txBody>
          <a:bodyPr wrap="square">
            <a:spAutoFit/>
          </a:bodyPr>
          <a:lstStyle/>
          <a:p>
            <a:pPr algn="ctr">
              <a:defRPr sz="1600" b="0">
                <a:solidFill>
                  <a:srgbClr val="BBBBCC"/>
                </a:solidFill>
                <a:latin typeface="Microsoft YaHei"/>
              </a:defRPr>
            </a:pPr>
            <a:r>
              <a:t>如有任何问题，请随时提问!</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