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rPr/>
              <a:t>Machine Learning || Machine Learning Chapter 3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rPr/>
              <a:t>3장: 판다스와 넘파이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맑은 고딕"/>
              </a:defRPr>
            </a:pPr>
            <a:r>
              <a:t>Pandas &amp; NumPy for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rPr/>
              <a:t>[ 확장 상세 버전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핵심 키워드: NumPy ndarray · Pandas DataFrame · 브로드캐스팅 · 벡터화 · Tidy Data · 선형대수 · 데이터 전처리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대학원 박사과정 수준 | 기계학습 3장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Table of Contents - 1/2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Section 1. Introduction: There is no ML without data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1.1 Layer structure of the Python scientific ecosystem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1.2 Data flow in ML pipeline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1.3 Why Python?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Section 2. NumPy in depth: The world of ndarray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2.1 ndarray internal structure (4 key elements)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2.2 Memory Layout and Stride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2.3 C-order vs F-order / dtype system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2.4 Summary of array creation functions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2.5 Array indexing and slicing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2.6 Three rules of broadcasting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2.7 Broadcasting Code Example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2.8 Universal function (ufunc)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2.9 Linear Algebra Basics / SVD / Eigenvalue Decomposition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2.10 Regular equations and View vs Copy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Table of Contents - 2/2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Section 3. Pandas Advanced: The World of DataFrame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3.1 DataFrame structure / indexing (loc vs iloc)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3.2 Method Chaining / GroupBy / Merge·Join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3.3 Time series window function / Apply·Map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Section 4. Data preprocessing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4.1 5 types of missing value processing / 3 types of outlier detection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4.2 3 types of feature scaling / encoding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Section 5. Tidy Data concept (Wickham 2014)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Section 6. Vectorization vs loop: the science of performance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Section 7. Integration of paper reviews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Section 8. Detailed explanation of implementation code (3 exercises)</a:t>
            </a:r>
          </a:p>
          <a:p>
            <a:pPr>
              <a:spcAft>
                <a:spcPts val="5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Section 9. Key summary and review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1. The internal memory structure (stride, dtype, C/F-order) of NumPy ndarray is explained and can be used for performance optimization.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2. By accurately applying broadcasting rules, operations between various types of arrays can be performed.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3. LU/QR/SVD/eigenvalue decomposition can be implemented in NumPy and its use in ML algorithms (PCA, linear regression) can be explained.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4. You can understand the internal structure of Pandas DataFrame and configure a data pipeline using method chaining and pipe().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5. You can compare and analyze 5 types of missing value processing, 3 types of outlier detection, and 3 types of feature scaling.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6. You can convert messy data into tidy data by applying Wickham's Tidy Data principle.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7. The performance difference between vectorized operations and Python loops can be explained at the hardware level (SIMD, cache).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Introduction: No ML without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The role of NumPy·Pandas in the Python ecosystem and ML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Layer structure of the Python scientific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Harris et al. (2020) Based on Nature paper || Code || Ng: ‘Data is King’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50-80% of time is spent on data processing in ML projects (Wickham, 2014)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scikit-learn, TensorFlow, PyTorch, Keras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Layer 3: 도메인별 라이브러리 (Domain-specific)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Pandas (표 형식 데이터)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SciPy (과학 알고리즘), matplotlib (시각화)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Layer 2: NumPy (기반 인프라)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ndarray, ufunc, broadcasting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linear algebra, FFT, random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77840"/>
            <a:ext cx="502920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Layer 1: Python + C Extensions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BLAS, LAPACK, C/Fortran 컴파일 코드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828800"/>
            <a:ext cx="566928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핵심 포인트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2860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NumPy는 생태계의 기반 인프라(foundation infrastructure)로 기능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Pandas DataFrame은 내부적으로 NumPy 배열을 감싸고(wrapping) 있음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scikit-learn의 fit()/predict()는 NumPy 배열을 입력으로 받음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TensorFlow/PyTorch 텐서도 NumPy 배열과 상호 변환 기본 제공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Andrew Ng: '데이터가 왕이다 (Data is King)'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ML 프로젝트에서 데이터 처리에 50~80% 시간 소비 (Wickham, 2014)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Data flow in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Pandas -&gt; NumPy -&gt; scikit-learn data conversion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8580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sklearn.preprocessing import StandardScaler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sklearn.linear_model import LogisticRegression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Step 1: Loading data into Pandas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 = pd.read_csv('data.csv')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Step 2: Exploration and preprocessing with Pandas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 = df.dropna()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df['new_feature'] = df['feature_a'] * df['feature_b']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Step 3: Conversion to NumPy array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 = df[['feature_a','feature_b','new_feature']].to_numpy()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y = df['target'].to_numpy()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Step 4: Modeling with scikit-learn (NumPy internally)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X_train, X_test, y_train, y_test = train_test_split(X, 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scaler = StandardScaler()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X_train_scaled = scaler.fit_transform(X_train)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LogisticRegression()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model.fit(X_train_scaled, y_train)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384048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Pipeline flow Summary ||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2860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corresponds to data processing (50-80% of the total time)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데이터 전처리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피처 엔지니어링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모델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모델 평가 -&gt; 배포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Pandas: 로딩, 탐색, 전처리 담당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NumPy: 수치 연산의 기반 제공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scikit-learn: 모델링 (내부 NumPy)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실무에서 모델 학습 이전의 모든 단계가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데이터 처리에 해당 (전체 시간의 50-80%)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Why Python?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Role as a glue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Python's core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Python itself is slow, but the performance-critical parts are handled by libraries (BLAS, LAPACK) written in C/Fortran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NumPy is a representative success example of this strategy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Glue language: role of connecting various libraries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McKinney (2010)'s motivation for developing Pandas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'In Python, there is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corresponding to R's data.frame.  There was no high-level data structure.'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NumPy ndarray: Excellent for homogeneous numerical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But lacking in heterogeneous tabular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Pandas was born to fill this gap!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NumPy + Pandas share the 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09728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NumPy: High-speed operation of homogeneous numerical data -- ndarray is data of the same type in continuous memory.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Pandas: heterogeneous tabular data -- DataFrame allows different dtypes for each column (string+number+date)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This combination is crucial in making Python the dominant language in data science.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이 조합이 파이썬을 데이터 과학의 지배적 언어로 만드는 데 결정적 역할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NumPy Advanced: The world of ndarray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ndarray internal structure, memory layout, broadcasting, linear algebra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ndarray internal structure: 4 key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Walt et al. (2011) Based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data (data pointer)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Pointer of memory buffer where data is stored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Actual numerical data is stored in continuous memory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Fundamental difference from Python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dtype (data type)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 type of each element (float64, int32, etc.)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All elements are of the same type (homogeneous)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Memory size and operations Determine 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shape (shape)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Tuple indicating the size of each dimension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(2, 3) -&gt; 2 rows and 3 columns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ndim: Number of dimensions, size: Number of total elements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strides (stride)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Number of bytes from each dimension to the next element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(24, 8) -&gt; 24 bytes when moving a row, 24 bytes when moving a column. 8 bytes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Transpose only exchanges stride (no data copy!)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657600"/>
            <a:ext cx="5669280" cy="29260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79476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 = np.array([[1.0, 2.0, 3.0],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[4.0, 5.0, 6.0]])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print(f'dtype:   {arr.dtype}')    # float64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print(f'shape:   {arr.shape}')    # (2, 3)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print(f'strides: {arr.strides}')  # (24, 8)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print(f'nbytes:  {arr.nbytes}')   # 48 = 2*3*8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print(f'ndim:    {arr.ndim}')     # 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print(f'size:    {arr.size}')     #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Memory layout and Stride |||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ndarray object --&gt; [8B | 8B | 8B | ...]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Storing homogeneous type data in contiguous memory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Maximize CPU cache hit rate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SIMD (single instruction multiple data) can be used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Stride visual description (2x3 float64, C-order)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Memory: [1.0][2.0][3.0][4.0][5.0][6.0]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Bytes: 0 8 16 24 32 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Row direction (axis=0): 24 bytes = 3 elements x 8B/element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Column direction (axis=1): 8 bytes = 1 element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CPU 캐시 적중률(hit rate) 극대화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SIMD(단일 명령 다중 데이터) 활용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Stride 시각적 설명 (2x3 float64, C-order)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메모리: [1.0][2.0][3.0][4.0][5.0][6.0]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바이트:  0    8   16   24   32   40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shape = (2, 3)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strides = (24, 8)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행 방향(axis=0): 24바이트 = 3원소 x 8B/원소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열 방향(axis=1):  8바이트 = 1원소 x 8B/원소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np.array([[1, 2, 3, 4],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[5, 6, 7, 8],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[9, 10, 11, 12]], dtype=np.float64)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print(f'shape: {a.shape}')      # (3, 4)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print(f'strides: {a.strides}')  # (32, 8)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전치(transpose)는 stride만 바꾼다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(데이터 복사 없음!)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 = a.T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print(f'전치 shape: {b.shape}')    # (4, 3)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print(f'전치 strides: {b.strides}')# (8, 32)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C-order vs F-order / dtype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Memory order and data type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Memory layout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Fast access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Usage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C-order (row-major)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Save row first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Last axis (column direction)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NumPy basic, 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F-order (col-major)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NumPy basic, 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Save column first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Fortran, MATLAB, 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First axis (row) Direction)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200400"/>
            <a:ext cx="22860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200400"/>
            <a:ext cx="18288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Category|||Byte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3200400"/>
            <a:ext cx="27432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Range/Use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5760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Integer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65760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int8 / int16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657600"/>
            <a:ext cx="18288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 /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365760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-128~127 / -32768~32767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02336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Integer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02336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int32 / int64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4023360"/>
            <a:ext cx="18288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4 / 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402336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General integer / Large integer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38912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Unsigned integer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438912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uint8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4389120"/>
            <a:ext cx="18288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438912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0~255 (image pixel)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75488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Floating point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475488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float16 / float32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0640" y="4754880"/>
            <a:ext cx="18288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2064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 / 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9440" y="475488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Deep learning inference / learning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12064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Floating point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4640" y="512064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346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float64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20640" y="5120640"/>
            <a:ext cx="18288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2064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49440" y="512064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944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Scientific calculation Default value ||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548640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복소수/불리언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34640" y="548640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complex128 / bool_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20640" y="5486400"/>
            <a:ext cx="18288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2064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16 / 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49440" y="548640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신호처리 / True-False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rPr/>
              <a:t>성능 시사점: 행 방향 순회 시 C-order가, 열 방향 순회 시 F-order가 CPU 캐시 효율이 높다.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Summary of array creation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Various NumPy array creation 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=== Basic creation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np.array([1, 2, 3])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np.array([[1, 2], [3, 4]],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=== Initialization creation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np.zeros((3, 4)) # 3x4 filled with 0s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np.ones((2, 3)) # 2x3 filled with 1s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np.full((2, 3), 7) # 2x3 filled with 7s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np.empty((3, 3)) # Assignment without initialization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np.eye(4) # 4x4 identity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=== Range generation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np.arange(0, 10, 2)     # [0, 2, 4, 6, 8]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np.linspace(0, 1, 5)    # [0, 0.25, 0.5, 0.75, 1]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np.logspace(0, 3, 4)    # [1, 10, 100, 1000]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=== Random number generation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np.random.seed(42)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np.random.rand(3, 4)          # U(0,1)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np.random.randn(3, 4)         # N(0,1)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np.random.randint(0, 10, (3,4))# Integer random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09728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Main generation function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zeros/ones/full/empty: Create an array initialized with a specific value (pass shape tuple)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eye/diag: Create identity matrix, diagonal matrix (required for linear algebra operations)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arange: Integer range (similar to Python range), linspace: Equal partition (often used in visualization)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logspace: Log scale equal partition (learning rate exploration) etc.)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random.rand/randn: Uniformly distributed/normally distributed random numbers (used for ML weight initialization)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random.choice: Random selection (bootstrap, cross-validation, etc.)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Array indexing and slicing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4 indexing methods (Harris et al., 2020)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 = np.array([[1,  2,  3,  4],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[5,  6,  7,  8],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[9, 10, 11, 12]])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1. Basic Indexing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arr[0, 1]              # 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2. Slicing -- Returning a view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arr[0:2, 1:3]          # [[2, 3], [6, 7]]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arr[:, 2]              # [3, 7, 11]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3. Fancy -- Returning a copy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arr[[0, 2], [1, 3]]    # [2, 12]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4. Boolean indexing (Boolean) ||| Copy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arr[arr &gt; 5]           # [6,7,8,9,10,11,12]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Caution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When modifying the view, the original is also changed!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 = a[1:4]; b[0]=99 -&gt; change a too!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Safely: c = a[1:4].copy()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reshape(): returns a View if possible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flatten(): always returns a Copy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93192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ravel(): returns a View if possible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View 수정 시 원본도 변경됨!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b = a[1:4]; b[0]=99 -&gt; a도 변경!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안전하게: c = a[1:4].copy()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reshape(): 가능하면 View 반환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flatten(): 항상 Copy 반환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ravel(): 가능하면 View 반환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Broadcasting: 3 rules ||   shape (4,) -&gt; (1, 4) |   shape (5,) -&gt; (1, 1,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Rule 2: Check compatibility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If the size in each dimension is the same or one of them is 1, it is compatible.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If not compatible, ValueError is raised.  Example: (3,) + (4,) -&gt; 3 != 4 and both are not 1 -&gt; ERROR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Rule 3: Virtual Stretching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109728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A dimension of size 1 is virtually stretched to fit the size of the other array.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Key: Don't actually copy the data! Memory efficient by internally setting stride to 0.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(3,1)+(1,4) -&gt; Rule 1 not required, Rule 2 compatible (3vs1, 1vs4), Rule 3 extended -&gt; Result shape (3,4)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09728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규칙 3: 가상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크기가 1인 차원은 다른 배열의 크기에 맞게 가상으로 확장(stretch)된다.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핵심: 실제로 데이터를 복사하지 않는다! 내부적으로 stride를 0으로 설정하여 메모리 효율적.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예: (3,1)+(1,4) -&gt; 규칙1 불필요, 규칙2 호환(3vs1, 1vs4), 규칙3 확장 -&gt; 결과 shape (3,4)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Broadcasting code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Practical use in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Example 1: Matrix + vector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np.array([[1,2,3],[4,5,6],[7,8,9]])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 = np.array([10, 20, 30])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print(A + b) # b is added to each row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Example 2: Column vector + row vector -&gt; matrix (cross product pattern)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col = np.array([[1],[2],[3]])  # (3,1)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row = np.array([10,20,30,40]) # (4,)--&gt;(1,4)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print(col + row) # (3,4) matrix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Example 3: ML data centering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 = np.random.randn(100, 5)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mean = X.mean(axis=0)          # (5,)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X_centered = X - mean          # (100,5)-(5,)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Example 4: Z-score Normalization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std = X.std(axis=0)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X_standardized = (X - mean) / std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Visual explanation: (3,3) + (3,)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Array b: (3,) -&gt; (1,3) -&gt; (3,3)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[a00 a01 a02]   [b0 b1 b2]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[a10 a11 a12] + [b0 b1 b2]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[a20 a21 a22]   [b0 b1 b2]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Same vector b added to each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Key uses in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8463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Data-centering: Normalization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weighted sum: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배치 정규화(Batch Normalization)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가중합(weighted sum): X @ w + 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Universal function (ufunc) ||| Sum) ||| Aggregation)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The core of ufunc: C loop-based vectorized operation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100 to 1000 times performance improvement compared to Python loops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함수 예시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수학 함수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2860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np.sin, np.cos, np.exp, np.log, np.sqrt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원소별 수학 연산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비교 함수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7432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np.greater, np.equal, np.logical_and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원소별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산술 함수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2004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np.add, np.subtract, np.multiply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사칙연산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집계 함수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6576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np.sum, np.prod, np.min, np.max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축별 집계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114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2519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 = np.array([[1, 2, 3],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  [4, 5, 6]])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print(np.sum(A))          # 21 (전체 합)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print(np.sum(A, axis=0))  # [5, 7, 9] (열방향)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print(np.sum(A, axis=1))  # [6, 15] (행방향)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print(np.mean(A, axis=0)) # [2.5, 3.5, 4.5]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114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axis 이해하기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720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axis=None: 전체 원소에 대해 집계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axis=0: 행 방향으로 축소 (열별 집계)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axis=1: 열 방향으로 축소 (행별 집계)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ufunc의 핵심: C 루프 기반 벡터화 연산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Python 루프 대비 100~1000배 성능 향상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Basic linear algebra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Mathematical basis of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np.array([[1,2],[3,4]],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 = np.array([[5,6],[7,8]],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print(A * B) # Element-wise multiplication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print(A @ B) # Matrix multiplication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print(A.T) # Transpose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print(np.linalg.det(A)) # Determinant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print(np.linalg.inv(A)) # Inverse matrix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print(np.trace(A)) # Diagonal sum ||| Decomposition ||| Sum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norm(A): L1, L2, Frobenius norm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54880"/>
            <a:ext cx="18288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분해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754880"/>
            <a:ext cx="22860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수식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4754880"/>
            <a:ext cx="32004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ML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4754880"/>
            <a:ext cx="22860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NumPy 함수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1208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LU 분해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521208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5212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 = P * L * 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521208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연립방정식, 행렬식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521208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5212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scipy.linalg.lu()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2356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23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QR 분해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562356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5623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 = Q * R (Q^T Q = I)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562356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5623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최소제곱법 안정 풀이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562356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5623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np.linalg.qr()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03504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035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SVD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603504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6035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 = U * S * V^T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603504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6035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PCA, 추천시스템, LSA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603504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6035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np.linalg.svd()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44652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고유값 분해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644652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7440" y="6446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Av = lambda*v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644652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6446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PCA, 스펙트럴 클러스터링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644652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6446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np.linalg.eigh()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828800"/>
            <a:ext cx="512064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주요 행렬 연산 요약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22860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* (원소별) vs @ (행렬곱): 반드시 구분!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A.T: 전치 (View, stride만 교환)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det(A): 행렬식 (가역 여부 판단)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inv(A): 역행렬 (수치적 주의 필요)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trace(A): 대각합 = 고유값의 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norm(A): L1, L2, Frobenius 노름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Singular Value Decomposition (SVD) and Eigenvalue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Mathematical Basis of PCA Dimensionality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SVD: A = U * Sigma * V^T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np.array([[1,2,0],[0,1,1],[2,0,1],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[1,1,1],[3,2,1]],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U, s, Vt = np.linalg.svd(A, full_matrices=False)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Dimensionality Reduction: Use only top k singular values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k = 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A_approx = U[:,:k] @ np.diag(s[:k]) @ Vt[:k,:]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Variance Explanation Power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energy = s**2 / np.sum(s**2) * 100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print(f'Cumulative Explanation Ratio: {np.cumsum(energy)}')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Eigenvalue Decomposition: Av = lambda*v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cov = np.array([[4,2,1],[2,3,1],[1,1,2]],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eigenvalues, eigenvectors = np.linalg.eigh(cov)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variance_ratio = eigenvalues/np.sum(eigenvalues)*100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print(f'Variance Explanation Ratio: {variance_ratio}')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of SVD Utilizing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PCA Dimensionality Reduction: Approximating data with top k singular values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Recommendation system: Latent factors in user-item matrix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Latent semantic analysis (LSA): Document-word matrix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 compression: Calculating information retention ratio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Variance explanatory power = s^2 / sum(s^2) *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1206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ML utilization of eigenvalue decomposition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46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PCA: Eigenvalues of covariance matrix Decomposition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Spectral clustering: Laplacian matrix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Eigenvalues = amount of variance in that direction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eigh(): Symmetric matrix only (faster and more stable)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Normal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Analytical solution of linear regression: beta = (X^T Method 3: lstsq (SVD-based, most stable, recommended!)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4008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np.random.seed(42)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n_samples = 50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X_raw = np.random.uniform(0, 10, (n_samples, 1))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noise = np.random.normal(0, 1, (n_samples, 1))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print(f'true value: intercept=2, slope=3')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 = np.hstack([np.ones((n_samples, 1)), X_raw])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print(f'estimate: intercept={beta_lstsq[0,0]:.4f}, slope={beta_lstsq[1,0]:.4f}')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beta_inv = np.linalg.inv(X.T @ X) @ X.T @ 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Comparison of 3 solution methods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beta_solve = np.linalg.solve(X.T @ X, X.T @ 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Method 1: inv(X^T  -&gt; Numerical instability in large condition matrices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beta_lstsq, _, _, _ = np.linalg.lstsq(X, y, rcond=None)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Method 2: solve(X^T X, X^T @ 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-&gt; Based on LU decomposition, more stable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28800"/>
            <a:ext cx="42062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920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Method 3: lstsq(X, y) [Recommended!]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28600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SVD-based, most stable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Rank-deficient matrices can also be processed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Practice recommendation: Always use lstsq()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Inverse matrix is ​​not recommended due to condition number problem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방법 3: lstsq(X, y) [권장!]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-&gt; SVD 기반, 가장 안정적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-&gt; 랭크 부족 행렬도 처리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실무 권장: 항상 lstsq()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역행렬은 조건수 문제로 비추천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Summary of linear algebra and ML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How each decomposition is used in ML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Linear algebra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41148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ML utilization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28800"/>
            <a:ext cx="32004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NumPy function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SVD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PCA, recommender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2860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np.linalg.svd()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PCA, recommendation system, LSA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Eigen value decomposition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7432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np.linalg.eigh()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PCA, spectral clustering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QR decomposition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2004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np.linalg.qr()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Least squares method stable solution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LU decomposition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6576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scipy.linalg.lu()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Simultaneous equations efficient Solution || NumPy is an implementation of this engine.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114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PCA = SVD or eigenvalue decomposition | Linear regression = regular equation | Neural network = chain of matrix multiplication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1148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np.linalg.lstsq()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Linear algebra operations exist inside all ML algorithms.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45720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신경망 순전파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45720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@ 연산자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029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노름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0292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L1, L2 규제 (정규화)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np.linalg.norm()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30352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3949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핵심 메시지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7607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선형대수는 ML 알고리즘의 수학적 엔진이다. NumPy는 이 엔진의 구현체이다.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PCA = SVD 또는 고유값 분해 | 선형회귀 = 정규방정식 | 신경망 = 행렬곱의 연쇄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모든 ML 알고리즘의 내부에는 선형대수 연산이 존재한다.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View vs Copy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Memory sharing and data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 = np.array([1, 2, 3, 4, 5])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b = a[1:4] # View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b[0] = 99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print(a) # [1, 99, 3, 4, 5] -- Change the original too!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c = a[1:4].copy() # Copy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c[0] = 100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print(a) # [1, 99, 3, 4, 5] -- Original Invariant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389120"/>
            <a:ext cx="32004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Operation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4389120"/>
            <a:ext cx="27432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Return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4389120"/>
            <a:ext cx="18288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Shared 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Slicing a[1:4]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4846320"/>
            <a:ext cx="2743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84632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66360"/>
            <a:ext cx="32004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Transpose a.T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5166360"/>
            <a:ext cx="2743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516636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reshape()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5486400"/>
            <a:ext cx="2743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View (if possible)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48640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06440"/>
            <a:ext cx="32004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06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ravel()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5806440"/>
            <a:ext cx="2743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View (if possible)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80644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12648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126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Fancy indexing a[[0,2]]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40" y="6126480"/>
            <a:ext cx="2743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6126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Copy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612648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6126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446520"/>
            <a:ext cx="32004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Boolean indexing a[mask]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6446520"/>
            <a:ext cx="2743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Copy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644652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76656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766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flatten()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40" y="6766560"/>
            <a:ext cx="2743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49040" y="6766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Copy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676656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6766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7086600"/>
            <a:ext cx="32004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7086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copy()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40" y="7086600"/>
            <a:ext cx="2743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40" y="7086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Copy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708660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7086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1828800"/>
            <a:ext cx="512064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View vs Copy judgment criteria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22860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View: Because it shares memory with the original. Efficient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If you modify it, the original will also change (Caution!)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Slicing, transpose, reshape, etc.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Copy: Copy data to independent memory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Independent from the original, safe to modify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Fancy indexing, Boolean indexing, etc.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Check: np.shares_memory(a, 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Safe copy: Explicit call to a.copy()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Practical tip: Check whether it is a View or a Copy and then edit!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Pandas Deep: The World of DataFrame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DataFrame Structure, Indexing, Method Chaining, GroupBy, Merge/Join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DataFrame internal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Heterogeneous tabular data structure designed by McKinney (2010)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 = pd.DataFrame({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'Name': ['Kim Cheol-su', 'Lee Young-hee', 'Park Min-su'],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'age': [28, 35, 42],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'key': [175.5, 162.3, 180.1],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'Student': [True, False, False]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print(df.dtypes)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Name object / Age int64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Key float64 / Student bool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164592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Property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20116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828800"/>
            <a:ext cx="20116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df.shape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(Number of rows, Number of columns)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228600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(3, 4)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65176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df.dtypes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65176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Data type of each column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int64, float64, 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01752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df.index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01752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Row 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301752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RangeIndex(0, 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38328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df.columns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38328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Column Name || Automatic alignment via Index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338328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Systematic handling of missing values (NaN): consistent APIs such as isna(), fillna(), dropna(), etc.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74904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df.values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374904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NumPy 배열 변환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374904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ndarray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11480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df.info()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411480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전반적 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4114800"/>
            <a:ext cx="20116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행/열수, dtype, 메모리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48056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480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df.describe()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448056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기술통계량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4480560"/>
            <a:ext cx="20116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평균, 표준편차, 사분위수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84632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9377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DataFrame의 핵심 특징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30352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각 열은 독립적인 NumPy 배열(또는 Extension Array)로 저장 -&gt; 열마다 다른 dtype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행 인덱스(Index)를 통한 자동 데이터 정렬(automatic alignment)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결측치(NaN)의 체계적 처리: isna(), fillna(), dropna() 등의 일관된 API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Indexing: loc vs iloc || 'Cheolsu Kim'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df.loc[0:1, ['name','age']] # Rows 0~1 (including the end!)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3. iloc - Integer position-based indexing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df.iloc[0, 0] # 'Cheolsoo Kim'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df.iloc[0:2, 0:2] # Rows 0~1 (not including the end!)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4. Boolean indexing |||  -&gt; Include end index when slicing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-&gt; df.loc[0:2] -&gt; Rows 0, 1, 2 (3)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iloc: Access to integer position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-&gt; End index not included when slicing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-&gt; df.iloc[0:2] -&gt; Rows 0, 1 (2)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query() method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Filter rows by string expression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Good readability and suitable for chaining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Uses numexpr engine internally (fast)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Example: df.query('Age &gt; 30 and height &gt; 170')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loc: 라벨(이름)으로 접근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-&gt; 슬라이싱 시 끝 인덱스 포함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-&gt; df.loc[0:2] -&gt; 행 0, 1, 2 (3개)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iloc: 정수 위치로 접근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-&gt; 슬라이싱 시 끝 인덱스 미포함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-&gt; df.iloc[0:2] -&gt; 행 0, 1 (2개)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query() 메서드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8463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문자열 표현식으로 행 필터링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가독성이 좋고 체이닝에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내부적으로 numexpr 엔진 사용 (빠름)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예: df.query('나이 &gt; 30 and 키 &gt; 170')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Method Chaining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Continuously applying multiple transformations without intermediate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Bad example: Overuse of intermediate variables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df2 = df.dropna()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df3 = df2[df2['Age'] &gt; 25]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df4 = df3.assign(Age=df3['Age']//10*10)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result = df4.sort_values('key', ascending=False)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Good example: Method chaining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result = (df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.dropna()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.query('Age &gt; 25')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.assign(age range=lambda x: x['age']//10*10)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.sort_values('key', ascending=False)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pipe() custom function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def outlier_removal(df, col, n_std=3):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mean, std = df[col].mean(), df[col].std()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return df[abs(df[col]-mean) &lt;= n_std*std]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result = (df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.pipe(outlier_remove, 'key')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.assign(BMI=lambda (see current df with lambda)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512064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메서드 체이닝의 장점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가독성: 데이터 변환 과정이 위에서 아래로 읽힘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디버깅: 각 단계를 주석 처리하여 중간 결과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재현성: 전체 변환이 하나의 표현식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pipe(): 커스텀 함수도 체이닝에 통합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assign(): 새 열 추가 (lambda로 현재 df 참조)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GroupBy: Split-Apply-Combine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Key pattern highlighted by McKinney (2010)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9436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np.random.seed(42)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 = pd.DataFrame({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'Department': np.random.choice(['Development','Marketing','Sales'], 100),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'position': np.random.choice(['employee','assistant manager','manager'], 100),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'Salary': np.random.normal(5000,1000,100).astype(int),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'performance': np.random.uniform(0,100,100).round(1)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agg: Aggregation by group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df.groupby('department')['salary'].agg(['mean','std','min','max'])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transform: Maintain original size (Z-score by group)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df['salary_zscore'] = df.groupby('department')['salary'].transform(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lambda x: (x - x.mean()) / x.std())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apply: Group-specific operation with high degree of freedom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TopN(group, n=3):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group.nlargest(n, 'performance')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df.groupby('Department').apply(topN, n=2)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75488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GroupBy 3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agg (aggregation): group -&gt; mean, standard deviation, minimum, maximum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result: as many rows as the number of groups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transform (transformation): group -&gt; original size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Apply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Split-Apply-Combine pattern: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Split(groupby) -&gt; Apply(agg/transform/apply)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Combine(auto)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 그룹별 상위 N개 추출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 커스텀 함수 적용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Split-Apply-Combine 패턴: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분할(groupby) -&gt; 적용(agg/transform/apply)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결합(자동)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Merge and Join || ['D01','D02','D01','D03']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Department = pd.DataFrame({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pd.merge(Employee, Department,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left_on='Department Code', right_on='Code', how='left')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Join Type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SQL Correspondence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Description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Only rows with keys on both sides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Based on left table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Based on right table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Include both sides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Merge key parameters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on: Key columns in both tables must be the same. When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18288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left_on / right_on: When key column names are different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029200"/>
            <a:ext cx="27432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concat: Row-wise/column-wise simple join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5029200"/>
            <a:ext cx="45720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join: Index-based join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86400"/>
            <a:ext cx="18288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inner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548640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INNER JOIN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5486400"/>
            <a:ext cx="4572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양쪽 모두 키 있는 행만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52160"/>
            <a:ext cx="18288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left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585216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LEFT JOIN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5852160"/>
            <a:ext cx="4572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왼쪽 테이블 기준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217920"/>
            <a:ext cx="18288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right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621792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RIGHT JOIN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6217920"/>
            <a:ext cx="4572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오른쪽 테이블 기준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83680"/>
            <a:ext cx="18288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83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outer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658368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6583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FULL OUTER JOIN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6583680"/>
            <a:ext cx="4572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6583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양쪽 모두 포함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828800"/>
            <a:ext cx="512064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Merge 핵심 파라미터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2860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on: 양쪽 테이블의 키 열이 같을 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left_on / right_on: 키 열 이름이 다를 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how: 'inner','left','right','outer'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concat: 행 방향/열 방향 단순 결합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pd.concat([df1, df2], axis=0)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join: 인덱스 기반 결합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df1.join(df2, how='left')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Apply/Map and time series window function ||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# Time Series Window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df['Stock'].rolling(window=20).std()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Cumulative Window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Function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Description | |  Upward Breakout -&gt; Buy Signal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df['Sex'] = df['Sex'].map({'male':0, 'female':1})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Dead Cross: Downward Breakout -&gt; Sell Signal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df.applymap(lambda x: round(x, 2))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Key Indicator of Technical Analysis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Built-in to Pandas based on McKinney (2010)'s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experience in financial data analysis.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df['변동성'] = df['주가'].rolling(window=20).std()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누적 윈도우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df['누적평균'] = df['주가'].expanding().mean()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지수 가중 이동 평균 (EWM)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df['EWM_12'] = df['주가'].ewm(span=12).mean()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146304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윈도우 함수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828800"/>
            <a:ext cx="20116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1828800"/>
            <a:ext cx="219456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사용 예시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146304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rolling(n)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286000"/>
            <a:ext cx="20116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286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고정 크기 n 윈도우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2286000"/>
            <a:ext cx="219456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286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이동평균, 이동표준편차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697480"/>
            <a:ext cx="146304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expanding()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697480"/>
            <a:ext cx="20116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697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시작~현재 누적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2697480"/>
            <a:ext cx="219456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누적 최대, 누적 평균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108960"/>
            <a:ext cx="146304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108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ewm(span=n)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108960"/>
            <a:ext cx="20116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108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지수 가중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3108960"/>
            <a:ext cx="219456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3108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MACD, 지수이동평균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657600"/>
            <a:ext cx="512064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실무 팁: 이동평균 교차(MA Crossover)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1148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골든 크로스: 단기 MA(7일)가 장기 MA(30일)를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상향 돌파 -&gt; 매수 신호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데드 크로스: 하향 돌파 -&gt; 매도 신호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MACD = EWM(12) - EWM(26)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기술적 분석의 핵심 지표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McKinney(2010)가 금융 데이터 분석에서의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경험을 바탕으로 Pandas에 기본 내장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Summary of data corresponding to Pivot Table and MultiIndex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SQL GROUP BY + CASE WHEN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Basic Pivot Table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Pivot = pd.pivot_table(||| margins=True # Add total rows/columns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Crosstab - Frequency counting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pd.crosstab(Sales['Region'], Sales['Product'], margins=True)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MultiIndex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df_multi.loc['Seoul'] # All quarters in Seoul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df_multi.loc[('Seoul', '1st quarter')] # Specific row ||| Type conversion: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Effective for repeated strings (90-99% savings)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1 million rows x 3 unique values: 64MB -&gt; 1MB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3. Sparse type: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Can be processed within RAM limits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df_multi.loc['서울']                # 서울의 모든 분기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df_multi.loc[('서울', '1분기')]     # 특정 행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df_multi.xs('1분기', level='분기')  # 특정 레벨 선택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df_multi.unstack(level='분기')      # 분기를 열로 이동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Pandas 메모리 최적화 4가지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수치형 다운캐스팅: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 int64 -&gt; int32/int16 (50~75% 절약)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Categorical 타입 변환: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 반복 문자열에 효과적 (90~99% 절약)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 100만행 x 3개 고유값: 64MB -&gt; 1MB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Sparse 타입: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 대부분 0인 데이터 (90%+ 절약)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청크 단위 읽기 (chunksize):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chunks = pd.read_csv('huge.csv',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chunksize=100000)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 RAM 제한 내에서 처리 가능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SQL vs Pandas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Pandas Mapping for People Who Know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182880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Pandas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Remarks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SELECT col FROM 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2286000"/>
            <a:ext cx="3657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286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df['col'] or df[['col']]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28600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Select Columns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9748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WHERE cond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697480"/>
            <a:ext cx="3657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697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df[df['col']&gt;v] / df.query()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69748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Filter Rows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GROUP BY col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3108960"/>
            <a:ext cx="3657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df.groupby('col')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10896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Aggregation by Group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ORDER BY col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3520440"/>
            <a:ext cx="3657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520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df.sort_values('col')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52044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3192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JOIN t1, t2 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0" y="3931920"/>
            <a:ext cx="3657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0" y="3931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pd.merge(t1, t2, on=)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393192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Join Tables|||Remove Duplicates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34340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DISTINCT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40" y="4343400"/>
            <a:ext cx="3657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0" y="4343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df.drop_duplicates()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434340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Number of Rows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75488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54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COUNT(*)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0" y="4754880"/>
            <a:ext cx="3657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40" y="4754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df.shape[0] / len(df)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475488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4754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Top 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16636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166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LIMIT 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49040" y="5166360"/>
            <a:ext cx="3657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49040" y="5166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df.head(n)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516636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5166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Key Messages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66928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7607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If you have SQL experience Pandas is very intuitive! Almost 1:1 correspondence is possible, and method chaining allows for more flexible analysis.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SQL 경험이 있다면 Pandas는 매우 직관적! 거의 1:1 대응이 가능하며, 메서드 체이닝으로 더 유연한 분석이 가능하다.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Missing value handling, outlier detection, feature scaling, encoding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5 strategies for handling missing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It is important to choose an appropriate strategy depending on the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3716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828800"/>
            <a:ext cx="18288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828800"/>
            <a:ext cx="164592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Advantage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828800"/>
            <a:ext cx="164592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Disadvantage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828800"/>
            <a:ext cx="201168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Suitable situation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860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Delete 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dropna()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Simplicity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Data loss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28600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Missing &lt; 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4320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Replace mean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fillna(mean)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4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Maintain distribution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Underestimate variance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274320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Normal distribution, MCAR ||| np.nan, 3, np.nan, 5], 'B': [10,20,np.nan,40,50], 'Group': [' df['A'].fillna(df['A'].mean()).values) # Replace with overall mean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004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print('Median:', df['A'].fillna(df['A'].median()).values) # Replace with overall median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fillna(median)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4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print('Interpolation:', df['A'].interpolate().values) # Linear interpolation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print('By group:', df.groupby('group')['A'].transform(lambda x: x.fillna(x.mean())).values) # Replace with group mean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20040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편향 분포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65760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보간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024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interpolate()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4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연속성 유지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6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외삽 위험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40880" y="365760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시계열 데이터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1148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그룹별 대체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0240" y="41148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2024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groupby.transform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904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4904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그룹 특성 반영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9496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9496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구현 복잡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40880" y="411480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4088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그룹 간 차이 큰 경우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4389120"/>
            <a:ext cx="109728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5262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df = pd.DataFrame({'A': [1, np.nan, 3, np.nan, 5], 'B': [10,20,np.nan,40,50], '그룹': ['X','X','Y','Y','Y']})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전략별 비교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print('삭제:',   df['A'].dropna().values)                              # NaN 제거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print('평균:',   df['A'].fillna(df['A'].mean()).values)               # 전체 평균으로 대체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print('중앙값:', df['A'].fillna(df['A'].median()).values)             # 전체 중앙값으로 대체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print('보간:',   df['A'].interpolate().values)                        # 선형 보간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print('그룹별:', df.groupby('그룹')['A'].transform(lambda x: x.fillna(x.mean())).values)  # 그룹 평균으로 대체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Three methods for outlier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IQR, Z-score, visual 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IQR method (interquartile range)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Outlier range: Q1 - 1.5*IQR &lt; x &lt; Q3 + 1.5*IQR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IQR = Q3 - Q1 (interquartile range)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 need to assume normal distribution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Same as boxplot. Criteria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Z-score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(x - mu) / sigma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|z| &gt; If it is 3, it is judged as an outlier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Normal distribution assumption is required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Sensitive to mean and standard deviation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iqr_outlier(series):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Q1, Q3 = series.quantile([0.25, 0.75])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IQR = Q3 - Q1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lower = Q1 - 1.5 * IQR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upper = Q3 + 1.5 * IQR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(series &lt; lower) | (series &gt; upper)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891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zscore_outlier(series, threshold=3):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z = (series - series.mean()) / series.std()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abs(z) &gt; threshold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Example of use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mask = iqr_outlier(df['salary'])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df_clean = df[~mask] # Remove outliers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3 methods of feature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StandardScaler, MinMaxScaler, RobustScaler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Scaler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27432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Formula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828800"/>
            <a:ext cx="22860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Characteristics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828800"/>
            <a:ext cx="27432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Usage situation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StandardScaler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z = (x-mu)/sigma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Mean 0, variance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Normal distribution, SVM, logistic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MinMaxScaler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z = (x-min)/(max-min)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[0,1] 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Neural network, image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RobustScaler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z = (x-Q2)/(Q3-Q1)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Median/IQR based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In the presence of outliers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6576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7947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sklearn.preprocessing import (StandardScaler,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MinMaxScaler, RobustScaler)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Important: fit is only for train, transform is for train/test All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scaler = StandardScaler()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X_train_scaled = scaler.fit_transform(X_train)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1. scaler.fit_transform(X_train) -- fit to train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657600"/>
            <a:ext cx="512064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2. scaler.transform(X_test) -- Only transform in 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1148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Wrong method: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scaler.fit_transform(X_all) -- fit all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Data Leakage Occurs!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1. scaler.fit_transform(X_train) -- train에 fit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2. scaler.transform(X_test) -- test에 transform만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잘못된 방법: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scaler.fit_transform(X_all) -- 전체 데이터에 fit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-&gt; Data Leakage 발생!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Encoding categorical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Label Encoding, One-Hot Encoding, Ordinal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Label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Assigning integers to each category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male-&gt;0, female-&gt;1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Suitable for tree model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Ordering relationship may occur (Caution)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df['Sex'].map({'male':0,'female':1})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One-Hot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Convert each category to binary vector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[1,0,0], [0,1,0], [0,0,1]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 ordering (safe)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Dimension explosion if there are many eigenvalues. Problem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pd.get_dummies(df, columns=['region'])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Ordinal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Assigning integers to ordered categories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Elementary-&gt;1, Middle-&gt;2, High-&gt;3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Preserving ordering information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Not appropriate for nominal variables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OrdinalEncoder(categories=...)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Encoding selection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Binary categories (2 values): Label Encoding -&gt; male/female, yes/no 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명목형 범주 (순서 없음): One-Hot Encoding -&gt; 지역, 색상, 제품종류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순서형 범주 (순서 있음): Ordinal Encoding -&gt; 학력, 등급, 만족도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고유값 매우 많음 (100+): Target Encoding, Hash Encoding 고려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주의: Label Encoding을 명목형에 사용하면 모델이 잘못된 순서 관계를 학습할 수 있음!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Tidy Data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Wickham (2014)'s 3 principles of tidy data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Wickham's 3 Principles of Tidy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Journal of Statistical Software, 2014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Principle 1: Variable =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Each variable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Constitutes one column.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Name, age, score, etc.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Each is expressed as a separate column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Principle 2: Observation =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Each observation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Each observation (observation)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Constitutes one row.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One Student information 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Expressed in one 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Principle 3: Observation unit = table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Each observation unit type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Constitutes one table.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Student table, subject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09728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Separated into separate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Five types of Messy Data (Wickham 2014)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(1) When the column header is a value rather than a variable name -&gt; melt() Conversion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(2) When multiple variables are stored in one column -&gt; Separate with str.split() + assign()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(3) When variables are stored across both rows and columns -&gt; Melt() + pivot() combination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(4) When multiple observation units are mixed in one table -&gt; Separate tables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(5) When one observation unit is distributed across multiple tables -&gt; Combine with merge()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 input The format ‘row=sample, column=characteristic’ exactly matches the Tidy Data principle!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melt/pivot: Messy -&gt; Tidy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Wide Format &lt;-&gt; Long Format conversion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Messy: When column header is a value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messy = pd.DataFrame({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'Name': ['Cheolsu Kim', 'Younghee Lee'],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'2023_Korean': [85, 92],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'2023_Math': [90, 88],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'2024_Korean': [88, 95],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'2024_math': [92, 90]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Convert to Tidy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tidy = (messy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.melt(id_vars='name',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var_name='subject_year',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value_name='score')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.assign(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year=lambda x: x['subject_year'].str.split('_').str[0],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subject=lambda x: x['subject_year'].str.split('_').str[1]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.drop(columns='Subject_Year')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melt() -- Wide -&gt; Long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id_vars: Columns to keep (identifier)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value_vars: Columns to melt (all others if omitted)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var_name: Variable name Column name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value_name: Value column name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Result: Wide table -&gt; Long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51206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pivot() / pivot_table() -- Long -&gt; Wide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846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index: Columns to be rows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columns: Columns to be columns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values: Columns to be values column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aggfunc: aggregate function (pivot_table only)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result: long table -&gt; wide table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Vectorization vs. Loops: The Science of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How to speed up 100 to 1000 times faster than Python loops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Vectorization vs Loops: Performance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Harris et al. (2020) 100-1000x speedup confirmed in Nature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32004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Python 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32004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NumPy vectorization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Execution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28600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Python interpreter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28600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C/Fortran compiled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9748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Type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69748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For each operation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69748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Only once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Memory access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10896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Discontinuous (pointer) tracking)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10896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Continuous (cache friendly)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Use SIMD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52044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Disabled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52044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Enabled (SSE, AVX)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319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GIL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93192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Retained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93192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Releasable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34340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343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BLAS/LAPACK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434340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Not used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34340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Used (Intel MKL, etc.)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57200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7091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 = 1_000_000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 = np.random.randn(n); b = np.random.randn(n)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Python loop: ~0.3 sec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c_loop = [a[i]+b[i] for i in range(n)]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NumPy vectorization: ~0.001 sec (300x) Fast!)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c_vec = a + 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57200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Summary of causes of speed improvement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0292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C compiled code: Eliminate Python interpreter overhead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Continuous memory: Maximize CPU L1/L2 cache hit rate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SIMD: Simultaneous processing of multiple data with a single command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Skip type check: check only once with homogeneous dtype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5. BLAS/LAPACK: Utilizing optimized numerical libraries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Role of SIMD and CPU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Hardware principles of vectorization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SIMD (Single Instruction, Multiple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Simultaneous processing of multiple data with one CPU instruction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AVX-256: Calculate 8 float32s at once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AVX-512: Calculate 16 float32s at once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NumPy utilizes SIMD instructions internally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SIMD cannot be utilized in a Python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CPU cache Efficiency || Benchmark: Pairwise Euclidean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200x300 Pairwise distance calculation result: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Python triple loop: ~15 seconds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NumPy vectorization: ~0.01 seconds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Numba JIT: ~0.02 seconds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Numba parallel: ~0.005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Vectorization is about 500 to 1000 times faster than loops!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Performance optimization selection guide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1st place: NumPy vectorization (simplest and fastest)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2nd place: Numba JIT (complex loop that is difficult to vectorize)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3rd place: Numba parallel (multi-core utilization)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If vectorization is possible, use NumPy. Best!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 Numba only for complex conditional branching/dynamic programming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성능 최적화 선택 가이드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463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1순위: NumPy 벡터화 (가장 간단하고 빠름)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2순위: Numba JIT (벡터화 어려운 복잡한 루프)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3순위: Numba parallel (멀티코어 활용)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벡터화 가능하면 NumPy가 최선!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복잡한 조건분기/동적 프로그래밍만 Numba 사용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Vectorization in Practice: Pairwise Euclidean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Loop vs Broadcasting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Python loop: O(n*m*d) triple loop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distance_loop(X,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n, d = X.shape; m = Y.shape[0]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 = np.zeros((n, m))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for i in range(n):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for j in range(m):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s = 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for k in range(d):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s += (X[i,k] - Y[j,k])**2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D[i,j] = np.sqrt(s)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NumPy broadcasting: just one line!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distance_vectorization(X,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np.sqrt(np.sum(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(X[:,np.newaxis,:] - Y[np.newaxis,:,:])**2,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axis=2))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Essential for distance-based algorithms such as KNN, K-Means!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Broadcasting Anatomy of Distance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X: shape (n, d)  -&gt;  (n, 1, 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Y: shape (m, d)  -&gt;  (1, m, 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X[:,np.newaxis,:] - Y[np.newaxis,:,:]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shape (n, m, d) (difference vector) |||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**2  -&gt; 제곱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np.sum(..., axis=2)  -&gt; 합산 -&gt; (n, m)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np.sqrt(...)  -&gt; 유클리드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전체 과정이 C 레벨에서 실행!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메모리: O(n*m*d) 필요 (큰 데이터 주의)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Integration of paper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Harris(2020), McKinney(2010), Walt(2011), Wickham(2014), Reback(2020)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Chapter 3 Overview of related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5 core papers and academic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Papers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828800"/>
            <a:ext cx="50292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contributions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828800"/>
            <a:ext cx="1371600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457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McKinney (2010)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228600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2286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Pandas DataFrame, Split-Apply-Combine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286000"/>
            <a:ext cx="1371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286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10,000+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88920"/>
            <a:ext cx="457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889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Walt et al. (2011)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2788920"/>
            <a:ext cx="5029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2788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ndarray internal structure (stride, dtype) documentation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788920"/>
            <a:ext cx="1371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7889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5,000+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91840"/>
            <a:ext cx="457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918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Harris et al. (2020)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329184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3291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NumPy Nature paper, array programming paradigm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291840"/>
            <a:ext cx="1371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3291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8,000+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94760"/>
            <a:ext cx="457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Reback et al. (2020)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40" y="3794760"/>
            <a:ext cx="5029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40" y="3794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Pandas official citation document, overview of all functions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3794760"/>
            <a:ext cx="1371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7947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15,000+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297680"/>
            <a:ext cx="457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297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Wickham (2014)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0" y="429768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40" y="4297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Tidy Data 3 principles, 5 types of messy 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4297680"/>
            <a:ext cx="1371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42976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7,000+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75488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4846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Linkage relationships between papers (in chronological order)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2120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McKinney (2010): 'ndarray is lacking for heterogeneous data' -&gt; Pandas development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Walt et al. (2011): Detailed documentation of ndarray's technical design (stride, ufunc, broadcast)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Wickham (2014): Systematization of principles of data organization -&gt; Influence on Pandas melt()/pivot_table() design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Harris et al. (2020): Summary of 15 years of NumPy development, officially recognized by Nature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Harris et al. (2020) -- NumPy Nature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"Array programming with NumPy", Nature, 585, 357-362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Background and significance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Publishing a SW library paper in Nature = Proof of the academic influence of NumPy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Summary of 15 years of NumPy development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Official recognition of NumPy's core role in modern scientific computing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Official definition of Array Programming paradigm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4 key contributions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Array programming paradigm: operation of the entire array instead of loops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Python scientific ecosystem layer structure visualization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NumPy API protocol: __array_ufunc__, __array_function__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GPU/Distributed Environment Extensions: JAX, CuPy, Dask Array Compatible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Key Quotes and Relevance to ML Subjects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"Array programming is a programming paradigm that applies operations to the entire array instead of looping over individual elements.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This paradigm simultaneously improves code conciseness, readability, and performance."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ML Subject Relevance: Almost all libraries (scikit-learn, TensorFlow, PyTorch) used in this course. Based on NumPy.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This paper systematically explains the design principles of the underlying infrastructure.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McKinney (2010) &amp; Wickham (2014)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The birth of Pandas and Tidy Data principles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McKinney (2010) -- The birth of 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"Data Structures for Statistical Computing in Python"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SciPy 2010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Background: Analyzing financial data at AQR Capital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Reducing the absence of R's data.frame counterpart structure in Python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Core contributions: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Introduction of Series and DataFrame (index-based automatic sorting)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Missing value (NaN) systematic handling API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Split-Apply-Combine pattern (groupby)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Relational data combining (merge, join)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Quote: "Python did not have a high-level data structure corresponding to R's data.frame."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Wickham (2014) -- Tidy Data principles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Background: 50-80% of a data scientist's job is data 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"Tidy Data", J. of Statistical Software, 59(10)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Lack of systematic theory -&gt; Systematization of principles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Core contributions: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3 principles of clean data (variable=column, observation=row, observation unit=table)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Classification of 5 types of messy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Transformation tools: melt(wide-&gt;long), pivot(long-&gt;wide)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ML Relevance: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scikit-learn's "row=sample, column=feature" format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 Exactly consistent with Tidy Data principles!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Quote: "If the data is clean, the same analysis code can be reused."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인용: "깔끔한 데이터면 동일 분석 코드를 재사용 가능"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Detailed explanation of implementation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3 practice codes: NumPy linear algebra, Pandas pipeline, vectorization benchmark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1: NumPy linear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01_numpy_linear_algebra.py - SVD dimensionality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9436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Dimensionality reduction using SVD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np.array([[1,2,0],[0,1,1],[2,0,1],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[1,1,1],[3,2,1]], dtype=float)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U, s, Vt = np.linalg.svd(A, full_matrices=False)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Approximation with top k singular values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k = 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A_approx = U[:,:k] @ np.diag(s[:k]) @ Vt[:k,:]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Energy (variance explanatory power) analysis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energy = s**2 / np.sum(s**2) * 100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print(f'singular value: {s}')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print(f'Energy ratio: {energy}')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print(f'top Accumulating {k} items: {np.sum(energy[:k]):.1f}%')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75488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Code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SVD: Decomposition into A = U * Sigma * V^T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Size of singular value (s) = amount of data variance in that direction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 only top k = Minimize information loss + dimensionality reduction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This is the mathematical basis of PCA!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full_matrices=False: Reduced SVD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U: (m, k), s: (k,), Vt: (k, 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Energy ratio = s^2 / sum(s^2) * 100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What percentage of the total variance does each singular value explain?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Practice: Choose k that preserves at least 95% of the cumulative energy.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1 (continued): Comparison of solving regular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Inverse matrix vs solve vs lstsq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400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Data generation: y = 3x + 2 + noise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np.random.seed(42)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X_raw = np.random.uniform(0, 10, (50, 1))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y = 3 * X_raw + 2 + np.random.normal(0, 1, (50, 1))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 = np.hstack([np.ones((50, 1)), X_raw])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Method 1: Matrix inversion (numerically unstable)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beta_inv = np.linalg.inv(X.T @ X) @ X.T @ 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Method 2: solve (LU decomposition-based, stable)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beta_solve = np.linalg.solve(X.T @ X, X.T @ 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Method 3: lstsq (SVD-based, most stable, recommended!)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beta_lstsq, _, _, _ = np.linalg.lstsq(X, y, rcond=None)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print(f'True value: intercept=2, slope=3')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print(f'lstsq: intercept={beta_lstsq[0,0]:.4f}, slope={beta_lstsq[1,0]:.4f}')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28800"/>
            <a:ext cx="42062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920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28600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Always use np.linalg.lstsq() in practice!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Problems of inverse matrix calculation: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In a matrix with a large condition number,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Numerical instability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Unable to process singular matrices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Advantages of lstsq: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The most stable based on SVD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Also handles rank-deficient matrices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Residuals, ranks, and singular values ​​are also returned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scikit-learn's LinearRegression also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Uses lstsq internally!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2: Pandas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02_pandas_data_pipeline.py - Comparing missing value strategies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9436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import pandas as pd; import numpy as np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np.random.seed(42); n = 500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df = pd.DataFrame({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'date': pd.date_range('2024-01-01', periods=n, freq='6H'),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'Customer ID': np.random.choice(['C001','C002','C003'], n),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'amount': np.random.exponential(50000, n).astype(int)+5000,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'quantity': np.random.randint(1, 10, size=n)})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Inserting artificial missing values ​​(10%)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mask = np.random.random(n) &lt; 0.1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df.loc[mask, 'amount'] = np.nan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Comparison of 5 strategies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strategies = {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'drop': df['amount'].dropna(),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'mean': df['amount'].fillna(df['amount'].mean()),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'Median': df['amount'].fillna(df['amount'].median()),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'0replace': df['amount'].fillna(0),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'Interpolation': df['amount'].interpolate()}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75488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Code interpretation and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Compare the impact of each strategy with mean and standard deviation: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Delete: Keep original statistics (data loss)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Mean: Mean equal, variance underestimation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Median: Robust to outliers, variance underestimation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0Replacement: Distortion of both mean and variance (not recommended)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Interpolation: Continuity in time series Maintain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GroupBy + Transform pattern: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Z-score normalization by group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Cumulative sum by group (cumsum)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Replace missing values ​​for each group with the group median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Most recommended: Choose the strategy that suits your situation!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2 (continued): GroupBy + Transform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Normalization and missing value handling by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Normalization of Z-score by customer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df['amount_zscore'] = df.groupby('customer ID')['amount'].transform(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lambda x: (x - x.mean()) / x.std())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Cumulative sum by customer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df['accumulated amount'] = df.groupby('Customer ID')['Amount'].cumsum()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Replace missing values for each customer with the group median value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df['Amount_filled'] = df.groupby('Customer ID')['Amount'].transform(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lambda x: x.fillna(x.median()))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This pattern is the most powerful tool in ML preprocessing!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Replacement by group is more accurate than overall average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The key to transform Characteristics ||| Is it useful?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Can be added as a new column directly to the original DataFrame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Group statistics are a more accurate replacement than overall statistics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transform: 그룹 -&gt; 원본 크기 (행 수 유지)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transform 활용 패턴: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1. 그룹별 Z-score 정규화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2. 그룹별 비율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3. 그룹별 결측치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4. 그룹별 누적합/이동평균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왜 유용한가?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원본 DataFrame에 바로 새 열로 추가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전체 통계보다 그룹 통계가 더 정확한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ML에서 피처 엔지니어링의 핵심 도구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3: Vectorization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03_vectorization_benchmark.py - Distance calculation performance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distance_loop(X,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n, d = X.shape; m = Y.shape[0]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 = np.zeros((n, m))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for i in range(n):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for j in range(m):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s = 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for k in range(d):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s += (X[i,k]-Y[j,k])**2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D[i,j] = np.sqrt(s)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distance_vectorization(X,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np.sqrt(np.sum(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(X[:,np.newaxis,:]-Y[np.newaxis,:,:])**2, axis=2))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 = np.random.randn(200, 10)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Y = np.random.randn(300, 10)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loop: ~15 sec / vectorization: ~0.01 sec / speed: ~1000x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Benchmark results and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200x300 pairwise distance (10 dimensions):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Method | time | Speed ​​ratio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Python loop | ~15 seconds | 1x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NumPy vectorization | ~0.01 second | 1,500x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Numba JIT | ~0.02 seconds | 750x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Numba parallel | ~0.005 seconds | 3,000x 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결과 일치: np.allclose(D_loop, D_vec) = True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KNN, K-Means 등 거리 기반 알고리즘에서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벡터화는 선택이 아닌 필수!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scikit-learn도 내부적으로 벡터화 사용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summary and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Chapter 3 key concepts summary and review questions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Key summary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Summary of all concepts learned in Chapter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Concepts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8686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ndarray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286000"/>
            <a:ext cx="8686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2860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Continuous memory, stride, homogeneous dtype, basis of vectorization operations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Broadcasting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697480"/>
            <a:ext cx="8686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697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Automation of operations between arrays of different sizes, stride=0 virtual expansion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DataFrame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108960"/>
            <a:ext cx="8686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1089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Heterogeneous table structure, independent array by column, label-based indexing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204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Method Chaining || | / Median / Interpolation / By group -- Select according to the situation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520440"/>
            <a:ext cx="8686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35204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Scaling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319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GroupBy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931920"/>
            <a:ext cx="8686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9319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Standard / MinMax / Robust -- Fit only to train, Beware of Leakage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4340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43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Tidy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343400"/>
            <a:ext cx="8686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3434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A = U Sigma V^T, the mathematical basis of PCA, the core of dimensionality reduction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5488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754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벡터화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4754880"/>
            <a:ext cx="8686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47548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C 루프, 연속 메모리, SIMD로 100~1000배 성능 향상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16636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결측치 전략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5166360"/>
            <a:ext cx="8686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5166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삭제 / 평균 / 중앙값 / 보간 / 그룹별 -- 상황에 맞게 선택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7784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577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스케일링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5577840"/>
            <a:ext cx="8686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5577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Standard / MinMax / Robust -- train에만 fit, Leakage 주의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98932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SVD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5989320"/>
            <a:ext cx="8686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59893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A = U Sigma V^T, PCA의 수학적 기반, 차원 축소의 핵심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Chapter 3 Summary of key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Major formulas used in NumPy and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Linear algebra decomposition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SVD: A = U * Sigma * V^T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Eigenvalue decomposition: Av = lambda * v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LU decomposition: A = P * L * U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QR decomposition: A = Q * R, Q^T Q = 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Normal equations and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Normal equation: beta = (X^T X^T 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Least squares method: min ||Xbeta - y||^2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Condition number: kappa(A) = ||A|| * ||A^{-1}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||Recommended: np.linalg.lstsq(X, 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Feature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StandardScaler: z = (x - mu) / sigma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MinMaxScaler: z = (x - x_min) / (x_max - x_min)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RobustScaler: z = (x - Q2) / (Q3 - Q1)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 Leakage: fit only to train, only transform to test!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Outlier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IQR: Q1 - 1.5*IQR &lt; x &lt; Q3 + 1.5*IQR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Z-score: |z| = |(x - mu)/sigma| &gt; 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Variance explanation power: s^2 / sum(s^2) * 100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Select k that preserves more than 95% of accumulated energy.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Large data processing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Beyond the limits of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82880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Suitable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Dask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2860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Pandas API compatible, lazy execution, distributed 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2860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Medium-large scale (several to hundreds of GB)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Polars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7432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Rust-based, lazy execution, very fast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7432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Single machine large-scale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Vaex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2004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Out-of-core, memory mapped, billions row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2004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Exploratory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PySpark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6576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Cluster distributed processing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6576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Very large scale (TB or more)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2519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Dask example -- almost identical to Pandas API!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import dask.dataframe as dd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ddf = dd.read_csv('large_*.csv')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result = ddf.groupby('col').mean().compute()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np.einsum: Einstein sum notation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 = np.einsum('ik,kj-&gt;ij', A, B)  # == A @ 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Batch matrix multiplication (deep learning attention)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scores = np.einsum('hid,hjd-&gt;hij', Q, K)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Practical data pipeline: Titanic example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72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pd.read_csv() -&gt; Loading DataFrame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Replace missing values ​​by group with groupby + transform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Categorical encoding with map()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Convert NumPy to .values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5. Split with train_test_split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6. StandardScaler: only fit for train!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7. Training and Evaluation with LogisticRegression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Advanced tools: np.einsum and Numba JIT || Accelerate Python loops to C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# Applied to complex loops that are difficult to vectorize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np.einsum Use cases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 = np.random.randn(3, 4)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B = np.random.randn(4, 5)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Matrix product: 'ik,kj-&gt;ij' == A @ 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 = np.einsum('ik,kj-&gt;ij', A, B)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Diagonal sum: 'ii-&gt;' == np.trace(A)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trace = np.einsum('ii-&gt;', np.eye(3))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Cross product: 'i,j-&gt;ij' == np.outer(a, b)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Q = np.random.randn(8, 64, 32)  # (heads, seq, d_k)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K = np.random.randn(8, 64, 32)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scores = np.einsum('hid,hjd-&gt;hij', Q, 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Batch matrix product: 'bij,bjk-&gt;bik'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numba import jit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@jit(nopython=True)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fast_func(X,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Excellent readability and excellent internal optimization!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Numba selection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Vectorizable -&gt; NumPy is best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Complex loops that are difficult to vectorize -&gt; Numba JIT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Parallelization required -&gt; Numba parallel (prange)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Numba JIT: Compilation (warm-up) on first call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Self-Attention: 'hid,hjd-&gt;hij'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Subsequent calls are C-level speed!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1206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Numba 선택 가이드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46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벡터화 가능 -&gt; NumPy가 최선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벡터화 어려운 복잡한 루프 -&gt; Numba JIT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병렬화 필요 -&gt; Numba parallel (prange)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Numba JIT: 첫 호출 시 컴파일 (warm-up)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이후 호출은 C 수준 속도!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NumPy-related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NumPy key questions 1 to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Q1. Explain the concept of stride in NumPy ndarray, and how stride changes during transpose operations.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stride = number of bytes to the next element in each dimension. Transpose swaps strides (no data copy!)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Q2. Describe the three rules of broadcasting and derive the resulting shape of the (3,1) + (1,4) operation.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Rule 1: Dimension matching, Rule 2: Check compatibility (3vs1, 1vs4), Rule 3: Virtual expansion -&gt; Result (3,4)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Q3. Explain the difference between C-order and F-order from a memory layout perspective, and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Please explain which one is more efficient in row-wise traversal, along with reasons.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C-order: High cache efficiency with row-first storage and continuous memory access when traversing the row direction.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Q4. Explains the layered structure of the Python scientific ecosystem presented in the Nature paper by Harris et al. (2020),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Explain why NumPy is located in the base layer.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NumPy is the base of Pandas, SciPy, scikit-learn, etc. ndarray provides a standard array interface.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Questions related to Pandas and data preprocessing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Pandas/preprocessing key questions 5-7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Q5. Explain the difference between loc and iloc in Pandas, and explain why the inclusion of the end index when slicing is different.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loc: label-based (including end) / iloc: integer position-based (without end, Python convention)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Q6. Explain McKinney's (2010) motivation for developing Pandas, and explain why NumPy ndarray is unsuitable for tabular data.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The absence of R’s data.frame corresponding structure in Python. ndarray only supports homogeneous types, so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Insufficient in processing heterogeneous tabular data with a mixture of strings + numbers + dates.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Q7. Compare the pros and cons of five missing value handling strategies, and find the most suitable strategy for time series data: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Please explain what it is with evidence.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Time series: interpolation is appropriate. Maintains temporal continuity and reflects trends in values ​​before and after.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Deleting rows breaks the temporal order, and replacing averages ignores temporal patterns.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Questions related to Tidy Data, Vectorization, Data Leakage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Advanced questions 8~10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Q8. Wickham's (2014) Tidy Data 3 principles are described, and messy data where the column header is the value is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Write Pandas code to convert to tidy data.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Principle: Variable=column, observation=row, observation unit=table. pd.melt(messy, id_vars='name', ...)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Q9. Why vectorized operations are 100 to 1000 times faster than Python loops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Please explain at hardware level (SIMD, CPU cache).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SIMD: Simultaneous processing of multiple data with one command (AVX-256: 8 float32)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CPU Cache: Maximize L1/L2 cache hit rate with continuous memory access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+ C compiled code, type check omitted, GIL released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Q10. Explain what Data Leakage is and how it occurs when StandardScaler is used incorrectly.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A phenomenon in which information from test data is leaked into training.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Wrong: scaler.fit_transform(X_all) -&gt; mean/standard deviation of test is reflected in training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Correct: scaler.fit_transform(X_train) followed by scaler.transform(X_test)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Summary of Chapter 3 key keywords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Everything in Chapter 3 on one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NumPy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ndarray, stride, dtype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C-order/F-order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 rules of broadcasting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ufunc, vectorization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SVD, eigenvalue decomposition, regular equations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DataFrame, Series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loc/iloc, query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Method chaining, pipe()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GroupBy: agg/transform/apply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merge/join, pivot/melt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Data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5 strategies for missing values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Outliers: IQR, Z-score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Scaling: Standard/MinMax/Robust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Encoding: Label/OneHot/Ordinal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 Leakage Prevention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Tidy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Wickham 2014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Variable=column, observation=row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observation unit=table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melt(wide-&gt;long)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pivot(long-&gt;wide)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114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Vectorization vs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100~1000 times speedup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SIMD, CPU cache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 compilation, type check omitted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GIL disabled, BLAS/LAPACK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Numba JIT Alternative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1148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Paper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McKinney (2010): Pandas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Walt et al. (2011): ndarray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Harris et al. (2020): NumPy Nature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Reback et al. (2020): Pandas formula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Wickham (2014): Tidy Data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Memory related cleanups: View/Copy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Memory efficiency strategies for NumPy and Pandas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NumPy View vs Copy cleanup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View (memory sharing): slicing, transpose, reshape, ravel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Copy (independent memory): fancy indexing, boolean indexing, flatten, copy()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Check: np.shares_memory(a, 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Caution: Modifying the View also changes the original!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Pandas Memory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Downcasting: int64-&gt;int32 (50-75% savings)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Categorical: object-&gt;category (90-99% savings)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Sparse: Mostly 0 data (90%+ savings)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Read chunks: chunksize parameter (RAM limit) my)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np.memmap: Memory mapped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Used when handling data larger than RAM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fp = np.memmap('data.dat', dtype='float32', mode='w+', shape=(1000000, 100))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Load only the necessary parts into memory: chunk = fp_read[500:600]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Some algorithms in scikit-learn also support memmap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Practical Tips &amp; Preview of the Next Chapter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How to use what you learned in Chapter 3 after Chapter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Top 5 Practical Tips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Always use np.linalg.lstsq() (inverse matrix not recommended)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StandardScaler: Fits only on train! (Data Leakage Prevention)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Constructing an easy-to-read pipeline with method chaining + pipe()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Preprocessing each group with GroupBy transform (more accurate than average)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5. Vectorization first, Numba JIT only when vectorization is not possible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Chapter 3 Location: In the ML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Chapter 1: ML overview (definition, learning types)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Chapter 2: ML project (entire pipeline)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Chapter 3: Data processing (NumPy + Pandas) [Current]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Chapter 4~: Concrete ML algorithms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Chapter 3 is the basis for data processing for all subsequent chapters!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McKinney, W. (2010). 'Data Structures for Statistical Computing in Python.' SciPy 2010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Walt, S. et al. (2011). 'The NumPy Array.' Computing in Science &amp; Engineering, 13(2)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Harris, C.R. et al. (2020). 'Array programming with NumPy.' Nature, 585, 357-362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Reback, J. et al. (2020). 'pandas-dev/pandas: Pandas.' Zenodo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Wickham, H. (2014). 'Tidy Data.' Journal of Statistical Software, 59(10)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74320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rPr/>
              <a:t>Chapter 3: Pandas and NumPy (Extended Detailed Version)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NumPy ndarray | Pandas DataFrame | Broadcasting | Vectorization | Tidy Data | Linear Algebra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rPr/>
              <a:t>If you have any questions, please feel free to ask!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