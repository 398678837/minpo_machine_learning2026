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3장: 판다스(Pandas)와 넘파이(NumPy)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Data Processing with Pandas &amp; NumPy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 키워드: ndarray · DataFrame · 브로드캐스팅 · 벡터화 · 선형대수 · GroupBy · Tidy Data · 데이터 전처리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(Contents)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50292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도입: 파이썬 과학 생태계와 ML 데이터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231136"/>
            <a:ext cx="50292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3113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3113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NumPy ndarray 내부 구조 (data, dtype, shape, strides)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633472"/>
            <a:ext cx="50292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63347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334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C-order vs F-order, dtype 시스템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035808"/>
            <a:ext cx="50292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3580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035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배열 생성 함수 총정리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438144"/>
            <a:ext cx="50292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4381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43814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인덱싱 4가지 (기본, 슬라이싱, 팬시, 불리언)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840480"/>
            <a:ext cx="50292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브로드캐스팅 규칙과 시각적 이해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242816"/>
            <a:ext cx="502920" cy="32004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24281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24281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유니버설 함수 (ufunc) + 집계 함수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4645152"/>
            <a:ext cx="50292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64515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645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선형대수 연산 (LU, QR, SVD, 고유값)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5047488"/>
            <a:ext cx="502920" cy="32004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04748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04748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뷰(View) vs 카피(Copy)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449824"/>
            <a:ext cx="502920" cy="32004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4982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449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Pandas DataFrame &amp; 인덱싱 + GroupBy/Merge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5852160"/>
            <a:ext cx="502920" cy="32004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852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852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데이터 전처리 + Tidy Data + 벡터화 성능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6254496"/>
            <a:ext cx="502920" cy="32004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625449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62544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논문 리뷰 · 실습 · 핵심 요약 · 복습 질문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도입: 파이썬 과학 생태계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Python Scientific Ecosystem &amp; ML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scikit-learn, TensorFlow, PyTorch, Keras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529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Domain-specific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Pandas (표 형식), SciPy (과학), matplotlib (시각화)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758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NumPy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ndarray, ufunc, broadcasting, linear algebra, FFT, random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056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Python + C Extensions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CPython 인터프리터, BLAS, LAPACK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697480"/>
            <a:ext cx="13716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26080" y="3520440"/>
            <a:ext cx="13716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26080" y="4343400"/>
            <a:ext cx="137160" cy="13716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2011680"/>
            <a:ext cx="557784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ML 파이프라인 데이터 흐름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6517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2697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1.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6974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pd.read_csv() 로 데이터 로딩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3375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3832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2. Pandas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3832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탐색(EDA) + 전처리 (결측치, 인코딩)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0233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069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3. NumPy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69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.to_numpy() 로 배열 변환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7091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7548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4. sklearn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StandardScaler, train_test_split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39496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5440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5. 모델링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440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model.fit(X_train, y_train) - 내부 NumPy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"데이터 과학자의 업무 시간 중 50~80%가 데이터 처리에 소비된다" - Wickham (2014)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Harris et al. (2020) Nature: NumPy는 파이썬 과학 생태계의 기반 인프라(foundation infrastructure)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NumPy ndarray 내부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4가지 핵심 구성 요소 (Walt et al., 2011)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데이터가 저장된</a:t>
            </a:r>
            <a:br/>
            <a:r>
              <a:t>메모리 버퍼 포인터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연속 메모리 블록에</a:t>
            </a:r>
            <a:br/>
            <a:r>
              <a:t>동질적 타입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201168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dtype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각 원소의</a:t>
            </a:r>
            <a:br/>
            <a:r>
              <a:t>데이터 타입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float64, int32 등</a:t>
            </a:r>
            <a:br/>
            <a:r>
              <a:t>타입 고정 → 성능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shape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각 차원의</a:t>
            </a:r>
            <a:br/>
            <a:r>
              <a:t>크기 튜플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(2, 3) → 2행 3열</a:t>
            </a:r>
            <a:br/>
            <a:r>
              <a:t>(100, 5) → 100샘플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011680"/>
            <a:ext cx="26517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011680"/>
            <a:ext cx="265176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057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맑은 고딕"/>
              </a:defRPr>
            </a:pPr>
            <a:r>
              <a:t>strides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517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다음 원소까지의</a:t>
            </a:r>
            <a:br/>
            <a:r>
              <a:t>바이트 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4747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(24, 8) → 행: 24B</a:t>
            </a:r>
            <a:br/>
            <a:r>
              <a:t>열: 8B (float64)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720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Python 리스트 메모리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리스트 객체 → [포인터1, 포인터2, ...]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각 포인터 → PyObject (28+ bytes)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불연속 메모리, 타입 체크 매번 → 느림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57200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NumPy ndarray 메모리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0292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ndarray → [8B | 8B | 8B | ...] 연속 블록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동질적 타입, 타입 체크 한 번만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CPU 캐시 친화적, SIMD 활용 가능 → 빠름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C-order vs F-order &amp; dtype 시스템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383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2011680"/>
            <a:ext cx="3383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C-order (row-major)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2011680"/>
            <a:ext cx="3383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20116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F-order (column-major)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60320"/>
            <a:ext cx="3383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60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메모리 레이아웃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560320"/>
            <a:ext cx="3383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560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행 우선 저장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560320"/>
            <a:ext cx="3383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560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열 우선 저장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17520"/>
            <a:ext cx="3383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빠른 접근 방향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3017520"/>
            <a:ext cx="3383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마지막 축 (열 방향)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3017520"/>
            <a:ext cx="3383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첫 번째 축 (행 방향)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3383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사용 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3474720"/>
            <a:ext cx="3383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NumPy 기본값, C 언어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3474720"/>
            <a:ext cx="3383280" cy="4114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3474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Fortran, MATLAB, 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3383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strides (2x3, int64)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931920"/>
            <a:ext cx="3383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(24, 8)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3931920"/>
            <a:ext cx="3383280" cy="4114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9319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(8, 16)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dtype 시스템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937760"/>
            <a:ext cx="265176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937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카테고리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4937760"/>
            <a:ext cx="265176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83280" y="4937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dtype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937760"/>
            <a:ext cx="265176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937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바이트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52560" y="4937760"/>
            <a:ext cx="2651760" cy="41148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0" y="493776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ML 활용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394960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정수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394960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int8 ~ int64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5394960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1792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 ~ 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52560" y="5394960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052560" y="53949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인덱스, 레이블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742432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742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부호 없는 정수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5742432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0" y="5742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uint8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5742432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5742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52560" y="5742432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5742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이미지 픽셀 (0~255)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089904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0899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부동소수점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83280" y="6089904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83280" y="60899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float16 / float32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6089904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60899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2 / 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052560" y="6089904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52560" y="608990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딥러닝 추론 / 학습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6437376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6437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부동소수점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83280" y="6437376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83280" y="6437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float64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6437376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6437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6437376"/>
            <a:ext cx="265176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052560" y="64373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과학 계산 (NumPy 기본)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6784848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6784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불리언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83280" y="6784848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83280" y="6784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bool_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6784848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217920" y="6784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052560" y="6784848"/>
            <a:ext cx="265176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52560" y="678484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마스크, 불리언 인덱싱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배열 생성 함수 총정리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Array Creation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기본 / 초기화 생성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np.array([1, 2, 3])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np.zeros((3, 4))        # 0으로 채움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np.ones((2, 3))          # 1로 채움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np.full((2, 3), 7)       # 7로 채움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np.empty((3, 3))        # 미초기화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np.eye(4)                  # 단위행렬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np.diag([1, 2, 3])      # 대각행렬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범위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np.arange(0, 10, 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[0, 2, 4, 6, 8]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np.linspace(0, 1, 5)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[0, 0.25, 0.5, 0.75, 1.0]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np.logspace(0, 3, 4)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→ [1, 10, 100, 1000]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난수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np.random.seed(42)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np.random.rand(3, 4)       # U(0,1)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np.random.randn(3, 4)     # N(0,1)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np.random.randint(0, 10, (3,4))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np.random.normal(0, 1, (100,))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np.random.choice(['a','b'], 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인덱싱 4가지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Basic, Slicing, Fancy, Boolean (Harris et al., 2020)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1. 기본 인덱싱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arr[0, 1]  →  2</a:t>
            </a:r>
            <a:br/>
            <a:br/>
            <a:r>
              <a:t>단일 원소 접근</a:t>
            </a:r>
            <a:br/>
            <a:r>
              <a:t>차원별 정수 인덱스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01168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2. 슬라이싱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arr[0:2, 1:3]  →  [[2,3],[6,7]]</a:t>
            </a:r>
            <a:br/>
            <a:r>
              <a:t>arr[:, 2]  →  [3, 7, 11]</a:t>
            </a:r>
            <a:br/>
            <a:br/>
            <a:r>
              <a:t>뷰(View) 반환 → 메모리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3. 팬시 인덱싱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arr[[0,2], [1,3]]  →  [2, 12]</a:t>
            </a:r>
            <a:br/>
            <a:br/>
            <a:r>
              <a:t>배열로 인덱싱</a:t>
            </a:r>
            <a:br/>
            <a:r>
              <a:t>카피(Copy) 반환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01168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2011680"/>
            <a:ext cx="274320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2057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4. 불리언 인덱싱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65176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arr[arr &gt; 5]</a:t>
            </a:r>
            <a:br/>
            <a:r>
              <a:t>  →  [6, 7, 8, 9, 10, 11, 12]</a:t>
            </a:r>
            <a:br/>
            <a:br/>
            <a:r>
              <a:t>조건 마스크 활용</a:t>
            </a:r>
            <a:br/>
            <a:r>
              <a:t>카피(Copy) 반환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arr = np.array([[1,2,3,4], [5,6,7,8], [9,10,11,12]])    # shape (3, 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브로드캐스팅 (Broadcasting)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크기 다른 배열 간 자동 연산 (Walt et al., 2011)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규칙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차원 수가 다르면, 적은 쪽의</a:t>
            </a:r>
            <a:br/>
            <a:r>
              <a:t>shape 앞에 1을 추가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2011680"/>
            <a:ext cx="35661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규칙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각 차원에서 크기가 같거나</a:t>
            </a:r>
            <a:br/>
            <a:r>
              <a:t>둘 중 하나가 1이면 호환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56616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규칙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크기 1인 차원을 다른 배열</a:t>
            </a:r>
            <a:br/>
            <a:r>
              <a:t>크기에 맞게 가상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47472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예제 1: (3,3) + (3,)  →  (3,3)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[a00 a01 a02]     [b0 b1 b2]     [a00+b0  a01+b1  a02+b2]</a:t>
            </a:r>
            <a:br/>
            <a:r>
              <a:t>[a10 a11 a12]  +  [b0 b1 b2]  =  [a10+b0  a11+b1  a12+b2]</a:t>
            </a:r>
            <a:br/>
            <a:r>
              <a:t>[a20 a21 a22]     [b0 b1 b2]     [a20+b0  a21+b1  a22+b2]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47472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예제 2: (3,1) + (1,4)  →  (3,4)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[a0]                         [a0+b0  a0+b1  a0+b2  a0+b3]</a:t>
            </a:r>
            <a:br/>
            <a:r>
              <a:t>[a1]  +  [b0 b1 b2 b3]  =   [a1+b0  a1+b1  a1+b2  a1+b3]</a:t>
            </a:r>
            <a:br/>
            <a:r>
              <a:t>[a2]                         [a2+b0  a2+b1  a2+b2  a2+b3]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502920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ML 활용: 데이터 중심화 &amp; Z-score 표준화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486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X_centered = X - X.mean(axis=0)    # (100,5) - (5,)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X_std = (X - mean) / std              # 브로드캐스팅 2회</a:t>
            </a:r>
          </a:p>
          <a:p>
            <a:pPr>
              <a:spcAft>
                <a:spcPts val="3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핵심: 실제 데이터 복사 없이 stride=0으로 가상 확장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유니버설 함수 (ufunc) + 집계 함수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Vectorized Element-wise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분류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011680"/>
            <a:ext cx="5943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0116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함수 예시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01168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수학 함수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56032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np.sin, np.cos, np.exp, np.log, np.sqrt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5603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560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원소별 수학 연산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6324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63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비교 함수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06324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30632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np.greater, np.equal, np.logical_and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06324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원소별 비교 (불리언 반환)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산술 함수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356616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566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np.add, np.subtract, np.multiply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56616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사칙연산 (연산자 오버로딩)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69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집계 함수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406908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069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np.sum, np.prod, np.min, np.max, np.mean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406908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축(axis)별 집계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7548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axis 파라미터 이해: np.sum(A, axis=?)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530352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axis=None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전체 합: 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5852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A = [[1,2,3],</a:t>
            </a:r>
            <a:br/>
            <a:r>
              <a:t>      [4,5,6]]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60" y="530352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axis=0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열 방향 합:</a:t>
            </a:r>
            <a:br/>
            <a:r>
              <a:t>[5, 7, 9]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17720" y="5852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행을 따라 축소</a:t>
            </a:r>
            <a:br/>
            <a:r>
              <a:t>(위→아래 접기)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5303520"/>
            <a:ext cx="3291840" cy="1097280"/>
          </a:xfrm>
          <a:prstGeom prst="roundRect">
            <a:avLst>
              <a:gd name="adj" fmla="val 5000"/>
            </a:avLst>
          </a:prstGeom>
          <a:solidFill>
            <a:srgbClr val="2D2D4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532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axis=1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349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행 방향 합:</a:t>
            </a:r>
            <a:br/>
            <a:r>
              <a:t>[6, 15]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85216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열을 따라 축소</a:t>
            </a:r>
            <a:br/>
            <a:r>
              <a:t>(왼→오 접기)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선형대수 연산과 ML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Linear Algebra for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LU 분해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A = P·L·U</a:t>
            </a:r>
            <a:br/>
            <a:r>
              <a:t>하삼각 × 상삼각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22860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연립방정식, 행렬식</a:t>
            </a:r>
            <a:br/>
            <a:r>
              <a:t>역행렬 효율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scipy.linalg.lu()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QR 분해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A = Q·R</a:t>
            </a:r>
            <a:br/>
            <a:r>
              <a:t>Q^T Q = I (직교)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3200400"/>
            <a:ext cx="22860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최소제곱법의</a:t>
            </a:r>
            <a:br/>
            <a:r>
              <a:t>수치 안정적 풀이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np.linalg.qr()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A = U·Σ·V^T</a:t>
            </a:r>
            <a:br/>
            <a:r>
              <a:t>특이값 분해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22860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PCA, 추천시스템</a:t>
            </a:r>
            <a:br/>
            <a:r>
              <a:t>LSA, 데이터 압축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np.linalg.svd()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011680"/>
            <a:ext cx="274320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고유값 분해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688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Av = λv</a:t>
            </a:r>
            <a:br/>
            <a:r>
              <a:t>고유값·고유벡터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3200400"/>
            <a:ext cx="2286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32918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PCA (공분산행렬)</a:t>
            </a:r>
            <a:br/>
            <a:r>
              <a:t>스펙트럴 클러스터링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0233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맑은 고딕"/>
              </a:defRPr>
            </a:pPr>
            <a:r>
              <a:t>np.linalg.eigh()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754880"/>
            <a:ext cx="2286000" cy="41148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54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선형대수 연산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4754880"/>
            <a:ext cx="4572000" cy="41148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4754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ML 활용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754880"/>
            <a:ext cx="3931920" cy="41148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47548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NumPy 함수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12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SVD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5212080"/>
            <a:ext cx="4572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5212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PCA, 추천 시스템, LSA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5212080"/>
            <a:ext cx="393192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521208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np.linalg.svd()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559552"/>
            <a:ext cx="22860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59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고유값 분해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5559552"/>
            <a:ext cx="45720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5559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PCA, 스펙트럴 클러스터링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5559552"/>
            <a:ext cx="393192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55595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np.linalg.eigh()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907024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90702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정규방정식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5907024"/>
            <a:ext cx="4572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40" y="59070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선형 회귀 (β = (X^TX)^-1 X^Ty)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06640" y="5907024"/>
            <a:ext cx="393192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06640" y="590702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np.linalg.lstsq()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254496"/>
            <a:ext cx="22860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254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행렬곱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6254496"/>
            <a:ext cx="457200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625449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신경망 순전파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06640" y="6254496"/>
            <a:ext cx="3931920" cy="32004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0" y="625449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@ 연산자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601968"/>
            <a:ext cx="2286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601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노름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34640" y="6601968"/>
            <a:ext cx="45720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34640" y="6601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L1, L2 규제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6601968"/>
            <a:ext cx="393192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06640" y="66019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np.linalg.norm()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뷰(View) vs 카피(Copy)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메모리 공유 여부에 따른 동작 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뷰 (View) - 메모리 공유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 = a[1:4]    # 슬라이싱 → 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b[0] = 99     # 원본도 변경됨!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효율적이지만 의도치 않은 변경 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카피 (Copy) - 독립 메모리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 = a[1:4].copy()  # 명시적 복사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c[0] = 100   # 원본 불변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메모리 추가 사용, 안전한 수정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45720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연산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411480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반환 유형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4114800"/>
            <a:ext cx="3200400" cy="4114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4114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메모리 공유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슬라이싱  a[1:4]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572000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572000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82896"/>
            <a:ext cx="4572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828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전치  a.T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4882896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4882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4882896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48828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193792"/>
            <a:ext cx="4572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19379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reshape()  (가능 시)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120640" y="5193792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5193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5193792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5193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504688"/>
            <a:ext cx="4572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5046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ravel()  (가능 시)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5504688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504688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5504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815584"/>
            <a:ext cx="4572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15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팬시 인덱싱  a[[0,2]]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20640" y="5815584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5815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카피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5815584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5815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6126480"/>
            <a:ext cx="4572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불리언 인덱싱  a[mask]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6126480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카피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21040" y="6126480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6126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4373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.copy()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120640" y="6437376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20640" y="6437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카피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21040" y="6437376"/>
            <a:ext cx="32004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6437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6748272"/>
            <a:ext cx="4572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67482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.flatten()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0640" y="6748272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20640" y="6748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카피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21040" y="6748272"/>
            <a:ext cx="32004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67482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Pandas DataFrame 내부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McKinney (2010): 이질적 표 형식 데이터 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DataFrame = 열별 독립 NumPy 배열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열이 서로 다른 dtype 가능 (이질적)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내부: 열마다 독립적 NumPy 배열 (또는 ExtensionArray)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행 인덱스(Index) + 열 이름(Columns) → 라벨 기반 접근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NumPy ndarray와 달리 문자열+숫자+날짜 혼합 가능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011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핵심 속성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(행 수, 열 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163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df.dtypes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816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각 열의 데이터 타입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723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07238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행 인덱스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284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32841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열 이름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8444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df.info()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5844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전반적 정보 (행/열, dtype, 메모리)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840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df.describe()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840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기술통계량 (평균, 표준편차, 사분위수)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8912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DataFrame 생성 예시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46320"/>
            <a:ext cx="6400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df = pd.DataFrame({</a:t>
            </a:r>
            <a:br/>
            <a:r>
              <a:t>    '이름': ['김철수', '이영희', '박민수'],</a:t>
            </a:r>
            <a:br/>
            <a:r>
              <a:t>    '나이': [28, 35, 42],</a:t>
            </a:r>
            <a:br/>
            <a:r>
              <a:t>    '키': [175.5, 162.3, 180.1],</a:t>
            </a:r>
            <a:br/>
            <a:r>
              <a:t>    '학생': [True, False, False]</a:t>
            </a:r>
            <a:br/>
            <a:r>
              <a:t>})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84632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E696"/>
                </a:solidFill>
                <a:latin typeface="Consolas"/>
              </a:defRPr>
            </a:pPr>
            <a:r>
              <a:t>df.dtypes:</a:t>
            </a:r>
            <a:br/>
            <a:r>
              <a:t>  이름     object</a:t>
            </a:r>
            <a:br/>
            <a:r>
              <a:t>  나이      int64</a:t>
            </a:r>
            <a:br/>
            <a:r>
              <a:t>  키      float64</a:t>
            </a:r>
            <a:br/>
            <a:r>
              <a:t>  학생       bool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Pandas 인덱싱 &amp; 메서드 체이닝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1. 열 선택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68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df['나이']           # Series</a:t>
            </a:r>
            <a:br/>
            <a:r>
              <a:t>df[['이름', '나이']]   # DataFrame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2. loc (라벨)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468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df.loc[0, '이름']    # 라벨 기반</a:t>
            </a:r>
            <a:br/>
            <a:r>
              <a:t>df.loc[0:1, ['이름']]  # 끝 포함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3. iloc (정수)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468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df.iloc[0, 0]        # 정수 위치</a:t>
            </a:r>
            <a:br/>
            <a:r>
              <a:t>df.iloc[0:2, 0:2]   # 끝 미포함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011680"/>
            <a:ext cx="274320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4. 불리언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468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onsolas"/>
              </a:defRPr>
            </a:pPr>
            <a:r>
              <a:t>df[df['나이'] &gt; 30]</a:t>
            </a:r>
            <a:br/>
            <a:r>
              <a:t>df.query('나이 &gt; 30 and 키 &gt; 170')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메서드 체이닝 (Method Chaining)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# 중간 변수 없이 연속 변환</a:t>
            </a:r>
            <a:br/>
            <a:r>
              <a:t>result = (df</a:t>
            </a:r>
            <a:br/>
            <a:r>
              <a:t>    .dropna()</a:t>
            </a:r>
            <a:br/>
            <a:r>
              <a:t>    .query('나이 &gt; 25')</a:t>
            </a:r>
            <a:br/>
            <a:r>
              <a:t>    .assign(나이대=lambda x: x['나이']//10*10)</a:t>
            </a:r>
            <a:br/>
            <a:r>
              <a:t>    .sort_values('키', ascending=False)</a:t>
            </a:r>
            <a:br/>
            <a: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pipe() - 커스텀 함수 체이닝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def 이상치_제거(df, col, n_std=3):</a:t>
            </a:r>
            <a:br/>
            <a:r>
              <a:t>    mean = df[col].mean()</a:t>
            </a:r>
            <a:br/>
            <a:r>
              <a:t>    std = df[col].std()</a:t>
            </a:r>
            <a:br/>
            <a:r>
              <a:t>    return df[abs(df[col]-mean) &lt;= n_std*std]</a:t>
            </a:r>
            <a:br/>
            <a:br/>
            <a:r>
              <a:t>result = (df</a:t>
            </a:r>
            <a:br/>
            <a:r>
              <a:t>    .pipe(이상치_제거, '키')</a:t>
            </a:r>
            <a:br/>
            <a:r>
              <a:t>    .assign(BMI=lambda x: x['키']/100)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GroupBy: 분할-적용-결합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Split-Apply-Combine (McKinney, 2010)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agg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23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그룹별 집계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df.groupby('부서')['연봉']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.agg(['mean', 'std', 'min', 'max'])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여러 통계량을 한 번에 계산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결과: 그룹 수 x 집계함수 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0116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423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원본 크기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df['연봉_zscore'] = 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df.groupby('부서')['연봉']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.transform(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  lambda x: (x-x.mean())/x.std())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결과 크기 = 원본 크기 (브로드캐스트 패턴)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8229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57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423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자유도 높은 연산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01752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def 상위N(group, n=3):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  return group.nlargest(n, '성과')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df.groupby('부서')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  .apply(상위N, n=2)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Merge와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SQL 스타일 데이터 결합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Join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274320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SQL 대응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0" y="2011680"/>
            <a:ext cx="320040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20116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011680"/>
            <a:ext cx="2560320" cy="5029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01168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결과 행 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60604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inner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34640" y="260604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INNER JOIN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260604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606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양쪽 모두 키 있는 행만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260604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6060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교집합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1089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left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10896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LEFT JOIN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310896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왼쪽 테이블 기준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78240" y="310896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왼쪽 전체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61188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118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right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61188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RIGHT JOIN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361188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0" y="3611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오른쪽 테이블 기준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361188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3611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오른쪽 전체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outer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41148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FULL OUTER JOIN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41148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양쪽 모두 포함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78240" y="411480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0" y="4114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합집합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4663440"/>
            <a:ext cx="1106424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Merge 코드 예시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5120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직원 = pd.DataFrame({</a:t>
            </a:r>
            <a:br/>
            <a:r>
              <a:t>    '사번': [1, 2, 3, 4],</a:t>
            </a:r>
            <a:br/>
            <a:r>
              <a:t>    '이름': ['김철수','이영희','박민수','정수진'],</a:t>
            </a:r>
            <a:br/>
            <a:r>
              <a:t>    '부서코드': ['D01','D02','D01','D03']</a:t>
            </a:r>
            <a:br/>
            <a:r>
              <a:t>})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512064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부서 = pd.DataFrame({</a:t>
            </a:r>
            <a:br/>
            <a:r>
              <a:t>    '코드': ['D01','D02','D03'],</a:t>
            </a:r>
            <a:br/>
            <a:r>
              <a:t>    '부서명': ['개발팀','마케팅팀','영업팀']</a:t>
            </a:r>
            <a:br/>
            <a:r>
              <a:t>})</a:t>
            </a:r>
            <a:br/>
            <a:r>
              <a:t>result = pd.merge(직원, 부서,</a:t>
            </a:r>
            <a:br/>
            <a:r>
              <a:t>    left_on='부서코드', right_on='코드', how='left')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윈도우 함수 &amp; 피벗 테이블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Rolling, Expanding, EWM, pivot_table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rolling(n)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고정 크기 n 윈도우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df['MA_7'] = df['주가'].rolling(7).mean()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7일/30일 이동평균 → 골든/데드 크로스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이동 표준편차 → 변동성 추정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expanding()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77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시작 ~ 현재 누적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97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df['누적평균'] = df['주가'].expanding().mean()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df['누적최대'] = df['주가'].expanding().max()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역대 최고가, 누적 수익률 계산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103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ewm(span=n)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23774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맑은 고딕"/>
              </a:defRPr>
            </a:pPr>
            <a:r>
              <a:t>지수 가중 이동평균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69748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df['EWM_12'] = df['주가'].ewm(span=12).mean()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최근 데이터에 더 큰 가중치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MACD = EWM_12 - EWM_26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7200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pivot_table - SQL GROUP BY + CASE WHEN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피벗 = pd.pivot_table(</a:t>
            </a:r>
            <a:br/>
            <a:r>
              <a:t>    매출,</a:t>
            </a:r>
            <a:br/>
            <a:r>
              <a:t>    values='매출액',</a:t>
            </a:r>
            <a:br/>
            <a:r>
              <a:t>    index='지역',         # 행 기준</a:t>
            </a:r>
            <a:br/>
            <a:r>
              <a:t>    columns='제품',       # 열 기준</a:t>
            </a:r>
            <a:br/>
            <a:r>
              <a:t>    aggfunc='mean',      # 집계 함수</a:t>
            </a:r>
            <a:br/>
            <a:r>
              <a:t>    margins=True          # 합계 행/열</a:t>
            </a:r>
            <a:br/>
            <a: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다중 집계: aggfunc={'매출액': ['mean','sum'], '수량': 'sum'}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교차표: pd.crosstab(매출['지역'], 매출['제품'])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Tidy Data 관점: pivot_table 결과 = wide format</a:t>
            </a:r>
          </a:p>
          <a:p>
            <a:pPr>
              <a:spcAft>
                <a:spcPts val="300"/>
              </a:spcAft>
              <a:defRPr sz="1100">
                <a:solidFill>
                  <a:srgbClr val="BBBBCC"/>
                </a:solidFill>
                <a:latin typeface="맑은 고딕"/>
              </a:defRPr>
            </a:pPr>
            <a:r>
              <a:t>분석 후 melt()로 long format(tidy)으로 재변환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결측치 5가지, 이상치 3가지, 스케일링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결측치 처리 5가지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164592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전략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103120"/>
            <a:ext cx="228600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182880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2286000" cy="32004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적합한 상황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68880"/>
            <a:ext cx="164592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6888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행 삭제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2468880"/>
            <a:ext cx="22860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9456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dropna()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468880"/>
            <a:ext cx="18288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468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단순함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68880"/>
            <a:ext cx="22860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결측 &lt; 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761488"/>
            <a:ext cx="164592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7614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평균 대체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2761488"/>
            <a:ext cx="228600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2761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fillna(mean)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2761488"/>
            <a:ext cx="182880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7614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분포 유지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761488"/>
            <a:ext cx="228600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76148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정규분포, MCAR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054096"/>
            <a:ext cx="164592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05409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중앙값 대체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94560" y="3054096"/>
            <a:ext cx="22860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054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fillna(median)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3054096"/>
            <a:ext cx="18288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3054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이상치 강건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054096"/>
            <a:ext cx="22860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054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편향 분포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346704"/>
            <a:ext cx="164592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346704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보간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3346704"/>
            <a:ext cx="228600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94560" y="3346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interpolate()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3346704"/>
            <a:ext cx="182880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33467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연속성 유지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3346704"/>
            <a:ext cx="2286000" cy="25603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3467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시계열 데이터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639312"/>
            <a:ext cx="164592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63931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그룹별 대체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94560" y="3639312"/>
            <a:ext cx="22860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194560" y="3639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groupby.transform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480560" y="3639312"/>
            <a:ext cx="18288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80560" y="36393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그룹 특성 반영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639312"/>
            <a:ext cx="2286000" cy="25603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36393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그룹 간 차이 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이상치 탐지 3가지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4297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4343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IQR 방법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Q1 - 1.5*IQR &lt; x &lt; Q3 + 1.5*IQR</a:t>
            </a:r>
            <a:br/>
            <a:r>
              <a:t>상자 수염 그림의 경계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291840" y="4297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29000" y="4343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Z-score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2900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|z| = |x - mu| / sigma &gt; 3</a:t>
            </a:r>
            <a:br/>
            <a:r>
              <a:t>정규분포 가정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429768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55080" y="4343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6CFF"/>
                </a:solidFill>
                <a:latin typeface="맑은 고딕"/>
              </a:defRPr>
            </a:pPr>
            <a:r>
              <a:t>Isolation Forest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55080" y="46177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이상치는 고립되기 쉬움</a:t>
            </a:r>
            <a:br/>
            <a:r>
              <a:t>트리 기반 비지도 학습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피처 스케일링 3가지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5669280"/>
            <a:ext cx="2011680" cy="3200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669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스케일러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5669280"/>
            <a:ext cx="3474720" cy="3200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0" y="56692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5040" y="5669280"/>
            <a:ext cx="2286000" cy="3200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35040" y="5669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21040" y="5669280"/>
            <a:ext cx="3017520" cy="32004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56692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사용 상황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8640" y="6035040"/>
            <a:ext cx="201168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6035040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560320" y="6035040"/>
            <a:ext cx="347472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60320" y="603504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z = (x - mu) / sigma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35040" y="6035040"/>
            <a:ext cx="228600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035040" y="603504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평균 0, 분산 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21040" y="6035040"/>
            <a:ext cx="301752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6035040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SVM, 로지스틱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48640" y="6309360"/>
            <a:ext cx="2011680" cy="2468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6309360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560320" y="6309360"/>
            <a:ext cx="3474720" cy="2468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0" y="630936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z = (x - min) / (max - min)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35040" y="6309360"/>
            <a:ext cx="2286000" cy="2468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35040" y="630936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[0, 1] 범위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21040" y="6309360"/>
            <a:ext cx="3017520" cy="246888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321040" y="6309360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신경망, 이미지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8640" y="6583680"/>
            <a:ext cx="201168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6583680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60320" y="6583680"/>
            <a:ext cx="347472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60320" y="6583680"/>
            <a:ext cx="3474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z = (x - Q2) / (Q3 - Q1)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35040" y="6583680"/>
            <a:ext cx="228600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0" y="6583680"/>
            <a:ext cx="2286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중앙값/IQR 기반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321040" y="6583680"/>
            <a:ext cx="3017520" cy="246888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21040" y="6583680"/>
            <a:ext cx="30175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맑은 고딕"/>
              </a:defRPr>
            </a:pPr>
            <a:r>
              <a:t>이상치 존재 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Tidy Data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Wickham (2014) - Journal of Statistical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원칙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변수 = 열 (Column)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각 변수는 하나의 열을 구성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0116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원칙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관측 = 행 (Row)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각 관측은 하나의 행을 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1168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원칙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관측단위 =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468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각 관측 단위 유형은 하나의 테이블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83280"/>
            <a:ext cx="5303520" cy="3017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Messy Data (열 헤더가 값)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40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messy = pd.DataFrame({</a:t>
            </a:r>
            <a:br/>
            <a:r>
              <a:t>    '이름': ['김철수', '이영희'],</a:t>
            </a:r>
            <a:br/>
            <a:r>
              <a:t>    '2023_국어': [85, 92],</a:t>
            </a:r>
            <a:br/>
            <a:r>
              <a:t>    '2023_수학': [90, 88],</a:t>
            </a:r>
            <a:br/>
            <a:r>
              <a:t>    '2024_국어': [88, 95],</a:t>
            </a:r>
            <a:br/>
            <a:r>
              <a:t>    '2024_수학': [92, 90]</a:t>
            </a:r>
            <a:br/>
            <a:r>
              <a:t>})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83280"/>
            <a:ext cx="5303520" cy="30175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Tidy Data (melt 변환)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40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tidy = (messy</a:t>
            </a:r>
            <a:br/>
            <a:r>
              <a:t>    .melt(id_vars='이름',</a:t>
            </a:r>
            <a:br/>
            <a:r>
              <a:t>          var_name='과목_연도',</a:t>
            </a:r>
            <a:br/>
            <a:r>
              <a:t>          value_name='점수')</a:t>
            </a:r>
            <a:br/>
            <a:r>
              <a:t>    .assign(</a:t>
            </a:r>
            <a:br/>
            <a:r>
              <a:t>        연도=lambda x: x['과목_연도'].str[:4],</a:t>
            </a:r>
            <a:br/>
            <a:r>
              <a:t>        과목=lambda x: x['과목_연도'].str[5:])</a:t>
            </a:r>
            <a:br/>
            <a:r>
              <a:t>    .drop(columns='과목_연도')</a:t>
            </a:r>
            <a:br/>
            <a:r>
              <a:t>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6446520"/>
            <a:ext cx="11064240" cy="320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Tidy Data 이점: groupby/agg 자연 동작 | seaborn 호환 | ML 파이프라인 직접 투입 | scikit-learn: 행=샘플, 열=특성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벡터화 vs 루프: 성능의 과학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왜 NumPy가 100~1000배 빠른가? (Harris et al., 2020)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011680"/>
            <a:ext cx="365760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Python 루프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011680"/>
            <a:ext cx="4114800" cy="4572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NumPy 벡터화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2860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실행 엔진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2560320"/>
            <a:ext cx="36576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256032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Python 인터프리터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560320"/>
            <a:ext cx="41148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560320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맑은 고딕"/>
              </a:defRPr>
            </a:pPr>
            <a:r>
              <a:t>C/Fortran 컴파일 코드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99232"/>
            <a:ext cx="22860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99232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타입 체크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2999232"/>
            <a:ext cx="36576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2999232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매 연산마다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999232"/>
            <a:ext cx="41148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9923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맑은 고딕"/>
              </a:defRPr>
            </a:pPr>
            <a:r>
              <a:t>한 번만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38144"/>
            <a:ext cx="22860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38144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메모리 접근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3438144"/>
            <a:ext cx="36576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3438144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불연속 (포인터 추적)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438144"/>
            <a:ext cx="41148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438144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맑은 고딕"/>
              </a:defRPr>
            </a:pPr>
            <a:r>
              <a:t>연속 (캐시 친화적)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77056"/>
            <a:ext cx="22860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877056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SIMD 활용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3877056"/>
            <a:ext cx="36576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3877056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불가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877056"/>
            <a:ext cx="41148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3877056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맑은 고딕"/>
              </a:defRPr>
            </a:pPr>
            <a:r>
              <a:t>가능 (SSE, AVX)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15968"/>
            <a:ext cx="22860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315968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GIL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4315968"/>
            <a:ext cx="36576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4315968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보유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315968"/>
            <a:ext cx="4114800" cy="393192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31596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맑은 고딕"/>
              </a:defRPr>
            </a:pPr>
            <a:r>
              <a:t>해제 가능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54880"/>
            <a:ext cx="22860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754880"/>
            <a:ext cx="2286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BLAS/LAPACK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4754880"/>
            <a:ext cx="36576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4754880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4545"/>
                </a:solidFill>
                <a:latin typeface="맑은 고딕"/>
              </a:defRPr>
            </a:pPr>
            <a:r>
              <a:t>미사용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754880"/>
            <a:ext cx="4114800" cy="393192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4754880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E696"/>
                </a:solidFill>
                <a:latin typeface="맑은 고딕"/>
              </a:defRPr>
            </a:pPr>
            <a:r>
              <a:t>활용 (Intel MKL 등)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30352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벤치마크: 100만 원소 덧셈 (a + 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Python 루프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032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~300ms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5760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545"/>
                </a:solidFill>
                <a:latin typeface="맑은 고딕"/>
              </a:defRPr>
            </a:pPr>
            <a:r>
              <a:t>1x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List Comprehension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~200ms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5760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맑은 고딕"/>
              </a:defRPr>
            </a:pPr>
            <a:r>
              <a:t>1.5x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5760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NumPy 벡터화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75520" y="57607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~0.3ms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89920" y="5760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E696"/>
                </a:solidFill>
                <a:latin typeface="맑은 고딕"/>
              </a:defRPr>
            </a:pPr>
            <a:r>
              <a:t>1000x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논문 리뷰 (5편)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Key Paper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McKinney</a:t>
            </a:r>
            <a:br/>
            <a:r>
              <a:t>(2010)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8346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Data Structures for</a:t>
            </a:r>
            <a:br/>
            <a:r>
              <a:t>Statistical Computing</a:t>
            </a:r>
            <a:br/>
            <a:r>
              <a:t>in Python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2336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Pandas 탄생</a:t>
            </a:r>
            <a:br/>
            <a:r>
              <a:t>DataFrame, GroupBy</a:t>
            </a:r>
            <a:br/>
            <a:r>
              <a:t>Split-Apply-Combine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Walt et al.</a:t>
            </a:r>
            <a:br/>
            <a:r>
              <a:t>(2011)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28346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The NumPy Array:</a:t>
            </a:r>
            <a:br/>
            <a:r>
              <a:t>Efficient Numerical</a:t>
            </a:r>
            <a:br/>
            <a:r>
              <a:t>Computation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02336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ndarray 아키텍처</a:t>
            </a:r>
            <a:br/>
            <a:r>
              <a:t>stride, ufunc</a:t>
            </a:r>
            <a:br/>
            <a:r>
              <a:t>브로드캐스팅 문서화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6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Harris et al.</a:t>
            </a:r>
            <a:br/>
            <a:r>
              <a:t>(2020)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8346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Array programming</a:t>
            </a:r>
            <a:br/>
            <a:r>
              <a:t>with NumPy</a:t>
            </a:r>
            <a:br/>
            <a:r>
              <a:t>(Nature)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0640" y="402336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배열 프로그래밍 패러다임</a:t>
            </a:r>
            <a:br/>
            <a:r>
              <a:t>생태계 레이어 시각화</a:t>
            </a:r>
            <a:br/>
            <a:r>
              <a:t>NumPy API 프로토콜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Reback et al.</a:t>
            </a:r>
            <a:br/>
            <a:r>
              <a:t>(2020)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28346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pandas-dev/pandas</a:t>
            </a:r>
            <a:br/>
            <a:r>
              <a:t>(Zenodo)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0" y="402336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Pandas 공식 인용</a:t>
            </a:r>
            <a:br/>
            <a:r>
              <a:t>Apache Arrow 백엔드</a:t>
            </a:r>
            <a:br/>
            <a:r>
              <a:t>CSV~Parquet IO 지원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011680"/>
            <a:ext cx="21945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92640" y="20116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20574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Wickham</a:t>
            </a:r>
            <a:br/>
            <a:r>
              <a:t>(2014)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9800" y="28346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Tidy Data</a:t>
            </a:r>
            <a:br/>
            <a:r>
              <a:t>(J. Stat. Software)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402336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4206240"/>
            <a:ext cx="1920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Tidy Data 3원칙</a:t>
            </a:r>
            <a:br/>
            <a:r>
              <a:t>Messy Data 5유형</a:t>
            </a:r>
            <a:br/>
            <a:r>
              <a:t>melt/pivot 체계화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실습 소개 (3개 구현 소스)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01_numpy_linear_algebra.py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NumPy 선형대수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LU / QR / SVD 분해 구현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고유값 분해와 PCA 연결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정규방정식 3가지 풀이 비교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  inv(비추천) vs solve vs lstsq(권장)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SVD 차원 축소: 정보 보존 비율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02_pandas_pipeline.py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Pandas 데이터 파이프라인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메서드 체이닝 + pipe() 실전 패턴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결측치 5가지 전략 비교 실험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GroupBy + transform (그룹별 Z-score)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Rolling 윈도우 함수 활용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Tidy Data 변환 (melt/pivot)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011680"/>
            <a:ext cx="356616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011680"/>
            <a:ext cx="3566160" cy="50292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0574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실습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03_vectorization_benchmark.py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맑은 고딕"/>
              </a:defRPr>
            </a:pPr>
            <a:r>
              <a:t>벡터화 벤치마크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29184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쌍별 유클리드 거리 3중 루프 vs 벡터화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행렬곱 성능 비교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기술통계량 계산 벤치마크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결과: 벡터화 500~1000배 속도 향상</a:t>
            </a:r>
          </a:p>
          <a:p>
            <a:pPr>
              <a:spcAft>
                <a:spcPts val="400"/>
              </a:spcAft>
              <a:defRPr sz="1200">
                <a:solidFill>
                  <a:srgbClr val="BBBBCC"/>
                </a:solidFill>
                <a:latin typeface="맑은 고딕"/>
              </a:defRPr>
            </a:pPr>
            <a:r>
              <a:t>KNN, K-Means 등 거리 알고리즘 필수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핵심 요약 (Key Takeaways)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FF"/>
                </a:solidFill>
                <a:latin typeface="맑은 고딕"/>
              </a:defRPr>
            </a:pPr>
            <a:r>
              <a:t>ndarray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560320"/>
            <a:ext cx="18288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연속 메모리, stride, 동질적 dtype</a:t>
            </a:r>
            <a:br/>
            <a:r>
              <a:t>벡터화 연산의 기반 인프라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2FF"/>
                </a:solidFill>
                <a:latin typeface="맑은 고딕"/>
              </a:defRPr>
            </a:pPr>
            <a:r>
              <a:t>브로드캐스팅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56032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크기 다른 배열 간 자동 연산</a:t>
            </a:r>
            <a:br/>
            <a:r>
              <a:t>stride=0 가상 확장, 메모리 효율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맑은 고딕"/>
              </a:defRPr>
            </a:pPr>
            <a:r>
              <a:t>DataFrame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651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이질적 표 구조, 열별 독립 배열</a:t>
            </a:r>
            <a:br/>
            <a:r>
              <a:t>loc/iloc 라벨/정수 인덱싱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맑은 고딕"/>
              </a:defRPr>
            </a:pPr>
            <a:r>
              <a:t>GroupBy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846320"/>
            <a:ext cx="18288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분할-적용-결합 패턴</a:t>
            </a:r>
            <a:br/>
            <a:r>
              <a:t>agg / transform / apply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4545"/>
                </a:solidFill>
                <a:latin typeface="맑은 고딕"/>
              </a:defRPr>
            </a:pPr>
            <a:r>
              <a:t>Tidy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84632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변수=열, 관측=행 (Wickham 2014)</a:t>
            </a:r>
            <a:br/>
            <a:r>
              <a:t>melt/pivot으로 변환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29768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434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6CFF"/>
                </a:solidFill>
                <a:latin typeface="맑은 고딕"/>
              </a:defRPr>
            </a:pPr>
            <a:r>
              <a:t>벡터화 성능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484632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9377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C 루프 + SIMD + 캐시 = 1000배</a:t>
            </a:r>
            <a:br/>
            <a:r>
              <a:t>모든 ML 코드의 기본 원칙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(Review Questions)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74520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Q1. NumPy ndarray의 stride 개념을 설명하고, 전치(transpose) 시 stride 변화를 설명하시오.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50008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Q2. 브로드캐스팅의 3가지 규칙을 기술하고, (3,1) + (1,4) 결과 shape을 유도하시오.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25496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7977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Q3. C-order와 F-order의 차이를 메모리 레이아웃 관점에서 설명하시오.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00984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5526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Q4. Pandas loc과 iloc의 차이를 설명하고, 슬라이싱 끝 인덱스 포함 여부를 비교하시오.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76472"/>
            <a:ext cx="73152" cy="2743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3075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Q5. McKinney(2010)가 Pandas를 개발한 동기와 NumPy ndarray의 한계를 기술하시오.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73152" cy="27432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Q6. 결측치 처리 5가지 전략의 장단점을 비교하고, 시계열에 적합한 전략을 설명하시오.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27448"/>
            <a:ext cx="73152" cy="27432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817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Q7. Wickham(2014)의 Tidy Data 3원칙과 messy→tidy 변환 Pandas 코드를 작성하시오.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202936"/>
            <a:ext cx="73152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5721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Q8. 벡터화 연산이 Python 루프보다 빠른 이유를 하드웨어(SIMD, 캐시)에서 설명하시오.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78424"/>
            <a:ext cx="73152" cy="27432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632704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Q9. Harris et al.(2020)의 파이썬 과학 생태계 레이어 구조를 설명하시오.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53912"/>
            <a:ext cx="73152" cy="27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08192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Q10. Data Leakage란 무엇이며, StandardScaler 잘못 사용 시 어떻게 발생하는지 설명하시오.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3장: 판다스(Pandas)와 넘파이(NumPy)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8404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다음 장: 4장 - 선형회귀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