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3장: 판다스와 넘파이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Pandas &amp; NumPy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NumPy ndarray · Pandas DataFrame · 브로드캐스팅 · 벡터화 · Tidy Data · 선형대수 · 데이터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대학원 박사과정 수준 | 기계학습 3장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 - 1/2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1. 도입: 데이터 없이는 ML도 없다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1.1 Python 과학 생태계의 레이어 구조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1.2 ML 파이프라인에서의 데이터 흐름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1.3 왜 파이썬인가?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2. NumPy 심화: ndarray의 세계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2.1 ndarray 내부 구조 (4가지 핵심 요소)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2.2 메모리 레이아웃과 Stride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2.3 C-order vs F-order / dtype 시스템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2.4 배열 생성 함수 총정리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2.5 배열 인덱싱과 슬라이싱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2.6 브로드캐스팅 3가지 규칙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2.7 브로드캐스팅 코드 예제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2.8 유니버설 함수 (ufunc)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2.9 선형대수 기본 / SVD / 고유값 분해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2.10 정규방정식과 View vs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 - 2/2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3. Pandas 심화: DataFrame의 세계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3.1 DataFrame 구조 / 인덱싱 (loc vs iloc)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3.2 메서드 체이닝 / GroupBy / Merge·Join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3.3 시계열 윈도우 함수 / Apply·Map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4. 데이터 전처리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4.1 결측치 처리 5가지 / 이상치 탐지 3가지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4.2 피처 스케일링 3가지 / 인코딩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5. Tidy Data 개념 (Wickham 2014)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6. 벡터화 vs 루프: 성능의 과학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7. 논문 리뷰 통합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8. 구현 코드 상세 해설 (3개 실습)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Section 9. 핵심 요약 및 복습 질문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 (Learning 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1. NumPy ndarray의 내부 메모리 구조(stride, dtype, C/F-order)를 설명하고, 성능 최적화에 활용할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2. 브로드캐스팅 규칙을 정확히 적용하여 다양한 형태의 배열 간 연산을 수행할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3. LU/QR/SVD/고유값 분해를 NumPy로 구현하고, ML 알고리즘(PCA, 선형회귀)에서의 활용을 설명할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4. Pandas DataFrame의 내부 구조를 이해하고, method chaining과 pipe()로 데이터 파이프라인을 구성할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 결측치 처리 5가지, 이상치 탐지 3가지, 피처 스케일링 3가지를 비교 분석할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6. Wickham의 Tidy Data 원칙을 적용하여 messy data를 tidy data로 변환할 수 있다.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7. 벡터화 연산과 Python 루프의 성능 차이를 하드웨어 수준(SIMD, 캐시)에서 설명할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도입: 데이터 없이는 ML도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Python 생태계와 ML 파이프라인에서의 NumPy·Pandas 역할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Python 과학 생태계의 레이어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Harris et al. (2020) Nature 논문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Layer 4: 응용 라이브러리 (Applications)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scikit-learn, TensorFlow, PyTorch, Keras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Layer 3: 도메인별 라이브러리 (Domain-specific)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 (표 형식 데이터)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SciPy (과학 알고리즘), matplotlib (시각화)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Layer 2: NumPy (기반 인프라)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ndarray, ufunc, broadcasting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linear algebra, FFT, random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50292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Layer 1: Python + C Extensions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BLAS, LAPACK, C/Fortran 컴파일 코드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828800"/>
            <a:ext cx="56692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NumPy는 생태계의 기반 인프라(foundation infrastructure)로 기능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 DataFrame은 내부적으로 NumPy 배열을 감싸고(wrapping)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scikit-learn의 fit()/predict()는 NumPy 배열을 입력으로 받음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TensorFlow/PyTorch 텐서도 NumPy 배열과 상호 변환 기본 제공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Andrew Ng: '데이터가 왕이다 (Data is King)'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프로젝트에서 데이터 처리에 50~80% 시간 소비 (Wickham, 2014)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ML 파이프라인에서의 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Pandas -&gt; NumPy -&gt; scikit-learn 데이터 변환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1단계: Pandas로 데이터 로딩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pd.read_csv('data.csv')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2단계: Pandas로 탐색 및 전처리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df.dropna()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df['new_feature'] = df['feature_a'] * df['feature_b']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3단계: NumPy 배열로 변환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df[['feature_a','feature_b','new_feature']].to_numpy()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df['target'].to_numpy()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4단계: scikit-learn으로 모델링 (내부적으로 NumPy)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X_train, X_test, y_train, y_test = train_test_split(X,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X_train_scaled = scaler.fit_transform(X_train)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model.fit(X_train_scaled, y_train)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8404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파이프라인 흐름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2860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수집 -&gt; 데이터 탐색(EDA)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데이터 전처리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피처 엔지니어링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모델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모델 평가 -&gt; 배포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Pandas: 로딩, 탐색, 전처리 담당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NumPy: 수치 연산의 기반 제공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scikit-learn: 모델링 (내부 NumPy)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실무에서 모델 학습 이전의 모든 단계가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처리에 해당 (전체 시간의 50-80%)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파이썬인가?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접착 언어(Glue Language)로서의 역할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파이썬의 핵심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파이썬 자체는 느리지만, 성능이 중요한 부분은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C/Fortran으로 작성된 라이브러리(BLAS, LAPACK)가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NumPy는 이 전략의 대표적 성공 사례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접착 언어(glue language): 다양한 라이브러리를 연결하는 역할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McKinney (2010)의 Pandas 개발 동기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'파이썬에는 R의 data.frame에 대응하는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고수준 데이터 구조가 없었다.'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ndarray: 동질적 수치 데이터에 탁월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하지만 이질적 표 형식 데이터는 부족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이 간극을 메우기 위해 Pandas 탄생!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NumPy + Pandas의 역할 분담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NumPy: 동질적(homogeneous) 수치 데이터의 고속 연산 -- ndarray는 연속 메모리에 동일 타입 데이터 저장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Pandas: 이질적(heterogeneous) 표 형식 데이터 -- DataFrame은 열마다 다른 dtype 허용 (문자열+숫자+날짜)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조합이 파이썬을 데이터 과학의 지배적 언어로 만드는 데 결정적 역할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NumPy 심화: ndarray의 세계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ndarray 내부 구조, 메모리 레이아웃, 브로드캐스팅, 선형대수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ndarray 내부 구조: 4가지 핵심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Walt et al. (2011)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data (데이터 포인터)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데이터가 저장된 메모리 버퍼의 포인터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수치 데이터가 연속 메모리에 저장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 리스트와의 근본적 차이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dtype (데이터 타입)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원소의 데이터 타입 (float64, int32 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원소가 동일한 타입 (동질적)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 크기와 연산 방식 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shape (형태)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차원의 크기를 나타내는 튜플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(2, 3) -&gt; 2행 3열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ndim: 차원 수, size: 전체 원소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strides (보폭)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차원에서 다음 원소까지의 바이트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(24, 8) -&gt; 행 이동 시 24바이트, 열 이동 시 8바이트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전치(transpose)는 stride만 교환 (데이터 복사 없음!)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57600"/>
            <a:ext cx="566928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 = np.array([[1.0, 2.0, 3.0],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[4.0, 5.0, 6.0]])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print(f'dtype:   {arr.dtype}')    #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print(f'shape:   {arr.shape}')    # (2, 3)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print(f'strides: {arr.strides}')  # (24, 8)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print(f'nbytes:  {arr.nbytes}')   # 48 = 2*3*8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print(f'ndim:    {arr.ndim}')     #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print(f'size:    {arr.size}')     #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메모리 레이아웃과 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ndarray vs Python 리스트의 근본적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Python 리스트의 메모리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리스트 객체 --&gt; [포인터1, 포인터2, ...]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포인터 -&gt; 독립적인 PyObject (28+ bytes each)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불연속 메모리: CPU 캐시 미스 빈번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 원소 접근 시 타입 체크 오버헤드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NumPy 배열의 메모리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 객체 --&gt; [8B | 8B | 8B | ...]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 메모리 블록에 동질적 타입 데이터 저장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CPU 캐시 적중률(hit rate)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SIMD(단일 명령 다중 데이터) 활용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Stride 시각적 설명 (2x3 float64, C-order)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메모리: [1.0][2.0][3.0][4.0][5.0][6.0]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바이트:  0    8   16   24   32   40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shape = (2, 3)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strides = (24, 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행 방향(axis=0): 24바이트 = 3원소 x 8B/원소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열 방향(axis=1):  8바이트 = 1원소 x 8B/원소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 2, 3, 4],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[5, 6, 7, 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[9, 10, 11, 12]], dtype=np.float64)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print(f'shape: {a.shape}')      # (3, 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print(f'strides: {a.strides}')  # (32, 8)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전치(transpose)는 stride만 바꾼다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(데이터 복사 없음!)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a.T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print(f'전치 shape: {b.shape}')    # (4, 3)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print(f'전치 strides: {b.strides}')# (8, 32)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C-order vs F-order / dtype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메모리 순서와 데이터 타입 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순서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메모리 레이아웃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빠른 접근 방향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사용 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C-order (row-major)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행 우선 저장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마지막 축 (열 방향)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NumPy 기본,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F-order (col-major)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열 우선 저장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첫번째 축 (행 방향)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Fortran, MATLAB, 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카테고리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20040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바이트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2004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범위/용도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정수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6576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int8 / int16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65760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 /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-128~127 / -32768~32767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정수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0233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int32 / int64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02336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4 / 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일반 정수 / 큰 정수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부호없는 정수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3891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uint8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438912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38912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0~255 (이미지 픽셀)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7548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부동소수점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7548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float16 / float32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475488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 / 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475488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딥러닝 추론 / 학습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1206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부동소수점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51206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float64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0" y="512064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과학 계산 기본값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4864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복소수/불리언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54864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complex128 / bool_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548640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206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16 / 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49440" y="548640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신호처리 / True-False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성능 시사점: 행 방향 순회 시 C-order가, 열 방향 순회 시 F-order가 CPU 캐시 효율이 높다.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배열 생성 함수 총정리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다양한 NumPy 배열 생성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=== 기본 생성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np.array([1, 2, 3])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np.array([[1, 2], [3, 4]],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=== 초기화 생성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np.zeros((3, 4))        # 0으로 채운 3x4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np.ones((2, 3))         # 1로 채운 2x3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np.full((2, 3), 7)      # 7로 채운 2x3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np.empty((3, 3))        # 초기화 없이 할당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np.eye(4)               # 4x4 단위행렬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=== 범위 생성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np.arange(0, 10, 2)     # [0, 2, 4, 6, 8]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np.linspace(0, 1, 5)    # [0, 0.25, 0.5, 0.75, 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np.logspace(0, 3, 4)    # [1, 10, 100, 1000]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=== 난수 생성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np.random.rand(3, 4)          # U(0,1)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np.random.randn(3, 4)         # N(0,1)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np.random.randint(0, 10, (3,4))# 정수 난수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9728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주요 생성 함수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zeros/ones/full/empty: 특정 값으로 초기화된 배열 생성 (shape 튜플 전달)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eye/diag: 단위행렬, 대각행렬 생성 (선형대수 연산에 필수)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arange: 정수 범위 (Python range와 유사), linspace: 균등 분할 (시각화에 자주 사용)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logspace: 로그 스케일 균등 분할 (학습률 탐색 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random.rand/randn: 균등분포/정규분포 난수 (ML 가중치 초기화에 활용)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random.choice: 임의 선택 (부트스트랩, 교차 검증 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배열 인덱싱과 슬라이싱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4가지 인덱싱 방법 (Harris et al., 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 = np.array([[1,  2,  3,  4],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[5,  6,  7,  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[9, 10, 11, 12]])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1. 기본 인덱싱 (Basic Indexing)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arr[0, 1]              #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2. 슬라이싱 (Slicing) -- 뷰(view) 반환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arr[0:2, 1:3]          # [[2, 3], [6, 7]]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arr[:, 2]              # [3, 7, 11]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3. 팬시 인덱싱 (Fancy) -- 카피(copy) 반환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arr[[0, 2], [1, 3]]    # [2, 12]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4. 불리언 인덱싱 (Boolean)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arr[arr &gt; 5]           # [6,7,8,9,10,11,12]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View vs Copy 핵심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슬라이싱 (a[1:4]): View 반환 -&gt; 메모리 공유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전치 (a.T): View 반환 -&gt; stride만 교환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팬시 인덱싱 (a[[0,2]]): Copy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불리언 인덱싱 (a[mask]): Copy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명시적 복사: a.copy()로 항상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주의사항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View 수정 시 원본도 변경됨!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b = a[1:4]; b[0]=99 -&gt; a도 변경!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안전하게: c = a[1:4].copy()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reshape(): 가능하면 View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flatten(): 항상 Copy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ravel(): 가능하면 View 반환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브로드캐스팅(Broadcasting): 3가지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크기가 다른 배열 간 연산의 자동 메커니즘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규칙 1: 차원 수 맞추기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배열의 차원 수(ndim)가 다르면, 차원 수가 적은 배열의 shape 앞에 1을 추가한다.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shape (3,) -&gt; (1, 3)   |   shape (4,) -&gt; (1, 4)   |   shape (5,) -&gt; (1, 1,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규칙 2: 호환성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차원에서 크기가 같거나, 둘 중 하나가 1이면 호환(compatible)된다.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호환되지 않으면 ValueError 발생.  예: (3,) + (4,) -&gt; 3 != 4 이고 둘 다 1이 아님 -&gt;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규칙 3: 가상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크기가 1인 차원은 다른 배열의 크기에 맞게 가상으로 확장(stretch)된다.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실제로 데이터를 복사하지 않는다! 내부적으로 stride를 0으로 설정하여 메모리 효율적.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예: (3,1)+(1,4) -&gt; 규칙1 불필요, 규칙2 호환(3vs1, 1vs4), 규칙3 확장 -&gt; 결과 shape (3,4)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브로드캐스팅 코드 예제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ML에서의 실전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예제 1: 행렬 + 벡터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np.array([[1,2,3],[4,5,6],[7,8,9]])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np.array([10, 20, 30])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print(A + b)  # 각 행에 b가 더해짐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예제 2: 열벡터 + 행벡터 -&gt; 행렬 (외적 패턴)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col = np.array([[1],[2],[3]])  # (3,1)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row = np.array([10,20,30,40]) # (4,)--&gt;(1,4)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print(col + row)  # (3,4) 행렬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예제 3: ML 데이터 중심화(centering)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np.random.randn(100, 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mean = X.mean(axis=0)          # (5,)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X_centered = X - mean          # (100,5)-(5,)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예제 4: Z-score 표준화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std = X.std(axis=0)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X_standardized = (X - mean) / std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시각적 설명: (3,3) + (3,)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배열 b: (3,) -&gt; (1,3) -&gt; (3,3)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[a00 a01 a02]  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[a10 a11 a12] +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[a20 a21 a22]  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각 행에 같은 벡터 b가 더해짐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ML에서의 핵심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중심화: X - X.mean(axis=0)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Z-score 표준화: (X - mean) / std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배치 정규화(Batch Normalization)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가중합(weighted sum): X @ w +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유니버설 함수 (ufunc)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벡터화된 원소별 연산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함수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수학 함수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np.sin, np.cos, np.exp, np.log, np.sqrt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원소별 수학 연산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비교 함수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np.greater, np.equal, np.logical_and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원소별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산술 함수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np.add, np.subtract, np.multiply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사칙연산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집계 함수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np.sum, np.prod, np.min, np.max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축별 집계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np.array([[1, 2, 3],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[4, 5, 6]])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print(np.sum(A))          # 21 (전체 합)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print(np.sum(A, axis=0))  # [5, 7, 9] (열방향)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print(np.sum(A, axis=1))  # [6, 15] (행방향)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print(np.mean(A, axis=0)) # [2.5, 3.5, 4.5]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axis 이해하기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axis=None: 전체 원소에 대해 집계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axis=0: 행 방향으로 축소 (열별 집계)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axis=1: 열 방향으로 축소 (행별 집계)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ufunc의 핵심: C 루프 기반 벡터화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 루프 대비 100~1000배 성능 향상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선형대수 기본 연산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ML의 수학적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np.array([[1,2],[3,4]],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np.array([[5,6],[7,8]],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print(A * B)                # 원소별 곱셈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print(A @ B)                # 행렬곱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print(A.T)                  # 전치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print(np.linalg.det(A))     # 행렬식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print(np.linalg.inv(A))     # 역행렬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print(np.trace(A))          # 대각합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print(np.linalg.norm(A,'fro'))# 프로베니우스 노름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분해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75488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4754880"/>
            <a:ext cx="32004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ML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75488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NumPy 함수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LU 분해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2120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P * L * 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52120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연립방정식, 행렬식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52120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scipy.linalg.lu()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QR 분해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6235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Q * R (Q^T Q = 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56235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623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최소제곱법 안정 풀이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56235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np.linalg.qr()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0350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60350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6035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U * S * V^T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603504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6035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PCA, 추천시스템, LSA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60350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6035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465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고유값 분해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64465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6446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Av = lambda*v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644652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6446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PCA, 스펙트럴 클러스터링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64465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6446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828800"/>
            <a:ext cx="51206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주요 행렬 연산 요약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* (원소별) vs @ (행렬곱): 반드시 구분!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A.T: 전치 (View, stride만 교환)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det(A): 행렬식 (가역 여부 판단)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inv(A): 역행렬 (수치적 주의 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trace(A): 대각합 = 고유값의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norm(A): L1, L2, Frobenius 노름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SVD(특이값 분해)와 고유값 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PCA 차원 축소의 수학적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SVD: A = U * Sigma * V^T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np.array([[1,2,0],[0,1,1],[2,0,1],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[1,1,1],[3,2,1]],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U, s, Vt = np.linalg.svd(A, full_matrices=False)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차원 축소: 상위 k개 특이값만 사용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A_approx = U[:,:k] @ np.diag(s[:k]) @ Vt[:k,:]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분산 설명력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energy = s**2 / np.sum(s**2) * 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print(f'누적 설명 비율: {np.cumsum(energy)}')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고유값 분해: Av = lambda*v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cov = np.array([[4,2,1],[2,3,1],[1,1,2]],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eigenvalues, eigenvectors = np.linalg.eigh(cov)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variance_ratio = eigenvalues/np.sum(eigenvalues)*100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print(f'분산 설명 비율: {variance_ratio}')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SVD의 ML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PCA 차원 축소: 상위 k개 특이값으로 데이터 근사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추천 시스템: 사용자-아이템 행렬의 잠재 요인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잠재 의미 분석(LSA): 문서-단어 행렬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압축: 정보 보존 비율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 설명력 = s^2 / sum(s^2) *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고유값 분해의 ML 활용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PCA: 공분산 행렬의 고유값 분해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스펙트럴 클러스터링: 라플라시안 행렬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고유값 = 해당 방향의 분산량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eigh(): 대칭 행렬 전용 (더 빠르고 안정)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정규방정식 (Normal Equation)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선형회귀의 해석적 풀이: beta = (X^T X)^{-1} X^T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n_samples = 50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X_raw = np.random.uniform(0, 10, (n_samples,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noise = np.random.normal(0, 1, (n_samples,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3 * X_raw + 2 + noise  # 참값: 기울기=3, 절편=2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np.hstack([np.ones((n_samples, 1)), X_raw])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1: 역행렬 (수치적으로 불안정 -- 비추천)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beta_inv = np.linalg.inv(X.T @ X) @ X.T @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2: solve (LU 분해 기반, 수치적으로 안정)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beta_solve = np.linalg.solve(X.T @ X, X.T @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3: lstsq (SVD 기반, 가장 안정적, 권장!)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beta_lstsq, _, _, _ = np.linalg.lstsq(X, y, rcond=None)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print(f'참값: 절편=2, 기울기=3')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print(f'추정: 절편={beta_lstsq[0,0]:.4f}, 기울기={beta_lstsq[1,0]:.4f}')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2062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3가지 풀이 방법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2860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방법 1: inv(X^T X) @ X^T @ 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조건수 큰 행렬에서 수치적 불안정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방법 2: solve(X^T X, X^T @ 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LU 분해 기반, 더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방법 3: lstsq(X, y) [권장!]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SVD 기반, 가장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랭크 부족 행렬도 처리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 권장: 항상 lstsq()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역행렬은 조건수 문제로 비추천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선형대수와 ML 관계 총정리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각 분해가 ML 알고리즘에서 어떻게 활용되는가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선형대수 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4114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ML 활용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NumPy 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PCA, 추천 시스템, LSA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고유값 분해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PCA, 스펙트럴 클러스터링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QR 분해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최소제곱법 안정적 풀이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np.linalg.qr()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LU 분해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연립방정식 효율적 풀이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scipy.linalg.lu()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정규방정식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선형 회귀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np.linalg.lstsq()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행렬곱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4572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신경망 순전파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@ 연산자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노름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0292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L1, L2 규제 (정규화)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np.linalg.norm()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3035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394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메시지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607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선형대수는 ML 알고리즘의 수학적 엔진이다. NumPy는 이 엔진의 구현체이다.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PCA = SVD 또는 고유값 분해 | 선형회귀 = 정규방정식 | 신경망 = 행렬곱의 연쇄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ML 알고리즘의 내부에는 선형대수 연산이 존재한다.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View vs Copy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메모리 공유와 데이터 안전성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np.array([1, 2, 3, 4, 5])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b = a[1:4]        # 뷰(View)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b[0] = 99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print(a)           # [1, 99, 3, 4, 5] -- 원본도 변경!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 = a[1:4].copy()  # 카피(Copy)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c[0] = 100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print(a)           # [1, 99, 3, 4, 5] -- 원본 불변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반환 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389120"/>
            <a:ext cx="1828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메모리 공유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슬라이싱 a[1:4]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484632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84632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전치 a.T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516636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16636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reshape()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548640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 (가능 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48640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ravel()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580644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 (가능 시)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80644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12648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팬시 인덱싱 a[[0,2]]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612648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612648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6126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4652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불리언 인덱싱 a[mask]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644652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644652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76656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766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flatten()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676656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0" y="6766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676656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6766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708660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7086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copy()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708660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7086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708660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7086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View vs Copy 판단 기준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View: 원본과 메모리를 공유하므로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수정하면 원본도 변경됨 (주의!)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슬라이싱, 전치, reshape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Copy: 독립적인 메모리에 데이터 복사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원본과 독립적, 수정해도 안전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팬시 인덱싱, 불리언 인덱싱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확인: np.shares_memory(a, 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안전한 복사: a.copy() 명시적 호출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 팁: View인지 Copy인지 확인 후 수정!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Pandas 심화: DataFrame의 세계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DataFrame 구조, 인덱싱, 메서드 체이닝, GroupBy, Merge/Join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DataFrame 내부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McKinney (2010)가 설계한 이질적 표 형식 데이터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'이름': ['김철수', '이영희', '박민수'],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'나이': [28, 35, 42],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'키':   [175.5, 162.3, 180.1],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'학생': [True, False, False]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print(df.dtypes)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이름    object  /  나이   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키    float64  /  학생      bool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16459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속성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df.shape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(행 수, 열 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28600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(3, 4)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5176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65176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각 열의 데이터 타입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int64, float64,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행 인덱스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301752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RangeIndex(0,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df.columns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38328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열 이름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338328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Index(['이름','나이',...])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7490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74904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NumPy 배열 변환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374904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ndarray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11480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df.info()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11480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전반적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411480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행/열수, dtype, 메모리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48056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df.describe()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48056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기술통계량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448056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평균, 표준편차, 사분위수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84632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937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DataFrame의 핵심 특징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3035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열은 독립적인 NumPy 배열(또는 Extension Array)로 저장 -&gt; 열마다 다른 dtype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행 인덱스(Index)를 통한 자동 데이터 정렬(automatic alignment)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결측치(NaN)의 체계적 처리: isna(), fillna(), dropna() 등의 일관된 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인덱싱: loc vs iloc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라벨 기반 vs 정수 위치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1. 열 선택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df['나이']                  # Series 반환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df[['이름', '나이']]         # DataFrame 반환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2. loc - 라벨 기반 인덱싱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df.loc[0, '이름']           # '김철수'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df.loc[0:1, ['이름','나이']] # 행 0~1 (끝 포함!)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3. iloc - 정수 위치 기반 인덱싱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df.iloc[0, 0]              # '김철수'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df.iloc[0:2, 0:2]          # 행 0~1 (끝 미포함!)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4. 불리언 인덱싱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df[df['나이'] &gt; 30]         # 나이 &gt; 30인 행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df.query('나이 &gt; 30 and 키 &gt; 170')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loc vs iloc 핵심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loc: 라벨(이름)으로 접근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슬라이싱 시 끝 인덱스 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df.loc[0:2] -&gt; 행 0, 1, 2 (3개)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iloc: 정수 위치로 접근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슬라이싱 시 끝 인덱스 미포함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df.iloc[0:2] -&gt; 행 0, 1 (2개)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query() 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문자열 표현식으로 행 필터링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가독성이 좋고 체이닝에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내부적으로 numexpr 엔진 사용 (빠름)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df.query('나이 &gt; 30 and 키 &gt; 170')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메서드 체이닝 (Method Chaining)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중간 변수 없이 여러 변환을 연속 적용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나쁜 예: 중간 변수 남발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df2 = df.dropna()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df3 = df2[df2['나이'] &gt; 25]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df4 = df3.assign(나이대=df3['나이']//10*10)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df4.sort_values('키', ascending=False)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좋은 예: 메서드 체이닝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(df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.query('나이 &gt; 25')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.assign(나이대=lambda x: x['나이']//10*10)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.sort_values('키', ascending=False)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pipe() 커스텀 함수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이상치_제거(df, col, n_std=3):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mean, std = df[col].mean(), df[col].std()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df[abs(df[col]-mean) &lt;= n_std*std]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result = (df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.pipe(이상치_제거, '키')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.assign(BMI=lambda x: x['키']/100))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메서드 체이닝의 장점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가독성: 데이터 변환 과정이 위에서 아래로 읽힘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디버깅: 각 단계를 주석 처리하여 중간 결과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재현성: 전체 변환이 하나의 표현식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pipe(): 커스텀 함수도 체이닝에 통합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assign(): 새 열 추가 (lambda로 현재 df 참조)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GroupBy: 분할-적용-결합 (Split-Apply-Combine)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McKinney (2010)가 강조한 핵심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'부서': np.random.choice(['개발','마케팅','영업'], 100),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'직급': np.random.choice(['사원','대리','과장'], 100),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'연봉': np.random.normal(5000,1000,100).astype(int),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'성과': np.random.uniform(0,100,100).round(1)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agg: 그룹별 집계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df.groupby('부서')['연봉'].agg(['mean','std','min','max'])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transform: 원본 크기 유지 (그룹별 Z-score)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df['연봉_zscore'] = df.groupby('부서')['연봉'].transform(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lambda x: (x - x.mean()) / x.std())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apply: 자유도 높은 그룹별 연산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상위N(group, n=3):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group.nlargest(n, '성과')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df.groupby('부서').apply(상위N, n=2)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GroupBy 3가지 패턴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agg (집계): 그룹 -&gt; 스칼라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그룹별 평균, 표준편차, 최소, 최대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결과: 그룹 수만큼의 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transform (변환): 그룹 -&gt; 원본 크기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그룹별 Z-score, 누적합,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결과: 원본과 같은 크기 (매우 유용!)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apply (자유형): 가장 유연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그룹별 상위 N개 추출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커스텀 함수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Split-Apply-Combine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분할(groupby) -&gt; 적용(agg/transform/apply)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결합(자동)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Merge와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SQL JOIN과 동일한 테이블 결합 연산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두 테이블 준비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직원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'사번': [1, 2, 3, 4],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'이름': ['김철수','이영희','박민수','정수진'],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'부서코드': ['D01','D02','D01','D03']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부서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'코드': ['D01','D02','D03'],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'부서명': ['개발팀','마케팅팀','영업팀']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SQL JOIN과 동일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pd.merge(직원, 부서,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left_on='부서코드', right_on='코드', how='left')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1828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Join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029200"/>
            <a:ext cx="2743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SQL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029200"/>
            <a:ext cx="45720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inner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4864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INNER JOIN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5486400"/>
            <a:ext cx="4572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양쪽 모두 키 있는 행만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left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8521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LEFT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5852160"/>
            <a:ext cx="4572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왼쪽 테이블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1792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621792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RIGHT JOIN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6217920"/>
            <a:ext cx="4572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오른쪽 테이블 기준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8368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outer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658368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6583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FULL OUTER JOIN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6583680"/>
            <a:ext cx="4572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6583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양쪽 모두 포함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8288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Merge 핵심 파라미터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2860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on: 양쪽 테이블의 키 열이 같을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left_on / right_on: 키 열 이름이 다를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how: 'inner','left','right','outer'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concat: 행 방향/열 방향 단순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pd.concat([df1, df2], axis=0)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join: 인덱스 기반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df1.join(df2, how='left')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Apply/Map과 시계열 윈도우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커스텀 함수 적용과 이동 평균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apply: DataFrame의 각 열/행에 함수 적용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df.apply(np.mean, axis=0)  # 열별 평균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df.apply(np.mean, axis=1)  # 행별 평균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map: Series의 각 원소에 함수/딕셔너리 적용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df['Sex'] = df['Sex'].map({'male':0, 'female':1})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applymap: DataFrame 전체 원소에 함수 적용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df.applymap(lambda x: round(x, 2))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시계열 윈도우 함수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df['MA_7'] = df['주가'].rolling(window=7).mean()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df['MA_30'] = df['주가'].rolling(window=30).mean()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df['변동성'] = df['주가'].rolling(window=20).std()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누적 윈도우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df['누적평균'] = df['주가'].expanding().mean()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지수 가중 이동 평균 (EWM)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df['EWM_12'] = df['주가'].ewm(span=12).mean()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146304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윈도우 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사용 예시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146304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rolling(n)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28600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고정 크기 n 윈도우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28600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이동평균, 이동표준편차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97480"/>
            <a:ext cx="146304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expanding()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69748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697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시작~현재 누적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697480"/>
            <a:ext cx="219456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누적 최대, 누적 평균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08960"/>
            <a:ext cx="146304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ewm(span=n)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10896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108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지수 가중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310896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108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MACD, 지수이동평균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실무 팁: 이동평균 교차(MA Crossover)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14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골든 크로스: 단기 MA(7일)가 장기 MA(30일)를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상향 돌파 -&gt; 매수 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데드 크로스: 하향 돌파 -&gt; 매도 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MACD = EWM(12) - EWM(26)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기술적 분석의 핵심 지표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McKinney(2010)가 금융 데이터 분석에서의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경험을 바탕으로 Pandas에 기본 내장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피벗 테이블과 MultiIndex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SQL GROUP BY + CASE WHEN에 대응하는 데이터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기본 피벗 테이블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피벗 = pd.pivot_table(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매출,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values='매출액',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index='지역',       # 행 기준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columns='제품',      # 열 기준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aggfunc='mean',     # 집계 함수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margins=True         # 합계 행/열 추가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교차표 (Crosstab) - 빈도 집계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pd.crosstab(매출['지역'], 매출['제품'], margins=True)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MultiIndex (다중 인덱스)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df_multi.loc['서울']                # 서울의 모든 분기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df_multi.loc[('서울', '1분기')]     # 특정 행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df_multi.xs('1분기', level='분기')  # 특정 레벨 선택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df_multi.unstack(level='분기')      # 분기를 열로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Pandas 메모리 최적화 4가지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수치형 다운캐스팅: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int64 -&gt; int32/int16 (50~75%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Categorical 타입 변환: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반복 문자열에 효과적 (90~99%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100만행 x 3개 고유값: 64MB -&gt; 1MB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Sparse 타입: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대부분 0인 데이터 (90%+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청크 단위 읽기 (chunksize):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chunks = pd.read_csv('huge.csv',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chunksize=100000)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RAM 제한 내에서 처리 가능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SQL vs Pandas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SQL을 아는 사람을 위한 Pandas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SELECT col FROM 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28600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df['col'] 또는 df[['col']]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열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WHERE cond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69748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df[df['col']&gt;v] / df.query()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행 필터링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GROUP BY col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310896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df.groupby('col')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그룹별 집계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ORDER BY 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52044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df.sort_values('col')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JOIN t1, t2 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93192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pd.merge(t1, t2, on=)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테이블 결합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DISTINCT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434340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df.drop_duplicates()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중복 제거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COUNT(*)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75488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df.shape[0] / len(df)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7548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행 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LIMIT 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40" y="516636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df.head(n)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51663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상위 n개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6692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메시지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SQL 경험이 있다면 Pandas는 매우 직관적! 거의 1:1 대응이 가능하며, 메서드 체이닝으로 더 유연한 분석이 가능하다.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데이터 전처리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결측치 처리, 이상치 탐지, 피처 스케일링, 인코딩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결측치 처리 5가지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상황에 따라 적절한 전략 선택이 중요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28800"/>
            <a:ext cx="1828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828800"/>
            <a:ext cx="164592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828800"/>
            <a:ext cx="164592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행 삭제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dropna()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단순함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데이터 손실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결측 &lt; 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432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평균 대체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fillna(mean)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분포 유지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분산 과소추정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74320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정규분포, MCAR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004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중앙값 대체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fillna(median)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이상치 강건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분산 과소추정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2004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편향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576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보간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interpolate()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연속성 유지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외삽 위험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365760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시계열 데이터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1148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그룹별 대체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groupby.transform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4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그룹 특성 반영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9496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구현 복잡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그룹 간 차이 큰 경우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438912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5262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df = pd.DataFrame({'A': [1, np.nan, 3, np.nan, 5], 'B': [10,20,np.nan,40,50], '그룹': ['X','X','Y','Y','Y']})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전략별 비교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print('삭제:',   df['A'].dropna().values)                              # NaN 제거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print('평균:',   df['A'].fillna(df['A'].mean()).values)               # 전체 평균으로 대체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print('중앙값:', df['A'].fillna(df['A'].median()).values)             # 전체 중앙값으로 대체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print('보간:',   df['A'].interpolate().values)                        # 선형 보간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print('그룹별:', df.groupby('그룹')['A'].transform(lambda x: x.fillna(x.mean())).values)  # 그룹 평균으로 대체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이상치 탐지 3가지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IQR, Z-score, 시각적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IQR 방법 (사분위수 범위)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 범위: Q1 - 1.5*IQR &lt; x &lt; Q3 + 1.5*IQR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 = Q3 - Q1 (사분위수 범위)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가정 불필요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박스플롯과 동일한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Z-score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|z| &gt; 3 이면 이상치로 판단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가정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평균과 표준편차에 민감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iqr_이상치(series):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Q1, Q3 = series.quantile([0.25, 0.75])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IQR = Q3 - Q1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lower = Q1 - 1.5 * IQR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upper = Q3 + 1.5 * IQR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(series &lt; lower) | (series &gt; upper)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zscore_이상치(series, threshold=3):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z = (series - series.mean()) / series.std()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abs(z) &gt;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사용 예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mask = iqr_이상치(df['연봉'])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df_clean = df[~mask]  # 이상치 제거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피처 스케일링 3가지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RobustScaler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스케일러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22860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사용 상황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(x-mu)/sigma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평균0, 분산1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정규분포, SVM, 로지스틱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(x-min)/(max-min)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[0,1] 범위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신경망, 이미지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(x-Q2)/(Q3-Q1)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중앙값/IQR 기반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이상치 존재 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6576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sklearn.preprocessing import (StandardScaler,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MinMaxScaler, RobustScaler)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중요: fit은 train에만, transform은 train/test 모두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X_train_scaled = scaler.fit_transform(X_train)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X_test_scaled = scaler.transform(X_test)  # fit 없이!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6576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Data Leakage 경고!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114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fit_transform을 전체 데이터에 적용하면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테스트 데이터의 정보가 훈련에 유출됨!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올바른 방법: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scaler.fit_transform(X_train) -- train에 fit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scaler.transform(X_test) -- test에 transform만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잘못된 방법: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scaler.fit_transform(X_all) -- 전체 데이터에 fit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Data Leakage 발생!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범주형 변수 인코딩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Label Encoding, One-Hot Encoding, Ordinal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Label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범주에 정수 할당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male-&gt;0, female-&gt;1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 모델에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순서 관계가 생길 수 있음 (주의)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df['Sex'].map({'male':0,'female':1})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One-Hot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범주를 이진 벡터로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[1,0,0], [0,1,0], [0,0,1]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순서 관계 없음 (안전)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고유값 많으면 차원 폭발 문제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pd.get_dummies(df, columns=['지역'])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Ordinal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순서가 있는 범주에 정수 할당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초등-&gt;1, 중등-&gt;2, 고등-&gt;3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순서 정보를 보존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명목형 변수에는 부적절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OrdinalEncoder(categories=...)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인코딩 선택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범주 (2개 값): Label Encoding -&gt; male/female, yes/no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명목형 범주 (순서 없음): One-Hot Encoding -&gt; 지역, 색상, 제품종류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순서형 범주 (순서 있음): Ordinal Encoding -&gt; 학력, 등급, 만족도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고유값 매우 많음 (100+): Target Encoding, Hash Encoding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주의: Label Encoding을 명목형에 사용하면 모델이 잘못된 순서 관계를 학습할 수 있음!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Tidy Data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Wickham (2014)의 깔끔한 데이터 3원칙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Wickham의 Tidy Data 3원칙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Journal of Statistical Software, 2014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원칙 1: 변수 = 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변수(variable)는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하나의 열(column)을 구성한다.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이름, 나이, 점수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각각 별도의 열로 표현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원칙 2: 관측 = 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관측(observation)은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하나의 행(row)을 구성한다.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한 학생의 정보는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하나의 행으로 표현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원칙 3: 관측단위 = 테이블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관측 단위 유형은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하나의 테이블을 구성한다.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학생 테이블, 과목 테이블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별도의 테이블로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Messy Data의 5가지 유형 (Wickham 2014)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(1) 열 헤더가 변수명이 아닌 값인 경우  -&gt;  melt()로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(2) 하나의 열에 여러 변수가 저장된 경우  -&gt;  str.split() + assign()으로 분리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(3) 변수가 행과 열 모두에 걸쳐 저장된 경우  -&gt;  melt() + pivot() 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(4) 하나의 테이블에 여러 관측 단위가 혼재된 경우  -&gt;  테이블 분리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(5) 하나의 관측 단위가 여러 테이블에 분산된 경우  -&gt;  merge()로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 입력 형식 '행=샘플, 열=특성'은 Tidy Data 원칙과 정확히 일치!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Tidy Data -&gt; groupby/agg 자연스럽게 동작, seaborn 시각화 호환, ML 파이프라인 바로 투입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melt/pivot: Messy -&gt; Tidy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Wide Format &lt;-&gt; Long Format 변환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Messy: 열 헤더가 값인 경우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messy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'이름': ['김철수', '이영희'],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'2023_국어': [85, 92],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'2023_수학': [90, 88],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'2024_국어': [88, 95],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'2024_수학': [92, 90]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Tidy로 변환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tidy = (messy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.melt(id_vars='이름',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var_name='과목_연도',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value_name='점수')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.assign(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연도=lambda x: x['과목_연도'].str.split('_').str[0],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과목=lambda x: x['과목_연도'].str.split('_').str[1]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.drop(columns='과목_연도')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melt() -- Wide -&gt; Long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id_vars: 유지할 열 (식별자)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value_vars: 녹일 열 (생략 시 나머지 전부)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var_name: 변수명 열 이름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value_name: 값 열 이름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결과: 넓은 테이블 -&gt; 긴 테이블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pivot() / pivot_table() -- Long -&gt; 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index: 행이 될 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columns: 열이 될 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values: 값이 될 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aggfunc: 집계 함수 (pivot_table만)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결과: 긴 테이블 -&gt; 넓은 테이블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벡터화 vs 루프: 성능의 과학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Python 루프 대비 100~1000배 속도 향상의 원리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벡터화 vs 루프: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Harris et al. (2020) Nature 논문에서 확인된 100~1000배 속도 향상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32004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Python 루프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32004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NumPy 벡터화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실행 엔진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Python 인터프리터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C/Fortran 컴파일 코드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타입 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 연산마다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한 번만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메모리 접근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불연속 (포인터 추적)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 (캐시 친화적)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SIMD 활용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불가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가능 (SSE, AVX)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보유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해제 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BLAS/LAPACK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미사용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활용 (Intel MKL 등)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5720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7091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 = 1_000_000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np.random.randn(n); b = np.random.randn(n)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Python 루프: ~0.3초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c_loop = [a[i]+b[i] for i in range(n)]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NumPy 벡터화: ~0.001초 (300배 빠름!)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c_vec = a + 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57200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속도 향상의 원인 요약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0292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C 컴파일 코드: Python 인터프리터 오버헤드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연속 메모리: CPU L1/L2 캐시 적중률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SIMD: 단일 명령으로 여러 데이터 동시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타입 체크 생략: 동질적 dtype으로 한 번만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BLAS/LAPACK: 최적화된 수치 라이브러리 활용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SIMD와 CPU 캐시의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벡터화 성능의 하드웨어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SIMD (Single Instruction, Multiple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하나의 CPU 명령어로 여러 데이터를 동시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AVX-256: 8개의 float32를 한 번에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AVX-512: 16개의 float32를 한 번에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NumPy는 내부적으로 SIMD 명령어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 루프에서는 SIMD 활용 불가능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CPU 캐시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배열: 연속 메모리 -&gt; L1/L2 캐시 적중률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 리스트: 포인터 간접 접근 -&gt; 캐시 미스 빈번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캐시: ~1ns (가장 빠름, 32~64KB)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L2 캐시: ~4ns (256KB~1MB)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메인 메모리: ~100ns (매우 느림)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실전 벤치마크: 쌍별 유클리드 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200x300 쌍별 거리 계산 결과: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Python 3중 루프: ~15초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NumPy 벡터화: ~0.01초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Numba JIT: ~0.02초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Numba parallel: ~0.005초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벡터화는 루프 대비 약 500~1000배 빠름!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성능 최적화 선택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1순위: NumPy 벡터화 (가장 간단하고 빠름)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2순위: Numba JIT (벡터화 어려운 복잡한 루프)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3순위: Numba parallel (멀티코어 활용)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 가능하면 NumPy가 최선!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복잡한 조건분기/동적 프로그래밍만 Numba 사용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벡터화 실전: 쌍별 유클리드 거리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루프 vs 브로드캐스팅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Python 루프: O(n*m*d) 3중 루프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거리_루프(X,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n, d = X.shape; m = Y.shape[0]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 = np.zeros((n, m))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i in range(n):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j in range(m):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 = 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for k in range(d):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s += (X[i,k] - Y[j,k])**2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D[i,j] = np.sqrt(s)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NumPy 브로드캐스팅: 단 한 줄!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거리_벡터화(X,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np.sqrt(np.sum(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(X[:,np.newaxis,:] - Y[np.newaxis,:,:])**2,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axis=2))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KNN, K-Means 등 거리 기반 알고리즘에 필수!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브로드캐스팅 거리 계산 해부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X: shape (n, d)  -&gt;  (n, 1, 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Y: shape (m, d)  -&gt;  (1, m, 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X[:,np.newaxis,:] - Y[np.newaxis,:,:]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shape (n, m, d)  (차이 벡터)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**2  -&gt; 제곱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np.sum(..., axis=2)  -&gt; 합산 -&gt; (n, 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np.sqrt(...)  -&gt; 유클리드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과정이 C 레벨에서 실행!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메모리: O(n*m*d) 필요 (큰 데이터 주의)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논문 리뷰 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Harris(2020), McKinney(2010), Walt(2011), Wickham(2014), Reback(2020)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3장 관련 논문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5편의 핵심 논문과 학문적 맥락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828800"/>
            <a:ext cx="5029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기여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828800"/>
            <a:ext cx="1371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인용수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McKinney (2010)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28600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Pandas DataFrame, Split-Apply-Combine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28600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10,000+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457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Walt et al. (2011)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278892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ndarray 내부 구조 (stride, dtype) 문서화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78892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788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5,000+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Harris et al. (2020)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329184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3291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NumPy Nature 논문, 배열 프로그래밍 패러다임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29184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8,000+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457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Reback et al. (2020)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379476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Pandas 공식 인용 문서, 전체 기능 개관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79476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15,000+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Wickham (2014)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29768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Tidy Data 3원칙, messy data 5가지 유형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29768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4297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7,000+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7548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논문 간 연결 관계 (시간순)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McKinney (2010): 'ndarray는 이질적 데이터에 부족' -&gt; Pandas 개발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Walt et al. (2011): ndarray의 기술적 설계 상세 문서화 (stride, ufunc, broadcast)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Wickham (2014): 데이터 정리의 원칙 체계화 -&gt; Pandas melt()/pivot_table() 설계에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Harris et al. (2020): NumPy 15년간 발전 총정리, Nature에서 공식 인정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Harris et al. (2020) -- NumPy Nature 논문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"Array programming with NumPy", Nature, 585, 357-362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배경과 의의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Nature에 SW 라이브러리 논문 게재 = NumPy의 학술적 영향력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15년간의 NumPy 발전을 총정리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현대 과학 컴퓨팅에서 NumPy의 핵심 역할 공식 인정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배열 프로그래밍(Array Programming) 패러다임 공식 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기여 4가지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배열 프로그래밍 패러다임: 반복문 대신 배열 전체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파이썬 과학 생태계 레이어 구조 시각화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NumPy API 프로토콜: __array_ufunc__, __array_function__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GPU/분산 환경 확장: JAX, CuPy, Dask Array 호환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인용과 ML 과목 관련성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"배열 프로그래밍은 개별 원소에 대한 반복문 대신, 배열 전체에 연산을 적용하는 프로그래밍 패러다임이다.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이 패러다임은 코드의 간결성, 가독성, 성능을 동시에 향상시킨다."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과목 관련성: 본 과목에서 사용하는 거의 모든 라이브러리(scikit-learn, TensorFlow, PyTorch)의 기반이 NumPy.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논문은 그 기반 인프라의 설계 원칙을 체계적으로 설명한다.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McKinney (2010) &amp; Wickham (2014)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Pandas의 탄생과 Tidy Data 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McKinney (2010) -- Pandas의 탄생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"Data Structures for Statistical Computing in Python"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SciPy 2010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배경: AQR Capital에서 금융 데이터 분석 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파이썬에 R의 data.frame 대응 구조 부재 절감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Series와 DataFrame 도입 (인덱스 기반 자동 정렬)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결측치(NaN) 체계적 처리 API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Split-Apply-Combine 패턴 (groupby)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4. 관계형 데이터 결합 (merge, join)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인용: "파이썬에 R의 data.frame에 대응하는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고수준 데이터 구조가 없었다."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Wickham (2014) -- Tidy Data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"Tidy Data", J. of Statistical Software, 59(10)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배경: 데이터 과학자 업무의 50~80%가 데이터 정리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체계적 이론 부재 -&gt; 원칙 체계화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깔끔한 데이터의 3원칙 (변수=열, 관측=행, 관측단위=테이블)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지저분한 데이터 5가지 유형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변환 도구: melt(wide-&gt;long), pivot(long-&gt;wide)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관련성: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scikit-learn의 "행=샘플, 열=특성" 형식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Tidy Data 원칙과 정확히 일치!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인용: "깔끔한 데이터면 동일 분석 코드를 재사용 가능"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구현 코드 상세 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3개 실습 코드: NumPy 선형대수, Pandas 파이프라인, 벡터화 벤치마크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NumPy 선형대수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01_numpy_linear_algebra.py - SVD 차원 축소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SVD를 이용한 차원 축소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np.array([[1,2,0],[0,1,1],[2,0,1],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[1,1,1],[3,2,1]],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U, s, Vt = np.linalg.svd(A, full_matrices=False)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상위 k개 특이값으로 근사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A_approx = U[:,:k] @ np.diag(s[:k]) @ Vt[:k,:]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에너지(분산 설명력) 분석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energy = s**2 / np.sum(s**2) * 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print(f'특이값: {s}')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print(f'에너지 비율: {energy}')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print(f'상위 {k}개 누적: {np.sum(energy[:k]):.1f}%')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코드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SVD: A = U * Sigma * V^T 로 분해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특이값(s)의 크기 = 해당 방향의 데이터 분산량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상위 k개만 사용 = 정보 손실 최소화 + 차원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이것이 PCA의 수학적 기반!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full_matrices=False: 축소된 SVD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U: (m, k), s: (k,), Vt: (k,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에너지 비율 = s^2 / sum(s^2) *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각 특이값이 전체 분산의 몇 %를 설명하는지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실무: 누적 에너지 95% 이상 보존하는 k 선택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 (계속): 정규방정식 풀이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역행렬 vs solve vs lstsq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데이터 생성: y = 3x + 2 + noise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X_raw = np.random.uniform(0, 10, (50,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3 * X_raw + 2 + np.random.normal(0, 1, (50,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np.hstack([np.ones((50, 1)), X_raw])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1: 역행렬 (수치적으로 불안정)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beta_inv = np.linalg.inv(X.T @ X) @ X.T @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2: solve (LU 분해 기반, 안정적)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beta_solve = np.linalg.solve(X.T @ X, X.T @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방법 3: lstsq (SVD 기반, 가장 안정적, 권장!)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beta_lstsq, _, _, _ = np.linalg.lstsq(X, y, rcond=None)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print(f'참값: 절편=2, 기울기=3')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print(f'lstsq: 절편={beta_lstsq[0,0]:.4f}, 기울기={beta_lstsq[1,0]:.4f}')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2062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권장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2860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실무에서는 항상 np.linalg.lstsq() 사용!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역행렬 계산의 문제점: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조건수(condition number)가 큰 행렬에서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수치적 불안정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특이 행렬(singular matrix) 처리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lstsq의 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SVD 기반으로 가장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랭크 부족(rank-deficient) 행렬도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잔차, 랭크, 특이값도 함께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scikit-learn의 LinearRegression도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내부적으로 lstsq 사용!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2: Pandas 데이터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02_pandas_data_pipeline.py - 결측치 전략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import pandas as pd; import numpy as np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np.random.seed(42); n = 500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'날짜': pd.date_range('2024-01-01', periods=n, freq='6H'),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'고객ID': np.random.choice(['C001','C002','C003'], n),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'금액': np.random.exponential(50000, n).astype(int)+5000,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'수량': np.random.randint(1, 10, size=n)})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인위적 결측치 삽입 (10%)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mask = np.random.random(n) &lt; 0.1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df.loc[mask, '금액'] = np.nan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5가지 전략 비교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strategies = {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'삭제': df['금액'].dropna(),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'평균': df['금액'].fillna(df['금액'].mean()),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'중앙값': df['금액'].fillna(df['금액'].median()),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'0대체': df['금액'].fillna(0),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'보간': df['금액'].interpolate()}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코드 해석 및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전략의 영향을 평균과 표준편차로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삭제: 원본 통계량 유지 (데이터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평균: 평균 동일, 분산 과소 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중앙값: 이상치에 강건, 분산 과소 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0대체: 평균과 분산 모두 왜곡 (비추천)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보간: 시계열에서 연속성 유지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GroupBy + Transform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그룹별 Z-score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그룹별 누적 합계 (cumsum)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그룹별 결측치를 그룹 중앙값으로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권장: 상황에 맞는 전략 선택!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 (계속): GroupBy + Transform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그룹별 정규화와 결측치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고객별 Z-score 정규화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df['금액_zscore'] = df.groupby('고객ID')['금액'].transform(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lambda x: (x - x.mean()) / x.std())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고객별 누적 합계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df['누적금액'] = df.groupby('고객ID')['금액'].cumsum()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고객별 결측치를 그룹 중앙값으로 대체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df['금액_filled'] = df.groupby('고객ID')['금액'].transform(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lambda x: x.fillna(x.median()))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이 패턴은 ML 전처리에서 가장 강력한 도구!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전체 평균보다 그룹별 대체가 더 정확함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transform의 핵심 특성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transform vs agg 차이: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agg: 그룹 -&gt; 스칼라 (행 수 축소)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transform: 그룹 -&gt; 원본 크기 (행 수 유지)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transform 활용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그룹별 Z-score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그룹별 비율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그룹별 결측치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4. 그룹별 누적합/이동평균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왜 유용한가?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원본 DataFrame에 바로 새 열로 추가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전체 통계보다 그룹 통계가 더 정확한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ML에서 피처 엔지니어링의 핵심 도구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3: 벡터화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03_vectorization_benchmark.py - 거리 계산 성능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거리_루프(X,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n, d = X.shape; m = Y.shape[0]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 = np.zeros((n, m))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i in range(n):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j in range(m):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 = 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for k in range(d):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s += (X[i,k]-Y[j,k])**2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D[i,j] = np.sqrt(s)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거리_벡터화(X,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np.sqrt(np.sum(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(X[:,np.newaxis,:]-Y[np.newaxis,:,:])**2, axis=2))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np.random.randn(200, 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np.random.randn(300, 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루프: ~15초 / 벡터화: ~0.01초 / 속도: ~1000배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벤치마크 결과 및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200x300 쌍별 거리 (10차원):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방법            | 시간      | 속도비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 루프     | ~15초     | 1x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벡터화    | ~0.01초   | 1,500x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Numba JIT       | ~0.02초   | 750x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Numba parallel  | ~0.005초  | 3,000x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 일치: np.allclose(D_loop, D_vec) = True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KNN, K-Means 등 거리 기반 알고리즘에서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벡터화는 선택이 아닌 필수!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scikit-learn도 내부적으로 벡터화 사용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 및 복습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3장의 핵심 개념 정리와 복습 질문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3장에서 배운 모든 개념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개념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ndarray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28600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 메모리, stride, 동질적 dtype, 벡터화 연산의 기반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브로드캐스팅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9748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697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크기 다른 배열 간 연산 자동화, stride=0 가상 확장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DataFrame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10896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108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이질적 표 구조, 열별 독립 배열, 라벨 기반 인덱싱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메서드 체이닝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52044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520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.assign().query().sort_values() 패턴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GroupBy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93192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931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분할-적용-결합, agg / transform / apply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Tidy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34340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343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변수=열, 관측=행, 관측단위=테이블 (Wickham 2014)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벡터화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75488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754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 루프, 연속 메모리, SIMD로 100~1000배 성능 향상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663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결측치 전략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16636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삭제 / 평균 / 중앙값 / 보간 / 그룹별 -- 상황에 맞게 선택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778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스케일링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57784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5577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Standard / MinMax / Robust -- train에만 fit, Leakage 주의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893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598932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5989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U Sigma V^T, PCA의 수학적 기반, 차원 축소의 핵심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3장 핵심 수식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NumPy와 ML에서 사용되는 주요 수식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선형대수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SVD: A = U * Sigma * V^T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고유값 분해: Av = lambda * 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LU 분해: A = P * L * U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QR 분해: A = Q * R, Q^T Q = 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정규방정식과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정규방정식: beta = (X^T X)^{-1} X^T 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최소제곱법: min ||Xbeta - y||^2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조건수: kappa(A) = ||A|| * ||A^{-1}||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권장: np.linalg.lstsq(X, 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피처 스케일링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StandardScaler: 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MinMaxScaler: z = (x - x_min) / (x_max - 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RobustScaler: z = (x - Q2) / (Q3 - Q1)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 Leakage: train에만 fit, test에는 transform만!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이상치 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IQR: Q1 - 1.5*IQR &lt; x &lt; Q3 + 1.5*IQR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Z-score: |z| = |(x - mu)/sigma| &gt; 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 설명력: s^2 / sum(s^2) *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누적 에너지 95% 이상 보존하는 k 선택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대용량 데이터 처리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Pandas의 한계를 넘어서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라이브러리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Pandas API 호환, 지연 실행, 분산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2860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중-대규모 (수~수백 GB)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Polars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Rust 기반, 지연 실행, 매우 빠름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7432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단일 머신 대규모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Vaex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Out-of-core, 메모리 매핑, 10억 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2004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탐색적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PySpark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클러스터 분산 처리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6576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초대규모 (TB 이상)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Dask 예시 -- Pandas API와 거의 동일!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dask.dataframe as dd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ddf = dd.read_csv('large_*.csv')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ddf.groupby('col').mean().compute()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np.einsum: 아인슈타인 합산 표기법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 = np.einsum('ik,kj-&gt;ij', A, B)  # == A @ 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배치 행렬곱 (딥러닝 어텐션)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np.einsum('hid,hjd-&gt;hij', Q, 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실무 데이터 파이프라인: Titanic 예제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pd.read_csv() -&gt; DataFrame 로딩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groupby + transform으로 결측치 그룹별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map()으로 범주형 인코딩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.values로 NumPy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train_test_split으로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StandardScaler: train에만 fit!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7. LogisticRegression으로 학습 및 평가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고급 도구: np.einsum과 Numba JIT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텐서 연산과 JIT 컴파일 가속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np.einsum: 아인슈타인 합산 표기법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np.random.randn(3, 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np.random.randn(4, 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행렬곱: C_ij = sum_k A_ik * B_kj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 = np.einsum('ik,kj-&gt;ij', A,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대각합(Trace): sum_i A_ii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trace = np.einsum('ii-&gt;', np.eye(3))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배치 행렬곱 (딥러닝 어텐션 핵심!)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Q = np.random.randn(8, 64, 32)  # (heads, seq, d_k)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np.random.randn(8, 64, 32)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np.einsum('hid,hjd-&gt;hij', Q, 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Numba JIT: Python 루프를 C 속도로 가속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numba import jit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@jit(nopython=True)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fast_func(X,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# 벡터화 어려운 복잡한 루프에 적용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np.einsum 활용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행렬곱: 'ik,kj-&gt;ij' == A @ 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대각합: 'ii-&gt;' == np.trace(A)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외적: 'i,j-&gt;ij' == np.outer(a, 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배치 행렬곱: 'bij,bjk-&gt;bik'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Self-Attention: 'hid,hjd-&gt;hij'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가독성 뛰어나고 내부 최적화도 우수!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Numba 선택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 가능 -&gt; NumPy가 최선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 어려운 복잡한 루프 -&gt; Numba JIT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병렬화 필요 -&gt; Numba parallel (prange)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Numba JIT: 첫 호출 시 컴파일 (warm-up)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이후 호출은 C 수준 속도!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NumPy 관련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NumPy 핵심 질문 1~4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Q1. NumPy ndarray의 stride 개념을 설명하고, 전치(transpose) 연산 시 stride가 어떻게 변하는지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stride = 각 차원에서 다음 원소까지의 바이트 수. 전치는 stride를 교환 (데이터 복사 없음!)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Q2. 브로드캐스팅의 세 가지 규칙을 기술하고, (3,1) + (1,4) 연산의 결과 shape을 유도하시오.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규칙1: 차원 맞추기, 규칙2: 호환성 확인(3vs1, 1vs4), 규칙3: 가상 확장 -&gt; 결과 (3,4)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Q3. C-order와 F-order의 차이점을 메모리 레이아웃 관점에서 설명하고,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행 방향 순회 시 어느 것이 더 효율적인지 이유와 함께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C-order: 행 우선 저장, 행 방향 순회 시 연속 메모리 접근으로 캐시 효율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Q4. Harris et al.(2020)의 Nature 논문에서 제시한 파이썬 과학 생태계의 레이어 구조를 설명하고,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NumPy가 기반 계층에 위치하는 이유를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NumPy는 Pandas, SciPy, scikit-learn 등의 기반. ndarray가 표준 배열 인터페이스 제공.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Pandas 및 데이터 전처리 관련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Pandas/전처리 핵심 질문 5~7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Q5. Pandas의 loc과 iloc의 차이를 설명하고, 슬라이싱 시 끝 인덱스 포함 여부가 다른 이유를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loc: 라벨 기반 (끝 포함) / iloc: 정수 위치 기반 (끝 미포함, Python 관례)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Q6. McKinney(2010)가 Pandas를 개발한 동기를 설명하고, NumPy ndarray가 표 형식 데이터에 부적합한 이유를 기술하시오.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파이썬에 R의 data.frame 대응 구조 부재. ndarray는 동질적 타입만 지원하므로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문자열+숫자+날짜가 혼합된 이질적 표 형식 데이터 처리에 부족.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Q7. 결측치 처리 5가지 전략의 장단점을 비교하고, 시계열 데이터에서 가장 적합한 전략은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무엇인지 근거와 함께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시계열: 보간(interpolate)이 적합. 시간적 연속성을 유지하며 전후 값의 추세를 반영.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행 삭제는 시간 순서 끊김, 평균 대체는 시간적 패턴 무시하는 문제.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Tidy Data, 벡터화, Data Leakage 관련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심화 질문 8~10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Q8. Wickham(2014)의 Tidy Data 3원칙을 기술하고, 열 헤더가 값인 messy data를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tidy data로 변환하는 Pandas 코드를 작성하시오.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원칙: 변수=열, 관측=행, 관측단위=테이블. pd.melt(messy, id_vars='이름', ...)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Q9. 벡터화 연산이 Python 루프보다 100~1000배 빠른 이유를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하드웨어 수준(SIMD, CPU 캐시)에서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SIMD: 하나의 명령으로 여러 데이터 동시 처리 (AVX-256: 8개 float32)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CPU 캐시: 연속 메모리 접근으로 L1/L2 캐시 적중률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+ C 컴파일 코드, 타입 체크 생략, GIL 해제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Q10. Data Leakage란 무엇이며, StandardScaler를 잘못 사용했을 때 어떻게 발생하는지 설명하시오.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테스트 데이터의 정보가 훈련에 유출되는 현상.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잘못: scaler.fit_transform(X_all) -&gt; 테스트의 평균/표준편차가 훈련에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올바름: scaler.fit_transform(X_train) 후 scaler.transform(X_test)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3장 핵심 키워드 총정리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한 페이지로 보는 3장의 모든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ndarray, stride, dtype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C-order/F-order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브로드캐스팅 3규칙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ufunc, 벡터화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SVD, 고유값 분해, 정규방정식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DataFrame, Series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loc/iloc, query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메서드 체이닝, pipe()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GroupBy: agg/transform/apply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merge/join, pivot/melt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데이터 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5가지 전략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이상치: IQR, Z-score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스케일링: Standard/MinMax/Robust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인코딩: Label/OneHot/Ordinal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 Leakage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Tidy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Wickham 2014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변수=열, 관측=행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관측단위=테이블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melt(wide-&gt;long)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pivot(long-&gt;wide)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벡터화 vs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100~1000배 속도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SIMD, CPU 캐시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 컴파일, 타입 체크 생략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GIL 해제, BLAS/LAPACK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Numba JIT 대안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논문 5편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McKinney (2010): Pandas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Walt et al. (2011): ndarray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Harris et al. (2020): NumPy Nature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Reback et al. (2020): Pandas 공식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Wickham (2014): Tidy Data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메모리 관련 정리: View/Copy &amp;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NumPy와 Pandas의 메모리 효율성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NumPy View vs Copy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View (메모리 공유): 슬라이싱, 전치, reshape, ravel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Copy (독립 메모리): 팬시인덱싱, 불리언인덱싱, flatten, 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확인: np.shares_memory(a, 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주의: View 수정 시 원본도 변경됨!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Pandas 메모리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다운캐스팅: int64-&gt;int32 (50~75%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Categorical: object-&gt;category (90~99%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Sparse: 대부분 0인 데이터 (90%+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청크 읽기: chunksize 파라미터 (RAM 제한 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np.memmap: 메모리 매핑 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RAM보다 큰 데이터를 다룰 때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 = np.memmap('data.dat', dtype='float32', mode='w+', shape=(1000000, 100))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필요한 부분만 메모리에 로드: chunk = fp_read[500:600]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scikit-learn의 일부 알고리즘도 memmap 지원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실무 팁 &amp; 다음 장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3장에서 배운 것을 4장 이후에 어떻게 활용하는가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실무 팁 Top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항상 np.linalg.lstsq() 사용 (역행렬 비추천)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StandardScaler: train에만 fit! (Data Leakage 방지)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메서드 체이닝 + pipe()로 읽기 쉬운 파이프라인 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GroupBy transform으로 그룹별 전처리 (평균보다 정확)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벡터화 우선, 벡터화 불가 시에만 Numba JIT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3장의 위치: ML 파이프라인에서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1장: ML 개요 (정의, 학습 유형)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2장: ML 프로젝트 (파이프라인 전체)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3장: 데이터 처리 (NumPy + Pandas) [현재]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4장~: 구체적 ML 알고리즘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3장은 모든 이후 장의 데이터 처리 기반!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참고 문헌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McKinney, W. (2010). 'Data Structures for Statistical Computing in Python.' SciPy 2010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Walt, S. et al. (2011). 'The NumPy Array.' Computing in Science &amp; Engineering, 13(2)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Harris, C.R. et al. (2020). 'Array programming with NumPy.' Nature, 585, 357-362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Reback, J. et al. (2020). 'pandas-dev/pandas: Pandas.' Zenodo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Wickham, H. (2014). 'Tidy Data.' Journal of Statistical Software, 59(10)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74320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3장: 판다스와 넘파이 (확장 상세 버전)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NumPy ndarray | Pandas DataFrame | Broadcasting | Vectorization | Tidy Data | Linear Algebra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질문이 있으시면 언제든지 질문해 주세요!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